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 id="2147483695" r:id="rId2"/>
  </p:sldMasterIdLst>
  <p:notesMasterIdLst>
    <p:notesMasterId r:id="rId223"/>
  </p:notesMasterIdLst>
  <p:sldIdLst>
    <p:sldId id="371" r:id="rId3"/>
    <p:sldId id="445" r:id="rId4"/>
    <p:sldId id="395" r:id="rId5"/>
    <p:sldId id="1386" r:id="rId6"/>
    <p:sldId id="596" r:id="rId7"/>
    <p:sldId id="597" r:id="rId8"/>
    <p:sldId id="1387" r:id="rId9"/>
    <p:sldId id="772" r:id="rId10"/>
    <p:sldId id="1452" r:id="rId11"/>
    <p:sldId id="599" r:id="rId12"/>
    <p:sldId id="1454" r:id="rId13"/>
    <p:sldId id="767" r:id="rId14"/>
    <p:sldId id="600" r:id="rId15"/>
    <p:sldId id="1455" r:id="rId16"/>
    <p:sldId id="768" r:id="rId17"/>
    <p:sldId id="769" r:id="rId18"/>
    <p:sldId id="1456" r:id="rId19"/>
    <p:sldId id="771" r:id="rId20"/>
    <p:sldId id="1457" r:id="rId21"/>
    <p:sldId id="601" r:id="rId22"/>
    <p:sldId id="1395" r:id="rId23"/>
    <p:sldId id="603" r:id="rId24"/>
    <p:sldId id="1437" r:id="rId25"/>
    <p:sldId id="602" r:id="rId26"/>
    <p:sldId id="605" r:id="rId27"/>
    <p:sldId id="606" r:id="rId28"/>
    <p:sldId id="1388" r:id="rId29"/>
    <p:sldId id="1389" r:id="rId30"/>
    <p:sldId id="1390" r:id="rId31"/>
    <p:sldId id="689" r:id="rId32"/>
    <p:sldId id="608" r:id="rId33"/>
    <p:sldId id="609" r:id="rId34"/>
    <p:sldId id="690" r:id="rId35"/>
    <p:sldId id="1393" r:id="rId36"/>
    <p:sldId id="1438" r:id="rId37"/>
    <p:sldId id="610" r:id="rId38"/>
    <p:sldId id="1391" r:id="rId39"/>
    <p:sldId id="1392" r:id="rId40"/>
    <p:sldId id="773" r:id="rId41"/>
    <p:sldId id="774" r:id="rId42"/>
    <p:sldId id="775" r:id="rId43"/>
    <p:sldId id="776" r:id="rId44"/>
    <p:sldId id="691" r:id="rId45"/>
    <p:sldId id="611" r:id="rId46"/>
    <p:sldId id="1408" r:id="rId47"/>
    <p:sldId id="1409" r:id="rId48"/>
    <p:sldId id="612" r:id="rId49"/>
    <p:sldId id="1396" r:id="rId50"/>
    <p:sldId id="1397" r:id="rId51"/>
    <p:sldId id="615" r:id="rId52"/>
    <p:sldId id="616" r:id="rId53"/>
    <p:sldId id="1398" r:id="rId54"/>
    <p:sldId id="1399" r:id="rId55"/>
    <p:sldId id="1400" r:id="rId56"/>
    <p:sldId id="1401" r:id="rId57"/>
    <p:sldId id="1403" r:id="rId58"/>
    <p:sldId id="1404" r:id="rId59"/>
    <p:sldId id="1405" r:id="rId60"/>
    <p:sldId id="1406" r:id="rId61"/>
    <p:sldId id="1407" r:id="rId62"/>
    <p:sldId id="617" r:id="rId63"/>
    <p:sldId id="618" r:id="rId64"/>
    <p:sldId id="1673" r:id="rId65"/>
    <p:sldId id="1672" r:id="rId66"/>
    <p:sldId id="619" r:id="rId67"/>
    <p:sldId id="620" r:id="rId68"/>
    <p:sldId id="1675" r:id="rId69"/>
    <p:sldId id="1674" r:id="rId70"/>
    <p:sldId id="621" r:id="rId71"/>
    <p:sldId id="622" r:id="rId72"/>
    <p:sldId id="623" r:id="rId73"/>
    <p:sldId id="1394" r:id="rId74"/>
    <p:sldId id="780" r:id="rId75"/>
    <p:sldId id="781" r:id="rId76"/>
    <p:sldId id="782" r:id="rId77"/>
    <p:sldId id="783" r:id="rId78"/>
    <p:sldId id="784" r:id="rId79"/>
    <p:sldId id="785" r:id="rId80"/>
    <p:sldId id="786" r:id="rId81"/>
    <p:sldId id="1402" r:id="rId82"/>
    <p:sldId id="1440" r:id="rId83"/>
    <p:sldId id="787" r:id="rId84"/>
    <p:sldId id="788" r:id="rId85"/>
    <p:sldId id="1410" r:id="rId86"/>
    <p:sldId id="1441" r:id="rId87"/>
    <p:sldId id="1442" r:id="rId88"/>
    <p:sldId id="1413" r:id="rId89"/>
    <p:sldId id="789" r:id="rId90"/>
    <p:sldId id="790" r:id="rId91"/>
    <p:sldId id="791" r:id="rId92"/>
    <p:sldId id="792" r:id="rId93"/>
    <p:sldId id="793" r:id="rId94"/>
    <p:sldId id="1443" r:id="rId95"/>
    <p:sldId id="795" r:id="rId96"/>
    <p:sldId id="1415" r:id="rId97"/>
    <p:sldId id="1416" r:id="rId98"/>
    <p:sldId id="796" r:id="rId99"/>
    <p:sldId id="797" r:id="rId100"/>
    <p:sldId id="798" r:id="rId101"/>
    <p:sldId id="1417" r:id="rId102"/>
    <p:sldId id="799" r:id="rId103"/>
    <p:sldId id="800" r:id="rId104"/>
    <p:sldId id="1418" r:id="rId105"/>
    <p:sldId id="801" r:id="rId106"/>
    <p:sldId id="802" r:id="rId107"/>
    <p:sldId id="1419" r:id="rId108"/>
    <p:sldId id="1420" r:id="rId109"/>
    <p:sldId id="1421" r:id="rId110"/>
    <p:sldId id="1414" r:id="rId111"/>
    <p:sldId id="803" r:id="rId112"/>
    <p:sldId id="804" r:id="rId113"/>
    <p:sldId id="805" r:id="rId114"/>
    <p:sldId id="806" r:id="rId115"/>
    <p:sldId id="807" r:id="rId116"/>
    <p:sldId id="808" r:id="rId117"/>
    <p:sldId id="809" r:id="rId118"/>
    <p:sldId id="810" r:id="rId119"/>
    <p:sldId id="1412" r:id="rId120"/>
    <p:sldId id="813" r:id="rId121"/>
    <p:sldId id="814" r:id="rId122"/>
    <p:sldId id="815" r:id="rId123"/>
    <p:sldId id="816" r:id="rId124"/>
    <p:sldId id="817" r:id="rId125"/>
    <p:sldId id="818" r:id="rId126"/>
    <p:sldId id="819" r:id="rId127"/>
    <p:sldId id="820" r:id="rId128"/>
    <p:sldId id="821" r:id="rId129"/>
    <p:sldId id="822" r:id="rId130"/>
    <p:sldId id="823" r:id="rId131"/>
    <p:sldId id="824" r:id="rId132"/>
    <p:sldId id="1445" r:id="rId133"/>
    <p:sldId id="825" r:id="rId134"/>
    <p:sldId id="826" r:id="rId135"/>
    <p:sldId id="1458" r:id="rId136"/>
    <p:sldId id="828" r:id="rId137"/>
    <p:sldId id="829" r:id="rId138"/>
    <p:sldId id="830" r:id="rId139"/>
    <p:sldId id="831" r:id="rId140"/>
    <p:sldId id="832" r:id="rId141"/>
    <p:sldId id="833" r:id="rId142"/>
    <p:sldId id="834" r:id="rId143"/>
    <p:sldId id="835" r:id="rId144"/>
    <p:sldId id="836" r:id="rId145"/>
    <p:sldId id="837" r:id="rId146"/>
    <p:sldId id="838" r:id="rId147"/>
    <p:sldId id="839" r:id="rId148"/>
    <p:sldId id="840" r:id="rId149"/>
    <p:sldId id="841" r:id="rId150"/>
    <p:sldId id="842" r:id="rId151"/>
    <p:sldId id="843" r:id="rId152"/>
    <p:sldId id="844" r:id="rId153"/>
    <p:sldId id="845" r:id="rId154"/>
    <p:sldId id="846" r:id="rId155"/>
    <p:sldId id="847" r:id="rId156"/>
    <p:sldId id="848" r:id="rId157"/>
    <p:sldId id="849" r:id="rId158"/>
    <p:sldId id="850" r:id="rId159"/>
    <p:sldId id="851" r:id="rId160"/>
    <p:sldId id="852" r:id="rId161"/>
    <p:sldId id="853" r:id="rId162"/>
    <p:sldId id="854" r:id="rId163"/>
    <p:sldId id="855" r:id="rId164"/>
    <p:sldId id="856" r:id="rId165"/>
    <p:sldId id="857" r:id="rId166"/>
    <p:sldId id="1429" r:id="rId167"/>
    <p:sldId id="1430" r:id="rId168"/>
    <p:sldId id="1431" r:id="rId169"/>
    <p:sldId id="1432" r:id="rId170"/>
    <p:sldId id="858" r:id="rId171"/>
    <p:sldId id="859" r:id="rId172"/>
    <p:sldId id="860" r:id="rId173"/>
    <p:sldId id="861" r:id="rId174"/>
    <p:sldId id="864" r:id="rId175"/>
    <p:sldId id="865" r:id="rId176"/>
    <p:sldId id="866" r:id="rId177"/>
    <p:sldId id="1435" r:id="rId178"/>
    <p:sldId id="1436" r:id="rId179"/>
    <p:sldId id="868" r:id="rId180"/>
    <p:sldId id="867" r:id="rId181"/>
    <p:sldId id="869" r:id="rId182"/>
    <p:sldId id="1433" r:id="rId183"/>
    <p:sldId id="870" r:id="rId184"/>
    <p:sldId id="871" r:id="rId185"/>
    <p:sldId id="872" r:id="rId186"/>
    <p:sldId id="873" r:id="rId187"/>
    <p:sldId id="874" r:id="rId188"/>
    <p:sldId id="1434" r:id="rId189"/>
    <p:sldId id="875" r:id="rId190"/>
    <p:sldId id="876" r:id="rId191"/>
    <p:sldId id="877" r:id="rId192"/>
    <p:sldId id="878" r:id="rId193"/>
    <p:sldId id="879" r:id="rId194"/>
    <p:sldId id="880" r:id="rId195"/>
    <p:sldId id="881" r:id="rId196"/>
    <p:sldId id="882" r:id="rId197"/>
    <p:sldId id="1448" r:id="rId198"/>
    <p:sldId id="1447" r:id="rId199"/>
    <p:sldId id="883" r:id="rId200"/>
    <p:sldId id="884" r:id="rId201"/>
    <p:sldId id="885" r:id="rId202"/>
    <p:sldId id="886" r:id="rId203"/>
    <p:sldId id="887" r:id="rId204"/>
    <p:sldId id="888" r:id="rId205"/>
    <p:sldId id="889" r:id="rId206"/>
    <p:sldId id="890" r:id="rId207"/>
    <p:sldId id="891" r:id="rId208"/>
    <p:sldId id="892" r:id="rId209"/>
    <p:sldId id="893" r:id="rId210"/>
    <p:sldId id="894" r:id="rId211"/>
    <p:sldId id="895" r:id="rId212"/>
    <p:sldId id="896" r:id="rId213"/>
    <p:sldId id="897" r:id="rId214"/>
    <p:sldId id="898" r:id="rId215"/>
    <p:sldId id="899" r:id="rId216"/>
    <p:sldId id="900" r:id="rId217"/>
    <p:sldId id="901" r:id="rId218"/>
    <p:sldId id="902" r:id="rId219"/>
    <p:sldId id="903" r:id="rId220"/>
    <p:sldId id="905" r:id="rId221"/>
    <p:sldId id="1385" r:id="rId2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p15:clr>
            <a:srgbClr val="A4A3A4"/>
          </p15:clr>
        </p15:guide>
        <p15:guide id="2" pos="3840">
          <p15:clr>
            <a:srgbClr val="A4A3A4"/>
          </p15:clr>
        </p15:guide>
        <p15:guide id="3" pos="1044">
          <p15:clr>
            <a:srgbClr val="A4A3A4"/>
          </p15:clr>
        </p15:guide>
        <p15:guide id="4" pos="207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7E8"/>
    <a:srgbClr val="025DB4"/>
    <a:srgbClr val="005AAD"/>
    <a:srgbClr val="008487"/>
    <a:srgbClr val="DDE9EA"/>
    <a:srgbClr val="FF9B36"/>
    <a:srgbClr val="00467A"/>
    <a:srgbClr val="FF9933"/>
    <a:srgbClr val="E06B6B"/>
    <a:srgbClr val="ED6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32" autoAdjust="0"/>
    <p:restoredTop sz="83591" autoAdjust="0"/>
  </p:normalViewPr>
  <p:slideViewPr>
    <p:cSldViewPr snapToGrid="0" showGuides="1">
      <p:cViewPr varScale="1">
        <p:scale>
          <a:sx n="89" d="100"/>
          <a:sy n="89" d="100"/>
        </p:scale>
        <p:origin x="402" y="45"/>
      </p:cViewPr>
      <p:guideLst>
        <p:guide orient="horz" pos="2128"/>
        <p:guide pos="3840"/>
        <p:guide pos="1044"/>
        <p:guide pos="2074"/>
      </p:guideLst>
    </p:cSldViewPr>
  </p:slideViewPr>
  <p:notesTextViewPr>
    <p:cViewPr>
      <p:scale>
        <a:sx n="1" d="1"/>
        <a:sy n="1" d="1"/>
      </p:scale>
      <p:origin x="0" y="0"/>
    </p:cViewPr>
  </p:notesTextViewPr>
  <p:sorterViewPr>
    <p:cViewPr>
      <p:scale>
        <a:sx n="33" d="100"/>
        <a:sy n="33" d="100"/>
      </p:scale>
      <p:origin x="0" y="0"/>
    </p:cViewPr>
  </p:sorterViewPr>
  <p:notesViewPr>
    <p:cSldViewPr snapToGrid="0">
      <p:cViewPr varScale="1">
        <p:scale>
          <a:sx n="54" d="100"/>
          <a:sy n="54" d="100"/>
        </p:scale>
        <p:origin x="2880" y="6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theme" Target="theme/theme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tableStyles" Target="tableStyles.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3" Type="http://schemas.openxmlformats.org/officeDocument/2006/relationships/slide" Target="slides/slide1.xml"/><Relationship Id="rId214" Type="http://schemas.openxmlformats.org/officeDocument/2006/relationships/slide" Target="slides/slide212.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209" Type="http://schemas.openxmlformats.org/officeDocument/2006/relationships/slide" Target="slides/slide207.xml"/><Relationship Id="rId190" Type="http://schemas.openxmlformats.org/officeDocument/2006/relationships/slide" Target="slides/slide188.xml"/><Relationship Id="rId204" Type="http://schemas.openxmlformats.org/officeDocument/2006/relationships/slide" Target="slides/slide202.xml"/><Relationship Id="rId220" Type="http://schemas.openxmlformats.org/officeDocument/2006/relationships/slide" Target="slides/slide218.xml"/><Relationship Id="rId225"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10" Type="http://schemas.openxmlformats.org/officeDocument/2006/relationships/slide" Target="slides/slide208.xml"/><Relationship Id="rId215" Type="http://schemas.openxmlformats.org/officeDocument/2006/relationships/slide" Target="slides/slide213.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notesMaster" Target="notesMasters/notesMaster1.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 Type="http://schemas.openxmlformats.org/officeDocument/2006/relationships/slideMaster" Target="slideMasters/slideMaster2.xml"/><Relationship Id="rId29" Type="http://schemas.openxmlformats.org/officeDocument/2006/relationships/slide" Target="slides/slide27.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presProps" Target="presProps.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8"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769"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C6BA0-5341-43DF-84CE-1998201C61E9}" type="datetimeFigureOut">
              <a:rPr lang="zh-CN" altLang="en-US" smtClean="0"/>
              <a:t>2025/12/8</a:t>
            </a:fld>
            <a:endParaRPr lang="zh-CN" altLang="en-US"/>
          </a:p>
        </p:txBody>
      </p:sp>
      <p:sp>
        <p:nvSpPr>
          <p:cNvPr id="1048770"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771"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773"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3F630-34ED-4C5D-9674-D926440E8C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92B679-AE23-4750-8FB0-6513430B8953}"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95A0DD-EA53-4B6C-BEF5-88D25E406370}" type="slidenum">
              <a:rPr lang="en-US" altLang="zh-CN" smtClean="0"/>
              <a:pPr/>
              <a:t>2</a:t>
            </a:fld>
            <a:endParaRPr lang="en-US" altLang="zh-CN"/>
          </a:p>
        </p:txBody>
      </p:sp>
    </p:spTree>
    <p:extLst>
      <p:ext uri="{BB962C8B-B14F-4D97-AF65-F5344CB8AC3E}">
        <p14:creationId xmlns:p14="http://schemas.microsoft.com/office/powerpoint/2010/main" val="3283307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8D46A6-ED06-4A5E-9CAE-9A891BAC71B8}" type="slidenum">
              <a:rPr lang="en-US" altLang="zh-CN" smtClean="0"/>
              <a:pPr/>
              <a:t>3</a:t>
            </a:fld>
            <a:endParaRPr lang="en-US" altLang="zh-CN"/>
          </a:p>
        </p:txBody>
      </p:sp>
    </p:spTree>
    <p:extLst>
      <p:ext uri="{BB962C8B-B14F-4D97-AF65-F5344CB8AC3E}">
        <p14:creationId xmlns:p14="http://schemas.microsoft.com/office/powerpoint/2010/main" val="60941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C999AA8-F01B-46E3-AE25-91A4E398BFD0}" type="slidenum">
              <a:rPr lang="en-US" altLang="zh-CN" smtClean="0"/>
              <a:pPr/>
              <a:t>6</a:t>
            </a:fld>
            <a:endParaRPr lang="en-US" altLang="zh-CN"/>
          </a:p>
        </p:txBody>
      </p:sp>
    </p:spTree>
    <p:extLst>
      <p:ext uri="{BB962C8B-B14F-4D97-AF65-F5344CB8AC3E}">
        <p14:creationId xmlns:p14="http://schemas.microsoft.com/office/powerpoint/2010/main" val="3956421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C999AA8-F01B-46E3-AE25-91A4E398BFD0}" type="slidenum">
              <a:rPr lang="en-US" altLang="zh-CN" smtClean="0"/>
              <a:pPr/>
              <a:t>7</a:t>
            </a:fld>
            <a:endParaRPr lang="en-US" altLang="zh-CN"/>
          </a:p>
        </p:txBody>
      </p:sp>
    </p:spTree>
    <p:extLst>
      <p:ext uri="{BB962C8B-B14F-4D97-AF65-F5344CB8AC3E}">
        <p14:creationId xmlns:p14="http://schemas.microsoft.com/office/powerpoint/2010/main" val="935825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75292B3-D310-4EB4-9746-EAF2DB03639B}" type="slidenum">
              <a:rPr lang="en-US" altLang="zh-CN" smtClean="0"/>
              <a:pPr/>
              <a:t>10</a:t>
            </a:fld>
            <a:endParaRPr lang="en-US" altLang="zh-CN"/>
          </a:p>
        </p:txBody>
      </p:sp>
    </p:spTree>
    <p:extLst>
      <p:ext uri="{BB962C8B-B14F-4D97-AF65-F5344CB8AC3E}">
        <p14:creationId xmlns:p14="http://schemas.microsoft.com/office/powerpoint/2010/main" val="1523691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This model is like the postal service – each letter is sent through the network independently.</a:t>
            </a:r>
          </a:p>
          <a:p>
            <a:pPr eaLnBrk="1" hangingPunct="1">
              <a:spcBef>
                <a:spcPct val="0"/>
              </a:spcBef>
            </a:pPr>
            <a:endParaRPr lang="en-US" altLang="zh-CN" dirty="0"/>
          </a:p>
          <a:p>
            <a:pPr eaLnBrk="1" hangingPunct="1">
              <a:spcBef>
                <a:spcPct val="0"/>
              </a:spcBef>
            </a:pPr>
            <a:r>
              <a:rPr lang="en-US" altLang="zh-CN" dirty="0"/>
              <a:t>Datagram is a packet that contains an absolute destination address; routers need only look up the destination address in a table to find the outgoing line to send the packet on its way.</a:t>
            </a:r>
          </a:p>
          <a:p>
            <a:pPr eaLnBrk="1" hangingPunct="1">
              <a:spcBef>
                <a:spcPct val="0"/>
              </a:spcBef>
            </a:pPr>
            <a:endParaRPr lang="en-US" altLang="zh-CN"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75292B3-D310-4EB4-9746-EAF2DB03639B}" type="slidenum">
              <a:rPr lang="en-US" altLang="zh-CN" smtClean="0"/>
              <a:pPr/>
              <a:t>11</a:t>
            </a:fld>
            <a:endParaRPr lang="en-US" altLang="zh-CN"/>
          </a:p>
        </p:txBody>
      </p:sp>
    </p:spTree>
    <p:extLst>
      <p:ext uri="{BB962C8B-B14F-4D97-AF65-F5344CB8AC3E}">
        <p14:creationId xmlns:p14="http://schemas.microsoft.com/office/powerpoint/2010/main" val="1295079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As an example, consider the situation shown in Fig. 5-3. Here, host H1 has established connection 1 with host H2. This connection is remembered as the first entry in each of the routing tables. The first line of A’s table says that if a packet bearing connection identifier 1 comes in from H1, it is to be sent to router C and given connection identifier 1. Similarly, the first entry at C routes the packet to E, also with connection identifier 1. Now let us consider what happens if H3 also wants to establish a connection to H2. It chooses connection identifier 1 (because H3 is initiating the connection and this is its only connection) and tells the network to establish the virtual circuit. This leads to the second row in the tables. Note that we have a conflict here be-cause although A can easily distinguish connection 1 packets from H1 from connection 1 packets from H3, C cannot do this. For this reason, A assigns a different connection identifier to the outgoing traffic for the second connection. Avoiding conflicts of this kind is why routers need the ability to replace connection identifiers in outgoing packets. In some contexts, this process is called label switching. An example of a connection-oriented network service is MPLS (Multi-Protocol Label Switching).</a:t>
            </a:r>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7D471AC-D0EB-465C-877E-A76D9389CBC4}" type="slidenum">
              <a:rPr lang="en-US" altLang="zh-CN" smtClean="0"/>
              <a:pPr/>
              <a:t>13</a:t>
            </a:fld>
            <a:endParaRPr lang="en-US" altLang="zh-CN"/>
          </a:p>
        </p:txBody>
      </p:sp>
    </p:spTree>
    <p:extLst>
      <p:ext uri="{BB962C8B-B14F-4D97-AF65-F5344CB8AC3E}">
        <p14:creationId xmlns:p14="http://schemas.microsoft.com/office/powerpoint/2010/main" val="3328186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This model is like the telephone network.</a:t>
            </a:r>
          </a:p>
          <a:p>
            <a:pPr eaLnBrk="1" hangingPunct="1">
              <a:spcBef>
                <a:spcPct val="0"/>
              </a:spcBef>
            </a:pPr>
            <a:endParaRPr lang="en-US" altLang="zh-CN" dirty="0"/>
          </a:p>
          <a:p>
            <a:pPr eaLnBrk="1" hangingPunct="1">
              <a:spcBef>
                <a:spcPct val="0"/>
              </a:spcBef>
            </a:pPr>
            <a:r>
              <a:rPr lang="en-US" altLang="zh-CN" dirty="0"/>
              <a:t>Packets contain tags that are not full addresses; they only need to be unique at a given link and thus are re-written at each router from an incoming tag to an outgoing tag. The virtual circuit is set up with the tag mapping along the entire path. Then packets are sent along it. The packets will thus all follow the same path (and arrive in order).</a:t>
            </a:r>
          </a:p>
          <a:p>
            <a:pPr eaLnBrk="1" hangingPunct="1">
              <a:spcBef>
                <a:spcPct val="0"/>
              </a:spcBef>
            </a:pPr>
            <a:endParaRPr lang="en-US" altLang="zh-CN" dirty="0"/>
          </a:p>
          <a:p>
            <a:pPr eaLnBrk="1" hangingPunct="1">
              <a:spcBef>
                <a:spcPct val="0"/>
              </a:spcBef>
            </a:pPr>
            <a:r>
              <a:rPr lang="en-US" altLang="zh-CN" dirty="0"/>
              <a:t>“Virtual” refers to the fact that real/physical telephone circuits have both a path and a fixed bandwidth reservation of 64Kbps, whereas virtual circuits may have a variable bandwidth depending on how many VCs use a single link.</a:t>
            </a:r>
          </a:p>
          <a:p>
            <a:pPr eaLnBrk="1" hangingPunct="1">
              <a:spcBef>
                <a:spcPct val="0"/>
              </a:spcBef>
            </a:pPr>
            <a:endParaRPr lang="en-US" altLang="zh-CN" dirty="0"/>
          </a:p>
          <a:p>
            <a:pPr eaLnBrk="1" hangingPunct="1">
              <a:spcBef>
                <a:spcPct val="0"/>
              </a:spcBef>
            </a:pPr>
            <a:r>
              <a:rPr lang="en-US" altLang="zh-CN" dirty="0"/>
              <a:t>As an example, consider the situation shown in Fig. 5-3. Here, host H1 has established connection 1 with host H2. This connection is remembered as the first entry in each of the routing tables. The first line of A’s table says that if a packet bearing connection identifier 1 comes in from H1, it is to be sent to router C and given connection identifier 1. Similarly, the first entry at C routes the packet to E, also with connection identifier 1. Now let us consider what happens if H3 also wants to establish a connection to H2. It chooses connection identifier 1 (because H3 is initiating the connection and this is its only connection) and tells the network to establish the virtual circuit. This leads to the second row in the tables. Note that we have a conflict here be-cause although A can easily distinguish connection 1 packets from H1 from connection 1 packets from H3, C cannot do this. For this reason, A assigns a different connection identifier to the outgoing traffic for the second connection. Avoiding conflicts of this kind is why routers need the ability to replace connection identifiers in outgoing packets. In some contexts, this process is called label switching. An example of a connection-oriented network service is MPLS (Multi-Protocol Label Switching).</a:t>
            </a:r>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7D471AC-D0EB-465C-877E-A76D9389CBC4}" type="slidenum">
              <a:rPr lang="en-US" altLang="zh-CN" smtClean="0"/>
              <a:pPr/>
              <a:t>14</a:t>
            </a:fld>
            <a:endParaRPr lang="en-US" altLang="zh-CN"/>
          </a:p>
        </p:txBody>
      </p:sp>
    </p:spTree>
    <p:extLst>
      <p:ext uri="{BB962C8B-B14F-4D97-AF65-F5344CB8AC3E}">
        <p14:creationId xmlns:p14="http://schemas.microsoft.com/office/powerpoint/2010/main" val="264030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17</a:t>
            </a:fld>
            <a:endParaRPr lang="zh-CN" altLang="en-US"/>
          </a:p>
        </p:txBody>
      </p:sp>
    </p:spTree>
    <p:extLst>
      <p:ext uri="{BB962C8B-B14F-4D97-AF65-F5344CB8AC3E}">
        <p14:creationId xmlns:p14="http://schemas.microsoft.com/office/powerpoint/2010/main" val="4151216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This model is like the postal service – each letter is sent through the network independently.</a:t>
            </a:r>
          </a:p>
          <a:p>
            <a:pPr eaLnBrk="1" hangingPunct="1">
              <a:spcBef>
                <a:spcPct val="0"/>
              </a:spcBef>
            </a:pPr>
            <a:endParaRPr lang="en-US" altLang="zh-CN" dirty="0"/>
          </a:p>
          <a:p>
            <a:pPr eaLnBrk="1" hangingPunct="1">
              <a:spcBef>
                <a:spcPct val="0"/>
              </a:spcBef>
            </a:pPr>
            <a:r>
              <a:rPr lang="en-US" altLang="zh-CN" dirty="0"/>
              <a:t>Datagram is a packet that contains an absolute destination address; routers need only look up the destination address in a table to find the outgoing line to send the packet on its way.</a:t>
            </a:r>
          </a:p>
          <a:p>
            <a:pPr eaLnBrk="1" hangingPunct="1">
              <a:spcBef>
                <a:spcPct val="0"/>
              </a:spcBef>
            </a:pPr>
            <a:endParaRPr lang="en-US" altLang="zh-CN" dirty="0"/>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75292B3-D310-4EB4-9746-EAF2DB03639B}" type="slidenum">
              <a:rPr lang="en-US" altLang="zh-CN" smtClean="0"/>
              <a:pPr/>
              <a:t>19</a:t>
            </a:fld>
            <a:endParaRPr lang="en-US" altLang="zh-CN"/>
          </a:p>
        </p:txBody>
      </p:sp>
    </p:spTree>
    <p:extLst>
      <p:ext uri="{BB962C8B-B14F-4D97-AF65-F5344CB8AC3E}">
        <p14:creationId xmlns:p14="http://schemas.microsoft.com/office/powerpoint/2010/main" val="849421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95A0DD-EA53-4B6C-BEF5-88D25E406370}" type="slidenum">
              <a:rPr lang="en-US" altLang="zh-CN" smtClean="0"/>
              <a:pPr/>
              <a:t>21</a:t>
            </a:fld>
            <a:endParaRPr lang="en-US" altLang="zh-CN"/>
          </a:p>
        </p:txBody>
      </p:sp>
    </p:spTree>
    <p:extLst>
      <p:ext uri="{BB962C8B-B14F-4D97-AF65-F5344CB8AC3E}">
        <p14:creationId xmlns:p14="http://schemas.microsoft.com/office/powerpoint/2010/main" val="17185065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603175-9F63-4CB2-B42A-734C4E01D036}" type="slidenum">
              <a:rPr lang="en-US" altLang="zh-CN" smtClean="0"/>
              <a:pPr/>
              <a:t>22</a:t>
            </a:fld>
            <a:endParaRPr lang="en-US" altLang="zh-CN"/>
          </a:p>
        </p:txBody>
      </p:sp>
    </p:spTree>
    <p:extLst>
      <p:ext uri="{BB962C8B-B14F-4D97-AF65-F5344CB8AC3E}">
        <p14:creationId xmlns:p14="http://schemas.microsoft.com/office/powerpoint/2010/main" val="9144757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603175-9F63-4CB2-B42A-734C4E01D036}" type="slidenum">
              <a:rPr lang="en-US" altLang="zh-CN" smtClean="0"/>
              <a:pPr/>
              <a:t>23</a:t>
            </a:fld>
            <a:endParaRPr lang="en-US" altLang="zh-CN"/>
          </a:p>
        </p:txBody>
      </p:sp>
    </p:spTree>
    <p:extLst>
      <p:ext uri="{BB962C8B-B14F-4D97-AF65-F5344CB8AC3E}">
        <p14:creationId xmlns:p14="http://schemas.microsoft.com/office/powerpoint/2010/main" val="31145513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For the graph, the traffic demands are A-&gt;A’, B-&gt;B’, C-&gt;C’ and X-&gt;X’. What would be fair? For each flow they get the same amount of bandwidth. If all network links have unit capacity then we would give each flow ½ a unit of capacity. The total network traffic is then 2 units. What would be efficient? If we gave the X-&gt;X’ flow no bandwidth then we could give each of the other three flows 1 unit. The total network traffic is then 3 units. So it is more efficient, but it is not fair. So we will have to decide what we want to optimize. </a:t>
            </a:r>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82F4C2D-8219-429F-B1EF-2F28DF0DF853}" type="slidenum">
              <a:rPr lang="en-US" altLang="zh-CN" smtClean="0"/>
              <a:pPr/>
              <a:t>24</a:t>
            </a:fld>
            <a:endParaRPr lang="en-US" altLang="zh-CN"/>
          </a:p>
        </p:txBody>
      </p:sp>
    </p:spTree>
    <p:extLst>
      <p:ext uri="{BB962C8B-B14F-4D97-AF65-F5344CB8AC3E}">
        <p14:creationId xmlns:p14="http://schemas.microsoft.com/office/powerpoint/2010/main" val="97578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dirty="0"/>
              <a:t>Proof by contradiction: if a portion of a best path is not a best path then there is something better. Substitute this better portion and you would have a better overall path, which cannot be the case if the overall path is a best path. </a:t>
            </a:r>
          </a:p>
          <a:p>
            <a:pPr eaLnBrk="1" hangingPunct="1">
              <a:spcBef>
                <a:spcPct val="0"/>
              </a:spcBef>
            </a:pPr>
            <a:endParaRPr lang="en-US" altLang="zh-CN" dirty="0"/>
          </a:p>
          <a:p>
            <a:pPr eaLnBrk="1" hangingPunct="1">
              <a:spcBef>
                <a:spcPct val="0"/>
              </a:spcBef>
            </a:pPr>
            <a:r>
              <a:rPr lang="en-US" altLang="zh-CN" dirty="0"/>
              <a:t>For sink trees, if there are multiple paths that are equally good, then one best path from one node to another is chosen at random. For example, H can be reached in 3 hops via H-D-A-B as shown, or by H-F-A-D (not shown). This is simple and useful as there is a single route from each router to each destination. If, instead, all equally best paths are kept then their union is a DAG (directed acyclic graph).  This is a more general case that permits multiple paths from a router to a destination.</a:t>
            </a:r>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05DA906-CA11-4EDF-A2A0-FFA61BDA89E7}" type="slidenum">
              <a:rPr lang="en-US" altLang="zh-CN" smtClean="0"/>
              <a:pPr/>
              <a:t>25</a:t>
            </a:fld>
            <a:endParaRPr lang="en-US" altLang="zh-CN"/>
          </a:p>
        </p:txBody>
      </p:sp>
    </p:spTree>
    <p:extLst>
      <p:ext uri="{BB962C8B-B14F-4D97-AF65-F5344CB8AC3E}">
        <p14:creationId xmlns:p14="http://schemas.microsoft.com/office/powerpoint/2010/main" val="4084709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a:t>The notion of weight generalizes distance to other cost metrics. Setting weights to be 1 gives paths with fewest hops. Setting weight to be distance gives paths that are shortest or lowest delay. Setting weight to be lower for higher capacity links favors higher capacity paths. </a:t>
            </a:r>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2B77BE8-6C72-46A3-BC26-5129BE25C6B4}" type="slidenum">
              <a:rPr lang="en-US" altLang="zh-CN" smtClean="0"/>
              <a:pPr/>
              <a:t>26</a:t>
            </a:fld>
            <a:endParaRPr lang="en-US" altLang="zh-CN"/>
          </a:p>
        </p:txBody>
      </p:sp>
    </p:spTree>
    <p:extLst>
      <p:ext uri="{BB962C8B-B14F-4D97-AF65-F5344CB8AC3E}">
        <p14:creationId xmlns:p14="http://schemas.microsoft.com/office/powerpoint/2010/main" val="3218646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a:t>This code keeps going until it reaches a sought-after destination node; if it continued until there were no tentative nodes then it would have found the entire sink tree.</a:t>
            </a:r>
          </a:p>
          <a:p>
            <a:pPr eaLnBrk="1" hangingPunct="1">
              <a:spcBef>
                <a:spcPct val="0"/>
              </a:spcBef>
            </a:pPr>
            <a:endParaRPr lang="en-US" altLang="zh-CN"/>
          </a:p>
          <a:p>
            <a:pPr eaLnBrk="1" hangingPunct="1">
              <a:spcBef>
                <a:spcPct val="0"/>
              </a:spcBef>
            </a:pPr>
            <a:r>
              <a:rPr lang="en-US" altLang="zh-CN"/>
              <a:t>The predecessor links can be reversed to find the path from t -&gt; s instead of from s -&gt; t. This is because the link has the same cost in each direction so paths are symmetrical (or the same in each direction).</a:t>
            </a:r>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F395DAD-C265-479B-9BD3-AC68D39B4B52}" type="slidenum">
              <a:rPr lang="en-US" altLang="zh-CN" smtClean="0"/>
              <a:pPr/>
              <a:t>32</a:t>
            </a:fld>
            <a:endParaRPr lang="en-US" altLang="zh-CN"/>
          </a:p>
        </p:txBody>
      </p:sp>
    </p:spTree>
    <p:extLst>
      <p:ext uri="{BB962C8B-B14F-4D97-AF65-F5344CB8AC3E}">
        <p14:creationId xmlns:p14="http://schemas.microsoft.com/office/powerpoint/2010/main" val="20904444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a:t>Note that flooding doesn’t actually find any routes that can be reused.</a:t>
            </a:r>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8B289C1-CF9D-4B25-B0FF-93B528F98405}" type="slidenum">
              <a:rPr lang="en-US" altLang="zh-CN" smtClean="0"/>
              <a:pPr/>
              <a:t>33</a:t>
            </a:fld>
            <a:endParaRPr lang="en-US" altLang="zh-CN"/>
          </a:p>
        </p:txBody>
      </p:sp>
    </p:spTree>
    <p:extLst>
      <p:ext uri="{BB962C8B-B14F-4D97-AF65-F5344CB8AC3E}">
        <p14:creationId xmlns:p14="http://schemas.microsoft.com/office/powerpoint/2010/main" val="10753488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8B289C1-CF9D-4B25-B0FF-93B528F98405}" type="slidenum">
              <a:rPr lang="en-US" altLang="zh-CN" smtClean="0"/>
              <a:pPr/>
              <a:t>34</a:t>
            </a:fld>
            <a:endParaRPr lang="en-US" altLang="zh-CN"/>
          </a:p>
        </p:txBody>
      </p:sp>
    </p:spTree>
    <p:extLst>
      <p:ext uri="{BB962C8B-B14F-4D97-AF65-F5344CB8AC3E}">
        <p14:creationId xmlns:p14="http://schemas.microsoft.com/office/powerpoint/2010/main" val="38955976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8B289C1-CF9D-4B25-B0FF-93B528F98405}" type="slidenum">
              <a:rPr lang="en-US" altLang="zh-CN" smtClean="0"/>
              <a:pPr/>
              <a:t>35</a:t>
            </a:fld>
            <a:endParaRPr lang="en-US" altLang="zh-CN"/>
          </a:p>
        </p:txBody>
      </p:sp>
    </p:spTree>
    <p:extLst>
      <p:ext uri="{BB962C8B-B14F-4D97-AF65-F5344CB8AC3E}">
        <p14:creationId xmlns:p14="http://schemas.microsoft.com/office/powerpoint/2010/main" val="90705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5496D39-D5C0-480C-8247-01D99E4B5EB3}" type="slidenum">
              <a:rPr lang="en-US" altLang="zh-CN" smtClean="0"/>
              <a:pPr/>
              <a:t>36</a:t>
            </a:fld>
            <a:endParaRPr lang="en-US" altLang="zh-CN"/>
          </a:p>
        </p:txBody>
      </p:sp>
    </p:spTree>
    <p:extLst>
      <p:ext uri="{BB962C8B-B14F-4D97-AF65-F5344CB8AC3E}">
        <p14:creationId xmlns:p14="http://schemas.microsoft.com/office/powerpoint/2010/main" val="21038994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see how fast good news propagates, consider the five-node (linear) net-work of Fig. 5-10, where the delay metric is the number of hops. Suppose A is down initially and all the other routers know this. In other words, they have all recorded the delay to A as infinity.</a:t>
            </a:r>
          </a:p>
          <a:p>
            <a:r>
              <a:rPr lang="en-US" altLang="zh-CN" dirty="0"/>
              <a:t>When A comes up, the other routers learn about it via the vector exchanges.  At the time of the first exchange, B learns that its left-hand neighbor has zero delay to A. B now makes an entry in its routing table indicating that A is one hop away to the left. All the other routers still think that A is down. At this point, the routing table entries for A are as shown in the second row of Fig. 5-10(a). On the next exchange, C learns that B has a path of length 1 to A, so it updates its routing table to indicate a path of length 2, but D and E do not hear the good news until later. Clearly, the good news is spreading at the rate of one hop per exchange. In a network whose longest path is of length N hops, within N exchanges everyone will know about newly revived links and routers.</a:t>
            </a:r>
          </a:p>
          <a:p>
            <a:r>
              <a:rPr lang="en-US" altLang="zh-CN" dirty="0"/>
              <a:t>Now let us consider the situation of Fig. 5-10(b), in which all the links and routers are initially up. Routers B, C, D, and E have distances to A of 1, 2, 3, and 4 hops, respectively. Suddenly, either A goes down or the link between A and B is cut (which is effectively the same thing from B’s point of view).</a:t>
            </a:r>
          </a:p>
          <a:p>
            <a:r>
              <a:rPr lang="en-US" altLang="zh-CN" dirty="0"/>
              <a:t>At the first packet exchange, B does not hear anything from A. Fortunately, C says ‘‘Do not worry; I have a path to A of length 2.’’ Little does B suspect that C’s path runs through B itself. For all B knows, C might have ten links all with separate paths to A of length 2. As a result, B thinks it can reach A via C, with a path length of 3. D and E do not update their entries for A on the first exchange.</a:t>
            </a:r>
          </a:p>
          <a:p>
            <a:r>
              <a:rPr lang="en-US" altLang="zh-CN" dirty="0"/>
              <a:t>On the second exchange, C notices that each of its neighbors claims to have a path to A of length 3. It picks one of them at random and makes its new distance to A 4, as shown in the third row of Fig. 5-10(b). Subsequent exchanges produce the history shown in the rest of Fig. 5-10(b).</a:t>
            </a:r>
          </a:p>
          <a:p>
            <a:r>
              <a:rPr lang="en-US" altLang="zh-CN" dirty="0"/>
              <a:t>From this figure, it should be clear why bad news travels slowly: no router ever has a value more than one higher than the minimum of all its neighbors. Gradually, all routers work their way up to infinity, but the number of exchanges required depends on the numerical value used for infinity. For this reason, it is wise to set infinity to the longest path plus 1.</a:t>
            </a:r>
          </a:p>
          <a:p>
            <a:r>
              <a:rPr lang="en-US" altLang="zh-CN" dirty="0"/>
              <a:t>Not entirely surprisingly, this problem is known as the count-to-infinity prob-</a:t>
            </a:r>
            <a:r>
              <a:rPr lang="en-US" altLang="zh-CN" dirty="0" err="1"/>
              <a:t>lem</a:t>
            </a:r>
            <a:r>
              <a:rPr lang="en-US" altLang="zh-CN" dirty="0"/>
              <a:t>. There have been many attempts to solve it, for example, preventing routers from advertising their best paths back to the neighbors from which they heard them with the split horizon with poisoned reverse rule discussed in RFC 1058. However, none of these heuristics work well in practice despite the colorful names. The core of the problem is that when X tells Y that it has a path some-where, Y has no way of knowing whether it itself is on the path.</a:t>
            </a: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44</a:t>
            </a:fld>
            <a:endParaRPr lang="zh-CN" altLang="en-US"/>
          </a:p>
        </p:txBody>
      </p:sp>
    </p:spTree>
    <p:extLst>
      <p:ext uri="{BB962C8B-B14F-4D97-AF65-F5344CB8AC3E}">
        <p14:creationId xmlns:p14="http://schemas.microsoft.com/office/powerpoint/2010/main" val="771064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45</a:t>
            </a:fld>
            <a:endParaRPr lang="zh-CN" altLang="en-US"/>
          </a:p>
        </p:txBody>
      </p:sp>
    </p:spTree>
    <p:extLst>
      <p:ext uri="{BB962C8B-B14F-4D97-AF65-F5344CB8AC3E}">
        <p14:creationId xmlns:p14="http://schemas.microsoft.com/office/powerpoint/2010/main" val="20927971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46</a:t>
            </a:fld>
            <a:endParaRPr lang="zh-CN" altLang="en-US"/>
          </a:p>
        </p:txBody>
      </p:sp>
    </p:spTree>
    <p:extLst>
      <p:ext uri="{BB962C8B-B14F-4D97-AF65-F5344CB8AC3E}">
        <p14:creationId xmlns:p14="http://schemas.microsoft.com/office/powerpoint/2010/main" val="24924801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48</a:t>
            </a:fld>
            <a:endParaRPr lang="zh-CN" altLang="en-US"/>
          </a:p>
        </p:txBody>
      </p:sp>
    </p:spTree>
    <p:extLst>
      <p:ext uri="{BB962C8B-B14F-4D97-AF65-F5344CB8AC3E}">
        <p14:creationId xmlns:p14="http://schemas.microsoft.com/office/powerpoint/2010/main" val="9240674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dirty="0">
              <a:latin typeface="宋体" pitchFamily="2" charset="-122"/>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49</a:t>
            </a:fld>
            <a:endParaRPr lang="zh-CN" altLang="en-US"/>
          </a:p>
        </p:txBody>
      </p:sp>
    </p:spTree>
    <p:extLst>
      <p:ext uri="{BB962C8B-B14F-4D97-AF65-F5344CB8AC3E}">
        <p14:creationId xmlns:p14="http://schemas.microsoft.com/office/powerpoint/2010/main" val="22844445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51</a:t>
            </a:fld>
            <a:endParaRPr lang="en-US" altLang="zh-CN"/>
          </a:p>
        </p:txBody>
      </p:sp>
    </p:spTree>
    <p:extLst>
      <p:ext uri="{BB962C8B-B14F-4D97-AF65-F5344CB8AC3E}">
        <p14:creationId xmlns:p14="http://schemas.microsoft.com/office/powerpoint/2010/main" val="28433861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52</a:t>
            </a:fld>
            <a:endParaRPr lang="en-US" altLang="zh-CN"/>
          </a:p>
        </p:txBody>
      </p:sp>
    </p:spTree>
    <p:extLst>
      <p:ext uri="{BB962C8B-B14F-4D97-AF65-F5344CB8AC3E}">
        <p14:creationId xmlns:p14="http://schemas.microsoft.com/office/powerpoint/2010/main" val="36559713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53</a:t>
            </a:fld>
            <a:endParaRPr lang="en-US" altLang="zh-CN"/>
          </a:p>
        </p:txBody>
      </p:sp>
    </p:spTree>
    <p:extLst>
      <p:ext uri="{BB962C8B-B14F-4D97-AF65-F5344CB8AC3E}">
        <p14:creationId xmlns:p14="http://schemas.microsoft.com/office/powerpoint/2010/main" val="3289735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54</a:t>
            </a:fld>
            <a:endParaRPr lang="en-US" altLang="zh-CN"/>
          </a:p>
        </p:txBody>
      </p:sp>
    </p:spTree>
    <p:extLst>
      <p:ext uri="{BB962C8B-B14F-4D97-AF65-F5344CB8AC3E}">
        <p14:creationId xmlns:p14="http://schemas.microsoft.com/office/powerpoint/2010/main" val="11858516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55</a:t>
            </a:fld>
            <a:endParaRPr lang="en-US" altLang="zh-CN"/>
          </a:p>
        </p:txBody>
      </p:sp>
    </p:spTree>
    <p:extLst>
      <p:ext uri="{BB962C8B-B14F-4D97-AF65-F5344CB8AC3E}">
        <p14:creationId xmlns:p14="http://schemas.microsoft.com/office/powerpoint/2010/main" val="13954843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56</a:t>
            </a:fld>
            <a:endParaRPr lang="en-US" altLang="zh-CN"/>
          </a:p>
        </p:txBody>
      </p:sp>
    </p:spTree>
    <p:extLst>
      <p:ext uri="{BB962C8B-B14F-4D97-AF65-F5344CB8AC3E}">
        <p14:creationId xmlns:p14="http://schemas.microsoft.com/office/powerpoint/2010/main" val="11093089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57</a:t>
            </a:fld>
            <a:endParaRPr lang="en-US" altLang="zh-CN"/>
          </a:p>
        </p:txBody>
      </p:sp>
    </p:spTree>
    <p:extLst>
      <p:ext uri="{BB962C8B-B14F-4D97-AF65-F5344CB8AC3E}">
        <p14:creationId xmlns:p14="http://schemas.microsoft.com/office/powerpoint/2010/main" val="38264908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58</a:t>
            </a:fld>
            <a:endParaRPr lang="en-US" altLang="zh-CN"/>
          </a:p>
        </p:txBody>
      </p:sp>
    </p:spTree>
    <p:extLst>
      <p:ext uri="{BB962C8B-B14F-4D97-AF65-F5344CB8AC3E}">
        <p14:creationId xmlns:p14="http://schemas.microsoft.com/office/powerpoint/2010/main" val="937133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59</a:t>
            </a:fld>
            <a:endParaRPr lang="en-US" altLang="zh-CN"/>
          </a:p>
        </p:txBody>
      </p:sp>
    </p:spTree>
    <p:extLst>
      <p:ext uri="{BB962C8B-B14F-4D97-AF65-F5344CB8AC3E}">
        <p14:creationId xmlns:p14="http://schemas.microsoft.com/office/powerpoint/2010/main" val="14738941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3AEDFEF-5FDD-48A6-8100-65D3C55FC2D3}" type="slidenum">
              <a:rPr lang="en-US" altLang="zh-CN" smtClean="0"/>
              <a:pPr/>
              <a:t>60</a:t>
            </a:fld>
            <a:endParaRPr lang="en-US" altLang="zh-CN"/>
          </a:p>
        </p:txBody>
      </p:sp>
    </p:spTree>
    <p:extLst>
      <p:ext uri="{BB962C8B-B14F-4D97-AF65-F5344CB8AC3E}">
        <p14:creationId xmlns:p14="http://schemas.microsoft.com/office/powerpoint/2010/main" val="383849236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7A42B8E-9A6B-494C-9F8E-CB02410D2D99}" type="slidenum">
              <a:rPr lang="en-US" altLang="zh-CN" smtClean="0"/>
              <a:pPr/>
              <a:t>61</a:t>
            </a:fld>
            <a:endParaRPr lang="en-US" altLang="zh-CN"/>
          </a:p>
        </p:txBody>
      </p:sp>
    </p:spTree>
    <p:extLst>
      <p:ext uri="{BB962C8B-B14F-4D97-AF65-F5344CB8AC3E}">
        <p14:creationId xmlns:p14="http://schemas.microsoft.com/office/powerpoint/2010/main" val="10575943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7C750E3-E072-4BF4-BC1A-CED9353802CE}" type="slidenum">
              <a:rPr lang="en-US" altLang="zh-CN" smtClean="0"/>
              <a:pPr/>
              <a:t>62</a:t>
            </a:fld>
            <a:endParaRPr lang="en-US" altLang="zh-CN"/>
          </a:p>
        </p:txBody>
      </p:sp>
    </p:spTree>
    <p:extLst>
      <p:ext uri="{BB962C8B-B14F-4D97-AF65-F5344CB8AC3E}">
        <p14:creationId xmlns:p14="http://schemas.microsoft.com/office/powerpoint/2010/main" val="9734886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01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B2822D0-9F30-49E6-BBC2-45AE7278AF30}" type="slidenum">
              <a:rPr lang="en-US" altLang="zh-CN" smtClean="0"/>
              <a:pPr/>
              <a:t>65</a:t>
            </a:fld>
            <a:endParaRPr lang="en-US" altLang="zh-CN"/>
          </a:p>
        </p:txBody>
      </p:sp>
    </p:spTree>
    <p:extLst>
      <p:ext uri="{BB962C8B-B14F-4D97-AF65-F5344CB8AC3E}">
        <p14:creationId xmlns:p14="http://schemas.microsoft.com/office/powerpoint/2010/main" val="37433683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943328B-B36F-4852-BCC1-8DE4DAAF70E3}" type="slidenum">
              <a:rPr lang="en-US" altLang="zh-CN" smtClean="0"/>
              <a:pPr/>
              <a:t>66</a:t>
            </a:fld>
            <a:endParaRPr lang="en-US" altLang="zh-CN"/>
          </a:p>
        </p:txBody>
      </p:sp>
    </p:spTree>
    <p:extLst>
      <p:ext uri="{BB962C8B-B14F-4D97-AF65-F5344CB8AC3E}">
        <p14:creationId xmlns:p14="http://schemas.microsoft.com/office/powerpoint/2010/main" val="33899235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42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9332B09-E035-4379-B0D8-7520D5C65577}" type="slidenum">
              <a:rPr lang="en-US" altLang="zh-CN" smtClean="0"/>
              <a:pPr/>
              <a:t>69</a:t>
            </a:fld>
            <a:endParaRPr lang="en-US" altLang="zh-CN"/>
          </a:p>
        </p:txBody>
      </p:sp>
    </p:spTree>
    <p:extLst>
      <p:ext uri="{BB962C8B-B14F-4D97-AF65-F5344CB8AC3E}">
        <p14:creationId xmlns:p14="http://schemas.microsoft.com/office/powerpoint/2010/main" val="24503141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C152E66-5398-416D-B210-C9DBAD0CDE6B}" type="slidenum">
              <a:rPr lang="en-US" altLang="zh-CN" smtClean="0"/>
              <a:pPr/>
              <a:t>70</a:t>
            </a:fld>
            <a:endParaRPr lang="en-US" altLang="zh-CN"/>
          </a:p>
        </p:txBody>
      </p:sp>
    </p:spTree>
    <p:extLst>
      <p:ext uri="{BB962C8B-B14F-4D97-AF65-F5344CB8AC3E}">
        <p14:creationId xmlns:p14="http://schemas.microsoft.com/office/powerpoint/2010/main" val="8341189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95A0DD-EA53-4B6C-BEF5-88D25E406370}" type="slidenum">
              <a:rPr lang="en-US" altLang="zh-CN" smtClean="0"/>
              <a:pPr/>
              <a:t>72</a:t>
            </a:fld>
            <a:endParaRPr lang="en-US" altLang="zh-CN"/>
          </a:p>
        </p:txBody>
      </p:sp>
    </p:spTree>
    <p:extLst>
      <p:ext uri="{BB962C8B-B14F-4D97-AF65-F5344CB8AC3E}">
        <p14:creationId xmlns:p14="http://schemas.microsoft.com/office/powerpoint/2010/main" val="24466979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endParaRPr lang="en-US" altLang="zh-CN" dirty="0"/>
          </a:p>
        </p:txBody>
      </p:sp>
      <p:sp>
        <p:nvSpPr>
          <p:cNvPr id="4" name="灯片编号占位符 3"/>
          <p:cNvSpPr>
            <a:spLocks noGrp="1"/>
          </p:cNvSpPr>
          <p:nvPr>
            <p:ph type="sldNum" sz="quarter" idx="10"/>
          </p:nvPr>
        </p:nvSpPr>
        <p:spPr/>
        <p:txBody>
          <a:bodyPr/>
          <a:lstStyle/>
          <a:p>
            <a:pPr>
              <a:defRPr/>
            </a:pPr>
            <a:fld id="{6A5833D9-1DBE-4489-BB27-210C7B19D1BA}" type="slidenum">
              <a:rPr lang="en-US" altLang="zh-CN" smtClean="0"/>
              <a:pPr>
                <a:defRPr/>
              </a:pPr>
              <a:t>73</a:t>
            </a:fld>
            <a:endParaRPr lang="en-US" altLang="zh-CN"/>
          </a:p>
        </p:txBody>
      </p:sp>
    </p:spTree>
    <p:extLst>
      <p:ext uri="{BB962C8B-B14F-4D97-AF65-F5344CB8AC3E}">
        <p14:creationId xmlns:p14="http://schemas.microsoft.com/office/powerpoint/2010/main" val="13048444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04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A59AA94-C9AD-4788-9CB9-30670F92F021}" type="slidenum">
              <a:rPr lang="en-US" altLang="zh-CN" smtClean="0"/>
              <a:pPr/>
              <a:t>75</a:t>
            </a:fld>
            <a:endParaRPr lang="en-US" altLang="zh-CN"/>
          </a:p>
        </p:txBody>
      </p:sp>
    </p:spTree>
    <p:extLst>
      <p:ext uri="{BB962C8B-B14F-4D97-AF65-F5344CB8AC3E}">
        <p14:creationId xmlns:p14="http://schemas.microsoft.com/office/powerpoint/2010/main" val="10359187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9DF578C-C40D-4648-8031-A247E1C1A246}" type="slidenum">
              <a:rPr lang="en-US" altLang="zh-CN" smtClean="0"/>
              <a:pPr/>
              <a:t>76</a:t>
            </a:fld>
            <a:endParaRPr lang="en-US" altLang="zh-CN"/>
          </a:p>
        </p:txBody>
      </p:sp>
    </p:spTree>
    <p:extLst>
      <p:ext uri="{BB962C8B-B14F-4D97-AF65-F5344CB8AC3E}">
        <p14:creationId xmlns:p14="http://schemas.microsoft.com/office/powerpoint/2010/main" val="42645479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26A9471-1F90-4C2C-8471-81CB7197BC14}" type="slidenum">
              <a:rPr lang="en-US" altLang="zh-CN" smtClean="0"/>
              <a:pPr/>
              <a:t>77</a:t>
            </a:fld>
            <a:endParaRPr lang="en-US" altLang="zh-CN"/>
          </a:p>
        </p:txBody>
      </p:sp>
    </p:spTree>
    <p:extLst>
      <p:ext uri="{BB962C8B-B14F-4D97-AF65-F5344CB8AC3E}">
        <p14:creationId xmlns:p14="http://schemas.microsoft.com/office/powerpoint/2010/main" val="19065069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78</a:t>
            </a:fld>
            <a:endParaRPr lang="zh-CN" altLang="en-US"/>
          </a:p>
        </p:txBody>
      </p:sp>
    </p:spTree>
    <p:extLst>
      <p:ext uri="{BB962C8B-B14F-4D97-AF65-F5344CB8AC3E}">
        <p14:creationId xmlns:p14="http://schemas.microsoft.com/office/powerpoint/2010/main" val="6805713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A52260-14E1-44ED-9B29-0783E079D781}" type="slidenum">
              <a:rPr lang="en-US" altLang="zh-CN" smtClean="0"/>
              <a:pPr/>
              <a:t>79</a:t>
            </a:fld>
            <a:endParaRPr lang="en-US" altLang="zh-CN"/>
          </a:p>
        </p:txBody>
      </p:sp>
    </p:spTree>
    <p:extLst>
      <p:ext uri="{BB962C8B-B14F-4D97-AF65-F5344CB8AC3E}">
        <p14:creationId xmlns:p14="http://schemas.microsoft.com/office/powerpoint/2010/main" val="21967291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82</a:t>
            </a:fld>
            <a:endParaRPr lang="zh-CN" altLang="en-US"/>
          </a:p>
        </p:txBody>
      </p:sp>
    </p:spTree>
    <p:extLst>
      <p:ext uri="{BB962C8B-B14F-4D97-AF65-F5344CB8AC3E}">
        <p14:creationId xmlns:p14="http://schemas.microsoft.com/office/powerpoint/2010/main" val="20344266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83</a:t>
            </a:fld>
            <a:endParaRPr lang="zh-CN" altLang="en-US"/>
          </a:p>
        </p:txBody>
      </p:sp>
    </p:spTree>
    <p:extLst>
      <p:ext uri="{BB962C8B-B14F-4D97-AF65-F5344CB8AC3E}">
        <p14:creationId xmlns:p14="http://schemas.microsoft.com/office/powerpoint/2010/main" val="14944850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84</a:t>
            </a:fld>
            <a:endParaRPr lang="zh-CN" altLang="en-US"/>
          </a:p>
        </p:txBody>
      </p:sp>
    </p:spTree>
    <p:extLst>
      <p:ext uri="{BB962C8B-B14F-4D97-AF65-F5344CB8AC3E}">
        <p14:creationId xmlns:p14="http://schemas.microsoft.com/office/powerpoint/2010/main" val="27556812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95A0DD-EA53-4B6C-BEF5-88D25E406370}" type="slidenum">
              <a:rPr lang="en-US" altLang="zh-CN" smtClean="0"/>
              <a:pPr/>
              <a:t>87</a:t>
            </a:fld>
            <a:endParaRPr lang="en-US" altLang="zh-CN"/>
          </a:p>
        </p:txBody>
      </p:sp>
    </p:spTree>
    <p:extLst>
      <p:ext uri="{BB962C8B-B14F-4D97-AF65-F5344CB8AC3E}">
        <p14:creationId xmlns:p14="http://schemas.microsoft.com/office/powerpoint/2010/main" val="13903309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A5833D9-1DBE-4489-BB27-210C7B19D1BA}" type="slidenum">
              <a:rPr lang="en-US" altLang="zh-CN" smtClean="0"/>
              <a:pPr>
                <a:defRPr/>
              </a:pPr>
              <a:t>89</a:t>
            </a:fld>
            <a:endParaRPr lang="en-US" altLang="zh-CN"/>
          </a:p>
        </p:txBody>
      </p:sp>
    </p:spTree>
    <p:extLst>
      <p:ext uri="{BB962C8B-B14F-4D97-AF65-F5344CB8AC3E}">
        <p14:creationId xmlns:p14="http://schemas.microsoft.com/office/powerpoint/2010/main" val="36025834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a:t>Video conferencing is variable bit rate because video is normally compressed, so the bit rate varies over time. Telephony is typically carried at a lower, fixed rate.</a:t>
            </a:r>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CFD07A8-3CFA-449D-8880-BE17B3C5DF51}" type="slidenum">
              <a:rPr lang="en-US" altLang="zh-CN" smtClean="0"/>
              <a:pPr/>
              <a:t>90</a:t>
            </a:fld>
            <a:endParaRPr lang="en-US" altLang="zh-CN"/>
          </a:p>
        </p:txBody>
      </p:sp>
    </p:spTree>
    <p:extLst>
      <p:ext uri="{BB962C8B-B14F-4D97-AF65-F5344CB8AC3E}">
        <p14:creationId xmlns:p14="http://schemas.microsoft.com/office/powerpoint/2010/main" val="13811556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defTabSz="914400" rtl="0" eaLnBrk="1" latinLnBrk="0" hangingPunct="1"/>
            <a:endParaRPr lang="zh-CN" altLang="en-US" sz="1200" b="0" i="0" kern="1200" dirty="0">
              <a:solidFill>
                <a:srgbClr val="333333"/>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91</a:t>
            </a:fld>
            <a:endParaRPr lang="zh-CN" altLang="en-US"/>
          </a:p>
        </p:txBody>
      </p:sp>
    </p:spTree>
    <p:extLst>
      <p:ext uri="{BB962C8B-B14F-4D97-AF65-F5344CB8AC3E}">
        <p14:creationId xmlns:p14="http://schemas.microsoft.com/office/powerpoint/2010/main" val="24516765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92</a:t>
            </a:fld>
            <a:endParaRPr lang="zh-CN" altLang="en-US"/>
          </a:p>
        </p:txBody>
      </p:sp>
    </p:spTree>
    <p:extLst>
      <p:ext uri="{BB962C8B-B14F-4D97-AF65-F5344CB8AC3E}">
        <p14:creationId xmlns:p14="http://schemas.microsoft.com/office/powerpoint/2010/main" val="6071971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1338D14-64D9-427A-96E1-88DA52DC4AF7}" type="slidenum">
              <a:rPr lang="en-US" altLang="zh-CN" smtClean="0"/>
              <a:pPr/>
              <a:t>96</a:t>
            </a:fld>
            <a:endParaRPr lang="en-US" altLang="zh-CN"/>
          </a:p>
        </p:txBody>
      </p:sp>
    </p:spTree>
    <p:extLst>
      <p:ext uri="{BB962C8B-B14F-4D97-AF65-F5344CB8AC3E}">
        <p14:creationId xmlns:p14="http://schemas.microsoft.com/office/powerpoint/2010/main" val="30382535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lang="en-US" altLang="zh-CN" dirty="0"/>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1338D14-64D9-427A-96E1-88DA52DC4AF7}" type="slidenum">
              <a:rPr lang="en-US" altLang="zh-CN" smtClean="0"/>
              <a:pPr/>
              <a:t>97</a:t>
            </a:fld>
            <a:endParaRPr lang="en-US" altLang="zh-CN"/>
          </a:p>
        </p:txBody>
      </p:sp>
    </p:spTree>
    <p:extLst>
      <p:ext uri="{BB962C8B-B14F-4D97-AF65-F5344CB8AC3E}">
        <p14:creationId xmlns:p14="http://schemas.microsoft.com/office/powerpoint/2010/main" val="41042427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98</a:t>
            </a:fld>
            <a:endParaRPr lang="zh-CN" altLang="en-US"/>
          </a:p>
        </p:txBody>
      </p:sp>
    </p:spTree>
    <p:extLst>
      <p:ext uri="{BB962C8B-B14F-4D97-AF65-F5344CB8AC3E}">
        <p14:creationId xmlns:p14="http://schemas.microsoft.com/office/powerpoint/2010/main" val="20698557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839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E05797E-B110-40A8-8361-402319069962}" type="slidenum">
              <a:rPr lang="en-US" altLang="zh-CN" smtClean="0"/>
              <a:pPr/>
              <a:t>99</a:t>
            </a:fld>
            <a:endParaRPr lang="en-US" altLang="zh-CN"/>
          </a:p>
        </p:txBody>
      </p:sp>
    </p:spTree>
    <p:extLst>
      <p:ext uri="{BB962C8B-B14F-4D97-AF65-F5344CB8AC3E}">
        <p14:creationId xmlns:p14="http://schemas.microsoft.com/office/powerpoint/2010/main" val="38821798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olidFill>
                <a:srgbClr val="C00000"/>
              </a:solidFill>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101</a:t>
            </a:fld>
            <a:endParaRPr lang="zh-CN" altLang="en-US"/>
          </a:p>
        </p:txBody>
      </p:sp>
    </p:spTree>
    <p:extLst>
      <p:ext uri="{BB962C8B-B14F-4D97-AF65-F5344CB8AC3E}">
        <p14:creationId xmlns:p14="http://schemas.microsoft.com/office/powerpoint/2010/main" val="9801701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102</a:t>
            </a:fld>
            <a:endParaRPr lang="zh-CN" altLang="en-US"/>
          </a:p>
        </p:txBody>
      </p:sp>
    </p:spTree>
    <p:extLst>
      <p:ext uri="{BB962C8B-B14F-4D97-AF65-F5344CB8AC3E}">
        <p14:creationId xmlns:p14="http://schemas.microsoft.com/office/powerpoint/2010/main" val="53558847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103</a:t>
            </a:fld>
            <a:endParaRPr lang="zh-CN" altLang="en-US"/>
          </a:p>
        </p:txBody>
      </p:sp>
    </p:spTree>
    <p:extLst>
      <p:ext uri="{BB962C8B-B14F-4D97-AF65-F5344CB8AC3E}">
        <p14:creationId xmlns:p14="http://schemas.microsoft.com/office/powerpoint/2010/main" val="276300333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95A0DD-EA53-4B6C-BEF5-88D25E406370}" type="slidenum">
              <a:rPr lang="en-US" altLang="zh-CN" smtClean="0"/>
              <a:pPr/>
              <a:t>109</a:t>
            </a:fld>
            <a:endParaRPr lang="en-US" altLang="zh-CN"/>
          </a:p>
        </p:txBody>
      </p:sp>
    </p:spTree>
    <p:extLst>
      <p:ext uri="{BB962C8B-B14F-4D97-AF65-F5344CB8AC3E}">
        <p14:creationId xmlns:p14="http://schemas.microsoft.com/office/powerpoint/2010/main" val="1956769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92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FB7DF39-A1B8-4B7B-83B8-8019A4B06D54}" type="slidenum">
              <a:rPr lang="en-US" altLang="zh-CN" smtClean="0"/>
              <a:pPr/>
              <a:t>112</a:t>
            </a:fld>
            <a:endParaRPr lang="en-US" altLang="zh-CN"/>
          </a:p>
        </p:txBody>
      </p:sp>
    </p:spTree>
    <p:extLst>
      <p:ext uri="{BB962C8B-B14F-4D97-AF65-F5344CB8AC3E}">
        <p14:creationId xmlns:p14="http://schemas.microsoft.com/office/powerpoint/2010/main" val="34248956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115</a:t>
            </a:fld>
            <a:endParaRPr lang="zh-CN" altLang="en-US"/>
          </a:p>
        </p:txBody>
      </p:sp>
    </p:spTree>
    <p:extLst>
      <p:ext uri="{BB962C8B-B14F-4D97-AF65-F5344CB8AC3E}">
        <p14:creationId xmlns:p14="http://schemas.microsoft.com/office/powerpoint/2010/main" val="40043382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117</a:t>
            </a:fld>
            <a:endParaRPr lang="zh-CN" altLang="en-US"/>
          </a:p>
        </p:txBody>
      </p:sp>
    </p:spTree>
    <p:extLst>
      <p:ext uri="{BB962C8B-B14F-4D97-AF65-F5344CB8AC3E}">
        <p14:creationId xmlns:p14="http://schemas.microsoft.com/office/powerpoint/2010/main" val="161846223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95A0DD-EA53-4B6C-BEF5-88D25E406370}" type="slidenum">
              <a:rPr lang="en-US" altLang="zh-CN" smtClean="0"/>
              <a:pPr/>
              <a:t>118</a:t>
            </a:fld>
            <a:endParaRPr lang="en-US" altLang="zh-CN"/>
          </a:p>
        </p:txBody>
      </p:sp>
    </p:spTree>
    <p:extLst>
      <p:ext uri="{BB962C8B-B14F-4D97-AF65-F5344CB8AC3E}">
        <p14:creationId xmlns:p14="http://schemas.microsoft.com/office/powerpoint/2010/main" val="103812000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003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CC6702E-51F4-4CE6-8A5E-63F11544C148}" type="slidenum">
              <a:rPr lang="en-US" altLang="zh-CN" smtClean="0"/>
              <a:pPr/>
              <a:t>120</a:t>
            </a:fld>
            <a:endParaRPr lang="en-US" altLang="zh-CN"/>
          </a:p>
        </p:txBody>
      </p:sp>
    </p:spTree>
    <p:extLst>
      <p:ext uri="{BB962C8B-B14F-4D97-AF65-F5344CB8AC3E}">
        <p14:creationId xmlns:p14="http://schemas.microsoft.com/office/powerpoint/2010/main" val="35251648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122</a:t>
            </a:fld>
            <a:endParaRPr lang="zh-CN" altLang="en-US"/>
          </a:p>
        </p:txBody>
      </p:sp>
    </p:spTree>
    <p:extLst>
      <p:ext uri="{BB962C8B-B14F-4D97-AF65-F5344CB8AC3E}">
        <p14:creationId xmlns:p14="http://schemas.microsoft.com/office/powerpoint/2010/main" val="55163084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lgn="l">
              <a:buFont typeface="Arial" panose="020B0604020202020204" pitchFamily="34" charset="0"/>
              <a:buChar char="•"/>
            </a:pPr>
            <a:endParaRPr lang="zh-CN" altLang="en-US" b="0" i="0" dirty="0">
              <a:solidFill>
                <a:srgbClr val="4D4D4D"/>
              </a:solidFill>
              <a:effectLst/>
              <a:latin typeface="-apple-system"/>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123</a:t>
            </a:fld>
            <a:endParaRPr lang="zh-CN" altLang="en-US"/>
          </a:p>
        </p:txBody>
      </p:sp>
    </p:spTree>
    <p:extLst>
      <p:ext uri="{BB962C8B-B14F-4D97-AF65-F5344CB8AC3E}">
        <p14:creationId xmlns:p14="http://schemas.microsoft.com/office/powerpoint/2010/main" val="26877798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91E832D-747C-4B31-804C-0BA2CAC7E99D}" type="slidenum">
              <a:rPr lang="zh-CN" altLang="en-US" sz="1200" smtClean="0">
                <a:latin typeface="Times New Roman" panose="02020603050405020304" pitchFamily="18" charset="0"/>
              </a:rPr>
              <a:pPr/>
              <a:t>125</a:t>
            </a:fld>
            <a:endParaRPr lang="en-US" altLang="zh-CN" sz="1200">
              <a:latin typeface="Times New Roman" panose="02020603050405020304" pitchFamily="18" charset="0"/>
            </a:endParaRPr>
          </a:p>
        </p:txBody>
      </p:sp>
      <p:sp>
        <p:nvSpPr>
          <p:cNvPr id="1064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5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6954772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FECA07E-66B5-465E-BEC1-EC975562A2BD}" type="slidenum">
              <a:rPr lang="zh-CN" altLang="en-US" sz="1200" smtClean="0">
                <a:latin typeface="Times New Roman" panose="02020603050405020304" pitchFamily="18" charset="0"/>
              </a:rPr>
              <a:pPr/>
              <a:t>126</a:t>
            </a:fld>
            <a:endParaRPr lang="en-US" altLang="zh-CN" sz="120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10736689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FECA07E-66B5-465E-BEC1-EC975562A2BD}" type="slidenum">
              <a:rPr lang="zh-CN" altLang="en-US" sz="1200" smtClean="0">
                <a:latin typeface="Times New Roman" panose="02020603050405020304" pitchFamily="18" charset="0"/>
              </a:rPr>
              <a:pPr/>
              <a:t>127</a:t>
            </a:fld>
            <a:endParaRPr lang="en-US" altLang="zh-CN" sz="120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69816396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A5833D9-1DBE-4489-BB27-210C7B19D1BA}" type="slidenum">
              <a:rPr lang="en-US" altLang="zh-CN" smtClean="0"/>
              <a:pPr>
                <a:defRPr/>
              </a:pPr>
              <a:t>128</a:t>
            </a:fld>
            <a:endParaRPr lang="en-US" altLang="zh-CN"/>
          </a:p>
        </p:txBody>
      </p:sp>
    </p:spTree>
    <p:extLst>
      <p:ext uri="{BB962C8B-B14F-4D97-AF65-F5344CB8AC3E}">
        <p14:creationId xmlns:p14="http://schemas.microsoft.com/office/powerpoint/2010/main" val="238646272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47ECBD-4283-453C-9040-4E01E7AAE0F0}" type="slidenum">
              <a:rPr lang="zh-CN" altLang="en-US" sz="1200" smtClean="0">
                <a:latin typeface="Times New Roman" panose="02020603050405020304" pitchFamily="18" charset="0"/>
              </a:rPr>
              <a:pPr/>
              <a:t>129</a:t>
            </a:fld>
            <a:endParaRPr lang="en-US" altLang="zh-CN" sz="1200">
              <a:latin typeface="Times New Roman" panose="02020603050405020304" pitchFamily="18" charset="0"/>
            </a:endParaRPr>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dirty="0"/>
              <a:t>为什么</a:t>
            </a:r>
            <a:r>
              <a:rPr lang="en-US" altLang="zh-CN" dirty="0"/>
              <a:t>IPv4</a:t>
            </a:r>
            <a:r>
              <a:rPr lang="zh-CN" altLang="en-US" dirty="0"/>
              <a:t>的</a:t>
            </a:r>
            <a:r>
              <a:rPr lang="en-US" altLang="zh-CN" dirty="0"/>
              <a:t>checksum</a:t>
            </a:r>
            <a:r>
              <a:rPr lang="zh-CN" altLang="en-US" dirty="0"/>
              <a:t>字段仅对</a:t>
            </a:r>
            <a:r>
              <a:rPr lang="en-US" altLang="zh-CN" dirty="0"/>
              <a:t>IPv4</a:t>
            </a:r>
            <a:r>
              <a:rPr lang="zh-CN" altLang="en-US" dirty="0"/>
              <a:t>头部进行校验？</a:t>
            </a:r>
          </a:p>
          <a:p>
            <a:pPr eaLnBrk="1" hangingPunct="1"/>
            <a:r>
              <a:rPr lang="en-US" altLang="zh-CN" dirty="0"/>
              <a:t>1.IPv4</a:t>
            </a:r>
            <a:r>
              <a:rPr lang="zh-CN" altLang="en-US" dirty="0"/>
              <a:t>数据报中所有的高层协议均有校验和字段来对整个分组进行校验；</a:t>
            </a:r>
          </a:p>
          <a:p>
            <a:pPr eaLnBrk="1" hangingPunct="1"/>
            <a:r>
              <a:rPr lang="en-US" altLang="zh-CN" dirty="0"/>
              <a:t>2.IPv4</a:t>
            </a:r>
            <a:r>
              <a:rPr lang="zh-CN" altLang="en-US" dirty="0"/>
              <a:t>头部在经过路由器是会发生改变，而数据字段不变，即校验和仅需要对变化的部分进行校验。</a:t>
            </a:r>
          </a:p>
          <a:p>
            <a:pPr eaLnBrk="1" hangingPunct="1"/>
            <a:r>
              <a:rPr lang="zh-CN" altLang="en-US" dirty="0"/>
              <a:t>如果对整个分组进行校验，则会增加处理时间。</a:t>
            </a:r>
          </a:p>
        </p:txBody>
      </p:sp>
    </p:spTree>
    <p:extLst>
      <p:ext uri="{BB962C8B-B14F-4D97-AF65-F5344CB8AC3E}">
        <p14:creationId xmlns:p14="http://schemas.microsoft.com/office/powerpoint/2010/main" val="161938600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3676D86-E72D-489C-AC1E-CD7189628EA1}" type="slidenum">
              <a:rPr lang="zh-CN" altLang="en-US" sz="1200" smtClean="0">
                <a:latin typeface="Times New Roman" panose="02020603050405020304" pitchFamily="18" charset="0"/>
              </a:rPr>
              <a:pPr/>
              <a:t>130</a:t>
            </a:fld>
            <a:endParaRPr lang="en-US" altLang="zh-CN" sz="1200">
              <a:latin typeface="Times New Roman" panose="02020603050405020304" pitchFamily="18" charset="0"/>
            </a:endParaRPr>
          </a:p>
        </p:txBody>
      </p:sp>
      <p:sp>
        <p:nvSpPr>
          <p:cNvPr id="1105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42338992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FECA07E-66B5-465E-BEC1-EC975562A2BD}" type="slidenum">
              <a:rPr lang="zh-CN" altLang="en-US" sz="1200" smtClean="0">
                <a:latin typeface="Times New Roman" panose="02020603050405020304" pitchFamily="18" charset="0"/>
              </a:rPr>
              <a:pPr/>
              <a:t>134</a:t>
            </a:fld>
            <a:endParaRPr lang="en-US" altLang="zh-CN" sz="1200">
              <a:latin typeface="Times New Roman" panose="02020603050405020304" pitchFamily="18" charset="0"/>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86159910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69905EA-ECAB-4CDF-BCC2-925447B9631D}" type="slidenum">
              <a:rPr lang="zh-CN" altLang="en-US" sz="1200" smtClean="0">
                <a:latin typeface="Times New Roman" panose="02020603050405020304" pitchFamily="18" charset="0"/>
              </a:rPr>
              <a:pPr/>
              <a:t>136</a:t>
            </a:fld>
            <a:endParaRPr lang="en-US" altLang="zh-CN" sz="1200">
              <a:latin typeface="Times New Roman" panose="02020603050405020304" pitchFamily="18" charset="0"/>
            </a:endParaRPr>
          </a:p>
        </p:txBody>
      </p:sp>
      <p:sp>
        <p:nvSpPr>
          <p:cNvPr id="1157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209319305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AC8FCC-55D3-43EE-B113-8E1F2CB64FAC}" type="slidenum">
              <a:rPr lang="zh-CN" altLang="en-US" sz="1200" smtClean="0">
                <a:latin typeface="Times New Roman" panose="02020603050405020304" pitchFamily="18" charset="0"/>
              </a:rPr>
              <a:pPr/>
              <a:t>137</a:t>
            </a:fld>
            <a:endParaRPr lang="en-US" altLang="zh-CN" sz="1200">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60385178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6A5833D9-1DBE-4489-BB27-210C7B19D1BA}" type="slidenum">
              <a:rPr lang="en-US" altLang="zh-CN" smtClean="0"/>
              <a:pPr>
                <a:defRPr/>
              </a:pPr>
              <a:t>138</a:t>
            </a:fld>
            <a:endParaRPr lang="en-US" altLang="zh-CN"/>
          </a:p>
        </p:txBody>
      </p:sp>
    </p:spTree>
    <p:extLst>
      <p:ext uri="{BB962C8B-B14F-4D97-AF65-F5344CB8AC3E}">
        <p14:creationId xmlns:p14="http://schemas.microsoft.com/office/powerpoint/2010/main" val="293524010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9A7D9AE-3D66-4A6F-A9BB-DB7AFF93D97A}" type="slidenum">
              <a:rPr lang="zh-CN" altLang="en-US" sz="1200" smtClean="0">
                <a:latin typeface="Times New Roman" panose="02020603050405020304" pitchFamily="18" charset="0"/>
              </a:rPr>
              <a:pPr/>
              <a:t>140</a:t>
            </a:fld>
            <a:endParaRPr lang="en-US" altLang="zh-CN" sz="1200">
              <a:latin typeface="Times New Roman" panose="02020603050405020304" pitchFamily="18" charset="0"/>
            </a:endParaRPr>
          </a:p>
        </p:txBody>
      </p:sp>
      <p:sp>
        <p:nvSpPr>
          <p:cNvPr id="1413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159550211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6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0CE5B3B-FF4B-40E6-87EF-44A37A98451B}" type="slidenum">
              <a:rPr lang="en-US" altLang="zh-CN" smtClean="0"/>
              <a:pPr/>
              <a:t>142</a:t>
            </a:fld>
            <a:endParaRPr lang="en-US" altLang="zh-CN"/>
          </a:p>
        </p:txBody>
      </p:sp>
    </p:spTree>
    <p:extLst>
      <p:ext uri="{BB962C8B-B14F-4D97-AF65-F5344CB8AC3E}">
        <p14:creationId xmlns:p14="http://schemas.microsoft.com/office/powerpoint/2010/main" val="340052125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143</a:t>
            </a:fld>
            <a:endParaRPr lang="zh-CN" altLang="en-US"/>
          </a:p>
        </p:txBody>
      </p:sp>
    </p:spTree>
    <p:extLst>
      <p:ext uri="{BB962C8B-B14F-4D97-AF65-F5344CB8AC3E}">
        <p14:creationId xmlns:p14="http://schemas.microsoft.com/office/powerpoint/2010/main" val="71151920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B54D484-0497-424D-9331-FAF5575D6C82}" type="slidenum">
              <a:rPr lang="zh-CN" altLang="en-US" sz="1200" smtClean="0">
                <a:latin typeface="Times New Roman" panose="02020603050405020304" pitchFamily="18" charset="0"/>
              </a:rPr>
              <a:pPr/>
              <a:t>144</a:t>
            </a:fld>
            <a:endParaRPr lang="en-US" altLang="zh-CN" sz="1200">
              <a:latin typeface="Times New Roman" panose="02020603050405020304" pitchFamily="18" charset="0"/>
            </a:endParaRPr>
          </a:p>
        </p:txBody>
      </p:sp>
      <p:sp>
        <p:nvSpPr>
          <p:cNvPr id="1812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266753399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670776E-CA82-4E6D-873C-A4C3E564EE22}" type="slidenum">
              <a:rPr lang="zh-CN" altLang="en-US" sz="1200" smtClean="0">
                <a:latin typeface="Times New Roman" panose="02020603050405020304" pitchFamily="18" charset="0"/>
              </a:rPr>
              <a:pPr/>
              <a:t>145</a:t>
            </a:fld>
            <a:endParaRPr lang="en-US" altLang="zh-CN" sz="1200">
              <a:latin typeface="Times New Roman" panose="02020603050405020304" pitchFamily="18" charset="0"/>
            </a:endParaRPr>
          </a:p>
        </p:txBody>
      </p:sp>
      <p:sp>
        <p:nvSpPr>
          <p:cNvPr id="1832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3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231439492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45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A5FB5AF-5AE6-4422-AFF5-44CF3F809576}" type="slidenum">
              <a:rPr lang="en-US" altLang="zh-CN" smtClean="0"/>
              <a:pPr/>
              <a:t>146</a:t>
            </a:fld>
            <a:endParaRPr lang="en-US" altLang="zh-CN"/>
          </a:p>
        </p:txBody>
      </p:sp>
    </p:spTree>
    <p:extLst>
      <p:ext uri="{BB962C8B-B14F-4D97-AF65-F5344CB8AC3E}">
        <p14:creationId xmlns:p14="http://schemas.microsoft.com/office/powerpoint/2010/main" val="23966140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8A8C018-476D-45AA-9C1D-FB88E4C953DD}" type="slidenum">
              <a:rPr lang="zh-CN" altLang="en-US" sz="1200" smtClean="0">
                <a:latin typeface="Times New Roman" panose="02020603050405020304" pitchFamily="18" charset="0"/>
              </a:rPr>
              <a:pPr/>
              <a:t>147</a:t>
            </a:fld>
            <a:endParaRPr lang="en-US" altLang="zh-CN" sz="1200">
              <a:latin typeface="Times New Roman" panose="02020603050405020304" pitchFamily="18" charset="0"/>
            </a:endParaRPr>
          </a:p>
        </p:txBody>
      </p:sp>
      <p:sp>
        <p:nvSpPr>
          <p:cNvPr id="1474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Tree>
    <p:extLst>
      <p:ext uri="{BB962C8B-B14F-4D97-AF65-F5344CB8AC3E}">
        <p14:creationId xmlns:p14="http://schemas.microsoft.com/office/powerpoint/2010/main" val="75462354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164AD95-2A0F-4428-8CF0-252DCA8EF13F}" type="slidenum">
              <a:rPr lang="zh-CN" altLang="en-US" sz="1200" smtClean="0">
                <a:latin typeface="Times New Roman" panose="02020603050405020304" pitchFamily="18" charset="0"/>
              </a:rPr>
              <a:pPr/>
              <a:t>149</a:t>
            </a:fld>
            <a:endParaRPr lang="en-US" altLang="zh-CN" sz="1200">
              <a:latin typeface="Times New Roman" panose="02020603050405020304" pitchFamily="18" charset="0"/>
            </a:endParaRPr>
          </a:p>
        </p:txBody>
      </p:sp>
      <p:sp>
        <p:nvSpPr>
          <p:cNvPr id="1525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281334822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B63D147-C507-4125-9835-A74911C79E49}" type="slidenum">
              <a:rPr lang="zh-CN" altLang="en-US" sz="1200" smtClean="0">
                <a:latin typeface="Times New Roman" panose="02020603050405020304" pitchFamily="18" charset="0"/>
              </a:rPr>
              <a:pPr/>
              <a:t>150</a:t>
            </a:fld>
            <a:endParaRPr lang="en-US" altLang="zh-CN" sz="1200">
              <a:latin typeface="Times New Roman" panose="02020603050405020304" pitchFamily="18" charset="0"/>
            </a:endParaRPr>
          </a:p>
        </p:txBody>
      </p:sp>
      <p:sp>
        <p:nvSpPr>
          <p:cNvPr id="1546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177548140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2E0A627-A2DF-4586-86E3-D81F3AF38E5F}" type="slidenum">
              <a:rPr lang="zh-CN" altLang="en-US" sz="1200" smtClean="0">
                <a:latin typeface="Times New Roman" panose="02020603050405020304" pitchFamily="18" charset="0"/>
              </a:rPr>
              <a:pPr/>
              <a:t>151</a:t>
            </a:fld>
            <a:endParaRPr lang="en-US" altLang="zh-CN" sz="1200">
              <a:latin typeface="Times New Roman" panose="02020603050405020304" pitchFamily="18" charset="0"/>
            </a:endParaRPr>
          </a:p>
        </p:txBody>
      </p:sp>
      <p:sp>
        <p:nvSpPr>
          <p:cNvPr id="1566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6"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dirty="0"/>
              <a:t> </a:t>
            </a:r>
          </a:p>
        </p:txBody>
      </p:sp>
    </p:spTree>
    <p:extLst>
      <p:ext uri="{BB962C8B-B14F-4D97-AF65-F5344CB8AC3E}">
        <p14:creationId xmlns:p14="http://schemas.microsoft.com/office/powerpoint/2010/main" val="115931691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50D196C-A16E-48CF-9F26-E6E3812E90C7}" type="slidenum">
              <a:rPr lang="zh-CN" altLang="en-US" sz="1200" smtClean="0">
                <a:latin typeface="Times New Roman" panose="02020603050405020304" pitchFamily="18" charset="0"/>
              </a:rPr>
              <a:pPr/>
              <a:t>152</a:t>
            </a:fld>
            <a:endParaRPr lang="en-US" altLang="zh-CN" sz="1200">
              <a:latin typeface="Times New Roman" panose="02020603050405020304" pitchFamily="18" charset="0"/>
            </a:endParaRPr>
          </a:p>
        </p:txBody>
      </p:sp>
      <p:sp>
        <p:nvSpPr>
          <p:cNvPr id="1638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86754990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35375AD-3FEF-41F7-AEF9-8DAD8988FB68}" type="slidenum">
              <a:rPr lang="zh-CN" altLang="en-US" sz="1200" smtClean="0">
                <a:latin typeface="Times New Roman" panose="02020603050405020304" pitchFamily="18" charset="0"/>
              </a:rPr>
              <a:pPr/>
              <a:t>153</a:t>
            </a:fld>
            <a:endParaRPr lang="en-US" altLang="zh-CN" sz="1200">
              <a:latin typeface="Times New Roman" panose="02020603050405020304" pitchFamily="18" charset="0"/>
            </a:endParaRPr>
          </a:p>
        </p:txBody>
      </p:sp>
      <p:sp>
        <p:nvSpPr>
          <p:cNvPr id="1658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412014976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E53F403-BA66-4A06-9F9C-E4C8705FA154}" type="slidenum">
              <a:rPr lang="zh-CN" altLang="en-US" sz="1200" smtClean="0">
                <a:latin typeface="Times New Roman" panose="02020603050405020304" pitchFamily="18" charset="0"/>
              </a:rPr>
              <a:pPr/>
              <a:t>154</a:t>
            </a:fld>
            <a:endParaRPr lang="en-US" altLang="zh-CN" sz="1200">
              <a:latin typeface="Times New Roman" panose="02020603050405020304" pitchFamily="18" charset="0"/>
            </a:endParaRPr>
          </a:p>
        </p:txBody>
      </p:sp>
      <p:sp>
        <p:nvSpPr>
          <p:cNvPr id="1679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199047795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3BFA18-1390-4CC1-AEAF-92F3782A0C80}" type="slidenum">
              <a:rPr lang="zh-CN" altLang="en-US" sz="1200" smtClean="0">
                <a:latin typeface="Times New Roman" panose="02020603050405020304" pitchFamily="18" charset="0"/>
              </a:rPr>
              <a:pPr/>
              <a:t>155</a:t>
            </a:fld>
            <a:endParaRPr lang="en-US" altLang="zh-CN" sz="1200">
              <a:latin typeface="Times New Roman" panose="02020603050405020304" pitchFamily="18" charset="0"/>
            </a:endParaRPr>
          </a:p>
        </p:txBody>
      </p:sp>
      <p:sp>
        <p:nvSpPr>
          <p:cNvPr id="1699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99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51368580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CDAB9B0-28BF-45FA-8B93-EEF1D3CB4D78}" type="slidenum">
              <a:rPr lang="zh-CN" altLang="en-US" sz="1200" smtClean="0">
                <a:latin typeface="Times New Roman" panose="02020603050405020304" pitchFamily="18" charset="0"/>
              </a:rPr>
              <a:pPr/>
              <a:t>156</a:t>
            </a:fld>
            <a:endParaRPr lang="en-US" altLang="zh-CN" sz="1200">
              <a:latin typeface="Times New Roman" panose="02020603050405020304" pitchFamily="18" charset="0"/>
            </a:endParaRPr>
          </a:p>
        </p:txBody>
      </p:sp>
      <p:sp>
        <p:nvSpPr>
          <p:cNvPr id="1720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98970046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58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F36B16C-FDA0-4FA2-98FB-70B6D194EE0D}" type="slidenum">
              <a:rPr lang="en-US" altLang="zh-CN" smtClean="0"/>
              <a:pPr/>
              <a:t>157</a:t>
            </a:fld>
            <a:endParaRPr lang="en-US" altLang="zh-CN"/>
          </a:p>
        </p:txBody>
      </p:sp>
    </p:spTree>
    <p:extLst>
      <p:ext uri="{BB962C8B-B14F-4D97-AF65-F5344CB8AC3E}">
        <p14:creationId xmlns:p14="http://schemas.microsoft.com/office/powerpoint/2010/main" val="7378796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74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B948057-518E-447F-B36C-944BB5849A40}" type="slidenum">
              <a:rPr lang="en-US" altLang="zh-CN" smtClean="0"/>
              <a:pPr/>
              <a:t>159</a:t>
            </a:fld>
            <a:endParaRPr lang="en-US" altLang="zh-CN"/>
          </a:p>
        </p:txBody>
      </p:sp>
    </p:spTree>
    <p:extLst>
      <p:ext uri="{BB962C8B-B14F-4D97-AF65-F5344CB8AC3E}">
        <p14:creationId xmlns:p14="http://schemas.microsoft.com/office/powerpoint/2010/main" val="237641454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89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62F78A-8A41-43A7-BBFF-B5D727FCA61A}" type="slidenum">
              <a:rPr lang="en-US" altLang="zh-CN" smtClean="0"/>
              <a:pPr/>
              <a:t>163</a:t>
            </a:fld>
            <a:endParaRPr lang="en-US" altLang="zh-CN"/>
          </a:p>
        </p:txBody>
      </p:sp>
    </p:spTree>
    <p:extLst>
      <p:ext uri="{BB962C8B-B14F-4D97-AF65-F5344CB8AC3E}">
        <p14:creationId xmlns:p14="http://schemas.microsoft.com/office/powerpoint/2010/main" val="31188241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A92A8A-B48D-4E0E-8FF0-5C8CE5419730}" type="slidenum">
              <a:rPr lang="zh-CN" altLang="en-US" sz="1200" smtClean="0">
                <a:latin typeface="Times New Roman" panose="02020603050405020304" pitchFamily="18" charset="0"/>
              </a:rPr>
              <a:pPr/>
              <a:t>164</a:t>
            </a:fld>
            <a:endParaRPr lang="en-US" altLang="zh-CN" sz="1200">
              <a:latin typeface="Times New Roman" panose="02020603050405020304" pitchFamily="18" charset="0"/>
            </a:endParaRPr>
          </a:p>
        </p:txBody>
      </p:sp>
      <p:sp>
        <p:nvSpPr>
          <p:cNvPr id="1914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1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425762768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89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62F78A-8A41-43A7-BBFF-B5D727FCA61A}" type="slidenum">
              <a:rPr lang="en-US" altLang="zh-CN" smtClean="0"/>
              <a:pPr/>
              <a:t>165</a:t>
            </a:fld>
            <a:endParaRPr lang="en-US" altLang="zh-CN"/>
          </a:p>
        </p:txBody>
      </p:sp>
    </p:spTree>
    <p:extLst>
      <p:ext uri="{BB962C8B-B14F-4D97-AF65-F5344CB8AC3E}">
        <p14:creationId xmlns:p14="http://schemas.microsoft.com/office/powerpoint/2010/main" val="374406787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89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62F78A-8A41-43A7-BBFF-B5D727FCA61A}" type="slidenum">
              <a:rPr lang="en-US" altLang="zh-CN" smtClean="0"/>
              <a:pPr/>
              <a:t>166</a:t>
            </a:fld>
            <a:endParaRPr lang="en-US" altLang="zh-CN"/>
          </a:p>
        </p:txBody>
      </p:sp>
    </p:spTree>
    <p:extLst>
      <p:ext uri="{BB962C8B-B14F-4D97-AF65-F5344CB8AC3E}">
        <p14:creationId xmlns:p14="http://schemas.microsoft.com/office/powerpoint/2010/main" val="376874714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89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62F78A-8A41-43A7-BBFF-B5D727FCA61A}" type="slidenum">
              <a:rPr lang="en-US" altLang="zh-CN" smtClean="0"/>
              <a:pPr/>
              <a:t>167</a:t>
            </a:fld>
            <a:endParaRPr lang="en-US" altLang="zh-CN"/>
          </a:p>
        </p:txBody>
      </p:sp>
    </p:spTree>
    <p:extLst>
      <p:ext uri="{BB962C8B-B14F-4D97-AF65-F5344CB8AC3E}">
        <p14:creationId xmlns:p14="http://schemas.microsoft.com/office/powerpoint/2010/main" val="368000183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89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762F78A-8A41-43A7-BBFF-B5D727FCA61A}" type="slidenum">
              <a:rPr lang="en-US" altLang="zh-CN" smtClean="0"/>
              <a:pPr/>
              <a:t>168</a:t>
            </a:fld>
            <a:endParaRPr lang="en-US" altLang="zh-CN"/>
          </a:p>
        </p:txBody>
      </p:sp>
    </p:spTree>
    <p:extLst>
      <p:ext uri="{BB962C8B-B14F-4D97-AF65-F5344CB8AC3E}">
        <p14:creationId xmlns:p14="http://schemas.microsoft.com/office/powerpoint/2010/main" val="324792454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453AD0-F346-4A53-B054-8F40F9432009}" type="slidenum">
              <a:rPr lang="zh-CN" altLang="en-US" sz="1200" smtClean="0">
                <a:latin typeface="Times New Roman" panose="02020603050405020304" pitchFamily="18" charset="0"/>
              </a:rPr>
              <a:pPr/>
              <a:t>169</a:t>
            </a:fld>
            <a:endParaRPr lang="en-US" altLang="zh-CN" sz="1200">
              <a:latin typeface="Times New Roman" panose="02020603050405020304" pitchFamily="18" charset="0"/>
            </a:endParaRPr>
          </a:p>
        </p:txBody>
      </p:sp>
      <p:sp>
        <p:nvSpPr>
          <p:cNvPr id="1935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354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45605920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9F8D050-789E-444D-B1B5-406823934E24}" type="slidenum">
              <a:rPr lang="zh-CN" altLang="en-US" sz="1200" smtClean="0">
                <a:latin typeface="Times New Roman" panose="02020603050405020304" pitchFamily="18" charset="0"/>
              </a:rPr>
              <a:pPr/>
              <a:t>170</a:t>
            </a:fld>
            <a:endParaRPr lang="en-US" altLang="zh-CN" sz="1200">
              <a:latin typeface="Times New Roman" panose="02020603050405020304" pitchFamily="18" charset="0"/>
            </a:endParaRPr>
          </a:p>
        </p:txBody>
      </p:sp>
      <p:sp>
        <p:nvSpPr>
          <p:cNvPr id="1955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249100867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79F4610-FD34-4C74-8E50-C9F4F181B017}" type="slidenum">
              <a:rPr lang="zh-CN" altLang="en-US" sz="1200" smtClean="0">
                <a:latin typeface="Times New Roman" panose="02020603050405020304" pitchFamily="18" charset="0"/>
              </a:rPr>
              <a:pPr/>
              <a:t>171</a:t>
            </a:fld>
            <a:endParaRPr lang="en-US" altLang="zh-CN" sz="1200">
              <a:latin typeface="Times New Roman" panose="02020603050405020304" pitchFamily="18" charset="0"/>
            </a:endParaRPr>
          </a:p>
        </p:txBody>
      </p:sp>
      <p:sp>
        <p:nvSpPr>
          <p:cNvPr id="1976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341962324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59FC315-BD8D-45BC-B2FB-278A09E05CF2}" type="slidenum">
              <a:rPr lang="zh-CN" altLang="en-US" sz="1200" smtClean="0">
                <a:latin typeface="Times New Roman" panose="02020603050405020304" pitchFamily="18" charset="0"/>
              </a:rPr>
              <a:pPr/>
              <a:t>172</a:t>
            </a:fld>
            <a:endParaRPr lang="en-US" altLang="zh-CN" sz="1200">
              <a:latin typeface="Times New Roman" panose="02020603050405020304" pitchFamily="18" charset="0"/>
            </a:endParaRPr>
          </a:p>
        </p:txBody>
      </p:sp>
      <p:sp>
        <p:nvSpPr>
          <p:cNvPr id="1996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278087427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175</a:t>
            </a:fld>
            <a:endParaRPr lang="zh-CN" altLang="en-US"/>
          </a:p>
        </p:txBody>
      </p:sp>
    </p:spTree>
    <p:extLst>
      <p:ext uri="{BB962C8B-B14F-4D97-AF65-F5344CB8AC3E}">
        <p14:creationId xmlns:p14="http://schemas.microsoft.com/office/powerpoint/2010/main" val="396514392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176</a:t>
            </a:fld>
            <a:endParaRPr lang="zh-CN" altLang="en-US"/>
          </a:p>
        </p:txBody>
      </p:sp>
    </p:spTree>
    <p:extLst>
      <p:ext uri="{BB962C8B-B14F-4D97-AF65-F5344CB8AC3E}">
        <p14:creationId xmlns:p14="http://schemas.microsoft.com/office/powerpoint/2010/main" val="279383419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177</a:t>
            </a:fld>
            <a:endParaRPr lang="zh-CN" altLang="en-US"/>
          </a:p>
        </p:txBody>
      </p:sp>
    </p:spTree>
    <p:extLst>
      <p:ext uri="{BB962C8B-B14F-4D97-AF65-F5344CB8AC3E}">
        <p14:creationId xmlns:p14="http://schemas.microsoft.com/office/powerpoint/2010/main" val="115802207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178</a:t>
            </a:fld>
            <a:endParaRPr lang="zh-CN" altLang="en-US"/>
          </a:p>
        </p:txBody>
      </p:sp>
    </p:spTree>
    <p:extLst>
      <p:ext uri="{BB962C8B-B14F-4D97-AF65-F5344CB8AC3E}">
        <p14:creationId xmlns:p14="http://schemas.microsoft.com/office/powerpoint/2010/main" val="259430453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180</a:t>
            </a:fld>
            <a:endParaRPr lang="zh-CN" altLang="en-US"/>
          </a:p>
        </p:txBody>
      </p:sp>
    </p:spTree>
    <p:extLst>
      <p:ext uri="{BB962C8B-B14F-4D97-AF65-F5344CB8AC3E}">
        <p14:creationId xmlns:p14="http://schemas.microsoft.com/office/powerpoint/2010/main" val="301367856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181</a:t>
            </a:fld>
            <a:endParaRPr lang="zh-CN" altLang="en-US"/>
          </a:p>
        </p:txBody>
      </p:sp>
    </p:spTree>
    <p:extLst>
      <p:ext uri="{BB962C8B-B14F-4D97-AF65-F5344CB8AC3E}">
        <p14:creationId xmlns:p14="http://schemas.microsoft.com/office/powerpoint/2010/main" val="360774060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182</a:t>
            </a:fld>
            <a:endParaRPr lang="zh-CN" altLang="en-US"/>
          </a:p>
        </p:txBody>
      </p:sp>
    </p:spTree>
    <p:extLst>
      <p:ext uri="{BB962C8B-B14F-4D97-AF65-F5344CB8AC3E}">
        <p14:creationId xmlns:p14="http://schemas.microsoft.com/office/powerpoint/2010/main" val="368743892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183</a:t>
            </a:fld>
            <a:endParaRPr lang="zh-CN" altLang="en-US"/>
          </a:p>
        </p:txBody>
      </p:sp>
    </p:spTree>
    <p:extLst>
      <p:ext uri="{BB962C8B-B14F-4D97-AF65-F5344CB8AC3E}">
        <p14:creationId xmlns:p14="http://schemas.microsoft.com/office/powerpoint/2010/main" val="329176022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189</a:t>
            </a:fld>
            <a:endParaRPr lang="zh-CN" altLang="en-US"/>
          </a:p>
        </p:txBody>
      </p:sp>
    </p:spTree>
    <p:extLst>
      <p:ext uri="{BB962C8B-B14F-4D97-AF65-F5344CB8AC3E}">
        <p14:creationId xmlns:p14="http://schemas.microsoft.com/office/powerpoint/2010/main" val="98039233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AB84C3F-8206-4DB3-8E85-DB986008B311}" type="slidenum">
              <a:rPr lang="zh-CN" altLang="en-US" sz="1200" smtClean="0">
                <a:latin typeface="Times New Roman" panose="02020603050405020304" pitchFamily="18" charset="0"/>
              </a:rPr>
              <a:pPr/>
              <a:t>195</a:t>
            </a:fld>
            <a:endParaRPr lang="en-US" altLang="zh-CN" sz="1200">
              <a:latin typeface="Times New Roman" panose="02020603050405020304" pitchFamily="18" charset="0"/>
            </a:endParaRPr>
          </a:p>
        </p:txBody>
      </p:sp>
      <p:sp>
        <p:nvSpPr>
          <p:cNvPr id="21299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29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zh-CN"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9818391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200</a:t>
            </a:fld>
            <a:endParaRPr lang="zh-CN" altLang="en-US"/>
          </a:p>
        </p:txBody>
      </p:sp>
    </p:spTree>
    <p:extLst>
      <p:ext uri="{BB962C8B-B14F-4D97-AF65-F5344CB8AC3E}">
        <p14:creationId xmlns:p14="http://schemas.microsoft.com/office/powerpoint/2010/main" val="227619402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A87848E-7188-4E42-B6DE-2710EF684574}" type="slidenum">
              <a:rPr lang="zh-CN" altLang="en-US" sz="1200" smtClean="0">
                <a:latin typeface="Times New Roman" panose="02020603050405020304" pitchFamily="18" charset="0"/>
              </a:rPr>
              <a:pPr/>
              <a:t>201</a:t>
            </a:fld>
            <a:endParaRPr lang="en-US" altLang="zh-CN" sz="1200">
              <a:latin typeface="Times New Roman" panose="02020603050405020304" pitchFamily="18" charset="0"/>
            </a:endParaRPr>
          </a:p>
        </p:txBody>
      </p:sp>
      <p:sp>
        <p:nvSpPr>
          <p:cNvPr id="2201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261098819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203</a:t>
            </a:fld>
            <a:endParaRPr lang="zh-CN" altLang="en-US"/>
          </a:p>
        </p:txBody>
      </p:sp>
    </p:spTree>
    <p:extLst>
      <p:ext uri="{BB962C8B-B14F-4D97-AF65-F5344CB8AC3E}">
        <p14:creationId xmlns:p14="http://schemas.microsoft.com/office/powerpoint/2010/main" val="213681074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205</a:t>
            </a:fld>
            <a:endParaRPr lang="zh-CN" altLang="en-US"/>
          </a:p>
        </p:txBody>
      </p:sp>
    </p:spTree>
    <p:extLst>
      <p:ext uri="{BB962C8B-B14F-4D97-AF65-F5344CB8AC3E}">
        <p14:creationId xmlns:p14="http://schemas.microsoft.com/office/powerpoint/2010/main" val="104708872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207</a:t>
            </a:fld>
            <a:endParaRPr lang="zh-CN" altLang="en-US"/>
          </a:p>
        </p:txBody>
      </p:sp>
    </p:spTree>
    <p:extLst>
      <p:ext uri="{BB962C8B-B14F-4D97-AF65-F5344CB8AC3E}">
        <p14:creationId xmlns:p14="http://schemas.microsoft.com/office/powerpoint/2010/main" val="388760538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333333"/>
              </a:solidFill>
              <a:effectLst/>
              <a:latin typeface="arial" panose="020B0604020202020204" pitchFamily="34" charset="0"/>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208</a:t>
            </a:fld>
            <a:endParaRPr lang="zh-CN" altLang="en-US"/>
          </a:p>
        </p:txBody>
      </p:sp>
    </p:spTree>
    <p:extLst>
      <p:ext uri="{BB962C8B-B14F-4D97-AF65-F5344CB8AC3E}">
        <p14:creationId xmlns:p14="http://schemas.microsoft.com/office/powerpoint/2010/main" val="355065694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209</a:t>
            </a:fld>
            <a:endParaRPr lang="zh-CN" altLang="en-US"/>
          </a:p>
        </p:txBody>
      </p:sp>
    </p:spTree>
    <p:extLst>
      <p:ext uri="{BB962C8B-B14F-4D97-AF65-F5344CB8AC3E}">
        <p14:creationId xmlns:p14="http://schemas.microsoft.com/office/powerpoint/2010/main" val="109022965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rgbClr val="333333"/>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210</a:t>
            </a:fld>
            <a:endParaRPr lang="zh-CN" altLang="en-US"/>
          </a:p>
        </p:txBody>
      </p:sp>
    </p:spTree>
    <p:extLst>
      <p:ext uri="{BB962C8B-B14F-4D97-AF65-F5344CB8AC3E}">
        <p14:creationId xmlns:p14="http://schemas.microsoft.com/office/powerpoint/2010/main" val="320970818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24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324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35C53B7-F675-4ED7-A933-164C10D410CF}" type="slidenum">
              <a:rPr lang="en-US" altLang="zh-CN" smtClean="0"/>
              <a:pPr/>
              <a:t>212</a:t>
            </a:fld>
            <a:endParaRPr lang="en-US" altLang="zh-CN"/>
          </a:p>
        </p:txBody>
      </p:sp>
    </p:spTree>
    <p:extLst>
      <p:ext uri="{BB962C8B-B14F-4D97-AF65-F5344CB8AC3E}">
        <p14:creationId xmlns:p14="http://schemas.microsoft.com/office/powerpoint/2010/main" val="389723388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0" i="0" kern="1200" dirty="0">
              <a:solidFill>
                <a:srgbClr val="333333"/>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213</a:t>
            </a:fld>
            <a:endParaRPr lang="zh-CN" altLang="en-US"/>
          </a:p>
        </p:txBody>
      </p:sp>
    </p:spTree>
    <p:extLst>
      <p:ext uri="{BB962C8B-B14F-4D97-AF65-F5344CB8AC3E}">
        <p14:creationId xmlns:p14="http://schemas.microsoft.com/office/powerpoint/2010/main" val="306591397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214</a:t>
            </a:fld>
            <a:endParaRPr lang="zh-CN" altLang="en-US"/>
          </a:p>
        </p:txBody>
      </p:sp>
    </p:spTree>
    <p:extLst>
      <p:ext uri="{BB962C8B-B14F-4D97-AF65-F5344CB8AC3E}">
        <p14:creationId xmlns:p14="http://schemas.microsoft.com/office/powerpoint/2010/main" val="290339946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65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2365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82AABC0-BA95-4429-AD3F-56AEC1713B9E}" type="slidenum">
              <a:rPr lang="en-US" altLang="zh-CN" smtClean="0"/>
              <a:pPr/>
              <a:t>215</a:t>
            </a:fld>
            <a:endParaRPr lang="en-US" altLang="zh-CN"/>
          </a:p>
        </p:txBody>
      </p:sp>
    </p:spTree>
    <p:extLst>
      <p:ext uri="{BB962C8B-B14F-4D97-AF65-F5344CB8AC3E}">
        <p14:creationId xmlns:p14="http://schemas.microsoft.com/office/powerpoint/2010/main" val="320431582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2E3F630-34ED-4C5D-9674-D926440E8CF8}" type="slidenum">
              <a:rPr lang="zh-CN" altLang="en-US" smtClean="0"/>
              <a:t>217</a:t>
            </a:fld>
            <a:endParaRPr lang="zh-CN" altLang="en-US"/>
          </a:p>
        </p:txBody>
      </p:sp>
    </p:spTree>
    <p:extLst>
      <p:ext uri="{BB962C8B-B14F-4D97-AF65-F5344CB8AC3E}">
        <p14:creationId xmlns:p14="http://schemas.microsoft.com/office/powerpoint/2010/main" val="307398344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121212"/>
              </a:solidFill>
              <a:effectLst/>
              <a:latin typeface="-apple-system"/>
            </a:endParaRPr>
          </a:p>
        </p:txBody>
      </p:sp>
      <p:sp>
        <p:nvSpPr>
          <p:cNvPr id="4" name="灯片编号占位符 3"/>
          <p:cNvSpPr>
            <a:spLocks noGrp="1"/>
          </p:cNvSpPr>
          <p:nvPr>
            <p:ph type="sldNum" sz="quarter" idx="5"/>
          </p:nvPr>
        </p:nvSpPr>
        <p:spPr/>
        <p:txBody>
          <a:bodyPr/>
          <a:lstStyle/>
          <a:p>
            <a:fld id="{72E3F630-34ED-4C5D-9674-D926440E8CF8}" type="slidenum">
              <a:rPr lang="zh-CN" altLang="en-US" smtClean="0"/>
              <a:t>218</a:t>
            </a:fld>
            <a:endParaRPr lang="zh-CN" altLang="en-US"/>
          </a:p>
        </p:txBody>
      </p:sp>
    </p:spTree>
    <p:extLst>
      <p:ext uri="{BB962C8B-B14F-4D97-AF65-F5344CB8AC3E}">
        <p14:creationId xmlns:p14="http://schemas.microsoft.com/office/powerpoint/2010/main" val="1290934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0CBF4C-D735-E941-A17B-741EBCE309C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D7B5A4A-9F19-BA42-849A-6026928D73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39644E7-87AB-8849-948B-15EB8793B60A}"/>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5" name="页脚占位符 4">
            <a:extLst>
              <a:ext uri="{FF2B5EF4-FFF2-40B4-BE49-F238E27FC236}">
                <a16:creationId xmlns:a16="http://schemas.microsoft.com/office/drawing/2014/main" id="{0E1FDA20-3861-C044-A46B-2A9E163FDA9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E217B70-F626-F949-8FA5-A76C5D971EF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90214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65803-2FF9-F74D-AFBB-30C0C5FEE9B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E576164-02C0-A940-B772-F52C020E4B9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AD28B46-89FD-1844-984E-0AC8E374E55E}"/>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5" name="页脚占位符 4">
            <a:extLst>
              <a:ext uri="{FF2B5EF4-FFF2-40B4-BE49-F238E27FC236}">
                <a16:creationId xmlns:a16="http://schemas.microsoft.com/office/drawing/2014/main" id="{90302324-14E0-E445-9F49-D6C6761D004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2572F2F-5AB3-4D43-85C4-243A6DCCC4D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8033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DBAE4-D610-B540-ABDE-D44D4AE457C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8467FCBF-E176-1541-A09A-4238A8BE59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98E8CDB-44EB-414F-B63E-DA1E14B1E77F}"/>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5" name="页脚占位符 4">
            <a:extLst>
              <a:ext uri="{FF2B5EF4-FFF2-40B4-BE49-F238E27FC236}">
                <a16:creationId xmlns:a16="http://schemas.microsoft.com/office/drawing/2014/main" id="{9A5C5244-77E3-2043-AF56-264E96CFE1E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68B8585-0792-614C-A697-2989A0E1BB9D}"/>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029258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872290-43A4-3648-AC80-18422BF89033}"/>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41E57C1-7EE7-C843-90A3-78DB927BE98B}"/>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7D2E616-3C99-5A46-9335-00FB157EA3A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65F55B77-B9E8-6549-9FC1-065E393B2E56}"/>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6" name="页脚占位符 5">
            <a:extLst>
              <a:ext uri="{FF2B5EF4-FFF2-40B4-BE49-F238E27FC236}">
                <a16:creationId xmlns:a16="http://schemas.microsoft.com/office/drawing/2014/main" id="{A7D839E9-7E15-DE43-BEE5-B6BE1F695A1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3A19A144-0A60-A745-8C9B-B087006ADF84}"/>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033806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B2707F-7D47-2644-9B65-EF249EA00C4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77F1D95-C617-C244-8DA6-1390B4226F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B710303A-3F2B-3A49-A82A-89B83A504BA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A65F01F-59CC-754E-BF58-C41163CB19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8F4AD7A-9F7F-984B-8E76-252F5C5F8EB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A2E15E9-520F-1348-8894-028648AEAA80}"/>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8" name="页脚占位符 7">
            <a:extLst>
              <a:ext uri="{FF2B5EF4-FFF2-40B4-BE49-F238E27FC236}">
                <a16:creationId xmlns:a16="http://schemas.microsoft.com/office/drawing/2014/main" id="{85DF0A15-0D35-0345-B123-F093E260D81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F0D7BE0-1CFE-9341-8E4D-EF84392181B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01870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548A7-789D-8544-84AE-A78D499D3C9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C50081A3-22A1-924C-8933-2E70E194ADF3}"/>
              </a:ext>
            </a:extLst>
          </p:cNvPr>
          <p:cNvSpPr>
            <a:spLocks noGrp="1"/>
          </p:cNvSpPr>
          <p:nvPr>
            <p:ph type="dt" sz="half" idx="10"/>
          </p:nvPr>
        </p:nvSpPr>
        <p:spPr/>
        <p:txBody>
          <a:bodyPr/>
          <a:lstStyle/>
          <a:p>
            <a:fld id="{530820CF-B880-4189-942D-D702A7CBA730}" type="datetimeFigureOut">
              <a:rPr lang="zh-CN" altLang="en-US" smtClean="0"/>
              <a:t>2025/12/8</a:t>
            </a:fld>
            <a:endParaRPr lang="zh-CN" altLang="en-US"/>
          </a:p>
        </p:txBody>
      </p:sp>
      <p:sp>
        <p:nvSpPr>
          <p:cNvPr id="4" name="页脚占位符 3">
            <a:extLst>
              <a:ext uri="{FF2B5EF4-FFF2-40B4-BE49-F238E27FC236}">
                <a16:creationId xmlns:a16="http://schemas.microsoft.com/office/drawing/2014/main" id="{6AF810A1-4B83-FA4B-9399-EE573CBD8A7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D5E9EB4-37A0-D541-BF98-2D94FF8967E6}"/>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96493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6D80BE1-CEAD-8942-94F6-E79BDB072CD5}"/>
              </a:ext>
            </a:extLst>
          </p:cNvPr>
          <p:cNvSpPr>
            <a:spLocks noGrp="1"/>
          </p:cNvSpPr>
          <p:nvPr>
            <p:ph type="dt" sz="half" idx="10"/>
          </p:nvPr>
        </p:nvSpPr>
        <p:spPr/>
        <p:txBody>
          <a:bodyPr/>
          <a:lstStyle/>
          <a:p>
            <a:fld id="{530820CF-B880-4189-942D-D702A7CBA730}" type="datetimeFigureOut">
              <a:rPr lang="zh-CN" altLang="en-US" smtClean="0"/>
              <a:t>2025/12/8</a:t>
            </a:fld>
            <a:endParaRPr lang="zh-CN" altLang="en-US"/>
          </a:p>
        </p:txBody>
      </p:sp>
      <p:sp>
        <p:nvSpPr>
          <p:cNvPr id="3" name="页脚占位符 2">
            <a:extLst>
              <a:ext uri="{FF2B5EF4-FFF2-40B4-BE49-F238E27FC236}">
                <a16:creationId xmlns:a16="http://schemas.microsoft.com/office/drawing/2014/main" id="{5EBDFB2A-3BB3-804D-8646-A2A0D2C83E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A11A5F4-AA57-1144-A623-3A0F48C6FAF4}"/>
              </a:ext>
            </a:extLst>
          </p:cNvPr>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9989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5CD430-48C7-D347-A4F8-BC502101CFD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5058B230-2E26-A540-9267-69132C3786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6CCB6C8-AAD8-2B46-9F30-B09E6EFB35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0FCEDB8-AFE5-A345-A665-E1E7981598C6}"/>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6" name="页脚占位符 5">
            <a:extLst>
              <a:ext uri="{FF2B5EF4-FFF2-40B4-BE49-F238E27FC236}">
                <a16:creationId xmlns:a16="http://schemas.microsoft.com/office/drawing/2014/main" id="{F0E3ABEF-10D0-374C-93EB-2235F7AFF32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3AE97A9-5F0E-6546-B484-887F216EA6FB}"/>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2761568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19DDF1-6528-5547-9552-E2CE95B6744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A0C3C6A0-63C8-D24B-BA6B-8B5936B4E0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DBBD2D2-0875-7040-85B6-752DC5A1C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ED047DE-5649-7C4A-A46F-83D8DFC46804}"/>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6" name="页脚占位符 5">
            <a:extLst>
              <a:ext uri="{FF2B5EF4-FFF2-40B4-BE49-F238E27FC236}">
                <a16:creationId xmlns:a16="http://schemas.microsoft.com/office/drawing/2014/main" id="{AF84E58D-D5D4-EC46-8805-6FDDCB0BEC2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4F931D1-B2B5-8F47-9ED7-53BA9E928CA5}"/>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4187134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91E90-FC3B-034A-B437-D9FFBD143627}"/>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574E6FE-CC0E-0042-A822-094F072E55F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E5AAFD1-1432-6D4B-BE5F-06F9963DBEA2}"/>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5" name="页脚占位符 4">
            <a:extLst>
              <a:ext uri="{FF2B5EF4-FFF2-40B4-BE49-F238E27FC236}">
                <a16:creationId xmlns:a16="http://schemas.microsoft.com/office/drawing/2014/main" id="{32E1A01D-0D9D-DC43-90B4-1485A8A59DD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3E9B493-09AA-2549-9E9F-5C118F03B84A}"/>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3668009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286FB75-5429-C74A-B2CC-2A90216190D7}"/>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6CDCBF5-4968-1B40-9AF0-DE28C90ABFC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BEF470C-E74E-DC4B-9B62-1A0DA608F7B3}"/>
              </a:ext>
            </a:extLst>
          </p:cNvPr>
          <p:cNvSpPr>
            <a:spLocks noGrp="1"/>
          </p:cNvSpPr>
          <p:nvPr>
            <p:ph type="dt" sz="half" idx="10"/>
          </p:nvPr>
        </p:nvSpPr>
        <p:spPr/>
        <p:txBody>
          <a:bodyPr/>
          <a:lstStyle/>
          <a:p>
            <a:fld id="{5B838D7F-C601-A04E-9991-AEFB0E3EB3A7}" type="datetimeFigureOut">
              <a:rPr kumimoji="1" lang="zh-CN" altLang="en-US" smtClean="0"/>
              <a:t>2025/12/8</a:t>
            </a:fld>
            <a:endParaRPr kumimoji="1" lang="zh-CN" altLang="en-US"/>
          </a:p>
        </p:txBody>
      </p:sp>
      <p:sp>
        <p:nvSpPr>
          <p:cNvPr id="5" name="页脚占位符 4">
            <a:extLst>
              <a:ext uri="{FF2B5EF4-FFF2-40B4-BE49-F238E27FC236}">
                <a16:creationId xmlns:a16="http://schemas.microsoft.com/office/drawing/2014/main" id="{F7CB4314-821B-2043-97D6-5E931699E7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691BE01-ED78-E140-91C8-BB0C23841700}"/>
              </a:ext>
            </a:extLst>
          </p:cNvPr>
          <p:cNvSpPr>
            <a:spLocks noGrp="1"/>
          </p:cNvSpPr>
          <p:nvPr>
            <p:ph type="sldNum" sz="quarter" idx="12"/>
          </p:nvPr>
        </p:nvSpPr>
        <p:spPr/>
        <p:txBody>
          <a:bodyPr/>
          <a:lstStyle/>
          <a:p>
            <a:fld id="{1CEE85A6-C9FF-3B43-91E6-FBF0C10872E9}" type="slidenum">
              <a:rPr kumimoji="1" lang="zh-CN" altLang="en-US" smtClean="0"/>
              <a:t>‹#›</a:t>
            </a:fld>
            <a:endParaRPr kumimoji="1" lang="zh-CN" altLang="en-US"/>
          </a:p>
        </p:txBody>
      </p:sp>
    </p:spTree>
    <p:extLst>
      <p:ext uri="{BB962C8B-B14F-4D97-AF65-F5344CB8AC3E}">
        <p14:creationId xmlns:p14="http://schemas.microsoft.com/office/powerpoint/2010/main" val="127452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4116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841500" y="1990725"/>
            <a:ext cx="9753601" cy="4019550"/>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CN"/>
              <a:t>Computer Networks, Chapter 5 The Network Layer</a:t>
            </a:r>
            <a:endParaRPr lang="en-US" altLang="zh-CN" i="0"/>
          </a:p>
        </p:txBody>
      </p:sp>
    </p:spTree>
    <p:extLst>
      <p:ext uri="{BB962C8B-B14F-4D97-AF65-F5344CB8AC3E}">
        <p14:creationId xmlns:p14="http://schemas.microsoft.com/office/powerpoint/2010/main" val="23068333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p:nvPr>
        </p:nvSpPr>
        <p:spPr>
          <a:xfrm>
            <a:off x="1219199" y="1610714"/>
            <a:ext cx="10386952"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ltLang="zh-CN"/>
              <a:t>Computer Networks, Chapter 5 The Network Layer</a:t>
            </a:r>
            <a:endParaRPr lang="en-US" altLang="zh-CN" i="0"/>
          </a:p>
        </p:txBody>
      </p:sp>
    </p:spTree>
    <p:extLst>
      <p:ext uri="{BB962C8B-B14F-4D97-AF65-F5344CB8AC3E}">
        <p14:creationId xmlns:p14="http://schemas.microsoft.com/office/powerpoint/2010/main" val="50526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Content Placeholder 2"/>
          <p:cNvSpPr>
            <a:spLocks noGrp="1"/>
          </p:cNvSpPr>
          <p:nvPr>
            <p:ph idx="1"/>
          </p:nvPr>
        </p:nvSpPr>
        <p:spPr>
          <a:xfrm>
            <a:off x="609600" y="1143001"/>
            <a:ext cx="5486400" cy="4867275"/>
          </a:xfrm>
        </p:spPr>
        <p:txBody>
          <a:bodyPr/>
          <a:lstStyle>
            <a:lvl1pPr>
              <a:buClr>
                <a:srgbClr val="0000FF"/>
              </a:buCl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ltLang="zh-CN"/>
              <a:t>Computer Networks, Chapter 5 The Network Layer</a:t>
            </a:r>
            <a:endParaRPr lang="en-US" altLang="zh-CN" i="0"/>
          </a:p>
        </p:txBody>
      </p:sp>
    </p:spTree>
    <p:extLst>
      <p:ext uri="{BB962C8B-B14F-4D97-AF65-F5344CB8AC3E}">
        <p14:creationId xmlns:p14="http://schemas.microsoft.com/office/powerpoint/2010/main" val="437790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914400" y="228600"/>
            <a:ext cx="10769600" cy="609600"/>
          </a:xfrm>
        </p:spPr>
        <p:txBody>
          <a:bodyPr/>
          <a:lstStyle/>
          <a:p>
            <a:r>
              <a:rPr lang="zh-CN" altLang="en-US"/>
              <a:t>单击此处编辑母版标题样式</a:t>
            </a:r>
          </a:p>
        </p:txBody>
      </p:sp>
      <p:sp>
        <p:nvSpPr>
          <p:cNvPr id="3" name="文本占位符 2"/>
          <p:cNvSpPr>
            <a:spLocks noGrp="1"/>
          </p:cNvSpPr>
          <p:nvPr>
            <p:ph type="body" sz="half" idx="1"/>
          </p:nvPr>
        </p:nvSpPr>
        <p:spPr>
          <a:xfrm>
            <a:off x="1102784" y="1282700"/>
            <a:ext cx="9802283" cy="21653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1102784" y="3600450"/>
            <a:ext cx="9802283" cy="21653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4"/>
          <p:cNvSpPr>
            <a:spLocks noGrp="1" noChangeArrowheads="1"/>
          </p:cNvSpPr>
          <p:nvPr>
            <p:ph type="dt" sz="half" idx="10"/>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mtClean="0">
                <a:ea typeface="宋体" panose="02010600030101010101" pitchFamily="2" charset="-122"/>
              </a:defRPr>
            </a:lvl1pPr>
          </a:lstStyle>
          <a:p>
            <a:pPr>
              <a:defRPr/>
            </a:pPr>
            <a:endParaRPr lang="en-US" altLang="zh-CN"/>
          </a:p>
        </p:txBody>
      </p:sp>
      <p:sp>
        <p:nvSpPr>
          <p:cNvPr id="6" name="Rectangle 25"/>
          <p:cNvSpPr>
            <a:spLocks noGrp="1" noChangeArrowheads="1"/>
          </p:cNvSpPr>
          <p:nvPr>
            <p:ph type="ftr" sz="quarter" idx="11"/>
          </p:nvPr>
        </p:nvSpPr>
        <p:spPr/>
        <p:txBody>
          <a:bodyPr/>
          <a:lstStyle>
            <a:lvl1pPr>
              <a:defRPr smtClean="0"/>
            </a:lvl1pPr>
          </a:lstStyle>
          <a:p>
            <a:pPr>
              <a:defRPr/>
            </a:pPr>
            <a:r>
              <a:rPr lang="en-US" altLang="zh-CN"/>
              <a:t>Computer Networks, Chapter 5 The Network Layer</a:t>
            </a:r>
          </a:p>
        </p:txBody>
      </p:sp>
      <p:sp>
        <p:nvSpPr>
          <p:cNvPr id="7" name="Rectangle 26"/>
          <p:cNvSpPr>
            <a:spLocks noGrp="1" noChangeArrowheads="1"/>
          </p:cNvSpPr>
          <p:nvPr>
            <p:ph type="sldNum" sz="quarter" idx="12"/>
          </p:nvPr>
        </p:nvSpPr>
        <p:spPr>
          <a:xfrm>
            <a:off x="8737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mtClean="0">
                <a:ea typeface="宋体" panose="02010600030101010101" pitchFamily="2" charset="-122"/>
              </a:defRPr>
            </a:lvl1pPr>
          </a:lstStyle>
          <a:p>
            <a:pPr>
              <a:defRPr/>
            </a:pPr>
            <a:fld id="{91378250-9CB1-4529-AFC5-205C9F207D1F}" type="slidenum">
              <a:rPr lang="zh-CN" altLang="en-US"/>
              <a:pPr>
                <a:defRPr/>
              </a:pPr>
              <a:t>‹#›</a:t>
            </a:fld>
            <a:endParaRPr lang="en-US" altLang="zh-CN"/>
          </a:p>
        </p:txBody>
      </p:sp>
    </p:spTree>
    <p:extLst>
      <p:ext uri="{BB962C8B-B14F-4D97-AF65-F5344CB8AC3E}">
        <p14:creationId xmlns:p14="http://schemas.microsoft.com/office/powerpoint/2010/main" val="7915945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5" name="直接连接符 4"/>
          <p:cNvCxnSpPr/>
          <p:nvPr userDrawn="1"/>
        </p:nvCxnSpPr>
        <p:spPr>
          <a:xfrm>
            <a:off x="1280161" y="600376"/>
            <a:ext cx="1626668"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圆角 7"/>
          <p:cNvSpPr/>
          <p:nvPr userDrawn="1"/>
        </p:nvSpPr>
        <p:spPr>
          <a:xfrm>
            <a:off x="1288266" y="302457"/>
            <a:ext cx="1826519" cy="31611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日期占位符 3"/>
          <p:cNvSpPr>
            <a:spLocks noGrp="1"/>
          </p:cNvSpPr>
          <p:nvPr>
            <p:ph type="dt" sz="half" idx="10"/>
          </p:nvPr>
        </p:nvSpPr>
        <p:spPr>
          <a:xfrm>
            <a:off x="838200" y="6356350"/>
            <a:ext cx="2743200" cy="365125"/>
          </a:xfrm>
          <a:prstGeom prst="rect">
            <a:avLst/>
          </a:prstGeom>
        </p:spPr>
        <p:txBody>
          <a:bodyPr/>
          <a:lstStyle/>
          <a:p>
            <a:fld id="{D5B39E98-3F53-48B9-AA36-959170E8AC6C}" type="datetimeFigureOut">
              <a:rPr lang="zh-CN" altLang="en-US" smtClean="0">
                <a:solidFill>
                  <a:prstClr val="black">
                    <a:tint val="75000"/>
                  </a:prstClr>
                </a:solidFill>
              </a:rPr>
              <a:t>2025/12/8</a:t>
            </a:fld>
            <a:endParaRPr lang="zh-CN" altLang="en-US">
              <a:solidFill>
                <a:prstClr val="black">
                  <a:tint val="75000"/>
                </a:prstClr>
              </a:solidFill>
            </a:endParaRPr>
          </a:p>
        </p:txBody>
      </p:sp>
      <p:sp>
        <p:nvSpPr>
          <p:cNvPr id="11" name="页脚占位符 4"/>
          <p:cNvSpPr>
            <a:spLocks noGrp="1"/>
          </p:cNvSpPr>
          <p:nvPr>
            <p:ph type="ftr" sz="quarter" idx="11"/>
          </p:nvPr>
        </p:nvSpPr>
        <p:spPr>
          <a:xfrm>
            <a:off x="4038600" y="6356350"/>
            <a:ext cx="4114800" cy="365125"/>
          </a:xfrm>
          <a:prstGeom prst="rect">
            <a:avLst/>
          </a:prstGeom>
        </p:spPr>
        <p:txBody>
          <a:bodyPr/>
          <a:lstStyle/>
          <a:p>
            <a:endParaRPr lang="zh-CN" altLang="en-US">
              <a:solidFill>
                <a:prstClr val="black">
                  <a:tint val="75000"/>
                </a:prstClr>
              </a:solidFill>
            </a:endParaRPr>
          </a:p>
        </p:txBody>
      </p:sp>
      <p:sp>
        <p:nvSpPr>
          <p:cNvPr id="12" name="灯片编号占位符 5"/>
          <p:cNvSpPr>
            <a:spLocks noGrp="1"/>
          </p:cNvSpPr>
          <p:nvPr>
            <p:ph type="sldNum" sz="quarter" idx="12"/>
          </p:nvPr>
        </p:nvSpPr>
        <p:spPr>
          <a:xfrm>
            <a:off x="8610600" y="6356350"/>
            <a:ext cx="2743200" cy="365125"/>
          </a:xfrm>
          <a:prstGeom prst="rect">
            <a:avLst/>
          </a:prstGeom>
        </p:spPr>
        <p:txBody>
          <a:bodyPr/>
          <a:lstStyle/>
          <a:p>
            <a:fld id="{63023474-2D70-4FFC-BEDA-FAEF84E7081A}" type="slidenum">
              <a:rPr lang="zh-CN" altLang="en-US" smtClean="0">
                <a:solidFill>
                  <a:prstClr val="black">
                    <a:tint val="75000"/>
                  </a:prstClr>
                </a:solidFill>
              </a:rPr>
              <a:t>‹#›</a:t>
            </a:fld>
            <a:endParaRPr lang="zh-CN" altLang="en-US">
              <a:solidFill>
                <a:prstClr val="black">
                  <a:tint val="75000"/>
                </a:prstClr>
              </a:solidFill>
            </a:endParaRPr>
          </a:p>
        </p:txBody>
      </p:sp>
    </p:spTree>
    <p:extLst>
      <p:ext uri="{BB962C8B-B14F-4D97-AF65-F5344CB8AC3E}">
        <p14:creationId xmlns:p14="http://schemas.microsoft.com/office/powerpoint/2010/main" val="4709842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59176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0D41A14-93F9-024E-A2F5-F0C0D22D36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437A724-FAC4-FD4B-8C86-BD116A2878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47E5E95-9484-8647-B6C3-239FCFDC4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38D7F-C601-A04E-9991-AEFB0E3EB3A7}" type="datetimeFigureOut">
              <a:rPr kumimoji="1" lang="zh-CN" altLang="en-US" smtClean="0"/>
              <a:t>2025/12/8</a:t>
            </a:fld>
            <a:endParaRPr kumimoji="1" lang="zh-CN" altLang="en-US"/>
          </a:p>
        </p:txBody>
      </p:sp>
      <p:sp>
        <p:nvSpPr>
          <p:cNvPr id="5" name="页脚占位符 4">
            <a:extLst>
              <a:ext uri="{FF2B5EF4-FFF2-40B4-BE49-F238E27FC236}">
                <a16:creationId xmlns:a16="http://schemas.microsoft.com/office/drawing/2014/main" id="{0EE61DC8-15CA-FE4A-BBD8-2B73EA1B7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6121EA1-4A25-F44F-B5A6-D295DA0AF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EE85A6-C9FF-3B43-91E6-FBF0C10872E9}" type="slidenum">
              <a:rPr kumimoji="1" lang="zh-CN" altLang="en-US" smtClean="0"/>
              <a:t>‹#›</a:t>
            </a:fld>
            <a:endParaRPr kumimoji="1" lang="zh-CN" altLang="en-US"/>
          </a:p>
        </p:txBody>
      </p:sp>
      <p:cxnSp>
        <p:nvCxnSpPr>
          <p:cNvPr id="11" name="直接连接符 30">
            <a:extLst>
              <a:ext uri="{FF2B5EF4-FFF2-40B4-BE49-F238E27FC236}">
                <a16:creationId xmlns:a16="http://schemas.microsoft.com/office/drawing/2014/main" id="{81181929-B1D0-F547-819B-515184CA37AC}"/>
              </a:ext>
            </a:extLst>
          </p:cNvPr>
          <p:cNvCxnSpPr>
            <a:cxnSpLocks/>
          </p:cNvCxnSpPr>
          <p:nvPr userDrawn="1"/>
        </p:nvCxnSpPr>
        <p:spPr>
          <a:xfrm>
            <a:off x="335360" y="836712"/>
            <a:ext cx="11491455"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151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7" r:id="rId13"/>
    <p:sldLayoutId id="2147483698" r:id="rId14"/>
    <p:sldLayoutId id="2147483699" r:id="rId15"/>
    <p:sldLayoutId id="2147483700" r:id="rId16"/>
    <p:sldLayoutId id="2147483701"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0"/>
          </a:schemeClr>
        </a:solidFill>
        <a:effectLst/>
      </p:bgPr>
    </p:bg>
    <p:spTree>
      <p:nvGrpSpPr>
        <p:cNvPr id="1" name=""/>
        <p:cNvGrpSpPr/>
        <p:nvPr/>
      </p:nvGrpSpPr>
      <p:grpSpPr>
        <a:xfrm>
          <a:off x="0" y="0"/>
          <a:ext cx="0" cy="0"/>
          <a:chOff x="0" y="0"/>
          <a:chExt cx="0" cy="0"/>
        </a:xfrm>
      </p:grpSpPr>
      <p:sp>
        <p:nvSpPr>
          <p:cNvPr id="6" name="矩形 5"/>
          <p:cNvSpPr/>
          <p:nvPr userDrawn="1"/>
        </p:nvSpPr>
        <p:spPr bwMode="auto">
          <a:xfrm>
            <a:off x="2" y="0"/>
            <a:ext cx="12192000" cy="6858000"/>
          </a:xfrm>
          <a:prstGeom prst="rect">
            <a:avLst/>
          </a:prstGeom>
          <a:solidFill>
            <a:schemeClr val="bg1">
              <a:lumMod val="95000"/>
            </a:schemeClr>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9728" tIns="54864" rIns="109728" bIns="54864" numCol="1" rtlCol="0" anchor="t" anchorCtr="0" compatLnSpc="1">
            <a:prstTxWarp prst="textNoShape">
              <a:avLst/>
            </a:prstTxWarp>
          </a:bodyPr>
          <a:lstStyle/>
          <a:p>
            <a:pPr>
              <a:buClr>
                <a:srgbClr val="CC9900"/>
              </a:buClr>
              <a:buFont typeface="Wingdings" pitchFamily="2" charset="2"/>
              <a:buChar char="n"/>
            </a:pPr>
            <a:endParaRPr lang="zh-CN" altLang="en-US" sz="2160" b="0">
              <a:solidFill>
                <a:srgbClr val="000000"/>
              </a:solidFill>
              <a:latin typeface="Arial" charset="0"/>
              <a:ea typeface="宋体" charset="-122"/>
            </a:endParaRPr>
          </a:p>
        </p:txBody>
      </p:sp>
    </p:spTree>
    <p:extLst>
      <p:ext uri="{BB962C8B-B14F-4D97-AF65-F5344CB8AC3E}">
        <p14:creationId xmlns:p14="http://schemas.microsoft.com/office/powerpoint/2010/main" val="928677723"/>
      </p:ext>
    </p:extLst>
  </p:cSld>
  <p:clrMap bg1="lt1" tx1="dk1" bg2="lt2" tx2="dk2" accent1="accent1" accent2="accent2" accent3="accent3" accent4="accent4" accent5="accent5" accent6="accent6" hlink="hlink" folHlink="folHlink"/>
  <p:sldLayoutIdLst>
    <p:sldLayoutId id="2147483696" r:id="rId1"/>
  </p:sldLayoutIdLst>
  <p:transition>
    <p:fade/>
  </p:transition>
  <p:txStyles>
    <p:titleStyle>
      <a:lvl1pPr algn="ctr" defTabSz="961961" rtl="0" eaLnBrk="0" fontAlgn="base" hangingPunct="0">
        <a:spcBef>
          <a:spcPct val="0"/>
        </a:spcBef>
        <a:spcAft>
          <a:spcPct val="0"/>
        </a:spcAft>
        <a:defRPr sz="4560">
          <a:solidFill>
            <a:schemeClr val="tx2"/>
          </a:solidFill>
          <a:latin typeface="+mj-lt"/>
          <a:ea typeface="+mj-ea"/>
          <a:cs typeface="+mj-cs"/>
        </a:defRPr>
      </a:lvl1pPr>
      <a:lvl2pPr algn="ctr" defTabSz="961961" rtl="0" eaLnBrk="0" fontAlgn="base" hangingPunct="0">
        <a:spcBef>
          <a:spcPct val="0"/>
        </a:spcBef>
        <a:spcAft>
          <a:spcPct val="0"/>
        </a:spcAft>
        <a:defRPr sz="4560">
          <a:solidFill>
            <a:schemeClr val="tx2"/>
          </a:solidFill>
          <a:latin typeface="Arial" charset="0"/>
          <a:ea typeface="宋体" pitchFamily="2" charset="-122"/>
        </a:defRPr>
      </a:lvl2pPr>
      <a:lvl3pPr algn="ctr" defTabSz="961961" rtl="0" eaLnBrk="0" fontAlgn="base" hangingPunct="0">
        <a:spcBef>
          <a:spcPct val="0"/>
        </a:spcBef>
        <a:spcAft>
          <a:spcPct val="0"/>
        </a:spcAft>
        <a:defRPr sz="4560">
          <a:solidFill>
            <a:schemeClr val="tx2"/>
          </a:solidFill>
          <a:latin typeface="Arial" charset="0"/>
          <a:ea typeface="宋体" pitchFamily="2" charset="-122"/>
        </a:defRPr>
      </a:lvl3pPr>
      <a:lvl4pPr algn="ctr" defTabSz="961961" rtl="0" eaLnBrk="0" fontAlgn="base" hangingPunct="0">
        <a:spcBef>
          <a:spcPct val="0"/>
        </a:spcBef>
        <a:spcAft>
          <a:spcPct val="0"/>
        </a:spcAft>
        <a:defRPr sz="4560">
          <a:solidFill>
            <a:schemeClr val="tx2"/>
          </a:solidFill>
          <a:latin typeface="Arial" charset="0"/>
          <a:ea typeface="宋体" pitchFamily="2" charset="-122"/>
        </a:defRPr>
      </a:lvl4pPr>
      <a:lvl5pPr algn="ctr" defTabSz="961961" rtl="0" eaLnBrk="0" fontAlgn="base" hangingPunct="0">
        <a:spcBef>
          <a:spcPct val="0"/>
        </a:spcBef>
        <a:spcAft>
          <a:spcPct val="0"/>
        </a:spcAft>
        <a:defRPr sz="4560">
          <a:solidFill>
            <a:schemeClr val="tx2"/>
          </a:solidFill>
          <a:latin typeface="Arial" charset="0"/>
          <a:ea typeface="宋体" pitchFamily="2" charset="-122"/>
        </a:defRPr>
      </a:lvl5pPr>
      <a:lvl6pPr marL="548604" algn="ctr" defTabSz="961961" rtl="0" fontAlgn="base">
        <a:spcBef>
          <a:spcPct val="0"/>
        </a:spcBef>
        <a:spcAft>
          <a:spcPct val="0"/>
        </a:spcAft>
        <a:defRPr sz="4560">
          <a:solidFill>
            <a:schemeClr val="tx2"/>
          </a:solidFill>
          <a:latin typeface="Arial" charset="0"/>
          <a:ea typeface="宋体" pitchFamily="2" charset="-122"/>
        </a:defRPr>
      </a:lvl6pPr>
      <a:lvl7pPr marL="1097206" algn="ctr" defTabSz="961961" rtl="0" fontAlgn="base">
        <a:spcBef>
          <a:spcPct val="0"/>
        </a:spcBef>
        <a:spcAft>
          <a:spcPct val="0"/>
        </a:spcAft>
        <a:defRPr sz="4560">
          <a:solidFill>
            <a:schemeClr val="tx2"/>
          </a:solidFill>
          <a:latin typeface="Arial" charset="0"/>
          <a:ea typeface="宋体" pitchFamily="2" charset="-122"/>
        </a:defRPr>
      </a:lvl7pPr>
      <a:lvl8pPr marL="1645811" algn="ctr" defTabSz="961961" rtl="0" fontAlgn="base">
        <a:spcBef>
          <a:spcPct val="0"/>
        </a:spcBef>
        <a:spcAft>
          <a:spcPct val="0"/>
        </a:spcAft>
        <a:defRPr sz="4560">
          <a:solidFill>
            <a:schemeClr val="tx2"/>
          </a:solidFill>
          <a:latin typeface="Arial" charset="0"/>
          <a:ea typeface="宋体" pitchFamily="2" charset="-122"/>
        </a:defRPr>
      </a:lvl8pPr>
      <a:lvl9pPr marL="2194414" algn="ctr" defTabSz="961961" rtl="0" fontAlgn="base">
        <a:spcBef>
          <a:spcPct val="0"/>
        </a:spcBef>
        <a:spcAft>
          <a:spcPct val="0"/>
        </a:spcAft>
        <a:defRPr sz="4560">
          <a:solidFill>
            <a:schemeClr val="tx2"/>
          </a:solidFill>
          <a:latin typeface="Arial" charset="0"/>
          <a:ea typeface="宋体" pitchFamily="2" charset="-122"/>
        </a:defRPr>
      </a:lvl9pPr>
    </p:titleStyle>
    <p:bodyStyle>
      <a:lvl1pPr marL="360022" indent="-360022" algn="l" defTabSz="961961" rtl="0" eaLnBrk="0" fontAlgn="base" hangingPunct="0">
        <a:spcBef>
          <a:spcPct val="20000"/>
        </a:spcBef>
        <a:spcAft>
          <a:spcPct val="0"/>
        </a:spcAft>
        <a:buChar char="•"/>
        <a:defRPr sz="3360">
          <a:solidFill>
            <a:schemeClr val="tx1"/>
          </a:solidFill>
          <a:latin typeface="+mn-lt"/>
          <a:ea typeface="+mn-ea"/>
          <a:cs typeface="+mn-cs"/>
        </a:defRPr>
      </a:lvl1pPr>
      <a:lvl2pPr marL="782904" indent="-300970" algn="l" defTabSz="961961" rtl="0" eaLnBrk="0" fontAlgn="base" hangingPunct="0">
        <a:spcBef>
          <a:spcPct val="20000"/>
        </a:spcBef>
        <a:spcAft>
          <a:spcPct val="0"/>
        </a:spcAft>
        <a:buChar char="–"/>
        <a:defRPr sz="3000">
          <a:solidFill>
            <a:schemeClr val="tx1"/>
          </a:solidFill>
          <a:latin typeface="+mn-lt"/>
          <a:ea typeface="+mn-ea"/>
        </a:defRPr>
      </a:lvl2pPr>
      <a:lvl3pPr marL="1203880" indent="-241920" algn="l" defTabSz="961961" rtl="0" eaLnBrk="0" fontAlgn="base" hangingPunct="0">
        <a:spcBef>
          <a:spcPct val="20000"/>
        </a:spcBef>
        <a:spcAft>
          <a:spcPct val="0"/>
        </a:spcAft>
        <a:buChar char="•"/>
        <a:defRPr sz="2639">
          <a:solidFill>
            <a:schemeClr val="tx1"/>
          </a:solidFill>
          <a:latin typeface="+mn-lt"/>
          <a:ea typeface="+mn-ea"/>
        </a:defRPr>
      </a:lvl3pPr>
      <a:lvl4pPr marL="1682003" indent="-240014" algn="l" defTabSz="961961" rtl="0" eaLnBrk="0" fontAlgn="base" hangingPunct="0">
        <a:spcBef>
          <a:spcPct val="20000"/>
        </a:spcBef>
        <a:spcAft>
          <a:spcPct val="0"/>
        </a:spcAft>
        <a:buChar char="–"/>
        <a:defRPr sz="2040">
          <a:solidFill>
            <a:schemeClr val="tx1"/>
          </a:solidFill>
          <a:latin typeface="+mn-lt"/>
          <a:ea typeface="+mn-ea"/>
        </a:defRPr>
      </a:lvl4pPr>
      <a:lvl5pPr marL="2163935" indent="-241920" algn="l" defTabSz="961961" rtl="0" eaLnBrk="0" fontAlgn="base" hangingPunct="0">
        <a:spcBef>
          <a:spcPct val="20000"/>
        </a:spcBef>
        <a:spcAft>
          <a:spcPct val="0"/>
        </a:spcAft>
        <a:buChar char="»"/>
        <a:defRPr sz="2040">
          <a:solidFill>
            <a:schemeClr val="tx1"/>
          </a:solidFill>
          <a:latin typeface="+mn-lt"/>
          <a:ea typeface="+mn-ea"/>
        </a:defRPr>
      </a:lvl5pPr>
      <a:lvl6pPr marL="2712539" indent="-241920" algn="l" defTabSz="961961" rtl="0" fontAlgn="base">
        <a:spcBef>
          <a:spcPct val="20000"/>
        </a:spcBef>
        <a:spcAft>
          <a:spcPct val="0"/>
        </a:spcAft>
        <a:buChar char="»"/>
        <a:defRPr sz="2040">
          <a:solidFill>
            <a:schemeClr val="tx1"/>
          </a:solidFill>
          <a:latin typeface="+mn-lt"/>
          <a:ea typeface="+mn-ea"/>
        </a:defRPr>
      </a:lvl6pPr>
      <a:lvl7pPr marL="3261140" indent="-241920" algn="l" defTabSz="961961" rtl="0" fontAlgn="base">
        <a:spcBef>
          <a:spcPct val="20000"/>
        </a:spcBef>
        <a:spcAft>
          <a:spcPct val="0"/>
        </a:spcAft>
        <a:buChar char="»"/>
        <a:defRPr sz="2040">
          <a:solidFill>
            <a:schemeClr val="tx1"/>
          </a:solidFill>
          <a:latin typeface="+mn-lt"/>
          <a:ea typeface="+mn-ea"/>
        </a:defRPr>
      </a:lvl7pPr>
      <a:lvl8pPr marL="3809746" indent="-241920" algn="l" defTabSz="961961" rtl="0" fontAlgn="base">
        <a:spcBef>
          <a:spcPct val="20000"/>
        </a:spcBef>
        <a:spcAft>
          <a:spcPct val="0"/>
        </a:spcAft>
        <a:buChar char="»"/>
        <a:defRPr sz="2040">
          <a:solidFill>
            <a:schemeClr val="tx1"/>
          </a:solidFill>
          <a:latin typeface="+mn-lt"/>
          <a:ea typeface="+mn-ea"/>
        </a:defRPr>
      </a:lvl8pPr>
      <a:lvl9pPr marL="4358347" indent="-241920" algn="l" defTabSz="961961" rtl="0" fontAlgn="base">
        <a:spcBef>
          <a:spcPct val="20000"/>
        </a:spcBef>
        <a:spcAft>
          <a:spcPct val="0"/>
        </a:spcAft>
        <a:buChar char="»"/>
        <a:defRPr sz="2040">
          <a:solidFill>
            <a:schemeClr val="tx1"/>
          </a:solidFill>
          <a:latin typeface="+mn-lt"/>
          <a:ea typeface="+mn-ea"/>
        </a:defRPr>
      </a:lvl9pPr>
    </p:bodyStyle>
    <p:otherStyle>
      <a:defPPr>
        <a:defRPr lang="zh-CN"/>
      </a:defPPr>
      <a:lvl1pPr marL="0" algn="l" defTabSz="1097206" rtl="0" eaLnBrk="1" latinLnBrk="0" hangingPunct="1">
        <a:defRPr sz="2160" kern="1200">
          <a:solidFill>
            <a:schemeClr val="tx1"/>
          </a:solidFill>
          <a:latin typeface="+mn-lt"/>
          <a:ea typeface="+mn-ea"/>
          <a:cs typeface="+mn-cs"/>
        </a:defRPr>
      </a:lvl1pPr>
      <a:lvl2pPr marL="548604" algn="l" defTabSz="1097206" rtl="0" eaLnBrk="1" latinLnBrk="0" hangingPunct="1">
        <a:defRPr sz="2160" kern="1200">
          <a:solidFill>
            <a:schemeClr val="tx1"/>
          </a:solidFill>
          <a:latin typeface="+mn-lt"/>
          <a:ea typeface="+mn-ea"/>
          <a:cs typeface="+mn-cs"/>
        </a:defRPr>
      </a:lvl2pPr>
      <a:lvl3pPr marL="1097206" algn="l" defTabSz="1097206" rtl="0" eaLnBrk="1" latinLnBrk="0" hangingPunct="1">
        <a:defRPr sz="2160" kern="1200">
          <a:solidFill>
            <a:schemeClr val="tx1"/>
          </a:solidFill>
          <a:latin typeface="+mn-lt"/>
          <a:ea typeface="+mn-ea"/>
          <a:cs typeface="+mn-cs"/>
        </a:defRPr>
      </a:lvl3pPr>
      <a:lvl4pPr marL="1645811" algn="l" defTabSz="1097206" rtl="0" eaLnBrk="1" latinLnBrk="0" hangingPunct="1">
        <a:defRPr sz="2160" kern="1200">
          <a:solidFill>
            <a:schemeClr val="tx1"/>
          </a:solidFill>
          <a:latin typeface="+mn-lt"/>
          <a:ea typeface="+mn-ea"/>
          <a:cs typeface="+mn-cs"/>
        </a:defRPr>
      </a:lvl4pPr>
      <a:lvl5pPr marL="2194414" algn="l" defTabSz="1097206" rtl="0" eaLnBrk="1" latinLnBrk="0" hangingPunct="1">
        <a:defRPr sz="2160" kern="1200">
          <a:solidFill>
            <a:schemeClr val="tx1"/>
          </a:solidFill>
          <a:latin typeface="+mn-lt"/>
          <a:ea typeface="+mn-ea"/>
          <a:cs typeface="+mn-cs"/>
        </a:defRPr>
      </a:lvl5pPr>
      <a:lvl6pPr marL="2743016" algn="l" defTabSz="1097206" rtl="0" eaLnBrk="1" latinLnBrk="0" hangingPunct="1">
        <a:defRPr sz="2160" kern="1200">
          <a:solidFill>
            <a:schemeClr val="tx1"/>
          </a:solidFill>
          <a:latin typeface="+mn-lt"/>
          <a:ea typeface="+mn-ea"/>
          <a:cs typeface="+mn-cs"/>
        </a:defRPr>
      </a:lvl6pPr>
      <a:lvl7pPr marL="3291619" algn="l" defTabSz="1097206" rtl="0" eaLnBrk="1" latinLnBrk="0" hangingPunct="1">
        <a:defRPr sz="2160" kern="1200">
          <a:solidFill>
            <a:schemeClr val="tx1"/>
          </a:solidFill>
          <a:latin typeface="+mn-lt"/>
          <a:ea typeface="+mn-ea"/>
          <a:cs typeface="+mn-cs"/>
        </a:defRPr>
      </a:lvl7pPr>
      <a:lvl8pPr marL="3840222" algn="l" defTabSz="1097206" rtl="0" eaLnBrk="1" latinLnBrk="0" hangingPunct="1">
        <a:defRPr sz="2160" kern="1200">
          <a:solidFill>
            <a:schemeClr val="tx1"/>
          </a:solidFill>
          <a:latin typeface="+mn-lt"/>
          <a:ea typeface="+mn-ea"/>
          <a:cs typeface="+mn-cs"/>
        </a:defRPr>
      </a:lvl8pPr>
      <a:lvl9pPr marL="4388825" algn="l" defTabSz="109720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wang@sei.ecnu.edu.c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12.emf"/><Relationship Id="rId5" Type="http://schemas.openxmlformats.org/officeDocument/2006/relationships/image" Target="../media/image11.emf"/><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png"/><Relationship Id="rId7" Type="http://schemas.openxmlformats.org/officeDocument/2006/relationships/image" Target="../media/image23.emf"/><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emf"/></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emf"/><Relationship Id="rId2" Type="http://schemas.openxmlformats.org/officeDocument/2006/relationships/image" Target="../media/image26.png"/><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0.emf"/><Relationship Id="rId11" Type="http://schemas.openxmlformats.org/officeDocument/2006/relationships/image" Target="../media/image35.emf"/><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emf"/><Relationship Id="rId4" Type="http://schemas.openxmlformats.org/officeDocument/2006/relationships/image" Target="../media/image28.png"/><Relationship Id="rId9" Type="http://schemas.openxmlformats.org/officeDocument/2006/relationships/image" Target="../media/image33.emf"/><Relationship Id="rId14" Type="http://schemas.openxmlformats.org/officeDocument/2006/relationships/image" Target="../media/image38.png"/></Relationships>
</file>

<file path=ppt/slides/_rels/slide17.xml.rels><?xml version="1.0" encoding="UTF-8" standalone="yes"?>
<Relationships xmlns="http://schemas.openxmlformats.org/package/2006/relationships"><Relationship Id="rId8" Type="http://schemas.openxmlformats.org/officeDocument/2006/relationships/image" Target="../media/image36.emf"/><Relationship Id="rId13" Type="http://schemas.openxmlformats.org/officeDocument/2006/relationships/image" Target="../media/image45.png"/><Relationship Id="rId18" Type="http://schemas.openxmlformats.org/officeDocument/2006/relationships/image" Target="../media/image50.png"/><Relationship Id="rId3" Type="http://schemas.openxmlformats.org/officeDocument/2006/relationships/image" Target="../media/image26.png"/><Relationship Id="rId7" Type="http://schemas.openxmlformats.org/officeDocument/2006/relationships/image" Target="../media/image35.emf"/><Relationship Id="rId12" Type="http://schemas.openxmlformats.org/officeDocument/2006/relationships/image" Target="../media/image44.png"/><Relationship Id="rId17" Type="http://schemas.openxmlformats.org/officeDocument/2006/relationships/image" Target="../media/image49.png"/><Relationship Id="rId2" Type="http://schemas.openxmlformats.org/officeDocument/2006/relationships/notesSlide" Target="../notesSlides/notesSlide10.xml"/><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33.emf"/><Relationship Id="rId11" Type="http://schemas.openxmlformats.org/officeDocument/2006/relationships/image" Target="../media/image43.png"/><Relationship Id="rId5" Type="http://schemas.openxmlformats.org/officeDocument/2006/relationships/image" Target="../media/image30.emf"/><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27.png"/><Relationship Id="rId9" Type="http://schemas.openxmlformats.org/officeDocument/2006/relationships/image" Target="../media/image41.png"/><Relationship Id="rId14" Type="http://schemas.openxmlformats.org/officeDocument/2006/relationships/image" Target="../media/image46.png"/></Relationships>
</file>

<file path=ppt/slides/_rels/slide18.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18" Type="http://schemas.openxmlformats.org/officeDocument/2006/relationships/image" Target="../media/image63.png"/><Relationship Id="rId3" Type="http://schemas.openxmlformats.org/officeDocument/2006/relationships/image" Target="../media/image27.png"/><Relationship Id="rId7" Type="http://schemas.openxmlformats.org/officeDocument/2006/relationships/image" Target="../media/image36.emf"/><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image" Target="../media/image26.png"/><Relationship Id="rId16"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35.emf"/><Relationship Id="rId11" Type="http://schemas.openxmlformats.org/officeDocument/2006/relationships/image" Target="../media/image56.png"/><Relationship Id="rId5" Type="http://schemas.openxmlformats.org/officeDocument/2006/relationships/image" Target="../media/image33.emf"/><Relationship Id="rId15" Type="http://schemas.openxmlformats.org/officeDocument/2006/relationships/image" Target="../media/image60.png"/><Relationship Id="rId10" Type="http://schemas.openxmlformats.org/officeDocument/2006/relationships/image" Target="../media/image55.png"/><Relationship Id="rId19" Type="http://schemas.openxmlformats.org/officeDocument/2006/relationships/image" Target="../media/image64.png"/><Relationship Id="rId4" Type="http://schemas.openxmlformats.org/officeDocument/2006/relationships/image" Target="../media/image30.emf"/><Relationship Id="rId9" Type="http://schemas.openxmlformats.org/officeDocument/2006/relationships/image" Target="../media/image54.png"/><Relationship Id="rId14" Type="http://schemas.openxmlformats.org/officeDocument/2006/relationships/image" Target="../media/image59.png"/></Relationships>
</file>

<file path=ppt/slides/_rels/slide1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14.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4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4.xml"/><Relationship Id="rId5" Type="http://schemas.openxmlformats.org/officeDocument/2006/relationships/image" Target="../media/image89.png"/><Relationship Id="rId4" Type="http://schemas.openxmlformats.org/officeDocument/2006/relationships/image" Target="../media/image92.png"/></Relationships>
</file>

<file path=ppt/slides/_rels/slide4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8.xml"/><Relationship Id="rId1" Type="http://schemas.openxmlformats.org/officeDocument/2006/relationships/slideLayout" Target="../slideLayouts/slideLayout14.xml"/><Relationship Id="rId4" Type="http://schemas.openxmlformats.org/officeDocument/2006/relationships/image" Target="../media/image101.png"/></Relationships>
</file>

<file path=ppt/slides/_rels/slide5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108.png"/></Relationships>
</file>

<file path=ppt/slides/_rels/slide58.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5.xml"/><Relationship Id="rId1" Type="http://schemas.openxmlformats.org/officeDocument/2006/relationships/slideLayout" Target="../slideLayouts/slideLayout14.xml"/><Relationship Id="rId4" Type="http://schemas.openxmlformats.org/officeDocument/2006/relationships/image" Target="../media/image110.png"/></Relationships>
</file>

<file path=ppt/slides/_rels/slide5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6.xml"/><Relationship Id="rId1" Type="http://schemas.openxmlformats.org/officeDocument/2006/relationships/slideLayout" Target="../slideLayouts/slideLayout14.xml"/><Relationship Id="rId4" Type="http://schemas.openxmlformats.org/officeDocument/2006/relationships/image" Target="../media/image112.png"/></Relationships>
</file>

<file path=ppt/slides/_rels/slide6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37.xml"/><Relationship Id="rId1" Type="http://schemas.openxmlformats.org/officeDocument/2006/relationships/slideLayout" Target="../slideLayouts/slideLayout14.xml"/><Relationship Id="rId4" Type="http://schemas.openxmlformats.org/officeDocument/2006/relationships/image" Target="../media/image114.png"/></Relationships>
</file>

<file path=ppt/slides/_rels/slide6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hyperlink" Target="https://cloud.tencent.com/product/clb?from_column=20065&amp;from=20065" TargetMode="External"/><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3.png"/></Relationships>
</file>

<file path=ppt/slides/_rels/slide6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8.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133.jpeg"/></Relationships>
</file>

<file path=ppt/slides/_rels/slide81.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png"/><Relationship Id="rId1" Type="http://schemas.openxmlformats.org/officeDocument/2006/relationships/slideLayout" Target="../slideLayouts/slideLayout17.xml"/><Relationship Id="rId5" Type="http://schemas.openxmlformats.org/officeDocument/2006/relationships/image" Target="../media/image136.png"/><Relationship Id="rId4" Type="http://schemas.openxmlformats.org/officeDocument/2006/relationships/image" Target="../media/image135.png"/></Relationships>
</file>

<file path=ppt/slides/_rels/slide8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51.xml"/><Relationship Id="rId1" Type="http://schemas.openxmlformats.org/officeDocument/2006/relationships/slideLayout" Target="../slideLayouts/slideLayout15.xml"/><Relationship Id="rId4" Type="http://schemas.openxmlformats.org/officeDocument/2006/relationships/image" Target="../media/image138.png"/></Relationships>
</file>

<file path=ppt/slides/_rels/slide83.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52.xml"/><Relationship Id="rId1" Type="http://schemas.openxmlformats.org/officeDocument/2006/relationships/slideLayout" Target="../slideLayouts/slideLayout15.xml"/><Relationship Id="rId4" Type="http://schemas.openxmlformats.org/officeDocument/2006/relationships/image" Target="../media/image140.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43.png"/><Relationship Id="rId2" Type="http://schemas.openxmlformats.org/officeDocument/2006/relationships/image" Target="../media/image1.png"/><Relationship Id="rId1" Type="http://schemas.openxmlformats.org/officeDocument/2006/relationships/slideLayout" Target="../slideLayouts/slideLayout17.xml"/><Relationship Id="rId6" Type="http://schemas.openxmlformats.org/officeDocument/2006/relationships/image" Target="../media/image142.png"/><Relationship Id="rId5" Type="http://schemas.openxmlformats.org/officeDocument/2006/relationships/image" Target="../media/image133.jpeg"/><Relationship Id="rId4" Type="http://schemas.openxmlformats.org/officeDocument/2006/relationships/image" Target="../media/image141.png"/></Relationships>
</file>

<file path=ppt/slides/_rels/slide86.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png"/><Relationship Id="rId1" Type="http://schemas.openxmlformats.org/officeDocument/2006/relationships/slideLayout" Target="../slideLayouts/slideLayout17.xml"/><Relationship Id="rId5" Type="http://schemas.openxmlformats.org/officeDocument/2006/relationships/image" Target="../media/image133.jpeg"/><Relationship Id="rId4" Type="http://schemas.openxmlformats.org/officeDocument/2006/relationships/image" Target="../media/image144.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7.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1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67.xml"/><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png"/></Relationships>
</file>

<file path=ppt/slides/_rels/slide117.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69.xml"/><Relationship Id="rId1" Type="http://schemas.openxmlformats.org/officeDocument/2006/relationships/slideLayout" Target="../slideLayouts/slideLayout1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4.xml"/></Relationships>
</file>

<file path=ppt/slides/_rels/slide121.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124.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14.xml"/><Relationship Id="rId4" Type="http://schemas.openxmlformats.org/officeDocument/2006/relationships/image" Target="../media/image173.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178.emf"/><Relationship Id="rId5" Type="http://schemas.openxmlformats.org/officeDocument/2006/relationships/image" Target="../media/image177.png"/><Relationship Id="rId4" Type="http://schemas.openxmlformats.org/officeDocument/2006/relationships/image" Target="../media/image176.png"/></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180.png"/></Relationships>
</file>

<file path=ppt/slides/_rels/slide131.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83.xml"/><Relationship Id="rId1" Type="http://schemas.openxmlformats.org/officeDocument/2006/relationships/slideLayout" Target="../slideLayouts/slideLayout14.xml"/></Relationships>
</file>

<file path=ppt/slides/_rels/slide139.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14.xml"/><Relationship Id="rId6" Type="http://schemas.openxmlformats.org/officeDocument/2006/relationships/image" Target="../media/image189.png"/><Relationship Id="rId5" Type="http://schemas.openxmlformats.org/officeDocument/2006/relationships/image" Target="../media/image188.png"/><Relationship Id="rId4" Type="http://schemas.openxmlformats.org/officeDocument/2006/relationships/image" Target="../media/image187.png"/></Relationships>
</file>

<file path=ppt/slides/_rels/slide14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85.xml"/><Relationship Id="rId1" Type="http://schemas.openxmlformats.org/officeDocument/2006/relationships/slideLayout" Target="../slideLayouts/slideLayout14.xml"/></Relationships>
</file>

<file path=ppt/slides/_rels/slide143.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194.wmf"/><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195.wmf"/></Relationships>
</file>

<file path=ppt/slides/_rels/slide146.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89.xml"/><Relationship Id="rId1" Type="http://schemas.openxmlformats.org/officeDocument/2006/relationships/slideLayout" Target="../slideLayouts/slideLayout14.xml"/></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image" Target="../media/image198.jpeg"/><Relationship Id="rId5" Type="http://schemas.openxmlformats.org/officeDocument/2006/relationships/image" Target="../media/image197.wmf"/><Relationship Id="rId4" Type="http://schemas.openxmlformats.org/officeDocument/2006/relationships/oleObject" Target="../embeddings/oleObject1.bin"/></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202.wmf"/><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203.wmf"/><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image" Target="../media/image204.wmf"/><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99.xml"/><Relationship Id="rId1" Type="http://schemas.openxmlformats.org/officeDocument/2006/relationships/slideLayout" Target="../slideLayouts/slideLayout1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00.xml"/><Relationship Id="rId1" Type="http://schemas.openxmlformats.org/officeDocument/2006/relationships/slideLayout" Target="../slideLayouts/slideLayout14.xml"/></Relationships>
</file>

<file path=ppt/slides/_rels/slide160.xml.rels><?xml version="1.0" encoding="UTF-8" standalone="yes"?>
<Relationships xmlns="http://schemas.openxmlformats.org/package/2006/relationships"><Relationship Id="rId2" Type="http://schemas.openxmlformats.org/officeDocument/2006/relationships/image" Target="../media/image208.png"/><Relationship Id="rId1" Type="http://schemas.openxmlformats.org/officeDocument/2006/relationships/slideLayout" Target="../slideLayouts/slideLayout15.xml"/></Relationships>
</file>

<file path=ppt/slides/_rels/slide16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9.png"/><Relationship Id="rId1" Type="http://schemas.openxmlformats.org/officeDocument/2006/relationships/slideLayout" Target="../slideLayouts/slideLayout1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101.xml"/><Relationship Id="rId1" Type="http://schemas.openxmlformats.org/officeDocument/2006/relationships/slideLayout" Target="../slideLayouts/slideLayout14.xml"/></Relationships>
</file>

<file path=ppt/slides/_rels/slide164.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103.xml"/><Relationship Id="rId1" Type="http://schemas.openxmlformats.org/officeDocument/2006/relationships/slideLayout" Target="../slideLayouts/slideLayout14.xml"/></Relationships>
</file>

<file path=ppt/slides/_rels/slide166.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104.xml"/><Relationship Id="rId1" Type="http://schemas.openxmlformats.org/officeDocument/2006/relationships/slideLayout" Target="../slideLayouts/slideLayout14.xml"/></Relationships>
</file>

<file path=ppt/slides/_rels/slide167.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105.xml"/><Relationship Id="rId1" Type="http://schemas.openxmlformats.org/officeDocument/2006/relationships/slideLayout" Target="../slideLayouts/slideLayout14.xml"/></Relationships>
</file>

<file path=ppt/slides/_rels/slide168.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notesSlide" Target="../notesSlides/notesSlide106.xml"/><Relationship Id="rId1" Type="http://schemas.openxmlformats.org/officeDocument/2006/relationships/slideLayout" Target="../slideLayouts/slideLayout14.xml"/></Relationships>
</file>

<file path=ppt/slides/_rels/slide169.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218.png"/><Relationship Id="rId7" Type="http://schemas.openxmlformats.org/officeDocument/2006/relationships/image" Target="../media/image222.png"/><Relationship Id="rId2" Type="http://schemas.openxmlformats.org/officeDocument/2006/relationships/notesSlide" Target="../notesSlides/notesSlide108.xml"/><Relationship Id="rId1" Type="http://schemas.openxmlformats.org/officeDocument/2006/relationships/slideLayout" Target="../slideLayouts/slideLayout7.xml"/><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s>
</file>

<file path=ppt/slides/_rels/slide171.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5.x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notesSlide" Target="../notesSlides/notesSlide111.xml"/><Relationship Id="rId1" Type="http://schemas.openxmlformats.org/officeDocument/2006/relationships/slideLayout" Target="../slideLayouts/slideLayout14.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4.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4.xml"/></Relationships>
</file>

<file path=ppt/slides/_rels/slide178.xml.rels><?xml version="1.0" encoding="UTF-8" standalone="yes"?>
<Relationships xmlns="http://schemas.openxmlformats.org/package/2006/relationships"><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notesSlide" Target="../notesSlides/notesSlide114.xml"/><Relationship Id="rId1" Type="http://schemas.openxmlformats.org/officeDocument/2006/relationships/slideLayout" Target="../slideLayouts/slideLayout14.xml"/><Relationship Id="rId6" Type="http://schemas.openxmlformats.org/officeDocument/2006/relationships/image" Target="../media/image229.png"/><Relationship Id="rId5" Type="http://schemas.openxmlformats.org/officeDocument/2006/relationships/image" Target="../media/image228.png"/><Relationship Id="rId4" Type="http://schemas.openxmlformats.org/officeDocument/2006/relationships/image" Target="../media/image227.png"/></Relationships>
</file>

<file path=ppt/slides/_rels/slide179.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image" Target="../media/image231.png"/><Relationship Id="rId1" Type="http://schemas.openxmlformats.org/officeDocument/2006/relationships/slideLayout" Target="../slideLayouts/slideLayout14.xml"/><Relationship Id="rId6" Type="http://schemas.openxmlformats.org/officeDocument/2006/relationships/image" Target="../media/image235.emf"/><Relationship Id="rId5" Type="http://schemas.openxmlformats.org/officeDocument/2006/relationships/image" Target="../media/image234.emf"/><Relationship Id="rId4" Type="http://schemas.openxmlformats.org/officeDocument/2006/relationships/image" Target="../media/image233.emf"/></Relationships>
</file>

<file path=ppt/slides/_rels/slide180.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115.xml"/><Relationship Id="rId1" Type="http://schemas.openxmlformats.org/officeDocument/2006/relationships/slideLayout" Target="../slideLayouts/slideLayout14.xml"/></Relationships>
</file>

<file path=ppt/slides/_rels/slide181.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116.xml"/><Relationship Id="rId1" Type="http://schemas.openxmlformats.org/officeDocument/2006/relationships/slideLayout" Target="../slideLayouts/slideLayout14.xml"/></Relationships>
</file>

<file path=ppt/slides/_rels/slide182.xml.rels><?xml version="1.0" encoding="UTF-8" standalone="yes"?>
<Relationships xmlns="http://schemas.openxmlformats.org/package/2006/relationships"><Relationship Id="rId3" Type="http://schemas.openxmlformats.org/officeDocument/2006/relationships/image" Target="../media/image238.png"/><Relationship Id="rId2" Type="http://schemas.openxmlformats.org/officeDocument/2006/relationships/notesSlide" Target="../notesSlides/notesSlide117.xml"/><Relationship Id="rId1" Type="http://schemas.openxmlformats.org/officeDocument/2006/relationships/slideLayout" Target="../slideLayouts/slideLayout14.xml"/><Relationship Id="rId4" Type="http://schemas.openxmlformats.org/officeDocument/2006/relationships/image" Target="../media/image239.png"/></Relationships>
</file>

<file path=ppt/slides/_rels/slide183.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18.xml"/><Relationship Id="rId1" Type="http://schemas.openxmlformats.org/officeDocument/2006/relationships/slideLayout" Target="../slideLayouts/slideLayout1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5.xml.rels><?xml version="1.0" encoding="UTF-8" standalone="yes"?>
<Relationships xmlns="http://schemas.openxmlformats.org/package/2006/relationships"><Relationship Id="rId3" Type="http://schemas.openxmlformats.org/officeDocument/2006/relationships/image" Target="../media/image242.emf"/><Relationship Id="rId2" Type="http://schemas.openxmlformats.org/officeDocument/2006/relationships/image" Target="../media/image241.png"/><Relationship Id="rId1" Type="http://schemas.openxmlformats.org/officeDocument/2006/relationships/slideLayout" Target="../slideLayouts/slideLayout14.xml"/><Relationship Id="rId6" Type="http://schemas.openxmlformats.org/officeDocument/2006/relationships/image" Target="../media/image245.png"/><Relationship Id="rId5" Type="http://schemas.openxmlformats.org/officeDocument/2006/relationships/image" Target="../media/image244.png"/><Relationship Id="rId4" Type="http://schemas.openxmlformats.org/officeDocument/2006/relationships/image" Target="../media/image243.emf"/></Relationships>
</file>

<file path=ppt/slides/_rels/slide186.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image" Target="../media/image246.png"/><Relationship Id="rId1" Type="http://schemas.openxmlformats.org/officeDocument/2006/relationships/slideLayout" Target="../slideLayouts/slideLayout2.xml"/><Relationship Id="rId5" Type="http://schemas.openxmlformats.org/officeDocument/2006/relationships/image" Target="../media/image249.png"/><Relationship Id="rId4" Type="http://schemas.openxmlformats.org/officeDocument/2006/relationships/image" Target="../media/image248.png"/></Relationships>
</file>

<file path=ppt/slides/_rels/slide187.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2.png"/><Relationship Id="rId1" Type="http://schemas.openxmlformats.org/officeDocument/2006/relationships/slideLayout" Target="../slideLayouts/slideLayout2.xml"/><Relationship Id="rId4" Type="http://schemas.openxmlformats.org/officeDocument/2006/relationships/image" Target="../media/image254.png"/></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4.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14.xml"/></Relationships>
</file>

<file path=ppt/slides/_rels/slide193.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6.xml"/></Relationships>
</file>

<file path=ppt/slides/_rels/slide194.xml.rels><?xml version="1.0" encoding="UTF-8" standalone="yes"?>
<Relationships xmlns="http://schemas.openxmlformats.org/package/2006/relationships"><Relationship Id="rId2" Type="http://schemas.openxmlformats.org/officeDocument/2006/relationships/image" Target="../media/image257.png"/><Relationship Id="rId1" Type="http://schemas.openxmlformats.org/officeDocument/2006/relationships/slideLayout" Target="../slideLayouts/slideLayout6.xml"/></Relationships>
</file>

<file path=ppt/slides/_rels/slide195.xml.rels><?xml version="1.0" encoding="UTF-8" standalone="yes"?>
<Relationships xmlns="http://schemas.openxmlformats.org/package/2006/relationships"><Relationship Id="rId3" Type="http://schemas.openxmlformats.org/officeDocument/2006/relationships/image" Target="../media/image258.emf"/><Relationship Id="rId2" Type="http://schemas.openxmlformats.org/officeDocument/2006/relationships/notesSlide" Target="../notesSlides/notesSlide120.xml"/><Relationship Id="rId1" Type="http://schemas.openxmlformats.org/officeDocument/2006/relationships/slideLayout" Target="../slideLayouts/slideLayout7.xml"/><Relationship Id="rId5" Type="http://schemas.openxmlformats.org/officeDocument/2006/relationships/image" Target="../media/image260.png"/><Relationship Id="rId4" Type="http://schemas.openxmlformats.org/officeDocument/2006/relationships/image" Target="../media/image259.emf"/></Relationships>
</file>

<file path=ppt/slides/_rels/slide196.xml.rels><?xml version="1.0" encoding="UTF-8" standalone="yes"?>
<Relationships xmlns="http://schemas.openxmlformats.org/package/2006/relationships"><Relationship Id="rId2" Type="http://schemas.openxmlformats.org/officeDocument/2006/relationships/image" Target="../media/image261.jpe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image" Target="../media/image262.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image" Target="../media/image263.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264.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265.png"/><Relationship Id="rId2" Type="http://schemas.openxmlformats.org/officeDocument/2006/relationships/notesSlide" Target="../notesSlides/notesSlide121.xml"/><Relationship Id="rId1" Type="http://schemas.openxmlformats.org/officeDocument/2006/relationships/slideLayout" Target="../slideLayouts/slideLayout2.xml"/><Relationship Id="rId4" Type="http://schemas.openxmlformats.org/officeDocument/2006/relationships/image" Target="../media/image266.png"/></Relationships>
</file>

<file path=ppt/slides/_rels/slide201.x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272.png"/><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273.png"/></Relationships>
</file>

<file path=ppt/slides/_rels/slide209.xml.rels><?xml version="1.0" encoding="UTF-8" standalone="yes"?>
<Relationships xmlns="http://schemas.openxmlformats.org/package/2006/relationships"><Relationship Id="rId8" Type="http://schemas.openxmlformats.org/officeDocument/2006/relationships/image" Target="../media/image278.png"/><Relationship Id="rId13" Type="http://schemas.openxmlformats.org/officeDocument/2006/relationships/image" Target="../media/image283.png"/><Relationship Id="rId3" Type="http://schemas.openxmlformats.org/officeDocument/2006/relationships/audio" Target="../media/audio2.wav"/><Relationship Id="rId7" Type="http://schemas.openxmlformats.org/officeDocument/2006/relationships/image" Target="../media/image277.png"/><Relationship Id="rId12" Type="http://schemas.openxmlformats.org/officeDocument/2006/relationships/image" Target="../media/image282.png"/><Relationship Id="rId2" Type="http://schemas.openxmlformats.org/officeDocument/2006/relationships/notesSlide" Target="../notesSlides/notesSlide127.xml"/><Relationship Id="rId1" Type="http://schemas.openxmlformats.org/officeDocument/2006/relationships/slideLayout" Target="../slideLayouts/slideLayout2.xml"/><Relationship Id="rId6" Type="http://schemas.openxmlformats.org/officeDocument/2006/relationships/image" Target="../media/image276.png"/><Relationship Id="rId11" Type="http://schemas.openxmlformats.org/officeDocument/2006/relationships/image" Target="../media/image281.png"/><Relationship Id="rId5" Type="http://schemas.openxmlformats.org/officeDocument/2006/relationships/image" Target="../media/image275.png"/><Relationship Id="rId10" Type="http://schemas.openxmlformats.org/officeDocument/2006/relationships/image" Target="../media/image280.png"/><Relationship Id="rId4" Type="http://schemas.openxmlformats.org/officeDocument/2006/relationships/image" Target="../media/image274.png"/><Relationship Id="rId9" Type="http://schemas.openxmlformats.org/officeDocument/2006/relationships/image" Target="../media/image279.png"/></Relationships>
</file>

<file path=ppt/slides/_rels/slide210.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notesSlide" Target="../notesSlides/notesSlide128.xml"/><Relationship Id="rId1" Type="http://schemas.openxmlformats.org/officeDocument/2006/relationships/slideLayout" Target="../slideLayouts/slideLayout14.xml"/></Relationships>
</file>

<file path=ppt/slides/_rels/slide211.xml.rels><?xml version="1.0" encoding="UTF-8" standalone="yes"?>
<Relationships xmlns="http://schemas.openxmlformats.org/package/2006/relationships"><Relationship Id="rId2" Type="http://schemas.openxmlformats.org/officeDocument/2006/relationships/image" Target="../media/image285.png"/><Relationship Id="rId1" Type="http://schemas.openxmlformats.org/officeDocument/2006/relationships/slideLayout" Target="../slideLayouts/slideLayout14.xml"/></Relationships>
</file>

<file path=ppt/slides/_rels/slide212.xml.rels><?xml version="1.0" encoding="UTF-8" standalone="yes"?>
<Relationships xmlns="http://schemas.openxmlformats.org/package/2006/relationships"><Relationship Id="rId3" Type="http://schemas.openxmlformats.org/officeDocument/2006/relationships/image" Target="../media/image286.png"/><Relationship Id="rId2" Type="http://schemas.openxmlformats.org/officeDocument/2006/relationships/notesSlide" Target="../notesSlides/notesSlide129.xml"/><Relationship Id="rId1" Type="http://schemas.openxmlformats.org/officeDocument/2006/relationships/slideLayout" Target="../slideLayouts/slideLayout14.xml"/><Relationship Id="rId4" Type="http://schemas.openxmlformats.org/officeDocument/2006/relationships/image" Target="../media/image287.png"/></Relationships>
</file>

<file path=ppt/slides/_rels/slide213.xml.rels><?xml version="1.0" encoding="UTF-8" standalone="yes"?>
<Relationships xmlns="http://schemas.openxmlformats.org/package/2006/relationships"><Relationship Id="rId3" Type="http://schemas.openxmlformats.org/officeDocument/2006/relationships/image" Target="../media/image288.png"/><Relationship Id="rId2" Type="http://schemas.openxmlformats.org/officeDocument/2006/relationships/notesSlide" Target="../notesSlides/notesSlide130.xml"/><Relationship Id="rId1" Type="http://schemas.openxmlformats.org/officeDocument/2006/relationships/slideLayout" Target="../slideLayouts/slideLayout14.xml"/></Relationships>
</file>

<file path=ppt/slides/_rels/slide214.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131.xml"/><Relationship Id="rId1" Type="http://schemas.openxmlformats.org/officeDocument/2006/relationships/slideLayout" Target="../slideLayouts/slideLayout14.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4.xml"/></Relationships>
</file>

<file path=ppt/slides/_rels/slide216.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4.xml"/></Relationships>
</file>

<file path=ppt/slides/_rels/slide217.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4.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1269896" y="1809945"/>
            <a:ext cx="9664803" cy="3930455"/>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Computer Networks</a:t>
            </a:r>
            <a:endParaRPr lang="en-US" altLang="zh-CN" sz="4000"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endParaRPr lang="en-US" altLang="zh-CN" sz="2800" dirty="0">
              <a:latin typeface="Arial" panose="020B0604020202020204" pitchFamily="34" charset="0"/>
              <a:ea typeface="微软雅黑" pitchFamily="34" charset="-122"/>
              <a:cs typeface="Arial" panose="020B0604020202020204" pitchFamily="34" charset="0"/>
            </a:endParaRPr>
          </a:p>
          <a:p>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王廷</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endParaRPr>
          </a:p>
          <a:p>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华东师范大学 软件工程学院</a:t>
            </a:r>
            <a:br>
              <a:rPr lang="en-US" altLang="zh-CN" sz="2000" dirty="0">
                <a:solidFill>
                  <a:schemeClr val="accent1">
                    <a:lumMod val="75000"/>
                  </a:schemeClr>
                </a:solidFill>
                <a:latin typeface="微软雅黑" panose="020B0503020204020204" pitchFamily="34" charset="-122"/>
                <a:ea typeface="微软雅黑" panose="020B0503020204020204" pitchFamily="34" charset="-122"/>
              </a:rPr>
            </a:b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Email: </a:t>
            </a:r>
            <a:r>
              <a:rPr lang="en-US" altLang="zh-CN" sz="2000" dirty="0">
                <a:solidFill>
                  <a:schemeClr val="accent1">
                    <a:lumMod val="75000"/>
                  </a:schemeClr>
                </a:solidFill>
                <a:latin typeface="微软雅黑" panose="020B0503020204020204" pitchFamily="34" charset="-122"/>
                <a:ea typeface="微软雅黑" panose="020B0503020204020204" pitchFamily="34" charset="-122"/>
                <a:hlinkClick r:id="rId3"/>
              </a:rPr>
              <a:t>twang@sei.ecnu.edu.cn</a:t>
            </a:r>
            <a:endParaRPr lang="en-US" altLang="zh-CN" sz="2000" dirty="0">
              <a:solidFill>
                <a:schemeClr val="accent1">
                  <a:lumMod val="75000"/>
                </a:schemeClr>
              </a:solidFill>
              <a:latin typeface="微软雅黑" panose="020B0503020204020204" pitchFamily="34" charset="-122"/>
              <a:ea typeface="微软雅黑" panose="020B0503020204020204" pitchFamily="34" charset="-122"/>
            </a:endParaRPr>
          </a:p>
          <a:p>
            <a:pPr>
              <a:lnSpc>
                <a:spcPct val="150000"/>
              </a:lnSpc>
            </a:pP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Office: </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理科大楼</a:t>
            </a:r>
            <a:r>
              <a:rPr lang="en-US" altLang="zh-CN" sz="2000" dirty="0">
                <a:solidFill>
                  <a:schemeClr val="accent1">
                    <a:lumMod val="75000"/>
                  </a:schemeClr>
                </a:solidFill>
                <a:latin typeface="微软雅黑" panose="020B0503020204020204" pitchFamily="34" charset="-122"/>
                <a:ea typeface="微软雅黑" panose="020B0503020204020204" pitchFamily="34" charset="-122"/>
              </a:rPr>
              <a:t>B1116</a:t>
            </a:r>
            <a:r>
              <a:rPr lang="zh-CN" altLang="en-US" sz="2000" dirty="0">
                <a:solidFill>
                  <a:schemeClr val="accent1">
                    <a:lumMod val="75000"/>
                  </a:schemeClr>
                </a:solidFill>
                <a:latin typeface="微软雅黑" panose="020B0503020204020204" pitchFamily="34" charset="-122"/>
                <a:ea typeface="微软雅黑" panose="020B0503020204020204" pitchFamily="34" charset="-122"/>
              </a:rPr>
              <a:t>室</a:t>
            </a:r>
          </a:p>
        </p:txBody>
      </p:sp>
      <p:pic>
        <p:nvPicPr>
          <p:cNvPr id="2" name="Picture 2">
            <a:extLst>
              <a:ext uri="{FF2B5EF4-FFF2-40B4-BE49-F238E27FC236}">
                <a16:creationId xmlns:a16="http://schemas.microsoft.com/office/drawing/2014/main" id="{2A91224E-8D99-478D-9B94-A1B66880B3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220" name="Subtitle 2"/>
          <p:cNvSpPr>
            <a:spLocks noGrp="1"/>
          </p:cNvSpPr>
          <p:nvPr>
            <p:ph idx="1"/>
          </p:nvPr>
        </p:nvSpPr>
        <p:spPr>
          <a:xfrm>
            <a:off x="2781300" y="1990725"/>
            <a:ext cx="6686550" cy="4019550"/>
          </a:xfrm>
        </p:spPr>
        <p:txBody>
          <a:bodyPr vert="horz" lIns="91440" tIns="45720" rIns="91440" bIns="45720" rtlCol="0">
            <a:normAutofit/>
          </a:bodyPr>
          <a:lstStyle/>
          <a:p>
            <a:pPr lvl="1"/>
            <a:r>
              <a:rPr lang="en-US" altLang="zh-CN" b="1" dirty="0">
                <a:solidFill>
                  <a:srgbClr val="C00000"/>
                </a:solidFill>
              </a:rPr>
              <a:t>Design Issues</a:t>
            </a:r>
          </a:p>
          <a:p>
            <a:pPr lvl="1"/>
            <a:r>
              <a:rPr lang="en-US" altLang="zh-CN" dirty="0"/>
              <a:t>Routing Algorithms</a:t>
            </a:r>
          </a:p>
          <a:p>
            <a:pPr lvl="1"/>
            <a:r>
              <a:rPr lang="en-US" altLang="zh-CN" dirty="0"/>
              <a:t>Congestion Control</a:t>
            </a:r>
          </a:p>
          <a:p>
            <a:pPr lvl="1"/>
            <a:r>
              <a:rPr lang="en-US" altLang="zh-CN" dirty="0"/>
              <a:t>Quality of Service</a:t>
            </a:r>
          </a:p>
          <a:p>
            <a:pPr lvl="1"/>
            <a:r>
              <a:rPr lang="en-US" altLang="zh-CN" dirty="0"/>
              <a:t>Internetworking</a:t>
            </a:r>
          </a:p>
          <a:p>
            <a:pPr lvl="1"/>
            <a:r>
              <a:rPr lang="en-US" altLang="zh-CN" dirty="0"/>
              <a:t>Network Layer of the Internet</a:t>
            </a:r>
          </a:p>
        </p:txBody>
      </p:sp>
      <p:sp>
        <p:nvSpPr>
          <p:cNvPr id="2" name="矩形 1">
            <a:extLst>
              <a:ext uri="{FF2B5EF4-FFF2-40B4-BE49-F238E27FC236}">
                <a16:creationId xmlns:a16="http://schemas.microsoft.com/office/drawing/2014/main" id="{B4980F9B-94EF-4944-9E61-6B0F74FFB2A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Chapter 5</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1268" name="Content Placeholder 2"/>
          <p:cNvSpPr>
            <a:spLocks noGrp="1"/>
          </p:cNvSpPr>
          <p:nvPr>
            <p:ph idx="1"/>
          </p:nvPr>
        </p:nvSpPr>
        <p:spPr>
          <a:xfrm>
            <a:off x="914400" y="1225409"/>
            <a:ext cx="10350500" cy="1269617"/>
          </a:xfrm>
        </p:spPr>
        <p:txBody>
          <a:bodyPr>
            <a:normAutofit fontScale="92500" lnSpcReduction="10000"/>
          </a:bodyPr>
          <a:lstStyle/>
          <a:p>
            <a:pPr marL="457200" indent="-457200">
              <a:buFont typeface="Arial" panose="020B0604020202020204" pitchFamily="34" charset="0"/>
              <a:buChar char="•"/>
            </a:pPr>
            <a:r>
              <a:rPr lang="en-US" altLang="zh-CN" dirty="0">
                <a:ea typeface="宋体" panose="02010600030101010101" pitchFamily="2" charset="-122"/>
              </a:rPr>
              <a:t>Builds on the link layer. </a:t>
            </a:r>
            <a:r>
              <a:rPr lang="en-US" altLang="zh-CN" u="sng" dirty="0">
                <a:ea typeface="宋体" panose="02010600030101010101" pitchFamily="2" charset="-122"/>
              </a:rPr>
              <a:t>Routers</a:t>
            </a:r>
            <a:r>
              <a:rPr lang="en-US" altLang="zh-CN" dirty="0">
                <a:ea typeface="宋体" panose="02010600030101010101" pitchFamily="2" charset="-122"/>
              </a:rPr>
              <a:t> send </a:t>
            </a:r>
            <a:r>
              <a:rPr lang="en-US" altLang="zh-CN" u="sng" dirty="0">
                <a:ea typeface="宋体" panose="02010600030101010101" pitchFamily="2" charset="-122"/>
              </a:rPr>
              <a:t>packets</a:t>
            </a:r>
            <a:r>
              <a:rPr lang="en-US" altLang="zh-CN" dirty="0">
                <a:ea typeface="宋体" panose="02010600030101010101" pitchFamily="2" charset="-122"/>
              </a:rPr>
              <a:t> over multiple networks.</a:t>
            </a:r>
          </a:p>
          <a:p>
            <a:pPr marL="457200" indent="-457200">
              <a:buFont typeface="Arial" panose="020B0604020202020204" pitchFamily="34" charset="0"/>
              <a:buChar char="•"/>
            </a:pPr>
            <a:r>
              <a:rPr lang="en-US" altLang="zh-CN" dirty="0">
                <a:ea typeface="宋体" panose="02010600030101010101" pitchFamily="2" charset="-122"/>
              </a:rPr>
              <a:t>Responsible for delivering packets between endpoints over multiple links</a:t>
            </a:r>
          </a:p>
        </p:txBody>
      </p:sp>
      <p:sp>
        <p:nvSpPr>
          <p:cNvPr id="19" name="Rectangle 4">
            <a:extLst>
              <a:ext uri="{FF2B5EF4-FFF2-40B4-BE49-F238E27FC236}">
                <a16:creationId xmlns:a16="http://schemas.microsoft.com/office/drawing/2014/main" id="{A1884F24-08EC-44F8-8CD1-6A535649F727}"/>
              </a:ext>
            </a:extLst>
          </p:cNvPr>
          <p:cNvSpPr>
            <a:spLocks noChangeArrowheads="1"/>
          </p:cNvSpPr>
          <p:nvPr/>
        </p:nvSpPr>
        <p:spPr bwMode="auto">
          <a:xfrm>
            <a:off x="4890254" y="4824375"/>
            <a:ext cx="1760993" cy="450605"/>
          </a:xfrm>
          <a:prstGeom prst="rect">
            <a:avLst/>
          </a:prstGeom>
          <a:noFill/>
          <a:ln w="9525">
            <a:solidFill>
              <a:sysClr val="windowText" lastClr="00000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0" name="Rectangle 5">
            <a:extLst>
              <a:ext uri="{FF2B5EF4-FFF2-40B4-BE49-F238E27FC236}">
                <a16:creationId xmlns:a16="http://schemas.microsoft.com/office/drawing/2014/main" id="{BC152668-A28C-46BE-BC70-CAE770694C91}"/>
              </a:ext>
            </a:extLst>
          </p:cNvPr>
          <p:cNvSpPr>
            <a:spLocks noChangeArrowheads="1"/>
          </p:cNvSpPr>
          <p:nvPr/>
        </p:nvSpPr>
        <p:spPr bwMode="auto">
          <a:xfrm>
            <a:off x="4890253" y="4368240"/>
            <a:ext cx="1760991" cy="461665"/>
          </a:xfrm>
          <a:prstGeom prst="rect">
            <a:avLst/>
          </a:prstGeom>
          <a:noFill/>
          <a:ln w="9525">
            <a:solidFill>
              <a:sysClr val="windowText" lastClr="000000"/>
            </a:solidFill>
            <a:miter lim="800000"/>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pPr>
            <a:endParaRPr lang="en-US" altLang="zh-CN" kern="0">
              <a:solidFill>
                <a:prstClr val="black"/>
              </a:solidFill>
              <a:ea typeface="宋体" panose="02010600030101010101" pitchFamily="2" charset="-122"/>
            </a:endParaRPr>
          </a:p>
        </p:txBody>
      </p:sp>
      <p:sp>
        <p:nvSpPr>
          <p:cNvPr id="21" name="Rectangle 6">
            <a:extLst>
              <a:ext uri="{FF2B5EF4-FFF2-40B4-BE49-F238E27FC236}">
                <a16:creationId xmlns:a16="http://schemas.microsoft.com/office/drawing/2014/main" id="{65B631C4-E283-4897-BB83-8C6A395E5DF4}"/>
              </a:ext>
            </a:extLst>
          </p:cNvPr>
          <p:cNvSpPr>
            <a:spLocks noChangeArrowheads="1"/>
          </p:cNvSpPr>
          <p:nvPr/>
        </p:nvSpPr>
        <p:spPr bwMode="auto">
          <a:xfrm>
            <a:off x="4890254" y="3906369"/>
            <a:ext cx="1760991" cy="461665"/>
          </a:xfrm>
          <a:prstGeom prst="rect">
            <a:avLst/>
          </a:prstGeom>
          <a:solidFill>
            <a:srgbClr val="FF2BD8">
              <a:alpha val="50195"/>
            </a:srgbClr>
          </a:solidFill>
          <a:ln w="9525">
            <a:solidFill>
              <a:sysClr val="windowText" lastClr="000000"/>
            </a:solidFill>
            <a:miter lim="800000"/>
          </a:ln>
        </p:spPr>
        <p:txBody>
          <a:bodyPr wrap="squar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pPr>
            <a:endParaRPr lang="en-US" altLang="zh-CN" kern="0">
              <a:solidFill>
                <a:prstClr val="black"/>
              </a:solidFill>
              <a:ea typeface="宋体" panose="02010600030101010101" pitchFamily="2" charset="-122"/>
            </a:endParaRPr>
          </a:p>
        </p:txBody>
      </p:sp>
      <p:sp>
        <p:nvSpPr>
          <p:cNvPr id="22" name="Rectangle 7">
            <a:extLst>
              <a:ext uri="{FF2B5EF4-FFF2-40B4-BE49-F238E27FC236}">
                <a16:creationId xmlns:a16="http://schemas.microsoft.com/office/drawing/2014/main" id="{9DD3D4DC-27C1-4FF0-A72A-F723947EF1FB}"/>
              </a:ext>
            </a:extLst>
          </p:cNvPr>
          <p:cNvSpPr>
            <a:spLocks noChangeArrowheads="1"/>
          </p:cNvSpPr>
          <p:nvPr/>
        </p:nvSpPr>
        <p:spPr bwMode="auto">
          <a:xfrm>
            <a:off x="4890252" y="3461294"/>
            <a:ext cx="1760993" cy="450605"/>
          </a:xfrm>
          <a:prstGeom prst="rect">
            <a:avLst/>
          </a:prstGeom>
          <a:noFill/>
          <a:ln w="9525">
            <a:solidFill>
              <a:sysClr val="windowText" lastClr="00000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3" name="Rectangle 10">
            <a:extLst>
              <a:ext uri="{FF2B5EF4-FFF2-40B4-BE49-F238E27FC236}">
                <a16:creationId xmlns:a16="http://schemas.microsoft.com/office/drawing/2014/main" id="{E1A2EC2B-D870-4D1B-8A5C-B128E72DE988}"/>
              </a:ext>
            </a:extLst>
          </p:cNvPr>
          <p:cNvSpPr>
            <a:spLocks noChangeArrowheads="1"/>
          </p:cNvSpPr>
          <p:nvPr/>
        </p:nvSpPr>
        <p:spPr bwMode="auto">
          <a:xfrm>
            <a:off x="4890254" y="3014444"/>
            <a:ext cx="1760993" cy="450605"/>
          </a:xfrm>
          <a:prstGeom prst="rect">
            <a:avLst/>
          </a:prstGeom>
          <a:noFill/>
          <a:ln w="9525">
            <a:solidFill>
              <a:sysClr val="windowText" lastClr="000000"/>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zh-CN" sz="18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p:txBody>
      </p:sp>
      <p:sp>
        <p:nvSpPr>
          <p:cNvPr id="24" name="Text Box 11">
            <a:extLst>
              <a:ext uri="{FF2B5EF4-FFF2-40B4-BE49-F238E27FC236}">
                <a16:creationId xmlns:a16="http://schemas.microsoft.com/office/drawing/2014/main" id="{FB947072-581D-4C02-9524-080557AED8D6}"/>
              </a:ext>
            </a:extLst>
          </p:cNvPr>
          <p:cNvSpPr txBox="1">
            <a:spLocks noChangeArrowheads="1"/>
          </p:cNvSpPr>
          <p:nvPr/>
        </p:nvSpPr>
        <p:spPr bwMode="auto">
          <a:xfrm>
            <a:off x="5206680" y="4794335"/>
            <a:ext cx="11416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Physical</a:t>
            </a:r>
          </a:p>
        </p:txBody>
      </p:sp>
      <p:sp>
        <p:nvSpPr>
          <p:cNvPr id="25" name="Text Box 12">
            <a:extLst>
              <a:ext uri="{FF2B5EF4-FFF2-40B4-BE49-F238E27FC236}">
                <a16:creationId xmlns:a16="http://schemas.microsoft.com/office/drawing/2014/main" id="{112EB5B0-6C16-4D28-8ACB-81D793D21C7C}"/>
              </a:ext>
            </a:extLst>
          </p:cNvPr>
          <p:cNvSpPr txBox="1">
            <a:spLocks noChangeArrowheads="1"/>
          </p:cNvSpPr>
          <p:nvPr/>
        </p:nvSpPr>
        <p:spPr bwMode="auto">
          <a:xfrm>
            <a:off x="5438913" y="4362505"/>
            <a:ext cx="65594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Link</a:t>
            </a:r>
          </a:p>
        </p:txBody>
      </p:sp>
      <p:sp>
        <p:nvSpPr>
          <p:cNvPr id="26" name="Text Box 13">
            <a:extLst>
              <a:ext uri="{FF2B5EF4-FFF2-40B4-BE49-F238E27FC236}">
                <a16:creationId xmlns:a16="http://schemas.microsoft.com/office/drawing/2014/main" id="{E204E97E-8A84-487C-9985-516A00FC2EDB}"/>
              </a:ext>
            </a:extLst>
          </p:cNvPr>
          <p:cNvSpPr txBox="1">
            <a:spLocks noChangeArrowheads="1"/>
          </p:cNvSpPr>
          <p:nvPr/>
        </p:nvSpPr>
        <p:spPr bwMode="auto">
          <a:xfrm>
            <a:off x="5178972" y="3952904"/>
            <a:ext cx="11256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Network</a:t>
            </a:r>
          </a:p>
        </p:txBody>
      </p:sp>
      <p:sp>
        <p:nvSpPr>
          <p:cNvPr id="27" name="Text Box 14">
            <a:extLst>
              <a:ext uri="{FF2B5EF4-FFF2-40B4-BE49-F238E27FC236}">
                <a16:creationId xmlns:a16="http://schemas.microsoft.com/office/drawing/2014/main" id="{1E6E3D61-78BD-4DC7-BD27-1FB4D61AB2F4}"/>
              </a:ext>
            </a:extLst>
          </p:cNvPr>
          <p:cNvSpPr txBox="1">
            <a:spLocks noChangeArrowheads="1"/>
          </p:cNvSpPr>
          <p:nvPr/>
        </p:nvSpPr>
        <p:spPr bwMode="auto">
          <a:xfrm>
            <a:off x="5101227" y="3461294"/>
            <a:ext cx="12811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Transport</a:t>
            </a:r>
          </a:p>
        </p:txBody>
      </p:sp>
      <p:sp>
        <p:nvSpPr>
          <p:cNvPr id="28" name="Text Box 17">
            <a:extLst>
              <a:ext uri="{FF2B5EF4-FFF2-40B4-BE49-F238E27FC236}">
                <a16:creationId xmlns:a16="http://schemas.microsoft.com/office/drawing/2014/main" id="{B74C839B-DF39-4E9C-A3FE-0D48626B1F49}"/>
              </a:ext>
            </a:extLst>
          </p:cNvPr>
          <p:cNvSpPr txBox="1">
            <a:spLocks noChangeArrowheads="1"/>
          </p:cNvSpPr>
          <p:nvPr/>
        </p:nvSpPr>
        <p:spPr bwMode="auto">
          <a:xfrm>
            <a:off x="5084796" y="2991914"/>
            <a:ext cx="14414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Application</a:t>
            </a:r>
          </a:p>
        </p:txBody>
      </p:sp>
      <p:sp>
        <p:nvSpPr>
          <p:cNvPr id="2" name="矩形 1">
            <a:extLst>
              <a:ext uri="{FF2B5EF4-FFF2-40B4-BE49-F238E27FC236}">
                <a16:creationId xmlns:a16="http://schemas.microsoft.com/office/drawing/2014/main" id="{91FCD46A-8BD0-46C2-83B0-2C7078CBE77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Network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6AE84FDC-5C48-4E58-8DED-3280C240F46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 design </a:t>
            </a:r>
            <a:r>
              <a:rPr lang="en-US" altLang="zh-CN" sz="2800" b="1" kern="0" dirty="0">
                <a:solidFill>
                  <a:srgbClr val="C00000"/>
                </a:solidFill>
                <a:latin typeface="微软雅黑" panose="020B0503020204020204" pitchFamily="34" charset="-122"/>
                <a:ea typeface="微软雅黑" panose="020B0503020204020204" pitchFamily="34" charset="-122"/>
              </a:rPr>
              <a:t>i</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ssues: Introduction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Rectangle 3">
            <a:extLst>
              <a:ext uri="{FF2B5EF4-FFF2-40B4-BE49-F238E27FC236}">
                <a16:creationId xmlns:a16="http://schemas.microsoft.com/office/drawing/2014/main" id="{E067DE5F-1F86-4AED-B274-D3F0B03E31BB}"/>
              </a:ext>
            </a:extLst>
          </p:cNvPr>
          <p:cNvSpPr txBox="1">
            <a:spLocks noChangeArrowheads="1"/>
          </p:cNvSpPr>
          <p:nvPr/>
        </p:nvSpPr>
        <p:spPr>
          <a:xfrm>
            <a:off x="1147558" y="1256571"/>
            <a:ext cx="9317242" cy="43448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0000FF"/>
              </a:buClr>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2200" b="1" dirty="0"/>
              <a:t>Data link layer </a:t>
            </a:r>
            <a:r>
              <a:rPr lang="en-US" altLang="zh-CN" sz="2200" b="1" dirty="0" err="1"/>
              <a:t>v.s</a:t>
            </a:r>
            <a:r>
              <a:rPr lang="en-US" altLang="zh-CN" sz="2200" b="1" dirty="0"/>
              <a:t>. network layer</a:t>
            </a:r>
          </a:p>
          <a:p>
            <a:pPr lvl="1">
              <a:lnSpc>
                <a:spcPct val="100000"/>
              </a:lnSpc>
            </a:pPr>
            <a:r>
              <a:rPr lang="en-US" altLang="zh-CN" sz="2200" dirty="0"/>
              <a:t>Data link layer: to move frames from one end of a wire to the other. </a:t>
            </a:r>
          </a:p>
          <a:p>
            <a:pPr lvl="1">
              <a:lnSpc>
                <a:spcPct val="100000"/>
              </a:lnSpc>
            </a:pPr>
            <a:r>
              <a:rPr lang="en-US" altLang="zh-CN" sz="2200" dirty="0"/>
              <a:t>Network layer: to move packets from the source all the way to the destination. It deals with end-to-end transmissions. </a:t>
            </a:r>
          </a:p>
          <a:p>
            <a:pPr>
              <a:lnSpc>
                <a:spcPct val="100000"/>
              </a:lnSpc>
              <a:spcBef>
                <a:spcPts val="1800"/>
              </a:spcBef>
            </a:pPr>
            <a:r>
              <a:rPr lang="en-US" altLang="zh-CN" sz="2200" b="1" dirty="0"/>
              <a:t>Network layer</a:t>
            </a:r>
          </a:p>
          <a:p>
            <a:pPr lvl="1">
              <a:lnSpc>
                <a:spcPct val="100000"/>
              </a:lnSpc>
            </a:pPr>
            <a:r>
              <a:rPr lang="en-US" altLang="zh-CN" sz="2200" dirty="0"/>
              <a:t>Must know about the topology of the communication subnet and choose appropriate paths through it. </a:t>
            </a:r>
          </a:p>
          <a:p>
            <a:pPr lvl="1">
              <a:lnSpc>
                <a:spcPct val="100000"/>
              </a:lnSpc>
            </a:pPr>
            <a:r>
              <a:rPr lang="en-US" altLang="zh-CN" sz="2200" dirty="0"/>
              <a:t>Must choose routes to avoid overloading some of the communication lines and routers while leaving others idle. </a:t>
            </a:r>
          </a:p>
          <a:p>
            <a:pPr lvl="1">
              <a:lnSpc>
                <a:spcPct val="100000"/>
              </a:lnSpc>
            </a:pPr>
            <a:r>
              <a:rPr lang="en-US" altLang="zh-CN" sz="2200" dirty="0"/>
              <a:t>To deal with internetwork different networks. </a:t>
            </a:r>
          </a:p>
        </p:txBody>
      </p:sp>
    </p:spTree>
    <p:extLst>
      <p:ext uri="{BB962C8B-B14F-4D97-AF65-F5344CB8AC3E}">
        <p14:creationId xmlns:p14="http://schemas.microsoft.com/office/powerpoint/2010/main" val="2462679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2438400" y="1990725"/>
            <a:ext cx="7315200" cy="1873352"/>
          </a:xfrm>
        </p:spPr>
        <p:txBody>
          <a:bodyPr/>
          <a:lstStyle/>
          <a:p>
            <a:pPr lvl="1"/>
            <a:r>
              <a:rPr lang="en-US" altLang="zh-CN" dirty="0">
                <a:ea typeface="宋体" panose="02010600030101010101" pitchFamily="2" charset="-122"/>
              </a:rPr>
              <a:t>Store-and-forward packet switching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Connectionless service – datagrams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Connection-oriented service – virtual circuits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Comparison of virtual-circuits and datagrams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13316"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6AE84FDC-5C48-4E58-8DED-3280C240F46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Design Issues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4340" name="Rectangle 3"/>
          <p:cNvSpPr>
            <a:spLocks noGrp="1" noChangeArrowheads="1"/>
          </p:cNvSpPr>
          <p:nvPr>
            <p:ph idx="1"/>
          </p:nvPr>
        </p:nvSpPr>
        <p:spPr>
          <a:xfrm>
            <a:off x="406392" y="1186439"/>
            <a:ext cx="11379215" cy="1451814"/>
          </a:xfrm>
        </p:spPr>
        <p:txBody>
          <a:bodyPr>
            <a:normAutofit fontScale="85000" lnSpcReduction="10000"/>
          </a:bodyPr>
          <a:lstStyle/>
          <a:p>
            <a:pPr marL="457200" indent="-457200">
              <a:buFont typeface="Arial" panose="020B0604020202020204" pitchFamily="34" charset="0"/>
              <a:buChar char="•"/>
            </a:pPr>
            <a:r>
              <a:rPr lang="en-US" altLang="zh-CN" sz="2800" dirty="0"/>
              <a:t>A host with a packet to send transmits it to the nearest router.   The packet is received, verified, and stored. Then it is forwarded to the  next router. This step can be repeated many times.   Finally the packet reaches the destination host. </a:t>
            </a:r>
            <a:endParaRPr lang="zh-CN" altLang="en-US" sz="2800" dirty="0"/>
          </a:p>
          <a:p>
            <a:pPr marL="457200" indent="-457200">
              <a:buFont typeface="Arial" panose="020B0604020202020204" pitchFamily="34" charset="0"/>
              <a:buChar char="•"/>
            </a:pPr>
            <a:r>
              <a:rPr lang="en-US" altLang="zh-CN" u="sng" dirty="0">
                <a:ea typeface="宋体" panose="02010600030101010101" pitchFamily="2" charset="-122"/>
              </a:rPr>
              <a:t>Hosts</a:t>
            </a:r>
            <a:r>
              <a:rPr lang="en-US" altLang="zh-CN" dirty="0">
                <a:ea typeface="宋体" panose="02010600030101010101" pitchFamily="2" charset="-122"/>
              </a:rPr>
              <a:t> send </a:t>
            </a:r>
            <a:r>
              <a:rPr lang="en-US" altLang="zh-CN" u="sng" dirty="0">
                <a:ea typeface="宋体" panose="02010600030101010101" pitchFamily="2" charset="-122"/>
              </a:rPr>
              <a:t>packets</a:t>
            </a:r>
            <a:r>
              <a:rPr lang="en-US" altLang="zh-CN" dirty="0">
                <a:ea typeface="宋体" panose="02010600030101010101" pitchFamily="2" charset="-122"/>
              </a:rPr>
              <a:t> into the network; packets are </a:t>
            </a:r>
            <a:r>
              <a:rPr lang="en-US" altLang="zh-CN" u="sng" dirty="0">
                <a:ea typeface="宋体" panose="02010600030101010101" pitchFamily="2" charset="-122"/>
              </a:rPr>
              <a:t>forwarded</a:t>
            </a:r>
            <a:r>
              <a:rPr lang="en-US" altLang="zh-CN" dirty="0">
                <a:ea typeface="宋体" panose="02010600030101010101" pitchFamily="2" charset="-122"/>
              </a:rPr>
              <a:t> by </a:t>
            </a:r>
            <a:r>
              <a:rPr lang="en-US" altLang="zh-CN" u="sng" dirty="0">
                <a:ea typeface="宋体" panose="02010600030101010101" pitchFamily="2" charset="-122"/>
              </a:rPr>
              <a:t>routers</a:t>
            </a:r>
          </a:p>
        </p:txBody>
      </p:sp>
      <p:grpSp>
        <p:nvGrpSpPr>
          <p:cNvPr id="14341" name="Group 9"/>
          <p:cNvGrpSpPr>
            <a:grpSpLocks/>
          </p:cNvGrpSpPr>
          <p:nvPr/>
        </p:nvGrpSpPr>
        <p:grpSpPr bwMode="auto">
          <a:xfrm>
            <a:off x="2595791" y="2860942"/>
            <a:ext cx="7128388" cy="2572078"/>
            <a:chOff x="323850" y="1821555"/>
            <a:chExt cx="7918628" cy="3086100"/>
          </a:xfrm>
        </p:grpSpPr>
        <p:pic>
          <p:nvPicPr>
            <p:cNvPr id="14343" name="Picture 2"/>
            <p:cNvPicPr>
              <a:picLocks noChangeAspect="1" noChangeArrowheads="1"/>
            </p:cNvPicPr>
            <p:nvPr/>
          </p:nvPicPr>
          <p:blipFill>
            <a:blip r:embed="rId3">
              <a:extLst>
                <a:ext uri="{28A0092B-C50C-407E-A947-70E740481C1C}">
                  <a14:useLocalDpi xmlns:a14="http://schemas.microsoft.com/office/drawing/2010/main" val="0"/>
                </a:ext>
              </a:extLst>
            </a:blip>
            <a:srcRect r="6799"/>
            <a:stretch>
              <a:fillRect/>
            </a:stretch>
          </p:blipFill>
          <p:spPr bwMode="auto">
            <a:xfrm>
              <a:off x="323850" y="1821555"/>
              <a:ext cx="7918628"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TextBox 4"/>
            <p:cNvSpPr txBox="1">
              <a:spLocks noChangeArrowheads="1"/>
            </p:cNvSpPr>
            <p:nvPr/>
          </p:nvSpPr>
          <p:spPr bwMode="auto">
            <a:xfrm>
              <a:off x="5181600" y="1828800"/>
              <a:ext cx="2590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ISP’s equipment</a:t>
              </a:r>
            </a:p>
          </p:txBody>
        </p:sp>
      </p:grpSp>
      <p:sp>
        <p:nvSpPr>
          <p:cNvPr id="14342" name="矩形 1"/>
          <p:cNvSpPr>
            <a:spLocks noChangeArrowheads="1"/>
          </p:cNvSpPr>
          <p:nvPr/>
        </p:nvSpPr>
        <p:spPr bwMode="auto">
          <a:xfrm>
            <a:off x="504791" y="5433020"/>
            <a:ext cx="1131038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indent="0"/>
            <a:r>
              <a:rPr lang="en-US" altLang="zh-CN" b="1" dirty="0">
                <a:solidFill>
                  <a:srgbClr val="0000FF"/>
                </a:solidFill>
                <a:ea typeface="宋体" panose="02010600030101010101" pitchFamily="2" charset="-122"/>
              </a:rPr>
              <a:t>Packetizing</a:t>
            </a:r>
            <a:r>
              <a:rPr lang="zh-CN" altLang="en-US" b="1" dirty="0">
                <a:solidFill>
                  <a:srgbClr val="0000FF"/>
                </a:solidFill>
                <a:ea typeface="宋体" panose="02010600030101010101" pitchFamily="2" charset="-122"/>
              </a:rPr>
              <a:t>：</a:t>
            </a:r>
            <a:r>
              <a:rPr lang="en-US" altLang="zh-CN" dirty="0">
                <a:ea typeface="宋体" panose="02010600030101010101" pitchFamily="2" charset="-122"/>
              </a:rPr>
              <a:t>encapsulating the payload in a network-layer packet at the source and decapsulating the payload from the network-layer packet at the destination. </a:t>
            </a:r>
            <a:endParaRPr lang="en-US" altLang="zh-CN" b="1" dirty="0">
              <a:solidFill>
                <a:srgbClr val="0000FF"/>
              </a:solidFill>
              <a:ea typeface="宋体" panose="02010600030101010101" pitchFamily="2" charset="-122"/>
            </a:endParaRPr>
          </a:p>
          <a:p>
            <a:pPr marL="0" indent="0"/>
            <a:r>
              <a:rPr lang="en-US" altLang="zh-CN" b="1" dirty="0">
                <a:solidFill>
                  <a:srgbClr val="0000FF"/>
                </a:solidFill>
                <a:ea typeface="宋体" panose="02010600030101010101" pitchFamily="2" charset="-122"/>
              </a:rPr>
              <a:t>Routing and forwarding</a:t>
            </a:r>
          </a:p>
        </p:txBody>
      </p:sp>
      <p:sp>
        <p:nvSpPr>
          <p:cNvPr id="2" name="矩形 1">
            <a:extLst>
              <a:ext uri="{FF2B5EF4-FFF2-40B4-BE49-F238E27FC236}">
                <a16:creationId xmlns:a16="http://schemas.microsoft.com/office/drawing/2014/main" id="{D89EE5C0-DA35-4450-8466-F22B779FB42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Store-and-Forward Packet Switching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D89EE5C0-DA35-4450-8466-F22B779FB42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Services provided to the transport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1" name="Rectangle 3">
            <a:extLst>
              <a:ext uri="{FF2B5EF4-FFF2-40B4-BE49-F238E27FC236}">
                <a16:creationId xmlns:a16="http://schemas.microsoft.com/office/drawing/2014/main" id="{A8FFDCD2-5887-4F5C-AAF3-9D6BE73262E0}"/>
              </a:ext>
            </a:extLst>
          </p:cNvPr>
          <p:cNvSpPr txBox="1">
            <a:spLocks noChangeArrowheads="1"/>
          </p:cNvSpPr>
          <p:nvPr/>
        </p:nvSpPr>
        <p:spPr>
          <a:xfrm>
            <a:off x="737186" y="1682034"/>
            <a:ext cx="10845597" cy="296862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600" dirty="0"/>
              <a:t>Two-type of services:</a:t>
            </a:r>
          </a:p>
          <a:p>
            <a:pPr lvl="1"/>
            <a:endParaRPr lang="en-US" altLang="zh-CN" dirty="0">
              <a:solidFill>
                <a:srgbClr val="000099"/>
              </a:solidFill>
            </a:endParaRPr>
          </a:p>
          <a:p>
            <a:pPr lvl="1"/>
            <a:r>
              <a:rPr lang="en-US" altLang="zh-CN" dirty="0">
                <a:solidFill>
                  <a:srgbClr val="000099"/>
                </a:solidFill>
              </a:rPr>
              <a:t>Connection-less services: (</a:t>
            </a:r>
            <a:r>
              <a:rPr lang="en-US" altLang="zh-CN" dirty="0">
                <a:solidFill>
                  <a:srgbClr val="000099"/>
                </a:solidFill>
                <a:sym typeface="Wingdings" pitchFamily="2" charset="2"/>
              </a:rPr>
              <a:t>Datagram)</a:t>
            </a:r>
            <a:r>
              <a:rPr lang="en-US" altLang="zh-CN" dirty="0"/>
              <a:t> </a:t>
            </a:r>
          </a:p>
          <a:p>
            <a:pPr lvl="2"/>
            <a:r>
              <a:rPr lang="en-US" altLang="zh-CN" sz="2400" dirty="0"/>
              <a:t>30 years of experience with the computer network, unreliable internet, hosts doing error control and flow control </a:t>
            </a:r>
          </a:p>
          <a:p>
            <a:pPr lvl="1"/>
            <a:endParaRPr lang="en-US" altLang="zh-CN" dirty="0">
              <a:solidFill>
                <a:srgbClr val="000099"/>
              </a:solidFill>
            </a:endParaRPr>
          </a:p>
          <a:p>
            <a:pPr lvl="1"/>
            <a:r>
              <a:rPr lang="en-US" altLang="zh-CN" dirty="0">
                <a:solidFill>
                  <a:srgbClr val="000099"/>
                </a:solidFill>
              </a:rPr>
              <a:t>Connection-oriented services. (</a:t>
            </a:r>
            <a:r>
              <a:rPr lang="en-US" altLang="zh-CN" dirty="0">
                <a:solidFill>
                  <a:srgbClr val="000099"/>
                </a:solidFill>
                <a:sym typeface="Wingdings" pitchFamily="2" charset="2"/>
              </a:rPr>
              <a:t>Virtual Circuit)</a:t>
            </a:r>
            <a:r>
              <a:rPr lang="en-US" altLang="zh-CN" dirty="0">
                <a:solidFill>
                  <a:srgbClr val="000099"/>
                </a:solidFill>
              </a:rPr>
              <a:t> </a:t>
            </a:r>
          </a:p>
          <a:p>
            <a:pPr lvl="2"/>
            <a:r>
              <a:rPr lang="en-US" altLang="zh-CN" sz="2400" dirty="0"/>
              <a:t>100 years of experience with the worldwide telephone system, quality of service </a:t>
            </a:r>
          </a:p>
        </p:txBody>
      </p:sp>
      <p:pic>
        <p:nvPicPr>
          <p:cNvPr id="5" name="Picture 4">
            <a:extLst>
              <a:ext uri="{FF2B5EF4-FFF2-40B4-BE49-F238E27FC236}">
                <a16:creationId xmlns:a16="http://schemas.microsoft.com/office/drawing/2014/main" id="{B32BAB0A-0509-45FE-9162-13860B5AFC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2214" y="2006019"/>
            <a:ext cx="1123005" cy="811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5">
            <a:extLst>
              <a:ext uri="{FF2B5EF4-FFF2-40B4-BE49-F238E27FC236}">
                <a16:creationId xmlns:a16="http://schemas.microsoft.com/office/drawing/2014/main" id="{9AB599F7-F97F-46D7-A032-D10062FE3B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1098" y="4774335"/>
            <a:ext cx="1107408" cy="803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668812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44718" y="1166649"/>
            <a:ext cx="8702564" cy="4867275"/>
          </a:xfrm>
        </p:spPr>
        <p:txBody>
          <a:bodyPr/>
          <a:lstStyle/>
          <a:p>
            <a:pPr marL="342900" indent="-342900"/>
            <a:r>
              <a:rPr lang="en-US" altLang="zh-CN" dirty="0"/>
              <a:t>Connectionless service </a:t>
            </a:r>
          </a:p>
          <a:p>
            <a:pPr marL="800100" lvl="1" indent="-342900"/>
            <a:r>
              <a:rPr lang="en-US" altLang="zh-CN" sz="2000" dirty="0"/>
              <a:t>each packet is treated independently </a:t>
            </a:r>
          </a:p>
          <a:p>
            <a:pPr marL="800100" lvl="1" indent="-342900"/>
            <a:r>
              <a:rPr lang="en-US" altLang="zh-CN" sz="2000" dirty="0"/>
              <a:t>the network layer is only responsible for delivery of packets from the source to the destination</a:t>
            </a:r>
          </a:p>
          <a:p>
            <a:pPr marL="800100" lvl="1" indent="-342900"/>
            <a:r>
              <a:rPr lang="en-US" altLang="zh-CN" sz="2000" dirty="0"/>
              <a:t>the packets in a message may or may not travel the same path to their destination.</a:t>
            </a:r>
          </a:p>
          <a:p>
            <a:pPr marL="342900" indent="-342900"/>
            <a:r>
              <a:rPr lang="en-US" altLang="zh-CN" dirty="0"/>
              <a:t>Connection-oriented service </a:t>
            </a:r>
          </a:p>
          <a:p>
            <a:pPr marL="800100" lvl="1" indent="-342900"/>
            <a:r>
              <a:rPr lang="en-US" altLang="zh-CN" sz="2000" dirty="0"/>
              <a:t>Before all datagrams in a message can be sent, a virtual connection should be set up to define the path for the datagrams. </a:t>
            </a:r>
          </a:p>
          <a:p>
            <a:pPr marL="800100" lvl="1" indent="-342900"/>
            <a:r>
              <a:rPr lang="en-US" altLang="zh-CN" sz="2000" dirty="0"/>
              <a:t>After connection setup, the datagrams can all follow the same path. </a:t>
            </a:r>
          </a:p>
          <a:p>
            <a:pPr marL="800100" lvl="1" indent="-342900"/>
            <a:r>
              <a:rPr lang="en-US" altLang="zh-CN" sz="2000" dirty="0"/>
              <a:t>The packet contain the source and destination addresses, also a flow label, a virtual circuit identifier that defines the virtual path the packet should follow.</a:t>
            </a:r>
          </a:p>
        </p:txBody>
      </p:sp>
      <p:sp>
        <p:nvSpPr>
          <p:cNvPr id="4" name="页脚占位符 3"/>
          <p:cNvSpPr>
            <a:spLocks noGrp="1"/>
          </p:cNvSpPr>
          <p:nvPr>
            <p:ph type="ftr" sz="quarter" idx="11"/>
          </p:nvPr>
        </p:nvSpPr>
        <p:spPr/>
        <p:txBody>
          <a:bodyPr/>
          <a:lstStyle/>
          <a:p>
            <a:pPr>
              <a:defRPr/>
            </a:pPr>
            <a:r>
              <a:rPr lang="en-US" altLang="zh-CN"/>
              <a:t>Computer Networks, Chapter 5 The Network Layer</a:t>
            </a:r>
            <a:endParaRPr lang="en-US" altLang="zh-CN" i="0"/>
          </a:p>
        </p:txBody>
      </p:sp>
      <p:sp>
        <p:nvSpPr>
          <p:cNvPr id="2" name="矩形 1">
            <a:extLst>
              <a:ext uri="{FF2B5EF4-FFF2-40B4-BE49-F238E27FC236}">
                <a16:creationId xmlns:a16="http://schemas.microsoft.com/office/drawing/2014/main" id="{72905B85-28FB-4A05-B876-B62572C268C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Connectionless &amp; connection-oriented service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17241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ltLang="zh-CN"/>
              <a:t>Computer Networks, Chapter 5 The Network Layer</a:t>
            </a:r>
            <a:endParaRPr lang="en-US" altLang="zh-CN" i="0"/>
          </a:p>
        </p:txBody>
      </p:sp>
      <p:sp>
        <p:nvSpPr>
          <p:cNvPr id="2" name="矩形 1">
            <a:extLst>
              <a:ext uri="{FF2B5EF4-FFF2-40B4-BE49-F238E27FC236}">
                <a16:creationId xmlns:a16="http://schemas.microsoft.com/office/drawing/2014/main" id="{72905B85-28FB-4A05-B876-B62572C268C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Connectionless service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398D93A2-FEE1-4714-9773-8FA4416382D2}"/>
              </a:ext>
            </a:extLst>
          </p:cNvPr>
          <p:cNvPicPr>
            <a:picLocks noChangeAspect="1"/>
          </p:cNvPicPr>
          <p:nvPr/>
        </p:nvPicPr>
        <p:blipFill rotWithShape="1">
          <a:blip r:embed="rId2"/>
          <a:srcRect t="24821"/>
          <a:stretch/>
        </p:blipFill>
        <p:spPr>
          <a:xfrm>
            <a:off x="987642" y="1078702"/>
            <a:ext cx="9944100" cy="4998259"/>
          </a:xfrm>
          <a:prstGeom prst="rect">
            <a:avLst/>
          </a:prstGeom>
        </p:spPr>
      </p:pic>
    </p:spTree>
    <p:extLst>
      <p:ext uri="{BB962C8B-B14F-4D97-AF65-F5344CB8AC3E}">
        <p14:creationId xmlns:p14="http://schemas.microsoft.com/office/powerpoint/2010/main" val="4266157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715690" y="1074651"/>
            <a:ext cx="10382865" cy="1012824"/>
          </a:xfrm>
        </p:spPr>
        <p:txBody>
          <a:bodyPr/>
          <a:lstStyle/>
          <a:p>
            <a:r>
              <a:rPr lang="en-US" altLang="zh-CN" dirty="0">
                <a:ea typeface="宋体" panose="02010600030101010101" pitchFamily="2" charset="-122"/>
              </a:rPr>
              <a:t>Packet is forwarded using destination address inside it</a:t>
            </a:r>
          </a:p>
          <a:p>
            <a:pPr lvl="1"/>
            <a:r>
              <a:rPr lang="en-US" altLang="zh-CN" dirty="0">
                <a:ea typeface="宋体" panose="02010600030101010101" pitchFamily="2" charset="-122"/>
              </a:rPr>
              <a:t>Different packets may take different paths</a:t>
            </a:r>
          </a:p>
        </p:txBody>
      </p:sp>
      <p:sp>
        <p:nvSpPr>
          <p:cNvPr id="17412" name="Footer Placeholder 1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grpSp>
        <p:nvGrpSpPr>
          <p:cNvPr id="17413" name="Group 16"/>
          <p:cNvGrpSpPr>
            <a:grpSpLocks/>
          </p:cNvGrpSpPr>
          <p:nvPr/>
        </p:nvGrpSpPr>
        <p:grpSpPr bwMode="auto">
          <a:xfrm>
            <a:off x="2663825" y="2190750"/>
            <a:ext cx="7132638" cy="2503488"/>
            <a:chOff x="228600" y="1621671"/>
            <a:chExt cx="8277225" cy="2905125"/>
          </a:xfrm>
        </p:grpSpPr>
        <p:pic>
          <p:nvPicPr>
            <p:cNvPr id="174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21671"/>
              <a:ext cx="8277225"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4" name="TextBox 4"/>
            <p:cNvSpPr txBox="1">
              <a:spLocks noChangeArrowheads="1"/>
            </p:cNvSpPr>
            <p:nvPr/>
          </p:nvSpPr>
          <p:spPr bwMode="auto">
            <a:xfrm>
              <a:off x="5196627" y="1646640"/>
              <a:ext cx="2590800" cy="357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ISP’s equipment</a:t>
              </a:r>
            </a:p>
          </p:txBody>
        </p:sp>
      </p:grpSp>
      <p:grpSp>
        <p:nvGrpSpPr>
          <p:cNvPr id="17414" name="Group 15"/>
          <p:cNvGrpSpPr>
            <a:grpSpLocks/>
          </p:cNvGrpSpPr>
          <p:nvPr/>
        </p:nvGrpSpPr>
        <p:grpSpPr bwMode="auto">
          <a:xfrm>
            <a:off x="4002089" y="4691063"/>
            <a:ext cx="4695825" cy="1668462"/>
            <a:chOff x="1522413" y="4485521"/>
            <a:chExt cx="5638800" cy="2003425"/>
          </a:xfrm>
        </p:grpSpPr>
        <p:pic>
          <p:nvPicPr>
            <p:cNvPr id="17417" name="Picture 3"/>
            <p:cNvPicPr>
              <a:picLocks noChangeAspect="1" noChangeArrowheads="1"/>
            </p:cNvPicPr>
            <p:nvPr/>
          </p:nvPicPr>
          <p:blipFill>
            <a:blip r:embed="rId4">
              <a:extLst>
                <a:ext uri="{28A0092B-C50C-407E-A947-70E740481C1C}">
                  <a14:useLocalDpi xmlns:a14="http://schemas.microsoft.com/office/drawing/2010/main" val="0"/>
                </a:ext>
              </a:extLst>
            </a:blip>
            <a:srcRect t="1306"/>
            <a:stretch>
              <a:fillRect/>
            </a:stretch>
          </p:blipFill>
          <p:spPr bwMode="auto">
            <a:xfrm>
              <a:off x="1905000" y="4768096"/>
              <a:ext cx="4905375"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8" name="TextBox 6"/>
            <p:cNvSpPr txBox="1">
              <a:spLocks noChangeArrowheads="1"/>
            </p:cNvSpPr>
            <p:nvPr/>
          </p:nvSpPr>
          <p:spPr bwMode="auto">
            <a:xfrm>
              <a:off x="1522413" y="4485521"/>
              <a:ext cx="5638800" cy="332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200">
                  <a:ea typeface="宋体" panose="02010600030101010101" pitchFamily="2" charset="-122"/>
                </a:rPr>
                <a:t>A’s table (initially)     A’s table (later)    C’s Table          E’s Table</a:t>
              </a:r>
            </a:p>
          </p:txBody>
        </p:sp>
        <p:sp>
          <p:nvSpPr>
            <p:cNvPr id="17419" name="Rectangle 7"/>
            <p:cNvSpPr>
              <a:spLocks noChangeArrowheads="1"/>
            </p:cNvSpPr>
            <p:nvPr/>
          </p:nvSpPr>
          <p:spPr bwMode="auto">
            <a:xfrm>
              <a:off x="2514600" y="4822071"/>
              <a:ext cx="228600" cy="152400"/>
            </a:xfrm>
            <a:prstGeom prst="rect">
              <a:avLst/>
            </a:prstGeom>
            <a:solidFill>
              <a:schemeClr val="bg1"/>
            </a:solidFill>
            <a:ln w="9525" algn="ctr">
              <a:solidFill>
                <a:schemeClr val="bg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17420" name="Rectangle 8"/>
            <p:cNvSpPr>
              <a:spLocks noChangeArrowheads="1"/>
            </p:cNvSpPr>
            <p:nvPr/>
          </p:nvSpPr>
          <p:spPr bwMode="auto">
            <a:xfrm>
              <a:off x="3810000" y="4837946"/>
              <a:ext cx="152400" cy="152400"/>
            </a:xfrm>
            <a:prstGeom prst="rect">
              <a:avLst/>
            </a:prstGeom>
            <a:solidFill>
              <a:schemeClr val="bg1"/>
            </a:solidFill>
            <a:ln w="9525" algn="ctr">
              <a:solidFill>
                <a:schemeClr val="bg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17421" name="Rectangle 9"/>
            <p:cNvSpPr>
              <a:spLocks noChangeArrowheads="1"/>
            </p:cNvSpPr>
            <p:nvPr/>
          </p:nvSpPr>
          <p:spPr bwMode="auto">
            <a:xfrm>
              <a:off x="5097463" y="5258634"/>
              <a:ext cx="152400" cy="152400"/>
            </a:xfrm>
            <a:prstGeom prst="rect">
              <a:avLst/>
            </a:prstGeom>
            <a:solidFill>
              <a:schemeClr val="bg1"/>
            </a:solidFill>
            <a:ln w="9525" algn="ctr">
              <a:solidFill>
                <a:schemeClr val="bg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17422" name="Rectangle 10"/>
            <p:cNvSpPr>
              <a:spLocks noChangeArrowheads="1"/>
            </p:cNvSpPr>
            <p:nvPr/>
          </p:nvSpPr>
          <p:spPr bwMode="auto">
            <a:xfrm>
              <a:off x="6388100" y="5671384"/>
              <a:ext cx="152400" cy="152400"/>
            </a:xfrm>
            <a:prstGeom prst="rect">
              <a:avLst/>
            </a:prstGeom>
            <a:solidFill>
              <a:schemeClr val="bg1"/>
            </a:solidFill>
            <a:ln w="9525" algn="ctr">
              <a:solidFill>
                <a:schemeClr val="bg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5" name="Rectangle 9">
              <a:extLst>
                <a:ext uri="{FF2B5EF4-FFF2-40B4-BE49-F238E27FC236}">
                  <a16:creationId xmlns:a16="http://schemas.microsoft.com/office/drawing/2014/main" id="{1CC96F3A-F68D-4697-A553-75921038CAF2}"/>
                </a:ext>
              </a:extLst>
            </p:cNvPr>
            <p:cNvSpPr>
              <a:spLocks noChangeArrowheads="1"/>
            </p:cNvSpPr>
            <p:nvPr/>
          </p:nvSpPr>
          <p:spPr bwMode="auto">
            <a:xfrm>
              <a:off x="3780606" y="5664765"/>
              <a:ext cx="256199" cy="152399"/>
            </a:xfrm>
            <a:prstGeom prst="rect">
              <a:avLst/>
            </a:prstGeom>
            <a:solidFill>
              <a:schemeClr val="bg1"/>
            </a:solidFill>
            <a:ln w="9525" algn="ctr">
              <a:solidFill>
                <a:schemeClr val="bg1"/>
              </a:solidFill>
              <a:round/>
              <a:headEnd/>
              <a:tailEnd/>
            </a:ln>
          </p:spPr>
          <p:txBody>
            <a:bodyPr lIns="0" tIns="0" rIns="0" bIns="0"/>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200" dirty="0">
                  <a:ea typeface="宋体" panose="02010600030101010101" pitchFamily="2" charset="-122"/>
                </a:rPr>
                <a:t>B</a:t>
              </a:r>
            </a:p>
          </p:txBody>
        </p:sp>
        <p:sp>
          <p:nvSpPr>
            <p:cNvPr id="26" name="Rectangle 9">
              <a:extLst>
                <a:ext uri="{FF2B5EF4-FFF2-40B4-BE49-F238E27FC236}">
                  <a16:creationId xmlns:a16="http://schemas.microsoft.com/office/drawing/2014/main" id="{D77F990C-169F-4690-9A8F-06075A025CA6}"/>
                </a:ext>
              </a:extLst>
            </p:cNvPr>
            <p:cNvSpPr>
              <a:spLocks noChangeArrowheads="1"/>
            </p:cNvSpPr>
            <p:nvPr/>
          </p:nvSpPr>
          <p:spPr bwMode="auto">
            <a:xfrm>
              <a:off x="3780606" y="5871884"/>
              <a:ext cx="256199" cy="152399"/>
            </a:xfrm>
            <a:prstGeom prst="rect">
              <a:avLst/>
            </a:prstGeom>
            <a:solidFill>
              <a:schemeClr val="bg1"/>
            </a:solidFill>
            <a:ln w="9525" algn="ctr">
              <a:solidFill>
                <a:schemeClr val="bg1"/>
              </a:solidFill>
              <a:round/>
              <a:headEnd/>
              <a:tailEnd/>
            </a:ln>
          </p:spPr>
          <p:txBody>
            <a:bodyPr lIns="0" tIns="0" rIns="0" bIns="0"/>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200" dirty="0">
                  <a:ea typeface="宋体" panose="02010600030101010101" pitchFamily="2" charset="-122"/>
                </a:rPr>
                <a:t>B</a:t>
              </a:r>
            </a:p>
          </p:txBody>
        </p:sp>
      </p:grpSp>
      <p:sp>
        <p:nvSpPr>
          <p:cNvPr id="17415" name="Rectangle 24"/>
          <p:cNvSpPr>
            <a:spLocks noChangeArrowheads="1"/>
          </p:cNvSpPr>
          <p:nvPr/>
        </p:nvSpPr>
        <p:spPr bwMode="auto">
          <a:xfrm>
            <a:off x="4375151" y="6016625"/>
            <a:ext cx="836613" cy="304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nvGrpSpPr>
          <p:cNvPr id="21" name="Group 20"/>
          <p:cNvGrpSpPr/>
          <p:nvPr/>
        </p:nvGrpSpPr>
        <p:grpSpPr>
          <a:xfrm>
            <a:off x="4424511" y="5993300"/>
            <a:ext cx="1022555" cy="399123"/>
            <a:chOff x="5663374" y="5924472"/>
            <a:chExt cx="1022555" cy="399123"/>
          </a:xfrm>
          <a:noFill/>
        </p:grpSpPr>
        <p:sp>
          <p:nvSpPr>
            <p:cNvPr id="22" name="TextBox 7"/>
            <p:cNvSpPr txBox="1">
              <a:spLocks noChangeArrowheads="1"/>
            </p:cNvSpPr>
            <p:nvPr/>
          </p:nvSpPr>
          <p:spPr bwMode="auto">
            <a:xfrm>
              <a:off x="5663374" y="6031207"/>
              <a:ext cx="1022555" cy="292388"/>
            </a:xfrm>
            <a:prstGeom prst="rect">
              <a:avLst/>
            </a:prstGeom>
            <a:grpFill/>
            <a:ln w="9525">
              <a:noFill/>
              <a:miter lim="800000"/>
              <a:headEnd/>
              <a:tailEnd/>
            </a:ln>
          </p:spPr>
          <p:txBody>
            <a:bodyPr lIns="0" rIns="0">
              <a:spAutoFit/>
            </a:bodyPr>
            <a:lstStyle/>
            <a:p>
              <a:pPr eaLnBrk="1" hangingPunct="1">
                <a:defRPr/>
              </a:pPr>
              <a:r>
                <a:rPr lang="en-US" sz="1300" dirty="0" err="1">
                  <a:latin typeface="Arial" charset="0"/>
                  <a:cs typeface="Arial" charset="0"/>
                </a:rPr>
                <a:t>Dest</a:t>
              </a:r>
              <a:r>
                <a:rPr lang="en-US" sz="1300" dirty="0">
                  <a:latin typeface="Arial" charset="0"/>
                  <a:cs typeface="Arial" charset="0"/>
                </a:rPr>
                <a:t>. Line</a:t>
              </a:r>
            </a:p>
          </p:txBody>
        </p:sp>
        <p:sp>
          <p:nvSpPr>
            <p:cNvPr id="23" name="Right Brace 22"/>
            <p:cNvSpPr/>
            <p:nvPr/>
          </p:nvSpPr>
          <p:spPr bwMode="auto">
            <a:xfrm rot="5400000">
              <a:off x="5815781" y="5855109"/>
              <a:ext cx="117986" cy="285136"/>
            </a:xfrm>
            <a:prstGeom prst="rightBrace">
              <a:avLst/>
            </a:prstGeom>
            <a:grpFill/>
            <a:ln w="19050" cap="flat" cmpd="sng" algn="ctr">
              <a:solidFill>
                <a:schemeClr val="accent3">
                  <a:lumMod val="60000"/>
                  <a:lumOff val="40000"/>
                </a:schemeClr>
              </a:solidFill>
              <a:prstDash val="solid"/>
              <a:round/>
              <a:headEnd type="none" w="med" len="med"/>
              <a:tailEnd type="none" w="med" len="med"/>
            </a:ln>
            <a:effectLst/>
          </p:spPr>
          <p:txBody>
            <a:bodyPr/>
            <a:lstStyle/>
            <a:p>
              <a:pPr algn="ctr" eaLnBrk="1" hangingPunct="1">
                <a:defRPr/>
              </a:pPr>
              <a:endParaRPr lang="en-US">
                <a:latin typeface="Arial" charset="0"/>
                <a:cs typeface="Arial" charset="0"/>
              </a:endParaRPr>
            </a:p>
          </p:txBody>
        </p:sp>
        <p:sp>
          <p:nvSpPr>
            <p:cNvPr id="24" name="Right Brace 23"/>
            <p:cNvSpPr/>
            <p:nvPr/>
          </p:nvSpPr>
          <p:spPr bwMode="auto">
            <a:xfrm rot="5400000">
              <a:off x="6092291" y="5877371"/>
              <a:ext cx="161801" cy="256004"/>
            </a:xfrm>
            <a:prstGeom prst="rightBrace">
              <a:avLst/>
            </a:prstGeom>
            <a:grpFill/>
            <a:ln w="19050" cap="flat" cmpd="sng" algn="ctr">
              <a:solidFill>
                <a:schemeClr val="accent3">
                  <a:lumMod val="60000"/>
                  <a:lumOff val="40000"/>
                </a:schemeClr>
              </a:solidFill>
              <a:prstDash val="solid"/>
              <a:round/>
              <a:headEnd type="none" w="med" len="med"/>
              <a:tailEnd type="none" w="med" len="med"/>
            </a:ln>
            <a:effectLst/>
          </p:spPr>
          <p:txBody>
            <a:bodyPr/>
            <a:lstStyle/>
            <a:p>
              <a:pPr algn="ctr" eaLnBrk="1" hangingPunct="1">
                <a:defRPr/>
              </a:pPr>
              <a:endParaRPr lang="en-US">
                <a:latin typeface="Arial" charset="0"/>
                <a:cs typeface="Arial" charset="0"/>
              </a:endParaRPr>
            </a:p>
          </p:txBody>
        </p:sp>
      </p:grpSp>
      <p:sp>
        <p:nvSpPr>
          <p:cNvPr id="2" name="矩形 1">
            <a:extLst>
              <a:ext uri="{FF2B5EF4-FFF2-40B4-BE49-F238E27FC236}">
                <a16:creationId xmlns:a16="http://schemas.microsoft.com/office/drawing/2014/main" id="{75AEBCBD-626C-4A22-AB78-82F26F92D11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Connectionless Service – Datagrams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Footer Placeholder 1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75AEBCBD-626C-4A22-AB78-82F26F92D11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Delay in a connectionless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7" name="图片 26">
            <a:extLst>
              <a:ext uri="{FF2B5EF4-FFF2-40B4-BE49-F238E27FC236}">
                <a16:creationId xmlns:a16="http://schemas.microsoft.com/office/drawing/2014/main" id="{04360A5F-BA23-4DDD-BE18-807EB340ACAF}"/>
              </a:ext>
            </a:extLst>
          </p:cNvPr>
          <p:cNvPicPr>
            <a:picLocks noChangeAspect="1"/>
          </p:cNvPicPr>
          <p:nvPr/>
        </p:nvPicPr>
        <p:blipFill>
          <a:blip r:embed="rId3"/>
          <a:stretch>
            <a:fillRect/>
          </a:stretch>
        </p:blipFill>
        <p:spPr>
          <a:xfrm>
            <a:off x="1072805" y="1206106"/>
            <a:ext cx="10093046" cy="4961833"/>
          </a:xfrm>
          <a:prstGeom prst="rect">
            <a:avLst/>
          </a:prstGeom>
        </p:spPr>
      </p:pic>
      <p:sp>
        <p:nvSpPr>
          <p:cNvPr id="8" name="对话气泡: 矩形 7">
            <a:extLst>
              <a:ext uri="{FF2B5EF4-FFF2-40B4-BE49-F238E27FC236}">
                <a16:creationId xmlns:a16="http://schemas.microsoft.com/office/drawing/2014/main" id="{FB75EBDC-4292-4BEA-8D68-B62F68F6A526}"/>
              </a:ext>
            </a:extLst>
          </p:cNvPr>
          <p:cNvSpPr/>
          <p:nvPr/>
        </p:nvSpPr>
        <p:spPr>
          <a:xfrm>
            <a:off x="5276258" y="2061659"/>
            <a:ext cx="1965108" cy="1053823"/>
          </a:xfrm>
          <a:prstGeom prst="wedgeRectCallout">
            <a:avLst>
              <a:gd name="adj1" fmla="val -68555"/>
              <a:gd name="adj2" fmla="val 43413"/>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US" altLang="zh-CN" dirty="0">
                <a:solidFill>
                  <a:schemeClr val="bg1"/>
                </a:solidFill>
              </a:rPr>
              <a:t>Processing time+ transmission time+ queuing time</a:t>
            </a:r>
            <a:endParaRPr lang="zh-CN" altLang="en-US" dirty="0">
              <a:solidFill>
                <a:schemeClr val="bg1"/>
              </a:solidFill>
            </a:endParaRPr>
          </a:p>
        </p:txBody>
      </p:sp>
      <p:sp>
        <p:nvSpPr>
          <p:cNvPr id="9" name="对话气泡: 矩形 8">
            <a:extLst>
              <a:ext uri="{FF2B5EF4-FFF2-40B4-BE49-F238E27FC236}">
                <a16:creationId xmlns:a16="http://schemas.microsoft.com/office/drawing/2014/main" id="{D848E01E-4112-4CA2-94C6-C84910103D59}"/>
              </a:ext>
            </a:extLst>
          </p:cNvPr>
          <p:cNvSpPr/>
          <p:nvPr/>
        </p:nvSpPr>
        <p:spPr>
          <a:xfrm>
            <a:off x="2809306" y="3429000"/>
            <a:ext cx="1944361" cy="566888"/>
          </a:xfrm>
          <a:prstGeom prst="wedgeRectCallout">
            <a:avLst>
              <a:gd name="adj1" fmla="val -20976"/>
              <a:gd name="adj2" fmla="val -1654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Propagation time</a:t>
            </a:r>
            <a:endParaRPr lang="zh-CN" altLang="en-US" dirty="0"/>
          </a:p>
        </p:txBody>
      </p:sp>
    </p:spTree>
    <p:extLst>
      <p:ext uri="{BB962C8B-B14F-4D97-AF65-F5344CB8AC3E}">
        <p14:creationId xmlns:p14="http://schemas.microsoft.com/office/powerpoint/2010/main" val="250849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7886" y="4782113"/>
            <a:ext cx="6372225"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6685" y="1473763"/>
            <a:ext cx="2865438"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8885" y="2845363"/>
            <a:ext cx="2228850"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45085" y="2926327"/>
            <a:ext cx="2540000" cy="20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0685" y="3210488"/>
            <a:ext cx="12509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9485" y="3015226"/>
            <a:ext cx="1862138"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ACC2E026-EACE-4289-9D05-D401BBC4CD06}"/>
              </a:ext>
            </a:extLst>
          </p:cNvPr>
          <p:cNvSpPr/>
          <p:nvPr/>
        </p:nvSpPr>
        <p:spPr>
          <a:xfrm>
            <a:off x="301659" y="276094"/>
            <a:ext cx="11716652" cy="954107"/>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Forwarding process in a router when used in a connectionless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1149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subTnLst>
                                    <p:audio>
                                      <p:cMediaNode>
                                        <p:cTn display="0" masterRel="sameClick">
                                          <p:stCondLst>
                                            <p:cond evt="begin" delay="0">
                                              <p:tn val="18"/>
                                            </p:cond>
                                          </p:stCondLst>
                                          <p:endCondLst>
                                            <p:cond evt="onStopAudio" delay="0">
                                              <p:tgtEl>
                                                <p:sldTgt/>
                                              </p:tgtEl>
                                            </p:cond>
                                          </p:endCondLst>
                                        </p:cTn>
                                        <p:tgtEl>
                                          <p:sndTgt r:embed="rId2" name="bomb.wav"/>
                                        </p:tgtEl>
                                      </p:cMediaNode>
                                    </p:audio>
                                  </p:sub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2"/>
          <p:cNvSpPr>
            <a:spLocks noGrp="1"/>
          </p:cNvSpPr>
          <p:nvPr>
            <p:ph idx="1"/>
          </p:nvPr>
        </p:nvSpPr>
        <p:spPr>
          <a:xfrm>
            <a:off x="563655" y="903756"/>
            <a:ext cx="11183846" cy="1849301"/>
          </a:xfrm>
        </p:spPr>
        <p:txBody>
          <a:bodyPr>
            <a:normAutofit fontScale="55000" lnSpcReduction="20000"/>
          </a:bodyPr>
          <a:lstStyle/>
          <a:p>
            <a:pPr>
              <a:lnSpc>
                <a:spcPct val="120000"/>
              </a:lnSpc>
            </a:pPr>
            <a:r>
              <a:rPr lang="en-US" altLang="zh-CN" sz="3800" dirty="0">
                <a:ea typeface="宋体" panose="02010600030101010101" pitchFamily="2" charset="-122"/>
              </a:rPr>
              <a:t>Packet is forwarded along a virtual circuit using tag inside it</a:t>
            </a:r>
          </a:p>
          <a:p>
            <a:pPr lvl="1">
              <a:lnSpc>
                <a:spcPct val="120000"/>
              </a:lnSpc>
            </a:pPr>
            <a:r>
              <a:rPr lang="en-US" altLang="zh-CN" sz="3600" dirty="0">
                <a:ea typeface="宋体" panose="02010600030101010101" pitchFamily="2" charset="-122"/>
              </a:rPr>
              <a:t>Virtual circuit (VC) is set up ahead of time</a:t>
            </a:r>
          </a:p>
          <a:p>
            <a:pPr lvl="1">
              <a:lnSpc>
                <a:spcPct val="120000"/>
              </a:lnSpc>
            </a:pPr>
            <a:r>
              <a:rPr lang="en-US" altLang="zh-CN" sz="3600" dirty="0">
                <a:ea typeface="宋体" panose="02010600030101010101" pitchFamily="2" charset="-122"/>
              </a:rPr>
              <a:t>Every router on source-</a:t>
            </a:r>
            <a:r>
              <a:rPr lang="en-US" altLang="zh-CN" sz="3600" dirty="0" err="1">
                <a:ea typeface="宋体" panose="02010600030101010101" pitchFamily="2" charset="-122"/>
              </a:rPr>
              <a:t>dest</a:t>
            </a:r>
            <a:r>
              <a:rPr lang="en-US" altLang="zh-CN" sz="3600" dirty="0">
                <a:ea typeface="宋体" panose="02010600030101010101" pitchFamily="2" charset="-122"/>
              </a:rPr>
              <a:t> path maintains “state” for each passing connection</a:t>
            </a:r>
          </a:p>
          <a:p>
            <a:pPr lvl="1">
              <a:lnSpc>
                <a:spcPct val="120000"/>
              </a:lnSpc>
            </a:pPr>
            <a:r>
              <a:rPr lang="en-US" altLang="zh-CN" sz="3600" dirty="0">
                <a:ea typeface="宋体" panose="02010600030101010101" pitchFamily="2" charset="-122"/>
              </a:rPr>
              <a:t>Link, router resources (bandwidth, buffers) may be allocated to VC (dedicated resources = predictable service)</a:t>
            </a:r>
          </a:p>
          <a:p>
            <a:pPr>
              <a:lnSpc>
                <a:spcPct val="120000"/>
              </a:lnSpc>
            </a:pPr>
            <a:endParaRPr lang="en-US" altLang="zh-CN" dirty="0">
              <a:ea typeface="宋体" panose="02010600030101010101" pitchFamily="2" charset="-122"/>
            </a:endParaRPr>
          </a:p>
        </p:txBody>
      </p:sp>
      <p:sp>
        <p:nvSpPr>
          <p:cNvPr id="19460"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grpSp>
        <p:nvGrpSpPr>
          <p:cNvPr id="19461" name="Group 14"/>
          <p:cNvGrpSpPr>
            <a:grpSpLocks/>
          </p:cNvGrpSpPr>
          <p:nvPr/>
        </p:nvGrpSpPr>
        <p:grpSpPr bwMode="auto">
          <a:xfrm>
            <a:off x="2514599" y="2857500"/>
            <a:ext cx="7284573" cy="2367206"/>
            <a:chOff x="1179871" y="2016778"/>
            <a:chExt cx="7760929" cy="2907075"/>
          </a:xfrm>
        </p:grpSpPr>
        <p:pic>
          <p:nvPicPr>
            <p:cNvPr id="1946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9871" y="2016778"/>
              <a:ext cx="7760929" cy="290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9" name="TextBox 4"/>
            <p:cNvSpPr txBox="1">
              <a:spLocks noChangeArrowheads="1"/>
            </p:cNvSpPr>
            <p:nvPr/>
          </p:nvSpPr>
          <p:spPr bwMode="auto">
            <a:xfrm>
              <a:off x="5791354" y="2149055"/>
              <a:ext cx="2590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ISP’s equipment</a:t>
              </a:r>
            </a:p>
          </p:txBody>
        </p:sp>
      </p:grpSp>
      <p:grpSp>
        <p:nvGrpSpPr>
          <p:cNvPr id="19462" name="Group 15"/>
          <p:cNvGrpSpPr>
            <a:grpSpLocks/>
          </p:cNvGrpSpPr>
          <p:nvPr/>
        </p:nvGrpSpPr>
        <p:grpSpPr bwMode="auto">
          <a:xfrm>
            <a:off x="3241675" y="5146676"/>
            <a:ext cx="5695950" cy="1171575"/>
            <a:chOff x="1649413" y="5126638"/>
            <a:chExt cx="5695950" cy="1171987"/>
          </a:xfrm>
        </p:grpSpPr>
        <p:pic>
          <p:nvPicPr>
            <p:cNvPr id="1946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9413" y="5384225"/>
              <a:ext cx="56959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7" name="TextBox 7"/>
            <p:cNvSpPr txBox="1">
              <a:spLocks noChangeArrowheads="1"/>
            </p:cNvSpPr>
            <p:nvPr/>
          </p:nvSpPr>
          <p:spPr bwMode="auto">
            <a:xfrm>
              <a:off x="2122488" y="5126638"/>
              <a:ext cx="479942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300">
                  <a:ea typeface="宋体" panose="02010600030101010101" pitchFamily="2" charset="-122"/>
                </a:rPr>
                <a:t>A’s table                             C’s Table                          E’s Table</a:t>
              </a:r>
            </a:p>
          </p:txBody>
        </p:sp>
      </p:grpSp>
      <p:sp>
        <p:nvSpPr>
          <p:cNvPr id="19463" name="Rectangle 30"/>
          <p:cNvSpPr>
            <a:spLocks noChangeArrowheads="1"/>
          </p:cNvSpPr>
          <p:nvPr/>
        </p:nvSpPr>
        <p:spPr bwMode="auto">
          <a:xfrm>
            <a:off x="3186113" y="5899150"/>
            <a:ext cx="1700212" cy="4524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grpSp>
        <p:nvGrpSpPr>
          <p:cNvPr id="22" name="Group 21"/>
          <p:cNvGrpSpPr/>
          <p:nvPr/>
        </p:nvGrpSpPr>
        <p:grpSpPr>
          <a:xfrm>
            <a:off x="3097162" y="5903844"/>
            <a:ext cx="1022555" cy="390257"/>
            <a:chOff x="5447070" y="5933338"/>
            <a:chExt cx="1022555" cy="390257"/>
          </a:xfrm>
          <a:noFill/>
        </p:grpSpPr>
        <p:sp>
          <p:nvSpPr>
            <p:cNvPr id="19" name="TextBox 7"/>
            <p:cNvSpPr txBox="1">
              <a:spLocks noChangeArrowheads="1"/>
            </p:cNvSpPr>
            <p:nvPr/>
          </p:nvSpPr>
          <p:spPr bwMode="auto">
            <a:xfrm>
              <a:off x="5447070" y="6031207"/>
              <a:ext cx="1022555" cy="292388"/>
            </a:xfrm>
            <a:prstGeom prst="rect">
              <a:avLst/>
            </a:prstGeom>
            <a:grpFill/>
            <a:ln w="9525">
              <a:noFill/>
              <a:miter lim="800000"/>
              <a:headEnd/>
              <a:tailEnd/>
            </a:ln>
          </p:spPr>
          <p:txBody>
            <a:bodyPr lIns="0" rIns="0">
              <a:spAutoFit/>
            </a:bodyPr>
            <a:lstStyle/>
            <a:p>
              <a:pPr eaLnBrk="1" hangingPunct="1">
                <a:defRPr/>
              </a:pPr>
              <a:r>
                <a:rPr lang="en-US" sz="1300" dirty="0">
                  <a:latin typeface="Arial" charset="0"/>
                  <a:cs typeface="Arial" charset="0"/>
                </a:rPr>
                <a:t>In: Line  Tag</a:t>
              </a:r>
            </a:p>
          </p:txBody>
        </p:sp>
        <p:sp>
          <p:nvSpPr>
            <p:cNvPr id="20" name="Right Brace 19"/>
            <p:cNvSpPr/>
            <p:nvPr/>
          </p:nvSpPr>
          <p:spPr bwMode="auto">
            <a:xfrm rot="5400000">
              <a:off x="5788366" y="5837742"/>
              <a:ext cx="113502" cy="304694"/>
            </a:xfrm>
            <a:prstGeom prst="rightBrace">
              <a:avLst/>
            </a:prstGeom>
            <a:grpFill/>
            <a:ln w="19050" cap="flat" cmpd="sng" algn="ctr">
              <a:solidFill>
                <a:schemeClr val="accent3">
                  <a:lumMod val="60000"/>
                  <a:lumOff val="40000"/>
                </a:schemeClr>
              </a:solidFill>
              <a:prstDash val="solid"/>
              <a:round/>
              <a:headEnd type="none" w="med" len="med"/>
              <a:tailEnd type="none" w="med" len="med"/>
            </a:ln>
            <a:effectLst/>
          </p:spPr>
          <p:txBody>
            <a:bodyPr/>
            <a:lstStyle/>
            <a:p>
              <a:pPr algn="ctr" eaLnBrk="1" hangingPunct="1">
                <a:defRPr/>
              </a:pPr>
              <a:endParaRPr lang="en-US">
                <a:latin typeface="Arial" charset="0"/>
                <a:cs typeface="Arial" charset="0"/>
              </a:endParaRPr>
            </a:p>
          </p:txBody>
        </p:sp>
        <p:sp>
          <p:nvSpPr>
            <p:cNvPr id="21" name="Right Brace 20"/>
            <p:cNvSpPr/>
            <p:nvPr/>
          </p:nvSpPr>
          <p:spPr bwMode="auto">
            <a:xfrm rot="5400000">
              <a:off x="6171372" y="5807590"/>
              <a:ext cx="108156" cy="360520"/>
            </a:xfrm>
            <a:prstGeom prst="rightBrace">
              <a:avLst/>
            </a:prstGeom>
            <a:grpFill/>
            <a:ln w="19050" cap="flat" cmpd="sng" algn="ctr">
              <a:solidFill>
                <a:schemeClr val="accent3">
                  <a:lumMod val="60000"/>
                  <a:lumOff val="40000"/>
                </a:schemeClr>
              </a:solidFill>
              <a:prstDash val="solid"/>
              <a:round/>
              <a:headEnd type="none" w="med" len="med"/>
              <a:tailEnd type="none" w="med" len="med"/>
            </a:ln>
            <a:effectLst/>
          </p:spPr>
          <p:txBody>
            <a:bodyPr/>
            <a:lstStyle/>
            <a:p>
              <a:pPr algn="ctr" eaLnBrk="1" hangingPunct="1">
                <a:defRPr/>
              </a:pPr>
              <a:endParaRPr lang="en-US">
                <a:latin typeface="Arial" charset="0"/>
                <a:cs typeface="Arial" charset="0"/>
              </a:endParaRPr>
            </a:p>
          </p:txBody>
        </p:sp>
      </p:grpSp>
      <p:grpSp>
        <p:nvGrpSpPr>
          <p:cNvPr id="27" name="Group 26"/>
          <p:cNvGrpSpPr/>
          <p:nvPr/>
        </p:nvGrpSpPr>
        <p:grpSpPr>
          <a:xfrm>
            <a:off x="4137745" y="5913783"/>
            <a:ext cx="1211003" cy="332228"/>
            <a:chOff x="5656822" y="5938362"/>
            <a:chExt cx="1211003" cy="332228"/>
          </a:xfrm>
          <a:noFill/>
        </p:grpSpPr>
        <p:sp>
          <p:nvSpPr>
            <p:cNvPr id="28" name="TextBox 7"/>
            <p:cNvSpPr txBox="1">
              <a:spLocks noChangeArrowheads="1"/>
            </p:cNvSpPr>
            <p:nvPr/>
          </p:nvSpPr>
          <p:spPr bwMode="auto">
            <a:xfrm>
              <a:off x="5658457" y="6070535"/>
              <a:ext cx="1209368" cy="200055"/>
            </a:xfrm>
            <a:prstGeom prst="rect">
              <a:avLst/>
            </a:prstGeom>
            <a:grpFill/>
            <a:ln w="9525">
              <a:noFill/>
              <a:miter lim="800000"/>
              <a:headEnd/>
              <a:tailEnd/>
            </a:ln>
          </p:spPr>
          <p:txBody>
            <a:bodyPr lIns="0" tIns="0" rIns="0" bIns="0">
              <a:spAutoFit/>
            </a:bodyPr>
            <a:lstStyle/>
            <a:p>
              <a:pPr eaLnBrk="1" hangingPunct="1">
                <a:defRPr/>
              </a:pPr>
              <a:r>
                <a:rPr lang="en-US" sz="1300" dirty="0">
                  <a:latin typeface="Arial" charset="0"/>
                  <a:cs typeface="Arial" charset="0"/>
                </a:rPr>
                <a:t>Line  Tag: Out</a:t>
              </a:r>
            </a:p>
          </p:txBody>
        </p:sp>
        <p:sp>
          <p:nvSpPr>
            <p:cNvPr id="29" name="Right Brace 28"/>
            <p:cNvSpPr/>
            <p:nvPr/>
          </p:nvSpPr>
          <p:spPr bwMode="auto">
            <a:xfrm rot="5400000">
              <a:off x="5783004" y="5812502"/>
              <a:ext cx="108156" cy="360520"/>
            </a:xfrm>
            <a:prstGeom prst="rightBrace">
              <a:avLst/>
            </a:prstGeom>
            <a:grpFill/>
            <a:ln w="19050" cap="flat" cmpd="sng" algn="ctr">
              <a:solidFill>
                <a:schemeClr val="accent3">
                  <a:lumMod val="60000"/>
                  <a:lumOff val="40000"/>
                </a:schemeClr>
              </a:solidFill>
              <a:prstDash val="solid"/>
              <a:round/>
              <a:headEnd type="none" w="med" len="med"/>
              <a:tailEnd type="none" w="med" len="med"/>
            </a:ln>
            <a:effectLst/>
          </p:spPr>
          <p:txBody>
            <a:bodyPr/>
            <a:lstStyle/>
            <a:p>
              <a:pPr algn="ctr" eaLnBrk="1" hangingPunct="1">
                <a:defRPr/>
              </a:pPr>
              <a:endParaRPr lang="en-US">
                <a:latin typeface="Arial" charset="0"/>
                <a:cs typeface="Arial" charset="0"/>
              </a:endParaRPr>
            </a:p>
          </p:txBody>
        </p:sp>
        <p:sp>
          <p:nvSpPr>
            <p:cNvPr id="30" name="Right Brace 29"/>
            <p:cNvSpPr/>
            <p:nvPr/>
          </p:nvSpPr>
          <p:spPr bwMode="auto">
            <a:xfrm rot="5400000">
              <a:off x="6147216" y="5836336"/>
              <a:ext cx="103566" cy="307618"/>
            </a:xfrm>
            <a:prstGeom prst="rightBrace">
              <a:avLst/>
            </a:prstGeom>
            <a:grpFill/>
            <a:ln w="19050" cap="flat" cmpd="sng" algn="ctr">
              <a:solidFill>
                <a:schemeClr val="accent3">
                  <a:lumMod val="60000"/>
                  <a:lumOff val="40000"/>
                </a:schemeClr>
              </a:solidFill>
              <a:prstDash val="solid"/>
              <a:round/>
              <a:headEnd type="none" w="med" len="med"/>
              <a:tailEnd type="none" w="med" len="med"/>
            </a:ln>
            <a:effectLst/>
          </p:spPr>
          <p:txBody>
            <a:bodyPr/>
            <a:lstStyle/>
            <a:p>
              <a:pPr algn="ctr" eaLnBrk="1" hangingPunct="1">
                <a:defRPr/>
              </a:pPr>
              <a:endParaRPr lang="en-US">
                <a:latin typeface="Arial" charset="0"/>
                <a:cs typeface="Arial" charset="0"/>
              </a:endParaRPr>
            </a:p>
          </p:txBody>
        </p:sp>
      </p:grpSp>
      <p:sp>
        <p:nvSpPr>
          <p:cNvPr id="2" name="矩形 1">
            <a:extLst>
              <a:ext uri="{FF2B5EF4-FFF2-40B4-BE49-F238E27FC236}">
                <a16:creationId xmlns:a16="http://schemas.microsoft.com/office/drawing/2014/main" id="{923B17B4-E811-43EB-9BF1-24F1B15081D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Connection-Oriented – Virtual Circuits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Footer Placeholder 7"/>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923B17B4-E811-43EB-9BF1-24F1B15081D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Connection-Oriented Service – Packet Switching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DC28A150-B94A-401B-AFD6-49CE1D35E296}"/>
              </a:ext>
            </a:extLst>
          </p:cNvPr>
          <p:cNvPicPr>
            <a:picLocks noChangeAspect="1"/>
          </p:cNvPicPr>
          <p:nvPr/>
        </p:nvPicPr>
        <p:blipFill>
          <a:blip r:embed="rId3"/>
          <a:stretch>
            <a:fillRect/>
          </a:stretch>
        </p:blipFill>
        <p:spPr>
          <a:xfrm>
            <a:off x="1134895" y="985112"/>
            <a:ext cx="9087008" cy="5174671"/>
          </a:xfrm>
          <a:prstGeom prst="rect">
            <a:avLst/>
          </a:prstGeom>
        </p:spPr>
      </p:pic>
    </p:spTree>
    <p:extLst>
      <p:ext uri="{BB962C8B-B14F-4D97-AF65-F5344CB8AC3E}">
        <p14:creationId xmlns:p14="http://schemas.microsoft.com/office/powerpoint/2010/main" val="3493689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2514" y="2152650"/>
            <a:ext cx="2224087"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7014" y="4102100"/>
            <a:ext cx="6453187"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1" y="3814764"/>
            <a:ext cx="2468563"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0" y="3814764"/>
            <a:ext cx="252095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52851" y="3106739"/>
            <a:ext cx="1109663"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77088" y="3103563"/>
            <a:ext cx="823912"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8714" y="4203700"/>
            <a:ext cx="1106487"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32576" y="4206875"/>
            <a:ext cx="108902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B6DCE65-ADF5-47F2-8CC7-5EA95D2373B5}"/>
              </a:ext>
            </a:extLst>
          </p:cNvPr>
          <p:cNvSpPr/>
          <p:nvPr/>
        </p:nvSpPr>
        <p:spPr>
          <a:xfrm>
            <a:off x="301659" y="276094"/>
            <a:ext cx="11716652" cy="954107"/>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Forwarding process in a router when used in a virtual circuit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2818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1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80">
                                          <p:stCondLst>
                                            <p:cond delay="0"/>
                                          </p:stCondLst>
                                        </p:cTn>
                                        <p:tgtEl>
                                          <p:spTgt spid="11"/>
                                        </p:tgtEl>
                                      </p:cBhvr>
                                    </p:animEffect>
                                    <p:anim calcmode="lin" valueType="num">
                                      <p:cBhvr>
                                        <p:cTn id="2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9" dur="26">
                                          <p:stCondLst>
                                            <p:cond delay="650"/>
                                          </p:stCondLst>
                                        </p:cTn>
                                        <p:tgtEl>
                                          <p:spTgt spid="11"/>
                                        </p:tgtEl>
                                      </p:cBhvr>
                                      <p:to x="100000" y="60000"/>
                                    </p:animScale>
                                    <p:animScale>
                                      <p:cBhvr>
                                        <p:cTn id="30" dur="166" decel="50000">
                                          <p:stCondLst>
                                            <p:cond delay="676"/>
                                          </p:stCondLst>
                                        </p:cTn>
                                        <p:tgtEl>
                                          <p:spTgt spid="11"/>
                                        </p:tgtEl>
                                      </p:cBhvr>
                                      <p:to x="100000" y="100000"/>
                                    </p:animScale>
                                    <p:animScale>
                                      <p:cBhvr>
                                        <p:cTn id="31" dur="26">
                                          <p:stCondLst>
                                            <p:cond delay="1312"/>
                                          </p:stCondLst>
                                        </p:cTn>
                                        <p:tgtEl>
                                          <p:spTgt spid="11"/>
                                        </p:tgtEl>
                                      </p:cBhvr>
                                      <p:to x="100000" y="80000"/>
                                    </p:animScale>
                                    <p:animScale>
                                      <p:cBhvr>
                                        <p:cTn id="32" dur="166" decel="50000">
                                          <p:stCondLst>
                                            <p:cond delay="1338"/>
                                          </p:stCondLst>
                                        </p:cTn>
                                        <p:tgtEl>
                                          <p:spTgt spid="11"/>
                                        </p:tgtEl>
                                      </p:cBhvr>
                                      <p:to x="100000" y="100000"/>
                                    </p:animScale>
                                    <p:animScale>
                                      <p:cBhvr>
                                        <p:cTn id="33" dur="26">
                                          <p:stCondLst>
                                            <p:cond delay="1642"/>
                                          </p:stCondLst>
                                        </p:cTn>
                                        <p:tgtEl>
                                          <p:spTgt spid="11"/>
                                        </p:tgtEl>
                                      </p:cBhvr>
                                      <p:to x="100000" y="90000"/>
                                    </p:animScale>
                                    <p:animScale>
                                      <p:cBhvr>
                                        <p:cTn id="34" dur="166" decel="50000">
                                          <p:stCondLst>
                                            <p:cond delay="1668"/>
                                          </p:stCondLst>
                                        </p:cTn>
                                        <p:tgtEl>
                                          <p:spTgt spid="11"/>
                                        </p:tgtEl>
                                      </p:cBhvr>
                                      <p:to x="100000" y="100000"/>
                                    </p:animScale>
                                    <p:animScale>
                                      <p:cBhvr>
                                        <p:cTn id="35" dur="26">
                                          <p:stCondLst>
                                            <p:cond delay="1808"/>
                                          </p:stCondLst>
                                        </p:cTn>
                                        <p:tgtEl>
                                          <p:spTgt spid="11"/>
                                        </p:tgtEl>
                                      </p:cBhvr>
                                      <p:to x="100000" y="95000"/>
                                    </p:animScale>
                                    <p:animScale>
                                      <p:cBhvr>
                                        <p:cTn id="36" dur="166" decel="50000">
                                          <p:stCondLst>
                                            <p:cond delay="1834"/>
                                          </p:stCondLst>
                                        </p:cTn>
                                        <p:tgtEl>
                                          <p:spTgt spid="11"/>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left)">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p:cTn id="51" dur="500" fill="hold"/>
                                        <p:tgtEl>
                                          <p:spTgt spid="8"/>
                                        </p:tgtEl>
                                        <p:attrNameLst>
                                          <p:attrName>ppt_w</p:attrName>
                                        </p:attrNameLst>
                                      </p:cBhvr>
                                      <p:tavLst>
                                        <p:tav tm="0">
                                          <p:val>
                                            <p:fltVal val="0"/>
                                          </p:val>
                                        </p:tav>
                                        <p:tav tm="100000">
                                          <p:val>
                                            <p:strVal val="#ppt_w"/>
                                          </p:val>
                                        </p:tav>
                                      </p:tavLst>
                                    </p:anim>
                                    <p:anim calcmode="lin" valueType="num">
                                      <p:cBhvr>
                                        <p:cTn id="52" dur="500" fill="hold"/>
                                        <p:tgtEl>
                                          <p:spTgt spid="8"/>
                                        </p:tgtEl>
                                        <p:attrNameLst>
                                          <p:attrName>ppt_h</p:attrName>
                                        </p:attrNameLst>
                                      </p:cBhvr>
                                      <p:tavLst>
                                        <p:tav tm="0">
                                          <p:val>
                                            <p:fltVal val="0"/>
                                          </p:val>
                                        </p:tav>
                                        <p:tav tm="100000">
                                          <p:val>
                                            <p:strVal val="#ppt_h"/>
                                          </p:val>
                                        </p:tav>
                                      </p:tavLst>
                                    </p:anim>
                                    <p:animEffect transition="in" filter="fade">
                                      <p:cBhvr>
                                        <p:cTn id="53" dur="5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26" presetClass="entr" presetSubtype="0"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down)">
                                      <p:cBhvr>
                                        <p:cTn id="58" dur="580">
                                          <p:stCondLst>
                                            <p:cond delay="0"/>
                                          </p:stCondLst>
                                        </p:cTn>
                                        <p:tgtEl>
                                          <p:spTgt spid="12"/>
                                        </p:tgtEl>
                                      </p:cBhvr>
                                    </p:animEffect>
                                    <p:anim calcmode="lin" valueType="num">
                                      <p:cBhvr>
                                        <p:cTn id="59"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60"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61"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62"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63"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64" dur="26">
                                          <p:stCondLst>
                                            <p:cond delay="650"/>
                                          </p:stCondLst>
                                        </p:cTn>
                                        <p:tgtEl>
                                          <p:spTgt spid="12"/>
                                        </p:tgtEl>
                                      </p:cBhvr>
                                      <p:to x="100000" y="60000"/>
                                    </p:animScale>
                                    <p:animScale>
                                      <p:cBhvr>
                                        <p:cTn id="65" dur="166" decel="50000">
                                          <p:stCondLst>
                                            <p:cond delay="676"/>
                                          </p:stCondLst>
                                        </p:cTn>
                                        <p:tgtEl>
                                          <p:spTgt spid="12"/>
                                        </p:tgtEl>
                                      </p:cBhvr>
                                      <p:to x="100000" y="100000"/>
                                    </p:animScale>
                                    <p:animScale>
                                      <p:cBhvr>
                                        <p:cTn id="66" dur="26">
                                          <p:stCondLst>
                                            <p:cond delay="1312"/>
                                          </p:stCondLst>
                                        </p:cTn>
                                        <p:tgtEl>
                                          <p:spTgt spid="12"/>
                                        </p:tgtEl>
                                      </p:cBhvr>
                                      <p:to x="100000" y="80000"/>
                                    </p:animScale>
                                    <p:animScale>
                                      <p:cBhvr>
                                        <p:cTn id="67" dur="166" decel="50000">
                                          <p:stCondLst>
                                            <p:cond delay="1338"/>
                                          </p:stCondLst>
                                        </p:cTn>
                                        <p:tgtEl>
                                          <p:spTgt spid="12"/>
                                        </p:tgtEl>
                                      </p:cBhvr>
                                      <p:to x="100000" y="100000"/>
                                    </p:animScale>
                                    <p:animScale>
                                      <p:cBhvr>
                                        <p:cTn id="68" dur="26">
                                          <p:stCondLst>
                                            <p:cond delay="1642"/>
                                          </p:stCondLst>
                                        </p:cTn>
                                        <p:tgtEl>
                                          <p:spTgt spid="12"/>
                                        </p:tgtEl>
                                      </p:cBhvr>
                                      <p:to x="100000" y="90000"/>
                                    </p:animScale>
                                    <p:animScale>
                                      <p:cBhvr>
                                        <p:cTn id="69" dur="166" decel="50000">
                                          <p:stCondLst>
                                            <p:cond delay="1668"/>
                                          </p:stCondLst>
                                        </p:cTn>
                                        <p:tgtEl>
                                          <p:spTgt spid="12"/>
                                        </p:tgtEl>
                                      </p:cBhvr>
                                      <p:to x="100000" y="100000"/>
                                    </p:animScale>
                                    <p:animScale>
                                      <p:cBhvr>
                                        <p:cTn id="70" dur="26">
                                          <p:stCondLst>
                                            <p:cond delay="1808"/>
                                          </p:stCondLst>
                                        </p:cTn>
                                        <p:tgtEl>
                                          <p:spTgt spid="12"/>
                                        </p:tgtEl>
                                      </p:cBhvr>
                                      <p:to x="100000" y="95000"/>
                                    </p:animScale>
                                    <p:animScale>
                                      <p:cBhvr>
                                        <p:cTn id="71" dur="166" decel="50000">
                                          <p:stCondLst>
                                            <p:cond delay="1834"/>
                                          </p:stCondLst>
                                        </p:cTn>
                                        <p:tgtEl>
                                          <p:spTgt spid="1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grpSp>
        <p:nvGrpSpPr>
          <p:cNvPr id="5" name="Group 7"/>
          <p:cNvGrpSpPr>
            <a:grpSpLocks/>
          </p:cNvGrpSpPr>
          <p:nvPr/>
        </p:nvGrpSpPr>
        <p:grpSpPr bwMode="auto">
          <a:xfrm>
            <a:off x="2024173" y="2549525"/>
            <a:ext cx="7789862" cy="2463800"/>
            <a:chOff x="515333" y="2412935"/>
            <a:chExt cx="7790467" cy="2463865"/>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333" y="2412935"/>
              <a:ext cx="7790467" cy="2371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888" y="4652958"/>
              <a:ext cx="132712" cy="223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3036" y="1279526"/>
            <a:ext cx="2424113"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94236" y="3233739"/>
            <a:ext cx="333375"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1036" y="4419600"/>
            <a:ext cx="2193925" cy="15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54749" y="4030663"/>
            <a:ext cx="1258887"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78849" y="2846389"/>
            <a:ext cx="2211387"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2"/>
          <p:cNvGrpSpPr>
            <a:grpSpLocks/>
          </p:cNvGrpSpPr>
          <p:nvPr/>
        </p:nvGrpSpPr>
        <p:grpSpPr bwMode="auto">
          <a:xfrm>
            <a:off x="2498835" y="2763839"/>
            <a:ext cx="1828800" cy="346075"/>
            <a:chOff x="990600" y="2627100"/>
            <a:chExt cx="1828800" cy="346500"/>
          </a:xfrm>
        </p:grpSpPr>
        <p:pic>
          <p:nvPicPr>
            <p:cNvPr id="14" name="Picture 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90600" y="2743200"/>
              <a:ext cx="1828800" cy="12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17194" y="2627100"/>
              <a:ext cx="1098000" cy="3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 name="Group 3"/>
          <p:cNvGrpSpPr>
            <a:grpSpLocks/>
          </p:cNvGrpSpPr>
          <p:nvPr/>
        </p:nvGrpSpPr>
        <p:grpSpPr bwMode="auto">
          <a:xfrm>
            <a:off x="4129198" y="3043239"/>
            <a:ext cx="1096962" cy="1355725"/>
            <a:chOff x="2620500" y="2906150"/>
            <a:chExt cx="1098000" cy="1356750"/>
          </a:xfrm>
        </p:grpSpPr>
        <p:pic>
          <p:nvPicPr>
            <p:cNvPr id="17" name="Picture 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048000" y="2906150"/>
              <a:ext cx="121500" cy="135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0500" y="3411275"/>
              <a:ext cx="1098000" cy="3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35711" y="4362451"/>
            <a:ext cx="109696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4"/>
          <p:cNvGrpSpPr>
            <a:grpSpLocks/>
          </p:cNvGrpSpPr>
          <p:nvPr/>
        </p:nvGrpSpPr>
        <p:grpSpPr bwMode="auto">
          <a:xfrm>
            <a:off x="7604235" y="4362451"/>
            <a:ext cx="1828800" cy="346075"/>
            <a:chOff x="6095999" y="4225661"/>
            <a:chExt cx="1828800" cy="346500"/>
          </a:xfrm>
        </p:grpSpPr>
        <p:pic>
          <p:nvPicPr>
            <p:cNvPr id="21" name="Picture 10"/>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95999" y="4282800"/>
              <a:ext cx="1828800" cy="18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61399" y="4225661"/>
              <a:ext cx="1098000" cy="3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5635" y="1112839"/>
            <a:ext cx="20828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5160" y="4981575"/>
            <a:ext cx="2019300" cy="156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85035" y="4972050"/>
            <a:ext cx="20193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8"/>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10611" y="1169989"/>
            <a:ext cx="1947863" cy="88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D97CA422-8C34-4751-BCDF-E7DF9056311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Sending request packet in a virtual-circuit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9588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22" presetClass="entr" presetSubtype="8"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10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up)">
                                      <p:cBhvr>
                                        <p:cTn id="36" dur="20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up)">
                                      <p:cBhvr>
                                        <p:cTn id="52" dur="1250"/>
                                        <p:tgtEl>
                                          <p:spTgt spid="2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left)">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grpSp>
        <p:nvGrpSpPr>
          <p:cNvPr id="5" name="Group 1"/>
          <p:cNvGrpSpPr>
            <a:grpSpLocks/>
          </p:cNvGrpSpPr>
          <p:nvPr/>
        </p:nvGrpSpPr>
        <p:grpSpPr bwMode="auto">
          <a:xfrm>
            <a:off x="2133601" y="2603501"/>
            <a:ext cx="7789863" cy="2536825"/>
            <a:chOff x="533400" y="2428940"/>
            <a:chExt cx="7790467" cy="2536718"/>
          </a:xfrm>
        </p:grpSpPr>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428940"/>
              <a:ext cx="7790467" cy="2371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1724" y="4748034"/>
              <a:ext cx="129025"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Group 2"/>
          <p:cNvGrpSpPr>
            <a:grpSpLocks/>
          </p:cNvGrpSpPr>
          <p:nvPr/>
        </p:nvGrpSpPr>
        <p:grpSpPr bwMode="auto">
          <a:xfrm>
            <a:off x="2590800" y="2917825"/>
            <a:ext cx="7023100" cy="1752600"/>
            <a:chOff x="990600" y="2743200"/>
            <a:chExt cx="7023393" cy="1752600"/>
          </a:xfrm>
        </p:grpSpPr>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8040" y="4323036"/>
              <a:ext cx="2194560" cy="158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90600" y="2743200"/>
              <a:ext cx="1828800" cy="12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48000" y="2936395"/>
              <a:ext cx="121500" cy="135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85193" y="4312920"/>
              <a:ext cx="1828800" cy="18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 name="Picture 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40089" y="2833688"/>
            <a:ext cx="530225"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422776" y="3589338"/>
            <a:ext cx="530225"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711826" y="4449763"/>
            <a:ext cx="530225"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7"/>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434389" y="4416425"/>
            <a:ext cx="530225"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45426" y="2836863"/>
            <a:ext cx="2238375"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81638" y="4071937"/>
            <a:ext cx="1223962"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62401" y="3424237"/>
            <a:ext cx="365125"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81200" y="1317626"/>
            <a:ext cx="2446338" cy="134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2"/>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3792538" y="1262062"/>
            <a:ext cx="1846262"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3"/>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733800" y="5046663"/>
            <a:ext cx="1866900"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4"/>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6611938" y="5030787"/>
            <a:ext cx="1846262"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5"/>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001001" y="1143000"/>
            <a:ext cx="2360613"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B8116FFC-993D-4F58-871D-AE83EAE4113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Sending acknowledgments in a virtual-circuit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4658B3C7-8720-4ECE-8AA8-0EE9634004F0}"/>
              </a:ext>
            </a:extLst>
          </p:cNvPr>
          <p:cNvSpPr txBox="1"/>
          <p:nvPr/>
        </p:nvSpPr>
        <p:spPr>
          <a:xfrm>
            <a:off x="218003" y="4178384"/>
            <a:ext cx="2967257" cy="1323439"/>
          </a:xfrm>
          <a:prstGeom prst="rect">
            <a:avLst/>
          </a:prstGeom>
          <a:noFill/>
        </p:spPr>
        <p:txBody>
          <a:bodyPr wrap="square" rtlCol="0">
            <a:spAutoFit/>
          </a:bodyPr>
          <a:lstStyle/>
          <a:p>
            <a:r>
              <a:rPr lang="en-US" altLang="zh-CN" sz="2000" b="1" dirty="0">
                <a:solidFill>
                  <a:srgbClr val="C00000"/>
                </a:solidFill>
              </a:rPr>
              <a:t>The incoming label of the packet’s header is used as the outgoing label of next router.</a:t>
            </a:r>
            <a:endParaRPr lang="zh-CN" altLang="en-US" sz="2000" b="1" dirty="0">
              <a:solidFill>
                <a:srgbClr val="C00000"/>
              </a:solidFill>
            </a:endParaRPr>
          </a:p>
        </p:txBody>
      </p:sp>
    </p:spTree>
    <p:extLst>
      <p:ext uri="{BB962C8B-B14F-4D97-AF65-F5344CB8AC3E}">
        <p14:creationId xmlns:p14="http://schemas.microsoft.com/office/powerpoint/2010/main" val="244748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right)">
                                      <p:cBhvr>
                                        <p:cTn id="21" dur="1250"/>
                                        <p:tgtEl>
                                          <p:spTgt spid="17"/>
                                        </p:tgtEl>
                                      </p:cBhvr>
                                    </p:animEffect>
                                  </p:childTnLst>
                                </p:cTn>
                              </p:par>
                              <p:par>
                                <p:cTn id="22" presetID="1"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up)">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22" presetClass="entr" presetSubtype="2"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right)">
                                      <p:cBhvr>
                                        <p:cTn id="35" dur="12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up)">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22" presetClass="entr" presetSubtype="4" fill="hold"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down)">
                                      <p:cBhvr>
                                        <p:cTn id="47" dur="125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down)">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par>
                                <p:cTn id="57" presetID="22" presetClass="entr" presetSubtype="2"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wipe(right)">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grpSp>
        <p:nvGrpSpPr>
          <p:cNvPr id="5" name="Group 1"/>
          <p:cNvGrpSpPr>
            <a:grpSpLocks/>
          </p:cNvGrpSpPr>
          <p:nvPr/>
        </p:nvGrpSpPr>
        <p:grpSpPr bwMode="auto">
          <a:xfrm>
            <a:off x="1981201" y="2574925"/>
            <a:ext cx="7789863" cy="2536825"/>
            <a:chOff x="533400" y="2428940"/>
            <a:chExt cx="7790467" cy="2536718"/>
          </a:xfrm>
        </p:grpSpPr>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428940"/>
              <a:ext cx="7790467" cy="2371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1724" y="4748034"/>
              <a:ext cx="129025" cy="21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Group 2"/>
          <p:cNvGrpSpPr>
            <a:grpSpLocks/>
          </p:cNvGrpSpPr>
          <p:nvPr/>
        </p:nvGrpSpPr>
        <p:grpSpPr bwMode="auto">
          <a:xfrm>
            <a:off x="2438400" y="2889249"/>
            <a:ext cx="7023100" cy="1752600"/>
            <a:chOff x="990600" y="2743200"/>
            <a:chExt cx="7023393" cy="1752600"/>
          </a:xfrm>
        </p:grpSpPr>
        <p:pic>
          <p:nvPicPr>
            <p:cNvPr id="9"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8040" y="4323036"/>
              <a:ext cx="2194560" cy="158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0600" y="2743200"/>
              <a:ext cx="1828800" cy="12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48000" y="2936395"/>
              <a:ext cx="121500" cy="135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85193" y="4312920"/>
              <a:ext cx="1828800" cy="18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 name="Group 3"/>
          <p:cNvGrpSpPr>
            <a:grpSpLocks/>
          </p:cNvGrpSpPr>
          <p:nvPr/>
        </p:nvGrpSpPr>
        <p:grpSpPr bwMode="auto">
          <a:xfrm>
            <a:off x="3690939" y="1338263"/>
            <a:ext cx="4594225" cy="5019675"/>
            <a:chOff x="2243072" y="1191717"/>
            <a:chExt cx="4593684" cy="5020363"/>
          </a:xfrm>
        </p:grpSpPr>
        <p:pic>
          <p:nvPicPr>
            <p:cNvPr id="14"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243072" y="1191717"/>
              <a:ext cx="1731356" cy="1237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243072" y="4856846"/>
              <a:ext cx="1731356" cy="1340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105400" y="4856846"/>
              <a:ext cx="1731356" cy="1355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 name="Picture 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782764" y="1479549"/>
            <a:ext cx="179863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7"/>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8351838" y="3063875"/>
            <a:ext cx="1554162"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8"/>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38438" y="2736849"/>
            <a:ext cx="1223962"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9"/>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957638" y="3581399"/>
            <a:ext cx="1223962"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0"/>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330825" y="4394199"/>
            <a:ext cx="122555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1"/>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935913" y="4349750"/>
            <a:ext cx="12239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2"/>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3640138" y="3330575"/>
            <a:ext cx="93662"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3"/>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5448300" y="4167187"/>
            <a:ext cx="102870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4"/>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351838" y="1338263"/>
            <a:ext cx="1998662"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257A381F-A49E-4127-9E0F-F005DD83849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Flow of one packet in an established virtual circuit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0470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10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up)">
                                      <p:cBhvr>
                                        <p:cTn id="34" dur="20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left)">
                                      <p:cBhvr>
                                        <p:cTn id="43" dur="125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Footer Placeholder 11"/>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75AEBCBD-626C-4A22-AB78-82F26F92D11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Delay in a connection-oriented network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F680D104-1C50-4D5B-A584-812DCD877550}"/>
              </a:ext>
            </a:extLst>
          </p:cNvPr>
          <p:cNvPicPr>
            <a:picLocks noChangeAspect="1"/>
          </p:cNvPicPr>
          <p:nvPr/>
        </p:nvPicPr>
        <p:blipFill>
          <a:blip r:embed="rId3"/>
          <a:stretch>
            <a:fillRect/>
          </a:stretch>
        </p:blipFill>
        <p:spPr>
          <a:xfrm>
            <a:off x="1649244" y="968409"/>
            <a:ext cx="8572500" cy="5534025"/>
          </a:xfrm>
          <a:prstGeom prst="rect">
            <a:avLst/>
          </a:prstGeom>
        </p:spPr>
      </p:pic>
    </p:spTree>
    <p:extLst>
      <p:ext uri="{BB962C8B-B14F-4D97-AF65-F5344CB8AC3E}">
        <p14:creationId xmlns:p14="http://schemas.microsoft.com/office/powerpoint/2010/main" val="647551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1376" y="1170679"/>
            <a:ext cx="7880350" cy="482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CFE2C697-8CB6-49D1-BB28-0727C05D1C0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Comparison of Virtual-Circuits &amp; Datagrams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220" name="Subtitle 2"/>
          <p:cNvSpPr>
            <a:spLocks noGrp="1"/>
          </p:cNvSpPr>
          <p:nvPr>
            <p:ph idx="1"/>
          </p:nvPr>
        </p:nvSpPr>
        <p:spPr>
          <a:xfrm>
            <a:off x="2781300" y="1990725"/>
            <a:ext cx="6686550" cy="4019550"/>
          </a:xfrm>
        </p:spPr>
        <p:txBody>
          <a:bodyPr vert="horz" lIns="91440" tIns="45720" rIns="91440" bIns="45720" rtlCol="0">
            <a:normAutofit/>
          </a:bodyPr>
          <a:lstStyle/>
          <a:p>
            <a:pPr lvl="1"/>
            <a:r>
              <a:rPr lang="en-US" altLang="zh-CN" dirty="0"/>
              <a:t>Design Issues</a:t>
            </a:r>
          </a:p>
          <a:p>
            <a:pPr lvl="1"/>
            <a:r>
              <a:rPr lang="en-US" altLang="zh-CN" b="1" dirty="0">
                <a:solidFill>
                  <a:srgbClr val="C00000"/>
                </a:solidFill>
              </a:rPr>
              <a:t>Routing Algorithms</a:t>
            </a:r>
          </a:p>
          <a:p>
            <a:pPr lvl="1"/>
            <a:r>
              <a:rPr lang="en-US" altLang="zh-CN" dirty="0"/>
              <a:t>Congestion Control</a:t>
            </a:r>
          </a:p>
          <a:p>
            <a:pPr lvl="1"/>
            <a:r>
              <a:rPr lang="en-US" altLang="zh-CN" dirty="0"/>
              <a:t>Quality of Service</a:t>
            </a:r>
          </a:p>
          <a:p>
            <a:pPr lvl="1"/>
            <a:r>
              <a:rPr lang="en-US" altLang="zh-CN" dirty="0"/>
              <a:t>Internetworking</a:t>
            </a:r>
          </a:p>
          <a:p>
            <a:pPr lvl="1"/>
            <a:r>
              <a:rPr lang="en-US" altLang="zh-CN" dirty="0"/>
              <a:t>Network Layer of the Internet</a:t>
            </a:r>
          </a:p>
        </p:txBody>
      </p:sp>
      <p:sp>
        <p:nvSpPr>
          <p:cNvPr id="2" name="矩形 1">
            <a:extLst>
              <a:ext uri="{FF2B5EF4-FFF2-40B4-BE49-F238E27FC236}">
                <a16:creationId xmlns:a16="http://schemas.microsoft.com/office/drawing/2014/main" id="{B4980F9B-94EF-4944-9E61-6B0F74FFB2A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Chapter 5</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20702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2532" name="Rectangle 3"/>
          <p:cNvSpPr>
            <a:spLocks noGrp="1" noChangeArrowheads="1"/>
          </p:cNvSpPr>
          <p:nvPr>
            <p:ph idx="1"/>
          </p:nvPr>
        </p:nvSpPr>
        <p:spPr>
          <a:xfrm>
            <a:off x="2792413" y="1414464"/>
            <a:ext cx="7789862" cy="4598987"/>
          </a:xfrm>
        </p:spPr>
        <p:txBody>
          <a:bodyPr/>
          <a:lstStyle/>
          <a:p>
            <a:pPr lvl="1">
              <a:lnSpc>
                <a:spcPct val="90000"/>
              </a:lnSpc>
            </a:pPr>
            <a:r>
              <a:rPr lang="en-US" altLang="zh-CN" dirty="0">
                <a:ea typeface="宋体" panose="02010600030101010101" pitchFamily="2" charset="-122"/>
              </a:rPr>
              <a:t>Optimality principle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Shortest path algorithm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Flooding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Distance vector routing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Link state routing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ea typeface="宋体" panose="02010600030101010101" pitchFamily="2" charset="-122"/>
              </a:rPr>
              <a:t>Hierarchical routing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solidFill>
                  <a:srgbClr val="7F7F7F"/>
                </a:solidFill>
                <a:ea typeface="宋体" panose="02010600030101010101" pitchFamily="2" charset="-122"/>
              </a:rPr>
              <a:t>Broadcast routing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solidFill>
                  <a:srgbClr val="7F7F7F"/>
                </a:solidFill>
                <a:ea typeface="宋体" panose="02010600030101010101" pitchFamily="2" charset="-122"/>
              </a:rPr>
              <a:t>Multicast routing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solidFill>
                  <a:srgbClr val="7F7F7F"/>
                </a:solidFill>
                <a:ea typeface="宋体" panose="02010600030101010101" pitchFamily="2" charset="-122"/>
              </a:rPr>
              <a:t>Anycast routing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solidFill>
                  <a:srgbClr val="7F7F7F"/>
                </a:solidFill>
                <a:ea typeface="宋体" panose="02010600030101010101" pitchFamily="2" charset="-122"/>
              </a:rPr>
              <a:t>Routing for mobile hosts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lnSpc>
                <a:spcPct val="90000"/>
              </a:lnSpc>
            </a:pPr>
            <a:r>
              <a:rPr lang="en-US" altLang="zh-CN" dirty="0">
                <a:solidFill>
                  <a:srgbClr val="7F7F7F"/>
                </a:solidFill>
                <a:ea typeface="宋体" panose="02010600030101010101" pitchFamily="2" charset="-122"/>
              </a:rPr>
              <a:t>Routing in ad hoc networks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2" name="矩形 1">
            <a:extLst>
              <a:ext uri="{FF2B5EF4-FFF2-40B4-BE49-F238E27FC236}">
                <a16:creationId xmlns:a16="http://schemas.microsoft.com/office/drawing/2014/main" id="{475BE1B2-B233-45E6-AC66-683B1631CE7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Routing Algorithms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475BE1B2-B233-45E6-AC66-683B1631CE7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Routing Algorithms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 name="内容占位符 3">
            <a:extLst>
              <a:ext uri="{FF2B5EF4-FFF2-40B4-BE49-F238E27FC236}">
                <a16:creationId xmlns:a16="http://schemas.microsoft.com/office/drawing/2014/main" id="{86A06486-1BA2-4B1C-AF10-6C08CF64054D}"/>
              </a:ext>
            </a:extLst>
          </p:cNvPr>
          <p:cNvSpPr>
            <a:spLocks noGrp="1"/>
          </p:cNvSpPr>
          <p:nvPr>
            <p:ph idx="1"/>
          </p:nvPr>
        </p:nvSpPr>
        <p:spPr>
          <a:xfrm>
            <a:off x="489857" y="1610715"/>
            <a:ext cx="11116294" cy="3560000"/>
          </a:xfrm>
        </p:spPr>
        <p:txBody>
          <a:bodyPr/>
          <a:lstStyle/>
          <a:p>
            <a:pPr marL="457200" indent="-457200">
              <a:buFont typeface="Arial" panose="020B0604020202020204" pitchFamily="34" charset="0"/>
              <a:buChar char="•"/>
            </a:pPr>
            <a:r>
              <a:rPr lang="en-US" altLang="zh-CN" dirty="0"/>
              <a:t>In unicast routing, a packet is routed, hop by hop, from its source to its destination by the help of forwarding tables. </a:t>
            </a:r>
          </a:p>
          <a:p>
            <a:pPr marL="457200" indent="-457200">
              <a:buFont typeface="Arial" panose="020B0604020202020204" pitchFamily="34" charset="0"/>
              <a:buChar char="•"/>
            </a:pPr>
            <a:r>
              <a:rPr lang="en-US" altLang="zh-CN" dirty="0"/>
              <a:t>The source host needs no forwarding table because it delivers its packet to the default router in its local network. </a:t>
            </a:r>
          </a:p>
          <a:p>
            <a:pPr marL="457200" indent="-457200">
              <a:buFont typeface="Arial" panose="020B0604020202020204" pitchFamily="34" charset="0"/>
              <a:buChar char="•"/>
            </a:pPr>
            <a:r>
              <a:rPr lang="en-US" altLang="zh-CN" dirty="0"/>
              <a:t>The destination host needs no forwarding table either because it receives the packet from its default router in its local network. </a:t>
            </a:r>
          </a:p>
          <a:p>
            <a:pPr marL="457200" indent="-457200">
              <a:buFont typeface="Arial" panose="020B0604020202020204" pitchFamily="34" charset="0"/>
              <a:buChar char="•"/>
            </a:pPr>
            <a:r>
              <a:rPr lang="en-US" altLang="zh-CN" dirty="0"/>
              <a:t>Only the routers that glue together the networks in the internet need forwarding tables. </a:t>
            </a:r>
          </a:p>
        </p:txBody>
      </p:sp>
    </p:spTree>
    <p:extLst>
      <p:ext uri="{BB962C8B-B14F-4D97-AF65-F5344CB8AC3E}">
        <p14:creationId xmlns:p14="http://schemas.microsoft.com/office/powerpoint/2010/main" val="3891918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1052052" y="1143001"/>
            <a:ext cx="10137058" cy="5129980"/>
          </a:xfrm>
        </p:spPr>
        <p:txBody>
          <a:bodyPr>
            <a:normAutofit fontScale="92500" lnSpcReduction="10000"/>
          </a:bodyPr>
          <a:lstStyle/>
          <a:p>
            <a:r>
              <a:rPr lang="en-US" altLang="zh-CN" u="sng" dirty="0">
                <a:ea typeface="宋体" panose="02010600030101010101" pitchFamily="2" charset="-122"/>
              </a:rPr>
              <a:t>Routing</a:t>
            </a:r>
            <a:r>
              <a:rPr lang="en-US" altLang="zh-CN" dirty="0">
                <a:ea typeface="宋体" panose="02010600030101010101" pitchFamily="2" charset="-122"/>
              </a:rPr>
              <a:t> is the process of discovering network paths</a:t>
            </a:r>
          </a:p>
          <a:p>
            <a:pPr lvl="1"/>
            <a:r>
              <a:rPr lang="en-US" altLang="zh-CN" dirty="0">
                <a:ea typeface="宋体" panose="02010600030101010101" pitchFamily="2" charset="-122"/>
              </a:rPr>
              <a:t>Model the network as a graph of nodes and links</a:t>
            </a:r>
          </a:p>
          <a:p>
            <a:pPr lvl="1"/>
            <a:r>
              <a:rPr lang="en-US" altLang="zh-CN" dirty="0">
                <a:ea typeface="宋体" panose="02010600030101010101" pitchFamily="2" charset="-122"/>
              </a:rPr>
              <a:t>Decide what to optimize (e.g., fairness vs efficiency)</a:t>
            </a:r>
          </a:p>
          <a:p>
            <a:pPr lvl="1"/>
            <a:r>
              <a:rPr lang="en-US" altLang="zh-CN" dirty="0">
                <a:ea typeface="宋体" panose="02010600030101010101" pitchFamily="2" charset="-122"/>
              </a:rPr>
              <a:t>Update routes for changes in topology (e.g., failures)</a:t>
            </a:r>
          </a:p>
          <a:p>
            <a:pPr lvl="1"/>
            <a:endParaRPr lang="en-US" altLang="zh-CN" dirty="0">
              <a:ea typeface="宋体" panose="02010600030101010101" pitchFamily="2" charset="-122"/>
            </a:endParaRPr>
          </a:p>
          <a:p>
            <a:pPr lvl="1"/>
            <a:endParaRPr lang="en-US" altLang="zh-CN" dirty="0">
              <a:ea typeface="宋体" panose="02010600030101010101" pitchFamily="2" charset="-122"/>
            </a:endParaRPr>
          </a:p>
          <a:p>
            <a:pPr lvl="1"/>
            <a:endParaRPr lang="en-US" altLang="zh-CN" dirty="0">
              <a:ea typeface="宋体" panose="02010600030101010101" pitchFamily="2" charset="-122"/>
            </a:endParaRPr>
          </a:p>
          <a:p>
            <a:pPr lvl="1"/>
            <a:endParaRPr lang="en-US" altLang="zh-CN" dirty="0">
              <a:ea typeface="宋体" panose="02010600030101010101" pitchFamily="2" charset="-122"/>
            </a:endParaRPr>
          </a:p>
          <a:p>
            <a:pPr lvl="1"/>
            <a:endParaRPr lang="en-US" altLang="zh-CN" dirty="0">
              <a:ea typeface="宋体" panose="02010600030101010101" pitchFamily="2" charset="-122"/>
            </a:endParaRPr>
          </a:p>
          <a:p>
            <a:endParaRPr lang="en-US" altLang="zh-CN" u="sng" dirty="0">
              <a:ea typeface="宋体" panose="02010600030101010101" pitchFamily="2" charset="-122"/>
            </a:endParaRPr>
          </a:p>
          <a:p>
            <a:endParaRPr lang="en-US" altLang="zh-CN" u="sng" dirty="0">
              <a:ea typeface="宋体" panose="02010600030101010101" pitchFamily="2" charset="-122"/>
            </a:endParaRPr>
          </a:p>
          <a:p>
            <a:r>
              <a:rPr lang="en-US" altLang="zh-CN" u="sng" dirty="0">
                <a:ea typeface="宋体" panose="02010600030101010101" pitchFamily="2" charset="-122"/>
              </a:rPr>
              <a:t>Forwarding</a:t>
            </a:r>
            <a:r>
              <a:rPr lang="en-US" altLang="zh-CN" dirty="0">
                <a:ea typeface="宋体" panose="02010600030101010101" pitchFamily="2" charset="-122"/>
              </a:rPr>
              <a:t> is the sending of packets along a path</a:t>
            </a:r>
          </a:p>
          <a:p>
            <a:pPr lvl="1"/>
            <a:r>
              <a:rPr lang="en-US" altLang="zh-CN" dirty="0">
                <a:ea typeface="宋体" panose="02010600030101010101" pitchFamily="2" charset="-122"/>
              </a:rPr>
              <a:t>Handles each packet as it arrives</a:t>
            </a:r>
          </a:p>
          <a:p>
            <a:pPr lvl="1"/>
            <a:r>
              <a:rPr lang="en-US" altLang="zh-CN" dirty="0">
                <a:ea typeface="宋体" panose="02010600030101010101" pitchFamily="2" charset="-122"/>
              </a:rPr>
              <a:t>Looking up the outgoing line to use for it in the routing tables. </a:t>
            </a:r>
          </a:p>
        </p:txBody>
      </p:sp>
      <p:sp>
        <p:nvSpPr>
          <p:cNvPr id="24580"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grpSp>
        <p:nvGrpSpPr>
          <p:cNvPr id="24581" name="Group 15"/>
          <p:cNvGrpSpPr>
            <a:grpSpLocks/>
          </p:cNvGrpSpPr>
          <p:nvPr/>
        </p:nvGrpSpPr>
        <p:grpSpPr bwMode="auto">
          <a:xfrm>
            <a:off x="1710929" y="2768839"/>
            <a:ext cx="6135687" cy="2103438"/>
            <a:chOff x="1376508" y="3126659"/>
            <a:chExt cx="6135329" cy="2104103"/>
          </a:xfrm>
        </p:grpSpPr>
        <p:pic>
          <p:nvPicPr>
            <p:cNvPr id="24582" name="Picture 2"/>
            <p:cNvPicPr>
              <a:picLocks noChangeAspect="1" noChangeArrowheads="1"/>
            </p:cNvPicPr>
            <p:nvPr/>
          </p:nvPicPr>
          <p:blipFill>
            <a:blip r:embed="rId3">
              <a:extLst>
                <a:ext uri="{28A0092B-C50C-407E-A947-70E740481C1C}">
                  <a14:useLocalDpi xmlns:a14="http://schemas.microsoft.com/office/drawing/2010/main" val="0"/>
                </a:ext>
              </a:extLst>
            </a:blip>
            <a:srcRect l="1251" t="4680" r="1175" b="4147"/>
            <a:stretch>
              <a:fillRect/>
            </a:stretch>
          </p:blipFill>
          <p:spPr bwMode="auto">
            <a:xfrm>
              <a:off x="1376508" y="3126659"/>
              <a:ext cx="6135329" cy="2104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Arrow Connector 9"/>
            <p:cNvCxnSpPr/>
            <p:nvPr/>
          </p:nvCxnSpPr>
          <p:spPr bwMode="auto">
            <a:xfrm>
              <a:off x="2281330" y="4287489"/>
              <a:ext cx="4257427" cy="1588"/>
            </a:xfrm>
            <a:prstGeom prst="straightConnector1">
              <a:avLst/>
            </a:prstGeom>
            <a:solidFill>
              <a:schemeClr val="accent1"/>
            </a:solidFill>
            <a:ln w="19050" cap="flat" cmpd="sng" algn="ctr">
              <a:solidFill>
                <a:schemeClr val="accent3">
                  <a:lumMod val="60000"/>
                  <a:lumOff val="40000"/>
                </a:schemeClr>
              </a:solidFill>
              <a:prstDash val="solid"/>
              <a:round/>
              <a:headEnd type="none" w="med" len="med"/>
              <a:tailEnd type="arrow"/>
            </a:ln>
            <a:effectLst/>
          </p:spPr>
        </p:cxnSp>
        <p:sp>
          <p:nvSpPr>
            <p:cNvPr id="11" name="Freeform 10"/>
            <p:cNvSpPr/>
            <p:nvPr/>
          </p:nvSpPr>
          <p:spPr bwMode="auto">
            <a:xfrm>
              <a:off x="2841685" y="3687224"/>
              <a:ext cx="274622" cy="982973"/>
            </a:xfrm>
            <a:custGeom>
              <a:avLst/>
              <a:gdLst>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Lst>
              <a:ahLst/>
              <a:cxnLst>
                <a:cxn ang="0">
                  <a:pos x="connsiteX0" y="connsiteY0"/>
                </a:cxn>
                <a:cxn ang="0">
                  <a:pos x="connsiteX1" y="connsiteY1"/>
                </a:cxn>
                <a:cxn ang="0">
                  <a:pos x="connsiteX2" y="connsiteY2"/>
                </a:cxn>
                <a:cxn ang="0">
                  <a:pos x="connsiteX3" y="connsiteY3"/>
                </a:cxn>
              </a:cxnLst>
              <a:rect l="l" t="t" r="r" b="b"/>
              <a:pathLst>
                <a:path w="275303" h="983226">
                  <a:moveTo>
                    <a:pt x="0" y="0"/>
                  </a:moveTo>
                  <a:lnTo>
                    <a:pt x="0" y="383458"/>
                  </a:lnTo>
                  <a:lnTo>
                    <a:pt x="275303" y="383458"/>
                  </a:lnTo>
                  <a:lnTo>
                    <a:pt x="275303" y="983226"/>
                  </a:lnTo>
                </a:path>
              </a:pathLst>
            </a:custGeom>
            <a:solidFill>
              <a:schemeClr val="bg1"/>
            </a:solidFill>
            <a:ln w="19050" cap="flat" cmpd="sng" algn="ctr">
              <a:solidFill>
                <a:schemeClr val="accent3">
                  <a:lumMod val="60000"/>
                  <a:lumOff val="40000"/>
                </a:schemeClr>
              </a:solidFill>
              <a:prstDash val="solid"/>
              <a:round/>
              <a:headEnd type="none" w="med" len="med"/>
              <a:tailEnd type="arrow" w="med" len="med"/>
            </a:ln>
            <a:effectLst/>
          </p:spPr>
          <p:txBody>
            <a:bodyPr/>
            <a:lstStyle/>
            <a:p>
              <a:pPr algn="ctr" eaLnBrk="1" hangingPunct="1">
                <a:defRPr/>
              </a:pPr>
              <a:endParaRPr lang="en-US">
                <a:latin typeface="Arial" charset="0"/>
                <a:cs typeface="Arial" charset="0"/>
              </a:endParaRPr>
            </a:p>
          </p:txBody>
        </p:sp>
        <p:sp>
          <p:nvSpPr>
            <p:cNvPr id="12" name="Freeform 11"/>
            <p:cNvSpPr/>
            <p:nvPr/>
          </p:nvSpPr>
          <p:spPr bwMode="auto">
            <a:xfrm>
              <a:off x="5638696" y="3682460"/>
              <a:ext cx="274622" cy="982974"/>
            </a:xfrm>
            <a:custGeom>
              <a:avLst/>
              <a:gdLst>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Lst>
              <a:ahLst/>
              <a:cxnLst>
                <a:cxn ang="0">
                  <a:pos x="connsiteX0" y="connsiteY0"/>
                </a:cxn>
                <a:cxn ang="0">
                  <a:pos x="connsiteX1" y="connsiteY1"/>
                </a:cxn>
                <a:cxn ang="0">
                  <a:pos x="connsiteX2" y="connsiteY2"/>
                </a:cxn>
                <a:cxn ang="0">
                  <a:pos x="connsiteX3" y="connsiteY3"/>
                </a:cxn>
              </a:cxnLst>
              <a:rect l="l" t="t" r="r" b="b"/>
              <a:pathLst>
                <a:path w="275303" h="983226">
                  <a:moveTo>
                    <a:pt x="0" y="0"/>
                  </a:moveTo>
                  <a:lnTo>
                    <a:pt x="0" y="383458"/>
                  </a:lnTo>
                  <a:lnTo>
                    <a:pt x="275303" y="383458"/>
                  </a:lnTo>
                  <a:lnTo>
                    <a:pt x="275303" y="983226"/>
                  </a:lnTo>
                </a:path>
              </a:pathLst>
            </a:custGeom>
            <a:solidFill>
              <a:schemeClr val="bg1"/>
            </a:solidFill>
            <a:ln w="19050" cap="flat" cmpd="sng" algn="ctr">
              <a:solidFill>
                <a:schemeClr val="accent3">
                  <a:lumMod val="60000"/>
                  <a:lumOff val="40000"/>
                </a:schemeClr>
              </a:solidFill>
              <a:prstDash val="solid"/>
              <a:round/>
              <a:headEnd type="none" w="med" len="med"/>
              <a:tailEnd type="arrow" w="med" len="med"/>
            </a:ln>
            <a:effectLst/>
          </p:spPr>
          <p:txBody>
            <a:bodyPr/>
            <a:lstStyle/>
            <a:p>
              <a:pPr algn="ctr" eaLnBrk="1" hangingPunct="1">
                <a:defRPr/>
              </a:pPr>
              <a:endParaRPr lang="en-US">
                <a:latin typeface="Arial" charset="0"/>
                <a:cs typeface="Arial" charset="0"/>
              </a:endParaRPr>
            </a:p>
          </p:txBody>
        </p:sp>
        <p:sp>
          <p:nvSpPr>
            <p:cNvPr id="13" name="Freeform 12"/>
            <p:cNvSpPr/>
            <p:nvPr/>
          </p:nvSpPr>
          <p:spPr bwMode="auto">
            <a:xfrm>
              <a:off x="4297338" y="3687224"/>
              <a:ext cx="274621" cy="982973"/>
            </a:xfrm>
            <a:custGeom>
              <a:avLst/>
              <a:gdLst>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 name="connsiteX0" fmla="*/ 0 w 275303"/>
                <a:gd name="connsiteY0" fmla="*/ 0 h 983226"/>
                <a:gd name="connsiteX1" fmla="*/ 0 w 275303"/>
                <a:gd name="connsiteY1" fmla="*/ 383458 h 983226"/>
                <a:gd name="connsiteX2" fmla="*/ 275303 w 275303"/>
                <a:gd name="connsiteY2" fmla="*/ 383458 h 983226"/>
                <a:gd name="connsiteX3" fmla="*/ 275303 w 275303"/>
                <a:gd name="connsiteY3" fmla="*/ 983226 h 983226"/>
              </a:gdLst>
              <a:ahLst/>
              <a:cxnLst>
                <a:cxn ang="0">
                  <a:pos x="connsiteX0" y="connsiteY0"/>
                </a:cxn>
                <a:cxn ang="0">
                  <a:pos x="connsiteX1" y="connsiteY1"/>
                </a:cxn>
                <a:cxn ang="0">
                  <a:pos x="connsiteX2" y="connsiteY2"/>
                </a:cxn>
                <a:cxn ang="0">
                  <a:pos x="connsiteX3" y="connsiteY3"/>
                </a:cxn>
              </a:cxnLst>
              <a:rect l="l" t="t" r="r" b="b"/>
              <a:pathLst>
                <a:path w="275303" h="983226">
                  <a:moveTo>
                    <a:pt x="0" y="0"/>
                  </a:moveTo>
                  <a:lnTo>
                    <a:pt x="0" y="383458"/>
                  </a:lnTo>
                  <a:lnTo>
                    <a:pt x="275303" y="383458"/>
                  </a:lnTo>
                  <a:lnTo>
                    <a:pt x="275303" y="983226"/>
                  </a:lnTo>
                </a:path>
              </a:pathLst>
            </a:custGeom>
            <a:solidFill>
              <a:schemeClr val="bg1"/>
            </a:solidFill>
            <a:ln w="19050" cap="flat" cmpd="sng" algn="ctr">
              <a:solidFill>
                <a:schemeClr val="accent3">
                  <a:lumMod val="60000"/>
                  <a:lumOff val="40000"/>
                </a:schemeClr>
              </a:solidFill>
              <a:prstDash val="solid"/>
              <a:round/>
              <a:headEnd type="none" w="med" len="med"/>
              <a:tailEnd type="arrow" w="med" len="med"/>
            </a:ln>
            <a:effectLst/>
          </p:spPr>
          <p:txBody>
            <a:bodyPr/>
            <a:lstStyle/>
            <a:p>
              <a:pPr algn="ctr" eaLnBrk="1" hangingPunct="1">
                <a:defRPr/>
              </a:pPr>
              <a:endParaRPr lang="en-US">
                <a:latin typeface="Arial" charset="0"/>
                <a:cs typeface="Arial" charset="0"/>
              </a:endParaRPr>
            </a:p>
          </p:txBody>
        </p:sp>
        <p:cxnSp>
          <p:nvCxnSpPr>
            <p:cNvPr id="24587" name="Straight Connector 14"/>
            <p:cNvCxnSpPr>
              <a:cxnSpLocks noChangeShapeType="1"/>
            </p:cNvCxnSpPr>
            <p:nvPr/>
          </p:nvCxnSpPr>
          <p:spPr bwMode="auto">
            <a:xfrm>
              <a:off x="1799303" y="4168877"/>
              <a:ext cx="5230762"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
        <p:nvSpPr>
          <p:cNvPr id="2" name="矩形 1">
            <a:extLst>
              <a:ext uri="{FF2B5EF4-FFF2-40B4-BE49-F238E27FC236}">
                <a16:creationId xmlns:a16="http://schemas.microsoft.com/office/drawing/2014/main" id="{000CDDB4-4DFB-42FB-9C73-96F5585B8D1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Routing Algorithms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615AA33D-863C-45B1-A0F7-9E379214A398}"/>
              </a:ext>
            </a:extLst>
          </p:cNvPr>
          <p:cNvSpPr/>
          <p:nvPr/>
        </p:nvSpPr>
        <p:spPr>
          <a:xfrm>
            <a:off x="8285966" y="3107826"/>
            <a:ext cx="3808019" cy="1200329"/>
          </a:xfrm>
          <a:prstGeom prst="rect">
            <a:avLst/>
          </a:prstGeom>
        </p:spPr>
        <p:txBody>
          <a:bodyPr wrap="square">
            <a:spAutoFit/>
          </a:bodyPr>
          <a:lstStyle/>
          <a:p>
            <a:r>
              <a:rPr lang="en-US" altLang="zh-CN" dirty="0"/>
              <a:t>The traffic demands A-&gt;A’, B-&gt;B’, C-&gt;C’ and X-&gt;X’. </a:t>
            </a:r>
          </a:p>
          <a:p>
            <a:pPr marL="285750" indent="-285750">
              <a:buFont typeface="Arial" panose="020B0604020202020204" pitchFamily="34" charset="0"/>
              <a:buChar char="•"/>
            </a:pPr>
            <a:r>
              <a:rPr lang="en-US" altLang="zh-CN" dirty="0"/>
              <a:t>What would be fair? </a:t>
            </a:r>
          </a:p>
          <a:p>
            <a:pPr marL="285750" indent="-285750">
              <a:buFont typeface="Arial" panose="020B0604020202020204" pitchFamily="34" charset="0"/>
              <a:buChar char="•"/>
            </a:pPr>
            <a:r>
              <a:rPr lang="en-US" altLang="zh-CN" dirty="0"/>
              <a:t>What would be efficient? </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6628" name="Rectangle 3"/>
          <p:cNvSpPr>
            <a:spLocks noGrp="1" noChangeArrowheads="1"/>
          </p:cNvSpPr>
          <p:nvPr>
            <p:ph idx="1"/>
          </p:nvPr>
        </p:nvSpPr>
        <p:spPr>
          <a:xfrm>
            <a:off x="756745" y="1057676"/>
            <a:ext cx="10540519" cy="1665494"/>
          </a:xfrm>
        </p:spPr>
        <p:txBody>
          <a:bodyPr/>
          <a:lstStyle/>
          <a:p>
            <a:pPr marL="457200" indent="-457200">
              <a:buFont typeface="Arial" panose="020B0604020202020204" pitchFamily="34" charset="0"/>
              <a:buChar char="•"/>
            </a:pPr>
            <a:r>
              <a:rPr lang="en-US" altLang="zh-CN" b="1" dirty="0">
                <a:ea typeface="宋体" panose="02010600030101010101" pitchFamily="2" charset="-122"/>
              </a:rPr>
              <a:t>Each portion of a best path is also a best path; </a:t>
            </a:r>
            <a:r>
              <a:rPr lang="en-US" altLang="zh-CN" dirty="0">
                <a:ea typeface="宋体" panose="02010600030101010101" pitchFamily="2" charset="-122"/>
              </a:rPr>
              <a:t>the union of them to a router is a tree called the </a:t>
            </a:r>
            <a:r>
              <a:rPr lang="en-US" altLang="zh-CN" u="sng" dirty="0">
                <a:ea typeface="宋体" panose="02010600030101010101" pitchFamily="2" charset="-122"/>
              </a:rPr>
              <a:t>sink tree</a:t>
            </a:r>
          </a:p>
          <a:p>
            <a:pPr lvl="1"/>
            <a:r>
              <a:rPr lang="en-US" altLang="zh-CN" dirty="0">
                <a:ea typeface="宋体" panose="02010600030101010101" pitchFamily="2" charset="-122"/>
              </a:rPr>
              <a:t>Best means fewest hops in the example</a:t>
            </a:r>
          </a:p>
          <a:p>
            <a:endParaRPr lang="en-US" altLang="zh-CN" dirty="0">
              <a:ea typeface="宋体" panose="02010600030101010101" pitchFamily="2" charset="-122"/>
            </a:endParaRPr>
          </a:p>
        </p:txBody>
      </p:sp>
      <p:grpSp>
        <p:nvGrpSpPr>
          <p:cNvPr id="26629" name="Group 11"/>
          <p:cNvGrpSpPr>
            <a:grpSpLocks/>
          </p:cNvGrpSpPr>
          <p:nvPr/>
        </p:nvGrpSpPr>
        <p:grpSpPr bwMode="auto">
          <a:xfrm>
            <a:off x="756745" y="2499226"/>
            <a:ext cx="8569325" cy="3532187"/>
            <a:chOff x="353965" y="2423635"/>
            <a:chExt cx="8569999" cy="3531690"/>
          </a:xfrm>
        </p:grpSpPr>
        <p:pic>
          <p:nvPicPr>
            <p:cNvPr id="26630" name="Picture 2"/>
            <p:cNvPicPr>
              <a:picLocks noChangeAspect="1" noChangeArrowheads="1"/>
            </p:cNvPicPr>
            <p:nvPr/>
          </p:nvPicPr>
          <p:blipFill>
            <a:blip r:embed="rId3">
              <a:extLst>
                <a:ext uri="{28A0092B-C50C-407E-A947-70E740481C1C}">
                  <a14:useLocalDpi xmlns:a14="http://schemas.microsoft.com/office/drawing/2010/main" val="0"/>
                </a:ext>
              </a:extLst>
            </a:blip>
            <a:srcRect t="3091" b="14984"/>
            <a:stretch>
              <a:fillRect/>
            </a:stretch>
          </p:blipFill>
          <p:spPr bwMode="auto">
            <a:xfrm>
              <a:off x="353965" y="2526869"/>
              <a:ext cx="8445398" cy="2998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TextBox 8"/>
            <p:cNvSpPr txBox="1">
              <a:spLocks noChangeArrowheads="1"/>
            </p:cNvSpPr>
            <p:nvPr/>
          </p:nvSpPr>
          <p:spPr bwMode="auto">
            <a:xfrm>
              <a:off x="1651813" y="5555215"/>
              <a:ext cx="1125629"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a:solidFill>
                    <a:srgbClr val="FF2BD8"/>
                  </a:solidFill>
                  <a:ea typeface="宋体" panose="02010600030101010101" pitchFamily="2" charset="-122"/>
                </a:rPr>
                <a:t>Network</a:t>
              </a:r>
            </a:p>
          </p:txBody>
        </p:sp>
        <p:sp>
          <p:nvSpPr>
            <p:cNvPr id="26632" name="TextBox 9"/>
            <p:cNvSpPr txBox="1">
              <a:spLocks noChangeArrowheads="1"/>
            </p:cNvSpPr>
            <p:nvPr/>
          </p:nvSpPr>
          <p:spPr bwMode="auto">
            <a:xfrm>
              <a:off x="4842397" y="5520804"/>
              <a:ext cx="4081567"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dirty="0">
                  <a:solidFill>
                    <a:srgbClr val="FF2BD8"/>
                  </a:solidFill>
                  <a:ea typeface="宋体" panose="02010600030101010101" pitchFamily="2" charset="-122"/>
                </a:rPr>
                <a:t>Sink tree of best paths to router B</a:t>
              </a:r>
            </a:p>
          </p:txBody>
        </p:sp>
        <p:sp>
          <p:nvSpPr>
            <p:cNvPr id="26633" name="TextBox 10"/>
            <p:cNvSpPr txBox="1">
              <a:spLocks noChangeArrowheads="1"/>
            </p:cNvSpPr>
            <p:nvPr/>
          </p:nvSpPr>
          <p:spPr bwMode="auto">
            <a:xfrm>
              <a:off x="6720343" y="2423635"/>
              <a:ext cx="153888"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B</a:t>
              </a:r>
            </a:p>
          </p:txBody>
        </p:sp>
      </p:grpSp>
      <p:sp>
        <p:nvSpPr>
          <p:cNvPr id="2" name="矩形 1">
            <a:extLst>
              <a:ext uri="{FF2B5EF4-FFF2-40B4-BE49-F238E27FC236}">
                <a16:creationId xmlns:a16="http://schemas.microsoft.com/office/drawing/2014/main" id="{E033CB10-3CD2-4F87-8538-8A4BAEDB5F8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Optimality Principle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26031DA-5511-46E9-84DC-E123F17C298D}"/>
              </a:ext>
            </a:extLst>
          </p:cNvPr>
          <p:cNvSpPr txBox="1"/>
          <p:nvPr/>
        </p:nvSpPr>
        <p:spPr>
          <a:xfrm>
            <a:off x="9442529" y="3291407"/>
            <a:ext cx="2749471" cy="1200329"/>
          </a:xfrm>
          <a:prstGeom prst="rect">
            <a:avLst/>
          </a:prstGeom>
          <a:noFill/>
        </p:spPr>
        <p:txBody>
          <a:bodyPr wrap="none" rtlCol="0">
            <a:spAutoFit/>
          </a:bodyPr>
          <a:lstStyle/>
          <a:p>
            <a:pPr marL="285750" indent="-285750">
              <a:buFont typeface="Arial" panose="020B0604020202020204" pitchFamily="34" charset="0"/>
              <a:buChar char="•"/>
            </a:pPr>
            <a:r>
              <a:rPr lang="zh-CN" altLang="en-US" dirty="0"/>
              <a:t>最佳路径可能不唯一</a:t>
            </a:r>
            <a:endParaRPr lang="en-US" altLang="zh-CN" dirty="0"/>
          </a:p>
          <a:p>
            <a:r>
              <a:rPr lang="en-US" altLang="zh-CN" dirty="0"/>
              <a:t>     H-D-A-B, or H-F-A-D</a:t>
            </a:r>
          </a:p>
          <a:p>
            <a:pPr marL="285750" indent="-285750">
              <a:buFont typeface="Arial" panose="020B0604020202020204" pitchFamily="34" charset="0"/>
              <a:buChar char="•"/>
            </a:pPr>
            <a:r>
              <a:rPr lang="zh-CN" altLang="en-US" dirty="0"/>
              <a:t>随机选择一个</a:t>
            </a:r>
            <a:endParaRPr lang="en-US" altLang="zh-CN" dirty="0"/>
          </a:p>
          <a:p>
            <a:pPr marL="285750" indent="-285750">
              <a:buFont typeface="Arial" panose="020B0604020202020204" pitchFamily="34" charset="0"/>
              <a:buChar char="•"/>
            </a:pPr>
            <a:r>
              <a:rPr lang="en-US" altLang="zh-CN" dirty="0"/>
              <a:t>Multi-path routing </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8676" name="Rectangle 3"/>
          <p:cNvSpPr>
            <a:spLocks noGrp="1" noChangeArrowheads="1"/>
          </p:cNvSpPr>
          <p:nvPr>
            <p:ph idx="1"/>
          </p:nvPr>
        </p:nvSpPr>
        <p:spPr>
          <a:xfrm>
            <a:off x="1376516" y="1167890"/>
            <a:ext cx="8969735" cy="4269350"/>
          </a:xfrm>
        </p:spPr>
        <p:txBody>
          <a:bodyPr/>
          <a:lstStyle/>
          <a:p>
            <a:r>
              <a:rPr lang="en-US" altLang="zh-CN" u="sng" dirty="0">
                <a:ea typeface="宋体" panose="02010600030101010101" pitchFamily="2" charset="-122"/>
              </a:rPr>
              <a:t>Dijkstra</a:t>
            </a:r>
            <a:r>
              <a:rPr lang="en-US" altLang="zh-CN" dirty="0">
                <a:ea typeface="宋体" panose="02010600030101010101" pitchFamily="2" charset="-122"/>
              </a:rPr>
              <a:t>’s algorithm computes a sink tree on the graph:</a:t>
            </a:r>
          </a:p>
          <a:p>
            <a:pPr lvl="1"/>
            <a:r>
              <a:rPr lang="en-US" altLang="zh-CN" dirty="0">
                <a:ea typeface="宋体" panose="02010600030101010101" pitchFamily="2" charset="-122"/>
              </a:rPr>
              <a:t>Each link is assigned a non-negative weight/distance</a:t>
            </a:r>
          </a:p>
          <a:p>
            <a:pPr lvl="1"/>
            <a:r>
              <a:rPr lang="en-US" altLang="zh-CN" dirty="0">
                <a:ea typeface="宋体" panose="02010600030101010101" pitchFamily="2" charset="-122"/>
              </a:rPr>
              <a:t>Shortest path is the one with lowest total weight</a:t>
            </a:r>
          </a:p>
          <a:p>
            <a:pPr lvl="1"/>
            <a:r>
              <a:rPr lang="en-US" altLang="zh-CN" dirty="0">
                <a:ea typeface="宋体" panose="02010600030101010101" pitchFamily="2" charset="-122"/>
              </a:rPr>
              <a:t>Using weights of 1 gives paths with fewest hops</a:t>
            </a:r>
          </a:p>
          <a:p>
            <a:pPr lvl="1"/>
            <a:endParaRPr lang="en-US" altLang="zh-CN" dirty="0">
              <a:ea typeface="宋体" panose="02010600030101010101" pitchFamily="2" charset="-122"/>
            </a:endParaRPr>
          </a:p>
          <a:p>
            <a:r>
              <a:rPr lang="en-US" altLang="zh-CN" dirty="0">
                <a:ea typeface="宋体" panose="02010600030101010101" pitchFamily="2" charset="-122"/>
              </a:rPr>
              <a:t>Algorithm:</a:t>
            </a:r>
          </a:p>
          <a:p>
            <a:pPr lvl="1"/>
            <a:r>
              <a:rPr lang="en-US" altLang="zh-CN" dirty="0">
                <a:ea typeface="宋体" panose="02010600030101010101" pitchFamily="2" charset="-122"/>
              </a:rPr>
              <a:t>Start with sink, set distance at other nodes to infinity</a:t>
            </a:r>
          </a:p>
          <a:p>
            <a:pPr lvl="1"/>
            <a:r>
              <a:rPr lang="en-US" altLang="zh-CN" dirty="0">
                <a:ea typeface="宋体" panose="02010600030101010101" pitchFamily="2" charset="-122"/>
              </a:rPr>
              <a:t>Relax distance to other nodes</a:t>
            </a:r>
          </a:p>
          <a:p>
            <a:pPr lvl="1"/>
            <a:r>
              <a:rPr lang="en-US" altLang="zh-CN" dirty="0">
                <a:ea typeface="宋体" panose="02010600030101010101" pitchFamily="2" charset="-122"/>
              </a:rPr>
              <a:t>Pick the lowest distance node, add it to sink tree</a:t>
            </a:r>
          </a:p>
          <a:p>
            <a:pPr lvl="1"/>
            <a:r>
              <a:rPr lang="en-US" altLang="zh-CN" dirty="0">
                <a:ea typeface="宋体" panose="02010600030101010101" pitchFamily="2" charset="-122"/>
              </a:rPr>
              <a:t>Repeat until all nodes are in the sink tree</a:t>
            </a:r>
          </a:p>
        </p:txBody>
      </p:sp>
      <p:sp>
        <p:nvSpPr>
          <p:cNvPr id="2" name="矩形 1">
            <a:extLst>
              <a:ext uri="{FF2B5EF4-FFF2-40B4-BE49-F238E27FC236}">
                <a16:creationId xmlns:a16="http://schemas.microsoft.com/office/drawing/2014/main" id="{8F8AC0AB-BD9B-4887-A6FE-1155D04FE49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Shortest Path Algorithm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91C864F6-E891-4EFA-82AD-206305B14EF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Dijkstra’s algorithm</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36CE51CB-6084-4CC4-A408-810C1E21E185}"/>
              </a:ext>
            </a:extLst>
          </p:cNvPr>
          <p:cNvPicPr>
            <a:picLocks noChangeAspect="1"/>
          </p:cNvPicPr>
          <p:nvPr/>
        </p:nvPicPr>
        <p:blipFill>
          <a:blip r:embed="rId2"/>
          <a:stretch>
            <a:fillRect/>
          </a:stretch>
        </p:blipFill>
        <p:spPr>
          <a:xfrm>
            <a:off x="956441" y="1119812"/>
            <a:ext cx="7882759" cy="4866438"/>
          </a:xfrm>
          <a:prstGeom prst="rect">
            <a:avLst/>
          </a:prstGeom>
        </p:spPr>
      </p:pic>
    </p:spTree>
    <p:extLst>
      <p:ext uri="{BB962C8B-B14F-4D97-AF65-F5344CB8AC3E}">
        <p14:creationId xmlns:p14="http://schemas.microsoft.com/office/powerpoint/2010/main" val="4185418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91C864F6-E891-4EFA-82AD-206305B14EF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Dijkstra’s algorithm</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3032036A-1F40-41CC-8E02-4CCF24490859}"/>
              </a:ext>
            </a:extLst>
          </p:cNvPr>
          <p:cNvPicPr>
            <a:picLocks noChangeAspect="1"/>
          </p:cNvPicPr>
          <p:nvPr/>
        </p:nvPicPr>
        <p:blipFill>
          <a:blip r:embed="rId2"/>
          <a:stretch>
            <a:fillRect/>
          </a:stretch>
        </p:blipFill>
        <p:spPr>
          <a:xfrm>
            <a:off x="1660634" y="1272243"/>
            <a:ext cx="6657671" cy="4687121"/>
          </a:xfrm>
          <a:prstGeom prst="rect">
            <a:avLst/>
          </a:prstGeom>
        </p:spPr>
      </p:pic>
    </p:spTree>
    <p:extLst>
      <p:ext uri="{BB962C8B-B14F-4D97-AF65-F5344CB8AC3E}">
        <p14:creationId xmlns:p14="http://schemas.microsoft.com/office/powerpoint/2010/main" val="2550780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91C864F6-E891-4EFA-82AD-206305B14EF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Dijkstra’s algorithm: example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D0265C5D-4321-4626-B437-62B74548AFE2}"/>
              </a:ext>
            </a:extLst>
          </p:cNvPr>
          <p:cNvPicPr>
            <a:picLocks noChangeAspect="1"/>
          </p:cNvPicPr>
          <p:nvPr/>
        </p:nvPicPr>
        <p:blipFill>
          <a:blip r:embed="rId2"/>
          <a:stretch>
            <a:fillRect/>
          </a:stretch>
        </p:blipFill>
        <p:spPr>
          <a:xfrm>
            <a:off x="998482" y="988257"/>
            <a:ext cx="8460828" cy="5733218"/>
          </a:xfrm>
          <a:prstGeom prst="rect">
            <a:avLst/>
          </a:prstGeom>
        </p:spPr>
      </p:pic>
      <p:sp>
        <p:nvSpPr>
          <p:cNvPr id="6" name="文本框 5">
            <a:extLst>
              <a:ext uri="{FF2B5EF4-FFF2-40B4-BE49-F238E27FC236}">
                <a16:creationId xmlns:a16="http://schemas.microsoft.com/office/drawing/2014/main" id="{0C81CA86-804F-4B4D-B349-007215116E69}"/>
              </a:ext>
            </a:extLst>
          </p:cNvPr>
          <p:cNvSpPr txBox="1"/>
          <p:nvPr/>
        </p:nvSpPr>
        <p:spPr>
          <a:xfrm>
            <a:off x="8333389" y="6161493"/>
            <a:ext cx="1587062" cy="420413"/>
          </a:xfrm>
          <a:prstGeom prst="rect">
            <a:avLst/>
          </a:prstGeom>
          <a:solidFill>
            <a:schemeClr val="bg1"/>
          </a:solidFill>
        </p:spPr>
        <p:txBody>
          <a:bodyPr wrap="square" rtlCol="0">
            <a:spAutoFit/>
          </a:bodyPr>
          <a:lstStyle/>
          <a:p>
            <a:endParaRPr lang="zh-CN" altLang="en-US" dirty="0"/>
          </a:p>
        </p:txBody>
      </p:sp>
      <p:pic>
        <p:nvPicPr>
          <p:cNvPr id="7" name="图片 6">
            <a:extLst>
              <a:ext uri="{FF2B5EF4-FFF2-40B4-BE49-F238E27FC236}">
                <a16:creationId xmlns:a16="http://schemas.microsoft.com/office/drawing/2014/main" id="{C520DBD0-A5F9-4B32-B51E-CAC9379DA56E}"/>
              </a:ext>
            </a:extLst>
          </p:cNvPr>
          <p:cNvPicPr>
            <a:picLocks noChangeAspect="1"/>
          </p:cNvPicPr>
          <p:nvPr/>
        </p:nvPicPr>
        <p:blipFill>
          <a:blip r:embed="rId3"/>
          <a:stretch>
            <a:fillRect/>
          </a:stretch>
        </p:blipFill>
        <p:spPr>
          <a:xfrm>
            <a:off x="6493764" y="1492469"/>
            <a:ext cx="5524547" cy="851339"/>
          </a:xfrm>
          <a:prstGeom prst="rect">
            <a:avLst/>
          </a:prstGeom>
        </p:spPr>
      </p:pic>
    </p:spTree>
    <p:extLst>
      <p:ext uri="{BB962C8B-B14F-4D97-AF65-F5344CB8AC3E}">
        <p14:creationId xmlns:p14="http://schemas.microsoft.com/office/powerpoint/2010/main" val="4043297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30740" name="TextBox 34"/>
          <p:cNvSpPr txBox="1">
            <a:spLocks noChangeArrowheads="1"/>
          </p:cNvSpPr>
          <p:nvPr/>
        </p:nvSpPr>
        <p:spPr bwMode="auto">
          <a:xfrm>
            <a:off x="673100" y="5649502"/>
            <a:ext cx="109601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dirty="0">
                <a:ea typeface="宋体" panose="02010600030101010101" pitchFamily="2" charset="-122"/>
              </a:rPr>
              <a:t>A network and first five steps in computing the shortest paths from A to D. Pink arrows show the sink tree so far.</a:t>
            </a:r>
          </a:p>
        </p:txBody>
      </p:sp>
      <p:sp>
        <p:nvSpPr>
          <p:cNvPr id="2" name="矩形 1">
            <a:extLst>
              <a:ext uri="{FF2B5EF4-FFF2-40B4-BE49-F238E27FC236}">
                <a16:creationId xmlns:a16="http://schemas.microsoft.com/office/drawing/2014/main" id="{91C864F6-E891-4EFA-82AD-206305B14EF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Shortest Path Algorithm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4" name="Picture 2">
            <a:extLst>
              <a:ext uri="{FF2B5EF4-FFF2-40B4-BE49-F238E27FC236}">
                <a16:creationId xmlns:a16="http://schemas.microsoft.com/office/drawing/2014/main" id="{D401C56E-138D-489F-9C8E-6C49DB5541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5110" y="891765"/>
            <a:ext cx="6380162" cy="482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Straight Arrow Connector 6">
            <a:extLst>
              <a:ext uri="{FF2B5EF4-FFF2-40B4-BE49-F238E27FC236}">
                <a16:creationId xmlns:a16="http://schemas.microsoft.com/office/drawing/2014/main" id="{2B309C7B-7F3E-48F4-8057-F84B0018D00D}"/>
              </a:ext>
            </a:extLst>
          </p:cNvPr>
          <p:cNvCxnSpPr/>
          <p:nvPr/>
        </p:nvCxnSpPr>
        <p:spPr bwMode="auto">
          <a:xfrm rot="5400000">
            <a:off x="5996179" y="1194183"/>
            <a:ext cx="374650" cy="373063"/>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1" name="Straight Arrow Connector 7">
            <a:extLst>
              <a:ext uri="{FF2B5EF4-FFF2-40B4-BE49-F238E27FC236}">
                <a16:creationId xmlns:a16="http://schemas.microsoft.com/office/drawing/2014/main" id="{FF24C524-2300-48C7-81B7-6E5382662564}"/>
              </a:ext>
            </a:extLst>
          </p:cNvPr>
          <p:cNvCxnSpPr/>
          <p:nvPr/>
        </p:nvCxnSpPr>
        <p:spPr bwMode="auto">
          <a:xfrm rot="5400000">
            <a:off x="2805304" y="2821371"/>
            <a:ext cx="374650" cy="373063"/>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2" name="Straight Arrow Connector 8">
            <a:extLst>
              <a:ext uri="{FF2B5EF4-FFF2-40B4-BE49-F238E27FC236}">
                <a16:creationId xmlns:a16="http://schemas.microsoft.com/office/drawing/2014/main" id="{55715964-9873-4FB3-BFF3-0C107F74EC81}"/>
              </a:ext>
            </a:extLst>
          </p:cNvPr>
          <p:cNvCxnSpPr/>
          <p:nvPr/>
        </p:nvCxnSpPr>
        <p:spPr bwMode="auto">
          <a:xfrm rot="16200000" flipV="1">
            <a:off x="3179159" y="2820578"/>
            <a:ext cx="384175" cy="374650"/>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3" name="Straight Arrow Connector 11">
            <a:extLst>
              <a:ext uri="{FF2B5EF4-FFF2-40B4-BE49-F238E27FC236}">
                <a16:creationId xmlns:a16="http://schemas.microsoft.com/office/drawing/2014/main" id="{63A35DBC-02EC-41E3-AE36-F99F0513F8B9}"/>
              </a:ext>
            </a:extLst>
          </p:cNvPr>
          <p:cNvCxnSpPr/>
          <p:nvPr/>
        </p:nvCxnSpPr>
        <p:spPr bwMode="auto">
          <a:xfrm rot="5400000">
            <a:off x="5986654" y="2826133"/>
            <a:ext cx="374650" cy="373063"/>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4" name="Straight Arrow Connector 12">
            <a:extLst>
              <a:ext uri="{FF2B5EF4-FFF2-40B4-BE49-F238E27FC236}">
                <a16:creationId xmlns:a16="http://schemas.microsoft.com/office/drawing/2014/main" id="{2116BD56-DE0A-4FC7-B92E-8C5C3903C8CA}"/>
              </a:ext>
            </a:extLst>
          </p:cNvPr>
          <p:cNvCxnSpPr/>
          <p:nvPr/>
        </p:nvCxnSpPr>
        <p:spPr bwMode="auto">
          <a:xfrm rot="16200000" flipV="1">
            <a:off x="6359716" y="2826134"/>
            <a:ext cx="384175" cy="373063"/>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5" name="Straight Arrow Connector 13">
            <a:extLst>
              <a:ext uri="{FF2B5EF4-FFF2-40B4-BE49-F238E27FC236}">
                <a16:creationId xmlns:a16="http://schemas.microsoft.com/office/drawing/2014/main" id="{D3434C6B-F92D-4131-8291-7E7F0869BB49}"/>
              </a:ext>
            </a:extLst>
          </p:cNvPr>
          <p:cNvCxnSpPr/>
          <p:nvPr/>
        </p:nvCxnSpPr>
        <p:spPr bwMode="auto">
          <a:xfrm rot="16200000">
            <a:off x="6374797" y="3196815"/>
            <a:ext cx="374650" cy="374650"/>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6" name="Straight Arrow Connector 18">
            <a:extLst>
              <a:ext uri="{FF2B5EF4-FFF2-40B4-BE49-F238E27FC236}">
                <a16:creationId xmlns:a16="http://schemas.microsoft.com/office/drawing/2014/main" id="{6CCF5CB7-C987-4964-A260-1820187A0D42}"/>
              </a:ext>
            </a:extLst>
          </p:cNvPr>
          <p:cNvCxnSpPr/>
          <p:nvPr/>
        </p:nvCxnSpPr>
        <p:spPr bwMode="auto">
          <a:xfrm rot="5400000">
            <a:off x="2805304" y="4453321"/>
            <a:ext cx="374650" cy="373063"/>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7" name="Straight Arrow Connector 19">
            <a:extLst>
              <a:ext uri="{FF2B5EF4-FFF2-40B4-BE49-F238E27FC236}">
                <a16:creationId xmlns:a16="http://schemas.microsoft.com/office/drawing/2014/main" id="{C3E6B5EE-FF93-4716-8300-3EB461FA3263}"/>
              </a:ext>
            </a:extLst>
          </p:cNvPr>
          <p:cNvCxnSpPr/>
          <p:nvPr/>
        </p:nvCxnSpPr>
        <p:spPr bwMode="auto">
          <a:xfrm rot="16200000" flipV="1">
            <a:off x="3179159" y="4452528"/>
            <a:ext cx="384175" cy="374650"/>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8" name="Straight Arrow Connector 20">
            <a:extLst>
              <a:ext uri="{FF2B5EF4-FFF2-40B4-BE49-F238E27FC236}">
                <a16:creationId xmlns:a16="http://schemas.microsoft.com/office/drawing/2014/main" id="{A64C1F3E-0502-411A-B159-8CB23EE439D9}"/>
              </a:ext>
            </a:extLst>
          </p:cNvPr>
          <p:cNvCxnSpPr/>
          <p:nvPr/>
        </p:nvCxnSpPr>
        <p:spPr bwMode="auto">
          <a:xfrm rot="16200000">
            <a:off x="3194241" y="4824797"/>
            <a:ext cx="374650" cy="373062"/>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39" name="Straight Arrow Connector 21">
            <a:extLst>
              <a:ext uri="{FF2B5EF4-FFF2-40B4-BE49-F238E27FC236}">
                <a16:creationId xmlns:a16="http://schemas.microsoft.com/office/drawing/2014/main" id="{B59D48E1-37E8-4D45-8AD3-01E883B54C70}"/>
              </a:ext>
            </a:extLst>
          </p:cNvPr>
          <p:cNvCxnSpPr/>
          <p:nvPr/>
        </p:nvCxnSpPr>
        <p:spPr bwMode="auto">
          <a:xfrm rot="10800000" flipV="1">
            <a:off x="3568097" y="4831940"/>
            <a:ext cx="677863" cy="0"/>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40" name="Straight Arrow Connector 24">
            <a:extLst>
              <a:ext uri="{FF2B5EF4-FFF2-40B4-BE49-F238E27FC236}">
                <a16:creationId xmlns:a16="http://schemas.microsoft.com/office/drawing/2014/main" id="{B9960AA1-A0F6-455F-98F6-61DB5CE70A25}"/>
              </a:ext>
            </a:extLst>
          </p:cNvPr>
          <p:cNvCxnSpPr/>
          <p:nvPr/>
        </p:nvCxnSpPr>
        <p:spPr bwMode="auto">
          <a:xfrm rot="5400000">
            <a:off x="5976335" y="4447765"/>
            <a:ext cx="374650" cy="374650"/>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41" name="Straight Arrow Connector 25">
            <a:extLst>
              <a:ext uri="{FF2B5EF4-FFF2-40B4-BE49-F238E27FC236}">
                <a16:creationId xmlns:a16="http://schemas.microsoft.com/office/drawing/2014/main" id="{505CBB9A-F736-47E4-8C2E-5AAA18E41FEC}"/>
              </a:ext>
            </a:extLst>
          </p:cNvPr>
          <p:cNvCxnSpPr/>
          <p:nvPr/>
        </p:nvCxnSpPr>
        <p:spPr bwMode="auto">
          <a:xfrm rot="16200000" flipV="1">
            <a:off x="6350191" y="4448559"/>
            <a:ext cx="384175" cy="373063"/>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42" name="Straight Arrow Connector 26">
            <a:extLst>
              <a:ext uri="{FF2B5EF4-FFF2-40B4-BE49-F238E27FC236}">
                <a16:creationId xmlns:a16="http://schemas.microsoft.com/office/drawing/2014/main" id="{2C08BA1C-E4CB-45EB-8BD9-0787BEB3ACE6}"/>
              </a:ext>
            </a:extLst>
          </p:cNvPr>
          <p:cNvCxnSpPr/>
          <p:nvPr/>
        </p:nvCxnSpPr>
        <p:spPr bwMode="auto">
          <a:xfrm rot="16200000">
            <a:off x="6364479" y="4820033"/>
            <a:ext cx="374650" cy="373063"/>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43" name="Straight Arrow Connector 27">
            <a:extLst>
              <a:ext uri="{FF2B5EF4-FFF2-40B4-BE49-F238E27FC236}">
                <a16:creationId xmlns:a16="http://schemas.microsoft.com/office/drawing/2014/main" id="{AC06C846-14B6-4E6F-89ED-6358C956F0AE}"/>
              </a:ext>
            </a:extLst>
          </p:cNvPr>
          <p:cNvCxnSpPr/>
          <p:nvPr/>
        </p:nvCxnSpPr>
        <p:spPr bwMode="auto">
          <a:xfrm rot="10800000" flipV="1">
            <a:off x="6738335" y="4827178"/>
            <a:ext cx="679450" cy="0"/>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cxnSp>
        <p:nvCxnSpPr>
          <p:cNvPr id="44" name="Straight Arrow Connector 28">
            <a:extLst>
              <a:ext uri="{FF2B5EF4-FFF2-40B4-BE49-F238E27FC236}">
                <a16:creationId xmlns:a16="http://schemas.microsoft.com/office/drawing/2014/main" id="{79CA9173-2782-4A38-96A6-A6ECB5ADD1F5}"/>
              </a:ext>
            </a:extLst>
          </p:cNvPr>
          <p:cNvCxnSpPr/>
          <p:nvPr/>
        </p:nvCxnSpPr>
        <p:spPr bwMode="auto">
          <a:xfrm rot="16200000" flipV="1">
            <a:off x="7442390" y="4840672"/>
            <a:ext cx="373063" cy="374650"/>
          </a:xfrm>
          <a:prstGeom prst="straightConnector1">
            <a:avLst/>
          </a:prstGeom>
          <a:solidFill>
            <a:srgbClr val="FF388C"/>
          </a:solidFill>
          <a:ln w="28575" cap="flat" cmpd="sng" algn="ctr">
            <a:solidFill>
              <a:srgbClr val="9C007F">
                <a:lumMod val="60000"/>
                <a:lumOff val="40000"/>
              </a:srgbClr>
            </a:solidFill>
            <a:prstDash val="solid"/>
            <a:round/>
            <a:headEnd type="none" w="med" len="med"/>
            <a:tailEnd type="arrow"/>
          </a:ln>
          <a:effectLst/>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3174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5338" y="1554164"/>
            <a:ext cx="7694612" cy="388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TextBox 5"/>
          <p:cNvSpPr txBox="1">
            <a:spLocks noChangeArrowheads="1"/>
          </p:cNvSpPr>
          <p:nvPr/>
        </p:nvSpPr>
        <p:spPr bwMode="auto">
          <a:xfrm>
            <a:off x="2147889" y="4962525"/>
            <a:ext cx="1019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800">
                <a:ea typeface="宋体" panose="02010600030101010101" pitchFamily="2" charset="-122"/>
              </a:rPr>
              <a:t>. . .</a:t>
            </a:r>
          </a:p>
        </p:txBody>
      </p:sp>
      <p:sp>
        <p:nvSpPr>
          <p:cNvPr id="31750" name="TextBox 6"/>
          <p:cNvSpPr txBox="1">
            <a:spLocks noChangeArrowheads="1"/>
          </p:cNvSpPr>
          <p:nvPr/>
        </p:nvSpPr>
        <p:spPr bwMode="auto">
          <a:xfrm>
            <a:off x="2143126" y="900114"/>
            <a:ext cx="1019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800">
                <a:ea typeface="宋体" panose="02010600030101010101" pitchFamily="2" charset="-122"/>
              </a:rPr>
              <a:t>. . .</a:t>
            </a:r>
          </a:p>
        </p:txBody>
      </p:sp>
      <p:sp>
        <p:nvSpPr>
          <p:cNvPr id="31751" name="TextBox 12"/>
          <p:cNvSpPr txBox="1">
            <a:spLocks noChangeArrowheads="1"/>
          </p:cNvSpPr>
          <p:nvPr/>
        </p:nvSpPr>
        <p:spPr bwMode="auto">
          <a:xfrm>
            <a:off x="8026401" y="1928813"/>
            <a:ext cx="1952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Start with the sink, all other nodes are unreachable</a:t>
            </a:r>
          </a:p>
        </p:txBody>
      </p:sp>
      <p:sp>
        <p:nvSpPr>
          <p:cNvPr id="31752" name="Rectangle 15"/>
          <p:cNvSpPr>
            <a:spLocks noChangeArrowheads="1"/>
          </p:cNvSpPr>
          <p:nvPr/>
        </p:nvSpPr>
        <p:spPr bwMode="auto">
          <a:xfrm>
            <a:off x="6027738" y="1543051"/>
            <a:ext cx="2005012" cy="35401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31753" name="Rectangle 16"/>
          <p:cNvSpPr>
            <a:spLocks noChangeArrowheads="1"/>
          </p:cNvSpPr>
          <p:nvPr/>
        </p:nvSpPr>
        <p:spPr bwMode="auto">
          <a:xfrm>
            <a:off x="6100763" y="3055939"/>
            <a:ext cx="3219450" cy="739775"/>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15" name="Left Brace 14"/>
          <p:cNvSpPr/>
          <p:nvPr/>
        </p:nvSpPr>
        <p:spPr bwMode="auto">
          <a:xfrm flipH="1">
            <a:off x="7775576" y="1609726"/>
            <a:ext cx="207963" cy="141922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31755" name="TextBox 17"/>
          <p:cNvSpPr txBox="1">
            <a:spLocks noChangeArrowheads="1"/>
          </p:cNvSpPr>
          <p:nvPr/>
        </p:nvSpPr>
        <p:spPr bwMode="auto">
          <a:xfrm>
            <a:off x="8042275" y="3644901"/>
            <a:ext cx="21923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dirty="0">
                <a:ea typeface="宋体" panose="02010600030101010101" pitchFamily="2" charset="-122"/>
              </a:rPr>
              <a:t>Relaxation step. Lower distance to nodes linked to newest member of the sink tree</a:t>
            </a:r>
          </a:p>
        </p:txBody>
      </p:sp>
      <p:sp>
        <p:nvSpPr>
          <p:cNvPr id="19" name="Left Brace 18"/>
          <p:cNvSpPr/>
          <p:nvPr/>
        </p:nvSpPr>
        <p:spPr bwMode="auto">
          <a:xfrm flipH="1">
            <a:off x="7759701" y="3532188"/>
            <a:ext cx="239713" cy="1630362"/>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 name="矩形 1">
            <a:extLst>
              <a:ext uri="{FF2B5EF4-FFF2-40B4-BE49-F238E27FC236}">
                <a16:creationId xmlns:a16="http://schemas.microsoft.com/office/drawing/2014/main" id="{351CD3A5-FD92-4571-ABDB-0CDEC9B512E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Shortest Path Algorithm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32772" name="TextBox 6"/>
          <p:cNvSpPr txBox="1">
            <a:spLocks noChangeArrowheads="1"/>
          </p:cNvSpPr>
          <p:nvPr/>
        </p:nvSpPr>
        <p:spPr bwMode="auto">
          <a:xfrm>
            <a:off x="2112964" y="1676401"/>
            <a:ext cx="1019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800">
                <a:ea typeface="宋体" panose="02010600030101010101" pitchFamily="2" charset="-122"/>
              </a:rPr>
              <a:t>. . .</a:t>
            </a:r>
          </a:p>
        </p:txBody>
      </p:sp>
      <p:pic>
        <p:nvPicPr>
          <p:cNvPr id="32773" name="Picture 2"/>
          <p:cNvPicPr>
            <a:picLocks noChangeAspect="1" noChangeArrowheads="1"/>
          </p:cNvPicPr>
          <p:nvPr/>
        </p:nvPicPr>
        <p:blipFill>
          <a:blip r:embed="rId3">
            <a:extLst>
              <a:ext uri="{28A0092B-C50C-407E-A947-70E740481C1C}">
                <a14:useLocalDpi xmlns:a14="http://schemas.microsoft.com/office/drawing/2010/main" val="0"/>
              </a:ext>
            </a:extLst>
          </a:blip>
          <a:srcRect t="9821" b="32326"/>
          <a:stretch>
            <a:fillRect/>
          </a:stretch>
        </p:blipFill>
        <p:spPr bwMode="auto">
          <a:xfrm>
            <a:off x="1847850" y="2241550"/>
            <a:ext cx="6750050"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TextBox 11"/>
          <p:cNvSpPr txBox="1">
            <a:spLocks noChangeArrowheads="1"/>
          </p:cNvSpPr>
          <p:nvPr/>
        </p:nvSpPr>
        <p:spPr bwMode="auto">
          <a:xfrm>
            <a:off x="8429626" y="2676526"/>
            <a:ext cx="19526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Find the lowest distance, add it to the sink tree, and repeat until done</a:t>
            </a:r>
          </a:p>
        </p:txBody>
      </p:sp>
      <p:sp>
        <p:nvSpPr>
          <p:cNvPr id="13" name="Left Brace 12"/>
          <p:cNvSpPr/>
          <p:nvPr/>
        </p:nvSpPr>
        <p:spPr bwMode="auto">
          <a:xfrm flipH="1">
            <a:off x="8177213" y="2347914"/>
            <a:ext cx="260350" cy="1762125"/>
          </a:xfrm>
          <a:prstGeom prst="leftBrace">
            <a:avLst/>
          </a:prstGeom>
          <a:no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 name="矩形 1">
            <a:extLst>
              <a:ext uri="{FF2B5EF4-FFF2-40B4-BE49-F238E27FC236}">
                <a16:creationId xmlns:a16="http://schemas.microsoft.com/office/drawing/2014/main" id="{64D196B7-AF10-412D-A3D3-E98AB537BA1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Shortest Path Algorithm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34820" name="Content Placeholder 4"/>
          <p:cNvSpPr>
            <a:spLocks noGrp="1"/>
          </p:cNvSpPr>
          <p:nvPr>
            <p:ph idx="1"/>
          </p:nvPr>
        </p:nvSpPr>
        <p:spPr>
          <a:xfrm>
            <a:off x="1240220" y="1350909"/>
            <a:ext cx="9820261" cy="4902745"/>
          </a:xfrm>
        </p:spPr>
        <p:txBody>
          <a:bodyPr>
            <a:normAutofit/>
          </a:bodyPr>
          <a:lstStyle/>
          <a:p>
            <a:pPr marL="457200" indent="-457200">
              <a:buFont typeface="Arial" panose="020B0604020202020204" pitchFamily="34" charset="0"/>
              <a:buChar char="•"/>
            </a:pPr>
            <a:r>
              <a:rPr lang="en-US" altLang="zh-CN" dirty="0">
                <a:ea typeface="宋体" panose="02010600030101010101" pitchFamily="2" charset="-122"/>
              </a:rPr>
              <a:t>A simple method to send a packet to all network nodes</a:t>
            </a:r>
          </a:p>
          <a:p>
            <a:pPr marL="457200" indent="-457200">
              <a:buFont typeface="Arial" panose="020B0604020202020204" pitchFamily="34" charset="0"/>
              <a:buChar char="•"/>
            </a:pPr>
            <a:r>
              <a:rPr lang="en-US" altLang="zh-CN" dirty="0">
                <a:ea typeface="宋体" panose="02010600030101010101" pitchFamily="2" charset="-122"/>
              </a:rPr>
              <a:t>Each node floods a new packet received on an incoming link by sending it out all of the other links</a:t>
            </a:r>
          </a:p>
          <a:p>
            <a:pPr marL="457200" indent="-457200">
              <a:buFont typeface="Arial" panose="020B0604020202020204" pitchFamily="34" charset="0"/>
              <a:buChar char="•"/>
            </a:pPr>
            <a:r>
              <a:rPr lang="en-US" altLang="zh-CN" dirty="0">
                <a:ea typeface="宋体" panose="02010600030101010101" pitchFamily="2" charset="-122"/>
              </a:rPr>
              <a:t>Nodes need to keep track of flooded packets to stop the flood; even using a hop limit can blow up exponentially</a:t>
            </a:r>
          </a:p>
          <a:p>
            <a:pPr marL="457200" indent="-457200">
              <a:buClr>
                <a:srgbClr val="993300"/>
              </a:buClr>
              <a:buSzPct val="90000"/>
              <a:buFont typeface="Arial" panose="020B0604020202020204" pitchFamily="34" charset="0"/>
              <a:buChar char="•"/>
            </a:pPr>
            <a:r>
              <a:rPr lang="en-US" altLang="zh-CN" dirty="0">
                <a:ea typeface="宋体" panose="02010600030101010101" pitchFamily="2" charset="-122"/>
              </a:rPr>
              <a:t>Throw out duplicate packets</a:t>
            </a:r>
          </a:p>
          <a:p>
            <a:pPr marL="876300" lvl="1" indent="-419100" algn="l" eaLnBrk="1" hangingPunct="1">
              <a:lnSpc>
                <a:spcPct val="115000"/>
              </a:lnSpc>
              <a:spcBef>
                <a:spcPct val="35000"/>
              </a:spcBef>
              <a:buClr>
                <a:srgbClr val="CC6600"/>
              </a:buClr>
              <a:buSzPct val="80000"/>
              <a:buFont typeface="Monotype Sorts" pitchFamily="92" charset="2"/>
              <a:buChar char="l"/>
            </a:pPr>
            <a:r>
              <a:rPr lang="en-US" altLang="zh-CN" dirty="0">
                <a:ea typeface="宋体" panose="02010600030101010101" pitchFamily="2" charset="-122"/>
              </a:rPr>
              <a:t>Hop counter </a:t>
            </a:r>
          </a:p>
          <a:p>
            <a:pPr marL="876300" lvl="1" indent="-419100" algn="l" eaLnBrk="1" hangingPunct="1">
              <a:lnSpc>
                <a:spcPct val="115000"/>
              </a:lnSpc>
              <a:spcBef>
                <a:spcPct val="35000"/>
              </a:spcBef>
              <a:buClr>
                <a:srgbClr val="CC6600"/>
              </a:buClr>
              <a:buSzPct val="80000"/>
              <a:buFont typeface="Monotype Sorts" pitchFamily="92" charset="2"/>
              <a:buChar char="l"/>
            </a:pPr>
            <a:r>
              <a:rPr lang="en-US" altLang="zh-CN" dirty="0">
                <a:ea typeface="宋体" panose="02010600030101010101" pitchFamily="2" charset="-122"/>
              </a:rPr>
              <a:t>To keep track of the flooded packets</a:t>
            </a:r>
          </a:p>
          <a:p>
            <a:pPr marL="457200" indent="-457200">
              <a:buFont typeface="Arial" panose="020B0604020202020204" pitchFamily="34" charset="0"/>
              <a:buChar char="•"/>
            </a:pPr>
            <a:endParaRPr lang="en-US" altLang="zh-CN" dirty="0">
              <a:ea typeface="宋体" panose="02010600030101010101" pitchFamily="2" charset="-122"/>
            </a:endParaRPr>
          </a:p>
        </p:txBody>
      </p:sp>
      <p:sp>
        <p:nvSpPr>
          <p:cNvPr id="2" name="矩形 1">
            <a:extLst>
              <a:ext uri="{FF2B5EF4-FFF2-40B4-BE49-F238E27FC236}">
                <a16:creationId xmlns:a16="http://schemas.microsoft.com/office/drawing/2014/main" id="{FAE77032-B781-4304-8D05-1DA44C69647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Flooding(1)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FAE77032-B781-4304-8D05-1DA44C69647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Flooding(2)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Rectangle 3">
            <a:extLst>
              <a:ext uri="{FF2B5EF4-FFF2-40B4-BE49-F238E27FC236}">
                <a16:creationId xmlns:a16="http://schemas.microsoft.com/office/drawing/2014/main" id="{594A9C02-F5E7-425B-B51B-3DA964475A20}"/>
              </a:ext>
            </a:extLst>
          </p:cNvPr>
          <p:cNvSpPr>
            <a:spLocks noGrp="1" noChangeArrowheads="1"/>
          </p:cNvSpPr>
          <p:nvPr>
            <p:ph idx="1"/>
          </p:nvPr>
        </p:nvSpPr>
        <p:spPr>
          <a:xfrm>
            <a:off x="1198562" y="1273176"/>
            <a:ext cx="8440737" cy="4146550"/>
          </a:xfrm>
        </p:spPr>
        <p:txBody>
          <a:bodyPr>
            <a:normAutofit/>
          </a:bodyPr>
          <a:lstStyle/>
          <a:p>
            <a:pPr marL="0" indent="0"/>
            <a:r>
              <a:rPr lang="en-US" altLang="zh-CN" u="sng" dirty="0">
                <a:ea typeface="宋体" pitchFamily="2" charset="-122"/>
              </a:rPr>
              <a:t>Flooding is not practical</a:t>
            </a:r>
            <a:r>
              <a:rPr lang="en-US" altLang="zh-CN" dirty="0">
                <a:ea typeface="宋体" pitchFamily="2" charset="-122"/>
              </a:rPr>
              <a:t>:</a:t>
            </a:r>
          </a:p>
          <a:p>
            <a:pPr lvl="1"/>
            <a:r>
              <a:rPr lang="en-US" altLang="zh-CN" dirty="0">
                <a:ea typeface="宋体" pitchFamily="2" charset="-122"/>
              </a:rPr>
              <a:t>Sending most packets</a:t>
            </a:r>
          </a:p>
          <a:p>
            <a:pPr lvl="1"/>
            <a:r>
              <a:rPr lang="en-US" altLang="zh-CN" dirty="0">
                <a:ea typeface="宋体" pitchFamily="2" charset="-122"/>
              </a:rPr>
              <a:t>Wasteful</a:t>
            </a:r>
          </a:p>
          <a:p>
            <a:pPr marL="0" indent="0"/>
            <a:r>
              <a:rPr lang="en-US" altLang="zh-CN" u="sng" dirty="0">
                <a:ea typeface="宋体" pitchFamily="2" charset="-122"/>
              </a:rPr>
              <a:t>Flooding is Useful</a:t>
            </a:r>
            <a:r>
              <a:rPr lang="en-US" altLang="zh-CN" dirty="0">
                <a:ea typeface="宋体" pitchFamily="2" charset="-122"/>
              </a:rPr>
              <a:t>:</a:t>
            </a:r>
          </a:p>
          <a:p>
            <a:pPr lvl="1"/>
            <a:r>
              <a:rPr lang="en-US" altLang="zh-CN" dirty="0">
                <a:ea typeface="宋体" pitchFamily="2" charset="-122"/>
              </a:rPr>
              <a:t>Ensures that a packet is delivered to every node.</a:t>
            </a:r>
          </a:p>
          <a:p>
            <a:pPr lvl="1"/>
            <a:r>
              <a:rPr lang="en-US" altLang="zh-CN" dirty="0">
                <a:ea typeface="宋体" pitchFamily="2" charset="-122"/>
              </a:rPr>
              <a:t>Effective for broadcasting information.</a:t>
            </a:r>
          </a:p>
          <a:p>
            <a:pPr lvl="1"/>
            <a:r>
              <a:rPr lang="en-US" altLang="zh-CN" dirty="0">
                <a:ea typeface="宋体" pitchFamily="2" charset="-122"/>
              </a:rPr>
              <a:t>Tremendously robust and localized. </a:t>
            </a:r>
          </a:p>
          <a:p>
            <a:pPr lvl="1"/>
            <a:r>
              <a:rPr lang="en-US" altLang="zh-CN" dirty="0">
                <a:ea typeface="宋体" pitchFamily="2" charset="-122"/>
              </a:rPr>
              <a:t>Will find a path if one exists.</a:t>
            </a:r>
          </a:p>
          <a:p>
            <a:pPr lvl="1"/>
            <a:r>
              <a:rPr lang="en-US" altLang="zh-CN" dirty="0">
                <a:ea typeface="宋体" pitchFamily="2" charset="-122"/>
              </a:rPr>
              <a:t>Routers only need to know their neighbors. </a:t>
            </a:r>
          </a:p>
          <a:p>
            <a:pPr marL="0" indent="0"/>
            <a:endParaRPr lang="en-US" altLang="zh-CN" dirty="0">
              <a:ea typeface="宋体" pitchFamily="2" charset="-122"/>
            </a:endParaRPr>
          </a:p>
        </p:txBody>
      </p:sp>
    </p:spTree>
    <p:extLst>
      <p:ext uri="{BB962C8B-B14F-4D97-AF65-F5344CB8AC3E}">
        <p14:creationId xmlns:p14="http://schemas.microsoft.com/office/powerpoint/2010/main" val="2212368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FAE77032-B781-4304-8D05-1DA44C69647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Routing Types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Rectangle 3">
            <a:extLst>
              <a:ext uri="{FF2B5EF4-FFF2-40B4-BE49-F238E27FC236}">
                <a16:creationId xmlns:a16="http://schemas.microsoft.com/office/drawing/2014/main" id="{594A9C02-F5E7-425B-B51B-3DA964475A20}"/>
              </a:ext>
            </a:extLst>
          </p:cNvPr>
          <p:cNvSpPr>
            <a:spLocks noGrp="1" noChangeArrowheads="1"/>
          </p:cNvSpPr>
          <p:nvPr>
            <p:ph idx="1"/>
          </p:nvPr>
        </p:nvSpPr>
        <p:spPr>
          <a:xfrm>
            <a:off x="1198562" y="1273176"/>
            <a:ext cx="8440737" cy="4146550"/>
          </a:xfrm>
        </p:spPr>
        <p:txBody>
          <a:bodyPr>
            <a:normAutofit/>
          </a:bodyPr>
          <a:lstStyle/>
          <a:p>
            <a:pPr marL="457200" indent="-457200">
              <a:buFont typeface="Arial" panose="020B0604020202020204" pitchFamily="34" charset="0"/>
              <a:buChar char="•"/>
            </a:pPr>
            <a:r>
              <a:rPr lang="zh-CN" altLang="en-US" sz="3200" dirty="0">
                <a:latin typeface="微软雅黑" panose="020B0503020204020204" pitchFamily="34" charset="-122"/>
                <a:ea typeface="微软雅黑" panose="020B0503020204020204" pitchFamily="34" charset="-122"/>
              </a:rPr>
              <a:t>默认路由 </a:t>
            </a:r>
            <a:r>
              <a:rPr lang="en-US" altLang="zh-CN" sz="3200" dirty="0">
                <a:latin typeface="微软雅黑" panose="020B0503020204020204" pitchFamily="34" charset="-122"/>
                <a:ea typeface="微软雅黑" panose="020B0503020204020204" pitchFamily="34" charset="-122"/>
              </a:rPr>
              <a:t>Default Routing</a:t>
            </a:r>
          </a:p>
          <a:p>
            <a:pPr marL="457200" indent="-457200">
              <a:buFont typeface="Arial" panose="020B0604020202020204" pitchFamily="34" charset="0"/>
              <a:buChar char="•"/>
            </a:pPr>
            <a:r>
              <a:rPr lang="zh-CN" altLang="en-US" sz="3200" dirty="0">
                <a:latin typeface="微软雅黑" panose="020B0503020204020204" pitchFamily="34" charset="-122"/>
                <a:ea typeface="微软雅黑" panose="020B0503020204020204" pitchFamily="34" charset="-122"/>
              </a:rPr>
              <a:t>静态路由 </a:t>
            </a:r>
            <a:r>
              <a:rPr lang="en-US" altLang="zh-CN" sz="3200" dirty="0">
                <a:latin typeface="微软雅黑" panose="020B0503020204020204" pitchFamily="34" charset="-122"/>
                <a:ea typeface="微软雅黑" panose="020B0503020204020204" pitchFamily="34" charset="-122"/>
              </a:rPr>
              <a:t>Static Routing</a:t>
            </a:r>
          </a:p>
          <a:p>
            <a:pPr marL="457200" indent="-457200">
              <a:buFont typeface="Arial" panose="020B0604020202020204" pitchFamily="34" charset="0"/>
              <a:buChar char="•"/>
            </a:pPr>
            <a:r>
              <a:rPr lang="zh-CN" altLang="en-US" sz="3200" dirty="0">
                <a:latin typeface="微软雅黑" panose="020B0503020204020204" pitchFamily="34" charset="-122"/>
                <a:ea typeface="微软雅黑" panose="020B0503020204020204" pitchFamily="34" charset="-122"/>
              </a:rPr>
              <a:t>动态路由 </a:t>
            </a:r>
            <a:r>
              <a:rPr lang="en-US" altLang="zh-CN" sz="3200" dirty="0">
                <a:latin typeface="微软雅黑" panose="020B0503020204020204" pitchFamily="34" charset="-122"/>
                <a:ea typeface="微软雅黑" panose="020B0503020204020204" pitchFamily="34" charset="-122"/>
              </a:rPr>
              <a:t>Dynamic Routing</a:t>
            </a:r>
          </a:p>
          <a:p>
            <a:pPr lvl="1">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距离矢量路由协议</a:t>
            </a:r>
            <a:endParaRPr lang="en-US" altLang="zh-CN" sz="2800" dirty="0">
              <a:latin typeface="微软雅黑" panose="020B0503020204020204" pitchFamily="34" charset="-122"/>
              <a:ea typeface="微软雅黑" panose="020B0503020204020204" pitchFamily="34" charset="-122"/>
            </a:endParaRPr>
          </a:p>
          <a:p>
            <a:pPr lvl="1">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链路状态路由协议</a:t>
            </a:r>
            <a:endParaRPr lang="en-US" altLang="zh-CN"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42329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36868" name="Content Placeholder 2"/>
          <p:cNvSpPr>
            <a:spLocks noGrp="1"/>
          </p:cNvSpPr>
          <p:nvPr>
            <p:ph idx="1"/>
          </p:nvPr>
        </p:nvSpPr>
        <p:spPr>
          <a:xfrm>
            <a:off x="1524000" y="1297016"/>
            <a:ext cx="9375228" cy="4011720"/>
          </a:xfrm>
        </p:spPr>
        <p:txBody>
          <a:bodyPr>
            <a:normAutofit lnSpcReduction="10000"/>
          </a:bodyPr>
          <a:lstStyle/>
          <a:p>
            <a:r>
              <a:rPr lang="en-US" altLang="zh-CN" u="sng" dirty="0">
                <a:ea typeface="宋体" panose="02010600030101010101" pitchFamily="2" charset="-122"/>
              </a:rPr>
              <a:t>Distance vector</a:t>
            </a:r>
            <a:r>
              <a:rPr lang="en-US" altLang="zh-CN" dirty="0">
                <a:ea typeface="宋体" panose="02010600030101010101" pitchFamily="2" charset="-122"/>
              </a:rPr>
              <a:t> is a distributed routing algorithm</a:t>
            </a:r>
          </a:p>
          <a:p>
            <a:pPr lvl="1"/>
            <a:r>
              <a:rPr lang="en-US" altLang="zh-CN" dirty="0">
                <a:ea typeface="宋体" panose="02010600030101010101" pitchFamily="2" charset="-122"/>
              </a:rPr>
              <a:t>Shortest path computation is split across nodes</a:t>
            </a:r>
          </a:p>
          <a:p>
            <a:pPr lvl="1"/>
            <a:r>
              <a:rPr lang="en-US" altLang="zh-CN" dirty="0">
                <a:ea typeface="宋体" panose="02010600030101010101" pitchFamily="2" charset="-122"/>
              </a:rPr>
              <a:t>The distance vector routing algorithm: Bellman-Ford Algorithm</a:t>
            </a:r>
          </a:p>
          <a:p>
            <a:endParaRPr lang="en-US" altLang="zh-CN" dirty="0">
              <a:ea typeface="宋体" panose="02010600030101010101" pitchFamily="2" charset="-122"/>
            </a:endParaRPr>
          </a:p>
          <a:p>
            <a:r>
              <a:rPr lang="en-US" altLang="zh-CN" dirty="0">
                <a:ea typeface="宋体" panose="02010600030101010101" pitchFamily="2" charset="-122"/>
              </a:rPr>
              <a:t>Algorithm:</a:t>
            </a:r>
          </a:p>
          <a:p>
            <a:pPr lvl="1"/>
            <a:r>
              <a:rPr lang="en-US" altLang="zh-CN" dirty="0">
                <a:ea typeface="宋体" panose="02010600030101010101" pitchFamily="2" charset="-122"/>
              </a:rPr>
              <a:t>Each node knows distance of links to its neighbors</a:t>
            </a:r>
          </a:p>
          <a:p>
            <a:pPr lvl="1"/>
            <a:r>
              <a:rPr lang="en-US" altLang="zh-CN" dirty="0">
                <a:ea typeface="宋体" panose="02010600030101010101" pitchFamily="2" charset="-122"/>
              </a:rPr>
              <a:t>Each node advertises vector of lowest known distances to all neighbors</a:t>
            </a:r>
          </a:p>
          <a:p>
            <a:pPr lvl="1"/>
            <a:r>
              <a:rPr lang="en-US" altLang="zh-CN" dirty="0">
                <a:ea typeface="宋体" panose="02010600030101010101" pitchFamily="2" charset="-122"/>
              </a:rPr>
              <a:t>Each node uses received vectors to update its own</a:t>
            </a:r>
          </a:p>
          <a:p>
            <a:pPr lvl="1"/>
            <a:r>
              <a:rPr lang="en-US" altLang="zh-CN" dirty="0">
                <a:ea typeface="宋体" panose="02010600030101010101" pitchFamily="2" charset="-122"/>
              </a:rPr>
              <a:t>Repeat periodically</a:t>
            </a:r>
          </a:p>
        </p:txBody>
      </p:sp>
      <p:sp>
        <p:nvSpPr>
          <p:cNvPr id="2" name="矩形 1">
            <a:extLst>
              <a:ext uri="{FF2B5EF4-FFF2-40B4-BE49-F238E27FC236}">
                <a16:creationId xmlns:a16="http://schemas.microsoft.com/office/drawing/2014/main" id="{9AFD5EF2-28CB-4769-B080-6C86DD296F9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Distance Vector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sp>
        <p:nvSpPr>
          <p:cNvPr id="3" name="矩形 2">
            <a:extLst>
              <a:ext uri="{FF2B5EF4-FFF2-40B4-BE49-F238E27FC236}">
                <a16:creationId xmlns:a16="http://schemas.microsoft.com/office/drawing/2014/main" id="{F4F0B9FF-0FFF-4FC3-BFE0-11535B9B8BD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Distance Vector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C3BC2C5F-3A13-438C-8560-E872EB8370D5}"/>
              </a:ext>
            </a:extLst>
          </p:cNvPr>
          <p:cNvPicPr>
            <a:picLocks noChangeAspect="1"/>
          </p:cNvPicPr>
          <p:nvPr/>
        </p:nvPicPr>
        <p:blipFill>
          <a:blip r:embed="rId2"/>
          <a:stretch>
            <a:fillRect/>
          </a:stretch>
        </p:blipFill>
        <p:spPr>
          <a:xfrm>
            <a:off x="1409136" y="1159784"/>
            <a:ext cx="8724607" cy="4836096"/>
          </a:xfrm>
          <a:prstGeom prst="rect">
            <a:avLst/>
          </a:prstGeom>
        </p:spPr>
      </p:pic>
    </p:spTree>
    <p:extLst>
      <p:ext uri="{BB962C8B-B14F-4D97-AF65-F5344CB8AC3E}">
        <p14:creationId xmlns:p14="http://schemas.microsoft.com/office/powerpoint/2010/main" val="29513914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sp>
        <p:nvSpPr>
          <p:cNvPr id="3" name="矩形 2">
            <a:extLst>
              <a:ext uri="{FF2B5EF4-FFF2-40B4-BE49-F238E27FC236}">
                <a16:creationId xmlns:a16="http://schemas.microsoft.com/office/drawing/2014/main" id="{F4F0B9FF-0FFF-4FC3-BFE0-11535B9B8BD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Bellman-Ford Example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AD0EAFCF-0EF3-4951-96EE-CCC104176847}"/>
              </a:ext>
            </a:extLst>
          </p:cNvPr>
          <p:cNvPicPr>
            <a:picLocks noChangeAspect="1"/>
          </p:cNvPicPr>
          <p:nvPr/>
        </p:nvPicPr>
        <p:blipFill>
          <a:blip r:embed="rId2"/>
          <a:stretch>
            <a:fillRect/>
          </a:stretch>
        </p:blipFill>
        <p:spPr>
          <a:xfrm>
            <a:off x="1103239" y="1025031"/>
            <a:ext cx="9386431" cy="5178720"/>
          </a:xfrm>
          <a:prstGeom prst="rect">
            <a:avLst/>
          </a:prstGeom>
        </p:spPr>
      </p:pic>
      <p:cxnSp>
        <p:nvCxnSpPr>
          <p:cNvPr id="6" name="直接连接符 5">
            <a:extLst>
              <a:ext uri="{FF2B5EF4-FFF2-40B4-BE49-F238E27FC236}">
                <a16:creationId xmlns:a16="http://schemas.microsoft.com/office/drawing/2014/main" id="{387D2AD8-7EAE-4FC5-873A-A6E10B928D0C}"/>
              </a:ext>
            </a:extLst>
          </p:cNvPr>
          <p:cNvCxnSpPr>
            <a:cxnSpLocks/>
          </p:cNvCxnSpPr>
          <p:nvPr/>
        </p:nvCxnSpPr>
        <p:spPr>
          <a:xfrm>
            <a:off x="1702330" y="2590801"/>
            <a:ext cx="478972" cy="457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1A59B2C1-BE95-42BF-AB8A-8A3D6868C283}"/>
              </a:ext>
            </a:extLst>
          </p:cNvPr>
          <p:cNvCxnSpPr>
            <a:cxnSpLocks/>
          </p:cNvCxnSpPr>
          <p:nvPr/>
        </p:nvCxnSpPr>
        <p:spPr>
          <a:xfrm>
            <a:off x="2699657" y="3157191"/>
            <a:ext cx="64225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0598837-B3B8-458D-B0F5-5E919DCB2FF5}"/>
              </a:ext>
            </a:extLst>
          </p:cNvPr>
          <p:cNvCxnSpPr>
            <a:cxnSpLocks/>
          </p:cNvCxnSpPr>
          <p:nvPr/>
        </p:nvCxnSpPr>
        <p:spPr>
          <a:xfrm flipV="1">
            <a:off x="3882457" y="2664619"/>
            <a:ext cx="637155" cy="46944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026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276" y="1321594"/>
            <a:ext cx="5862637"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275" y="3999104"/>
            <a:ext cx="5862637"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4F0B9FF-0FFF-4FC3-BFE0-11535B9B8BD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Graphical idea behind Bellman-Ford equation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13744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6792" y="2222994"/>
            <a:ext cx="3748088"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6967" y="1410194"/>
            <a:ext cx="3189288"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B1CECB9-57E3-4837-BE74-03460E77EE9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distance vector corresponding to a tree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9947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3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8375" y="1158876"/>
            <a:ext cx="611188" cy="145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6200" y="1158876"/>
            <a:ext cx="611188" cy="145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0225" y="1143001"/>
            <a:ext cx="609600" cy="148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56688" y="3205164"/>
            <a:ext cx="609600" cy="149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3613" y="5172076"/>
            <a:ext cx="620712"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1438" y="5172076"/>
            <a:ext cx="620712"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24676" y="5172076"/>
            <a:ext cx="619125"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24264" y="2887663"/>
            <a:ext cx="5214937" cy="21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56CC96B4-A179-4F0A-A668-39649A511A2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first distance vector for an internet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300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512" y="1265572"/>
            <a:ext cx="382905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7681" y="3475516"/>
            <a:ext cx="3757613"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7564" y="1811120"/>
            <a:ext cx="2154237"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13A617E6-B6C8-4AB5-9553-ABD23282658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Updating distance vectors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9" name="Picture 16">
            <a:extLst>
              <a:ext uri="{FF2B5EF4-FFF2-40B4-BE49-F238E27FC236}">
                <a16:creationId xmlns:a16="http://schemas.microsoft.com/office/drawing/2014/main" id="{5CCF1049-7BD7-4508-BD5D-DE017858A2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372" y="4627693"/>
            <a:ext cx="3829050" cy="1556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3553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38916" name="Picture 2"/>
          <p:cNvPicPr>
            <a:picLocks noChangeAspect="1" noChangeArrowheads="1"/>
          </p:cNvPicPr>
          <p:nvPr/>
        </p:nvPicPr>
        <p:blipFill>
          <a:blip r:embed="rId2">
            <a:extLst>
              <a:ext uri="{28A0092B-C50C-407E-A947-70E740481C1C}">
                <a14:useLocalDpi xmlns:a14="http://schemas.microsoft.com/office/drawing/2010/main" val="0"/>
              </a:ext>
            </a:extLst>
          </a:blip>
          <a:srcRect b="8266"/>
          <a:stretch>
            <a:fillRect/>
          </a:stretch>
        </p:blipFill>
        <p:spPr bwMode="auto">
          <a:xfrm>
            <a:off x="754063" y="1064025"/>
            <a:ext cx="7143750" cy="477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TextBox 10"/>
          <p:cNvSpPr txBox="1">
            <a:spLocks noChangeArrowheads="1"/>
          </p:cNvSpPr>
          <p:nvPr/>
        </p:nvSpPr>
        <p:spPr bwMode="auto">
          <a:xfrm>
            <a:off x="1524000" y="3916763"/>
            <a:ext cx="1030288"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ea typeface="宋体" panose="02010600030101010101" pitchFamily="2" charset="-122"/>
              </a:rPr>
              <a:t>Network</a:t>
            </a:r>
          </a:p>
        </p:txBody>
      </p:sp>
      <p:sp>
        <p:nvSpPr>
          <p:cNvPr id="38918" name="TextBox 11"/>
          <p:cNvSpPr txBox="1">
            <a:spLocks noChangeArrowheads="1"/>
          </p:cNvSpPr>
          <p:nvPr/>
        </p:nvSpPr>
        <p:spPr bwMode="auto">
          <a:xfrm>
            <a:off x="3986214" y="5445525"/>
            <a:ext cx="2852737"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Vectors received at J from</a:t>
            </a:r>
          </a:p>
          <a:p>
            <a:pPr algn="ctr" eaLnBrk="1" hangingPunct="1">
              <a:spcBef>
                <a:spcPct val="0"/>
              </a:spcBef>
              <a:buClrTx/>
              <a:buFontTx/>
              <a:buNone/>
            </a:pPr>
            <a:r>
              <a:rPr lang="en-US" altLang="zh-CN" sz="1800">
                <a:ea typeface="宋体" panose="02010600030101010101" pitchFamily="2" charset="-122"/>
              </a:rPr>
              <a:t>Neighbors A, I, H and K</a:t>
            </a:r>
          </a:p>
        </p:txBody>
      </p:sp>
      <p:sp>
        <p:nvSpPr>
          <p:cNvPr id="38919" name="TextBox 12"/>
          <p:cNvSpPr txBox="1">
            <a:spLocks noChangeArrowheads="1"/>
          </p:cNvSpPr>
          <p:nvPr/>
        </p:nvSpPr>
        <p:spPr bwMode="auto">
          <a:xfrm>
            <a:off x="6507163" y="4713687"/>
            <a:ext cx="1397000" cy="646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ea typeface="宋体" panose="02010600030101010101" pitchFamily="2" charset="-122"/>
              </a:rPr>
              <a:t>New vector for J</a:t>
            </a:r>
          </a:p>
        </p:txBody>
      </p:sp>
      <p:sp>
        <p:nvSpPr>
          <p:cNvPr id="15" name="Left Brace 14"/>
          <p:cNvSpPr/>
          <p:nvPr/>
        </p:nvSpPr>
        <p:spPr bwMode="auto">
          <a:xfrm rot="16200000">
            <a:off x="7112794" y="4236643"/>
            <a:ext cx="215900" cy="776288"/>
          </a:xfrm>
          <a:prstGeom prst="leftBrace">
            <a:avLst/>
          </a:prstGeom>
          <a:solidFill>
            <a:schemeClr val="bg1"/>
          </a:solid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16" name="Left Brace 15"/>
          <p:cNvSpPr/>
          <p:nvPr/>
        </p:nvSpPr>
        <p:spPr bwMode="auto">
          <a:xfrm rot="16200000">
            <a:off x="5320507" y="4266806"/>
            <a:ext cx="201612" cy="2193925"/>
          </a:xfrm>
          <a:prstGeom prst="leftBrace">
            <a:avLst/>
          </a:prstGeom>
          <a:solidFill>
            <a:schemeClr val="bg1"/>
          </a:solidFill>
          <a:ln w="19050" cap="flat" cmpd="sng" algn="ctr">
            <a:solidFill>
              <a:schemeClr val="accent3">
                <a:lumMod val="60000"/>
                <a:lumOff val="40000"/>
              </a:schemeClr>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sp>
        <p:nvSpPr>
          <p:cNvPr id="2" name="矩形 1">
            <a:extLst>
              <a:ext uri="{FF2B5EF4-FFF2-40B4-BE49-F238E27FC236}">
                <a16:creationId xmlns:a16="http://schemas.microsoft.com/office/drawing/2014/main" id="{636741E5-F4AE-49CB-BB5A-B368C7A7D98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Distance Vector Routing – An Example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D88D56F4-DDA3-4CAC-894A-AC4394CBD463}"/>
              </a:ext>
            </a:extLst>
          </p:cNvPr>
          <p:cNvSpPr txBox="1"/>
          <p:nvPr/>
        </p:nvSpPr>
        <p:spPr>
          <a:xfrm>
            <a:off x="8138646" y="1145681"/>
            <a:ext cx="3864911" cy="5078313"/>
          </a:xfrm>
          <a:prstGeom prst="rect">
            <a:avLst/>
          </a:prstGeom>
          <a:noFill/>
        </p:spPr>
        <p:txBody>
          <a:bodyPr wrap="square" rtlCol="0">
            <a:spAutoFit/>
          </a:bodyPr>
          <a:lstStyle/>
          <a:p>
            <a:r>
              <a:rPr lang="en-US" altLang="zh-CN" dirty="0"/>
              <a:t>Consider how J computes its new route to router G. It knows that it can get to A in 8 msec, and furthermore A claims to be able to get to G in 18 msec, so J knows it can count on a delay of 26 msec to G if it forwards packets bound for G to A. Similarly, it computes the delay to G via I, H, and K as 41 (31 + 10), 18 (6 + 12), and 37 (31 + 6) msec, respectively. The best of these values is 18, so it makes an entry in its routing table that the delay to G is 18 msec and that the route to use is via H. The same calculation is performed for all the other destinations, with the new routing table shown in the last column of the figure.</a:t>
            </a:r>
            <a:endParaRPr lang="zh-CN" altLang="en-US" dirty="0"/>
          </a:p>
        </p:txBody>
      </p:sp>
      <p:sp>
        <p:nvSpPr>
          <p:cNvPr id="4" name="文本框 3">
            <a:extLst>
              <a:ext uri="{FF2B5EF4-FFF2-40B4-BE49-F238E27FC236}">
                <a16:creationId xmlns:a16="http://schemas.microsoft.com/office/drawing/2014/main" id="{B3076836-6461-4852-B72A-A7DA79E7F8D0}"/>
              </a:ext>
            </a:extLst>
          </p:cNvPr>
          <p:cNvSpPr txBox="1"/>
          <p:nvPr/>
        </p:nvSpPr>
        <p:spPr>
          <a:xfrm>
            <a:off x="1271936" y="2756571"/>
            <a:ext cx="284052" cy="307777"/>
          </a:xfrm>
          <a:prstGeom prst="rect">
            <a:avLst/>
          </a:prstGeom>
          <a:noFill/>
        </p:spPr>
        <p:txBody>
          <a:bodyPr wrap="none" rtlCol="0">
            <a:spAutoFit/>
          </a:bodyPr>
          <a:lstStyle/>
          <a:p>
            <a:r>
              <a:rPr lang="en-US" altLang="zh-CN" sz="1400" b="1" dirty="0">
                <a:solidFill>
                  <a:srgbClr val="FF0000"/>
                </a:solidFill>
              </a:rPr>
              <a:t>8</a:t>
            </a:r>
            <a:endParaRPr lang="zh-CN" altLang="en-US" sz="1400" b="1" dirty="0">
              <a:solidFill>
                <a:srgbClr val="FF0000"/>
              </a:solidFill>
            </a:endParaRPr>
          </a:p>
        </p:txBody>
      </p:sp>
      <p:sp>
        <p:nvSpPr>
          <p:cNvPr id="12" name="文本框 11">
            <a:extLst>
              <a:ext uri="{FF2B5EF4-FFF2-40B4-BE49-F238E27FC236}">
                <a16:creationId xmlns:a16="http://schemas.microsoft.com/office/drawing/2014/main" id="{8572399A-89BC-46EB-820C-858EAF1E6120}"/>
              </a:ext>
            </a:extLst>
          </p:cNvPr>
          <p:cNvSpPr txBox="1"/>
          <p:nvPr/>
        </p:nvSpPr>
        <p:spPr>
          <a:xfrm>
            <a:off x="1057775" y="3434687"/>
            <a:ext cx="383438" cy="307777"/>
          </a:xfrm>
          <a:prstGeom prst="rect">
            <a:avLst/>
          </a:prstGeom>
          <a:noFill/>
        </p:spPr>
        <p:txBody>
          <a:bodyPr wrap="none" rtlCol="0">
            <a:spAutoFit/>
          </a:bodyPr>
          <a:lstStyle/>
          <a:p>
            <a:r>
              <a:rPr lang="en-US" altLang="zh-CN" sz="1400" b="1" dirty="0">
                <a:solidFill>
                  <a:srgbClr val="FF0000"/>
                </a:solidFill>
              </a:rPr>
              <a:t>10</a:t>
            </a:r>
            <a:endParaRPr lang="zh-CN" altLang="en-US" sz="1400" b="1" dirty="0">
              <a:solidFill>
                <a:srgbClr val="FF0000"/>
              </a:solidFill>
            </a:endParaRPr>
          </a:p>
        </p:txBody>
      </p:sp>
      <p:sp>
        <p:nvSpPr>
          <p:cNvPr id="13" name="文本框 12">
            <a:extLst>
              <a:ext uri="{FF2B5EF4-FFF2-40B4-BE49-F238E27FC236}">
                <a16:creationId xmlns:a16="http://schemas.microsoft.com/office/drawing/2014/main" id="{D1CE09DF-4800-41F3-B1CD-DB2F8015E07A}"/>
              </a:ext>
            </a:extLst>
          </p:cNvPr>
          <p:cNvSpPr txBox="1"/>
          <p:nvPr/>
        </p:nvSpPr>
        <p:spPr>
          <a:xfrm>
            <a:off x="1852234" y="3462025"/>
            <a:ext cx="284052" cy="307777"/>
          </a:xfrm>
          <a:prstGeom prst="rect">
            <a:avLst/>
          </a:prstGeom>
          <a:noFill/>
        </p:spPr>
        <p:txBody>
          <a:bodyPr wrap="none" rtlCol="0">
            <a:spAutoFit/>
          </a:bodyPr>
          <a:lstStyle/>
          <a:p>
            <a:r>
              <a:rPr lang="en-US" altLang="zh-CN" sz="1400" b="1" dirty="0">
                <a:solidFill>
                  <a:srgbClr val="FF0000"/>
                </a:solidFill>
              </a:rPr>
              <a:t>6</a:t>
            </a:r>
            <a:endParaRPr lang="zh-CN" altLang="en-US" sz="1400" b="1" dirty="0">
              <a:solidFill>
                <a:srgbClr val="FF0000"/>
              </a:solidFill>
            </a:endParaRPr>
          </a:p>
        </p:txBody>
      </p:sp>
      <p:sp>
        <p:nvSpPr>
          <p:cNvPr id="14" name="文本框 13">
            <a:extLst>
              <a:ext uri="{FF2B5EF4-FFF2-40B4-BE49-F238E27FC236}">
                <a16:creationId xmlns:a16="http://schemas.microsoft.com/office/drawing/2014/main" id="{6C86DCE9-4416-4C4E-B07B-1E0378E89C82}"/>
              </a:ext>
            </a:extLst>
          </p:cNvPr>
          <p:cNvSpPr txBox="1"/>
          <p:nvPr/>
        </p:nvSpPr>
        <p:spPr>
          <a:xfrm>
            <a:off x="1944568" y="2889537"/>
            <a:ext cx="383438" cy="307777"/>
          </a:xfrm>
          <a:prstGeom prst="rect">
            <a:avLst/>
          </a:prstGeom>
          <a:noFill/>
        </p:spPr>
        <p:txBody>
          <a:bodyPr wrap="none" rtlCol="0">
            <a:spAutoFit/>
          </a:bodyPr>
          <a:lstStyle/>
          <a:p>
            <a:r>
              <a:rPr lang="en-US" altLang="zh-CN" sz="1400" b="1" dirty="0">
                <a:solidFill>
                  <a:srgbClr val="FF0000"/>
                </a:solidFill>
              </a:rPr>
              <a:t>12</a:t>
            </a:r>
            <a:endParaRPr lang="zh-CN" altLang="en-US" sz="1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39940" name="Rectangle 3"/>
          <p:cNvSpPr>
            <a:spLocks noGrp="1" noChangeArrowheads="1"/>
          </p:cNvSpPr>
          <p:nvPr>
            <p:ph idx="1"/>
          </p:nvPr>
        </p:nvSpPr>
        <p:spPr>
          <a:xfrm>
            <a:off x="800101" y="1129507"/>
            <a:ext cx="10515600" cy="978694"/>
          </a:xfrm>
        </p:spPr>
        <p:txBody>
          <a:bodyPr/>
          <a:lstStyle/>
          <a:p>
            <a:r>
              <a:rPr lang="en-US" altLang="zh-CN" dirty="0">
                <a:ea typeface="宋体" panose="02010600030101010101" pitchFamily="2" charset="-122"/>
              </a:rPr>
              <a:t>Failures can cause DV to “count to infinity” while seeking a path to an unreachable node</a:t>
            </a:r>
          </a:p>
        </p:txBody>
      </p:sp>
      <p:pic>
        <p:nvPicPr>
          <p:cNvPr id="39941" name="Picture 2"/>
          <p:cNvPicPr>
            <a:picLocks noChangeAspect="1" noChangeArrowheads="1"/>
          </p:cNvPicPr>
          <p:nvPr/>
        </p:nvPicPr>
        <p:blipFill>
          <a:blip r:embed="rId3">
            <a:extLst>
              <a:ext uri="{28A0092B-C50C-407E-A947-70E740481C1C}">
                <a14:useLocalDpi xmlns:a14="http://schemas.microsoft.com/office/drawing/2010/main" val="0"/>
              </a:ext>
            </a:extLst>
          </a:blip>
          <a:srcRect b="14085"/>
          <a:stretch>
            <a:fillRect/>
          </a:stretch>
        </p:blipFill>
        <p:spPr bwMode="auto">
          <a:xfrm>
            <a:off x="1995489" y="2589213"/>
            <a:ext cx="8239125"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TextBox 5"/>
          <p:cNvSpPr txBox="1">
            <a:spLocks noChangeArrowheads="1"/>
          </p:cNvSpPr>
          <p:nvPr/>
        </p:nvSpPr>
        <p:spPr bwMode="auto">
          <a:xfrm>
            <a:off x="2401093" y="4756428"/>
            <a:ext cx="3275014"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Good news of a path to </a:t>
            </a:r>
            <a:r>
              <a:rPr lang="en-US" altLang="zh-CN" sz="1800" i="1" dirty="0">
                <a:solidFill>
                  <a:srgbClr val="FF2BD8"/>
                </a:solidFill>
                <a:ea typeface="宋体" panose="02010600030101010101" pitchFamily="2" charset="-122"/>
              </a:rPr>
              <a:t>A</a:t>
            </a:r>
            <a:r>
              <a:rPr lang="en-US" altLang="zh-CN" sz="1800" dirty="0">
                <a:solidFill>
                  <a:srgbClr val="FF2BD8"/>
                </a:solidFill>
                <a:ea typeface="宋体" panose="02010600030101010101" pitchFamily="2" charset="-122"/>
              </a:rPr>
              <a:t> spreads quickly</a:t>
            </a:r>
          </a:p>
        </p:txBody>
      </p:sp>
      <p:sp>
        <p:nvSpPr>
          <p:cNvPr id="39943" name="TextBox 10"/>
          <p:cNvSpPr txBox="1">
            <a:spLocks noChangeArrowheads="1"/>
          </p:cNvSpPr>
          <p:nvPr/>
        </p:nvSpPr>
        <p:spPr bwMode="auto">
          <a:xfrm>
            <a:off x="6469064" y="2851150"/>
            <a:ext cx="339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X</a:t>
            </a:r>
          </a:p>
        </p:txBody>
      </p:sp>
      <p:sp>
        <p:nvSpPr>
          <p:cNvPr id="39944" name="TextBox 11"/>
          <p:cNvSpPr txBox="1">
            <a:spLocks noChangeArrowheads="1"/>
          </p:cNvSpPr>
          <p:nvPr/>
        </p:nvSpPr>
        <p:spPr bwMode="auto">
          <a:xfrm>
            <a:off x="6943724" y="5618163"/>
            <a:ext cx="3394076"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Bad news of no path to </a:t>
            </a:r>
            <a:r>
              <a:rPr lang="en-US" altLang="zh-CN" sz="1800" i="1" dirty="0">
                <a:solidFill>
                  <a:srgbClr val="FF2BD8"/>
                </a:solidFill>
                <a:ea typeface="宋体" panose="02010600030101010101" pitchFamily="2" charset="-122"/>
              </a:rPr>
              <a:t>A</a:t>
            </a:r>
            <a:r>
              <a:rPr lang="en-US" altLang="zh-CN" sz="1800" dirty="0">
                <a:solidFill>
                  <a:srgbClr val="FF2BD8"/>
                </a:solidFill>
                <a:ea typeface="宋体" panose="02010600030101010101" pitchFamily="2" charset="-122"/>
              </a:rPr>
              <a:t> is learned slowly</a:t>
            </a:r>
          </a:p>
        </p:txBody>
      </p:sp>
      <p:sp>
        <p:nvSpPr>
          <p:cNvPr id="2" name="矩形 1">
            <a:extLst>
              <a:ext uri="{FF2B5EF4-FFF2-40B4-BE49-F238E27FC236}">
                <a16:creationId xmlns:a16="http://schemas.microsoft.com/office/drawing/2014/main" id="{4EE33C60-D942-4F18-8498-DEEF3C32C72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The Count-to-Infinity Problem</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4EE33C60-D942-4F18-8498-DEEF3C32C72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Example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 name="Rectangle 6">
            <a:extLst>
              <a:ext uri="{FF2B5EF4-FFF2-40B4-BE49-F238E27FC236}">
                <a16:creationId xmlns:a16="http://schemas.microsoft.com/office/drawing/2014/main" id="{BAAA658B-9888-4068-8E1D-F0FAFECE2B52}"/>
              </a:ext>
            </a:extLst>
          </p:cNvPr>
          <p:cNvSpPr>
            <a:spLocks noChangeArrowheads="1"/>
          </p:cNvSpPr>
          <p:nvPr/>
        </p:nvSpPr>
        <p:spPr bwMode="auto">
          <a:xfrm>
            <a:off x="488836" y="1017285"/>
            <a:ext cx="11214327"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tIns="0" anchor="ctr">
            <a:spAutoFit/>
          </a:bodyPr>
          <a:lstStyle/>
          <a:p>
            <a:pPr algn="l">
              <a:tabLst>
                <a:tab pos="158750" algn="l"/>
              </a:tabLst>
              <a:defRPr/>
            </a:pP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考虑如下子网，</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为路由器。采用距离矢量路由算法。</a:t>
            </a:r>
            <a:endParaRPr lang="zh-CN" altLang="en-US" sz="1600" dirty="0">
              <a:solidFill>
                <a:schemeClr val="bg1">
                  <a:lumMod val="10000"/>
                </a:schemeClr>
              </a:solidFill>
              <a:latin typeface="微软雅黑" panose="020B0503020204020204" pitchFamily="34" charset="-122"/>
              <a:ea typeface="微软雅黑" panose="020B0503020204020204" pitchFamily="34" charset="-122"/>
            </a:endParaRPr>
          </a:p>
          <a:p>
            <a:pPr algn="l">
              <a:spcBef>
                <a:spcPct val="0"/>
              </a:spcBef>
              <a:tabLst>
                <a:tab pos="158750" algn="l"/>
              </a:tabLst>
              <a:defRPr/>
            </a:pP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）分析</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路由器的路由表中存储的</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到路由器</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的距离及形成过程。</a:t>
            </a:r>
            <a:endParaRPr lang="zh-CN" altLang="en-US" sz="1600" dirty="0">
              <a:solidFill>
                <a:schemeClr val="bg1">
                  <a:lumMod val="10000"/>
                </a:schemeClr>
              </a:solidFill>
              <a:latin typeface="微软雅黑" panose="020B0503020204020204" pitchFamily="34" charset="-122"/>
              <a:ea typeface="微软雅黑" panose="020B0503020204020204" pitchFamily="34" charset="-122"/>
            </a:endParaRPr>
          </a:p>
          <a:p>
            <a:pPr algn="l">
              <a:spcBef>
                <a:spcPct val="0"/>
              </a:spcBef>
              <a:tabLst>
                <a:tab pos="158750" algn="l"/>
              </a:tabLst>
              <a:defRPr/>
            </a:pP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2</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）假设链路</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BD</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断开，分析</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路由器的路由表中存储的</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到路由器</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的距离的变化过程。</a:t>
            </a:r>
            <a:endParaRPr lang="zh-CN" altLang="en-US" sz="1600" dirty="0">
              <a:solidFill>
                <a:schemeClr val="bg1">
                  <a:lumMod val="10000"/>
                </a:schemeClr>
              </a:solidFill>
              <a:latin typeface="微软雅黑" panose="020B0503020204020204" pitchFamily="34" charset="-122"/>
              <a:ea typeface="微软雅黑" panose="020B0503020204020204" pitchFamily="34" charset="-122"/>
            </a:endParaRPr>
          </a:p>
          <a:p>
            <a:pPr algn="l">
              <a:spcBef>
                <a:spcPct val="0"/>
              </a:spcBef>
              <a:tabLst>
                <a:tab pos="158750" algn="l"/>
              </a:tabLst>
              <a:defRPr/>
            </a:pP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3</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）在链路</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BD</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断开一段时间后，进一步假设链路</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AB</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也断开，分析</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路由器在构造路由表，生成</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到路由器</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en-US"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的距离时会出现什么问题？</a:t>
            </a:r>
            <a:endParaRPr lang="zh-CN" altLang="en-US" sz="1600" dirty="0">
              <a:solidFill>
                <a:schemeClr val="bg1">
                  <a:lumMod val="10000"/>
                </a:schemeClr>
              </a:solidFill>
              <a:latin typeface="微软雅黑" panose="020B0503020204020204" pitchFamily="34" charset="-122"/>
              <a:ea typeface="微软雅黑" panose="020B0503020204020204" pitchFamily="34" charset="-122"/>
            </a:endParaRPr>
          </a:p>
        </p:txBody>
      </p:sp>
      <p:pic>
        <p:nvPicPr>
          <p:cNvPr id="5" name="Picture 5" descr="뽠 뽨 X">
            <a:extLst>
              <a:ext uri="{FF2B5EF4-FFF2-40B4-BE49-F238E27FC236}">
                <a16:creationId xmlns:a16="http://schemas.microsoft.com/office/drawing/2014/main" id="{C78F2CC2-E040-4BAE-A4BE-95551FDA16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6988" y="3340359"/>
            <a:ext cx="2869481" cy="1764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内容占位符 2">
            <a:extLst>
              <a:ext uri="{FF2B5EF4-FFF2-40B4-BE49-F238E27FC236}">
                <a16:creationId xmlns:a16="http://schemas.microsoft.com/office/drawing/2014/main" id="{91D5775B-3344-4BD8-A56C-F8C710B37053}"/>
              </a:ext>
            </a:extLst>
          </p:cNvPr>
          <p:cNvSpPr>
            <a:spLocks noGrp="1"/>
          </p:cNvSpPr>
          <p:nvPr>
            <p:ph idx="1"/>
          </p:nvPr>
        </p:nvSpPr>
        <p:spPr>
          <a:xfrm>
            <a:off x="488836" y="3340359"/>
            <a:ext cx="8403237" cy="1760482"/>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tIns="0" anchor="ctr">
            <a:spAutoFit/>
          </a:bodyPr>
          <a:lstStyle/>
          <a:p>
            <a:pPr marL="0">
              <a:tabLst>
                <a:tab pos="158750" algn="l"/>
              </a:tabLst>
            </a:pP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答：</a:t>
            </a:r>
          </a:p>
          <a:p>
            <a:pPr marL="0">
              <a:tabLst>
                <a:tab pos="158750" algn="l"/>
              </a:tabLst>
            </a:pP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初始时记录到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11</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。当</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收到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发来的申明：“到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3</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修改自己的路由表项：“到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10</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，通过</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”；同时</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申明：“到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4</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，通过</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”，故</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修改其路由表：“到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，通过</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p>
          <a:p>
            <a:pPr marL="0">
              <a:tabLst>
                <a:tab pos="158750" algn="l"/>
              </a:tabLst>
            </a:pP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2</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）所有路由器重新查找到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的路径。所有路由器通过</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。路由器</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的距离为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11</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p>
          <a:p>
            <a:pPr marL="0">
              <a:tabLst>
                <a:tab pos="158750" algn="l"/>
              </a:tabLst>
            </a:pP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3</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）会出现“无穷计算问题”。</a:t>
            </a:r>
          </a:p>
        </p:txBody>
      </p:sp>
    </p:spTree>
    <p:extLst>
      <p:ext uri="{BB962C8B-B14F-4D97-AF65-F5344CB8AC3E}">
        <p14:creationId xmlns:p14="http://schemas.microsoft.com/office/powerpoint/2010/main" val="122978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4EE33C60-D942-4F18-8498-DEEF3C32C72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Example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4" name="Rectangle 6">
            <a:extLst>
              <a:ext uri="{FF2B5EF4-FFF2-40B4-BE49-F238E27FC236}">
                <a16:creationId xmlns:a16="http://schemas.microsoft.com/office/drawing/2014/main" id="{BAAA658B-9888-4068-8E1D-F0FAFECE2B52}"/>
              </a:ext>
            </a:extLst>
          </p:cNvPr>
          <p:cNvSpPr>
            <a:spLocks noChangeArrowheads="1"/>
          </p:cNvSpPr>
          <p:nvPr/>
        </p:nvSpPr>
        <p:spPr bwMode="auto">
          <a:xfrm>
            <a:off x="488836" y="1045481"/>
            <a:ext cx="11214327" cy="1667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45720" rtlCol="0" anchor="ctr">
            <a:spAutoFit/>
          </a:bodyPr>
          <a:lstStyle/>
          <a:p>
            <a:pPr indent="-228600">
              <a:lnSpc>
                <a:spcPct val="90000"/>
              </a:lnSpc>
              <a:spcBef>
                <a:spcPts val="1000"/>
              </a:spcBef>
              <a:buFont typeface="Arial" pitchFamily="34" charset="0"/>
              <a:buNone/>
              <a:tabLst>
                <a:tab pos="158750" algn="l"/>
              </a:tabLst>
            </a:pP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对于下图所示的通信子网，采用距离矢量路由选择算法。当以下矢量刚进入路由器</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p>
          <a:p>
            <a:pPr marL="57150" indent="-285750">
              <a:lnSpc>
                <a:spcPct val="90000"/>
              </a:lnSpc>
              <a:spcBef>
                <a:spcPts val="1000"/>
              </a:spcBef>
              <a:buFont typeface="Arial" panose="020B0604020202020204" pitchFamily="34" charset="0"/>
              <a:buChar char="•"/>
              <a:tabLst>
                <a:tab pos="158750" algn="l"/>
              </a:tabLst>
            </a:pP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来自</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(5</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0</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8</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12</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2)</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表示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E</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F</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的延迟分别为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5</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0</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8</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12</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2</a:t>
            </a:r>
            <a:endPar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endParaRPr>
          </a:p>
          <a:p>
            <a:pPr marL="57150" indent="-285750">
              <a:lnSpc>
                <a:spcPct val="90000"/>
              </a:lnSpc>
              <a:spcBef>
                <a:spcPts val="1000"/>
              </a:spcBef>
              <a:buFont typeface="Arial" panose="020B0604020202020204" pitchFamily="34" charset="0"/>
              <a:buChar char="•"/>
              <a:tabLst>
                <a:tab pos="158750" algn="l"/>
              </a:tabLst>
            </a:pP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来自</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12</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0</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9</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10)</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表示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E</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F</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的延迟分别为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12</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0</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9</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10</a:t>
            </a:r>
            <a:endPar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endParaRPr>
          </a:p>
          <a:p>
            <a:pPr marL="57150" indent="-285750">
              <a:lnSpc>
                <a:spcPct val="90000"/>
              </a:lnSpc>
              <a:spcBef>
                <a:spcPts val="1000"/>
              </a:spcBef>
              <a:buFont typeface="Arial" panose="020B0604020202020204" pitchFamily="34" charset="0"/>
              <a:buChar char="•"/>
              <a:tabLst>
                <a:tab pos="158750" algn="l"/>
              </a:tabLst>
            </a:pP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来自</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E</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(7</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3</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9</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0</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4)</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表示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E</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E</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F</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的延迟分别为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7</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3</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9</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0</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4</a:t>
            </a:r>
            <a:endPar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endParaRPr>
          </a:p>
          <a:p>
            <a:pPr marL="57150" indent="-285750">
              <a:lnSpc>
                <a:spcPct val="90000"/>
              </a:lnSpc>
              <a:spcBef>
                <a:spcPts val="1000"/>
              </a:spcBef>
              <a:buFont typeface="Arial" panose="020B0604020202020204" pitchFamily="34" charset="0"/>
              <a:buChar char="•"/>
              <a:tabLst>
                <a:tab pos="158750" algn="l"/>
              </a:tabLst>
            </a:pP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到</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B</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D</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E</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的延迟分别为</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6</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3</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5</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。请问</a:t>
            </a:r>
            <a:r>
              <a:rPr lang="en-US"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C</a:t>
            </a:r>
            <a:r>
              <a:rPr lang="zh-CN" altLang="zh-CN" sz="1600" dirty="0">
                <a:solidFill>
                  <a:schemeClr val="bg1">
                    <a:lumMod val="10000"/>
                  </a:schemeClr>
                </a:solidFill>
                <a:latin typeface="微软雅黑" panose="020B0503020204020204" pitchFamily="34" charset="-122"/>
                <a:ea typeface="微软雅黑" panose="020B0503020204020204" pitchFamily="34" charset="-122"/>
                <a:cs typeface="Times New Roman" pitchFamily="18" charset="0"/>
              </a:rPr>
              <a:t>的路由表是什么？即给出采用的输出线路和预计延迟。</a:t>
            </a:r>
          </a:p>
        </p:txBody>
      </p:sp>
      <p:graphicFrame>
        <p:nvGraphicFramePr>
          <p:cNvPr id="11" name="内容占位符 3">
            <a:extLst>
              <a:ext uri="{FF2B5EF4-FFF2-40B4-BE49-F238E27FC236}">
                <a16:creationId xmlns:a16="http://schemas.microsoft.com/office/drawing/2014/main" id="{8EB4568A-A1F0-463D-975C-05F6D22A1CE4}"/>
              </a:ext>
            </a:extLst>
          </p:cNvPr>
          <p:cNvGraphicFramePr>
            <a:graphicFrameLocks/>
          </p:cNvGraphicFramePr>
          <p:nvPr>
            <p:extLst>
              <p:ext uri="{D42A27DB-BD31-4B8C-83A1-F6EECF244321}">
                <p14:modId xmlns:p14="http://schemas.microsoft.com/office/powerpoint/2010/main" val="4197564203"/>
              </p:ext>
            </p:extLst>
          </p:nvPr>
        </p:nvGraphicFramePr>
        <p:xfrm>
          <a:off x="983226" y="3854245"/>
          <a:ext cx="3972231" cy="2172933"/>
        </p:xfrm>
        <a:graphic>
          <a:graphicData uri="http://schemas.openxmlformats.org/drawingml/2006/table">
            <a:tbl>
              <a:tblPr firstRow="1" firstCol="1" lastRow="1" lastCol="1" bandRow="1" bandCol="1"/>
              <a:tblGrid>
                <a:gridCol w="1324077">
                  <a:extLst>
                    <a:ext uri="{9D8B030D-6E8A-4147-A177-3AD203B41FA5}">
                      <a16:colId xmlns:a16="http://schemas.microsoft.com/office/drawing/2014/main" val="20000"/>
                    </a:ext>
                  </a:extLst>
                </a:gridCol>
                <a:gridCol w="1324077">
                  <a:extLst>
                    <a:ext uri="{9D8B030D-6E8A-4147-A177-3AD203B41FA5}">
                      <a16:colId xmlns:a16="http://schemas.microsoft.com/office/drawing/2014/main" val="20001"/>
                    </a:ext>
                  </a:extLst>
                </a:gridCol>
                <a:gridCol w="1324077">
                  <a:extLst>
                    <a:ext uri="{9D8B030D-6E8A-4147-A177-3AD203B41FA5}">
                      <a16:colId xmlns:a16="http://schemas.microsoft.com/office/drawing/2014/main" val="20002"/>
                    </a:ext>
                  </a:extLst>
                </a:gridCol>
              </a:tblGrid>
              <a:tr h="310419">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ctr">
                        <a:spcAft>
                          <a:spcPts val="0"/>
                        </a:spcAft>
                      </a:pPr>
                      <a:r>
                        <a:rPr lang="zh-CN" sz="1600" kern="100" dirty="0">
                          <a:solidFill>
                            <a:schemeClr val="bg1">
                              <a:lumMod val="10000"/>
                            </a:schemeClr>
                          </a:solidFill>
                          <a:effectLst/>
                        </a:rPr>
                        <a:t>目的地</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38100" cmpd="sng">
                      <a:solidFill>
                        <a:srgbClr val="FFFF99"/>
                      </a:solidFill>
                    </a:lnB>
                    <a:lnTlToBr w="12700" cmpd="sng">
                      <a:noFill/>
                      <a:prstDash val="solid"/>
                    </a:lnTlToBr>
                    <a:lnBlToTr w="12700" cmpd="sng">
                      <a:noFill/>
                      <a:prstDash val="solid"/>
                    </a:lnBlToTr>
                    <a:solidFill>
                      <a:srgbClr val="FFCCCC"/>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ctr">
                        <a:spcAft>
                          <a:spcPts val="0"/>
                        </a:spcAft>
                      </a:pPr>
                      <a:r>
                        <a:rPr lang="zh-CN" sz="1600" kern="100" dirty="0">
                          <a:solidFill>
                            <a:schemeClr val="bg1">
                              <a:lumMod val="10000"/>
                            </a:schemeClr>
                          </a:solidFill>
                          <a:effectLst/>
                        </a:rPr>
                        <a:t>预计延迟</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38100" cmpd="sng">
                      <a:solidFill>
                        <a:srgbClr val="FFFF99"/>
                      </a:solid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ctr">
                        <a:spcAft>
                          <a:spcPts val="0"/>
                        </a:spcAft>
                      </a:pPr>
                      <a:r>
                        <a:rPr lang="zh-CN" sz="1600" kern="100">
                          <a:solidFill>
                            <a:schemeClr val="bg1">
                              <a:lumMod val="10000"/>
                            </a:schemeClr>
                          </a:solidFill>
                          <a:effectLst/>
                        </a:rPr>
                        <a:t>输出线路</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38100" cmpd="sng">
                      <a:solidFill>
                        <a:srgbClr val="FFFF99"/>
                      </a:solidFill>
                    </a:lnB>
                    <a:lnTlToBr w="12700" cmpd="sng">
                      <a:noFill/>
                      <a:prstDash val="solid"/>
                    </a:lnTlToBr>
                    <a:lnBlToTr w="12700" cmpd="sng">
                      <a:noFill/>
                      <a:prstDash val="solid"/>
                    </a:lnBlToTr>
                    <a:solidFill>
                      <a:srgbClr val="FFCCCC"/>
                    </a:solidFill>
                  </a:tcPr>
                </a:tc>
                <a:extLst>
                  <a:ext uri="{0D108BD9-81ED-4DB2-BD59-A6C34878D82A}">
                    <a16:rowId xmlns:a16="http://schemas.microsoft.com/office/drawing/2014/main" val="10000"/>
                  </a:ext>
                </a:extLst>
              </a:tr>
              <a:tr h="310419">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A</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381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tc>
                  <a:txBody>
                    <a:bodyPr/>
                    <a:lstStyle>
                      <a:lvl1pPr marL="0" algn="l" defTabSz="914400" rtl="0" eaLnBrk="1" latinLnBrk="0" hangingPunct="1">
                        <a:defRPr sz="1800" kern="1200">
                          <a:solidFill>
                            <a:schemeClr val="dk1"/>
                          </a:solidFill>
                          <a:latin typeface="Helvetica"/>
                          <a:ea typeface="宋体"/>
                        </a:defRPr>
                      </a:lvl1pPr>
                      <a:lvl2pPr marL="457200" algn="l" defTabSz="914400" rtl="0" eaLnBrk="1" latinLnBrk="0" hangingPunct="1">
                        <a:defRPr sz="1800" kern="1200">
                          <a:solidFill>
                            <a:schemeClr val="dk1"/>
                          </a:solidFill>
                          <a:latin typeface="Helvetica"/>
                          <a:ea typeface="宋体"/>
                        </a:defRPr>
                      </a:lvl2pPr>
                      <a:lvl3pPr marL="914400" algn="l" defTabSz="914400" rtl="0" eaLnBrk="1" latinLnBrk="0" hangingPunct="1">
                        <a:defRPr sz="1800" kern="1200">
                          <a:solidFill>
                            <a:schemeClr val="dk1"/>
                          </a:solidFill>
                          <a:latin typeface="Helvetica"/>
                          <a:ea typeface="宋体"/>
                        </a:defRPr>
                      </a:lvl3pPr>
                      <a:lvl4pPr marL="1371600" algn="l" defTabSz="914400" rtl="0" eaLnBrk="1" latinLnBrk="0" hangingPunct="1">
                        <a:defRPr sz="1800" kern="1200">
                          <a:solidFill>
                            <a:schemeClr val="dk1"/>
                          </a:solidFill>
                          <a:latin typeface="Helvetica"/>
                          <a:ea typeface="宋体"/>
                        </a:defRPr>
                      </a:lvl4pPr>
                      <a:lvl5pPr marL="1828800" algn="l" defTabSz="914400" rtl="0" eaLnBrk="1" latinLnBrk="0" hangingPunct="1">
                        <a:defRPr sz="1800" kern="1200">
                          <a:solidFill>
                            <a:schemeClr val="dk1"/>
                          </a:solidFill>
                          <a:latin typeface="Helvetica"/>
                          <a:ea typeface="宋体"/>
                        </a:defRPr>
                      </a:lvl5pPr>
                      <a:lvl6pPr marL="2286000" algn="l" defTabSz="914400" rtl="0" eaLnBrk="1" latinLnBrk="0" hangingPunct="1">
                        <a:defRPr sz="1800" kern="1200">
                          <a:solidFill>
                            <a:schemeClr val="dk1"/>
                          </a:solidFill>
                          <a:latin typeface="Helvetica"/>
                          <a:ea typeface="宋体"/>
                        </a:defRPr>
                      </a:lvl6pPr>
                      <a:lvl7pPr marL="2743200" algn="l" defTabSz="914400" rtl="0" eaLnBrk="1" latinLnBrk="0" hangingPunct="1">
                        <a:defRPr sz="1800" kern="1200">
                          <a:solidFill>
                            <a:schemeClr val="dk1"/>
                          </a:solidFill>
                          <a:latin typeface="Helvetica"/>
                          <a:ea typeface="宋体"/>
                        </a:defRPr>
                      </a:lvl7pPr>
                      <a:lvl8pPr marL="3200400" algn="l" defTabSz="914400" rtl="0" eaLnBrk="1" latinLnBrk="0" hangingPunct="1">
                        <a:defRPr sz="1800" kern="1200">
                          <a:solidFill>
                            <a:schemeClr val="dk1"/>
                          </a:solidFill>
                          <a:latin typeface="Helvetica"/>
                          <a:ea typeface="宋体"/>
                        </a:defRPr>
                      </a:lvl8pPr>
                      <a:lvl9pPr marL="3657600" algn="l" defTabSz="914400" rtl="0" eaLnBrk="1" latinLnBrk="0" hangingPunct="1">
                        <a:defRPr sz="1800" kern="1200">
                          <a:solidFill>
                            <a:schemeClr val="dk1"/>
                          </a:solidFill>
                          <a:latin typeface="Helvetica"/>
                          <a:ea typeface="宋体"/>
                        </a:defRPr>
                      </a:lvl9pPr>
                    </a:lstStyle>
                    <a:p>
                      <a:pPr algn="just">
                        <a:spcAft>
                          <a:spcPts val="0"/>
                        </a:spcAft>
                      </a:pPr>
                      <a:r>
                        <a:rPr lang="en-US" sz="1600" kern="100" dirty="0">
                          <a:solidFill>
                            <a:schemeClr val="bg1">
                              <a:lumMod val="10000"/>
                            </a:schemeClr>
                          </a:solidFill>
                          <a:effectLst/>
                        </a:rPr>
                        <a:t>11</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38100" cmpd="sng">
                      <a:solidFill>
                        <a:srgbClr val="FFFF99"/>
                      </a:solidFill>
                    </a:lnT>
                    <a:lnB w="12700" cmpd="sng">
                      <a:solidFill>
                        <a:srgbClr val="FFFF99"/>
                      </a:solid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B</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381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extLst>
                  <a:ext uri="{0D108BD9-81ED-4DB2-BD59-A6C34878D82A}">
                    <a16:rowId xmlns:a16="http://schemas.microsoft.com/office/drawing/2014/main" val="10001"/>
                  </a:ext>
                </a:extLst>
              </a:tr>
              <a:tr h="310419">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B</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tc>
                  <a:txBody>
                    <a:bodyPr/>
                    <a:lstStyle>
                      <a:lvl1pPr marL="0" algn="l" defTabSz="914400" rtl="0" eaLnBrk="1" latinLnBrk="0" hangingPunct="1">
                        <a:defRPr sz="1800" kern="1200">
                          <a:solidFill>
                            <a:schemeClr val="dk1"/>
                          </a:solidFill>
                          <a:latin typeface="Helvetica"/>
                          <a:ea typeface="宋体"/>
                        </a:defRPr>
                      </a:lvl1pPr>
                      <a:lvl2pPr marL="457200" algn="l" defTabSz="914400" rtl="0" eaLnBrk="1" latinLnBrk="0" hangingPunct="1">
                        <a:defRPr sz="1800" kern="1200">
                          <a:solidFill>
                            <a:schemeClr val="dk1"/>
                          </a:solidFill>
                          <a:latin typeface="Helvetica"/>
                          <a:ea typeface="宋体"/>
                        </a:defRPr>
                      </a:lvl2pPr>
                      <a:lvl3pPr marL="914400" algn="l" defTabSz="914400" rtl="0" eaLnBrk="1" latinLnBrk="0" hangingPunct="1">
                        <a:defRPr sz="1800" kern="1200">
                          <a:solidFill>
                            <a:schemeClr val="dk1"/>
                          </a:solidFill>
                          <a:latin typeface="Helvetica"/>
                          <a:ea typeface="宋体"/>
                        </a:defRPr>
                      </a:lvl3pPr>
                      <a:lvl4pPr marL="1371600" algn="l" defTabSz="914400" rtl="0" eaLnBrk="1" latinLnBrk="0" hangingPunct="1">
                        <a:defRPr sz="1800" kern="1200">
                          <a:solidFill>
                            <a:schemeClr val="dk1"/>
                          </a:solidFill>
                          <a:latin typeface="Helvetica"/>
                          <a:ea typeface="宋体"/>
                        </a:defRPr>
                      </a:lvl4pPr>
                      <a:lvl5pPr marL="1828800" algn="l" defTabSz="914400" rtl="0" eaLnBrk="1" latinLnBrk="0" hangingPunct="1">
                        <a:defRPr sz="1800" kern="1200">
                          <a:solidFill>
                            <a:schemeClr val="dk1"/>
                          </a:solidFill>
                          <a:latin typeface="Helvetica"/>
                          <a:ea typeface="宋体"/>
                        </a:defRPr>
                      </a:lvl5pPr>
                      <a:lvl6pPr marL="2286000" algn="l" defTabSz="914400" rtl="0" eaLnBrk="1" latinLnBrk="0" hangingPunct="1">
                        <a:defRPr sz="1800" kern="1200">
                          <a:solidFill>
                            <a:schemeClr val="dk1"/>
                          </a:solidFill>
                          <a:latin typeface="Helvetica"/>
                          <a:ea typeface="宋体"/>
                        </a:defRPr>
                      </a:lvl6pPr>
                      <a:lvl7pPr marL="2743200" algn="l" defTabSz="914400" rtl="0" eaLnBrk="1" latinLnBrk="0" hangingPunct="1">
                        <a:defRPr sz="1800" kern="1200">
                          <a:solidFill>
                            <a:schemeClr val="dk1"/>
                          </a:solidFill>
                          <a:latin typeface="Helvetica"/>
                          <a:ea typeface="宋体"/>
                        </a:defRPr>
                      </a:lvl7pPr>
                      <a:lvl8pPr marL="3200400" algn="l" defTabSz="914400" rtl="0" eaLnBrk="1" latinLnBrk="0" hangingPunct="1">
                        <a:defRPr sz="1800" kern="1200">
                          <a:solidFill>
                            <a:schemeClr val="dk1"/>
                          </a:solidFill>
                          <a:latin typeface="Helvetica"/>
                          <a:ea typeface="宋体"/>
                        </a:defRPr>
                      </a:lvl8pPr>
                      <a:lvl9pPr marL="3657600" algn="l" defTabSz="914400" rtl="0" eaLnBrk="1" latinLnBrk="0" hangingPunct="1">
                        <a:defRPr sz="1800" kern="1200">
                          <a:solidFill>
                            <a:schemeClr val="dk1"/>
                          </a:solidFill>
                          <a:latin typeface="Helvetica"/>
                          <a:ea typeface="宋体"/>
                        </a:defRPr>
                      </a:lvl9pPr>
                    </a:lstStyle>
                    <a:p>
                      <a:pPr algn="just">
                        <a:spcAft>
                          <a:spcPts val="0"/>
                        </a:spcAft>
                      </a:pPr>
                      <a:r>
                        <a:rPr lang="en-US" sz="1600" kern="100" dirty="0">
                          <a:solidFill>
                            <a:schemeClr val="bg1">
                              <a:lumMod val="10000"/>
                            </a:schemeClr>
                          </a:solidFill>
                          <a:effectLst/>
                        </a:rPr>
                        <a:t>6</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B</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extLst>
                  <a:ext uri="{0D108BD9-81ED-4DB2-BD59-A6C34878D82A}">
                    <a16:rowId xmlns:a16="http://schemas.microsoft.com/office/drawing/2014/main" val="10002"/>
                  </a:ext>
                </a:extLst>
              </a:tr>
              <a:tr h="310419">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C</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tc>
                  <a:txBody>
                    <a:bodyPr/>
                    <a:lstStyle>
                      <a:lvl1pPr marL="0" algn="l" defTabSz="914400" rtl="0" eaLnBrk="1" latinLnBrk="0" hangingPunct="1">
                        <a:defRPr sz="1800" kern="1200">
                          <a:solidFill>
                            <a:schemeClr val="dk1"/>
                          </a:solidFill>
                          <a:latin typeface="Helvetica"/>
                          <a:ea typeface="宋体"/>
                        </a:defRPr>
                      </a:lvl1pPr>
                      <a:lvl2pPr marL="457200" algn="l" defTabSz="914400" rtl="0" eaLnBrk="1" latinLnBrk="0" hangingPunct="1">
                        <a:defRPr sz="1800" kern="1200">
                          <a:solidFill>
                            <a:schemeClr val="dk1"/>
                          </a:solidFill>
                          <a:latin typeface="Helvetica"/>
                          <a:ea typeface="宋体"/>
                        </a:defRPr>
                      </a:lvl2pPr>
                      <a:lvl3pPr marL="914400" algn="l" defTabSz="914400" rtl="0" eaLnBrk="1" latinLnBrk="0" hangingPunct="1">
                        <a:defRPr sz="1800" kern="1200">
                          <a:solidFill>
                            <a:schemeClr val="dk1"/>
                          </a:solidFill>
                          <a:latin typeface="Helvetica"/>
                          <a:ea typeface="宋体"/>
                        </a:defRPr>
                      </a:lvl3pPr>
                      <a:lvl4pPr marL="1371600" algn="l" defTabSz="914400" rtl="0" eaLnBrk="1" latinLnBrk="0" hangingPunct="1">
                        <a:defRPr sz="1800" kern="1200">
                          <a:solidFill>
                            <a:schemeClr val="dk1"/>
                          </a:solidFill>
                          <a:latin typeface="Helvetica"/>
                          <a:ea typeface="宋体"/>
                        </a:defRPr>
                      </a:lvl4pPr>
                      <a:lvl5pPr marL="1828800" algn="l" defTabSz="914400" rtl="0" eaLnBrk="1" latinLnBrk="0" hangingPunct="1">
                        <a:defRPr sz="1800" kern="1200">
                          <a:solidFill>
                            <a:schemeClr val="dk1"/>
                          </a:solidFill>
                          <a:latin typeface="Helvetica"/>
                          <a:ea typeface="宋体"/>
                        </a:defRPr>
                      </a:lvl5pPr>
                      <a:lvl6pPr marL="2286000" algn="l" defTabSz="914400" rtl="0" eaLnBrk="1" latinLnBrk="0" hangingPunct="1">
                        <a:defRPr sz="1800" kern="1200">
                          <a:solidFill>
                            <a:schemeClr val="dk1"/>
                          </a:solidFill>
                          <a:latin typeface="Helvetica"/>
                          <a:ea typeface="宋体"/>
                        </a:defRPr>
                      </a:lvl6pPr>
                      <a:lvl7pPr marL="2743200" algn="l" defTabSz="914400" rtl="0" eaLnBrk="1" latinLnBrk="0" hangingPunct="1">
                        <a:defRPr sz="1800" kern="1200">
                          <a:solidFill>
                            <a:schemeClr val="dk1"/>
                          </a:solidFill>
                          <a:latin typeface="Helvetica"/>
                          <a:ea typeface="宋体"/>
                        </a:defRPr>
                      </a:lvl7pPr>
                      <a:lvl8pPr marL="3200400" algn="l" defTabSz="914400" rtl="0" eaLnBrk="1" latinLnBrk="0" hangingPunct="1">
                        <a:defRPr sz="1800" kern="1200">
                          <a:solidFill>
                            <a:schemeClr val="dk1"/>
                          </a:solidFill>
                          <a:latin typeface="Helvetica"/>
                          <a:ea typeface="宋体"/>
                        </a:defRPr>
                      </a:lvl8pPr>
                      <a:lvl9pPr marL="3657600" algn="l" defTabSz="914400" rtl="0" eaLnBrk="1" latinLnBrk="0" hangingPunct="1">
                        <a:defRPr sz="1800" kern="1200">
                          <a:solidFill>
                            <a:schemeClr val="dk1"/>
                          </a:solidFill>
                          <a:latin typeface="Helvetica"/>
                          <a:ea typeface="宋体"/>
                        </a:defRPr>
                      </a:lvl9pPr>
                    </a:lstStyle>
                    <a:p>
                      <a:pPr algn="just">
                        <a:spcAft>
                          <a:spcPts val="0"/>
                        </a:spcAft>
                      </a:pPr>
                      <a:r>
                        <a:rPr lang="en-US" sz="1600" kern="100" dirty="0">
                          <a:solidFill>
                            <a:schemeClr val="bg1">
                              <a:lumMod val="10000"/>
                            </a:schemeClr>
                          </a:solidFill>
                          <a:effectLst/>
                        </a:rPr>
                        <a:t>0</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extLst>
                  <a:ext uri="{0D108BD9-81ED-4DB2-BD59-A6C34878D82A}">
                    <a16:rowId xmlns:a16="http://schemas.microsoft.com/office/drawing/2014/main" val="10003"/>
                  </a:ext>
                </a:extLst>
              </a:tr>
              <a:tr h="310419">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D</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tc>
                  <a:txBody>
                    <a:bodyPr/>
                    <a:lstStyle>
                      <a:lvl1pPr marL="0" algn="l" defTabSz="914400" rtl="0" eaLnBrk="1" latinLnBrk="0" hangingPunct="1">
                        <a:defRPr sz="1800" kern="1200">
                          <a:solidFill>
                            <a:schemeClr val="dk1"/>
                          </a:solidFill>
                          <a:latin typeface="Helvetica"/>
                          <a:ea typeface="宋体"/>
                        </a:defRPr>
                      </a:lvl1pPr>
                      <a:lvl2pPr marL="457200" algn="l" defTabSz="914400" rtl="0" eaLnBrk="1" latinLnBrk="0" hangingPunct="1">
                        <a:defRPr sz="1800" kern="1200">
                          <a:solidFill>
                            <a:schemeClr val="dk1"/>
                          </a:solidFill>
                          <a:latin typeface="Helvetica"/>
                          <a:ea typeface="宋体"/>
                        </a:defRPr>
                      </a:lvl2pPr>
                      <a:lvl3pPr marL="914400" algn="l" defTabSz="914400" rtl="0" eaLnBrk="1" latinLnBrk="0" hangingPunct="1">
                        <a:defRPr sz="1800" kern="1200">
                          <a:solidFill>
                            <a:schemeClr val="dk1"/>
                          </a:solidFill>
                          <a:latin typeface="Helvetica"/>
                          <a:ea typeface="宋体"/>
                        </a:defRPr>
                      </a:lvl3pPr>
                      <a:lvl4pPr marL="1371600" algn="l" defTabSz="914400" rtl="0" eaLnBrk="1" latinLnBrk="0" hangingPunct="1">
                        <a:defRPr sz="1800" kern="1200">
                          <a:solidFill>
                            <a:schemeClr val="dk1"/>
                          </a:solidFill>
                          <a:latin typeface="Helvetica"/>
                          <a:ea typeface="宋体"/>
                        </a:defRPr>
                      </a:lvl4pPr>
                      <a:lvl5pPr marL="1828800" algn="l" defTabSz="914400" rtl="0" eaLnBrk="1" latinLnBrk="0" hangingPunct="1">
                        <a:defRPr sz="1800" kern="1200">
                          <a:solidFill>
                            <a:schemeClr val="dk1"/>
                          </a:solidFill>
                          <a:latin typeface="Helvetica"/>
                          <a:ea typeface="宋体"/>
                        </a:defRPr>
                      </a:lvl5pPr>
                      <a:lvl6pPr marL="2286000" algn="l" defTabSz="914400" rtl="0" eaLnBrk="1" latinLnBrk="0" hangingPunct="1">
                        <a:defRPr sz="1800" kern="1200">
                          <a:solidFill>
                            <a:schemeClr val="dk1"/>
                          </a:solidFill>
                          <a:latin typeface="Helvetica"/>
                          <a:ea typeface="宋体"/>
                        </a:defRPr>
                      </a:lvl6pPr>
                      <a:lvl7pPr marL="2743200" algn="l" defTabSz="914400" rtl="0" eaLnBrk="1" latinLnBrk="0" hangingPunct="1">
                        <a:defRPr sz="1800" kern="1200">
                          <a:solidFill>
                            <a:schemeClr val="dk1"/>
                          </a:solidFill>
                          <a:latin typeface="Helvetica"/>
                          <a:ea typeface="宋体"/>
                        </a:defRPr>
                      </a:lvl7pPr>
                      <a:lvl8pPr marL="3200400" algn="l" defTabSz="914400" rtl="0" eaLnBrk="1" latinLnBrk="0" hangingPunct="1">
                        <a:defRPr sz="1800" kern="1200">
                          <a:solidFill>
                            <a:schemeClr val="dk1"/>
                          </a:solidFill>
                          <a:latin typeface="Helvetica"/>
                          <a:ea typeface="宋体"/>
                        </a:defRPr>
                      </a:lvl8pPr>
                      <a:lvl9pPr marL="3657600" algn="l" defTabSz="914400" rtl="0" eaLnBrk="1" latinLnBrk="0" hangingPunct="1">
                        <a:defRPr sz="1800" kern="1200">
                          <a:solidFill>
                            <a:schemeClr val="dk1"/>
                          </a:solidFill>
                          <a:latin typeface="Helvetica"/>
                          <a:ea typeface="宋体"/>
                        </a:defRPr>
                      </a:lvl9pPr>
                    </a:lstStyle>
                    <a:p>
                      <a:pPr algn="just">
                        <a:spcAft>
                          <a:spcPts val="0"/>
                        </a:spcAft>
                      </a:pPr>
                      <a:r>
                        <a:rPr lang="en-US" sz="1600" kern="100" dirty="0">
                          <a:solidFill>
                            <a:schemeClr val="bg1">
                              <a:lumMod val="10000"/>
                            </a:schemeClr>
                          </a:solidFill>
                          <a:effectLst/>
                        </a:rPr>
                        <a:t>3</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D</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extLst>
                  <a:ext uri="{0D108BD9-81ED-4DB2-BD59-A6C34878D82A}">
                    <a16:rowId xmlns:a16="http://schemas.microsoft.com/office/drawing/2014/main" val="10004"/>
                  </a:ext>
                </a:extLst>
              </a:tr>
              <a:tr h="310419">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E</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38100" cmpd="sng">
                      <a:solidFill>
                        <a:srgbClr val="FFFF99"/>
                      </a:solidFill>
                    </a:lnB>
                    <a:lnTlToBr w="12700" cmpd="sng">
                      <a:noFill/>
                      <a:prstDash val="solid"/>
                    </a:lnTlToBr>
                    <a:lnBlToTr w="12700" cmpd="sng">
                      <a:noFill/>
                      <a:prstDash val="solid"/>
                    </a:lnBlToTr>
                    <a:solidFill>
                      <a:srgbClr val="FFCCCC"/>
                    </a:solidFill>
                  </a:tcPr>
                </a:tc>
                <a:tc>
                  <a:txBody>
                    <a:bodyPr/>
                    <a:lstStyle>
                      <a:lvl1pPr marL="0" algn="l" defTabSz="914400" rtl="0" eaLnBrk="1" latinLnBrk="0" hangingPunct="1">
                        <a:defRPr sz="1800" kern="1200">
                          <a:solidFill>
                            <a:schemeClr val="dk1"/>
                          </a:solidFill>
                          <a:latin typeface="Helvetica"/>
                          <a:ea typeface="宋体"/>
                        </a:defRPr>
                      </a:lvl1pPr>
                      <a:lvl2pPr marL="457200" algn="l" defTabSz="914400" rtl="0" eaLnBrk="1" latinLnBrk="0" hangingPunct="1">
                        <a:defRPr sz="1800" kern="1200">
                          <a:solidFill>
                            <a:schemeClr val="dk1"/>
                          </a:solidFill>
                          <a:latin typeface="Helvetica"/>
                          <a:ea typeface="宋体"/>
                        </a:defRPr>
                      </a:lvl2pPr>
                      <a:lvl3pPr marL="914400" algn="l" defTabSz="914400" rtl="0" eaLnBrk="1" latinLnBrk="0" hangingPunct="1">
                        <a:defRPr sz="1800" kern="1200">
                          <a:solidFill>
                            <a:schemeClr val="dk1"/>
                          </a:solidFill>
                          <a:latin typeface="Helvetica"/>
                          <a:ea typeface="宋体"/>
                        </a:defRPr>
                      </a:lvl3pPr>
                      <a:lvl4pPr marL="1371600" algn="l" defTabSz="914400" rtl="0" eaLnBrk="1" latinLnBrk="0" hangingPunct="1">
                        <a:defRPr sz="1800" kern="1200">
                          <a:solidFill>
                            <a:schemeClr val="dk1"/>
                          </a:solidFill>
                          <a:latin typeface="Helvetica"/>
                          <a:ea typeface="宋体"/>
                        </a:defRPr>
                      </a:lvl4pPr>
                      <a:lvl5pPr marL="1828800" algn="l" defTabSz="914400" rtl="0" eaLnBrk="1" latinLnBrk="0" hangingPunct="1">
                        <a:defRPr sz="1800" kern="1200">
                          <a:solidFill>
                            <a:schemeClr val="dk1"/>
                          </a:solidFill>
                          <a:latin typeface="Helvetica"/>
                          <a:ea typeface="宋体"/>
                        </a:defRPr>
                      </a:lvl5pPr>
                      <a:lvl6pPr marL="2286000" algn="l" defTabSz="914400" rtl="0" eaLnBrk="1" latinLnBrk="0" hangingPunct="1">
                        <a:defRPr sz="1800" kern="1200">
                          <a:solidFill>
                            <a:schemeClr val="dk1"/>
                          </a:solidFill>
                          <a:latin typeface="Helvetica"/>
                          <a:ea typeface="宋体"/>
                        </a:defRPr>
                      </a:lvl6pPr>
                      <a:lvl7pPr marL="2743200" algn="l" defTabSz="914400" rtl="0" eaLnBrk="1" latinLnBrk="0" hangingPunct="1">
                        <a:defRPr sz="1800" kern="1200">
                          <a:solidFill>
                            <a:schemeClr val="dk1"/>
                          </a:solidFill>
                          <a:latin typeface="Helvetica"/>
                          <a:ea typeface="宋体"/>
                        </a:defRPr>
                      </a:lvl7pPr>
                      <a:lvl8pPr marL="3200400" algn="l" defTabSz="914400" rtl="0" eaLnBrk="1" latinLnBrk="0" hangingPunct="1">
                        <a:defRPr sz="1800" kern="1200">
                          <a:solidFill>
                            <a:schemeClr val="dk1"/>
                          </a:solidFill>
                          <a:latin typeface="Helvetica"/>
                          <a:ea typeface="宋体"/>
                        </a:defRPr>
                      </a:lvl8pPr>
                      <a:lvl9pPr marL="3657600" algn="l" defTabSz="914400" rtl="0" eaLnBrk="1" latinLnBrk="0" hangingPunct="1">
                        <a:defRPr sz="1800" kern="1200">
                          <a:solidFill>
                            <a:schemeClr val="dk1"/>
                          </a:solidFill>
                          <a:latin typeface="Helvetica"/>
                          <a:ea typeface="宋体"/>
                        </a:defRPr>
                      </a:lvl9pPr>
                    </a:lstStyle>
                    <a:p>
                      <a:pPr algn="just">
                        <a:spcAft>
                          <a:spcPts val="0"/>
                        </a:spcAft>
                      </a:pPr>
                      <a:r>
                        <a:rPr lang="en-US" sz="1600" kern="100" dirty="0">
                          <a:solidFill>
                            <a:schemeClr val="bg1">
                              <a:lumMod val="10000"/>
                            </a:schemeClr>
                          </a:solidFill>
                          <a:effectLst/>
                        </a:rPr>
                        <a:t>5</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38100" cmpd="sng">
                      <a:solidFill>
                        <a:srgbClr val="FFFF99"/>
                      </a:solid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E</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12700" cmpd="sng">
                      <a:solidFill>
                        <a:srgbClr val="FFFF99"/>
                      </a:solidFill>
                    </a:lnT>
                    <a:lnB w="38100" cmpd="sng">
                      <a:solidFill>
                        <a:srgbClr val="FFFF99"/>
                      </a:solidFill>
                    </a:lnB>
                    <a:lnTlToBr w="12700" cmpd="sng">
                      <a:noFill/>
                      <a:prstDash val="solid"/>
                    </a:lnTlToBr>
                    <a:lnBlToTr w="12700" cmpd="sng">
                      <a:noFill/>
                      <a:prstDash val="solid"/>
                    </a:lnBlToTr>
                    <a:solidFill>
                      <a:srgbClr val="FFCCCC"/>
                    </a:solidFill>
                  </a:tcPr>
                </a:tc>
                <a:extLst>
                  <a:ext uri="{0D108BD9-81ED-4DB2-BD59-A6C34878D82A}">
                    <a16:rowId xmlns:a16="http://schemas.microsoft.com/office/drawing/2014/main" val="10005"/>
                  </a:ext>
                </a:extLst>
              </a:tr>
              <a:tr h="310419">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a:solidFill>
                            <a:schemeClr val="bg1">
                              <a:lumMod val="10000"/>
                            </a:schemeClr>
                          </a:solidFill>
                          <a:effectLst/>
                        </a:rPr>
                        <a:t>F</a:t>
                      </a:r>
                      <a:endParaRPr lang="zh-CN" sz="1600" kern="10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381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dirty="0">
                          <a:solidFill>
                            <a:schemeClr val="bg1">
                              <a:lumMod val="10000"/>
                            </a:schemeClr>
                          </a:solidFill>
                          <a:effectLst/>
                        </a:rPr>
                        <a:t>8</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38100" cmpd="sng">
                      <a:solidFill>
                        <a:srgbClr val="FFFF99"/>
                      </a:solidFill>
                    </a:lnT>
                    <a:lnB w="12700" cmpd="sng">
                      <a:solidFill>
                        <a:srgbClr val="FFFF99"/>
                      </a:solidFill>
                    </a:lnB>
                    <a:lnTlToBr w="12700" cmpd="sng">
                      <a:noFill/>
                      <a:prstDash val="solid"/>
                    </a:lnTlToBr>
                    <a:lnBlToTr w="12700" cmpd="sng">
                      <a:noFill/>
                      <a:prstDash val="solid"/>
                    </a:lnBlToTr>
                    <a:solidFill>
                      <a:srgbClr val="FFC000"/>
                    </a:solidFill>
                  </a:tcPr>
                </a:tc>
                <a:tc>
                  <a:txBody>
                    <a:bodyPr/>
                    <a:lstStyle>
                      <a:lvl1pPr marL="0" algn="l" defTabSz="914400" rtl="0" eaLnBrk="1" latinLnBrk="0" hangingPunct="1">
                        <a:defRPr sz="1800" b="1" kern="1200">
                          <a:solidFill>
                            <a:schemeClr val="lt1"/>
                          </a:solidFill>
                          <a:latin typeface="Helvetica"/>
                          <a:ea typeface="宋体"/>
                        </a:defRPr>
                      </a:lvl1pPr>
                      <a:lvl2pPr marL="457200" algn="l" defTabSz="914400" rtl="0" eaLnBrk="1" latinLnBrk="0" hangingPunct="1">
                        <a:defRPr sz="1800" b="1" kern="1200">
                          <a:solidFill>
                            <a:schemeClr val="lt1"/>
                          </a:solidFill>
                          <a:latin typeface="Helvetica"/>
                          <a:ea typeface="宋体"/>
                        </a:defRPr>
                      </a:lvl2pPr>
                      <a:lvl3pPr marL="914400" algn="l" defTabSz="914400" rtl="0" eaLnBrk="1" latinLnBrk="0" hangingPunct="1">
                        <a:defRPr sz="1800" b="1" kern="1200">
                          <a:solidFill>
                            <a:schemeClr val="lt1"/>
                          </a:solidFill>
                          <a:latin typeface="Helvetica"/>
                          <a:ea typeface="宋体"/>
                        </a:defRPr>
                      </a:lvl3pPr>
                      <a:lvl4pPr marL="1371600" algn="l" defTabSz="914400" rtl="0" eaLnBrk="1" latinLnBrk="0" hangingPunct="1">
                        <a:defRPr sz="1800" b="1" kern="1200">
                          <a:solidFill>
                            <a:schemeClr val="lt1"/>
                          </a:solidFill>
                          <a:latin typeface="Helvetica"/>
                          <a:ea typeface="宋体"/>
                        </a:defRPr>
                      </a:lvl4pPr>
                      <a:lvl5pPr marL="1828800" algn="l" defTabSz="914400" rtl="0" eaLnBrk="1" latinLnBrk="0" hangingPunct="1">
                        <a:defRPr sz="1800" b="1" kern="1200">
                          <a:solidFill>
                            <a:schemeClr val="lt1"/>
                          </a:solidFill>
                          <a:latin typeface="Helvetica"/>
                          <a:ea typeface="宋体"/>
                        </a:defRPr>
                      </a:lvl5pPr>
                      <a:lvl6pPr marL="2286000" algn="l" defTabSz="914400" rtl="0" eaLnBrk="1" latinLnBrk="0" hangingPunct="1">
                        <a:defRPr sz="1800" b="1" kern="1200">
                          <a:solidFill>
                            <a:schemeClr val="lt1"/>
                          </a:solidFill>
                          <a:latin typeface="Helvetica"/>
                          <a:ea typeface="宋体"/>
                        </a:defRPr>
                      </a:lvl6pPr>
                      <a:lvl7pPr marL="2743200" algn="l" defTabSz="914400" rtl="0" eaLnBrk="1" latinLnBrk="0" hangingPunct="1">
                        <a:defRPr sz="1800" b="1" kern="1200">
                          <a:solidFill>
                            <a:schemeClr val="lt1"/>
                          </a:solidFill>
                          <a:latin typeface="Helvetica"/>
                          <a:ea typeface="宋体"/>
                        </a:defRPr>
                      </a:lvl7pPr>
                      <a:lvl8pPr marL="3200400" algn="l" defTabSz="914400" rtl="0" eaLnBrk="1" latinLnBrk="0" hangingPunct="1">
                        <a:defRPr sz="1800" b="1" kern="1200">
                          <a:solidFill>
                            <a:schemeClr val="lt1"/>
                          </a:solidFill>
                          <a:latin typeface="Helvetica"/>
                          <a:ea typeface="宋体"/>
                        </a:defRPr>
                      </a:lvl8pPr>
                      <a:lvl9pPr marL="3657600" algn="l" defTabSz="914400" rtl="0" eaLnBrk="1" latinLnBrk="0" hangingPunct="1">
                        <a:defRPr sz="1800" b="1" kern="1200">
                          <a:solidFill>
                            <a:schemeClr val="lt1"/>
                          </a:solidFill>
                          <a:latin typeface="Helvetica"/>
                          <a:ea typeface="宋体"/>
                        </a:defRPr>
                      </a:lvl9pPr>
                    </a:lstStyle>
                    <a:p>
                      <a:pPr algn="just">
                        <a:spcAft>
                          <a:spcPts val="0"/>
                        </a:spcAft>
                      </a:pPr>
                      <a:r>
                        <a:rPr lang="en-US" sz="1600" kern="100" dirty="0">
                          <a:solidFill>
                            <a:schemeClr val="bg1">
                              <a:lumMod val="10000"/>
                            </a:schemeClr>
                          </a:solidFill>
                          <a:effectLst/>
                        </a:rPr>
                        <a:t>B</a:t>
                      </a:r>
                      <a:endParaRPr lang="zh-CN" sz="1600" kern="100" dirty="0">
                        <a:solidFill>
                          <a:schemeClr val="bg1">
                            <a:lumMod val="10000"/>
                          </a:schemeClr>
                        </a:solidFill>
                        <a:effectLst/>
                        <a:latin typeface="Times New Roman"/>
                        <a:ea typeface="宋体"/>
                      </a:endParaRPr>
                    </a:p>
                  </a:txBody>
                  <a:tcPr marL="68579" marR="68579" marT="0" marB="0">
                    <a:lnL w="12700" cmpd="sng">
                      <a:solidFill>
                        <a:srgbClr val="FFFF99"/>
                      </a:solidFill>
                    </a:lnL>
                    <a:lnR w="12700" cmpd="sng">
                      <a:solidFill>
                        <a:srgbClr val="FFFF99"/>
                      </a:solidFill>
                    </a:lnR>
                    <a:lnT w="38100" cmpd="sng">
                      <a:solidFill>
                        <a:srgbClr val="FFFF99"/>
                      </a:solidFill>
                    </a:lnT>
                    <a:lnB w="12700" cmpd="sng">
                      <a:solidFill>
                        <a:srgbClr val="FFFF99"/>
                      </a:solidFill>
                    </a:lnB>
                    <a:lnTlToBr w="12700" cmpd="sng">
                      <a:noFill/>
                      <a:prstDash val="solid"/>
                    </a:lnTlToBr>
                    <a:lnBlToTr w="12700" cmpd="sng">
                      <a:noFill/>
                      <a:prstDash val="solid"/>
                    </a:lnBlToTr>
                    <a:solidFill>
                      <a:srgbClr val="FFCCCC"/>
                    </a:solidFill>
                  </a:tcPr>
                </a:tc>
                <a:extLst>
                  <a:ext uri="{0D108BD9-81ED-4DB2-BD59-A6C34878D82A}">
                    <a16:rowId xmlns:a16="http://schemas.microsoft.com/office/drawing/2014/main" val="10006"/>
                  </a:ext>
                </a:extLst>
              </a:tr>
            </a:tbl>
          </a:graphicData>
        </a:graphic>
      </p:graphicFrame>
      <p:sp>
        <p:nvSpPr>
          <p:cNvPr id="8" name="文本框 7">
            <a:extLst>
              <a:ext uri="{FF2B5EF4-FFF2-40B4-BE49-F238E27FC236}">
                <a16:creationId xmlns:a16="http://schemas.microsoft.com/office/drawing/2014/main" id="{8351E7FF-22A9-4A78-AC22-FD8FEDEF8E49}"/>
              </a:ext>
            </a:extLst>
          </p:cNvPr>
          <p:cNvSpPr txBox="1"/>
          <p:nvPr/>
        </p:nvSpPr>
        <p:spPr>
          <a:xfrm>
            <a:off x="894736" y="3525073"/>
            <a:ext cx="595035" cy="26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bg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0" rIns="91440" bIns="45720" rtlCol="0" anchor="ctr">
            <a:spAutoFit/>
          </a:bodyPr>
          <a:lstStyle>
            <a:defPPr>
              <a:defRPr lang="zh-CN"/>
            </a:defPPr>
            <a:lvl1pPr indent="-228600">
              <a:lnSpc>
                <a:spcPct val="90000"/>
              </a:lnSpc>
              <a:spcBef>
                <a:spcPts val="1000"/>
              </a:spcBef>
              <a:buFont typeface="Arial" pitchFamily="34" charset="0"/>
              <a:buNone/>
              <a:tabLst>
                <a:tab pos="158750" algn="l"/>
              </a:tabLst>
              <a:defRPr sz="1600">
                <a:solidFill>
                  <a:schemeClr val="bg1">
                    <a:lumMod val="10000"/>
                  </a:schemeClr>
                </a:solidFill>
                <a:latin typeface="微软雅黑" panose="020B0503020204020204" pitchFamily="34" charset="-122"/>
                <a:ea typeface="微软雅黑" panose="020B0503020204020204" pitchFamily="34" charset="-122"/>
                <a:cs typeface="Times New Roman" pitchFamily="18" charset="0"/>
              </a:defRPr>
            </a:lvl1pPr>
          </a:lstStyle>
          <a:p>
            <a:r>
              <a:rPr lang="zh-CN" altLang="en-US" dirty="0"/>
              <a:t>答：</a:t>
            </a:r>
          </a:p>
        </p:txBody>
      </p:sp>
      <p:pic>
        <p:nvPicPr>
          <p:cNvPr id="9" name="Picture 2">
            <a:extLst>
              <a:ext uri="{FF2B5EF4-FFF2-40B4-BE49-F238E27FC236}">
                <a16:creationId xmlns:a16="http://schemas.microsoft.com/office/drawing/2014/main" id="{6C59F68A-4B58-408E-9B71-8A33E3046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79052" y="3197456"/>
            <a:ext cx="2503488" cy="204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8B80CB56-988A-4C11-9D4B-FE9D4C7EBC53}"/>
              </a:ext>
            </a:extLst>
          </p:cNvPr>
          <p:cNvSpPr txBox="1"/>
          <p:nvPr/>
        </p:nvSpPr>
        <p:spPr>
          <a:xfrm>
            <a:off x="10477549" y="3155741"/>
            <a:ext cx="312906" cy="369332"/>
          </a:xfrm>
          <a:prstGeom prst="rect">
            <a:avLst/>
          </a:prstGeom>
          <a:noFill/>
        </p:spPr>
        <p:txBody>
          <a:bodyPr wrap="none" rtlCol="0">
            <a:spAutoFit/>
          </a:bodyPr>
          <a:lstStyle/>
          <a:p>
            <a:r>
              <a:rPr lang="en-US" altLang="zh-CN" b="1" dirty="0">
                <a:solidFill>
                  <a:srgbClr val="C00000"/>
                </a:solidFill>
              </a:rPr>
              <a:t>6</a:t>
            </a:r>
            <a:endParaRPr lang="zh-CN" altLang="en-US" b="1" dirty="0">
              <a:solidFill>
                <a:srgbClr val="C00000"/>
              </a:solidFill>
            </a:endParaRPr>
          </a:p>
        </p:txBody>
      </p:sp>
      <p:sp>
        <p:nvSpPr>
          <p:cNvPr id="12" name="文本框 11">
            <a:extLst>
              <a:ext uri="{FF2B5EF4-FFF2-40B4-BE49-F238E27FC236}">
                <a16:creationId xmlns:a16="http://schemas.microsoft.com/office/drawing/2014/main" id="{7F367551-8AF5-4CAA-B651-33FF4D9122C8}"/>
              </a:ext>
            </a:extLst>
          </p:cNvPr>
          <p:cNvSpPr txBox="1"/>
          <p:nvPr/>
        </p:nvSpPr>
        <p:spPr>
          <a:xfrm>
            <a:off x="11276996" y="3484913"/>
            <a:ext cx="312906" cy="369332"/>
          </a:xfrm>
          <a:prstGeom prst="rect">
            <a:avLst/>
          </a:prstGeom>
          <a:noFill/>
        </p:spPr>
        <p:txBody>
          <a:bodyPr wrap="none" rtlCol="0">
            <a:spAutoFit/>
          </a:bodyPr>
          <a:lstStyle/>
          <a:p>
            <a:r>
              <a:rPr lang="en-US" altLang="zh-CN" b="1" dirty="0">
                <a:solidFill>
                  <a:srgbClr val="C00000"/>
                </a:solidFill>
              </a:rPr>
              <a:t>3</a:t>
            </a:r>
            <a:endParaRPr lang="zh-CN" altLang="en-US" b="1" dirty="0">
              <a:solidFill>
                <a:srgbClr val="C00000"/>
              </a:solidFill>
            </a:endParaRPr>
          </a:p>
        </p:txBody>
      </p:sp>
      <p:sp>
        <p:nvSpPr>
          <p:cNvPr id="13" name="文本框 12">
            <a:extLst>
              <a:ext uri="{FF2B5EF4-FFF2-40B4-BE49-F238E27FC236}">
                <a16:creationId xmlns:a16="http://schemas.microsoft.com/office/drawing/2014/main" id="{E0C528E1-8F61-482E-8E73-9F9009EA58FB}"/>
              </a:ext>
            </a:extLst>
          </p:cNvPr>
          <p:cNvSpPr txBox="1"/>
          <p:nvPr/>
        </p:nvSpPr>
        <p:spPr>
          <a:xfrm>
            <a:off x="10634002" y="3534131"/>
            <a:ext cx="312906" cy="369332"/>
          </a:xfrm>
          <a:prstGeom prst="rect">
            <a:avLst/>
          </a:prstGeom>
          <a:noFill/>
        </p:spPr>
        <p:txBody>
          <a:bodyPr wrap="none" rtlCol="0">
            <a:spAutoFit/>
          </a:bodyPr>
          <a:lstStyle/>
          <a:p>
            <a:r>
              <a:rPr lang="en-US" altLang="zh-CN" b="1" dirty="0">
                <a:solidFill>
                  <a:srgbClr val="C00000"/>
                </a:solidFill>
              </a:rPr>
              <a:t>5</a:t>
            </a:r>
            <a:endParaRPr lang="zh-CN" altLang="en-US" b="1" dirty="0">
              <a:solidFill>
                <a:srgbClr val="C00000"/>
              </a:solidFill>
            </a:endParaRPr>
          </a:p>
        </p:txBody>
      </p:sp>
    </p:spTree>
    <p:extLst>
      <p:ext uri="{BB962C8B-B14F-4D97-AF65-F5344CB8AC3E}">
        <p14:creationId xmlns:p14="http://schemas.microsoft.com/office/powerpoint/2010/main" val="83613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40964" name="Rectangle 3"/>
          <p:cNvSpPr>
            <a:spLocks noGrp="1" noChangeArrowheads="1"/>
          </p:cNvSpPr>
          <p:nvPr>
            <p:ph idx="1"/>
          </p:nvPr>
        </p:nvSpPr>
        <p:spPr>
          <a:xfrm>
            <a:off x="1384301" y="1382714"/>
            <a:ext cx="10350500" cy="4598987"/>
          </a:xfrm>
        </p:spPr>
        <p:txBody>
          <a:bodyPr>
            <a:normAutofit lnSpcReduction="10000"/>
          </a:bodyPr>
          <a:lstStyle/>
          <a:p>
            <a:pPr>
              <a:lnSpc>
                <a:spcPct val="100000"/>
              </a:lnSpc>
            </a:pPr>
            <a:r>
              <a:rPr lang="en-US" altLang="zh-CN" u="sng" dirty="0">
                <a:ea typeface="宋体" panose="02010600030101010101" pitchFamily="2" charset="-122"/>
              </a:rPr>
              <a:t>Link state</a:t>
            </a:r>
            <a:r>
              <a:rPr lang="en-US" altLang="zh-CN" dirty="0">
                <a:ea typeface="宋体" panose="02010600030101010101" pitchFamily="2" charset="-122"/>
              </a:rPr>
              <a:t> is an alternative to distance vector</a:t>
            </a:r>
          </a:p>
          <a:p>
            <a:pPr lvl="1">
              <a:lnSpc>
                <a:spcPct val="100000"/>
              </a:lnSpc>
            </a:pPr>
            <a:r>
              <a:rPr lang="en-US" altLang="zh-CN" dirty="0">
                <a:ea typeface="宋体" panose="02010600030101010101" pitchFamily="2" charset="-122"/>
              </a:rPr>
              <a:t>More computation but simpler dynamics</a:t>
            </a:r>
          </a:p>
          <a:p>
            <a:pPr lvl="1">
              <a:lnSpc>
                <a:spcPct val="100000"/>
              </a:lnSpc>
            </a:pPr>
            <a:r>
              <a:rPr lang="en-US" altLang="zh-CN" dirty="0">
                <a:ea typeface="宋体" panose="02010600030101010101" pitchFamily="2" charset="-122"/>
              </a:rPr>
              <a:t>Widely used in the Internet (OSPF, ISIS)</a:t>
            </a:r>
          </a:p>
          <a:p>
            <a:pPr>
              <a:lnSpc>
                <a:spcPct val="100000"/>
              </a:lnSpc>
            </a:pPr>
            <a:r>
              <a:rPr lang="en-US" altLang="zh-CN" dirty="0">
                <a:ea typeface="宋体" panose="02010600030101010101" pitchFamily="2" charset="-122"/>
              </a:rPr>
              <a:t>Algorithm:</a:t>
            </a:r>
          </a:p>
          <a:p>
            <a:pPr lvl="1">
              <a:lnSpc>
                <a:spcPct val="100000"/>
              </a:lnSpc>
            </a:pPr>
            <a:r>
              <a:rPr lang="en-US" altLang="zh-CN" dirty="0">
                <a:ea typeface="宋体" panose="02010600030101010101" pitchFamily="2" charset="-122"/>
              </a:rPr>
              <a:t>Discover its neighbors, learn their network address.</a:t>
            </a:r>
          </a:p>
          <a:p>
            <a:pPr lvl="1">
              <a:lnSpc>
                <a:spcPct val="100000"/>
              </a:lnSpc>
            </a:pPr>
            <a:r>
              <a:rPr lang="en-US" altLang="zh-CN" dirty="0">
                <a:ea typeface="宋体" panose="02010600030101010101" pitchFamily="2" charset="-122"/>
              </a:rPr>
              <a:t>Measure the delay or cost to each of its neighbors.</a:t>
            </a:r>
          </a:p>
          <a:p>
            <a:pPr lvl="1">
              <a:lnSpc>
                <a:spcPct val="100000"/>
              </a:lnSpc>
            </a:pPr>
            <a:r>
              <a:rPr lang="en-US" altLang="zh-CN" dirty="0">
                <a:ea typeface="宋体" panose="02010600030101010101" pitchFamily="2" charset="-122"/>
              </a:rPr>
              <a:t>Construct a packet (Link State Packet) about its neighbors.</a:t>
            </a:r>
          </a:p>
          <a:p>
            <a:pPr lvl="1">
              <a:lnSpc>
                <a:spcPct val="100000"/>
              </a:lnSpc>
            </a:pPr>
            <a:r>
              <a:rPr lang="en-US" altLang="zh-CN" dirty="0">
                <a:ea typeface="宋体" panose="02010600030101010101" pitchFamily="2" charset="-122"/>
              </a:rPr>
              <a:t>Each node floods information about its neighbors in LSPs (Link State Packets); all nodes learn the full network graph</a:t>
            </a:r>
          </a:p>
          <a:p>
            <a:pPr lvl="1">
              <a:lnSpc>
                <a:spcPct val="100000"/>
              </a:lnSpc>
            </a:pPr>
            <a:r>
              <a:rPr lang="en-US" altLang="zh-CN" dirty="0">
                <a:ea typeface="宋体" panose="02010600030101010101" pitchFamily="2" charset="-122"/>
              </a:rPr>
              <a:t>Each node runs </a:t>
            </a:r>
            <a:r>
              <a:rPr lang="en-US" altLang="zh-CN" dirty="0">
                <a:solidFill>
                  <a:srgbClr val="FF0000"/>
                </a:solidFill>
                <a:ea typeface="宋体" panose="02010600030101010101" pitchFamily="2" charset="-122"/>
              </a:rPr>
              <a:t>Dijkstra’s algorithm </a:t>
            </a:r>
            <a:r>
              <a:rPr lang="en-US" altLang="zh-CN" dirty="0">
                <a:ea typeface="宋体" panose="02010600030101010101" pitchFamily="2" charset="-122"/>
              </a:rPr>
              <a:t>to compute the path to take for each destination</a:t>
            </a:r>
          </a:p>
        </p:txBody>
      </p:sp>
      <p:sp>
        <p:nvSpPr>
          <p:cNvPr id="2" name="矩形 1">
            <a:extLst>
              <a:ext uri="{FF2B5EF4-FFF2-40B4-BE49-F238E27FC236}">
                <a16:creationId xmlns:a16="http://schemas.microsoft.com/office/drawing/2014/main" id="{51E4C718-2CC8-4ED0-A970-ED52F038ACF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Link State Routing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51E4C718-2CC8-4ED0-A970-ED52F038ACF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Learning about the Neighbors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Rectangle 3">
            <a:extLst>
              <a:ext uri="{FF2B5EF4-FFF2-40B4-BE49-F238E27FC236}">
                <a16:creationId xmlns:a16="http://schemas.microsoft.com/office/drawing/2014/main" id="{25A9680B-A242-47A7-9810-BFBF1307962F}"/>
              </a:ext>
            </a:extLst>
          </p:cNvPr>
          <p:cNvSpPr txBox="1">
            <a:spLocks noChangeArrowheads="1"/>
          </p:cNvSpPr>
          <p:nvPr/>
        </p:nvSpPr>
        <p:spPr>
          <a:xfrm>
            <a:off x="2733675" y="5426586"/>
            <a:ext cx="6364288" cy="6316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pitchFamily="92" charset="2"/>
              <a:buNone/>
            </a:pPr>
            <a:r>
              <a:rPr lang="en-US" altLang="zh-CN" sz="2000" dirty="0">
                <a:solidFill>
                  <a:srgbClr val="000099"/>
                </a:solidFill>
              </a:rPr>
              <a:t>(a) Nine routers and a LAN.   (b) A graph model of (a).</a:t>
            </a:r>
          </a:p>
        </p:txBody>
      </p:sp>
      <p:pic>
        <p:nvPicPr>
          <p:cNvPr id="8" name="Picture 4" descr="5-11">
            <a:extLst>
              <a:ext uri="{FF2B5EF4-FFF2-40B4-BE49-F238E27FC236}">
                <a16:creationId xmlns:a16="http://schemas.microsoft.com/office/drawing/2014/main" id="{8C14B7DB-245B-4441-9B76-39864AFD02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805" y="1431414"/>
            <a:ext cx="8378677" cy="335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61064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51E4C718-2CC8-4ED0-A970-ED52F038ACF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Measuring Line Cost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6" name="Rectangle 3">
            <a:extLst>
              <a:ext uri="{FF2B5EF4-FFF2-40B4-BE49-F238E27FC236}">
                <a16:creationId xmlns:a16="http://schemas.microsoft.com/office/drawing/2014/main" id="{BC2A6EF6-7AC2-4208-8734-66E68C5AF823}"/>
              </a:ext>
            </a:extLst>
          </p:cNvPr>
          <p:cNvSpPr txBox="1">
            <a:spLocks noChangeArrowheads="1"/>
          </p:cNvSpPr>
          <p:nvPr/>
        </p:nvSpPr>
        <p:spPr>
          <a:xfrm>
            <a:off x="1282700" y="5270500"/>
            <a:ext cx="9144000" cy="838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Tx/>
              <a:buNone/>
            </a:pPr>
            <a:r>
              <a:rPr lang="en-US" altLang="zh-CN" sz="2000">
                <a:solidFill>
                  <a:srgbClr val="000099"/>
                </a:solidFill>
              </a:rPr>
              <a:t>A subnet in which the East and West parts are connected by two lines.</a:t>
            </a:r>
          </a:p>
        </p:txBody>
      </p:sp>
      <p:pic>
        <p:nvPicPr>
          <p:cNvPr id="9" name="Picture 4" descr="5-12">
            <a:extLst>
              <a:ext uri="{FF2B5EF4-FFF2-40B4-BE49-F238E27FC236}">
                <a16:creationId xmlns:a16="http://schemas.microsoft.com/office/drawing/2014/main" id="{979A4653-833C-4DFA-872D-26A03693B7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4138" y="1344613"/>
            <a:ext cx="6405562" cy="348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7293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41988" name="Rectangle 3"/>
          <p:cNvSpPr>
            <a:spLocks noGrp="1" noChangeArrowheads="1"/>
          </p:cNvSpPr>
          <p:nvPr>
            <p:ph idx="1"/>
          </p:nvPr>
        </p:nvSpPr>
        <p:spPr>
          <a:xfrm>
            <a:off x="1333501" y="1200152"/>
            <a:ext cx="9690099" cy="1039024"/>
          </a:xfrm>
        </p:spPr>
        <p:txBody>
          <a:bodyPr/>
          <a:lstStyle/>
          <a:p>
            <a:r>
              <a:rPr lang="en-US" altLang="zh-CN" dirty="0">
                <a:ea typeface="宋体" panose="02010600030101010101" pitchFamily="2" charset="-122"/>
              </a:rPr>
              <a:t>LSP (Link State Packet) for a node lists neighbors and weights of links to reach them</a:t>
            </a:r>
          </a:p>
        </p:txBody>
      </p:sp>
      <p:pic>
        <p:nvPicPr>
          <p:cNvPr id="41989" name="Picture 2"/>
          <p:cNvPicPr>
            <a:picLocks noChangeAspect="1" noChangeArrowheads="1"/>
          </p:cNvPicPr>
          <p:nvPr/>
        </p:nvPicPr>
        <p:blipFill>
          <a:blip r:embed="rId2">
            <a:extLst>
              <a:ext uri="{28A0092B-C50C-407E-A947-70E740481C1C}">
                <a14:useLocalDpi xmlns:a14="http://schemas.microsoft.com/office/drawing/2010/main" val="0"/>
              </a:ext>
            </a:extLst>
          </a:blip>
          <a:srcRect b="14639"/>
          <a:stretch>
            <a:fillRect/>
          </a:stretch>
        </p:blipFill>
        <p:spPr bwMode="auto">
          <a:xfrm>
            <a:off x="1903413" y="2817814"/>
            <a:ext cx="8369300"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TextBox 5"/>
          <p:cNvSpPr txBox="1">
            <a:spLocks noChangeArrowheads="1"/>
          </p:cNvSpPr>
          <p:nvPr/>
        </p:nvSpPr>
        <p:spPr bwMode="auto">
          <a:xfrm>
            <a:off x="2555876" y="4876800"/>
            <a:ext cx="1031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Network</a:t>
            </a:r>
          </a:p>
        </p:txBody>
      </p:sp>
      <p:sp>
        <p:nvSpPr>
          <p:cNvPr id="41991" name="TextBox 6"/>
          <p:cNvSpPr txBox="1">
            <a:spLocks noChangeArrowheads="1"/>
          </p:cNvSpPr>
          <p:nvPr/>
        </p:nvSpPr>
        <p:spPr bwMode="auto">
          <a:xfrm>
            <a:off x="6464301" y="4872039"/>
            <a:ext cx="2092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LSP for each node</a:t>
            </a:r>
          </a:p>
        </p:txBody>
      </p:sp>
      <p:sp>
        <p:nvSpPr>
          <p:cNvPr id="41992" name="Rectangle 7"/>
          <p:cNvSpPr>
            <a:spLocks noChangeArrowheads="1"/>
          </p:cNvSpPr>
          <p:nvPr/>
        </p:nvSpPr>
        <p:spPr bwMode="auto">
          <a:xfrm>
            <a:off x="5880100" y="2841625"/>
            <a:ext cx="3352800" cy="3048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 name="矩形 1">
            <a:extLst>
              <a:ext uri="{FF2B5EF4-FFF2-40B4-BE49-F238E27FC236}">
                <a16:creationId xmlns:a16="http://schemas.microsoft.com/office/drawing/2014/main" id="{13609FFE-F7F2-4997-AF17-EFDDC2B9A80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Link State Routing (2) – Building Links State Packets (LSPs)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43012" name="Rectangle 3"/>
          <p:cNvSpPr>
            <a:spLocks noGrp="1" noChangeArrowheads="1"/>
          </p:cNvSpPr>
          <p:nvPr>
            <p:ph idx="1"/>
          </p:nvPr>
        </p:nvSpPr>
        <p:spPr>
          <a:xfrm>
            <a:off x="521178" y="1014092"/>
            <a:ext cx="8026400" cy="1605786"/>
          </a:xfrm>
        </p:spPr>
        <p:txBody>
          <a:bodyPr/>
          <a:lstStyle/>
          <a:p>
            <a:r>
              <a:rPr lang="en-US" altLang="zh-CN" dirty="0">
                <a:ea typeface="宋体" panose="02010600030101010101" pitchFamily="2" charset="-122"/>
              </a:rPr>
              <a:t>Seq. number and age are used for reliable flooding</a:t>
            </a:r>
          </a:p>
          <a:p>
            <a:pPr lvl="1"/>
            <a:r>
              <a:rPr lang="en-US" altLang="zh-CN" dirty="0">
                <a:ea typeface="宋体" panose="02010600030101010101" pitchFamily="2" charset="-122"/>
              </a:rPr>
              <a:t>New LSPs are acknowledged on the lines they are received and sent on all other lines </a:t>
            </a:r>
          </a:p>
          <a:p>
            <a:pPr lvl="1"/>
            <a:r>
              <a:rPr lang="en-US" altLang="zh-CN" dirty="0">
                <a:ea typeface="宋体" panose="02010600030101010101" pitchFamily="2" charset="-122"/>
              </a:rPr>
              <a:t>Example shows the LSP database at router B</a:t>
            </a:r>
          </a:p>
        </p:txBody>
      </p:sp>
      <p:pic>
        <p:nvPicPr>
          <p:cNvPr id="43013" name="Picture 2"/>
          <p:cNvPicPr>
            <a:picLocks noChangeAspect="1" noChangeArrowheads="1"/>
          </p:cNvPicPr>
          <p:nvPr/>
        </p:nvPicPr>
        <p:blipFill>
          <a:blip r:embed="rId3">
            <a:extLst>
              <a:ext uri="{28A0092B-C50C-407E-A947-70E740481C1C}">
                <a14:useLocalDpi xmlns:a14="http://schemas.microsoft.com/office/drawing/2010/main" val="0"/>
              </a:ext>
            </a:extLst>
          </a:blip>
          <a:srcRect t="4955"/>
          <a:stretch>
            <a:fillRect/>
          </a:stretch>
        </p:blipFill>
        <p:spPr bwMode="auto">
          <a:xfrm>
            <a:off x="173689" y="3001086"/>
            <a:ext cx="7459011" cy="277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F7E48A2-8A48-4519-ABAC-CDB1AA6B954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Distributing LSPs – Reliable Flooding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6E6641BC-52ED-4FF4-AA97-F29C9AD550BA}"/>
              </a:ext>
            </a:extLst>
          </p:cNvPr>
          <p:cNvPicPr>
            <a:picLocks noChangeAspect="1"/>
          </p:cNvPicPr>
          <p:nvPr/>
        </p:nvPicPr>
        <p:blipFill>
          <a:blip r:embed="rId4"/>
          <a:stretch>
            <a:fillRect/>
          </a:stretch>
        </p:blipFill>
        <p:spPr>
          <a:xfrm>
            <a:off x="9411564" y="887774"/>
            <a:ext cx="2004872" cy="1563799"/>
          </a:xfrm>
          <a:prstGeom prst="rect">
            <a:avLst/>
          </a:prstGeom>
        </p:spPr>
      </p:pic>
      <p:sp>
        <p:nvSpPr>
          <p:cNvPr id="10" name="文本框 9">
            <a:extLst>
              <a:ext uri="{FF2B5EF4-FFF2-40B4-BE49-F238E27FC236}">
                <a16:creationId xmlns:a16="http://schemas.microsoft.com/office/drawing/2014/main" id="{83B37484-3CEA-4452-95B4-CE2CC2E966FE}"/>
              </a:ext>
            </a:extLst>
          </p:cNvPr>
          <p:cNvSpPr txBox="1"/>
          <p:nvPr/>
        </p:nvSpPr>
        <p:spPr>
          <a:xfrm>
            <a:off x="198612" y="5772240"/>
            <a:ext cx="7874000" cy="369332"/>
          </a:xfrm>
          <a:prstGeom prst="rect">
            <a:avLst/>
          </a:prstGeom>
          <a:noFill/>
        </p:spPr>
        <p:txBody>
          <a:bodyPr wrap="square">
            <a:spAutoFit/>
          </a:bodyPr>
          <a:lstStyle/>
          <a:p>
            <a:pPr eaLnBrk="1" hangingPunct="1">
              <a:spcBef>
                <a:spcPts val="1800"/>
              </a:spcBef>
              <a:buClr>
                <a:srgbClr val="0000FF"/>
              </a:buClr>
            </a:pPr>
            <a:r>
              <a:rPr lang="en-US" altLang="zh-CN" sz="1800" dirty="0">
                <a:solidFill>
                  <a:srgbClr val="000099"/>
                </a:solidFill>
                <a:latin typeface="Arial" pitchFamily="34" charset="0"/>
                <a:cs typeface="Arial" pitchFamily="34" charset="0"/>
              </a:rPr>
              <a:t>The data structure used by router B for the network in the previous slide.</a:t>
            </a:r>
          </a:p>
        </p:txBody>
      </p:sp>
      <p:sp>
        <p:nvSpPr>
          <p:cNvPr id="12" name="文本框 11">
            <a:extLst>
              <a:ext uri="{FF2B5EF4-FFF2-40B4-BE49-F238E27FC236}">
                <a16:creationId xmlns:a16="http://schemas.microsoft.com/office/drawing/2014/main" id="{C14D16AE-3F0F-4E52-8383-F1916B2F513F}"/>
              </a:ext>
            </a:extLst>
          </p:cNvPr>
          <p:cNvSpPr txBox="1"/>
          <p:nvPr/>
        </p:nvSpPr>
        <p:spPr>
          <a:xfrm>
            <a:off x="7657623" y="2451573"/>
            <a:ext cx="4360688" cy="3539430"/>
          </a:xfrm>
          <a:prstGeom prst="rect">
            <a:avLst/>
          </a:prstGeom>
          <a:noFill/>
        </p:spPr>
        <p:txBody>
          <a:bodyPr wrap="square">
            <a:spAutoFit/>
          </a:bodyPr>
          <a:lstStyle/>
          <a:p>
            <a:r>
              <a:rPr lang="zh-CN" altLang="en-US" sz="1600" dirty="0"/>
              <a:t>The send flags mean that the packet must be sent on the indicated link. The ack flags mean that it must be acknowledged there.</a:t>
            </a:r>
            <a:endParaRPr lang="en-US" altLang="zh-CN" sz="1600" dirty="0"/>
          </a:p>
          <a:p>
            <a:endParaRPr lang="en-US" altLang="zh-CN" sz="1600" dirty="0"/>
          </a:p>
          <a:p>
            <a:r>
              <a:rPr lang="en-US" altLang="zh-CN" sz="1600" dirty="0"/>
              <a:t>The LSP from A arrives directly, so it must be sent to C and F and </a:t>
            </a:r>
            <a:r>
              <a:rPr lang="en-US" altLang="zh-CN" sz="1600" dirty="0" err="1"/>
              <a:t>ACKed</a:t>
            </a:r>
            <a:r>
              <a:rPr lang="en-US" altLang="zh-CN" sz="1600" dirty="0"/>
              <a:t> to A, as indicated by the flag bits. Similarly, the packet from F has to be forwarded to A and C and </a:t>
            </a:r>
            <a:r>
              <a:rPr lang="en-US" altLang="zh-CN" sz="1600" dirty="0" err="1"/>
              <a:t>ACKed</a:t>
            </a:r>
            <a:r>
              <a:rPr lang="en-US" altLang="zh-CN" sz="1600" dirty="0"/>
              <a:t> to F.</a:t>
            </a:r>
          </a:p>
          <a:p>
            <a:endParaRPr lang="en-US" altLang="zh-CN" sz="1600" dirty="0"/>
          </a:p>
          <a:p>
            <a:r>
              <a:rPr lang="en-US" altLang="zh-CN" sz="1600" dirty="0"/>
              <a:t>However, packet from E, is different. It arrives twice, once via EAB and once via EFB. Consequently, it has to be sent only to C but must be </a:t>
            </a:r>
            <a:r>
              <a:rPr lang="en-US" altLang="zh-CN" sz="1600" dirty="0" err="1"/>
              <a:t>ACKed</a:t>
            </a:r>
            <a:r>
              <a:rPr lang="en-US" altLang="zh-CN" sz="1600" dirty="0"/>
              <a:t> to both A and F, as indicated by the bits.</a:t>
            </a:r>
            <a:endParaRPr lang="zh-CN" altLang="en-US" sz="1600" dirty="0"/>
          </a:p>
        </p:txBody>
      </p:sp>
      <p:sp>
        <p:nvSpPr>
          <p:cNvPr id="14" name="文本框 13">
            <a:extLst>
              <a:ext uri="{FF2B5EF4-FFF2-40B4-BE49-F238E27FC236}">
                <a16:creationId xmlns:a16="http://schemas.microsoft.com/office/drawing/2014/main" id="{234EA039-CF67-4AAF-9A9B-2AAFC77C945B}"/>
              </a:ext>
            </a:extLst>
          </p:cNvPr>
          <p:cNvSpPr txBox="1"/>
          <p:nvPr/>
        </p:nvSpPr>
        <p:spPr>
          <a:xfrm>
            <a:off x="7780567" y="5956906"/>
            <a:ext cx="4114799" cy="738664"/>
          </a:xfrm>
          <a:prstGeom prst="rect">
            <a:avLst/>
          </a:prstGeom>
          <a:noFill/>
        </p:spPr>
        <p:txBody>
          <a:bodyPr wrap="square">
            <a:spAutoFit/>
          </a:bodyPr>
          <a:lstStyle/>
          <a:p>
            <a:r>
              <a:rPr lang="en-US" altLang="zh-CN" sz="1400" i="1" dirty="0"/>
              <a:t>Age</a:t>
            </a:r>
            <a:r>
              <a:rPr lang="en-US" altLang="zh-CN" sz="1400" dirty="0"/>
              <a:t> filed: </a:t>
            </a:r>
            <a:r>
              <a:rPr lang="zh-CN" altLang="en-US" sz="1400" dirty="0"/>
              <a:t>decrement it once per second. When the age hits zero, the information from that router is discarded.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6" name="Picture 2">
            <a:extLst>
              <a:ext uri="{FF2B5EF4-FFF2-40B4-BE49-F238E27FC236}">
                <a16:creationId xmlns:a16="http://schemas.microsoft.com/office/drawing/2014/main" id="{BC460A7A-8635-473E-BE8B-A9D374D0A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8718" y="1384700"/>
            <a:ext cx="8716963" cy="438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435116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2" name="Picture 2">
            <a:extLst>
              <a:ext uri="{FF2B5EF4-FFF2-40B4-BE49-F238E27FC236}">
                <a16:creationId xmlns:a16="http://schemas.microsoft.com/office/drawing/2014/main" id="{F46C3735-11A0-4E85-9DB0-D20C42D0BB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809"/>
          <a:stretch/>
        </p:blipFill>
        <p:spPr bwMode="auto">
          <a:xfrm>
            <a:off x="1261199" y="1202531"/>
            <a:ext cx="8700949" cy="4105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238113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3" name="Picture 2">
            <a:extLst>
              <a:ext uri="{FF2B5EF4-FFF2-40B4-BE49-F238E27FC236}">
                <a16:creationId xmlns:a16="http://schemas.microsoft.com/office/drawing/2014/main" id="{C331EEBC-EAF5-4752-8732-64DD29442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6663" y="1068388"/>
            <a:ext cx="9058275"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6413663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2" name="Picture 2">
            <a:extLst>
              <a:ext uri="{FF2B5EF4-FFF2-40B4-BE49-F238E27FC236}">
                <a16:creationId xmlns:a16="http://schemas.microsoft.com/office/drawing/2014/main" id="{4A1CC242-BF0F-4373-9F7B-E43991B1C3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2050" y="1301750"/>
            <a:ext cx="8893175" cy="449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6885297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3" name="Picture 2">
            <a:extLst>
              <a:ext uri="{FF2B5EF4-FFF2-40B4-BE49-F238E27FC236}">
                <a16:creationId xmlns:a16="http://schemas.microsoft.com/office/drawing/2014/main" id="{8D75D2B5-B267-4947-9012-A0591073A7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6300" y="1233805"/>
            <a:ext cx="7899400" cy="465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1974700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xfrm>
            <a:off x="4038600" y="6356350"/>
            <a:ext cx="41148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2" name="Picture 2">
            <a:extLst>
              <a:ext uri="{FF2B5EF4-FFF2-40B4-BE49-F238E27FC236}">
                <a16:creationId xmlns:a16="http://schemas.microsoft.com/office/drawing/2014/main" id="{D1BE0F50-9A86-442C-A94E-F0ADFB2C9D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40" y="1310005"/>
            <a:ext cx="9043988"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图片 2">
            <a:extLst>
              <a:ext uri="{FF2B5EF4-FFF2-40B4-BE49-F238E27FC236}">
                <a16:creationId xmlns:a16="http://schemas.microsoft.com/office/drawing/2014/main" id="{3DFAF041-1E88-4F0F-8BC7-25044441B1B6}"/>
              </a:ext>
            </a:extLst>
          </p:cNvPr>
          <p:cNvPicPr>
            <a:picLocks noChangeAspect="1"/>
          </p:cNvPicPr>
          <p:nvPr/>
        </p:nvPicPr>
        <p:blipFill>
          <a:blip r:embed="rId4"/>
          <a:stretch>
            <a:fillRect/>
          </a:stretch>
        </p:blipFill>
        <p:spPr>
          <a:xfrm>
            <a:off x="4348148" y="1901877"/>
            <a:ext cx="6710714" cy="4287908"/>
          </a:xfrm>
          <a:prstGeom prst="rect">
            <a:avLst/>
          </a:prstGeom>
        </p:spPr>
      </p:pic>
    </p:spTree>
    <p:extLst>
      <p:ext uri="{BB962C8B-B14F-4D97-AF65-F5344CB8AC3E}">
        <p14:creationId xmlns:p14="http://schemas.microsoft.com/office/powerpoint/2010/main" val="13860019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2" name="Picture 2">
            <a:extLst>
              <a:ext uri="{FF2B5EF4-FFF2-40B4-BE49-F238E27FC236}">
                <a16:creationId xmlns:a16="http://schemas.microsoft.com/office/drawing/2014/main" id="{2FFBFE2F-3551-4055-A103-A49D8F9BFC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245" y="1774825"/>
            <a:ext cx="6734175" cy="458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3">
            <a:extLst>
              <a:ext uri="{FF2B5EF4-FFF2-40B4-BE49-F238E27FC236}">
                <a16:creationId xmlns:a16="http://schemas.microsoft.com/office/drawing/2014/main" id="{9C6710D7-4491-4398-B445-51F2B10374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6433" y="1016319"/>
            <a:ext cx="7543800" cy="782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032286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2" name="Picture 2">
            <a:extLst>
              <a:ext uri="{FF2B5EF4-FFF2-40B4-BE49-F238E27FC236}">
                <a16:creationId xmlns:a16="http://schemas.microsoft.com/office/drawing/2014/main" id="{E569A18E-8EB1-487D-94E2-3B49F5BED0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9313" y="1136650"/>
            <a:ext cx="7704137" cy="74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3">
            <a:extLst>
              <a:ext uri="{FF2B5EF4-FFF2-40B4-BE49-F238E27FC236}">
                <a16:creationId xmlns:a16="http://schemas.microsoft.com/office/drawing/2014/main" id="{0CF6B39C-14D0-4D7D-967E-1BFB80B4AB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3988" y="2320925"/>
            <a:ext cx="5459412" cy="403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8899402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pic>
        <p:nvPicPr>
          <p:cNvPr id="3" name="Picture 2">
            <a:extLst>
              <a:ext uri="{FF2B5EF4-FFF2-40B4-BE49-F238E27FC236}">
                <a16:creationId xmlns:a16="http://schemas.microsoft.com/office/drawing/2014/main" id="{BB9847F0-1E60-4273-A020-B23150063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21" y="2020209"/>
            <a:ext cx="6467475"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3">
            <a:extLst>
              <a:ext uri="{FF2B5EF4-FFF2-40B4-BE49-F238E27FC236}">
                <a16:creationId xmlns:a16="http://schemas.microsoft.com/office/drawing/2014/main" id="{8A08BB40-2E06-4C38-915F-0468A6E9E0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8525" y="1056323"/>
            <a:ext cx="5080000"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681591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508000" y="993775"/>
            <a:ext cx="11087100" cy="993776"/>
          </a:xfrm>
        </p:spPr>
        <p:txBody>
          <a:bodyPr/>
          <a:lstStyle/>
          <a:p>
            <a:r>
              <a:rPr lang="en-US" altLang="zh-CN" dirty="0">
                <a:ea typeface="宋体" panose="02010600030101010101" pitchFamily="2" charset="-122"/>
              </a:rPr>
              <a:t>Hierarchical routing reduces the work of route computation but may result in slightly longer paths than flat routing</a:t>
            </a:r>
          </a:p>
        </p:txBody>
      </p:sp>
      <p:sp>
        <p:nvSpPr>
          <p:cNvPr id="450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45061" name="Picture 2"/>
          <p:cNvPicPr>
            <a:picLocks noChangeAspect="1" noChangeArrowheads="1"/>
          </p:cNvPicPr>
          <p:nvPr/>
        </p:nvPicPr>
        <p:blipFill>
          <a:blip r:embed="rId3">
            <a:extLst>
              <a:ext uri="{28A0092B-C50C-407E-A947-70E740481C1C}">
                <a14:useLocalDpi xmlns:a14="http://schemas.microsoft.com/office/drawing/2010/main" val="0"/>
              </a:ext>
            </a:extLst>
          </a:blip>
          <a:srcRect t="1224" b="5255"/>
          <a:stretch>
            <a:fillRect/>
          </a:stretch>
        </p:blipFill>
        <p:spPr bwMode="auto">
          <a:xfrm>
            <a:off x="842962" y="1987551"/>
            <a:ext cx="7310438" cy="444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bwMode="auto">
          <a:xfrm>
            <a:off x="6526213" y="3914775"/>
            <a:ext cx="569913" cy="234950"/>
          </a:xfrm>
          <a:prstGeom prst="rect">
            <a:avLst/>
          </a:prstGeom>
          <a:solidFill>
            <a:schemeClr val="accent3">
              <a:lumMod val="60000"/>
              <a:lumOff val="40000"/>
              <a:alpha val="50196"/>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cxnSp>
        <p:nvCxnSpPr>
          <p:cNvPr id="11" name="Straight Arrow Connector 10"/>
          <p:cNvCxnSpPr/>
          <p:nvPr/>
        </p:nvCxnSpPr>
        <p:spPr bwMode="auto">
          <a:xfrm rot="5400000" flipH="1" flipV="1">
            <a:off x="6521450" y="4498976"/>
            <a:ext cx="560388" cy="1587"/>
          </a:xfrm>
          <a:prstGeom prst="straightConnector1">
            <a:avLst/>
          </a:prstGeom>
          <a:solidFill>
            <a:schemeClr val="accent1"/>
          </a:solidFill>
          <a:ln w="19050" cap="flat" cmpd="sng" algn="ctr">
            <a:solidFill>
              <a:schemeClr val="accent3">
                <a:lumMod val="60000"/>
                <a:lumOff val="40000"/>
              </a:schemeClr>
            </a:solidFill>
            <a:prstDash val="solid"/>
            <a:round/>
            <a:headEnd type="none" w="med" len="med"/>
            <a:tailEnd type="arrow"/>
          </a:ln>
          <a:effectLst/>
        </p:spPr>
      </p:cxnSp>
      <p:sp>
        <p:nvSpPr>
          <p:cNvPr id="45064" name="TextBox 11"/>
          <p:cNvSpPr txBox="1">
            <a:spLocks noChangeArrowheads="1"/>
          </p:cNvSpPr>
          <p:nvPr/>
        </p:nvSpPr>
        <p:spPr bwMode="auto">
          <a:xfrm>
            <a:off x="6408738" y="4808539"/>
            <a:ext cx="220186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Best choice to reach nodes in 5 except for 5C</a:t>
            </a:r>
          </a:p>
        </p:txBody>
      </p:sp>
      <p:sp>
        <p:nvSpPr>
          <p:cNvPr id="13" name="Rectangle 12"/>
          <p:cNvSpPr/>
          <p:nvPr/>
        </p:nvSpPr>
        <p:spPr bwMode="auto">
          <a:xfrm>
            <a:off x="4511675" y="5718175"/>
            <a:ext cx="569912" cy="236538"/>
          </a:xfrm>
          <a:prstGeom prst="rect">
            <a:avLst/>
          </a:prstGeom>
          <a:solidFill>
            <a:schemeClr val="accent3">
              <a:lumMod val="60000"/>
              <a:lumOff val="40000"/>
              <a:alpha val="50196"/>
            </a:schemeClr>
          </a:solidFill>
          <a:ln w="9525" cap="flat" cmpd="sng" algn="ctr">
            <a:solidFill>
              <a:schemeClr val="tx1"/>
            </a:solidFill>
            <a:prstDash val="solid"/>
            <a:round/>
            <a:headEnd type="none" w="med" len="med"/>
            <a:tailEnd type="none" w="med" len="med"/>
          </a:ln>
          <a:effec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zh-CN">
              <a:ea typeface="宋体" panose="02010600030101010101" pitchFamily="2" charset="-122"/>
            </a:endParaRPr>
          </a:p>
        </p:txBody>
      </p:sp>
      <p:cxnSp>
        <p:nvCxnSpPr>
          <p:cNvPr id="14" name="Straight Arrow Connector 13"/>
          <p:cNvCxnSpPr/>
          <p:nvPr/>
        </p:nvCxnSpPr>
        <p:spPr bwMode="auto">
          <a:xfrm rot="10800000" flipV="1">
            <a:off x="5219701" y="5414964"/>
            <a:ext cx="1100137" cy="357187"/>
          </a:xfrm>
          <a:prstGeom prst="straightConnector1">
            <a:avLst/>
          </a:prstGeom>
          <a:solidFill>
            <a:schemeClr val="accent1"/>
          </a:solidFill>
          <a:ln w="19050" cap="flat" cmpd="sng" algn="ctr">
            <a:solidFill>
              <a:schemeClr val="accent3">
                <a:lumMod val="60000"/>
                <a:lumOff val="40000"/>
              </a:schemeClr>
            </a:solidFill>
            <a:prstDash val="dash"/>
            <a:round/>
            <a:headEnd type="none" w="med" len="med"/>
            <a:tailEnd type="arrow"/>
          </a:ln>
          <a:effectLst/>
        </p:spPr>
      </p:cxnSp>
      <p:sp>
        <p:nvSpPr>
          <p:cNvPr id="2" name="矩形 1">
            <a:extLst>
              <a:ext uri="{FF2B5EF4-FFF2-40B4-BE49-F238E27FC236}">
                <a16:creationId xmlns:a16="http://schemas.microsoft.com/office/drawing/2014/main" id="{646BD450-9696-4997-BE91-61E2762E20E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Hierarchical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BA1CF01A-32F6-4A72-9751-5D23E1AAB1F9}"/>
              </a:ext>
            </a:extLst>
          </p:cNvPr>
          <p:cNvSpPr txBox="1"/>
          <p:nvPr/>
        </p:nvSpPr>
        <p:spPr>
          <a:xfrm>
            <a:off x="8662988" y="2305615"/>
            <a:ext cx="3355323" cy="3046988"/>
          </a:xfrm>
          <a:prstGeom prst="rect">
            <a:avLst/>
          </a:prstGeom>
          <a:noFill/>
        </p:spPr>
        <p:txBody>
          <a:bodyPr wrap="square">
            <a:spAutoFit/>
          </a:bodyPr>
          <a:lstStyle/>
          <a:p>
            <a:pPr eaLnBrk="1" hangingPunct="1">
              <a:spcBef>
                <a:spcPct val="0"/>
              </a:spcBef>
            </a:pPr>
            <a:r>
              <a:rPr lang="en-US" altLang="zh-CN" sz="2400" dirty="0"/>
              <a:t>The advantages are</a:t>
            </a:r>
            <a:r>
              <a:rPr lang="zh-CN" altLang="en-US" sz="2400" dirty="0"/>
              <a:t>：</a:t>
            </a:r>
            <a:endParaRPr lang="en-US" altLang="zh-CN" sz="2400" dirty="0"/>
          </a:p>
          <a:p>
            <a:pPr marL="342900" indent="-342900" eaLnBrk="1" hangingPunct="1">
              <a:spcBef>
                <a:spcPct val="0"/>
              </a:spcBef>
              <a:buFont typeface="Arial" panose="020B0604020202020204" pitchFamily="34" charset="0"/>
              <a:buChar char="•"/>
            </a:pPr>
            <a:r>
              <a:rPr lang="en-US" altLang="zh-CN" sz="2400" dirty="0"/>
              <a:t>smaller routing tables, </a:t>
            </a:r>
          </a:p>
          <a:p>
            <a:pPr marL="342900" indent="-342900" eaLnBrk="1" hangingPunct="1">
              <a:spcBef>
                <a:spcPct val="0"/>
              </a:spcBef>
              <a:buFont typeface="Arial" panose="020B0604020202020204" pitchFamily="34" charset="0"/>
              <a:buChar char="•"/>
            </a:pPr>
            <a:r>
              <a:rPr lang="en-US" altLang="zh-CN" sz="2400" dirty="0"/>
              <a:t>smaller routing computations to run at nodes, </a:t>
            </a:r>
          </a:p>
          <a:p>
            <a:pPr marL="342900" indent="-342900" eaLnBrk="1" hangingPunct="1">
              <a:spcBef>
                <a:spcPct val="0"/>
              </a:spcBef>
              <a:buFont typeface="Arial" panose="020B0604020202020204" pitchFamily="34" charset="0"/>
              <a:buChar char="•"/>
            </a:pPr>
            <a:r>
              <a:rPr lang="en-US" altLang="zh-CN" sz="2400" dirty="0"/>
              <a:t>and fewer/smaller messages to send to describe the network.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838200" y="1154111"/>
            <a:ext cx="10515600" cy="4351338"/>
          </a:xfrm>
        </p:spPr>
        <p:txBody>
          <a:bodyPr/>
          <a:lstStyle/>
          <a:p>
            <a:r>
              <a:rPr lang="en-US" altLang="zh-CN" u="sng" dirty="0">
                <a:ea typeface="宋体" panose="02010600030101010101" pitchFamily="2" charset="-122"/>
              </a:rPr>
              <a:t>Broadcast</a:t>
            </a:r>
            <a:r>
              <a:rPr lang="en-US" altLang="zh-CN" dirty="0">
                <a:ea typeface="宋体" panose="02010600030101010101" pitchFamily="2" charset="-122"/>
              </a:rPr>
              <a:t> sends a packet to all nodes</a:t>
            </a:r>
          </a:p>
          <a:p>
            <a:pPr lvl="1"/>
            <a:r>
              <a:rPr lang="en-US" altLang="zh-CN" dirty="0">
                <a:ea typeface="宋体" panose="02010600030101010101" pitchFamily="2" charset="-122"/>
              </a:rPr>
              <a:t>RPF (Reverse Path Forwarding): send broadcast received on the link to the source out all remaining links</a:t>
            </a:r>
          </a:p>
          <a:p>
            <a:pPr lvl="1"/>
            <a:r>
              <a:rPr lang="en-US" altLang="zh-CN" dirty="0">
                <a:ea typeface="宋体" panose="02010600030101010101" pitchFamily="2" charset="-122"/>
              </a:rPr>
              <a:t>Alternatively, can build and use sink trees at all nodes</a:t>
            </a:r>
          </a:p>
        </p:txBody>
      </p:sp>
      <p:sp>
        <p:nvSpPr>
          <p:cNvPr id="471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47109" name="Picture 2"/>
          <p:cNvPicPr>
            <a:picLocks noChangeAspect="1" noChangeArrowheads="1"/>
          </p:cNvPicPr>
          <p:nvPr/>
        </p:nvPicPr>
        <p:blipFill>
          <a:blip r:embed="rId3">
            <a:extLst>
              <a:ext uri="{28A0092B-C50C-407E-A947-70E740481C1C}">
                <a14:useLocalDpi xmlns:a14="http://schemas.microsoft.com/office/drawing/2010/main" val="0"/>
              </a:ext>
            </a:extLst>
          </a:blip>
          <a:srcRect t="3090" b="12897"/>
          <a:stretch>
            <a:fillRect/>
          </a:stretch>
        </p:blipFill>
        <p:spPr bwMode="auto">
          <a:xfrm>
            <a:off x="1957389" y="3167064"/>
            <a:ext cx="82772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TextBox 8"/>
          <p:cNvSpPr txBox="1">
            <a:spLocks noChangeArrowheads="1"/>
          </p:cNvSpPr>
          <p:nvPr/>
        </p:nvSpPr>
        <p:spPr bwMode="auto">
          <a:xfrm>
            <a:off x="2546351" y="5673725"/>
            <a:ext cx="10318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Network</a:t>
            </a:r>
          </a:p>
        </p:txBody>
      </p:sp>
      <p:sp>
        <p:nvSpPr>
          <p:cNvPr id="47111" name="TextBox 9"/>
          <p:cNvSpPr txBox="1">
            <a:spLocks noChangeArrowheads="1"/>
          </p:cNvSpPr>
          <p:nvPr/>
        </p:nvSpPr>
        <p:spPr bwMode="auto">
          <a:xfrm>
            <a:off x="4557714" y="5638800"/>
            <a:ext cx="26003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solidFill>
                  <a:srgbClr val="FF2BD8"/>
                </a:solidFill>
                <a:ea typeface="宋体" panose="02010600030101010101" pitchFamily="2" charset="-122"/>
              </a:rPr>
              <a:t>Sink tree for </a:t>
            </a:r>
            <a:r>
              <a:rPr lang="en-US" altLang="zh-CN" sz="1800" i="1" dirty="0">
                <a:solidFill>
                  <a:srgbClr val="FF2BD8"/>
                </a:solidFill>
                <a:ea typeface="宋体" panose="02010600030101010101" pitchFamily="2" charset="-122"/>
              </a:rPr>
              <a:t>I</a:t>
            </a:r>
            <a:r>
              <a:rPr lang="en-US" altLang="zh-CN" sz="1800" dirty="0">
                <a:solidFill>
                  <a:srgbClr val="FF2BD8"/>
                </a:solidFill>
                <a:ea typeface="宋体" panose="02010600030101010101" pitchFamily="2" charset="-122"/>
              </a:rPr>
              <a:t> is efficient broadcast</a:t>
            </a:r>
            <a:endParaRPr lang="en-US" altLang="zh-CN" sz="1800" i="1" dirty="0">
              <a:solidFill>
                <a:srgbClr val="FF2BD8"/>
              </a:solidFill>
              <a:ea typeface="宋体" panose="02010600030101010101" pitchFamily="2" charset="-122"/>
            </a:endParaRPr>
          </a:p>
        </p:txBody>
      </p:sp>
      <p:sp>
        <p:nvSpPr>
          <p:cNvPr id="47112" name="TextBox 10"/>
          <p:cNvSpPr txBox="1">
            <a:spLocks noChangeArrowheads="1"/>
          </p:cNvSpPr>
          <p:nvPr/>
        </p:nvSpPr>
        <p:spPr bwMode="auto">
          <a:xfrm>
            <a:off x="7442201" y="5777984"/>
            <a:ext cx="27924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solidFill>
                  <a:srgbClr val="FF2BD8"/>
                </a:solidFill>
                <a:ea typeface="宋体" panose="02010600030101010101" pitchFamily="2" charset="-122"/>
              </a:rPr>
              <a:t>The tree built by RPF</a:t>
            </a:r>
            <a:endParaRPr lang="en-US" altLang="zh-CN" sz="1800" i="1" dirty="0">
              <a:solidFill>
                <a:srgbClr val="FF2BD8"/>
              </a:solidFill>
              <a:ea typeface="宋体" panose="02010600030101010101" pitchFamily="2" charset="-122"/>
            </a:endParaRPr>
          </a:p>
        </p:txBody>
      </p:sp>
      <p:sp>
        <p:nvSpPr>
          <p:cNvPr id="2" name="矩形 1">
            <a:extLst>
              <a:ext uri="{FF2B5EF4-FFF2-40B4-BE49-F238E27FC236}">
                <a16:creationId xmlns:a16="http://schemas.microsoft.com/office/drawing/2014/main" id="{143A95EC-DA2F-43AE-8AEB-D5E9F150677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Broadcast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EF4773D-D75C-4EB5-AC56-2ED82EADE966}"/>
              </a:ext>
            </a:extLst>
          </p:cNvPr>
          <p:cNvPicPr>
            <a:picLocks noChangeAspect="1"/>
          </p:cNvPicPr>
          <p:nvPr/>
        </p:nvPicPr>
        <p:blipFill rotWithShape="1">
          <a:blip r:embed="rId2"/>
          <a:srcRect t="6871"/>
          <a:stretch/>
        </p:blipFill>
        <p:spPr>
          <a:xfrm>
            <a:off x="3813717" y="1025912"/>
            <a:ext cx="8142606" cy="5754029"/>
          </a:xfrm>
          <a:prstGeom prst="rect">
            <a:avLst/>
          </a:prstGeom>
        </p:spPr>
      </p:pic>
      <p:sp>
        <p:nvSpPr>
          <p:cNvPr id="6" name="矩形 5">
            <a:extLst>
              <a:ext uri="{FF2B5EF4-FFF2-40B4-BE49-F238E27FC236}">
                <a16:creationId xmlns:a16="http://schemas.microsoft.com/office/drawing/2014/main" id="{2FC1E308-F765-43FE-A89A-A2396DF4CA4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Multicast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3E19EB89-DA28-4DF5-8FB3-7AF7AA2A2158}"/>
              </a:ext>
            </a:extLst>
          </p:cNvPr>
          <p:cNvSpPr txBox="1"/>
          <p:nvPr/>
        </p:nvSpPr>
        <p:spPr>
          <a:xfrm>
            <a:off x="390293" y="1929161"/>
            <a:ext cx="3423424" cy="2120902"/>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组播（</a:t>
            </a:r>
            <a:r>
              <a:rPr lang="en-US" altLang="zh-CN" dirty="0">
                <a:latin typeface="微软雅黑" panose="020B0503020204020204" pitchFamily="34" charset="-122"/>
                <a:ea typeface="微软雅黑" panose="020B0503020204020204" pitchFamily="34" charset="-122"/>
              </a:rPr>
              <a:t>multicast</a:t>
            </a:r>
            <a:r>
              <a:rPr lang="zh-CN" altLang="en-US" dirty="0">
                <a:latin typeface="微软雅黑" panose="020B0503020204020204" pitchFamily="34" charset="-122"/>
                <a:ea typeface="微软雅黑" panose="020B0503020204020204" pitchFamily="34" charset="-122"/>
              </a:rPr>
              <a:t>）是在一台源</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主机和多台（一组）</a:t>
            </a:r>
            <a:r>
              <a:rPr lang="en-US" altLang="zh-CN" dirty="0">
                <a:latin typeface="微软雅黑" panose="020B0503020204020204" pitchFamily="34" charset="-122"/>
                <a:ea typeface="微软雅黑" panose="020B0503020204020204" pitchFamily="34" charset="-122"/>
              </a:rPr>
              <a:t>IP</a:t>
            </a:r>
            <a:r>
              <a:rPr lang="zh-CN" altLang="en-US" dirty="0">
                <a:latin typeface="微软雅黑" panose="020B0503020204020204" pitchFamily="34" charset="-122"/>
                <a:ea typeface="微软雅黑" panose="020B0503020204020204" pitchFamily="34" charset="-122"/>
              </a:rPr>
              <a:t>主机之间进行，中间的交换机和路由器根据接收者的需要，有选择性地对数据进行复制和转发。</a:t>
            </a:r>
          </a:p>
        </p:txBody>
      </p:sp>
    </p:spTree>
    <p:extLst>
      <p:ext uri="{BB962C8B-B14F-4D97-AF65-F5344CB8AC3E}">
        <p14:creationId xmlns:p14="http://schemas.microsoft.com/office/powerpoint/2010/main" val="41523934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81E4BE0E-70B4-40ED-B8EF-68B4FE0A1139}"/>
              </a:ext>
            </a:extLst>
          </p:cNvPr>
          <p:cNvPicPr>
            <a:picLocks noChangeAspect="1"/>
          </p:cNvPicPr>
          <p:nvPr/>
        </p:nvPicPr>
        <p:blipFill>
          <a:blip r:embed="rId2"/>
          <a:stretch>
            <a:fillRect/>
          </a:stretch>
        </p:blipFill>
        <p:spPr>
          <a:xfrm>
            <a:off x="921833" y="877644"/>
            <a:ext cx="10062672" cy="5868844"/>
          </a:xfrm>
          <a:prstGeom prst="rect">
            <a:avLst/>
          </a:prstGeom>
        </p:spPr>
      </p:pic>
      <p:sp>
        <p:nvSpPr>
          <p:cNvPr id="6" name="矩形 5">
            <a:extLst>
              <a:ext uri="{FF2B5EF4-FFF2-40B4-BE49-F238E27FC236}">
                <a16:creationId xmlns:a16="http://schemas.microsoft.com/office/drawing/2014/main" id="{68453ED7-0A25-4298-9094-50A6331CE21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Multicast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037940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914400" y="1054101"/>
            <a:ext cx="10312400" cy="1096175"/>
          </a:xfrm>
        </p:spPr>
        <p:txBody>
          <a:bodyPr/>
          <a:lstStyle/>
          <a:p>
            <a:r>
              <a:rPr lang="en-US" altLang="zh-CN" u="sng" dirty="0">
                <a:ea typeface="宋体" panose="02010600030101010101" pitchFamily="2" charset="-122"/>
              </a:rPr>
              <a:t>Multicast</a:t>
            </a:r>
            <a:r>
              <a:rPr lang="en-US" altLang="zh-CN" dirty="0">
                <a:ea typeface="宋体" panose="02010600030101010101" pitchFamily="2" charset="-122"/>
              </a:rPr>
              <a:t> sends to a subset of the nodes called a group</a:t>
            </a:r>
          </a:p>
          <a:p>
            <a:pPr lvl="1"/>
            <a:r>
              <a:rPr lang="en-US" altLang="zh-CN" dirty="0">
                <a:ea typeface="宋体" panose="02010600030101010101" pitchFamily="2" charset="-122"/>
              </a:rPr>
              <a:t>Uses a different tree for each group and source</a:t>
            </a:r>
          </a:p>
          <a:p>
            <a:pPr lvl="1"/>
            <a:endParaRPr lang="en-US" altLang="zh-CN" dirty="0">
              <a:ea typeface="宋体" panose="02010600030101010101" pitchFamily="2" charset="-122"/>
            </a:endParaRPr>
          </a:p>
        </p:txBody>
      </p:sp>
      <p:sp>
        <p:nvSpPr>
          <p:cNvPr id="491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4915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922463"/>
            <a:ext cx="6456362" cy="440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8" name="TextBox 12"/>
          <p:cNvSpPr txBox="1">
            <a:spLocks noChangeArrowheads="1"/>
          </p:cNvSpPr>
          <p:nvPr/>
        </p:nvSpPr>
        <p:spPr bwMode="auto">
          <a:xfrm>
            <a:off x="2851150" y="3844926"/>
            <a:ext cx="2693988"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Network with groups 1 &amp; 2</a:t>
            </a:r>
          </a:p>
        </p:txBody>
      </p:sp>
      <p:sp>
        <p:nvSpPr>
          <p:cNvPr id="49159" name="TextBox 13"/>
          <p:cNvSpPr txBox="1">
            <a:spLocks noChangeArrowheads="1"/>
          </p:cNvSpPr>
          <p:nvPr/>
        </p:nvSpPr>
        <p:spPr bwMode="auto">
          <a:xfrm>
            <a:off x="6553201" y="3819526"/>
            <a:ext cx="2936875"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Spanning tree from source S</a:t>
            </a:r>
          </a:p>
        </p:txBody>
      </p:sp>
      <p:sp>
        <p:nvSpPr>
          <p:cNvPr id="49160" name="TextBox 14"/>
          <p:cNvSpPr txBox="1">
            <a:spLocks noChangeArrowheads="1"/>
          </p:cNvSpPr>
          <p:nvPr/>
        </p:nvSpPr>
        <p:spPr bwMode="auto">
          <a:xfrm>
            <a:off x="6764339" y="2054226"/>
            <a:ext cx="153987"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S</a:t>
            </a:r>
          </a:p>
        </p:txBody>
      </p:sp>
      <p:sp>
        <p:nvSpPr>
          <p:cNvPr id="49161" name="TextBox 15"/>
          <p:cNvSpPr txBox="1">
            <a:spLocks noChangeArrowheads="1"/>
          </p:cNvSpPr>
          <p:nvPr/>
        </p:nvSpPr>
        <p:spPr bwMode="auto">
          <a:xfrm>
            <a:off x="6719889" y="4449764"/>
            <a:ext cx="153987"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S</a:t>
            </a:r>
          </a:p>
        </p:txBody>
      </p:sp>
      <p:sp>
        <p:nvSpPr>
          <p:cNvPr id="49162" name="TextBox 16"/>
          <p:cNvSpPr txBox="1">
            <a:spLocks noChangeArrowheads="1"/>
          </p:cNvSpPr>
          <p:nvPr/>
        </p:nvSpPr>
        <p:spPr bwMode="auto">
          <a:xfrm>
            <a:off x="3146425" y="4394201"/>
            <a:ext cx="153988"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S</a:t>
            </a:r>
          </a:p>
        </p:txBody>
      </p:sp>
      <p:sp>
        <p:nvSpPr>
          <p:cNvPr id="49163" name="TextBox 17"/>
          <p:cNvSpPr txBox="1">
            <a:spLocks noChangeArrowheads="1"/>
          </p:cNvSpPr>
          <p:nvPr/>
        </p:nvSpPr>
        <p:spPr bwMode="auto">
          <a:xfrm>
            <a:off x="2679701" y="6081714"/>
            <a:ext cx="3217863"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Multicast tree from S to group 1</a:t>
            </a:r>
          </a:p>
        </p:txBody>
      </p:sp>
      <p:sp>
        <p:nvSpPr>
          <p:cNvPr id="49164" name="Rectangle 19"/>
          <p:cNvSpPr>
            <a:spLocks noChangeArrowheads="1"/>
          </p:cNvSpPr>
          <p:nvPr/>
        </p:nvSpPr>
        <p:spPr bwMode="auto">
          <a:xfrm>
            <a:off x="7727950" y="6105525"/>
            <a:ext cx="344488" cy="25558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49165" name="TextBox 18"/>
          <p:cNvSpPr txBox="1">
            <a:spLocks noChangeArrowheads="1"/>
          </p:cNvSpPr>
          <p:nvPr/>
        </p:nvSpPr>
        <p:spPr bwMode="auto">
          <a:xfrm>
            <a:off x="6367463" y="6076951"/>
            <a:ext cx="32194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Multicast tree from S to group 2</a:t>
            </a:r>
          </a:p>
        </p:txBody>
      </p:sp>
      <p:sp>
        <p:nvSpPr>
          <p:cNvPr id="2" name="矩形 1">
            <a:extLst>
              <a:ext uri="{FF2B5EF4-FFF2-40B4-BE49-F238E27FC236}">
                <a16:creationId xmlns:a16="http://schemas.microsoft.com/office/drawing/2014/main" id="{1C4CAA48-AB72-446C-8471-57CA6A088E0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Multicast Routing (1) – Dense Case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4" name="TextBox 14">
            <a:extLst>
              <a:ext uri="{FF2B5EF4-FFF2-40B4-BE49-F238E27FC236}">
                <a16:creationId xmlns:a16="http://schemas.microsoft.com/office/drawing/2014/main" id="{E408B048-B8D6-459E-A5D5-4B1D735F3364}"/>
              </a:ext>
            </a:extLst>
          </p:cNvPr>
          <p:cNvSpPr txBox="1">
            <a:spLocks noChangeArrowheads="1"/>
          </p:cNvSpPr>
          <p:nvPr/>
        </p:nvSpPr>
        <p:spPr bwMode="auto">
          <a:xfrm>
            <a:off x="3146425" y="2070107"/>
            <a:ext cx="153987"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1"/>
          </p:nvPr>
        </p:nvSpPr>
        <p:spPr>
          <a:xfrm>
            <a:off x="838200" y="980682"/>
            <a:ext cx="9277350" cy="1662507"/>
          </a:xfrm>
        </p:spPr>
        <p:txBody>
          <a:bodyPr>
            <a:normAutofit/>
          </a:bodyPr>
          <a:lstStyle/>
          <a:p>
            <a:r>
              <a:rPr lang="en-US" altLang="zh-CN" dirty="0">
                <a:ea typeface="宋体" panose="02010600030101010101" pitchFamily="2" charset="-122"/>
              </a:rPr>
              <a:t>CBT (Core-Based Tree) uses a single tree to multicast</a:t>
            </a:r>
          </a:p>
          <a:p>
            <a:pPr lvl="1"/>
            <a:r>
              <a:rPr lang="en-US" altLang="zh-CN" dirty="0">
                <a:ea typeface="宋体" panose="02010600030101010101" pitchFamily="2" charset="-122"/>
              </a:rPr>
              <a:t>Tree is the sink tree from core node to group members</a:t>
            </a:r>
          </a:p>
          <a:p>
            <a:pPr lvl="1"/>
            <a:r>
              <a:rPr lang="en-US" altLang="zh-CN" dirty="0">
                <a:ea typeface="宋体" panose="02010600030101010101" pitchFamily="2" charset="-122"/>
              </a:rPr>
              <a:t>Multicast heads to the core until it reaches the CBT</a:t>
            </a:r>
          </a:p>
        </p:txBody>
      </p:sp>
      <p:sp>
        <p:nvSpPr>
          <p:cNvPr id="5120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5671D3B6-8DBB-429E-913F-786E879FFC6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Multicast Routing (2) – Sparse Case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8" name="Picture 2">
            <a:extLst>
              <a:ext uri="{FF2B5EF4-FFF2-40B4-BE49-F238E27FC236}">
                <a16:creationId xmlns:a16="http://schemas.microsoft.com/office/drawing/2014/main" id="{81F7D93A-7E52-4FA3-8C35-0E57CCD6B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931"/>
          <a:stretch>
            <a:fillRect/>
          </a:stretch>
        </p:blipFill>
        <p:spPr bwMode="auto">
          <a:xfrm>
            <a:off x="3624399" y="2622549"/>
            <a:ext cx="8039100" cy="318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79962E0-734C-4DC8-8397-93E901FBAE2B}"/>
              </a:ext>
            </a:extLst>
          </p:cNvPr>
          <p:cNvSpPr txBox="1">
            <a:spLocks noChangeArrowheads="1"/>
          </p:cNvSpPr>
          <p:nvPr/>
        </p:nvSpPr>
        <p:spPr bwMode="auto">
          <a:xfrm>
            <a:off x="3918088" y="5508623"/>
            <a:ext cx="3051175" cy="2778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Sink tree from core to group 1</a:t>
            </a:r>
          </a:p>
        </p:txBody>
      </p:sp>
      <p:sp>
        <p:nvSpPr>
          <p:cNvPr id="10" name="TextBox 9">
            <a:extLst>
              <a:ext uri="{FF2B5EF4-FFF2-40B4-BE49-F238E27FC236}">
                <a16:creationId xmlns:a16="http://schemas.microsoft.com/office/drawing/2014/main" id="{0DC690D5-CA38-4C3A-8022-5A791DDC4A17}"/>
              </a:ext>
            </a:extLst>
          </p:cNvPr>
          <p:cNvSpPr txBox="1">
            <a:spLocks noChangeArrowheads="1"/>
          </p:cNvSpPr>
          <p:nvPr/>
        </p:nvSpPr>
        <p:spPr bwMode="auto">
          <a:xfrm>
            <a:off x="7765324" y="5500750"/>
            <a:ext cx="3765550" cy="5539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solidFill>
                  <a:srgbClr val="FF2BD8"/>
                </a:solidFill>
                <a:ea typeface="宋体" panose="02010600030101010101" pitchFamily="2" charset="-122"/>
              </a:rPr>
              <a:t>Sender first sends packet to the core, then forwarded down the tree</a:t>
            </a:r>
          </a:p>
        </p:txBody>
      </p:sp>
      <p:sp>
        <p:nvSpPr>
          <p:cNvPr id="11" name="文本框 10">
            <a:extLst>
              <a:ext uri="{FF2B5EF4-FFF2-40B4-BE49-F238E27FC236}">
                <a16:creationId xmlns:a16="http://schemas.microsoft.com/office/drawing/2014/main" id="{0CF20F34-9CDE-489F-BE69-D0C417B93951}"/>
              </a:ext>
            </a:extLst>
          </p:cNvPr>
          <p:cNvSpPr txBox="1"/>
          <p:nvPr/>
        </p:nvSpPr>
        <p:spPr>
          <a:xfrm>
            <a:off x="251078" y="2622549"/>
            <a:ext cx="3193095" cy="3785652"/>
          </a:xfrm>
          <a:prstGeom prst="rect">
            <a:avLst/>
          </a:prstGeom>
          <a:noFill/>
        </p:spPr>
        <p:txBody>
          <a:bodyPr wrap="square">
            <a:spAutoFit/>
          </a:bodyPr>
          <a:lstStyle/>
          <a:p>
            <a:pPr algn="just" eaLnBrk="1" hangingPunct="1">
              <a:spcBef>
                <a:spcPct val="0"/>
              </a:spcBef>
            </a:pPr>
            <a:r>
              <a:rPr lang="en-US" altLang="zh-CN" sz="2000" dirty="0"/>
              <a:t>With CBT, nodes that are not on the group spanning tree do not need to compute it and can simply send to the core node using their regular routing tables. This is a good tradeoff when the groups sparsely cover the network, i.e., there are many groups that most nodes do not need to know about.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02CD14E-E252-453C-A654-2AE7B71BF95E}"/>
              </a:ext>
            </a:extLst>
          </p:cNvPr>
          <p:cNvSpPr>
            <a:spLocks noGrp="1"/>
          </p:cNvSpPr>
          <p:nvPr>
            <p:ph idx="1"/>
          </p:nvPr>
        </p:nvSpPr>
        <p:spPr>
          <a:xfrm>
            <a:off x="301658" y="977138"/>
            <a:ext cx="11591221" cy="3206415"/>
          </a:xfrm>
        </p:spPr>
        <p:txBody>
          <a:bodyPr>
            <a:normAutofit lnSpcReduction="10000"/>
          </a:bodyPr>
          <a:lstStyle/>
          <a:p>
            <a:pPr>
              <a:lnSpc>
                <a:spcPct val="120000"/>
              </a:lnSpc>
            </a:pPr>
            <a:r>
              <a:rPr lang="en-US" altLang="zh-CN" sz="2000" b="0" i="0" dirty="0">
                <a:solidFill>
                  <a:srgbClr val="404040"/>
                </a:solidFill>
                <a:effectLst/>
                <a:latin typeface="微软雅黑" panose="020B0503020204020204" pitchFamily="34" charset="-122"/>
                <a:ea typeface="微软雅黑" panose="020B0503020204020204" pitchFamily="34" charset="-122"/>
              </a:rPr>
              <a:t>Anycast </a:t>
            </a:r>
            <a:r>
              <a:rPr lang="zh-CN" altLang="en-US" sz="2000" b="0" i="0" dirty="0">
                <a:solidFill>
                  <a:srgbClr val="404040"/>
                </a:solidFill>
                <a:effectLst/>
                <a:latin typeface="微软雅黑" panose="020B0503020204020204" pitchFamily="34" charset="-122"/>
                <a:ea typeface="微软雅黑" panose="020B0503020204020204" pitchFamily="34" charset="-122"/>
              </a:rPr>
              <a:t>最初是在 </a:t>
            </a:r>
            <a:r>
              <a:rPr lang="en-US" altLang="zh-CN" sz="2000" b="1" i="0" dirty="0">
                <a:solidFill>
                  <a:srgbClr val="FF0000"/>
                </a:solidFill>
                <a:effectLst/>
                <a:latin typeface="微软雅黑" panose="020B0503020204020204" pitchFamily="34" charset="-122"/>
                <a:ea typeface="微软雅黑" panose="020B0503020204020204" pitchFamily="34" charset="-122"/>
              </a:rPr>
              <a:t>RFC1546</a:t>
            </a:r>
            <a:r>
              <a:rPr lang="en-US" altLang="zh-CN" sz="2000" b="0" i="0" dirty="0">
                <a:solidFill>
                  <a:srgbClr val="404040"/>
                </a:solidFill>
                <a:effectLst/>
                <a:latin typeface="微软雅黑" panose="020B0503020204020204" pitchFamily="34" charset="-122"/>
                <a:ea typeface="微软雅黑" panose="020B0503020204020204" pitchFamily="34" charset="-122"/>
              </a:rPr>
              <a:t> </a:t>
            </a:r>
            <a:r>
              <a:rPr lang="zh-CN" altLang="en-US" sz="2000" b="0" i="0" dirty="0">
                <a:solidFill>
                  <a:srgbClr val="404040"/>
                </a:solidFill>
                <a:effectLst/>
                <a:latin typeface="微软雅黑" panose="020B0503020204020204" pitchFamily="34" charset="-122"/>
                <a:ea typeface="微软雅黑" panose="020B0503020204020204" pitchFamily="34" charset="-122"/>
              </a:rPr>
              <a:t>中提出并定义的，根据 </a:t>
            </a:r>
            <a:r>
              <a:rPr lang="en-US" altLang="zh-CN" sz="2000" b="0" i="0" dirty="0">
                <a:solidFill>
                  <a:srgbClr val="404040"/>
                </a:solidFill>
                <a:effectLst/>
                <a:latin typeface="微软雅黑" panose="020B0503020204020204" pitchFamily="34" charset="-122"/>
                <a:ea typeface="微软雅黑" panose="020B0503020204020204" pitchFamily="34" charset="-122"/>
              </a:rPr>
              <a:t>RFC1546 </a:t>
            </a:r>
            <a:r>
              <a:rPr lang="zh-CN" altLang="en-US" sz="2000" b="0" i="0" dirty="0">
                <a:solidFill>
                  <a:srgbClr val="404040"/>
                </a:solidFill>
                <a:effectLst/>
                <a:latin typeface="微软雅黑" panose="020B0503020204020204" pitchFamily="34" charset="-122"/>
                <a:ea typeface="微软雅黑" panose="020B0503020204020204" pitchFamily="34" charset="-122"/>
              </a:rPr>
              <a:t>的说明，</a:t>
            </a:r>
            <a:r>
              <a:rPr lang="en-US" altLang="zh-CN" sz="2000" b="0" i="0" dirty="0">
                <a:solidFill>
                  <a:srgbClr val="404040"/>
                </a:solidFill>
                <a:effectLst/>
                <a:latin typeface="微软雅黑" panose="020B0503020204020204" pitchFamily="34" charset="-122"/>
                <a:ea typeface="微软雅黑" panose="020B0503020204020204" pitchFamily="34" charset="-122"/>
              </a:rPr>
              <a:t>IPv4 </a:t>
            </a:r>
            <a:r>
              <a:rPr lang="zh-CN" altLang="en-US" sz="2000" b="0" i="0" dirty="0">
                <a:solidFill>
                  <a:srgbClr val="404040"/>
                </a:solidFill>
                <a:effectLst/>
                <a:latin typeface="微软雅黑" panose="020B0503020204020204" pitchFamily="34" charset="-122"/>
                <a:ea typeface="微软雅黑" panose="020B0503020204020204" pitchFamily="34" charset="-122"/>
              </a:rPr>
              <a:t>的任播地址不同于 </a:t>
            </a:r>
            <a:r>
              <a:rPr lang="en-US" altLang="zh-CN" sz="2000" b="0" i="0" dirty="0">
                <a:solidFill>
                  <a:srgbClr val="404040"/>
                </a:solidFill>
                <a:effectLst/>
                <a:latin typeface="微软雅黑" panose="020B0503020204020204" pitchFamily="34" charset="-122"/>
                <a:ea typeface="微软雅黑" panose="020B0503020204020204" pitchFamily="34" charset="-122"/>
              </a:rPr>
              <a:t>IPv4 </a:t>
            </a:r>
            <a:r>
              <a:rPr lang="zh-CN" altLang="en-US" sz="2000" b="0" i="0" dirty="0">
                <a:solidFill>
                  <a:srgbClr val="404040"/>
                </a:solidFill>
                <a:effectLst/>
                <a:latin typeface="微软雅黑" panose="020B0503020204020204" pitchFamily="34" charset="-122"/>
                <a:ea typeface="微软雅黑" panose="020B0503020204020204" pitchFamily="34" charset="-122"/>
              </a:rPr>
              <a:t>的单播地址，它建议</a:t>
            </a:r>
            <a:r>
              <a:rPr lang="zh-CN" altLang="en-US" sz="2000" b="1" i="0" dirty="0">
                <a:solidFill>
                  <a:srgbClr val="005AAD"/>
                </a:solidFill>
                <a:effectLst/>
                <a:latin typeface="微软雅黑" panose="020B0503020204020204" pitchFamily="34" charset="-122"/>
                <a:ea typeface="微软雅黑" panose="020B0503020204020204" pitchFamily="34" charset="-122"/>
              </a:rPr>
              <a:t>从 </a:t>
            </a:r>
            <a:r>
              <a:rPr lang="en-US" altLang="zh-CN" sz="2000" b="1" i="0" dirty="0">
                <a:solidFill>
                  <a:srgbClr val="005AAD"/>
                </a:solidFill>
                <a:effectLst/>
                <a:latin typeface="微软雅黑" panose="020B0503020204020204" pitchFamily="34" charset="-122"/>
                <a:ea typeface="微软雅黑" panose="020B0503020204020204" pitchFamily="34" charset="-122"/>
              </a:rPr>
              <a:t>IPv4 </a:t>
            </a:r>
            <a:r>
              <a:rPr lang="zh-CN" altLang="en-US" sz="2000" b="1" i="0" dirty="0">
                <a:solidFill>
                  <a:srgbClr val="005AAD"/>
                </a:solidFill>
                <a:effectLst/>
                <a:latin typeface="微软雅黑" panose="020B0503020204020204" pitchFamily="34" charset="-122"/>
                <a:ea typeface="微软雅黑" panose="020B0503020204020204" pitchFamily="34" charset="-122"/>
              </a:rPr>
              <a:t>的地址空间分配出一块独立的地址空间作为任播地址空间</a:t>
            </a:r>
            <a:r>
              <a:rPr lang="zh-CN" altLang="en-US" sz="2000" b="0" i="0" dirty="0">
                <a:solidFill>
                  <a:srgbClr val="404040"/>
                </a:solidFill>
                <a:effectLst/>
                <a:latin typeface="微软雅黑" panose="020B0503020204020204" pitchFamily="34" charset="-122"/>
                <a:ea typeface="微软雅黑" panose="020B0503020204020204" pitchFamily="34" charset="-122"/>
              </a:rPr>
              <a:t>。</a:t>
            </a:r>
            <a:endParaRPr lang="en-US" altLang="zh-CN" sz="2000" b="0" i="0" dirty="0">
              <a:solidFill>
                <a:srgbClr val="404040"/>
              </a:solidFill>
              <a:effectLst/>
              <a:latin typeface="微软雅黑" panose="020B0503020204020204" pitchFamily="34" charset="-122"/>
              <a:ea typeface="微软雅黑" panose="020B0503020204020204" pitchFamily="34" charset="-122"/>
            </a:endParaRPr>
          </a:p>
          <a:p>
            <a:pPr>
              <a:lnSpc>
                <a:spcPct val="120000"/>
              </a:lnSpc>
            </a:pPr>
            <a:r>
              <a:rPr lang="zh-CN" altLang="en-US" sz="2000" b="0" i="0" dirty="0">
                <a:solidFill>
                  <a:srgbClr val="404040"/>
                </a:solidFill>
                <a:effectLst/>
                <a:latin typeface="微软雅黑" panose="020B0503020204020204" pitchFamily="34" charset="-122"/>
                <a:ea typeface="微软雅黑" panose="020B0503020204020204" pitchFamily="34" charset="-122"/>
              </a:rPr>
              <a:t>在实际应用中，</a:t>
            </a:r>
            <a:r>
              <a:rPr lang="en-US" altLang="zh-CN" sz="2000" b="0" i="0" dirty="0">
                <a:solidFill>
                  <a:srgbClr val="404040"/>
                </a:solidFill>
                <a:effectLst/>
                <a:latin typeface="微软雅黑" panose="020B0503020204020204" pitchFamily="34" charset="-122"/>
                <a:ea typeface="微软雅黑" panose="020B0503020204020204" pitchFamily="34" charset="-122"/>
              </a:rPr>
              <a:t>Anycast</a:t>
            </a:r>
            <a:r>
              <a:rPr lang="zh-CN" altLang="en-US" sz="2000" b="0" i="0" dirty="0">
                <a:solidFill>
                  <a:srgbClr val="404040"/>
                </a:solidFill>
                <a:effectLst/>
                <a:latin typeface="微软雅黑" panose="020B0503020204020204" pitchFamily="34" charset="-122"/>
                <a:ea typeface="微软雅黑" panose="020B0503020204020204" pitchFamily="34" charset="-122"/>
              </a:rPr>
              <a:t>是一种网络寻址和路由的策略。</a:t>
            </a:r>
            <a:r>
              <a:rPr lang="en-US" altLang="zh-CN" sz="2000" b="0" i="0" dirty="0">
                <a:solidFill>
                  <a:srgbClr val="404040"/>
                </a:solidFill>
                <a:effectLst/>
                <a:latin typeface="微软雅黑" panose="020B0503020204020204" pitchFamily="34" charset="-122"/>
                <a:ea typeface="微软雅黑" panose="020B0503020204020204" pitchFamily="34" charset="-122"/>
              </a:rPr>
              <a:t>Anycast </a:t>
            </a:r>
            <a:r>
              <a:rPr lang="zh-CN" altLang="en-US" sz="2000" b="0" i="0" dirty="0">
                <a:solidFill>
                  <a:srgbClr val="404040"/>
                </a:solidFill>
                <a:effectLst/>
                <a:latin typeface="微软雅黑" panose="020B0503020204020204" pitchFamily="34" charset="-122"/>
                <a:ea typeface="微软雅黑" panose="020B0503020204020204" pitchFamily="34" charset="-122"/>
              </a:rPr>
              <a:t>采用将</a:t>
            </a:r>
            <a:r>
              <a:rPr lang="zh-CN" altLang="en-US" sz="2000" b="1" i="0" dirty="0">
                <a:solidFill>
                  <a:srgbClr val="C00000"/>
                </a:solidFill>
                <a:effectLst/>
                <a:latin typeface="微软雅黑" panose="020B0503020204020204" pitchFamily="34" charset="-122"/>
                <a:ea typeface="微软雅黑" panose="020B0503020204020204" pitchFamily="34" charset="-122"/>
              </a:rPr>
              <a:t>一个</a:t>
            </a:r>
            <a:r>
              <a:rPr lang="zh-CN" altLang="en-US" sz="2000" b="0" i="0" dirty="0">
                <a:solidFill>
                  <a:srgbClr val="404040"/>
                </a:solidFill>
                <a:effectLst/>
                <a:latin typeface="微软雅黑" panose="020B0503020204020204" pitchFamily="34" charset="-122"/>
                <a:ea typeface="微软雅黑" panose="020B0503020204020204" pitchFamily="34" charset="-122"/>
              </a:rPr>
              <a:t>单播地址分配到处于 </a:t>
            </a:r>
            <a:r>
              <a:rPr lang="en-US" altLang="zh-CN" sz="2000" b="0" i="0" dirty="0">
                <a:solidFill>
                  <a:srgbClr val="404040"/>
                </a:solidFill>
                <a:effectLst/>
                <a:latin typeface="微软雅黑" panose="020B0503020204020204" pitchFamily="34" charset="-122"/>
                <a:ea typeface="微软雅黑" panose="020B0503020204020204" pitchFamily="34" charset="-122"/>
              </a:rPr>
              <a:t>Internet </a:t>
            </a:r>
            <a:r>
              <a:rPr lang="zh-CN" altLang="en-US" sz="2000" b="0" i="0" dirty="0">
                <a:solidFill>
                  <a:srgbClr val="404040"/>
                </a:solidFill>
                <a:effectLst/>
                <a:latin typeface="微软雅黑" panose="020B0503020204020204" pitchFamily="34" charset="-122"/>
                <a:ea typeface="微软雅黑" panose="020B0503020204020204" pitchFamily="34" charset="-122"/>
              </a:rPr>
              <a:t>中</a:t>
            </a:r>
            <a:r>
              <a:rPr lang="zh-CN" altLang="en-US" sz="2000" b="1" i="0" dirty="0">
                <a:solidFill>
                  <a:srgbClr val="C00000"/>
                </a:solidFill>
                <a:effectLst/>
                <a:latin typeface="微软雅黑" panose="020B0503020204020204" pitchFamily="34" charset="-122"/>
                <a:ea typeface="微软雅黑" panose="020B0503020204020204" pitchFamily="34" charset="-122"/>
              </a:rPr>
              <a:t>多个</a:t>
            </a:r>
            <a:r>
              <a:rPr lang="zh-CN" altLang="en-US" sz="2000" b="0" i="0" dirty="0">
                <a:solidFill>
                  <a:srgbClr val="404040"/>
                </a:solidFill>
                <a:effectLst/>
                <a:latin typeface="微软雅黑" panose="020B0503020204020204" pitchFamily="34" charset="-122"/>
                <a:ea typeface="微软雅黑" panose="020B0503020204020204" pitchFamily="34" charset="-122"/>
              </a:rPr>
              <a:t>不同物理位置的主机上（多个主机共享同一个单播</a:t>
            </a:r>
            <a:r>
              <a:rPr lang="en-US" altLang="zh-CN" sz="2000" b="0" i="0" dirty="0">
                <a:solidFill>
                  <a:srgbClr val="404040"/>
                </a:solidFill>
                <a:effectLst/>
                <a:latin typeface="微软雅黑" panose="020B0503020204020204" pitchFamily="34" charset="-122"/>
                <a:ea typeface="微软雅黑" panose="020B0503020204020204" pitchFamily="34" charset="-122"/>
              </a:rPr>
              <a:t>IP</a:t>
            </a:r>
            <a:r>
              <a:rPr lang="zh-CN" altLang="en-US" sz="2000" b="0" i="0" dirty="0">
                <a:solidFill>
                  <a:srgbClr val="404040"/>
                </a:solidFill>
                <a:effectLst/>
                <a:latin typeface="微软雅黑" panose="020B0503020204020204" pitchFamily="34" charset="-122"/>
                <a:ea typeface="微软雅黑" panose="020B0503020204020204" pitchFamily="34" charset="-122"/>
              </a:rPr>
              <a:t>地址），发送到这个主机的报文被网络</a:t>
            </a:r>
            <a:r>
              <a:rPr lang="zh-CN" altLang="en-US" sz="2000" b="1" i="0" dirty="0">
                <a:solidFill>
                  <a:srgbClr val="C00000"/>
                </a:solidFill>
                <a:effectLst/>
                <a:latin typeface="微软雅黑" panose="020B0503020204020204" pitchFamily="34" charset="-122"/>
                <a:ea typeface="微软雅黑" panose="020B0503020204020204" pitchFamily="34" charset="-122"/>
              </a:rPr>
              <a:t>路由到路由协议度量的最近的目标主机上</a:t>
            </a:r>
            <a:r>
              <a:rPr lang="zh-CN" altLang="en-US" sz="2000" b="0" i="0" dirty="0">
                <a:solidFill>
                  <a:srgbClr val="404040"/>
                </a:solidFill>
                <a:effectLst/>
                <a:latin typeface="微软雅黑" panose="020B0503020204020204" pitchFamily="34" charset="-122"/>
                <a:ea typeface="微软雅黑" panose="020B0503020204020204" pitchFamily="34" charset="-122"/>
              </a:rPr>
              <a:t>。</a:t>
            </a:r>
            <a:r>
              <a:rPr lang="zh-CN" altLang="en-US" sz="2000" dirty="0">
                <a:solidFill>
                  <a:srgbClr val="404040"/>
                </a:solidFill>
                <a:latin typeface="微软雅黑" panose="020B0503020204020204" pitchFamily="34" charset="-122"/>
                <a:ea typeface="微软雅黑" panose="020B0503020204020204" pitchFamily="34" charset="-122"/>
              </a:rPr>
              <a:t>所以这个技术也可以用来做</a:t>
            </a:r>
            <a:r>
              <a:rPr lang="zh-CN" altLang="en-US" sz="2000" dirty="0">
                <a:solidFill>
                  <a:srgbClr val="404040"/>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val="tx"/>
                    </a:ext>
                  </a:extLst>
                </a:hlinkClick>
              </a:rPr>
              <a:t>负载均衡</a:t>
            </a:r>
            <a:r>
              <a:rPr lang="zh-CN" altLang="en-US" sz="2000" dirty="0">
                <a:solidFill>
                  <a:srgbClr val="404040"/>
                </a:solidFill>
                <a:latin typeface="微软雅黑" panose="020B0503020204020204" pitchFamily="34" charset="-122"/>
                <a:ea typeface="微软雅黑" panose="020B0503020204020204" pitchFamily="34" charset="-122"/>
              </a:rPr>
              <a:t>。 </a:t>
            </a:r>
            <a:endParaRPr lang="en-US" altLang="zh-CN" sz="2000" dirty="0">
              <a:solidFill>
                <a:srgbClr val="404040"/>
              </a:solidFill>
              <a:latin typeface="微软雅黑" panose="020B0503020204020204" pitchFamily="34" charset="-122"/>
              <a:ea typeface="微软雅黑" panose="020B0503020204020204" pitchFamily="34" charset="-122"/>
            </a:endParaRPr>
          </a:p>
          <a:p>
            <a:pPr>
              <a:lnSpc>
                <a:spcPct val="120000"/>
              </a:lnSpc>
            </a:pPr>
            <a:r>
              <a:rPr lang="zh-CN" altLang="en-US" sz="2000" b="0" i="0" dirty="0">
                <a:solidFill>
                  <a:srgbClr val="404040"/>
                </a:solidFill>
                <a:effectLst/>
                <a:latin typeface="微软雅黑" panose="020B0503020204020204" pitchFamily="34" charset="-122"/>
                <a:ea typeface="微软雅黑" panose="020B0503020204020204" pitchFamily="34" charset="-122"/>
              </a:rPr>
              <a:t>例如：在 </a:t>
            </a:r>
            <a:r>
              <a:rPr lang="en-US" altLang="zh-CN" sz="2000" b="0" i="0" dirty="0">
                <a:solidFill>
                  <a:srgbClr val="404040"/>
                </a:solidFill>
                <a:effectLst/>
                <a:latin typeface="微软雅黑" panose="020B0503020204020204" pitchFamily="34" charset="-122"/>
                <a:ea typeface="微软雅黑" panose="020B0503020204020204" pitchFamily="34" charset="-122"/>
              </a:rPr>
              <a:t>IP </a:t>
            </a:r>
            <a:r>
              <a:rPr lang="zh-CN" altLang="en-US" sz="2000" b="0" i="0" dirty="0">
                <a:solidFill>
                  <a:srgbClr val="404040"/>
                </a:solidFill>
                <a:effectLst/>
                <a:latin typeface="微软雅黑" panose="020B0503020204020204" pitchFamily="34" charset="-122"/>
                <a:ea typeface="微软雅黑" panose="020B0503020204020204" pitchFamily="34" charset="-122"/>
              </a:rPr>
              <a:t>网络上通过一个 </a:t>
            </a:r>
            <a:r>
              <a:rPr lang="en-US" altLang="zh-CN" sz="2000" b="0" i="0" dirty="0">
                <a:solidFill>
                  <a:srgbClr val="404040"/>
                </a:solidFill>
                <a:effectLst/>
                <a:latin typeface="微软雅黑" panose="020B0503020204020204" pitchFamily="34" charset="-122"/>
                <a:ea typeface="微软雅黑" panose="020B0503020204020204" pitchFamily="34" charset="-122"/>
              </a:rPr>
              <a:t>Anycast </a:t>
            </a:r>
            <a:r>
              <a:rPr lang="zh-CN" altLang="en-US" sz="2000" b="0" i="0" dirty="0">
                <a:solidFill>
                  <a:srgbClr val="404040"/>
                </a:solidFill>
                <a:effectLst/>
                <a:latin typeface="微软雅黑" panose="020B0503020204020204" pitchFamily="34" charset="-122"/>
                <a:ea typeface="微软雅黑" panose="020B0503020204020204" pitchFamily="34" charset="-122"/>
              </a:rPr>
              <a:t>地址标识一组提供特定服务的主机，同时服务访问方并不关心提供服务的具体是哪一台主机（比如：</a:t>
            </a:r>
            <a:r>
              <a:rPr lang="en-US" altLang="zh-CN" sz="2000" b="0" i="0" dirty="0">
                <a:solidFill>
                  <a:srgbClr val="404040"/>
                </a:solidFill>
                <a:effectLst/>
                <a:latin typeface="微软雅黑" panose="020B0503020204020204" pitchFamily="34" charset="-122"/>
                <a:ea typeface="微软雅黑" panose="020B0503020204020204" pitchFamily="34" charset="-122"/>
              </a:rPr>
              <a:t>DNS </a:t>
            </a:r>
            <a:r>
              <a:rPr lang="zh-CN" altLang="en-US" sz="2000" b="0" i="0" dirty="0">
                <a:solidFill>
                  <a:srgbClr val="404040"/>
                </a:solidFill>
                <a:effectLst/>
                <a:latin typeface="微软雅黑" panose="020B0503020204020204" pitchFamily="34" charset="-122"/>
                <a:ea typeface="微软雅黑" panose="020B0503020204020204" pitchFamily="34" charset="-122"/>
              </a:rPr>
              <a:t>或者镜像服务），访问该地址的报文可以被 </a:t>
            </a:r>
            <a:r>
              <a:rPr lang="en-US" altLang="zh-CN" sz="2000" b="0" i="0" dirty="0">
                <a:solidFill>
                  <a:srgbClr val="404040"/>
                </a:solidFill>
                <a:effectLst/>
                <a:latin typeface="微软雅黑" panose="020B0503020204020204" pitchFamily="34" charset="-122"/>
                <a:ea typeface="微软雅黑" panose="020B0503020204020204" pitchFamily="34" charset="-122"/>
              </a:rPr>
              <a:t>IP </a:t>
            </a:r>
            <a:r>
              <a:rPr lang="zh-CN" altLang="en-US" sz="2000" b="0" i="0" dirty="0">
                <a:solidFill>
                  <a:srgbClr val="404040"/>
                </a:solidFill>
                <a:effectLst/>
                <a:latin typeface="微软雅黑" panose="020B0503020204020204" pitchFamily="34" charset="-122"/>
                <a:ea typeface="微软雅黑" panose="020B0503020204020204" pitchFamily="34" charset="-122"/>
              </a:rPr>
              <a:t>网络路由到这一组目标中的任何一台主机上。</a:t>
            </a:r>
            <a:endParaRPr lang="zh-CN" altLang="en-US" sz="20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7CB5A13E-B15E-404C-B59D-C86FB3D9243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Anycast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050" name="Picture 2">
            <a:extLst>
              <a:ext uri="{FF2B5EF4-FFF2-40B4-BE49-F238E27FC236}">
                <a16:creationId xmlns:a16="http://schemas.microsoft.com/office/drawing/2014/main" id="{F5F63E71-273B-47D7-BCAD-9670A01A40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48" t="2047" b="8296"/>
          <a:stretch/>
        </p:blipFill>
        <p:spPr bwMode="auto">
          <a:xfrm>
            <a:off x="5284806" y="3852607"/>
            <a:ext cx="6310201" cy="300539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834B8A9-B7A0-4FC8-A4D2-FCD76FDCF91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597" t="3022" r="2558"/>
          <a:stretch/>
        </p:blipFill>
        <p:spPr bwMode="auto">
          <a:xfrm>
            <a:off x="1060452" y="4221636"/>
            <a:ext cx="3517227" cy="2360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83377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3E944F5-A4F4-45AC-89B2-D9C05FF48AD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Anycast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31955815898-1-192">
            <a:hlinkClick r:id="" action="ppaction://media"/>
            <a:extLst>
              <a:ext uri="{FF2B5EF4-FFF2-40B4-BE49-F238E27FC236}">
                <a16:creationId xmlns:a16="http://schemas.microsoft.com/office/drawing/2014/main" id="{5BF1457F-8BE4-43CB-A01D-308A154DCEE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309596" y="1058088"/>
            <a:ext cx="9820121" cy="5523818"/>
          </a:xfrm>
          <a:prstGeom prst="rect">
            <a:avLst/>
          </a:prstGeom>
        </p:spPr>
      </p:pic>
    </p:spTree>
    <p:extLst>
      <p:ext uri="{BB962C8B-B14F-4D97-AF65-F5344CB8AC3E}">
        <p14:creationId xmlns:p14="http://schemas.microsoft.com/office/powerpoint/2010/main" val="243747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365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vol="80000">
                <p:cTn id="12" fill="hold" display="0">
                  <p:stCondLst>
                    <p:cond delay="indefinite"/>
                  </p:stCondLst>
                </p:cTn>
                <p:tgtEl>
                  <p:spTgt spid="5"/>
                </p:tgtEl>
              </p:cMediaNode>
            </p:video>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53252" name="Rectangle 3"/>
          <p:cNvSpPr>
            <a:spLocks noGrp="1" noChangeArrowheads="1"/>
          </p:cNvSpPr>
          <p:nvPr>
            <p:ph idx="1"/>
          </p:nvPr>
        </p:nvSpPr>
        <p:spPr>
          <a:xfrm>
            <a:off x="527050" y="1011174"/>
            <a:ext cx="11491261" cy="2417826"/>
          </a:xfrm>
        </p:spPr>
        <p:txBody>
          <a:bodyPr>
            <a:normAutofit fontScale="92500"/>
          </a:bodyPr>
          <a:lstStyle/>
          <a:p>
            <a:pPr>
              <a:lnSpc>
                <a:spcPct val="120000"/>
              </a:lnSpc>
            </a:pPr>
            <a:r>
              <a:rPr lang="en-US" altLang="zh-CN" u="sng" dirty="0">
                <a:ea typeface="宋体" panose="02010600030101010101" pitchFamily="2" charset="-122"/>
              </a:rPr>
              <a:t>Anycast</a:t>
            </a:r>
            <a:r>
              <a:rPr lang="en-US" altLang="zh-CN" dirty="0">
                <a:ea typeface="宋体" panose="02010600030101010101" pitchFamily="2" charset="-122"/>
              </a:rPr>
              <a:t> sends a packet to the nearest member of a group (Partridge et al.,1993)</a:t>
            </a:r>
          </a:p>
          <a:p>
            <a:pPr lvl="1">
              <a:lnSpc>
                <a:spcPct val="120000"/>
              </a:lnSpc>
            </a:pPr>
            <a:r>
              <a:rPr lang="en-US" altLang="zh-CN" dirty="0">
                <a:ea typeface="宋体" panose="02010600030101010101" pitchFamily="2" charset="-122"/>
              </a:rPr>
              <a:t>Schemes that find these paths are called anycast routing.</a:t>
            </a:r>
          </a:p>
          <a:p>
            <a:pPr lvl="1">
              <a:lnSpc>
                <a:spcPct val="120000"/>
              </a:lnSpc>
            </a:pPr>
            <a:r>
              <a:rPr lang="en-US" altLang="zh-CN" dirty="0">
                <a:ea typeface="宋体" panose="02010600030101010101" pitchFamily="2" charset="-122"/>
              </a:rPr>
              <a:t>No need to devise new routing schemes for anycast. It can use regular distance vector and link state routing that produce anycast routes.</a:t>
            </a:r>
          </a:p>
          <a:p>
            <a:pPr lvl="1">
              <a:lnSpc>
                <a:spcPct val="120000"/>
              </a:lnSpc>
            </a:pPr>
            <a:r>
              <a:rPr lang="en-US" altLang="zh-CN" dirty="0">
                <a:ea typeface="宋体" panose="02010600030101010101" pitchFamily="2" charset="-122"/>
              </a:rPr>
              <a:t>Falls out of regular routing with a node in many places </a:t>
            </a:r>
          </a:p>
        </p:txBody>
      </p:sp>
      <p:pic>
        <p:nvPicPr>
          <p:cNvPr id="53253" name="Picture 2"/>
          <p:cNvPicPr>
            <a:picLocks noChangeAspect="1" noChangeArrowheads="1"/>
          </p:cNvPicPr>
          <p:nvPr/>
        </p:nvPicPr>
        <p:blipFill>
          <a:blip r:embed="rId3">
            <a:extLst>
              <a:ext uri="{28A0092B-C50C-407E-A947-70E740481C1C}">
                <a14:useLocalDpi xmlns:a14="http://schemas.microsoft.com/office/drawing/2010/main" val="0"/>
              </a:ext>
            </a:extLst>
          </a:blip>
          <a:srcRect t="6657" b="13373"/>
          <a:stretch>
            <a:fillRect/>
          </a:stretch>
        </p:blipFill>
        <p:spPr bwMode="auto">
          <a:xfrm>
            <a:off x="2654299" y="3319541"/>
            <a:ext cx="7437499" cy="2503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Box 8"/>
          <p:cNvSpPr txBox="1">
            <a:spLocks noChangeArrowheads="1"/>
          </p:cNvSpPr>
          <p:nvPr/>
        </p:nvSpPr>
        <p:spPr bwMode="auto">
          <a:xfrm>
            <a:off x="2422788" y="6020205"/>
            <a:ext cx="2630488"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Anycast routes to group 1</a:t>
            </a:r>
          </a:p>
        </p:txBody>
      </p:sp>
      <p:sp>
        <p:nvSpPr>
          <p:cNvPr id="53255" name="TextBox 9"/>
          <p:cNvSpPr txBox="1">
            <a:spLocks noChangeArrowheads="1"/>
          </p:cNvSpPr>
          <p:nvPr/>
        </p:nvSpPr>
        <p:spPr bwMode="auto">
          <a:xfrm>
            <a:off x="6674178" y="5801991"/>
            <a:ext cx="3835802"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solidFill>
                  <a:srgbClr val="FF2BD8"/>
                </a:solidFill>
                <a:ea typeface="宋体" panose="02010600030101010101" pitchFamily="2" charset="-122"/>
              </a:rPr>
              <a:t>Apparent topology of sink tree to “node” 1 (</a:t>
            </a:r>
            <a:r>
              <a:rPr lang="zh-CN" altLang="en-US" sz="1800" dirty="0">
                <a:solidFill>
                  <a:srgbClr val="FF2BD8"/>
                </a:solidFill>
                <a:ea typeface="宋体" panose="02010600030101010101" pitchFamily="2" charset="-122"/>
              </a:rPr>
              <a:t>逻辑上路由协议会把所有</a:t>
            </a:r>
            <a:r>
              <a:rPr lang="en-US" altLang="zh-CN" sz="1800" dirty="0">
                <a:solidFill>
                  <a:srgbClr val="FF2BD8"/>
                </a:solidFill>
                <a:ea typeface="宋体" panose="02010600030101010101" pitchFamily="2" charset="-122"/>
              </a:rPr>
              <a:t>node 1 instances </a:t>
            </a:r>
            <a:r>
              <a:rPr lang="zh-CN" altLang="en-US" sz="1800" dirty="0">
                <a:solidFill>
                  <a:srgbClr val="FF2BD8"/>
                </a:solidFill>
                <a:ea typeface="宋体" panose="02010600030101010101" pitchFamily="2" charset="-122"/>
              </a:rPr>
              <a:t>看作为同一个</a:t>
            </a:r>
            <a:r>
              <a:rPr lang="en-US" altLang="zh-CN" sz="1800" dirty="0">
                <a:solidFill>
                  <a:srgbClr val="FF2BD8"/>
                </a:solidFill>
                <a:ea typeface="宋体" panose="02010600030101010101" pitchFamily="2" charset="-122"/>
              </a:rPr>
              <a:t>node)</a:t>
            </a:r>
          </a:p>
        </p:txBody>
      </p:sp>
      <p:sp>
        <p:nvSpPr>
          <p:cNvPr id="2" name="矩形 1">
            <a:extLst>
              <a:ext uri="{FF2B5EF4-FFF2-40B4-BE49-F238E27FC236}">
                <a16:creationId xmlns:a16="http://schemas.microsoft.com/office/drawing/2014/main" id="{95859BEC-66B3-48B2-9E90-96A2508C2EB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Anycast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a:xfrm>
            <a:off x="895150" y="971157"/>
            <a:ext cx="10549288" cy="1749424"/>
          </a:xfrm>
        </p:spPr>
        <p:txBody>
          <a:bodyPr/>
          <a:lstStyle/>
          <a:p>
            <a:r>
              <a:rPr lang="en-US" altLang="zh-CN" dirty="0">
                <a:ea typeface="宋体" panose="02010600030101010101" pitchFamily="2" charset="-122"/>
              </a:rPr>
              <a:t>Mobile hosts can be reached via a home agent</a:t>
            </a:r>
          </a:p>
          <a:p>
            <a:pPr lvl="1"/>
            <a:r>
              <a:rPr lang="en-US" altLang="zh-CN" dirty="0">
                <a:ea typeface="宋体" panose="02010600030101010101" pitchFamily="2" charset="-122"/>
              </a:rPr>
              <a:t>Fixed home agent tunnels packets to reach the mobile host; reply can optimize path for subsequent packets</a:t>
            </a:r>
          </a:p>
          <a:p>
            <a:pPr lvl="1"/>
            <a:r>
              <a:rPr lang="en-US" altLang="zh-CN" dirty="0">
                <a:ea typeface="宋体" panose="02010600030101010101" pitchFamily="2" charset="-122"/>
              </a:rPr>
              <a:t>No changes to routers or fixed hosts</a:t>
            </a:r>
          </a:p>
        </p:txBody>
      </p:sp>
      <p:sp>
        <p:nvSpPr>
          <p:cNvPr id="5530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55301" name="Picture 2"/>
          <p:cNvPicPr>
            <a:picLocks noChangeAspect="1" noChangeArrowheads="1"/>
          </p:cNvPicPr>
          <p:nvPr/>
        </p:nvPicPr>
        <p:blipFill>
          <a:blip r:embed="rId3">
            <a:extLst>
              <a:ext uri="{28A0092B-C50C-407E-A947-70E740481C1C}">
                <a14:useLocalDpi xmlns:a14="http://schemas.microsoft.com/office/drawing/2010/main" val="0"/>
              </a:ext>
            </a:extLst>
          </a:blip>
          <a:srcRect r="2814"/>
          <a:stretch>
            <a:fillRect/>
          </a:stretch>
        </p:blipFill>
        <p:spPr bwMode="auto">
          <a:xfrm>
            <a:off x="1729224" y="2720581"/>
            <a:ext cx="7069138"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80CE7BD5-B8B5-450A-8E11-45DA949E88B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Routing for Mobile Hosts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3D1307F3-81DA-4293-98CF-FE8C47A7BAEA}"/>
              </a:ext>
            </a:extLst>
          </p:cNvPr>
          <p:cNvSpPr txBox="1"/>
          <p:nvPr/>
        </p:nvSpPr>
        <p:spPr>
          <a:xfrm>
            <a:off x="9474780" y="2720581"/>
            <a:ext cx="2385875" cy="2246769"/>
          </a:xfrm>
          <a:prstGeom prst="rect">
            <a:avLst/>
          </a:prstGeom>
          <a:noFill/>
        </p:spPr>
        <p:txBody>
          <a:bodyPr wrap="square">
            <a:spAutoFit/>
          </a:bodyPr>
          <a:lstStyle/>
          <a:p>
            <a:r>
              <a:rPr lang="zh-CN" altLang="en-US" sz="2000" b="0" i="0" dirty="0">
                <a:solidFill>
                  <a:srgbClr val="333333"/>
                </a:solidFill>
                <a:effectLst/>
                <a:latin typeface="微软雅黑" panose="020B0503020204020204" pitchFamily="34" charset="-122"/>
                <a:ea typeface="微软雅黑" panose="020B0503020204020204" pitchFamily="34" charset="-122"/>
              </a:rPr>
              <a:t>转交地址（</a:t>
            </a:r>
            <a:r>
              <a:rPr lang="en-US" altLang="zh-CN" sz="2000" b="0" i="0" dirty="0">
                <a:solidFill>
                  <a:srgbClr val="333333"/>
                </a:solidFill>
                <a:effectLst/>
                <a:latin typeface="微软雅黑" panose="020B0503020204020204" pitchFamily="34" charset="-122"/>
                <a:ea typeface="微软雅黑" panose="020B0503020204020204" pitchFamily="34" charset="-122"/>
              </a:rPr>
              <a:t>care-of address </a:t>
            </a:r>
            <a:r>
              <a:rPr lang="zh-CN" altLang="en-US" sz="2000" b="0" i="0" dirty="0">
                <a:solidFill>
                  <a:srgbClr val="333333"/>
                </a:solidFill>
                <a:effectLst/>
                <a:latin typeface="微软雅黑" panose="020B0503020204020204" pitchFamily="34" charset="-122"/>
                <a:ea typeface="微软雅黑" panose="020B0503020204020204" pitchFamily="34" charset="-122"/>
              </a:rPr>
              <a:t>）是当移动设备连接到非家乡网络时为使之能够收发信息而分配给移动设备的临时</a:t>
            </a:r>
            <a:r>
              <a:rPr lang="en-US" altLang="zh-CN" sz="2000" b="0" i="0" dirty="0">
                <a:solidFill>
                  <a:srgbClr val="333333"/>
                </a:solidFill>
                <a:effectLst/>
                <a:latin typeface="微软雅黑" panose="020B0503020204020204" pitchFamily="34" charset="-122"/>
                <a:ea typeface="微软雅黑" panose="020B0503020204020204" pitchFamily="34" charset="-122"/>
              </a:rPr>
              <a:t>IP</a:t>
            </a:r>
            <a:r>
              <a:rPr lang="zh-CN" altLang="en-US" sz="2000" b="0" i="0" dirty="0">
                <a:solidFill>
                  <a:srgbClr val="333333"/>
                </a:solidFill>
                <a:effectLst/>
                <a:latin typeface="微软雅黑" panose="020B0503020204020204" pitchFamily="34" charset="-122"/>
                <a:ea typeface="微软雅黑" panose="020B0503020204020204" pitchFamily="34" charset="-122"/>
              </a:rPr>
              <a:t>地址。</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Content Placeholder 2"/>
          <p:cNvSpPr>
            <a:spLocks noGrp="1"/>
          </p:cNvSpPr>
          <p:nvPr>
            <p:ph idx="1"/>
          </p:nvPr>
        </p:nvSpPr>
        <p:spPr>
          <a:xfrm>
            <a:off x="909216" y="908065"/>
            <a:ext cx="9991082" cy="1039012"/>
          </a:xfrm>
        </p:spPr>
        <p:txBody>
          <a:bodyPr/>
          <a:lstStyle/>
          <a:p>
            <a:r>
              <a:rPr lang="en-US" altLang="zh-CN" dirty="0">
                <a:ea typeface="宋体" panose="02010600030101010101" pitchFamily="2" charset="-122"/>
              </a:rPr>
              <a:t>The network topology changes as wireless nodes move</a:t>
            </a:r>
          </a:p>
          <a:p>
            <a:pPr lvl="1"/>
            <a:r>
              <a:rPr lang="en-US" altLang="zh-CN" dirty="0">
                <a:ea typeface="宋体" panose="02010600030101010101" pitchFamily="2" charset="-122"/>
              </a:rPr>
              <a:t>Routes are often made on demand, e.g., AODV (below) </a:t>
            </a:r>
          </a:p>
        </p:txBody>
      </p:sp>
      <p:sp>
        <p:nvSpPr>
          <p:cNvPr id="57348"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57349" name="Picture 2"/>
          <p:cNvPicPr>
            <a:picLocks noChangeAspect="1" noChangeArrowheads="1"/>
          </p:cNvPicPr>
          <p:nvPr/>
        </p:nvPicPr>
        <p:blipFill>
          <a:blip r:embed="rId2">
            <a:extLst>
              <a:ext uri="{28A0092B-C50C-407E-A947-70E740481C1C}">
                <a14:useLocalDpi xmlns:a14="http://schemas.microsoft.com/office/drawing/2010/main" val="0"/>
              </a:ext>
            </a:extLst>
          </a:blip>
          <a:srcRect t="2715" b="18369"/>
          <a:stretch>
            <a:fillRect/>
          </a:stretch>
        </p:blipFill>
        <p:spPr bwMode="auto">
          <a:xfrm>
            <a:off x="909216" y="2158198"/>
            <a:ext cx="7645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0" name="TextBox 9"/>
          <p:cNvSpPr txBox="1">
            <a:spLocks noChangeArrowheads="1"/>
          </p:cNvSpPr>
          <p:nvPr/>
        </p:nvSpPr>
        <p:spPr bwMode="auto">
          <a:xfrm>
            <a:off x="3093616" y="4931560"/>
            <a:ext cx="1995488" cy="5540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i="1" dirty="0">
                <a:solidFill>
                  <a:srgbClr val="FF2BD8"/>
                </a:solidFill>
                <a:ea typeface="宋体" panose="02010600030101010101" pitchFamily="2" charset="-122"/>
              </a:rPr>
              <a:t>A</a:t>
            </a:r>
            <a:r>
              <a:rPr lang="en-US" altLang="zh-CN" sz="1800" dirty="0">
                <a:solidFill>
                  <a:srgbClr val="FF2BD8"/>
                </a:solidFill>
                <a:ea typeface="宋体" panose="02010600030101010101" pitchFamily="2" charset="-122"/>
              </a:rPr>
              <a:t>’s broadcast reaches </a:t>
            </a:r>
            <a:r>
              <a:rPr lang="en-US" altLang="zh-CN" sz="1800" i="1" dirty="0">
                <a:solidFill>
                  <a:srgbClr val="FF2BD8"/>
                </a:solidFill>
                <a:ea typeface="宋体" panose="02010600030101010101" pitchFamily="2" charset="-122"/>
              </a:rPr>
              <a:t>B</a:t>
            </a:r>
            <a:r>
              <a:rPr lang="en-US" altLang="zh-CN" sz="1800" dirty="0">
                <a:solidFill>
                  <a:srgbClr val="FF2BD8"/>
                </a:solidFill>
                <a:ea typeface="宋体" panose="02010600030101010101" pitchFamily="2" charset="-122"/>
              </a:rPr>
              <a:t> &amp; </a:t>
            </a:r>
            <a:r>
              <a:rPr lang="en-US" altLang="zh-CN" sz="1800" i="1" dirty="0">
                <a:solidFill>
                  <a:srgbClr val="FF2BD8"/>
                </a:solidFill>
                <a:ea typeface="宋体" panose="02010600030101010101" pitchFamily="2" charset="-122"/>
              </a:rPr>
              <a:t>D</a:t>
            </a:r>
          </a:p>
        </p:txBody>
      </p:sp>
      <p:sp>
        <p:nvSpPr>
          <p:cNvPr id="57351" name="TextBox 10"/>
          <p:cNvSpPr txBox="1">
            <a:spLocks noChangeArrowheads="1"/>
          </p:cNvSpPr>
          <p:nvPr/>
        </p:nvSpPr>
        <p:spPr bwMode="auto">
          <a:xfrm>
            <a:off x="5073230" y="4934735"/>
            <a:ext cx="1608137" cy="831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i="1">
                <a:solidFill>
                  <a:srgbClr val="FF2BD8"/>
                </a:solidFill>
                <a:ea typeface="宋体" panose="02010600030101010101" pitchFamily="2" charset="-122"/>
              </a:rPr>
              <a:t>B</a:t>
            </a:r>
            <a:r>
              <a:rPr lang="en-US" altLang="zh-CN" sz="1800">
                <a:solidFill>
                  <a:srgbClr val="FF2BD8"/>
                </a:solidFill>
                <a:ea typeface="宋体" panose="02010600030101010101" pitchFamily="2" charset="-122"/>
              </a:rPr>
              <a:t>’s and </a:t>
            </a:r>
            <a:r>
              <a:rPr lang="en-US" altLang="zh-CN" sz="1800" i="1">
                <a:solidFill>
                  <a:srgbClr val="FF2BD8"/>
                </a:solidFill>
                <a:ea typeface="宋体" panose="02010600030101010101" pitchFamily="2" charset="-122"/>
              </a:rPr>
              <a:t>D</a:t>
            </a:r>
            <a:r>
              <a:rPr lang="en-US" altLang="zh-CN" sz="1800">
                <a:solidFill>
                  <a:srgbClr val="FF2BD8"/>
                </a:solidFill>
                <a:ea typeface="宋体" panose="02010600030101010101" pitchFamily="2" charset="-122"/>
              </a:rPr>
              <a:t>’s broadcast reach </a:t>
            </a:r>
            <a:r>
              <a:rPr lang="en-US" altLang="zh-CN" sz="1800" i="1">
                <a:solidFill>
                  <a:srgbClr val="FF2BD8"/>
                </a:solidFill>
                <a:ea typeface="宋体" panose="02010600030101010101" pitchFamily="2" charset="-122"/>
              </a:rPr>
              <a:t>C, F</a:t>
            </a:r>
            <a:r>
              <a:rPr lang="en-US" altLang="zh-CN" sz="1800">
                <a:solidFill>
                  <a:srgbClr val="FF2BD8"/>
                </a:solidFill>
                <a:ea typeface="宋体" panose="02010600030101010101" pitchFamily="2" charset="-122"/>
              </a:rPr>
              <a:t> &amp; </a:t>
            </a:r>
            <a:r>
              <a:rPr lang="en-US" altLang="zh-CN" sz="1800" i="1">
                <a:solidFill>
                  <a:srgbClr val="FF2BD8"/>
                </a:solidFill>
                <a:ea typeface="宋体" panose="02010600030101010101" pitchFamily="2" charset="-122"/>
              </a:rPr>
              <a:t>G</a:t>
            </a:r>
          </a:p>
        </p:txBody>
      </p:sp>
      <p:sp>
        <p:nvSpPr>
          <p:cNvPr id="57352" name="TextBox 12"/>
          <p:cNvSpPr txBox="1">
            <a:spLocks noChangeArrowheads="1"/>
          </p:cNvSpPr>
          <p:nvPr/>
        </p:nvSpPr>
        <p:spPr bwMode="auto">
          <a:xfrm>
            <a:off x="6927430" y="4910923"/>
            <a:ext cx="1633537" cy="831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i="1">
                <a:solidFill>
                  <a:srgbClr val="FF2BD8"/>
                </a:solidFill>
                <a:ea typeface="宋体" panose="02010600030101010101" pitchFamily="2" charset="-122"/>
              </a:rPr>
              <a:t>C</a:t>
            </a:r>
            <a:r>
              <a:rPr lang="en-US" altLang="zh-CN" sz="1800">
                <a:solidFill>
                  <a:srgbClr val="FF2BD8"/>
                </a:solidFill>
                <a:ea typeface="宋体" panose="02010600030101010101" pitchFamily="2" charset="-122"/>
              </a:rPr>
              <a:t>’s, </a:t>
            </a:r>
            <a:r>
              <a:rPr lang="en-US" altLang="zh-CN" sz="1800" i="1">
                <a:solidFill>
                  <a:srgbClr val="FF2BD8"/>
                </a:solidFill>
                <a:ea typeface="宋体" panose="02010600030101010101" pitchFamily="2" charset="-122"/>
              </a:rPr>
              <a:t>F</a:t>
            </a:r>
            <a:r>
              <a:rPr lang="en-US" altLang="zh-CN" sz="1800">
                <a:solidFill>
                  <a:srgbClr val="FF2BD8"/>
                </a:solidFill>
                <a:ea typeface="宋体" panose="02010600030101010101" pitchFamily="2" charset="-122"/>
              </a:rPr>
              <a:t>’s and </a:t>
            </a:r>
            <a:r>
              <a:rPr lang="en-US" altLang="zh-CN" sz="1800" i="1">
                <a:solidFill>
                  <a:srgbClr val="FF2BD8"/>
                </a:solidFill>
                <a:ea typeface="宋体" panose="02010600030101010101" pitchFamily="2" charset="-122"/>
              </a:rPr>
              <a:t>G</a:t>
            </a:r>
            <a:r>
              <a:rPr lang="en-US" altLang="zh-CN" sz="1800">
                <a:solidFill>
                  <a:srgbClr val="FF2BD8"/>
                </a:solidFill>
                <a:ea typeface="宋体" panose="02010600030101010101" pitchFamily="2" charset="-122"/>
              </a:rPr>
              <a:t>’s broadcast reach </a:t>
            </a:r>
            <a:r>
              <a:rPr lang="en-US" altLang="zh-CN" sz="1800" i="1">
                <a:solidFill>
                  <a:srgbClr val="FF2BD8"/>
                </a:solidFill>
                <a:ea typeface="宋体" panose="02010600030101010101" pitchFamily="2" charset="-122"/>
              </a:rPr>
              <a:t>H </a:t>
            </a:r>
            <a:r>
              <a:rPr lang="en-US" altLang="zh-CN" sz="1800">
                <a:solidFill>
                  <a:srgbClr val="FF2BD8"/>
                </a:solidFill>
                <a:ea typeface="宋体" panose="02010600030101010101" pitchFamily="2" charset="-122"/>
              </a:rPr>
              <a:t>&amp; </a:t>
            </a:r>
            <a:r>
              <a:rPr lang="en-US" altLang="zh-CN" sz="1800" i="1">
                <a:solidFill>
                  <a:srgbClr val="FF2BD8"/>
                </a:solidFill>
                <a:ea typeface="宋体" panose="02010600030101010101" pitchFamily="2" charset="-122"/>
              </a:rPr>
              <a:t>I</a:t>
            </a:r>
            <a:r>
              <a:rPr lang="en-US" altLang="zh-CN" sz="1800">
                <a:solidFill>
                  <a:srgbClr val="FF2BD8"/>
                </a:solidFill>
                <a:ea typeface="宋体" panose="02010600030101010101" pitchFamily="2" charset="-122"/>
              </a:rPr>
              <a:t> </a:t>
            </a:r>
            <a:endParaRPr lang="en-US" altLang="zh-CN" sz="1800" i="1">
              <a:solidFill>
                <a:srgbClr val="FF2BD8"/>
              </a:solidFill>
              <a:ea typeface="宋体" panose="02010600030101010101" pitchFamily="2" charset="-122"/>
            </a:endParaRPr>
          </a:p>
        </p:txBody>
      </p:sp>
      <p:sp>
        <p:nvSpPr>
          <p:cNvPr id="57353" name="TextBox 13"/>
          <p:cNvSpPr txBox="1">
            <a:spLocks noChangeArrowheads="1"/>
          </p:cNvSpPr>
          <p:nvPr/>
        </p:nvSpPr>
        <p:spPr bwMode="auto">
          <a:xfrm>
            <a:off x="1175916" y="4933149"/>
            <a:ext cx="1555750" cy="554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i="1">
                <a:solidFill>
                  <a:srgbClr val="FF2BD8"/>
                </a:solidFill>
                <a:ea typeface="宋体" panose="02010600030101010101" pitchFamily="2" charset="-122"/>
              </a:rPr>
              <a:t>A</a:t>
            </a:r>
            <a:r>
              <a:rPr lang="en-US" altLang="zh-CN" sz="1800">
                <a:solidFill>
                  <a:srgbClr val="FF2BD8"/>
                </a:solidFill>
                <a:ea typeface="宋体" panose="02010600030101010101" pitchFamily="2" charset="-122"/>
              </a:rPr>
              <a:t>’s starts to find route to </a:t>
            </a:r>
            <a:r>
              <a:rPr lang="en-US" altLang="zh-CN" sz="1800" i="1">
                <a:solidFill>
                  <a:srgbClr val="FF2BD8"/>
                </a:solidFill>
                <a:ea typeface="宋体" panose="02010600030101010101" pitchFamily="2" charset="-122"/>
              </a:rPr>
              <a:t>I</a:t>
            </a:r>
          </a:p>
        </p:txBody>
      </p:sp>
      <p:sp>
        <p:nvSpPr>
          <p:cNvPr id="2" name="矩形 1">
            <a:extLst>
              <a:ext uri="{FF2B5EF4-FFF2-40B4-BE49-F238E27FC236}">
                <a16:creationId xmlns:a16="http://schemas.microsoft.com/office/drawing/2014/main" id="{BB5A930B-B350-40B5-8074-AC052279508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Routing in Ad Hoc Networks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D5F0016D-6464-41C0-BF52-ABD84DBBE1ED}"/>
              </a:ext>
            </a:extLst>
          </p:cNvPr>
          <p:cNvSpPr txBox="1"/>
          <p:nvPr/>
        </p:nvSpPr>
        <p:spPr>
          <a:xfrm>
            <a:off x="8800679" y="1766272"/>
            <a:ext cx="3357330" cy="4955203"/>
          </a:xfrm>
          <a:prstGeom prst="rect">
            <a:avLst/>
          </a:prstGeom>
          <a:noFill/>
        </p:spPr>
        <p:txBody>
          <a:bodyPr wrap="square">
            <a:spAutoFit/>
          </a:bodyPr>
          <a:lstStyle/>
          <a:p>
            <a:pPr>
              <a:spcBef>
                <a:spcPts val="1200"/>
              </a:spcBef>
            </a:pPr>
            <a:r>
              <a:rPr lang="en-US" altLang="zh-CN" i="0" dirty="0">
                <a:solidFill>
                  <a:srgbClr val="333333"/>
                </a:solidFill>
                <a:effectLst/>
                <a:latin typeface="微软雅黑" panose="020B0503020204020204" pitchFamily="34" charset="-122"/>
                <a:ea typeface="微软雅黑" panose="020B0503020204020204" pitchFamily="34" charset="-122"/>
              </a:rPr>
              <a:t>AODV</a:t>
            </a:r>
            <a:r>
              <a:rPr lang="zh-CN" altLang="en-US" dirty="0">
                <a:solidFill>
                  <a:srgbClr val="333333"/>
                </a:solidFill>
                <a:latin typeface="微软雅黑" panose="020B0503020204020204" pitchFamily="34" charset="-122"/>
                <a:ea typeface="微软雅黑" panose="020B0503020204020204" pitchFamily="34" charset="-122"/>
              </a:rPr>
              <a:t>（</a:t>
            </a:r>
            <a:r>
              <a:rPr lang="en-US" altLang="zh-CN" i="0" dirty="0">
                <a:solidFill>
                  <a:srgbClr val="333333"/>
                </a:solidFill>
                <a:effectLst/>
                <a:latin typeface="微软雅黑" panose="020B0503020204020204" pitchFamily="34" charset="-122"/>
                <a:ea typeface="微软雅黑" panose="020B0503020204020204" pitchFamily="34" charset="-122"/>
              </a:rPr>
              <a:t> Ad hoc On-Demand Distance Vector Routing </a:t>
            </a:r>
            <a:r>
              <a:rPr lang="zh-CN" altLang="en-US" dirty="0">
                <a:solidFill>
                  <a:srgbClr val="333333"/>
                </a:solidFill>
                <a:latin typeface="微软雅黑" panose="020B0503020204020204" pitchFamily="34" charset="-122"/>
                <a:ea typeface="微软雅黑" panose="020B0503020204020204" pitchFamily="34" charset="-122"/>
              </a:rPr>
              <a:t>）</a:t>
            </a:r>
            <a:r>
              <a:rPr lang="zh-CN" altLang="en-US" i="0" dirty="0">
                <a:solidFill>
                  <a:srgbClr val="333333"/>
                </a:solidFill>
                <a:effectLst/>
                <a:latin typeface="微软雅黑" panose="020B0503020204020204" pitchFamily="34" charset="-122"/>
                <a:ea typeface="微软雅黑" panose="020B0503020204020204" pitchFamily="34" charset="-122"/>
              </a:rPr>
              <a:t>无线自组网按需距离向量路由协议</a:t>
            </a:r>
            <a:r>
              <a:rPr lang="zh-CN" altLang="en-US" dirty="0">
                <a:solidFill>
                  <a:srgbClr val="333333"/>
                </a:solidFill>
                <a:latin typeface="微软雅黑" panose="020B0503020204020204" pitchFamily="34" charset="-122"/>
                <a:ea typeface="微软雅黑" panose="020B0503020204020204" pitchFamily="34" charset="-122"/>
              </a:rPr>
              <a:t>，是应用于无线</a:t>
            </a:r>
            <a:r>
              <a:rPr lang="en-US" altLang="zh-CN" dirty="0">
                <a:solidFill>
                  <a:srgbClr val="333333"/>
                </a:solidFill>
                <a:latin typeface="微软雅黑" panose="020B0503020204020204" pitchFamily="34" charset="-122"/>
                <a:ea typeface="微软雅黑" panose="020B0503020204020204" pitchFamily="34" charset="-122"/>
              </a:rPr>
              <a:t>Ad hoc</a:t>
            </a:r>
            <a:r>
              <a:rPr lang="zh-CN" altLang="en-US" dirty="0">
                <a:solidFill>
                  <a:srgbClr val="333333"/>
                </a:solidFill>
                <a:latin typeface="微软雅黑" panose="020B0503020204020204" pitchFamily="34" charset="-122"/>
                <a:ea typeface="微软雅黑" panose="020B0503020204020204" pitchFamily="34" charset="-122"/>
              </a:rPr>
              <a:t>网络中进行路由选择的路由协议，它能够实现单播和多播路由。该协议是</a:t>
            </a:r>
            <a:r>
              <a:rPr lang="en-US" altLang="zh-CN" dirty="0">
                <a:solidFill>
                  <a:srgbClr val="333333"/>
                </a:solidFill>
                <a:latin typeface="微软雅黑" panose="020B0503020204020204" pitchFamily="34" charset="-122"/>
                <a:ea typeface="微软雅黑" panose="020B0503020204020204" pitchFamily="34" charset="-122"/>
              </a:rPr>
              <a:t>Ad Hoc</a:t>
            </a:r>
            <a:r>
              <a:rPr lang="zh-CN" altLang="en-US" dirty="0">
                <a:solidFill>
                  <a:srgbClr val="333333"/>
                </a:solidFill>
                <a:latin typeface="微软雅黑" panose="020B0503020204020204" pitchFamily="34" charset="-122"/>
                <a:ea typeface="微软雅黑" panose="020B0503020204020204" pitchFamily="34" charset="-122"/>
              </a:rPr>
              <a:t>网络中按需生成路由方式的典型协议。</a:t>
            </a:r>
            <a:endParaRPr lang="en-US" altLang="zh-CN" dirty="0">
              <a:solidFill>
                <a:srgbClr val="333333"/>
              </a:solidFill>
              <a:latin typeface="微软雅黑" panose="020B0503020204020204" pitchFamily="34" charset="-122"/>
              <a:ea typeface="微软雅黑" panose="020B0503020204020204" pitchFamily="34" charset="-122"/>
            </a:endParaRPr>
          </a:p>
          <a:p>
            <a:pPr>
              <a:spcBef>
                <a:spcPts val="1200"/>
              </a:spcBef>
            </a:pPr>
            <a:r>
              <a:rPr lang="zh-CN" altLang="en-US" dirty="0">
                <a:solidFill>
                  <a:srgbClr val="333333"/>
                </a:solidFill>
                <a:latin typeface="微软雅黑" panose="020B0503020204020204" pitchFamily="34" charset="-122"/>
                <a:ea typeface="微软雅黑" panose="020B0503020204020204" pitchFamily="34" charset="-122"/>
              </a:rPr>
              <a:t>在网络资源充分的情况下，</a:t>
            </a:r>
            <a:r>
              <a:rPr lang="en-US" altLang="zh-CN" dirty="0">
                <a:solidFill>
                  <a:srgbClr val="333333"/>
                </a:solidFill>
                <a:latin typeface="微软雅黑" panose="020B0503020204020204" pitchFamily="34" charset="-122"/>
                <a:ea typeface="微软雅黑" panose="020B0503020204020204" pitchFamily="34" charset="-122"/>
              </a:rPr>
              <a:t>AODV</a:t>
            </a:r>
            <a:r>
              <a:rPr lang="zh-CN" altLang="en-US" dirty="0">
                <a:solidFill>
                  <a:srgbClr val="333333"/>
                </a:solidFill>
                <a:latin typeface="微软雅黑" panose="020B0503020204020204" pitchFamily="34" charset="-122"/>
                <a:ea typeface="微软雅黑" panose="020B0503020204020204" pitchFamily="34" charset="-122"/>
              </a:rPr>
              <a:t>协议可以通过定期广播</a:t>
            </a:r>
            <a:r>
              <a:rPr lang="en-US" altLang="zh-CN" dirty="0">
                <a:solidFill>
                  <a:srgbClr val="333333"/>
                </a:solidFill>
                <a:latin typeface="微软雅黑" panose="020B0503020204020204" pitchFamily="34" charset="-122"/>
                <a:ea typeface="微软雅黑" panose="020B0503020204020204" pitchFamily="34" charset="-122"/>
              </a:rPr>
              <a:t>hello</a:t>
            </a:r>
            <a:r>
              <a:rPr lang="zh-CN" altLang="en-US" dirty="0">
                <a:solidFill>
                  <a:srgbClr val="333333"/>
                </a:solidFill>
                <a:latin typeface="微软雅黑" panose="020B0503020204020204" pitchFamily="34" charset="-122"/>
                <a:ea typeface="微软雅黑" panose="020B0503020204020204" pitchFamily="34" charset="-122"/>
              </a:rPr>
              <a:t>报文来维护路由，一旦发现某一个链路断开，节点就发送</a:t>
            </a:r>
            <a:r>
              <a:rPr lang="en-US" altLang="zh-CN" dirty="0">
                <a:solidFill>
                  <a:srgbClr val="333333"/>
                </a:solidFill>
                <a:latin typeface="微软雅黑" panose="020B0503020204020204" pitchFamily="34" charset="-122"/>
                <a:ea typeface="微软雅黑" panose="020B0503020204020204" pitchFamily="34" charset="-122"/>
              </a:rPr>
              <a:t>ERROR</a:t>
            </a:r>
            <a:r>
              <a:rPr lang="zh-CN" altLang="en-US" dirty="0">
                <a:solidFill>
                  <a:srgbClr val="333333"/>
                </a:solidFill>
                <a:latin typeface="微软雅黑" panose="020B0503020204020204" pitchFamily="34" charset="-122"/>
                <a:ea typeface="微软雅黑" panose="020B0503020204020204" pitchFamily="34" charset="-122"/>
              </a:rPr>
              <a:t>报文通知那些因链路断开而不可达的节点删除相应的记录或者对已存在的路由进行修复。</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220" name="Subtitle 2"/>
          <p:cNvSpPr>
            <a:spLocks noGrp="1"/>
          </p:cNvSpPr>
          <p:nvPr>
            <p:ph idx="1"/>
          </p:nvPr>
        </p:nvSpPr>
        <p:spPr>
          <a:xfrm>
            <a:off x="2781300" y="1990725"/>
            <a:ext cx="6686550" cy="4019550"/>
          </a:xfrm>
        </p:spPr>
        <p:txBody>
          <a:bodyPr vert="horz" lIns="91440" tIns="45720" rIns="91440" bIns="45720" rtlCol="0">
            <a:normAutofit/>
          </a:bodyPr>
          <a:lstStyle/>
          <a:p>
            <a:pPr lvl="1"/>
            <a:r>
              <a:rPr lang="en-US" altLang="zh-CN" dirty="0"/>
              <a:t>Design Issues</a:t>
            </a:r>
          </a:p>
          <a:p>
            <a:pPr lvl="1"/>
            <a:r>
              <a:rPr lang="en-US" altLang="zh-CN" dirty="0"/>
              <a:t>Routing Algorithms</a:t>
            </a:r>
          </a:p>
          <a:p>
            <a:pPr lvl="1"/>
            <a:r>
              <a:rPr lang="en-US" altLang="zh-CN" b="1" dirty="0">
                <a:solidFill>
                  <a:srgbClr val="C00000"/>
                </a:solidFill>
              </a:rPr>
              <a:t>Congestion Control</a:t>
            </a:r>
          </a:p>
          <a:p>
            <a:pPr lvl="1"/>
            <a:r>
              <a:rPr lang="en-US" altLang="zh-CN" dirty="0"/>
              <a:t>Quality of Service</a:t>
            </a:r>
          </a:p>
          <a:p>
            <a:pPr lvl="1"/>
            <a:r>
              <a:rPr lang="en-US" altLang="zh-CN" dirty="0"/>
              <a:t>Internetworking</a:t>
            </a:r>
          </a:p>
          <a:p>
            <a:pPr lvl="1"/>
            <a:r>
              <a:rPr lang="en-US" altLang="zh-CN" dirty="0"/>
              <a:t>Network Layer of the Internet</a:t>
            </a:r>
          </a:p>
        </p:txBody>
      </p:sp>
      <p:sp>
        <p:nvSpPr>
          <p:cNvPr id="2" name="矩形 1">
            <a:extLst>
              <a:ext uri="{FF2B5EF4-FFF2-40B4-BE49-F238E27FC236}">
                <a16:creationId xmlns:a16="http://schemas.microsoft.com/office/drawing/2014/main" id="{B4980F9B-94EF-4944-9E61-6B0F74FFB2A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Chapter 5</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56190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6920" y="1307465"/>
            <a:ext cx="10515600" cy="4351338"/>
          </a:xfrm>
        </p:spPr>
        <p:txBody>
          <a:bodyPr/>
          <a:lstStyle/>
          <a:p>
            <a:r>
              <a:rPr lang="en-US" altLang="zh-CN" dirty="0"/>
              <a:t>The performance of a network can be measured in terms of </a:t>
            </a:r>
            <a:r>
              <a:rPr lang="en-US" altLang="zh-CN" b="1" i="1" dirty="0">
                <a:solidFill>
                  <a:srgbClr val="0000FF"/>
                </a:solidFill>
              </a:rPr>
              <a:t>delay</a:t>
            </a:r>
            <a:r>
              <a:rPr lang="en-US" altLang="zh-CN" dirty="0"/>
              <a:t>, </a:t>
            </a:r>
            <a:r>
              <a:rPr lang="en-US" altLang="zh-CN" b="1" i="1" dirty="0">
                <a:solidFill>
                  <a:srgbClr val="0000FF"/>
                </a:solidFill>
              </a:rPr>
              <a:t>throughput</a:t>
            </a:r>
            <a:r>
              <a:rPr lang="en-US" altLang="zh-CN" dirty="0"/>
              <a:t>, and </a:t>
            </a:r>
            <a:r>
              <a:rPr lang="en-US" altLang="zh-CN" b="1" i="1" dirty="0">
                <a:solidFill>
                  <a:srgbClr val="0000FF"/>
                </a:solidFill>
              </a:rPr>
              <a:t>packet loss</a:t>
            </a:r>
            <a:r>
              <a:rPr lang="en-US" altLang="zh-CN" dirty="0"/>
              <a:t>.</a:t>
            </a:r>
          </a:p>
          <a:p>
            <a:pPr marL="342900" indent="-342900"/>
            <a:r>
              <a:rPr lang="en-US" altLang="zh-CN" dirty="0"/>
              <a:t>Delay: transmission delay, propagation delay, processing delay, and queuing delay.</a:t>
            </a:r>
          </a:p>
          <a:p>
            <a:pPr marL="342900" indent="-342900"/>
            <a:r>
              <a:rPr lang="en-US" altLang="zh-CN" dirty="0"/>
              <a:t>Throughput at any point in a network: the number of bits passing through the point in a second, i.e., the transmission rate of data at that point. </a:t>
            </a:r>
          </a:p>
          <a:p>
            <a:pPr marL="342900" indent="-342900"/>
            <a:r>
              <a:rPr lang="en-US" altLang="zh-CN" dirty="0"/>
              <a:t>Packet loss: the number of packets lost during transmission. </a:t>
            </a:r>
          </a:p>
          <a:p>
            <a:pPr marL="342900" indent="-342900"/>
            <a:endParaRPr lang="en-US" altLang="zh-CN" dirty="0"/>
          </a:p>
        </p:txBody>
      </p:sp>
      <p:sp>
        <p:nvSpPr>
          <p:cNvPr id="4" name="页脚占位符 3"/>
          <p:cNvSpPr>
            <a:spLocks noGrp="1"/>
          </p:cNvSpPr>
          <p:nvPr>
            <p:ph type="ftr" sz="quarter" idx="11"/>
          </p:nvPr>
        </p:nvSpPr>
        <p:spPr/>
        <p:txBody>
          <a:bodyPr/>
          <a:lstStyle/>
          <a:p>
            <a:pPr>
              <a:defRPr/>
            </a:pPr>
            <a:r>
              <a:rPr lang="en-US" altLang="zh-CN"/>
              <a:t>Computer Networks, Chapter 5 The Network Layer</a:t>
            </a:r>
            <a:endParaRPr lang="en-US" altLang="zh-CN" i="0" dirty="0"/>
          </a:p>
        </p:txBody>
      </p:sp>
      <p:sp>
        <p:nvSpPr>
          <p:cNvPr id="6" name="矩形 5"/>
          <p:cNvSpPr/>
          <p:nvPr/>
        </p:nvSpPr>
        <p:spPr>
          <a:xfrm>
            <a:off x="1646621" y="5243811"/>
            <a:ext cx="8812924" cy="461665"/>
          </a:xfrm>
          <a:prstGeom prst="rect">
            <a:avLst/>
          </a:prstGeom>
        </p:spPr>
        <p:txBody>
          <a:bodyPr wrap="square">
            <a:spAutoFit/>
          </a:bodyPr>
          <a:lstStyle/>
          <a:p>
            <a:r>
              <a:rPr lang="en-US" altLang="zh-CN" sz="2400" dirty="0">
                <a:solidFill>
                  <a:srgbClr val="0000FF"/>
                </a:solidFill>
              </a:rPr>
              <a:t>Congestion control is a mechanism for improving performance. </a:t>
            </a:r>
          </a:p>
        </p:txBody>
      </p:sp>
      <p:sp>
        <p:nvSpPr>
          <p:cNvPr id="2" name="矩形 1">
            <a:extLst>
              <a:ext uri="{FF2B5EF4-FFF2-40B4-BE49-F238E27FC236}">
                <a16:creationId xmlns:a16="http://schemas.microsoft.com/office/drawing/2014/main" id="{1E2EFCD8-AF57-41EA-9720-93DE94BCE04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Performance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303560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E9A352E6-5B40-4EE4-BDF7-982B5EF261D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Congestion Control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Rectangle 3">
            <a:extLst>
              <a:ext uri="{FF2B5EF4-FFF2-40B4-BE49-F238E27FC236}">
                <a16:creationId xmlns:a16="http://schemas.microsoft.com/office/drawing/2014/main" id="{FB4EAC42-D248-4DEC-ACCD-A59CA32DE13A}"/>
              </a:ext>
            </a:extLst>
          </p:cNvPr>
          <p:cNvSpPr txBox="1">
            <a:spLocks noChangeArrowheads="1"/>
          </p:cNvSpPr>
          <p:nvPr/>
        </p:nvSpPr>
        <p:spPr bwMode="auto">
          <a:xfrm>
            <a:off x="649708" y="1192063"/>
            <a:ext cx="11135891" cy="44948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0000FF"/>
              </a:buClr>
              <a:buSzPct val="90000"/>
              <a:buFont typeface="Arial" pitchFamily="34" charset="0"/>
              <a:buNone/>
              <a:defRPr>
                <a:solidFill>
                  <a:schemeClr val="tx1"/>
                </a:solidFill>
                <a:latin typeface="+mn-lt"/>
                <a:ea typeface="+mn-ea"/>
                <a:cs typeface="+mn-cs"/>
              </a:defRPr>
            </a:lvl1pPr>
            <a:lvl2pPr marL="742950" indent="-285750" algn="l" rtl="0" eaLnBrk="0" fontAlgn="base" hangingPunct="0">
              <a:spcBef>
                <a:spcPct val="35000"/>
              </a:spcBef>
              <a:spcAft>
                <a:spcPct val="0"/>
              </a:spcAft>
              <a:buClr>
                <a:srgbClr val="0000FF"/>
              </a:buClr>
              <a:buSzPct val="80000"/>
              <a:buFont typeface="Monotype Sorts" pitchFamily="92" charset="2"/>
              <a:buChar char="l"/>
              <a:defRPr>
                <a:solidFill>
                  <a:schemeClr val="tx1"/>
                </a:solidFill>
                <a:latin typeface="+mn-lt"/>
                <a:ea typeface="+mn-ea"/>
              </a:defRPr>
            </a:lvl2pPr>
            <a:lvl3pPr marL="1085850" indent="-228600" algn="l" rtl="0" eaLnBrk="0" fontAlgn="base" hangingPunct="0">
              <a:spcBef>
                <a:spcPct val="35000"/>
              </a:spcBef>
              <a:spcAft>
                <a:spcPct val="0"/>
              </a:spcAft>
              <a:buClr>
                <a:srgbClr val="0000FF"/>
              </a:buClr>
              <a:buSzPct val="75000"/>
              <a:buFont typeface="Webdings" pitchFamily="18" charset="2"/>
              <a:buChar char="4"/>
              <a:defRPr>
                <a:solidFill>
                  <a:schemeClr val="tx1"/>
                </a:solidFill>
                <a:latin typeface="+mn-lt"/>
                <a:ea typeface="+mn-ea"/>
              </a:defRPr>
            </a:lvl3pPr>
            <a:lvl4pPr marL="1428750" indent="-228600" algn="l" rtl="0" eaLnBrk="0" fontAlgn="base" hangingPunct="0">
              <a:spcBef>
                <a:spcPct val="35000"/>
              </a:spcBef>
              <a:spcAft>
                <a:spcPct val="0"/>
              </a:spcAft>
              <a:buClr>
                <a:srgbClr val="0000FF"/>
              </a:buClr>
              <a:buSzPct val="75000"/>
              <a:buChar char="–"/>
              <a:defRPr>
                <a:solidFill>
                  <a:schemeClr val="tx1"/>
                </a:solidFill>
                <a:latin typeface="+mn-lt"/>
                <a:ea typeface="+mn-ea"/>
              </a:defRPr>
            </a:lvl4pPr>
            <a:lvl5pPr marL="1771650" indent="-228600" algn="l" rtl="0" eaLnBrk="0" fontAlgn="base" hangingPunct="0">
              <a:spcBef>
                <a:spcPct val="35000"/>
              </a:spcBef>
              <a:spcAft>
                <a:spcPct val="0"/>
              </a:spcAft>
              <a:buClr>
                <a:srgbClr val="0000FF"/>
              </a:buClr>
              <a:buSzPct val="75000"/>
              <a:buChar char="»"/>
              <a:defRPr>
                <a:solidFill>
                  <a:schemeClr val="tx1"/>
                </a:solidFill>
                <a:latin typeface="+mn-lt"/>
                <a:ea typeface="+mn-ea"/>
              </a:defRPr>
            </a:lvl5pPr>
            <a:lvl6pPr marL="2228850" indent="-228600" algn="l" rtl="0" fontAlgn="base">
              <a:spcBef>
                <a:spcPct val="35000"/>
              </a:spcBef>
              <a:spcAft>
                <a:spcPct val="0"/>
              </a:spcAft>
              <a:buClr>
                <a:srgbClr val="FF0066"/>
              </a:buClr>
              <a:buSzPct val="75000"/>
              <a:buChar char="»"/>
              <a:defRPr>
                <a:solidFill>
                  <a:schemeClr val="tx1"/>
                </a:solidFill>
                <a:latin typeface="+mn-lt"/>
                <a:ea typeface="+mn-ea"/>
              </a:defRPr>
            </a:lvl6pPr>
            <a:lvl7pPr marL="2686050" indent="-228600" algn="l" rtl="0" fontAlgn="base">
              <a:spcBef>
                <a:spcPct val="35000"/>
              </a:spcBef>
              <a:spcAft>
                <a:spcPct val="0"/>
              </a:spcAft>
              <a:buClr>
                <a:srgbClr val="FF0066"/>
              </a:buClr>
              <a:buSzPct val="75000"/>
              <a:buChar char="»"/>
              <a:defRPr>
                <a:solidFill>
                  <a:schemeClr val="tx1"/>
                </a:solidFill>
                <a:latin typeface="+mn-lt"/>
                <a:ea typeface="+mn-ea"/>
              </a:defRPr>
            </a:lvl7pPr>
            <a:lvl8pPr marL="3143250" indent="-228600" algn="l" rtl="0" fontAlgn="base">
              <a:spcBef>
                <a:spcPct val="35000"/>
              </a:spcBef>
              <a:spcAft>
                <a:spcPct val="0"/>
              </a:spcAft>
              <a:buClr>
                <a:srgbClr val="FF0066"/>
              </a:buClr>
              <a:buSzPct val="75000"/>
              <a:buChar char="»"/>
              <a:defRPr>
                <a:solidFill>
                  <a:schemeClr val="tx1"/>
                </a:solidFill>
                <a:latin typeface="+mn-lt"/>
                <a:ea typeface="+mn-ea"/>
              </a:defRPr>
            </a:lvl8pPr>
            <a:lvl9pPr marL="3600450" indent="-228600" algn="l" rtl="0" fontAlgn="base">
              <a:spcBef>
                <a:spcPct val="35000"/>
              </a:spcBef>
              <a:spcAft>
                <a:spcPct val="0"/>
              </a:spcAft>
              <a:buClr>
                <a:srgbClr val="FF0066"/>
              </a:buClr>
              <a:buSzPct val="75000"/>
              <a:buChar char="»"/>
              <a:defRPr>
                <a:solidFill>
                  <a:schemeClr val="tx1"/>
                </a:solidFill>
                <a:latin typeface="+mn-lt"/>
                <a:ea typeface="+mn-ea"/>
              </a:defRPr>
            </a:lvl9pPr>
          </a:lstStyle>
          <a:p>
            <a:pPr marL="400050" marR="0" lvl="0" indent="-400050" algn="l" defTabSz="1066800" rtl="0" eaLnBrk="1" fontAlgn="base" latinLnBrk="0" hangingPunct="1">
              <a:lnSpc>
                <a:spcPct val="100000"/>
              </a:lnSpc>
              <a:spcBef>
                <a:spcPct val="35000"/>
              </a:spcBef>
              <a:spcAft>
                <a:spcPct val="0"/>
              </a:spcAft>
              <a:buClr>
                <a:srgbClr val="993300"/>
              </a:buClr>
              <a:buSzPct val="90000"/>
              <a:buFont typeface="Monotype Sorts" pitchFamily="2" charset="2"/>
              <a:buChar char="n"/>
              <a:tabLst/>
              <a:defRPr/>
            </a:pPr>
            <a:r>
              <a:rPr kumimoji="0" lang="en-US" altLang="zh-CN" sz="2400" b="1" i="0" u="none" strike="noStrike" kern="0" cap="none" spc="0" normalizeH="0" baseline="0" noProof="0" dirty="0">
                <a:ln>
                  <a:noFill/>
                </a:ln>
                <a:solidFill>
                  <a:srgbClr val="000000"/>
                </a:solidFill>
                <a:effectLst/>
                <a:uLnTx/>
                <a:uFillTx/>
                <a:latin typeface="Helvetica"/>
                <a:ea typeface="宋体"/>
              </a:rPr>
              <a:t>Flow control and Congestion control</a:t>
            </a:r>
          </a:p>
          <a:p>
            <a:pPr marL="866775" marR="0" lvl="1" indent="-333375" algn="l" defTabSz="1066800" rtl="0" eaLnBrk="1" fontAlgn="base" latinLnBrk="0" hangingPunct="1">
              <a:lnSpc>
                <a:spcPct val="100000"/>
              </a:lnSpc>
              <a:spcBef>
                <a:spcPct val="35000"/>
              </a:spcBef>
              <a:spcAft>
                <a:spcPct val="0"/>
              </a:spcAft>
              <a:buClr>
                <a:srgbClr val="CC6600"/>
              </a:buClr>
              <a:buSzPct val="80000"/>
              <a:buFont typeface="Monotype Sorts" pitchFamily="2" charset="2"/>
              <a:buChar char="l"/>
              <a:tabLst/>
              <a:defRPr/>
            </a:pPr>
            <a:r>
              <a:rPr kumimoji="0" lang="en-US" altLang="zh-CN" sz="2400" b="0" i="0" u="none" strike="noStrike" kern="0" cap="none" spc="0" normalizeH="0" baseline="0" noProof="0" dirty="0">
                <a:ln>
                  <a:noFill/>
                </a:ln>
                <a:solidFill>
                  <a:srgbClr val="000000"/>
                </a:solidFill>
                <a:effectLst/>
                <a:uLnTx/>
                <a:uFillTx/>
                <a:latin typeface="Helvetica"/>
                <a:ea typeface="宋体"/>
              </a:rPr>
              <a:t>Congestion control: making sure the network can handle the offered traffic.</a:t>
            </a:r>
          </a:p>
          <a:p>
            <a:pPr marL="866775" marR="0" lvl="1" indent="-333375" algn="l" defTabSz="1066800" rtl="0" eaLnBrk="1" fontAlgn="base" latinLnBrk="0" hangingPunct="1">
              <a:lnSpc>
                <a:spcPct val="100000"/>
              </a:lnSpc>
              <a:spcBef>
                <a:spcPct val="35000"/>
              </a:spcBef>
              <a:spcAft>
                <a:spcPct val="0"/>
              </a:spcAft>
              <a:buClr>
                <a:srgbClr val="CC6600"/>
              </a:buClr>
              <a:buSzPct val="80000"/>
              <a:buFont typeface="Monotype Sorts" pitchFamily="2" charset="2"/>
              <a:buChar char="l"/>
              <a:tabLst/>
              <a:defRPr/>
            </a:pPr>
            <a:r>
              <a:rPr kumimoji="0" lang="en-US" altLang="zh-CN" sz="2400" b="0" i="0" u="none" strike="noStrike" kern="0" cap="none" spc="0" normalizeH="0" baseline="0" noProof="0" dirty="0">
                <a:ln>
                  <a:noFill/>
                </a:ln>
                <a:solidFill>
                  <a:srgbClr val="000000"/>
                </a:solidFill>
                <a:effectLst/>
                <a:uLnTx/>
                <a:uFillTx/>
                <a:latin typeface="Helvetica"/>
                <a:ea typeface="宋体"/>
              </a:rPr>
              <a:t>Flow control : preventing one sender from overflowing one receiver.</a:t>
            </a:r>
          </a:p>
          <a:p>
            <a:pPr marL="400050" marR="0" lvl="0" indent="-400050" algn="l" defTabSz="1066800" rtl="0" eaLnBrk="1" fontAlgn="base" latinLnBrk="0" hangingPunct="1">
              <a:lnSpc>
                <a:spcPct val="100000"/>
              </a:lnSpc>
              <a:spcBef>
                <a:spcPct val="35000"/>
              </a:spcBef>
              <a:spcAft>
                <a:spcPct val="0"/>
              </a:spcAft>
              <a:buClr>
                <a:srgbClr val="993300"/>
              </a:buClr>
              <a:buSzPct val="90000"/>
              <a:buFont typeface="Monotype Sorts" pitchFamily="2" charset="2"/>
              <a:buChar char="n"/>
              <a:tabLst/>
              <a:defRPr/>
            </a:pPr>
            <a:endParaRPr kumimoji="0" lang="en-US" altLang="zh-CN" sz="2400" b="1" i="0" u="none" strike="noStrike" kern="0" cap="none" spc="0" normalizeH="0" baseline="0" noProof="0" dirty="0">
              <a:ln>
                <a:noFill/>
              </a:ln>
              <a:solidFill>
                <a:srgbClr val="000000"/>
              </a:solidFill>
              <a:effectLst/>
              <a:uLnTx/>
              <a:uFillTx/>
              <a:latin typeface="Helvetica"/>
              <a:ea typeface="宋体"/>
            </a:endParaRPr>
          </a:p>
          <a:p>
            <a:pPr marL="400050" marR="0" lvl="0" indent="-400050" algn="l" defTabSz="1066800" rtl="0" eaLnBrk="1" fontAlgn="base" latinLnBrk="0" hangingPunct="1">
              <a:lnSpc>
                <a:spcPct val="100000"/>
              </a:lnSpc>
              <a:spcBef>
                <a:spcPct val="35000"/>
              </a:spcBef>
              <a:spcAft>
                <a:spcPct val="0"/>
              </a:spcAft>
              <a:buClr>
                <a:srgbClr val="993300"/>
              </a:buClr>
              <a:buSzPct val="90000"/>
              <a:buFont typeface="Monotype Sorts" pitchFamily="2" charset="2"/>
              <a:buChar char="n"/>
              <a:tabLst/>
              <a:defRPr/>
            </a:pPr>
            <a:r>
              <a:rPr kumimoji="0" lang="en-US" altLang="zh-CN" sz="2400" b="1" i="0" u="none" strike="noStrike" kern="0" cap="none" spc="0" normalizeH="0" baseline="0" noProof="0" dirty="0">
                <a:ln>
                  <a:noFill/>
                </a:ln>
                <a:solidFill>
                  <a:srgbClr val="000000"/>
                </a:solidFill>
                <a:effectLst/>
                <a:uLnTx/>
                <a:uFillTx/>
                <a:latin typeface="Helvetica"/>
                <a:ea typeface="宋体"/>
              </a:rPr>
              <a:t>Handling congestion is the responsibility of the Network and Transport layers working together</a:t>
            </a:r>
            <a:endParaRPr kumimoji="0" lang="en-US" sz="2400" b="0" i="0" u="none" strike="noStrike" kern="0" cap="none" spc="0" normalizeH="0" baseline="0" noProof="0" dirty="0">
              <a:ln>
                <a:noFill/>
              </a:ln>
              <a:solidFill>
                <a:srgbClr val="000000"/>
              </a:solidFill>
              <a:effectLst/>
              <a:uLnTx/>
              <a:uFillTx/>
              <a:latin typeface="Helvetica"/>
              <a:ea typeface="宋体"/>
            </a:endParaRPr>
          </a:p>
          <a:p>
            <a:pPr marL="742950" marR="0" lvl="1" indent="-285750" algn="l" defTabSz="914400" rtl="0" eaLnBrk="0" fontAlgn="base" latinLnBrk="0" hangingPunct="0">
              <a:lnSpc>
                <a:spcPct val="100000"/>
              </a:lnSpc>
              <a:spcBef>
                <a:spcPct val="35000"/>
              </a:spcBef>
              <a:spcAft>
                <a:spcPct val="0"/>
              </a:spcAft>
              <a:buClr>
                <a:srgbClr val="0000FF"/>
              </a:buClr>
              <a:buSzPct val="80000"/>
              <a:buFont typeface="Monotype Sorts" pitchFamily="2" charset="2"/>
              <a:buChar char="l"/>
              <a:tabLst/>
              <a:defRPr/>
            </a:pPr>
            <a:r>
              <a:rPr kumimoji="0" lang="en-US" sz="2400" b="0" i="0" u="none" strike="noStrike" kern="0" cap="none" spc="0" normalizeH="0" baseline="0" noProof="0" dirty="0">
                <a:ln>
                  <a:noFill/>
                </a:ln>
                <a:solidFill>
                  <a:srgbClr val="000000"/>
                </a:solidFill>
                <a:effectLst/>
                <a:uLnTx/>
                <a:uFillTx/>
                <a:latin typeface="Helvetica"/>
                <a:ea typeface="宋体"/>
              </a:rPr>
              <a:t>Traffic-aware routing </a:t>
            </a:r>
            <a:r>
              <a:rPr kumimoji="0" lang="en-US" sz="2400" b="0" i="0" u="none" strike="noStrike" kern="0" cap="none" spc="0" normalizeH="0" baseline="0" noProof="0" dirty="0">
                <a:ln>
                  <a:noFill/>
                </a:ln>
                <a:solidFill>
                  <a:srgbClr val="0000FF"/>
                </a:solidFill>
                <a:effectLst/>
                <a:uLnTx/>
                <a:uFillTx/>
                <a:latin typeface="Helvetica"/>
                <a:ea typeface="宋体"/>
              </a:rPr>
              <a:t>»</a:t>
            </a:r>
            <a:endParaRPr kumimoji="0" lang="en-US" sz="2400" b="0" i="0" u="none" strike="noStrike" kern="0" cap="none" spc="0" normalizeH="0" baseline="0" noProof="0" dirty="0">
              <a:ln>
                <a:noFill/>
              </a:ln>
              <a:solidFill>
                <a:srgbClr val="000000"/>
              </a:solidFill>
              <a:effectLst/>
              <a:uLnTx/>
              <a:uFillTx/>
              <a:latin typeface="Helvetica"/>
              <a:ea typeface="宋体"/>
            </a:endParaRPr>
          </a:p>
          <a:p>
            <a:pPr marL="742950" marR="0" lvl="1" indent="-285750" algn="l" defTabSz="914400" rtl="0" eaLnBrk="0" fontAlgn="base" latinLnBrk="0" hangingPunct="0">
              <a:lnSpc>
                <a:spcPct val="100000"/>
              </a:lnSpc>
              <a:spcBef>
                <a:spcPct val="35000"/>
              </a:spcBef>
              <a:spcAft>
                <a:spcPct val="0"/>
              </a:spcAft>
              <a:buClr>
                <a:srgbClr val="0000FF"/>
              </a:buClr>
              <a:buSzPct val="80000"/>
              <a:buFont typeface="Monotype Sorts" pitchFamily="2" charset="2"/>
              <a:buChar char="l"/>
              <a:tabLst/>
              <a:defRPr/>
            </a:pPr>
            <a:r>
              <a:rPr kumimoji="0" lang="en-US" sz="2400" b="0" i="0" u="none" strike="noStrike" kern="0" cap="none" spc="0" normalizeH="0" baseline="0" noProof="0" dirty="0">
                <a:ln>
                  <a:noFill/>
                </a:ln>
                <a:solidFill>
                  <a:srgbClr val="000000"/>
                </a:solidFill>
                <a:effectLst/>
                <a:uLnTx/>
                <a:uFillTx/>
                <a:latin typeface="Helvetica"/>
                <a:ea typeface="宋体"/>
              </a:rPr>
              <a:t>Admission control </a:t>
            </a:r>
            <a:r>
              <a:rPr kumimoji="0" lang="en-US" sz="2400" b="0" i="0" u="none" strike="noStrike" kern="0" cap="none" spc="0" normalizeH="0" baseline="0" noProof="0" dirty="0">
                <a:ln>
                  <a:noFill/>
                </a:ln>
                <a:solidFill>
                  <a:srgbClr val="0000FF"/>
                </a:solidFill>
                <a:effectLst/>
                <a:uLnTx/>
                <a:uFillTx/>
                <a:latin typeface="Helvetica"/>
                <a:ea typeface="宋体"/>
              </a:rPr>
              <a:t>»</a:t>
            </a:r>
            <a:endParaRPr kumimoji="0" lang="en-US" sz="2400" b="0" i="0" u="none" strike="noStrike" kern="0" cap="none" spc="0" normalizeH="0" baseline="0" noProof="0" dirty="0">
              <a:ln>
                <a:noFill/>
              </a:ln>
              <a:solidFill>
                <a:srgbClr val="000000"/>
              </a:solidFill>
              <a:effectLst/>
              <a:uLnTx/>
              <a:uFillTx/>
              <a:latin typeface="Helvetica"/>
              <a:ea typeface="宋体"/>
            </a:endParaRPr>
          </a:p>
          <a:p>
            <a:pPr marL="742950" marR="0" lvl="1" indent="-285750" algn="l" defTabSz="914400" rtl="0" eaLnBrk="0" fontAlgn="base" latinLnBrk="0" hangingPunct="0">
              <a:lnSpc>
                <a:spcPct val="100000"/>
              </a:lnSpc>
              <a:spcBef>
                <a:spcPct val="35000"/>
              </a:spcBef>
              <a:spcAft>
                <a:spcPct val="0"/>
              </a:spcAft>
              <a:buClr>
                <a:srgbClr val="0000FF"/>
              </a:buClr>
              <a:buSzPct val="80000"/>
              <a:buFont typeface="Monotype Sorts" pitchFamily="2" charset="2"/>
              <a:buChar char="l"/>
              <a:tabLst/>
              <a:defRPr/>
            </a:pPr>
            <a:r>
              <a:rPr kumimoji="0" lang="en-US" sz="2400" b="0" i="0" u="none" strike="noStrike" kern="0" cap="none" spc="0" normalizeH="0" baseline="0" noProof="0" dirty="0">
                <a:ln>
                  <a:noFill/>
                </a:ln>
                <a:solidFill>
                  <a:srgbClr val="000000"/>
                </a:solidFill>
                <a:effectLst/>
                <a:uLnTx/>
                <a:uFillTx/>
                <a:latin typeface="Helvetica"/>
                <a:ea typeface="宋体"/>
              </a:rPr>
              <a:t>Traffic throttling </a:t>
            </a:r>
            <a:r>
              <a:rPr kumimoji="0" lang="en-US" sz="2400" b="0" i="0" u="none" strike="noStrike" kern="0" cap="none" spc="0" normalizeH="0" baseline="0" noProof="0" dirty="0">
                <a:ln>
                  <a:noFill/>
                </a:ln>
                <a:solidFill>
                  <a:srgbClr val="0000FF"/>
                </a:solidFill>
                <a:effectLst/>
                <a:uLnTx/>
                <a:uFillTx/>
                <a:latin typeface="Helvetica"/>
                <a:ea typeface="宋体"/>
              </a:rPr>
              <a:t>»</a:t>
            </a:r>
            <a:endParaRPr kumimoji="0" lang="en-US" sz="2400" b="0" i="0" u="none" strike="noStrike" kern="0" cap="none" spc="0" normalizeH="0" baseline="0" noProof="0" dirty="0">
              <a:ln>
                <a:noFill/>
              </a:ln>
              <a:solidFill>
                <a:srgbClr val="000000"/>
              </a:solidFill>
              <a:effectLst/>
              <a:uLnTx/>
              <a:uFillTx/>
              <a:latin typeface="Helvetica"/>
              <a:ea typeface="宋体"/>
            </a:endParaRPr>
          </a:p>
          <a:p>
            <a:pPr marL="742950" marR="0" lvl="1" indent="-285750" algn="l" defTabSz="914400" rtl="0" eaLnBrk="0" fontAlgn="base" latinLnBrk="0" hangingPunct="0">
              <a:lnSpc>
                <a:spcPct val="100000"/>
              </a:lnSpc>
              <a:spcBef>
                <a:spcPct val="35000"/>
              </a:spcBef>
              <a:spcAft>
                <a:spcPct val="0"/>
              </a:spcAft>
              <a:buClr>
                <a:srgbClr val="0000FF"/>
              </a:buClr>
              <a:buSzPct val="80000"/>
              <a:buFont typeface="Monotype Sorts" pitchFamily="2" charset="2"/>
              <a:buChar char="l"/>
              <a:tabLst/>
              <a:defRPr/>
            </a:pPr>
            <a:r>
              <a:rPr kumimoji="0" lang="en-US" sz="2400" b="0" i="0" u="none" strike="noStrike" kern="0" cap="none" spc="0" normalizeH="0" baseline="0" noProof="0" dirty="0">
                <a:ln>
                  <a:noFill/>
                </a:ln>
                <a:solidFill>
                  <a:srgbClr val="000000"/>
                </a:solidFill>
                <a:effectLst/>
                <a:uLnTx/>
                <a:uFillTx/>
                <a:latin typeface="Helvetica"/>
                <a:ea typeface="宋体"/>
              </a:rPr>
              <a:t>Load shedding </a:t>
            </a:r>
            <a:r>
              <a:rPr kumimoji="0" lang="en-US" sz="2400" b="0" i="0" u="none" strike="noStrike" kern="0" cap="none" spc="0" normalizeH="0" baseline="0" noProof="0" dirty="0">
                <a:ln>
                  <a:noFill/>
                </a:ln>
                <a:solidFill>
                  <a:srgbClr val="0000FF"/>
                </a:solidFill>
                <a:effectLst/>
                <a:uLnTx/>
                <a:uFillTx/>
                <a:latin typeface="Helvetica"/>
                <a:ea typeface="宋体"/>
              </a:rPr>
              <a:t>»</a:t>
            </a:r>
            <a:endParaRPr kumimoji="0" lang="en-US" sz="2400" b="0" i="0" u="none" strike="noStrike" kern="0" cap="none" spc="0" normalizeH="0" baseline="0" noProof="0" dirty="0">
              <a:ln>
                <a:noFill/>
              </a:ln>
              <a:solidFill>
                <a:srgbClr val="000000"/>
              </a:solidFill>
              <a:effectLst/>
              <a:uLnTx/>
              <a:uFillTx/>
              <a:latin typeface="Helvetica"/>
              <a:ea typeface="宋体"/>
            </a:endParaRPr>
          </a:p>
        </p:txBody>
      </p:sp>
    </p:spTree>
    <p:extLst>
      <p:ext uri="{BB962C8B-B14F-4D97-AF65-F5344CB8AC3E}">
        <p14:creationId xmlns:p14="http://schemas.microsoft.com/office/powerpoint/2010/main" val="904192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59396" name="Rectangle 3"/>
          <p:cNvSpPr>
            <a:spLocks noGrp="1" noChangeArrowheads="1"/>
          </p:cNvSpPr>
          <p:nvPr>
            <p:ph idx="1"/>
          </p:nvPr>
        </p:nvSpPr>
        <p:spPr>
          <a:xfrm>
            <a:off x="811763" y="970203"/>
            <a:ext cx="11206548" cy="1406208"/>
          </a:xfrm>
        </p:spPr>
        <p:txBody>
          <a:bodyPr/>
          <a:lstStyle/>
          <a:p>
            <a:pPr>
              <a:lnSpc>
                <a:spcPct val="100000"/>
              </a:lnSpc>
            </a:pPr>
            <a:r>
              <a:rPr lang="en-US" altLang="zh-CN" dirty="0">
                <a:ea typeface="宋体" panose="02010600030101010101" pitchFamily="2" charset="-122"/>
              </a:rPr>
              <a:t>Congestion results when too much traffic is offered; performance degrades due to loss/retransmissions</a:t>
            </a:r>
          </a:p>
          <a:p>
            <a:pPr lvl="1">
              <a:lnSpc>
                <a:spcPct val="100000"/>
              </a:lnSpc>
            </a:pPr>
            <a:r>
              <a:rPr lang="en-US" altLang="zh-CN" dirty="0">
                <a:ea typeface="宋体" panose="02010600030101010101" pitchFamily="2" charset="-122"/>
              </a:rPr>
              <a:t>Goodput (=useful packets) trails offered load</a:t>
            </a:r>
          </a:p>
        </p:txBody>
      </p:sp>
      <p:pic>
        <p:nvPicPr>
          <p:cNvPr id="59397" name="Picture 2"/>
          <p:cNvPicPr>
            <a:picLocks noChangeAspect="1" noChangeArrowheads="1"/>
          </p:cNvPicPr>
          <p:nvPr/>
        </p:nvPicPr>
        <p:blipFill>
          <a:blip r:embed="rId3">
            <a:extLst>
              <a:ext uri="{28A0092B-C50C-407E-A947-70E740481C1C}">
                <a14:useLocalDpi xmlns:a14="http://schemas.microsoft.com/office/drawing/2010/main" val="0"/>
              </a:ext>
            </a:extLst>
          </a:blip>
          <a:srcRect t="7664"/>
          <a:stretch>
            <a:fillRect/>
          </a:stretch>
        </p:blipFill>
        <p:spPr bwMode="auto">
          <a:xfrm>
            <a:off x="2790191" y="2547301"/>
            <a:ext cx="5524500" cy="32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8" name="Oval 5"/>
          <p:cNvSpPr>
            <a:spLocks noChangeArrowheads="1"/>
          </p:cNvSpPr>
          <p:nvPr/>
        </p:nvSpPr>
        <p:spPr bwMode="auto">
          <a:xfrm>
            <a:off x="4846004" y="3241039"/>
            <a:ext cx="706437" cy="933450"/>
          </a:xfrm>
          <a:prstGeom prst="ellipse">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 name="矩形 1">
            <a:extLst>
              <a:ext uri="{FF2B5EF4-FFF2-40B4-BE49-F238E27FC236}">
                <a16:creationId xmlns:a16="http://schemas.microsoft.com/office/drawing/2014/main" id="{408577B2-490C-41E6-A911-2D9C08660DA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Congestion Control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3" name="Rectangle 3">
            <a:extLst>
              <a:ext uri="{FF2B5EF4-FFF2-40B4-BE49-F238E27FC236}">
                <a16:creationId xmlns:a16="http://schemas.microsoft.com/office/drawing/2014/main" id="{39E5A998-AA2B-4752-88DA-19AA89F2560F}"/>
              </a:ext>
            </a:extLst>
          </p:cNvPr>
          <p:cNvSpPr txBox="1">
            <a:spLocks noChangeArrowheads="1"/>
          </p:cNvSpPr>
          <p:nvPr/>
        </p:nvSpPr>
        <p:spPr bwMode="auto">
          <a:xfrm>
            <a:off x="920751" y="5817403"/>
            <a:ext cx="1083945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defRPr>
                <a:solidFill>
                  <a:schemeClr val="bg1"/>
                </a:solidFill>
                <a:latin typeface="Garamond" pitchFamily="18" charset="0"/>
                <a:ea typeface="宋体" pitchFamily="2" charset="-122"/>
              </a:defRPr>
            </a:lvl1pPr>
            <a:lvl2pPr marL="742950" indent="-285750">
              <a:defRPr>
                <a:solidFill>
                  <a:schemeClr val="bg1"/>
                </a:solidFill>
                <a:latin typeface="Garamond" pitchFamily="18" charset="0"/>
                <a:ea typeface="宋体" pitchFamily="2" charset="-122"/>
              </a:defRPr>
            </a:lvl2pPr>
            <a:lvl3pPr marL="1143000" indent="-228600">
              <a:defRPr>
                <a:solidFill>
                  <a:schemeClr val="bg1"/>
                </a:solidFill>
                <a:latin typeface="Garamond" pitchFamily="18" charset="0"/>
                <a:ea typeface="宋体" pitchFamily="2" charset="-122"/>
              </a:defRPr>
            </a:lvl3pPr>
            <a:lvl4pPr marL="1600200" indent="-228600">
              <a:defRPr>
                <a:solidFill>
                  <a:schemeClr val="bg1"/>
                </a:solidFill>
                <a:latin typeface="Garamond" pitchFamily="18" charset="0"/>
                <a:ea typeface="宋体" pitchFamily="2" charset="-122"/>
              </a:defRPr>
            </a:lvl4pPr>
            <a:lvl5pPr marL="2057400" indent="-228600">
              <a:defRPr>
                <a:solidFill>
                  <a:schemeClr val="bg1"/>
                </a:solidFill>
                <a:latin typeface="Garamond" pitchFamily="18" charset="0"/>
                <a:ea typeface="宋体" pitchFamily="2" charset="-122"/>
              </a:defRPr>
            </a:lvl5pPr>
            <a:lvl6pPr marL="2514600" indent="-228600" algn="ctr" eaLnBrk="0" fontAlgn="base" hangingPunct="0">
              <a:spcBef>
                <a:spcPct val="20000"/>
              </a:spcBef>
              <a:spcAft>
                <a:spcPct val="0"/>
              </a:spcAft>
              <a:defRPr>
                <a:solidFill>
                  <a:schemeClr val="bg1"/>
                </a:solidFill>
                <a:latin typeface="Garamond" pitchFamily="18" charset="0"/>
                <a:ea typeface="宋体" pitchFamily="2" charset="-122"/>
              </a:defRPr>
            </a:lvl6pPr>
            <a:lvl7pPr marL="2971800" indent="-228600" algn="ctr" eaLnBrk="0" fontAlgn="base" hangingPunct="0">
              <a:spcBef>
                <a:spcPct val="20000"/>
              </a:spcBef>
              <a:spcAft>
                <a:spcPct val="0"/>
              </a:spcAft>
              <a:defRPr>
                <a:solidFill>
                  <a:schemeClr val="bg1"/>
                </a:solidFill>
                <a:latin typeface="Garamond" pitchFamily="18" charset="0"/>
                <a:ea typeface="宋体" pitchFamily="2" charset="-122"/>
              </a:defRPr>
            </a:lvl7pPr>
            <a:lvl8pPr marL="3429000" indent="-228600" algn="ctr" eaLnBrk="0" fontAlgn="base" hangingPunct="0">
              <a:spcBef>
                <a:spcPct val="20000"/>
              </a:spcBef>
              <a:spcAft>
                <a:spcPct val="0"/>
              </a:spcAft>
              <a:defRPr>
                <a:solidFill>
                  <a:schemeClr val="bg1"/>
                </a:solidFill>
                <a:latin typeface="Garamond" pitchFamily="18" charset="0"/>
                <a:ea typeface="宋体" pitchFamily="2" charset="-122"/>
              </a:defRPr>
            </a:lvl8pPr>
            <a:lvl9pPr marL="3886200" indent="-228600" algn="ctr" eaLnBrk="0" fontAlgn="base" hangingPunct="0">
              <a:spcBef>
                <a:spcPct val="20000"/>
              </a:spcBef>
              <a:spcAft>
                <a:spcPct val="0"/>
              </a:spcAft>
              <a:defRPr>
                <a:solidFill>
                  <a:schemeClr val="bg1"/>
                </a:solidFill>
                <a:latin typeface="Garamond" pitchFamily="18" charset="0"/>
                <a:ea typeface="宋体" pitchFamily="2" charset="-122"/>
              </a:defRPr>
            </a:lvl9pPr>
          </a:lstStyle>
          <a:p>
            <a:pPr eaLnBrk="1" hangingPunct="1">
              <a:spcBef>
                <a:spcPct val="35000"/>
              </a:spcBef>
              <a:buClr>
                <a:srgbClr val="993300"/>
              </a:buClr>
              <a:buSzPct val="90000"/>
            </a:pPr>
            <a:r>
              <a:rPr lang="en-US" altLang="zh-CN" sz="2000" dirty="0">
                <a:solidFill>
                  <a:srgbClr val="000099"/>
                </a:solidFill>
                <a:latin typeface="Helvetica" pitchFamily="34" charset="0"/>
              </a:rPr>
              <a:t>When too much traffic is offered, congestion sets in and performance degrades sharply.</a:t>
            </a:r>
          </a:p>
        </p:txBody>
      </p:sp>
    </p:spTree>
    <p:extLst>
      <p:ext uri="{BB962C8B-B14F-4D97-AF65-F5344CB8AC3E}">
        <p14:creationId xmlns:p14="http://schemas.microsoft.com/office/powerpoint/2010/main" val="8937897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1444" name="Rectangle 3"/>
          <p:cNvSpPr>
            <a:spLocks noGrp="1" noChangeArrowheads="1"/>
          </p:cNvSpPr>
          <p:nvPr>
            <p:ph idx="1"/>
          </p:nvPr>
        </p:nvSpPr>
        <p:spPr>
          <a:xfrm>
            <a:off x="1527176" y="1199840"/>
            <a:ext cx="8737599" cy="1968810"/>
          </a:xfrm>
        </p:spPr>
        <p:txBody>
          <a:bodyPr>
            <a:normAutofit/>
          </a:bodyPr>
          <a:lstStyle/>
          <a:p>
            <a:pPr>
              <a:lnSpc>
                <a:spcPct val="100000"/>
              </a:lnSpc>
            </a:pPr>
            <a:r>
              <a:rPr lang="en-US" altLang="zh-CN" dirty="0">
                <a:ea typeface="宋体" panose="02010600030101010101" pitchFamily="2" charset="-122"/>
              </a:rPr>
              <a:t>Network must do its best with the offered load</a:t>
            </a:r>
          </a:p>
          <a:p>
            <a:pPr lvl="1">
              <a:lnSpc>
                <a:spcPct val="100000"/>
              </a:lnSpc>
            </a:pPr>
            <a:r>
              <a:rPr lang="en-US" altLang="zh-CN" dirty="0">
                <a:ea typeface="宋体" panose="02010600030101010101" pitchFamily="2" charset="-122"/>
              </a:rPr>
              <a:t>Different approaches at different timescales</a:t>
            </a:r>
          </a:p>
          <a:p>
            <a:pPr lvl="1">
              <a:lnSpc>
                <a:spcPct val="100000"/>
              </a:lnSpc>
            </a:pPr>
            <a:r>
              <a:rPr lang="en-US" altLang="zh-CN" dirty="0">
                <a:ea typeface="宋体" panose="02010600030101010101" pitchFamily="2" charset="-122"/>
              </a:rPr>
              <a:t>Nodes should also reduce offered load (Transport)</a:t>
            </a:r>
          </a:p>
        </p:txBody>
      </p:sp>
      <p:pic>
        <p:nvPicPr>
          <p:cNvPr id="6144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3167" y="3168650"/>
            <a:ext cx="9365615" cy="206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2F4FE97-2A09-4BD3-B1B7-761A6670D46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Congestion Control (3) – Approaches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707849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3492" name="Rectangle 3"/>
          <p:cNvSpPr>
            <a:spLocks noGrp="1" noChangeArrowheads="1"/>
          </p:cNvSpPr>
          <p:nvPr>
            <p:ph idx="1"/>
          </p:nvPr>
        </p:nvSpPr>
        <p:spPr>
          <a:xfrm>
            <a:off x="1595121" y="1019176"/>
            <a:ext cx="8633144" cy="1403351"/>
          </a:xfrm>
        </p:spPr>
        <p:txBody>
          <a:bodyPr/>
          <a:lstStyle/>
          <a:p>
            <a:pPr>
              <a:lnSpc>
                <a:spcPct val="100000"/>
              </a:lnSpc>
            </a:pPr>
            <a:r>
              <a:rPr lang="en-US" altLang="zh-CN" dirty="0">
                <a:ea typeface="宋体" panose="02010600030101010101" pitchFamily="2" charset="-122"/>
              </a:rPr>
              <a:t>Choose routes depending on traffic, not just topology</a:t>
            </a:r>
          </a:p>
          <a:p>
            <a:pPr lvl="1">
              <a:lnSpc>
                <a:spcPct val="100000"/>
              </a:lnSpc>
            </a:pPr>
            <a:r>
              <a:rPr lang="en-US" altLang="zh-CN" dirty="0">
                <a:ea typeface="宋体" panose="02010600030101010101" pitchFamily="2" charset="-122"/>
              </a:rPr>
              <a:t>E.g., use </a:t>
            </a:r>
            <a:r>
              <a:rPr lang="en-US" altLang="zh-CN" i="1" dirty="0">
                <a:ea typeface="宋体" panose="02010600030101010101" pitchFamily="2" charset="-122"/>
              </a:rPr>
              <a:t>EI</a:t>
            </a:r>
            <a:r>
              <a:rPr lang="en-US" altLang="zh-CN" dirty="0">
                <a:ea typeface="宋体" panose="02010600030101010101" pitchFamily="2" charset="-122"/>
              </a:rPr>
              <a:t> for West-to-East traffic if </a:t>
            </a:r>
            <a:r>
              <a:rPr lang="en-US" altLang="zh-CN" i="1" dirty="0">
                <a:ea typeface="宋体" panose="02010600030101010101" pitchFamily="2" charset="-122"/>
              </a:rPr>
              <a:t>CF</a:t>
            </a:r>
            <a:r>
              <a:rPr lang="en-US" altLang="zh-CN" dirty="0">
                <a:ea typeface="宋体" panose="02010600030101010101" pitchFamily="2" charset="-122"/>
              </a:rPr>
              <a:t> is loaded</a:t>
            </a:r>
          </a:p>
          <a:p>
            <a:pPr lvl="1">
              <a:lnSpc>
                <a:spcPct val="100000"/>
              </a:lnSpc>
            </a:pPr>
            <a:r>
              <a:rPr lang="en-US" altLang="zh-CN" dirty="0">
                <a:ea typeface="宋体" panose="02010600030101010101" pitchFamily="2" charset="-122"/>
              </a:rPr>
              <a:t>But take care to avoid oscillations</a:t>
            </a:r>
            <a:r>
              <a:rPr lang="zh-CN" altLang="en-US" dirty="0">
                <a:ea typeface="宋体" panose="02010600030101010101" pitchFamily="2" charset="-122"/>
              </a:rPr>
              <a:t>（摇摆</a:t>
            </a:r>
            <a:r>
              <a:rPr lang="en-US" altLang="zh-CN" dirty="0">
                <a:ea typeface="宋体" panose="02010600030101010101" pitchFamily="2" charset="-122"/>
              </a:rPr>
              <a:t>/</a:t>
            </a:r>
            <a:r>
              <a:rPr lang="zh-CN" altLang="en-US" dirty="0">
                <a:ea typeface="宋体" panose="02010600030101010101" pitchFamily="2" charset="-122"/>
              </a:rPr>
              <a:t>振荡）</a:t>
            </a:r>
            <a:r>
              <a:rPr lang="en-US" altLang="zh-CN" dirty="0">
                <a:ea typeface="宋体" panose="02010600030101010101" pitchFamily="2" charset="-122"/>
              </a:rPr>
              <a:t> </a:t>
            </a:r>
          </a:p>
        </p:txBody>
      </p:sp>
      <p:grpSp>
        <p:nvGrpSpPr>
          <p:cNvPr id="63493" name="Group 12"/>
          <p:cNvGrpSpPr>
            <a:grpSpLocks/>
          </p:cNvGrpSpPr>
          <p:nvPr/>
        </p:nvGrpSpPr>
        <p:grpSpPr bwMode="auto">
          <a:xfrm>
            <a:off x="2967037" y="2812263"/>
            <a:ext cx="6257925" cy="3324225"/>
            <a:chOff x="1371445" y="3015121"/>
            <a:chExt cx="6696075" cy="3555723"/>
          </a:xfrm>
        </p:grpSpPr>
        <p:pic>
          <p:nvPicPr>
            <p:cNvPr id="63494" name="Picture 2"/>
            <p:cNvPicPr>
              <a:picLocks noChangeAspect="1" noChangeArrowheads="1"/>
            </p:cNvPicPr>
            <p:nvPr/>
          </p:nvPicPr>
          <p:blipFill>
            <a:blip r:embed="rId3">
              <a:extLst>
                <a:ext uri="{28A0092B-C50C-407E-A947-70E740481C1C}">
                  <a14:useLocalDpi xmlns:a14="http://schemas.microsoft.com/office/drawing/2010/main" val="0"/>
                </a:ext>
              </a:extLst>
            </a:blip>
            <a:srcRect t="2589" b="4083"/>
            <a:stretch>
              <a:fillRect/>
            </a:stretch>
          </p:blipFill>
          <p:spPr bwMode="auto">
            <a:xfrm>
              <a:off x="1371445" y="3015121"/>
              <a:ext cx="6696075" cy="3555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Arrow Connector 9"/>
            <p:cNvCxnSpPr/>
            <p:nvPr/>
          </p:nvCxnSpPr>
          <p:spPr bwMode="auto">
            <a:xfrm>
              <a:off x="4011146" y="4424505"/>
              <a:ext cx="1406482" cy="10188"/>
            </a:xfrm>
            <a:prstGeom prst="straightConnector1">
              <a:avLst/>
            </a:prstGeom>
            <a:solidFill>
              <a:schemeClr val="accent1"/>
            </a:solidFill>
            <a:ln w="76200" cap="flat" cmpd="sng" algn="ctr">
              <a:solidFill>
                <a:schemeClr val="accent3">
                  <a:lumMod val="60000"/>
                  <a:lumOff val="40000"/>
                </a:schemeClr>
              </a:solidFill>
              <a:prstDash val="solid"/>
              <a:round/>
              <a:headEnd type="none" w="med" len="med"/>
              <a:tailEnd type="arrow"/>
            </a:ln>
            <a:effectLst/>
          </p:spPr>
        </p:cxnSp>
        <p:cxnSp>
          <p:nvCxnSpPr>
            <p:cNvPr id="11" name="Straight Arrow Connector 10"/>
            <p:cNvCxnSpPr/>
            <p:nvPr/>
          </p:nvCxnSpPr>
          <p:spPr bwMode="auto">
            <a:xfrm>
              <a:off x="4026433" y="5511259"/>
              <a:ext cx="1341933" cy="122260"/>
            </a:xfrm>
            <a:prstGeom prst="straightConnector1">
              <a:avLst/>
            </a:prstGeom>
            <a:solidFill>
              <a:schemeClr val="accent1"/>
            </a:solidFill>
            <a:ln w="19050" cap="flat" cmpd="sng" algn="ctr">
              <a:solidFill>
                <a:schemeClr val="accent3">
                  <a:lumMod val="60000"/>
                  <a:lumOff val="40000"/>
                </a:schemeClr>
              </a:solidFill>
              <a:prstDash val="solid"/>
              <a:round/>
              <a:headEnd type="none" w="med" len="med"/>
              <a:tailEnd type="arrow"/>
            </a:ln>
            <a:effectLst/>
          </p:spPr>
        </p:cxnSp>
      </p:grpSp>
      <p:sp>
        <p:nvSpPr>
          <p:cNvPr id="2" name="矩形 1">
            <a:extLst>
              <a:ext uri="{FF2B5EF4-FFF2-40B4-BE49-F238E27FC236}">
                <a16:creationId xmlns:a16="http://schemas.microsoft.com/office/drawing/2014/main" id="{D49BD1F6-B9CF-48FE-8D43-5E959AC5D54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Traffic-Aware Routing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1416DFAB-3417-45AD-99AF-6A38709A2296}"/>
              </a:ext>
            </a:extLst>
          </p:cNvPr>
          <p:cNvSpPr txBox="1"/>
          <p:nvPr/>
        </p:nvSpPr>
        <p:spPr>
          <a:xfrm>
            <a:off x="9639300" y="3257550"/>
            <a:ext cx="2292350" cy="1569660"/>
          </a:xfrm>
          <a:prstGeom prst="rect">
            <a:avLst/>
          </a:prstGeom>
          <a:noFill/>
        </p:spPr>
        <p:txBody>
          <a:bodyPr wrap="square" rtlCol="0">
            <a:spAutoFit/>
          </a:bodyPr>
          <a:lstStyle/>
          <a:p>
            <a:r>
              <a:rPr lang="zh-CN" altLang="en-US" sz="3200" b="1" dirty="0">
                <a:solidFill>
                  <a:srgbClr val="FF0000"/>
                </a:solidFill>
              </a:rPr>
              <a:t>思考：如何解决路由震荡问题？</a:t>
            </a:r>
          </a:p>
        </p:txBody>
      </p:sp>
    </p:spTree>
    <p:extLst>
      <p:ext uri="{BB962C8B-B14F-4D97-AF65-F5344CB8AC3E}">
        <p14:creationId xmlns:p14="http://schemas.microsoft.com/office/powerpoint/2010/main" val="633092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idx="1"/>
          </p:nvPr>
        </p:nvSpPr>
        <p:spPr>
          <a:xfrm>
            <a:off x="844550" y="1008863"/>
            <a:ext cx="10619611" cy="1537487"/>
          </a:xfrm>
        </p:spPr>
        <p:txBody>
          <a:bodyPr>
            <a:normAutofit/>
          </a:bodyPr>
          <a:lstStyle/>
          <a:p>
            <a:pPr>
              <a:lnSpc>
                <a:spcPct val="100000"/>
              </a:lnSpc>
            </a:pPr>
            <a:r>
              <a:rPr lang="en-US" altLang="zh-CN" dirty="0">
                <a:ea typeface="宋体" panose="02010600030101010101" pitchFamily="2" charset="-122"/>
              </a:rPr>
              <a:t>Admission control allows a new traffic load only if the network has sufficient capacity, e.g., with virtual circuits</a:t>
            </a:r>
          </a:p>
          <a:p>
            <a:pPr lvl="1">
              <a:lnSpc>
                <a:spcPct val="100000"/>
              </a:lnSpc>
            </a:pPr>
            <a:r>
              <a:rPr lang="en-US" altLang="zh-CN" dirty="0">
                <a:ea typeface="宋体" panose="02010600030101010101" pitchFamily="2" charset="-122"/>
              </a:rPr>
              <a:t>Can combine with looking for an uncongested route</a:t>
            </a:r>
          </a:p>
        </p:txBody>
      </p:sp>
      <p:sp>
        <p:nvSpPr>
          <p:cNvPr id="6554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65541" name="Picture 2"/>
          <p:cNvPicPr>
            <a:picLocks noChangeAspect="1" noChangeArrowheads="1"/>
          </p:cNvPicPr>
          <p:nvPr/>
        </p:nvPicPr>
        <p:blipFill>
          <a:blip r:embed="rId3">
            <a:extLst>
              <a:ext uri="{28A0092B-C50C-407E-A947-70E740481C1C}">
                <a14:useLocalDpi xmlns:a14="http://schemas.microsoft.com/office/drawing/2010/main" val="0"/>
              </a:ext>
            </a:extLst>
          </a:blip>
          <a:srcRect t="8781" b="13870"/>
          <a:stretch>
            <a:fillRect/>
          </a:stretch>
        </p:blipFill>
        <p:spPr bwMode="auto">
          <a:xfrm>
            <a:off x="2057400" y="2909888"/>
            <a:ext cx="8077200"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TextBox 8"/>
          <p:cNvSpPr txBox="1">
            <a:spLocks noChangeArrowheads="1"/>
          </p:cNvSpPr>
          <p:nvPr/>
        </p:nvSpPr>
        <p:spPr bwMode="auto">
          <a:xfrm>
            <a:off x="2724151" y="5592764"/>
            <a:ext cx="2949575" cy="554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Network with some congested nodes</a:t>
            </a:r>
          </a:p>
        </p:txBody>
      </p:sp>
      <p:sp>
        <p:nvSpPr>
          <p:cNvPr id="65543" name="TextBox 9"/>
          <p:cNvSpPr txBox="1">
            <a:spLocks noChangeArrowheads="1"/>
          </p:cNvSpPr>
          <p:nvPr/>
        </p:nvSpPr>
        <p:spPr bwMode="auto">
          <a:xfrm>
            <a:off x="6583364" y="5588000"/>
            <a:ext cx="3121025" cy="5540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Uncongested portion and route </a:t>
            </a:r>
            <a:r>
              <a:rPr lang="en-US" altLang="zh-CN" sz="1800" i="1">
                <a:solidFill>
                  <a:srgbClr val="FF2BD8"/>
                </a:solidFill>
                <a:ea typeface="宋体" panose="02010600030101010101" pitchFamily="2" charset="-122"/>
              </a:rPr>
              <a:t>AB</a:t>
            </a:r>
            <a:r>
              <a:rPr lang="en-US" altLang="zh-CN" sz="1800">
                <a:solidFill>
                  <a:srgbClr val="FF2BD8"/>
                </a:solidFill>
                <a:ea typeface="宋体" panose="02010600030101010101" pitchFamily="2" charset="-122"/>
              </a:rPr>
              <a:t> around congestion</a:t>
            </a:r>
          </a:p>
        </p:txBody>
      </p:sp>
      <p:sp>
        <p:nvSpPr>
          <p:cNvPr id="2" name="矩形 1">
            <a:extLst>
              <a:ext uri="{FF2B5EF4-FFF2-40B4-BE49-F238E27FC236}">
                <a16:creationId xmlns:a16="http://schemas.microsoft.com/office/drawing/2014/main" id="{2F728F83-817E-48DC-8A97-34097949AE7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Admission Control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612579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6564" name="Rectangle 3"/>
          <p:cNvSpPr>
            <a:spLocks noGrp="1" noChangeArrowheads="1"/>
          </p:cNvSpPr>
          <p:nvPr>
            <p:ph idx="1"/>
          </p:nvPr>
        </p:nvSpPr>
        <p:spPr>
          <a:xfrm>
            <a:off x="1239520" y="1050766"/>
            <a:ext cx="10361929" cy="1705134"/>
          </a:xfrm>
        </p:spPr>
        <p:txBody>
          <a:bodyPr>
            <a:normAutofit/>
          </a:bodyPr>
          <a:lstStyle/>
          <a:p>
            <a:pPr>
              <a:lnSpc>
                <a:spcPct val="110000"/>
              </a:lnSpc>
            </a:pPr>
            <a:r>
              <a:rPr lang="en-US" altLang="zh-CN" dirty="0">
                <a:ea typeface="宋体" panose="02010600030101010101" pitchFamily="2" charset="-122"/>
              </a:rPr>
              <a:t>Congested routers signal hosts to slow down traffic</a:t>
            </a:r>
          </a:p>
          <a:p>
            <a:pPr lvl="1">
              <a:lnSpc>
                <a:spcPct val="110000"/>
              </a:lnSpc>
            </a:pPr>
            <a:r>
              <a:rPr lang="en-US" altLang="zh-CN" dirty="0">
                <a:ea typeface="宋体" panose="02010600030101010101" pitchFamily="2" charset="-122"/>
              </a:rPr>
              <a:t>ECN (Explicit Congestion Notification) marks packets and receiver returns signal to sender</a:t>
            </a:r>
          </a:p>
        </p:txBody>
      </p:sp>
      <p:pic>
        <p:nvPicPr>
          <p:cNvPr id="6656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572" y="3139440"/>
            <a:ext cx="8339138"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D0D9C86-E29A-4D64-AD35-A03B8D0814B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Traffic Throttling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25511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矩形 227">
            <a:extLst>
              <a:ext uri="{FF2B5EF4-FFF2-40B4-BE49-F238E27FC236}">
                <a16:creationId xmlns:a16="http://schemas.microsoft.com/office/drawing/2014/main" id="{C29C2842-BFB8-4C74-9982-B6C262043A8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Review: The TCP/ECN Control Loop</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29" name="Picture 2">
            <a:extLst>
              <a:ext uri="{FF2B5EF4-FFF2-40B4-BE49-F238E27FC236}">
                <a16:creationId xmlns:a16="http://schemas.microsoft.com/office/drawing/2014/main" id="{F03F9313-14FB-44D1-90AB-E1247AAEC7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82">
            <a:extLst>
              <a:ext uri="{FF2B5EF4-FFF2-40B4-BE49-F238E27FC236}">
                <a16:creationId xmlns:a16="http://schemas.microsoft.com/office/drawing/2014/main" id="{C739AA1A-5073-497A-949B-46A771E574E9}"/>
              </a:ext>
            </a:extLst>
          </p:cNvPr>
          <p:cNvGrpSpPr>
            <a:grpSpLocks/>
          </p:cNvGrpSpPr>
          <p:nvPr/>
        </p:nvGrpSpPr>
        <p:grpSpPr bwMode="auto">
          <a:xfrm>
            <a:off x="8367925" y="4375150"/>
            <a:ext cx="274637" cy="274638"/>
            <a:chOff x="6934200" y="2667000"/>
            <a:chExt cx="274320" cy="274320"/>
          </a:xfrm>
        </p:grpSpPr>
        <p:sp>
          <p:nvSpPr>
            <p:cNvPr id="8" name="Rectangle 163">
              <a:extLst>
                <a:ext uri="{FF2B5EF4-FFF2-40B4-BE49-F238E27FC236}">
                  <a16:creationId xmlns:a16="http://schemas.microsoft.com/office/drawing/2014/main" id="{4C2A4120-2D2C-405A-91C5-38E63F155703}"/>
                </a:ext>
              </a:extLst>
            </p:cNvPr>
            <p:cNvSpPr>
              <a:spLocks noChangeArrowheads="1"/>
            </p:cNvSpPr>
            <p:nvPr/>
          </p:nvSpPr>
          <p:spPr bwMode="auto">
            <a:xfrm>
              <a:off x="6934200" y="2667000"/>
              <a:ext cx="274320" cy="274320"/>
            </a:xfrm>
            <a:prstGeom prst="rect">
              <a:avLst/>
            </a:prstGeom>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9" name="Oval 86">
              <a:extLst>
                <a:ext uri="{FF2B5EF4-FFF2-40B4-BE49-F238E27FC236}">
                  <a16:creationId xmlns:a16="http://schemas.microsoft.com/office/drawing/2014/main" id="{25B69CE6-5D75-4C6C-9BC7-476FED39CDC8}"/>
                </a:ext>
              </a:extLst>
            </p:cNvPr>
            <p:cNvSpPr/>
            <p:nvPr/>
          </p:nvSpPr>
          <p:spPr>
            <a:xfrm>
              <a:off x="7005555" y="2733598"/>
              <a:ext cx="133196" cy="14429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a:solidFill>
                  <a:srgbClr val="FFFFFF"/>
                </a:solidFill>
              </a:endParaRPr>
            </a:p>
          </p:txBody>
        </p:sp>
      </p:grpSp>
      <p:grpSp>
        <p:nvGrpSpPr>
          <p:cNvPr id="10" name="Group 81">
            <a:extLst>
              <a:ext uri="{FF2B5EF4-FFF2-40B4-BE49-F238E27FC236}">
                <a16:creationId xmlns:a16="http://schemas.microsoft.com/office/drawing/2014/main" id="{2F21A088-29F1-4124-9DB5-458AC9958519}"/>
              </a:ext>
            </a:extLst>
          </p:cNvPr>
          <p:cNvGrpSpPr>
            <a:grpSpLocks/>
          </p:cNvGrpSpPr>
          <p:nvPr/>
        </p:nvGrpSpPr>
        <p:grpSpPr bwMode="auto">
          <a:xfrm>
            <a:off x="8371100" y="3235325"/>
            <a:ext cx="274637" cy="274638"/>
            <a:chOff x="6934200" y="2667000"/>
            <a:chExt cx="274320" cy="274320"/>
          </a:xfrm>
        </p:grpSpPr>
        <p:sp>
          <p:nvSpPr>
            <p:cNvPr id="11" name="Rectangle 163">
              <a:extLst>
                <a:ext uri="{FF2B5EF4-FFF2-40B4-BE49-F238E27FC236}">
                  <a16:creationId xmlns:a16="http://schemas.microsoft.com/office/drawing/2014/main" id="{6E59CB2D-022A-4D5D-832B-8D4931C6C22A}"/>
                </a:ext>
              </a:extLst>
            </p:cNvPr>
            <p:cNvSpPr>
              <a:spLocks noChangeArrowheads="1"/>
            </p:cNvSpPr>
            <p:nvPr/>
          </p:nvSpPr>
          <p:spPr bwMode="auto">
            <a:xfrm>
              <a:off x="6934200" y="2667000"/>
              <a:ext cx="274320" cy="274320"/>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12" name="Oval 80">
              <a:extLst>
                <a:ext uri="{FF2B5EF4-FFF2-40B4-BE49-F238E27FC236}">
                  <a16:creationId xmlns:a16="http://schemas.microsoft.com/office/drawing/2014/main" id="{1586AE73-4377-4092-9B00-BD63D3C5D276}"/>
                </a:ext>
              </a:extLst>
            </p:cNvPr>
            <p:cNvSpPr/>
            <p:nvPr/>
          </p:nvSpPr>
          <p:spPr>
            <a:xfrm>
              <a:off x="7005555" y="2733598"/>
              <a:ext cx="133196" cy="14429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a:solidFill>
                  <a:srgbClr val="FFFFFF"/>
                </a:solidFill>
              </a:endParaRPr>
            </a:p>
          </p:txBody>
        </p:sp>
      </p:grpSp>
      <p:sp>
        <p:nvSpPr>
          <p:cNvPr id="13" name="Rectangle 163">
            <a:extLst>
              <a:ext uri="{FF2B5EF4-FFF2-40B4-BE49-F238E27FC236}">
                <a16:creationId xmlns:a16="http://schemas.microsoft.com/office/drawing/2014/main" id="{78CCD343-160A-49FB-855A-9ECC2E487E7D}"/>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14" name="Rectangle 163">
            <a:extLst>
              <a:ext uri="{FF2B5EF4-FFF2-40B4-BE49-F238E27FC236}">
                <a16:creationId xmlns:a16="http://schemas.microsoft.com/office/drawing/2014/main" id="{C9E485BA-DB93-4791-874C-6ED07624BF2F}"/>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15" name="TextBox 89">
            <a:extLst>
              <a:ext uri="{FF2B5EF4-FFF2-40B4-BE49-F238E27FC236}">
                <a16:creationId xmlns:a16="http://schemas.microsoft.com/office/drawing/2014/main" id="{ACC010A2-E54C-4557-AAEC-EA3B318EC9AD}"/>
              </a:ext>
            </a:extLst>
          </p:cNvPr>
          <p:cNvSpPr txBox="1">
            <a:spLocks noChangeArrowheads="1"/>
          </p:cNvSpPr>
          <p:nvPr/>
        </p:nvSpPr>
        <p:spPr bwMode="auto">
          <a:xfrm>
            <a:off x="8337762" y="3167063"/>
            <a:ext cx="358775"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en-US" altLang="zh-CN">
              <a:latin typeface="Calibri" pitchFamily="34" charset="0"/>
            </a:endParaRPr>
          </a:p>
        </p:txBody>
      </p:sp>
      <p:pic>
        <p:nvPicPr>
          <p:cNvPr id="16" name="Picture 85" descr="server-gray.png">
            <a:extLst>
              <a:ext uri="{FF2B5EF4-FFF2-40B4-BE49-F238E27FC236}">
                <a16:creationId xmlns:a16="http://schemas.microsoft.com/office/drawing/2014/main" id="{0BDCBA5D-24B0-46BC-9A3D-B95F9AF3E9D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1425" y="5457825"/>
            <a:ext cx="91440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88" descr="server-gray.png">
            <a:extLst>
              <a:ext uri="{FF2B5EF4-FFF2-40B4-BE49-F238E27FC236}">
                <a16:creationId xmlns:a16="http://schemas.microsoft.com/office/drawing/2014/main" id="{45D498CF-2D5B-4A81-8CF2-80038D07898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1425" y="1665288"/>
            <a:ext cx="915987"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Straight Connector 11">
            <a:extLst>
              <a:ext uri="{FF2B5EF4-FFF2-40B4-BE49-F238E27FC236}">
                <a16:creationId xmlns:a16="http://schemas.microsoft.com/office/drawing/2014/main" id="{54273024-A086-482E-A597-F111BB7DA060}"/>
              </a:ext>
            </a:extLst>
          </p:cNvPr>
          <p:cNvCxnSpPr/>
          <p:nvPr/>
        </p:nvCxnSpPr>
        <p:spPr>
          <a:xfrm flipV="1">
            <a:off x="7102687" y="4024313"/>
            <a:ext cx="1609725"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26">
            <a:extLst>
              <a:ext uri="{FF2B5EF4-FFF2-40B4-BE49-F238E27FC236}">
                <a16:creationId xmlns:a16="http://schemas.microsoft.com/office/drawing/2014/main" id="{8F925042-C9EF-49A2-9065-49E270FE764B}"/>
              </a:ext>
            </a:extLst>
          </p:cNvPr>
          <p:cNvCxnSpPr>
            <a:cxnSpLocks/>
          </p:cNvCxnSpPr>
          <p:nvPr/>
        </p:nvCxnSpPr>
        <p:spPr>
          <a:xfrm>
            <a:off x="2940262" y="2151063"/>
            <a:ext cx="2722351" cy="1839912"/>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38">
            <a:extLst>
              <a:ext uri="{FF2B5EF4-FFF2-40B4-BE49-F238E27FC236}">
                <a16:creationId xmlns:a16="http://schemas.microsoft.com/office/drawing/2014/main" id="{C43690EB-7350-4A5B-AED5-15C78C7A0451}"/>
              </a:ext>
            </a:extLst>
          </p:cNvPr>
          <p:cNvCxnSpPr>
            <a:cxnSpLocks/>
          </p:cNvCxnSpPr>
          <p:nvPr/>
        </p:nvCxnSpPr>
        <p:spPr>
          <a:xfrm flipV="1">
            <a:off x="2938675" y="4024313"/>
            <a:ext cx="2696950" cy="1920875"/>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Freeform 152">
            <a:extLst>
              <a:ext uri="{FF2B5EF4-FFF2-40B4-BE49-F238E27FC236}">
                <a16:creationId xmlns:a16="http://schemas.microsoft.com/office/drawing/2014/main" id="{0C928CC6-5586-4F84-9BED-5ED8F3AC468A}"/>
              </a:ext>
            </a:extLst>
          </p:cNvPr>
          <p:cNvSpPr>
            <a:spLocks/>
          </p:cNvSpPr>
          <p:nvPr/>
        </p:nvSpPr>
        <p:spPr bwMode="auto">
          <a:xfrm>
            <a:off x="5689600" y="3721894"/>
            <a:ext cx="1428962" cy="609600"/>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adFill>
            <a:gsLst>
              <a:gs pos="0">
                <a:schemeClr val="bg1"/>
              </a:gs>
              <a:gs pos="100000">
                <a:schemeClr val="hlink"/>
              </a:gs>
            </a:gsLst>
            <a:lin ang="0" scaled="1"/>
          </a:gradFill>
          <a:ln w="28575">
            <a:solidFill>
              <a:schemeClr val="tx1"/>
            </a:solidFill>
            <a:round/>
            <a:headEnd/>
            <a:tailEnd/>
          </a:ln>
        </p:spPr>
        <p:txBody>
          <a:bodyPr/>
          <a:lstStyle/>
          <a:p>
            <a:pPr fontAlgn="auto">
              <a:spcBef>
                <a:spcPts val="0"/>
              </a:spcBef>
              <a:spcAft>
                <a:spcPts val="0"/>
              </a:spcAft>
              <a:defRPr/>
            </a:pPr>
            <a:endParaRPr lang="en-US">
              <a:solidFill>
                <a:srgbClr val="333399"/>
              </a:solidFill>
              <a:latin typeface="+mn-lt"/>
              <a:ea typeface="+mn-ea"/>
            </a:endParaRPr>
          </a:p>
        </p:txBody>
      </p:sp>
      <p:sp>
        <p:nvSpPr>
          <p:cNvPr id="24" name="Line 153">
            <a:extLst>
              <a:ext uri="{FF2B5EF4-FFF2-40B4-BE49-F238E27FC236}">
                <a16:creationId xmlns:a16="http://schemas.microsoft.com/office/drawing/2014/main" id="{137274D5-2E7B-4912-BED4-4E92C232FA89}"/>
              </a:ext>
            </a:extLst>
          </p:cNvPr>
          <p:cNvSpPr>
            <a:spLocks noChangeShapeType="1"/>
          </p:cNvSpPr>
          <p:nvPr/>
        </p:nvSpPr>
        <p:spPr bwMode="auto">
          <a:xfrm>
            <a:off x="6258952" y="3765286"/>
            <a:ext cx="0" cy="488950"/>
          </a:xfrm>
          <a:prstGeom prst="line">
            <a:avLst/>
          </a:prstGeom>
          <a:gradFill>
            <a:gsLst>
              <a:gs pos="0">
                <a:schemeClr val="bg1"/>
              </a:gs>
              <a:gs pos="100000">
                <a:schemeClr val="hlink"/>
              </a:gs>
            </a:gsLst>
            <a:lin ang="0" scaled="1"/>
          </a:gradFill>
          <a:ln w="28575">
            <a:solidFill>
              <a:srgbClr val="FF0000"/>
            </a:solidFill>
            <a:prstDash val="dash"/>
            <a:round/>
            <a:headEnd/>
            <a:tailEnd/>
          </a:ln>
        </p:spPr>
        <p:txBody>
          <a:bodyPr/>
          <a:lstStyle/>
          <a:p>
            <a:pPr fontAlgn="auto">
              <a:spcBef>
                <a:spcPts val="0"/>
              </a:spcBef>
              <a:spcAft>
                <a:spcPts val="0"/>
              </a:spcAft>
              <a:defRPr/>
            </a:pPr>
            <a:endParaRPr lang="en-US">
              <a:latin typeface="+mn-lt"/>
              <a:ea typeface="+mn-ea"/>
            </a:endParaRPr>
          </a:p>
        </p:txBody>
      </p:sp>
      <p:sp>
        <p:nvSpPr>
          <p:cNvPr id="25" name="Rectangle 163">
            <a:extLst>
              <a:ext uri="{FF2B5EF4-FFF2-40B4-BE49-F238E27FC236}">
                <a16:creationId xmlns:a16="http://schemas.microsoft.com/office/drawing/2014/main" id="{F167C18B-2255-42D2-B81A-2A59F978A5D8}"/>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26" name="TextBox 40">
            <a:extLst>
              <a:ext uri="{FF2B5EF4-FFF2-40B4-BE49-F238E27FC236}">
                <a16:creationId xmlns:a16="http://schemas.microsoft.com/office/drawing/2014/main" id="{0B21AFD2-74AA-410E-B6D1-C264626BBB1F}"/>
              </a:ext>
            </a:extLst>
          </p:cNvPr>
          <p:cNvSpPr txBox="1">
            <a:spLocks noChangeArrowheads="1"/>
          </p:cNvSpPr>
          <p:nvPr/>
        </p:nvSpPr>
        <p:spPr bwMode="auto">
          <a:xfrm>
            <a:off x="1852825" y="1208088"/>
            <a:ext cx="1295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latin typeface="Calibri" pitchFamily="34" charset="0"/>
              </a:rPr>
              <a:t>Sender 1</a:t>
            </a:r>
          </a:p>
        </p:txBody>
      </p:sp>
      <p:sp>
        <p:nvSpPr>
          <p:cNvPr id="27" name="TextBox 44">
            <a:extLst>
              <a:ext uri="{FF2B5EF4-FFF2-40B4-BE49-F238E27FC236}">
                <a16:creationId xmlns:a16="http://schemas.microsoft.com/office/drawing/2014/main" id="{B2050EF6-0B6F-496E-8722-8D3BF1BD8B65}"/>
              </a:ext>
            </a:extLst>
          </p:cNvPr>
          <p:cNvSpPr txBox="1">
            <a:spLocks noChangeArrowheads="1"/>
          </p:cNvSpPr>
          <p:nvPr/>
        </p:nvSpPr>
        <p:spPr bwMode="auto">
          <a:xfrm>
            <a:off x="1852825" y="5018088"/>
            <a:ext cx="1066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latin typeface="Calibri" pitchFamily="34" charset="0"/>
              </a:rPr>
              <a:t>Sender 2</a:t>
            </a:r>
          </a:p>
        </p:txBody>
      </p:sp>
      <p:sp>
        <p:nvSpPr>
          <p:cNvPr id="28" name="TextBox 45">
            <a:extLst>
              <a:ext uri="{FF2B5EF4-FFF2-40B4-BE49-F238E27FC236}">
                <a16:creationId xmlns:a16="http://schemas.microsoft.com/office/drawing/2014/main" id="{4561BDD4-D777-45D1-B6F9-2293829C0DB6}"/>
              </a:ext>
            </a:extLst>
          </p:cNvPr>
          <p:cNvSpPr txBox="1">
            <a:spLocks noChangeArrowheads="1"/>
          </p:cNvSpPr>
          <p:nvPr/>
        </p:nvSpPr>
        <p:spPr bwMode="auto">
          <a:xfrm>
            <a:off x="8640975" y="2971800"/>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latin typeface="Calibri" pitchFamily="34" charset="0"/>
              </a:rPr>
              <a:t>Receiver</a:t>
            </a:r>
          </a:p>
        </p:txBody>
      </p:sp>
      <p:sp>
        <p:nvSpPr>
          <p:cNvPr id="29" name="Rectangle 163">
            <a:extLst>
              <a:ext uri="{FF2B5EF4-FFF2-40B4-BE49-F238E27FC236}">
                <a16:creationId xmlns:a16="http://schemas.microsoft.com/office/drawing/2014/main" id="{C511E51C-14F1-477E-B0C9-651843716D6E}"/>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0" name="Rectangle 163">
            <a:extLst>
              <a:ext uri="{FF2B5EF4-FFF2-40B4-BE49-F238E27FC236}">
                <a16:creationId xmlns:a16="http://schemas.microsoft.com/office/drawing/2014/main" id="{37829E2F-9113-463E-8FB0-3A311FBE2E0C}"/>
              </a:ext>
            </a:extLst>
          </p:cNvPr>
          <p:cNvSpPr>
            <a:spLocks noChangeArrowheads="1"/>
          </p:cNvSpPr>
          <p:nvPr/>
        </p:nvSpPr>
        <p:spPr bwMode="auto">
          <a:xfrm>
            <a:off x="2729125" y="5705475"/>
            <a:ext cx="192087" cy="593725"/>
          </a:xfrm>
          <a:prstGeom prst="rect">
            <a:avLst/>
          </a:prstGeom>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2" name="Rectangle 163">
            <a:extLst>
              <a:ext uri="{FF2B5EF4-FFF2-40B4-BE49-F238E27FC236}">
                <a16:creationId xmlns:a16="http://schemas.microsoft.com/office/drawing/2014/main" id="{1EAD368B-0DDF-4244-9F3A-9500E9DF6365}"/>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3" name="Rectangle 163">
            <a:extLst>
              <a:ext uri="{FF2B5EF4-FFF2-40B4-BE49-F238E27FC236}">
                <a16:creationId xmlns:a16="http://schemas.microsoft.com/office/drawing/2014/main" id="{E639CEF3-1058-42DD-B462-913135A4A9ED}"/>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4" name="Rectangle 163">
            <a:extLst>
              <a:ext uri="{FF2B5EF4-FFF2-40B4-BE49-F238E27FC236}">
                <a16:creationId xmlns:a16="http://schemas.microsoft.com/office/drawing/2014/main" id="{9E451719-5392-4FFB-97AF-5BFA4E002D55}"/>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5" name="Rectangle 163">
            <a:extLst>
              <a:ext uri="{FF2B5EF4-FFF2-40B4-BE49-F238E27FC236}">
                <a16:creationId xmlns:a16="http://schemas.microsoft.com/office/drawing/2014/main" id="{FFE17069-EB7D-4A0B-BB90-82C1279EB71F}"/>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6" name="Rectangle 163">
            <a:extLst>
              <a:ext uri="{FF2B5EF4-FFF2-40B4-BE49-F238E27FC236}">
                <a16:creationId xmlns:a16="http://schemas.microsoft.com/office/drawing/2014/main" id="{CB60B525-BE22-43B4-A993-BB21931D1987}"/>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7" name="Rectangle 163">
            <a:extLst>
              <a:ext uri="{FF2B5EF4-FFF2-40B4-BE49-F238E27FC236}">
                <a16:creationId xmlns:a16="http://schemas.microsoft.com/office/drawing/2014/main" id="{00A53774-69AF-4DC8-9B39-D33237D321B1}"/>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8" name="Rectangle 163">
            <a:extLst>
              <a:ext uri="{FF2B5EF4-FFF2-40B4-BE49-F238E27FC236}">
                <a16:creationId xmlns:a16="http://schemas.microsoft.com/office/drawing/2014/main" id="{C11B86E6-A1EE-461D-AC5E-0A7F5D0E5C38}"/>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39" name="Rectangle 163">
            <a:extLst>
              <a:ext uri="{FF2B5EF4-FFF2-40B4-BE49-F238E27FC236}">
                <a16:creationId xmlns:a16="http://schemas.microsoft.com/office/drawing/2014/main" id="{48A5A0A5-72A1-499F-BB3B-3B5EC31FE699}"/>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0" name="Rectangle 163">
            <a:extLst>
              <a:ext uri="{FF2B5EF4-FFF2-40B4-BE49-F238E27FC236}">
                <a16:creationId xmlns:a16="http://schemas.microsoft.com/office/drawing/2014/main" id="{3FBD89A2-E7D2-4EB2-8E4C-CD562546705A}"/>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1" name="Rectangle 163">
            <a:extLst>
              <a:ext uri="{FF2B5EF4-FFF2-40B4-BE49-F238E27FC236}">
                <a16:creationId xmlns:a16="http://schemas.microsoft.com/office/drawing/2014/main" id="{8FB16EA1-EDC0-497A-A02E-2A824D39C546}"/>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2" name="Rectangle 163">
            <a:extLst>
              <a:ext uri="{FF2B5EF4-FFF2-40B4-BE49-F238E27FC236}">
                <a16:creationId xmlns:a16="http://schemas.microsoft.com/office/drawing/2014/main" id="{D8AA86DC-992B-40E7-A7C3-9A9558B19489}"/>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3" name="Rectangle 163">
            <a:extLst>
              <a:ext uri="{FF2B5EF4-FFF2-40B4-BE49-F238E27FC236}">
                <a16:creationId xmlns:a16="http://schemas.microsoft.com/office/drawing/2014/main" id="{05268C85-AFAA-4A47-A305-B6252D933A0A}"/>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4" name="Rectangle 163">
            <a:extLst>
              <a:ext uri="{FF2B5EF4-FFF2-40B4-BE49-F238E27FC236}">
                <a16:creationId xmlns:a16="http://schemas.microsoft.com/office/drawing/2014/main" id="{6BF2E864-D11F-47D2-BE54-03F77B93CCBC}"/>
              </a:ext>
            </a:extLst>
          </p:cNvPr>
          <p:cNvSpPr>
            <a:spLocks noChangeArrowheads="1"/>
          </p:cNvSpPr>
          <p:nvPr/>
        </p:nvSpPr>
        <p:spPr bwMode="auto">
          <a:xfrm>
            <a:off x="2725950"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5" name="Rectangle 163">
            <a:extLst>
              <a:ext uri="{FF2B5EF4-FFF2-40B4-BE49-F238E27FC236}">
                <a16:creationId xmlns:a16="http://schemas.microsoft.com/office/drawing/2014/main" id="{87FB68A4-A10B-484E-9F97-65566E3F4B29}"/>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6" name="Rectangle 163">
            <a:extLst>
              <a:ext uri="{FF2B5EF4-FFF2-40B4-BE49-F238E27FC236}">
                <a16:creationId xmlns:a16="http://schemas.microsoft.com/office/drawing/2014/main" id="{9FC50FEE-6D51-42E7-8B54-ECAD768B29CE}"/>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7" name="Rectangle 163">
            <a:extLst>
              <a:ext uri="{FF2B5EF4-FFF2-40B4-BE49-F238E27FC236}">
                <a16:creationId xmlns:a16="http://schemas.microsoft.com/office/drawing/2014/main" id="{7976D260-AFA1-49E1-86B6-600AF8516518}"/>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8" name="Rectangle 163">
            <a:extLst>
              <a:ext uri="{FF2B5EF4-FFF2-40B4-BE49-F238E27FC236}">
                <a16:creationId xmlns:a16="http://schemas.microsoft.com/office/drawing/2014/main" id="{9D87D45B-095F-4E98-A72B-915DF0086210}"/>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49" name="Rectangle 163">
            <a:extLst>
              <a:ext uri="{FF2B5EF4-FFF2-40B4-BE49-F238E27FC236}">
                <a16:creationId xmlns:a16="http://schemas.microsoft.com/office/drawing/2014/main" id="{0B8CD1A4-41C1-4164-AA99-D0DE493FF6B8}"/>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0" name="Rectangle 163">
            <a:extLst>
              <a:ext uri="{FF2B5EF4-FFF2-40B4-BE49-F238E27FC236}">
                <a16:creationId xmlns:a16="http://schemas.microsoft.com/office/drawing/2014/main" id="{F9FD181F-0E91-443B-AE53-F234207827F4}"/>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1" name="Rectangle 163">
            <a:extLst>
              <a:ext uri="{FF2B5EF4-FFF2-40B4-BE49-F238E27FC236}">
                <a16:creationId xmlns:a16="http://schemas.microsoft.com/office/drawing/2014/main" id="{32A02B05-A479-405E-8169-B535D1324B04}"/>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2" name="Rectangle 163">
            <a:extLst>
              <a:ext uri="{FF2B5EF4-FFF2-40B4-BE49-F238E27FC236}">
                <a16:creationId xmlns:a16="http://schemas.microsoft.com/office/drawing/2014/main" id="{6739AA55-4C58-49F6-9EFC-041F91E9DE18}"/>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3" name="Rectangle 163">
            <a:extLst>
              <a:ext uri="{FF2B5EF4-FFF2-40B4-BE49-F238E27FC236}">
                <a16:creationId xmlns:a16="http://schemas.microsoft.com/office/drawing/2014/main" id="{DD6E42AF-B91C-433F-80BC-CE9034DA81D4}"/>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4" name="Rectangle 163">
            <a:extLst>
              <a:ext uri="{FF2B5EF4-FFF2-40B4-BE49-F238E27FC236}">
                <a16:creationId xmlns:a16="http://schemas.microsoft.com/office/drawing/2014/main" id="{C519C4C4-3A55-4265-B91E-21FAA92F0574}"/>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5" name="Rectangle 163">
            <a:extLst>
              <a:ext uri="{FF2B5EF4-FFF2-40B4-BE49-F238E27FC236}">
                <a16:creationId xmlns:a16="http://schemas.microsoft.com/office/drawing/2014/main" id="{F6C64D48-6926-4887-B82B-4E9B0F298A5B}"/>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6" name="Rectangle 163">
            <a:extLst>
              <a:ext uri="{FF2B5EF4-FFF2-40B4-BE49-F238E27FC236}">
                <a16:creationId xmlns:a16="http://schemas.microsoft.com/office/drawing/2014/main" id="{BFA76A0A-FDCF-4D03-9E6B-F83E7E75ED02}"/>
              </a:ext>
            </a:extLst>
          </p:cNvPr>
          <p:cNvSpPr>
            <a:spLocks noChangeArrowheads="1"/>
          </p:cNvSpPr>
          <p:nvPr/>
        </p:nvSpPr>
        <p:spPr bwMode="auto">
          <a:xfrm>
            <a:off x="8371100" y="3235325"/>
            <a:ext cx="274637" cy="274638"/>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7" name="Rectangle 163">
            <a:extLst>
              <a:ext uri="{FF2B5EF4-FFF2-40B4-BE49-F238E27FC236}">
                <a16:creationId xmlns:a16="http://schemas.microsoft.com/office/drawing/2014/main" id="{B65FF224-D68C-4566-BB49-7268BED6B140}"/>
              </a:ext>
            </a:extLst>
          </p:cNvPr>
          <p:cNvSpPr>
            <a:spLocks noChangeArrowheads="1"/>
          </p:cNvSpPr>
          <p:nvPr/>
        </p:nvSpPr>
        <p:spPr bwMode="auto">
          <a:xfrm>
            <a:off x="2729125"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8" name="Rectangle 163">
            <a:extLst>
              <a:ext uri="{FF2B5EF4-FFF2-40B4-BE49-F238E27FC236}">
                <a16:creationId xmlns:a16="http://schemas.microsoft.com/office/drawing/2014/main" id="{4CAEB81C-E0D5-4F30-B21F-75345202A07C}"/>
              </a:ext>
            </a:extLst>
          </p:cNvPr>
          <p:cNvSpPr>
            <a:spLocks noChangeArrowheads="1"/>
          </p:cNvSpPr>
          <p:nvPr/>
        </p:nvSpPr>
        <p:spPr bwMode="auto">
          <a:xfrm>
            <a:off x="2729125"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59" name="Rectangle 163">
            <a:extLst>
              <a:ext uri="{FF2B5EF4-FFF2-40B4-BE49-F238E27FC236}">
                <a16:creationId xmlns:a16="http://schemas.microsoft.com/office/drawing/2014/main" id="{4A69CEA6-608D-477D-9921-9F7E5CFE9B55}"/>
              </a:ext>
            </a:extLst>
          </p:cNvPr>
          <p:cNvSpPr>
            <a:spLocks noChangeArrowheads="1"/>
          </p:cNvSpPr>
          <p:nvPr/>
        </p:nvSpPr>
        <p:spPr bwMode="auto">
          <a:xfrm>
            <a:off x="2729125" y="1873250"/>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60" name="Rectangle 163">
            <a:extLst>
              <a:ext uri="{FF2B5EF4-FFF2-40B4-BE49-F238E27FC236}">
                <a16:creationId xmlns:a16="http://schemas.microsoft.com/office/drawing/2014/main" id="{C5FFD58E-1607-4F4D-AAF1-1930CEB6AFCC}"/>
              </a:ext>
            </a:extLst>
          </p:cNvPr>
          <p:cNvSpPr>
            <a:spLocks noChangeArrowheads="1"/>
          </p:cNvSpPr>
          <p:nvPr/>
        </p:nvSpPr>
        <p:spPr bwMode="auto">
          <a:xfrm>
            <a:off x="2729125" y="5703888"/>
            <a:ext cx="192087" cy="595312"/>
          </a:xfrm>
          <a:prstGeom prst="rect">
            <a:avLst/>
          </a:prstGeom>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pic>
        <p:nvPicPr>
          <p:cNvPr id="61" name="Picture 4" descr="server2.jpg">
            <a:extLst>
              <a:ext uri="{FF2B5EF4-FFF2-40B4-BE49-F238E27FC236}">
                <a16:creationId xmlns:a16="http://schemas.microsoft.com/office/drawing/2014/main" id="{7573E0CD-0E30-443F-A788-17F4BC15B20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36212" y="3489325"/>
            <a:ext cx="1149350" cy="110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Oval 92">
            <a:extLst>
              <a:ext uri="{FF2B5EF4-FFF2-40B4-BE49-F238E27FC236}">
                <a16:creationId xmlns:a16="http://schemas.microsoft.com/office/drawing/2014/main" id="{9ED73F1F-8568-4BCF-AD97-8BD658F4AC80}"/>
              </a:ext>
            </a:extLst>
          </p:cNvPr>
          <p:cNvSpPr/>
          <p:nvPr/>
        </p:nvSpPr>
        <p:spPr>
          <a:xfrm>
            <a:off x="6066376" y="3917950"/>
            <a:ext cx="133350" cy="144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a:solidFill>
                <a:srgbClr val="FFFFFF"/>
              </a:solidFill>
            </a:endParaRPr>
          </a:p>
        </p:txBody>
      </p:sp>
      <p:sp>
        <p:nvSpPr>
          <p:cNvPr id="63" name="Oval 94">
            <a:extLst>
              <a:ext uri="{FF2B5EF4-FFF2-40B4-BE49-F238E27FC236}">
                <a16:creationId xmlns:a16="http://schemas.microsoft.com/office/drawing/2014/main" id="{E2794DB8-7867-42F8-B193-4D188EBE4B91}"/>
              </a:ext>
            </a:extLst>
          </p:cNvPr>
          <p:cNvSpPr/>
          <p:nvPr/>
        </p:nvSpPr>
        <p:spPr>
          <a:xfrm>
            <a:off x="5783790" y="3917950"/>
            <a:ext cx="133350" cy="14446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a:solidFill>
                <a:srgbClr val="FFFFFF"/>
              </a:solidFill>
            </a:endParaRPr>
          </a:p>
        </p:txBody>
      </p:sp>
      <p:grpSp>
        <p:nvGrpSpPr>
          <p:cNvPr id="64" name="Group 108">
            <a:extLst>
              <a:ext uri="{FF2B5EF4-FFF2-40B4-BE49-F238E27FC236}">
                <a16:creationId xmlns:a16="http://schemas.microsoft.com/office/drawing/2014/main" id="{9BD49F72-02EF-4492-A643-268D5D395CCC}"/>
              </a:ext>
            </a:extLst>
          </p:cNvPr>
          <p:cNvGrpSpPr>
            <a:grpSpLocks/>
          </p:cNvGrpSpPr>
          <p:nvPr/>
        </p:nvGrpSpPr>
        <p:grpSpPr bwMode="auto">
          <a:xfrm>
            <a:off x="5091642" y="2774950"/>
            <a:ext cx="2133600" cy="1143000"/>
            <a:chOff x="3962400" y="2667000"/>
            <a:chExt cx="2133600" cy="1142207"/>
          </a:xfrm>
        </p:grpSpPr>
        <p:cxnSp>
          <p:nvCxnSpPr>
            <p:cNvPr id="65" name="Straight Arrow Connector 96">
              <a:extLst>
                <a:ext uri="{FF2B5EF4-FFF2-40B4-BE49-F238E27FC236}">
                  <a16:creationId xmlns:a16="http://schemas.microsoft.com/office/drawing/2014/main" id="{8781A184-15B3-4A09-85ED-986CA3D92F86}"/>
                </a:ext>
              </a:extLst>
            </p:cNvPr>
            <p:cNvCxnSpPr>
              <a:cxnSpLocks/>
              <a:endCxn id="62" idx="0"/>
            </p:cNvCxnSpPr>
            <p:nvPr/>
          </p:nvCxnSpPr>
          <p:spPr>
            <a:xfrm>
              <a:off x="4841875" y="3017595"/>
              <a:ext cx="161934" cy="79161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97">
              <a:extLst>
                <a:ext uri="{FF2B5EF4-FFF2-40B4-BE49-F238E27FC236}">
                  <a16:creationId xmlns:a16="http://schemas.microsoft.com/office/drawing/2014/main" id="{8DFA03C7-5E0E-4CB1-93BF-96B823356DB8}"/>
                </a:ext>
              </a:extLst>
            </p:cNvPr>
            <p:cNvCxnSpPr>
              <a:cxnSpLocks/>
              <a:endCxn id="63" idx="0"/>
            </p:cNvCxnSpPr>
            <p:nvPr/>
          </p:nvCxnSpPr>
          <p:spPr>
            <a:xfrm flipH="1">
              <a:off x="4721223" y="3014422"/>
              <a:ext cx="122240" cy="79478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7" name="TextBox 107">
              <a:extLst>
                <a:ext uri="{FF2B5EF4-FFF2-40B4-BE49-F238E27FC236}">
                  <a16:creationId xmlns:a16="http://schemas.microsoft.com/office/drawing/2014/main" id="{EA108069-70C0-4905-8649-D8CC6B016603}"/>
                </a:ext>
              </a:extLst>
            </p:cNvPr>
            <p:cNvSpPr txBox="1">
              <a:spLocks noChangeArrowheads="1"/>
            </p:cNvSpPr>
            <p:nvPr/>
          </p:nvSpPr>
          <p:spPr bwMode="auto">
            <a:xfrm>
              <a:off x="3962400" y="2667000"/>
              <a:ext cx="2133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dirty="0">
                  <a:solidFill>
                    <a:srgbClr val="FF0000"/>
                  </a:solidFill>
                  <a:latin typeface="Calibri" pitchFamily="34" charset="0"/>
                </a:rPr>
                <a:t>ECN Mark (1 bit)</a:t>
              </a:r>
              <a:endParaRPr lang="en-US" altLang="zh-CN" b="1" dirty="0">
                <a:solidFill>
                  <a:srgbClr val="FF0000"/>
                </a:solidFill>
                <a:latin typeface="Calibri" pitchFamily="34" charset="0"/>
              </a:endParaRPr>
            </a:p>
          </p:txBody>
        </p:sp>
      </p:grpSp>
      <p:sp>
        <p:nvSpPr>
          <p:cNvPr id="68" name="Rectangle 163">
            <a:extLst>
              <a:ext uri="{FF2B5EF4-FFF2-40B4-BE49-F238E27FC236}">
                <a16:creationId xmlns:a16="http://schemas.microsoft.com/office/drawing/2014/main" id="{FC55602C-5896-4A66-B32A-02437B5D94D9}"/>
              </a:ext>
            </a:extLst>
          </p:cNvPr>
          <p:cNvSpPr>
            <a:spLocks noChangeArrowheads="1"/>
          </p:cNvSpPr>
          <p:nvPr/>
        </p:nvSpPr>
        <p:spPr bwMode="auto">
          <a:xfrm>
            <a:off x="8367925" y="4375150"/>
            <a:ext cx="274637" cy="274638"/>
          </a:xfrm>
          <a:prstGeom prst="rect">
            <a:avLst/>
          </a:prstGeom>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endParaRPr>
          </a:p>
        </p:txBody>
      </p:sp>
      <p:sp>
        <p:nvSpPr>
          <p:cNvPr id="69" name="TextBox 134">
            <a:extLst>
              <a:ext uri="{FF2B5EF4-FFF2-40B4-BE49-F238E27FC236}">
                <a16:creationId xmlns:a16="http://schemas.microsoft.com/office/drawing/2014/main" id="{939252F2-FFA7-44CE-B847-C7277104B26D}"/>
              </a:ext>
            </a:extLst>
          </p:cNvPr>
          <p:cNvSpPr txBox="1">
            <a:spLocks noChangeArrowheads="1"/>
          </p:cNvSpPr>
          <p:nvPr/>
        </p:nvSpPr>
        <p:spPr bwMode="auto">
          <a:xfrm>
            <a:off x="8345700" y="3235325"/>
            <a:ext cx="293687"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en-US" altLang="zh-CN">
              <a:latin typeface="Calibri" pitchFamily="34" charset="0"/>
            </a:endParaRPr>
          </a:p>
        </p:txBody>
      </p:sp>
      <p:sp>
        <p:nvSpPr>
          <p:cNvPr id="70" name="TextBox 90">
            <a:extLst>
              <a:ext uri="{FF2B5EF4-FFF2-40B4-BE49-F238E27FC236}">
                <a16:creationId xmlns:a16="http://schemas.microsoft.com/office/drawing/2014/main" id="{06A2D910-C326-48F7-9908-B1E5272AC9F2}"/>
              </a:ext>
            </a:extLst>
          </p:cNvPr>
          <p:cNvSpPr txBox="1">
            <a:spLocks noChangeArrowheads="1"/>
          </p:cNvSpPr>
          <p:nvPr/>
        </p:nvSpPr>
        <p:spPr bwMode="auto">
          <a:xfrm>
            <a:off x="8337762" y="4298950"/>
            <a:ext cx="35877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en-US" altLang="zh-CN">
              <a:latin typeface="Calibri" pitchFamily="34" charset="0"/>
            </a:endParaRPr>
          </a:p>
        </p:txBody>
      </p:sp>
      <p:sp>
        <p:nvSpPr>
          <p:cNvPr id="71" name="TextBox 81">
            <a:extLst>
              <a:ext uri="{FF2B5EF4-FFF2-40B4-BE49-F238E27FC236}">
                <a16:creationId xmlns:a16="http://schemas.microsoft.com/office/drawing/2014/main" id="{2A737BAB-FEC9-4FE8-B25A-FFD1F20A1FB5}"/>
              </a:ext>
            </a:extLst>
          </p:cNvPr>
          <p:cNvSpPr txBox="1">
            <a:spLocks noChangeArrowheads="1"/>
          </p:cNvSpPr>
          <p:nvPr/>
        </p:nvSpPr>
        <p:spPr bwMode="auto">
          <a:xfrm>
            <a:off x="3607012" y="1412875"/>
            <a:ext cx="5943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800" b="1">
                <a:latin typeface="Calibri" pitchFamily="34" charset="0"/>
              </a:rPr>
              <a:t>ECN = Explicit Congestion Notification</a:t>
            </a:r>
          </a:p>
        </p:txBody>
      </p:sp>
      <p:cxnSp>
        <p:nvCxnSpPr>
          <p:cNvPr id="224" name="直接箭头连接符 223">
            <a:extLst>
              <a:ext uri="{FF2B5EF4-FFF2-40B4-BE49-F238E27FC236}">
                <a16:creationId xmlns:a16="http://schemas.microsoft.com/office/drawing/2014/main" id="{3958FF81-D8A1-4BBE-A087-6E4B6B895AE1}"/>
              </a:ext>
            </a:extLst>
          </p:cNvPr>
          <p:cNvCxnSpPr>
            <a:cxnSpLocks/>
          </p:cNvCxnSpPr>
          <p:nvPr/>
        </p:nvCxnSpPr>
        <p:spPr>
          <a:xfrm flipH="1" flipV="1">
            <a:off x="6318015" y="4271435"/>
            <a:ext cx="349719" cy="57784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26" name="文本框 225">
            <a:extLst>
              <a:ext uri="{FF2B5EF4-FFF2-40B4-BE49-F238E27FC236}">
                <a16:creationId xmlns:a16="http://schemas.microsoft.com/office/drawing/2014/main" id="{CA5508DB-4154-48D2-B446-F33319FEB691}"/>
              </a:ext>
            </a:extLst>
          </p:cNvPr>
          <p:cNvSpPr txBox="1"/>
          <p:nvPr/>
        </p:nvSpPr>
        <p:spPr>
          <a:xfrm>
            <a:off x="6125113" y="4766925"/>
            <a:ext cx="1210588" cy="369332"/>
          </a:xfrm>
          <a:prstGeom prst="rect">
            <a:avLst/>
          </a:prstGeom>
          <a:noFill/>
        </p:spPr>
        <p:txBody>
          <a:bodyPr wrap="none" rtlCol="0">
            <a:spAutoFit/>
          </a:bodyPr>
          <a:lstStyle/>
          <a:p>
            <a:r>
              <a:rPr lang="en-US" altLang="zh-CN" dirty="0">
                <a:solidFill>
                  <a:srgbClr val="FF0000"/>
                </a:solidFill>
                <a:latin typeface="Arial" panose="020B0604020202020204" pitchFamily="34" charset="0"/>
                <a:cs typeface="Arial" panose="020B0604020202020204" pitchFamily="34" charset="0"/>
              </a:rPr>
              <a:t>Threshold</a:t>
            </a:r>
            <a:endParaRPr lang="zh-CN" altLang="en-US"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9492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1263 -0.00371 C 0.03425 0.02662 0.10742 0.13379 0.14167 0.17777 C 0.17591 0.22199 0.1556 0.24652 0.21771 0.26134 C 0.27982 0.27615 0.453 0.26527 0.51471 0.2662 " pathEditMode="relative" rAng="0" ptsTypes="AAAA">
                                      <p:cBhvr>
                                        <p:cTn id="6" dur="2000" fill="hold"/>
                                        <p:tgtEl>
                                          <p:spTgt spid="25"/>
                                        </p:tgtEl>
                                        <p:attrNameLst>
                                          <p:attrName>ppt_x</p:attrName>
                                          <p:attrName>ppt_y</p:attrName>
                                        </p:attrNameLst>
                                      </p:cBhvr>
                                      <p:rCtr x="25104" y="13634"/>
                                    </p:animMotion>
                                  </p:childTnLst>
                                </p:cTn>
                              </p:par>
                              <p:par>
                                <p:cTn id="7" presetID="0" presetClass="path" presetSubtype="0" accel="50000" decel="50000" fill="hold" grpId="0" nodeType="withEffect">
                                  <p:stCondLst>
                                    <p:cond delay="300"/>
                                  </p:stCondLst>
                                  <p:childTnLst>
                                    <p:animMotion origin="layout" path="M 0.01263 -0.00371 C 0.03425 0.02662 0.10742 0.13379 0.14167 0.17777 C 0.17591 0.22199 0.1556 0.24652 0.21771 0.26134 C 0.27982 0.27615 0.453 0.26527 0.51471 0.2662 " pathEditMode="relative" rAng="0" ptsTypes="AAAA">
                                      <p:cBhvr>
                                        <p:cTn id="8" dur="2000" fill="hold"/>
                                        <p:tgtEl>
                                          <p:spTgt spid="32"/>
                                        </p:tgtEl>
                                        <p:attrNameLst>
                                          <p:attrName>ppt_x</p:attrName>
                                          <p:attrName>ppt_y</p:attrName>
                                        </p:attrNameLst>
                                      </p:cBhvr>
                                      <p:rCtr x="25104" y="13634"/>
                                    </p:animMotion>
                                  </p:childTnLst>
                                </p:cTn>
                              </p:par>
                              <p:par>
                                <p:cTn id="9" presetID="0" presetClass="path" presetSubtype="0" accel="50000" decel="50000" fill="hold" grpId="0" nodeType="withEffect">
                                  <p:stCondLst>
                                    <p:cond delay="600"/>
                                  </p:stCondLst>
                                  <p:childTnLst>
                                    <p:animMotion origin="layout" path="M 0.01263 -0.00371 C 0.03425 0.02662 0.10742 0.13379 0.14167 0.17777 C 0.17591 0.22199 0.1556 0.24652 0.21771 0.26134 C 0.27982 0.27615 0.453 0.26527 0.51471 0.2662 " pathEditMode="relative" rAng="0" ptsTypes="AAAA">
                                      <p:cBhvr>
                                        <p:cTn id="10" dur="2000" fill="hold"/>
                                        <p:tgtEl>
                                          <p:spTgt spid="33"/>
                                        </p:tgtEl>
                                        <p:attrNameLst>
                                          <p:attrName>ppt_x</p:attrName>
                                          <p:attrName>ppt_y</p:attrName>
                                        </p:attrNameLst>
                                      </p:cBhvr>
                                      <p:rCtr x="25104" y="13634"/>
                                    </p:animMotion>
                                  </p:childTnLst>
                                </p:cTn>
                              </p:par>
                              <p:par>
                                <p:cTn id="11" presetID="0" presetClass="path" presetSubtype="0" accel="50000" decel="50000" fill="hold" grpId="0" nodeType="withEffect">
                                  <p:stCondLst>
                                    <p:cond delay="900"/>
                                  </p:stCondLst>
                                  <p:childTnLst>
                                    <p:animMotion origin="layout" path="M 0.01263 -0.00371 C 0.03425 0.02662 0.10742 0.13379 0.14167 0.17777 C 0.17591 0.22199 0.1556 0.24652 0.21771 0.26134 C 0.27982 0.27615 0.453 0.26527 0.51471 0.2662 " pathEditMode="relative" rAng="0" ptsTypes="AAAA">
                                      <p:cBhvr>
                                        <p:cTn id="12" dur="2000" fill="hold"/>
                                        <p:tgtEl>
                                          <p:spTgt spid="34"/>
                                        </p:tgtEl>
                                        <p:attrNameLst>
                                          <p:attrName>ppt_x</p:attrName>
                                          <p:attrName>ppt_y</p:attrName>
                                        </p:attrNameLst>
                                      </p:cBhvr>
                                      <p:rCtr x="25104" y="13634"/>
                                    </p:animMotion>
                                  </p:childTnLst>
                                </p:cTn>
                              </p:par>
                              <p:par>
                                <p:cTn id="13" presetID="0" presetClass="path" presetSubtype="0" accel="50000" decel="50000" fill="hold" grpId="0" nodeType="withEffect">
                                  <p:stCondLst>
                                    <p:cond delay="1200"/>
                                  </p:stCondLst>
                                  <p:childTnLst>
                                    <p:animMotion origin="layout" path="M 0.01263 -0.00371 C 0.03425 0.02662 0.10742 0.13379 0.14167 0.17777 C 0.17591 0.22199 0.1556 0.24652 0.21771 0.26134 C 0.27982 0.27615 0.453 0.26527 0.51471 0.2662 " pathEditMode="relative" rAng="0" ptsTypes="AAAA">
                                      <p:cBhvr>
                                        <p:cTn id="14" dur="2000" fill="hold"/>
                                        <p:tgtEl>
                                          <p:spTgt spid="35"/>
                                        </p:tgtEl>
                                        <p:attrNameLst>
                                          <p:attrName>ppt_x</p:attrName>
                                          <p:attrName>ppt_y</p:attrName>
                                        </p:attrNameLst>
                                      </p:cBhvr>
                                      <p:rCtr x="25104" y="13634"/>
                                    </p:animMotion>
                                  </p:childTnLst>
                                </p:cTn>
                              </p:par>
                              <p:par>
                                <p:cTn id="15" presetID="0" presetClass="path" presetSubtype="0" accel="50000" decel="50000" fill="hold" grpId="0" nodeType="withEffect">
                                  <p:stCondLst>
                                    <p:cond delay="1500"/>
                                  </p:stCondLst>
                                  <p:childTnLst>
                                    <p:animMotion origin="layout" path="M 0.01263 -0.00371 C 0.03425 0.02662 0.10742 0.13379 0.14167 0.17777 C 0.17591 0.22199 0.1556 0.24652 0.21771 0.26134 C 0.27982 0.27615 0.453 0.26527 0.51471 0.2662 " pathEditMode="relative" rAng="0" ptsTypes="AAAA">
                                      <p:cBhvr>
                                        <p:cTn id="16" dur="2000" fill="hold"/>
                                        <p:tgtEl>
                                          <p:spTgt spid="36"/>
                                        </p:tgtEl>
                                        <p:attrNameLst>
                                          <p:attrName>ppt_x</p:attrName>
                                          <p:attrName>ppt_y</p:attrName>
                                        </p:attrNameLst>
                                      </p:cBhvr>
                                      <p:rCtr x="25104" y="13634"/>
                                    </p:animMotion>
                                  </p:childTnLst>
                                </p:cTn>
                              </p:par>
                              <p:par>
                                <p:cTn id="17" presetID="0" presetClass="path" presetSubtype="0" accel="50000" decel="50000" fill="hold" grpId="0" nodeType="withEffect">
                                  <p:stCondLst>
                                    <p:cond delay="1800"/>
                                  </p:stCondLst>
                                  <p:childTnLst>
                                    <p:animMotion origin="layout" path="M 0.01263 -0.00371 C 0.03425 0.02662 0.10742 0.13379 0.14167 0.17777 C 0.17591 0.22199 0.1556 0.24652 0.21771 0.26134 C 0.27982 0.27615 0.453 0.26527 0.51471 0.2662 " pathEditMode="relative" rAng="0" ptsTypes="AAAA">
                                      <p:cBhvr>
                                        <p:cTn id="18" dur="2000" fill="hold"/>
                                        <p:tgtEl>
                                          <p:spTgt spid="37"/>
                                        </p:tgtEl>
                                        <p:attrNameLst>
                                          <p:attrName>ppt_x</p:attrName>
                                          <p:attrName>ppt_y</p:attrName>
                                        </p:attrNameLst>
                                      </p:cBhvr>
                                      <p:rCtr x="25104" y="13634"/>
                                    </p:animMotion>
                                  </p:childTnLst>
                                </p:cTn>
                              </p:par>
                              <p:par>
                                <p:cTn id="19" presetID="0" presetClass="path" presetSubtype="0" accel="50000" decel="50000" fill="hold" grpId="0" nodeType="withEffect">
                                  <p:stCondLst>
                                    <p:cond delay="2100"/>
                                  </p:stCondLst>
                                  <p:childTnLst>
                                    <p:animMotion origin="layout" path="M 0.01263 -0.00371 C 0.03425 0.02662 0.10742 0.13379 0.14167 0.17777 C 0.17591 0.22199 0.1556 0.24652 0.21771 0.26134 C 0.27982 0.27615 0.453 0.26527 0.51471 0.2662 " pathEditMode="relative" rAng="0" ptsTypes="AAAA">
                                      <p:cBhvr>
                                        <p:cTn id="20" dur="2000" fill="hold"/>
                                        <p:tgtEl>
                                          <p:spTgt spid="38"/>
                                        </p:tgtEl>
                                        <p:attrNameLst>
                                          <p:attrName>ppt_x</p:attrName>
                                          <p:attrName>ppt_y</p:attrName>
                                        </p:attrNameLst>
                                      </p:cBhvr>
                                      <p:rCtr x="25104" y="13634"/>
                                    </p:animMotion>
                                  </p:childTnLst>
                                </p:cTn>
                              </p:par>
                              <p:par>
                                <p:cTn id="21" presetID="0" presetClass="path" presetSubtype="0" accel="50000" decel="50000" fill="hold" grpId="0" nodeType="withEffect">
                                  <p:stCondLst>
                                    <p:cond delay="2400"/>
                                  </p:stCondLst>
                                  <p:childTnLst>
                                    <p:animMotion origin="layout" path="M 0.01263 -0.00371 C 0.03425 0.02662 0.10742 0.13379 0.14167 0.17777 C 0.17591 0.22199 0.1556 0.24652 0.21771 0.26134 C 0.27982 0.27615 0.453 0.26527 0.51471 0.2662 " pathEditMode="relative" rAng="0" ptsTypes="AAAA">
                                      <p:cBhvr>
                                        <p:cTn id="22" dur="2000" fill="hold"/>
                                        <p:tgtEl>
                                          <p:spTgt spid="39"/>
                                        </p:tgtEl>
                                        <p:attrNameLst>
                                          <p:attrName>ppt_x</p:attrName>
                                          <p:attrName>ppt_y</p:attrName>
                                        </p:attrNameLst>
                                      </p:cBhvr>
                                      <p:rCtr x="25104" y="13634"/>
                                    </p:animMotion>
                                  </p:childTnLst>
                                </p:cTn>
                              </p:par>
                              <p:par>
                                <p:cTn id="23" presetID="0" presetClass="path" presetSubtype="0" accel="50000" decel="50000" fill="hold" grpId="0" nodeType="withEffect">
                                  <p:stCondLst>
                                    <p:cond delay="2700"/>
                                  </p:stCondLst>
                                  <p:childTnLst>
                                    <p:animMotion origin="layout" path="M 0.01263 -0.00371 C 0.03425 0.02662 0.10742 0.13379 0.14167 0.17777 C 0.17591 0.22199 0.1556 0.24652 0.21771 0.26134 C 0.27982 0.27615 0.453 0.26527 0.51471 0.2662 " pathEditMode="relative" rAng="0" ptsTypes="AAAA">
                                      <p:cBhvr>
                                        <p:cTn id="24" dur="2000" fill="hold"/>
                                        <p:tgtEl>
                                          <p:spTgt spid="40"/>
                                        </p:tgtEl>
                                        <p:attrNameLst>
                                          <p:attrName>ppt_x</p:attrName>
                                          <p:attrName>ppt_y</p:attrName>
                                        </p:attrNameLst>
                                      </p:cBhvr>
                                      <p:rCtr x="25104" y="13634"/>
                                    </p:animMotion>
                                  </p:childTnLst>
                                </p:cTn>
                              </p:par>
                              <p:par>
                                <p:cTn id="25" presetID="0" presetClass="path" presetSubtype="0" accel="50000" decel="50000" fill="hold" grpId="0" nodeType="withEffect">
                                  <p:stCondLst>
                                    <p:cond delay="3000"/>
                                  </p:stCondLst>
                                  <p:childTnLst>
                                    <p:animMotion origin="layout" path="M 0.01263 -0.00371 C 0.03425 0.02662 0.10742 0.13379 0.14167 0.17777 C 0.17591 0.22199 0.1556 0.24652 0.21771 0.26134 C 0.27982 0.27615 0.453 0.26527 0.51471 0.2662 " pathEditMode="relative" rAng="0" ptsTypes="AAAA">
                                      <p:cBhvr>
                                        <p:cTn id="26" dur="2000" fill="hold"/>
                                        <p:tgtEl>
                                          <p:spTgt spid="41"/>
                                        </p:tgtEl>
                                        <p:attrNameLst>
                                          <p:attrName>ppt_x</p:attrName>
                                          <p:attrName>ppt_y</p:attrName>
                                        </p:attrNameLst>
                                      </p:cBhvr>
                                      <p:rCtr x="25104" y="13634"/>
                                    </p:animMotion>
                                  </p:childTnLst>
                                </p:cTn>
                              </p:par>
                              <p:par>
                                <p:cTn id="27" presetID="0" presetClass="path" presetSubtype="0" accel="50000" decel="50000" fill="hold" grpId="0" nodeType="withEffect">
                                  <p:stCondLst>
                                    <p:cond delay="3300"/>
                                  </p:stCondLst>
                                  <p:childTnLst>
                                    <p:animMotion origin="layout" path="M 0.01263 -0.00371 C 0.03425 0.02662 0.10742 0.13379 0.14167 0.17777 C 0.17591 0.22199 0.1556 0.24652 0.21771 0.26134 C 0.27982 0.27615 0.453 0.26527 0.51471 0.2662 " pathEditMode="relative" rAng="0" ptsTypes="AAAA">
                                      <p:cBhvr>
                                        <p:cTn id="28" dur="2000" fill="hold"/>
                                        <p:tgtEl>
                                          <p:spTgt spid="42"/>
                                        </p:tgtEl>
                                        <p:attrNameLst>
                                          <p:attrName>ppt_x</p:attrName>
                                          <p:attrName>ppt_y</p:attrName>
                                        </p:attrNameLst>
                                      </p:cBhvr>
                                      <p:rCtr x="25104" y="13634"/>
                                    </p:animMotion>
                                  </p:childTnLst>
                                </p:cTn>
                              </p:par>
                              <p:par>
                                <p:cTn id="29" presetID="0" presetClass="path" presetSubtype="0" accel="50000" decel="50000" fill="hold" grpId="0" nodeType="withEffect">
                                  <p:stCondLst>
                                    <p:cond delay="3600"/>
                                  </p:stCondLst>
                                  <p:childTnLst>
                                    <p:animMotion origin="layout" path="M 0.01263 -0.00371 C 0.03425 0.02662 0.10742 0.13379 0.14167 0.17777 C 0.17591 0.22199 0.1556 0.24652 0.21771 0.26134 C 0.27982 0.27615 0.453 0.26527 0.51471 0.2662 " pathEditMode="relative" rAng="0" ptsTypes="AAAA">
                                      <p:cBhvr>
                                        <p:cTn id="30" dur="2000" fill="hold"/>
                                        <p:tgtEl>
                                          <p:spTgt spid="43"/>
                                        </p:tgtEl>
                                        <p:attrNameLst>
                                          <p:attrName>ppt_x</p:attrName>
                                          <p:attrName>ppt_y</p:attrName>
                                        </p:attrNameLst>
                                      </p:cBhvr>
                                      <p:rCtr x="25104" y="13634"/>
                                    </p:animMotion>
                                  </p:childTnLst>
                                </p:cTn>
                              </p:par>
                              <p:par>
                                <p:cTn id="31" presetID="0" presetClass="path" presetSubtype="0" accel="50000" decel="50000" fill="hold" grpId="0" nodeType="withEffect">
                                  <p:stCondLst>
                                    <p:cond delay="3900"/>
                                  </p:stCondLst>
                                  <p:childTnLst>
                                    <p:animMotion origin="layout" path="M 0.01263 -0.00371 C 0.03425 0.02662 0.10742 0.13379 0.14167 0.17777 C 0.17591 0.22199 0.1556 0.24652 0.21771 0.26134 C 0.27982 0.27615 0.453 0.26527 0.51471 0.2662 " pathEditMode="relative" rAng="0" ptsTypes="AAAA">
                                      <p:cBhvr>
                                        <p:cTn id="32" dur="2000" fill="hold"/>
                                        <p:tgtEl>
                                          <p:spTgt spid="44"/>
                                        </p:tgtEl>
                                        <p:attrNameLst>
                                          <p:attrName>ppt_x</p:attrName>
                                          <p:attrName>ppt_y</p:attrName>
                                        </p:attrNameLst>
                                      </p:cBhvr>
                                      <p:rCtr x="25104" y="13634"/>
                                    </p:animMotion>
                                  </p:childTnLst>
                                </p:cTn>
                              </p:par>
                              <p:par>
                                <p:cTn id="33" presetID="10" presetClass="exit" presetSubtype="0" fill="hold" grpId="0" nodeType="withEffect">
                                  <p:stCondLst>
                                    <p:cond delay="2000"/>
                                  </p:stCondLst>
                                  <p:childTnLst>
                                    <p:animEffect transition="out" filter="fade">
                                      <p:cBhvr>
                                        <p:cTn id="34" dur="300"/>
                                        <p:tgtEl>
                                          <p:spTgt spid="69"/>
                                        </p:tgtEl>
                                      </p:cBhvr>
                                    </p:animEffect>
                                    <p:set>
                                      <p:cBhvr>
                                        <p:cTn id="35" dur="1" fill="hold">
                                          <p:stCondLst>
                                            <p:cond delay="299"/>
                                          </p:stCondLst>
                                        </p:cTn>
                                        <p:tgtEl>
                                          <p:spTgt spid="69"/>
                                        </p:tgtEl>
                                        <p:attrNameLst>
                                          <p:attrName>style.visibility</p:attrName>
                                        </p:attrNameLst>
                                      </p:cBhvr>
                                      <p:to>
                                        <p:strVal val="hidden"/>
                                      </p:to>
                                    </p:set>
                                  </p:childTnLst>
                                </p:cTn>
                              </p:par>
                              <p:par>
                                <p:cTn id="36" presetID="10" presetClass="exit" presetSubtype="0" fill="hold" nodeType="withEffect">
                                  <p:stCondLst>
                                    <p:cond delay="2000"/>
                                  </p:stCondLst>
                                  <p:childTnLst>
                                    <p:animEffect transition="out" filter="fade">
                                      <p:cBhvr>
                                        <p:cTn id="37" dur="300"/>
                                        <p:tgtEl>
                                          <p:spTgt spid="25"/>
                                        </p:tgtEl>
                                      </p:cBhvr>
                                    </p:animEffect>
                                    <p:set>
                                      <p:cBhvr>
                                        <p:cTn id="38" dur="1" fill="hold">
                                          <p:stCondLst>
                                            <p:cond delay="299"/>
                                          </p:stCondLst>
                                        </p:cTn>
                                        <p:tgtEl>
                                          <p:spTgt spid="25"/>
                                        </p:tgtEl>
                                        <p:attrNameLst>
                                          <p:attrName>style.visibility</p:attrName>
                                        </p:attrNameLst>
                                      </p:cBhvr>
                                      <p:to>
                                        <p:strVal val="hidden"/>
                                      </p:to>
                                    </p:set>
                                  </p:childTnLst>
                                </p:cTn>
                              </p:par>
                              <p:par>
                                <p:cTn id="39" presetID="10" presetClass="exit" presetSubtype="0" fill="hold" nodeType="withEffect">
                                  <p:stCondLst>
                                    <p:cond delay="2300"/>
                                  </p:stCondLst>
                                  <p:childTnLst>
                                    <p:animEffect transition="out" filter="fade">
                                      <p:cBhvr>
                                        <p:cTn id="40" dur="300"/>
                                        <p:tgtEl>
                                          <p:spTgt spid="32"/>
                                        </p:tgtEl>
                                      </p:cBhvr>
                                    </p:animEffect>
                                    <p:set>
                                      <p:cBhvr>
                                        <p:cTn id="41" dur="1" fill="hold">
                                          <p:stCondLst>
                                            <p:cond delay="299"/>
                                          </p:stCondLst>
                                        </p:cTn>
                                        <p:tgtEl>
                                          <p:spTgt spid="32"/>
                                        </p:tgtEl>
                                        <p:attrNameLst>
                                          <p:attrName>style.visibility</p:attrName>
                                        </p:attrNameLst>
                                      </p:cBhvr>
                                      <p:to>
                                        <p:strVal val="hidden"/>
                                      </p:to>
                                    </p:set>
                                  </p:childTnLst>
                                </p:cTn>
                              </p:par>
                              <p:par>
                                <p:cTn id="42" presetID="10" presetClass="exit" presetSubtype="0" fill="hold" nodeType="withEffect">
                                  <p:stCondLst>
                                    <p:cond delay="2600"/>
                                  </p:stCondLst>
                                  <p:childTnLst>
                                    <p:animEffect transition="out" filter="fade">
                                      <p:cBhvr>
                                        <p:cTn id="43" dur="300"/>
                                        <p:tgtEl>
                                          <p:spTgt spid="33"/>
                                        </p:tgtEl>
                                      </p:cBhvr>
                                    </p:animEffect>
                                    <p:set>
                                      <p:cBhvr>
                                        <p:cTn id="44" dur="1" fill="hold">
                                          <p:stCondLst>
                                            <p:cond delay="299"/>
                                          </p:stCondLst>
                                        </p:cTn>
                                        <p:tgtEl>
                                          <p:spTgt spid="33"/>
                                        </p:tgtEl>
                                        <p:attrNameLst>
                                          <p:attrName>style.visibility</p:attrName>
                                        </p:attrNameLst>
                                      </p:cBhvr>
                                      <p:to>
                                        <p:strVal val="hidden"/>
                                      </p:to>
                                    </p:set>
                                  </p:childTnLst>
                                </p:cTn>
                              </p:par>
                              <p:par>
                                <p:cTn id="45" presetID="10" presetClass="exit" presetSubtype="0" fill="hold" nodeType="withEffect">
                                  <p:stCondLst>
                                    <p:cond delay="2900"/>
                                  </p:stCondLst>
                                  <p:childTnLst>
                                    <p:animEffect transition="out" filter="fade">
                                      <p:cBhvr>
                                        <p:cTn id="46" dur="300"/>
                                        <p:tgtEl>
                                          <p:spTgt spid="34"/>
                                        </p:tgtEl>
                                      </p:cBhvr>
                                    </p:animEffect>
                                    <p:set>
                                      <p:cBhvr>
                                        <p:cTn id="47" dur="1" fill="hold">
                                          <p:stCondLst>
                                            <p:cond delay="299"/>
                                          </p:stCondLst>
                                        </p:cTn>
                                        <p:tgtEl>
                                          <p:spTgt spid="34"/>
                                        </p:tgtEl>
                                        <p:attrNameLst>
                                          <p:attrName>style.visibility</p:attrName>
                                        </p:attrNameLst>
                                      </p:cBhvr>
                                      <p:to>
                                        <p:strVal val="hidden"/>
                                      </p:to>
                                    </p:set>
                                  </p:childTnLst>
                                </p:cTn>
                              </p:par>
                              <p:par>
                                <p:cTn id="48" presetID="10" presetClass="exit" presetSubtype="0" fill="hold" nodeType="withEffect">
                                  <p:stCondLst>
                                    <p:cond delay="3200"/>
                                  </p:stCondLst>
                                  <p:childTnLst>
                                    <p:animEffect transition="out" filter="fade">
                                      <p:cBhvr>
                                        <p:cTn id="49" dur="300"/>
                                        <p:tgtEl>
                                          <p:spTgt spid="35"/>
                                        </p:tgtEl>
                                      </p:cBhvr>
                                    </p:animEffect>
                                    <p:set>
                                      <p:cBhvr>
                                        <p:cTn id="50" dur="1" fill="hold">
                                          <p:stCondLst>
                                            <p:cond delay="299"/>
                                          </p:stCondLst>
                                        </p:cTn>
                                        <p:tgtEl>
                                          <p:spTgt spid="35"/>
                                        </p:tgtEl>
                                        <p:attrNameLst>
                                          <p:attrName>style.visibility</p:attrName>
                                        </p:attrNameLst>
                                      </p:cBhvr>
                                      <p:to>
                                        <p:strVal val="hidden"/>
                                      </p:to>
                                    </p:set>
                                  </p:childTnLst>
                                </p:cTn>
                              </p:par>
                              <p:par>
                                <p:cTn id="51" presetID="10" presetClass="exit" presetSubtype="0" fill="hold" nodeType="withEffect">
                                  <p:stCondLst>
                                    <p:cond delay="3500"/>
                                  </p:stCondLst>
                                  <p:childTnLst>
                                    <p:animEffect transition="out" filter="fade">
                                      <p:cBhvr>
                                        <p:cTn id="52" dur="300"/>
                                        <p:tgtEl>
                                          <p:spTgt spid="36"/>
                                        </p:tgtEl>
                                      </p:cBhvr>
                                    </p:animEffect>
                                    <p:set>
                                      <p:cBhvr>
                                        <p:cTn id="53" dur="1" fill="hold">
                                          <p:stCondLst>
                                            <p:cond delay="299"/>
                                          </p:stCondLst>
                                        </p:cTn>
                                        <p:tgtEl>
                                          <p:spTgt spid="36"/>
                                        </p:tgtEl>
                                        <p:attrNameLst>
                                          <p:attrName>style.visibility</p:attrName>
                                        </p:attrNameLst>
                                      </p:cBhvr>
                                      <p:to>
                                        <p:strVal val="hidden"/>
                                      </p:to>
                                    </p:set>
                                  </p:childTnLst>
                                </p:cTn>
                              </p:par>
                              <p:par>
                                <p:cTn id="54" presetID="10" presetClass="exit" presetSubtype="0" fill="hold" nodeType="withEffect">
                                  <p:stCondLst>
                                    <p:cond delay="3800"/>
                                  </p:stCondLst>
                                  <p:childTnLst>
                                    <p:animEffect transition="out" filter="fade">
                                      <p:cBhvr>
                                        <p:cTn id="55" dur="300"/>
                                        <p:tgtEl>
                                          <p:spTgt spid="37"/>
                                        </p:tgtEl>
                                      </p:cBhvr>
                                    </p:animEffect>
                                    <p:set>
                                      <p:cBhvr>
                                        <p:cTn id="56" dur="1" fill="hold">
                                          <p:stCondLst>
                                            <p:cond delay="299"/>
                                          </p:stCondLst>
                                        </p:cTn>
                                        <p:tgtEl>
                                          <p:spTgt spid="37"/>
                                        </p:tgtEl>
                                        <p:attrNameLst>
                                          <p:attrName>style.visibility</p:attrName>
                                        </p:attrNameLst>
                                      </p:cBhvr>
                                      <p:to>
                                        <p:strVal val="hidden"/>
                                      </p:to>
                                    </p:set>
                                  </p:childTnLst>
                                </p:cTn>
                              </p:par>
                              <p:par>
                                <p:cTn id="57" presetID="10" presetClass="exit" presetSubtype="0" fill="hold" nodeType="withEffect">
                                  <p:stCondLst>
                                    <p:cond delay="4100"/>
                                  </p:stCondLst>
                                  <p:childTnLst>
                                    <p:animEffect transition="out" filter="fade">
                                      <p:cBhvr>
                                        <p:cTn id="58" dur="300"/>
                                        <p:tgtEl>
                                          <p:spTgt spid="38"/>
                                        </p:tgtEl>
                                      </p:cBhvr>
                                    </p:animEffect>
                                    <p:set>
                                      <p:cBhvr>
                                        <p:cTn id="59" dur="1" fill="hold">
                                          <p:stCondLst>
                                            <p:cond delay="299"/>
                                          </p:stCondLst>
                                        </p:cTn>
                                        <p:tgtEl>
                                          <p:spTgt spid="38"/>
                                        </p:tgtEl>
                                        <p:attrNameLst>
                                          <p:attrName>style.visibility</p:attrName>
                                        </p:attrNameLst>
                                      </p:cBhvr>
                                      <p:to>
                                        <p:strVal val="hidden"/>
                                      </p:to>
                                    </p:set>
                                  </p:childTnLst>
                                </p:cTn>
                              </p:par>
                              <p:par>
                                <p:cTn id="60" presetID="10" presetClass="exit" presetSubtype="0" fill="hold" nodeType="withEffect">
                                  <p:stCondLst>
                                    <p:cond delay="4400"/>
                                  </p:stCondLst>
                                  <p:childTnLst>
                                    <p:animEffect transition="out" filter="fade">
                                      <p:cBhvr>
                                        <p:cTn id="61" dur="300"/>
                                        <p:tgtEl>
                                          <p:spTgt spid="39"/>
                                        </p:tgtEl>
                                      </p:cBhvr>
                                    </p:animEffect>
                                    <p:set>
                                      <p:cBhvr>
                                        <p:cTn id="62" dur="1" fill="hold">
                                          <p:stCondLst>
                                            <p:cond delay="299"/>
                                          </p:stCondLst>
                                        </p:cTn>
                                        <p:tgtEl>
                                          <p:spTgt spid="39"/>
                                        </p:tgtEl>
                                        <p:attrNameLst>
                                          <p:attrName>style.visibility</p:attrName>
                                        </p:attrNameLst>
                                      </p:cBhvr>
                                      <p:to>
                                        <p:strVal val="hidden"/>
                                      </p:to>
                                    </p:set>
                                  </p:childTnLst>
                                </p:cTn>
                              </p:par>
                              <p:par>
                                <p:cTn id="63" presetID="10" presetClass="exit" presetSubtype="0" fill="hold" nodeType="withEffect">
                                  <p:stCondLst>
                                    <p:cond delay="4700"/>
                                  </p:stCondLst>
                                  <p:childTnLst>
                                    <p:animEffect transition="out" filter="fade">
                                      <p:cBhvr>
                                        <p:cTn id="64" dur="300"/>
                                        <p:tgtEl>
                                          <p:spTgt spid="40"/>
                                        </p:tgtEl>
                                      </p:cBhvr>
                                    </p:animEffect>
                                    <p:set>
                                      <p:cBhvr>
                                        <p:cTn id="65" dur="1" fill="hold">
                                          <p:stCondLst>
                                            <p:cond delay="299"/>
                                          </p:stCondLst>
                                        </p:cTn>
                                        <p:tgtEl>
                                          <p:spTgt spid="40"/>
                                        </p:tgtEl>
                                        <p:attrNameLst>
                                          <p:attrName>style.visibility</p:attrName>
                                        </p:attrNameLst>
                                      </p:cBhvr>
                                      <p:to>
                                        <p:strVal val="hidden"/>
                                      </p:to>
                                    </p:set>
                                  </p:childTnLst>
                                </p:cTn>
                              </p:par>
                              <p:par>
                                <p:cTn id="66" presetID="10" presetClass="exit" presetSubtype="0" fill="hold" nodeType="withEffect">
                                  <p:stCondLst>
                                    <p:cond delay="5000"/>
                                  </p:stCondLst>
                                  <p:childTnLst>
                                    <p:animEffect transition="out" filter="fade">
                                      <p:cBhvr>
                                        <p:cTn id="67" dur="300"/>
                                        <p:tgtEl>
                                          <p:spTgt spid="41"/>
                                        </p:tgtEl>
                                      </p:cBhvr>
                                    </p:animEffect>
                                    <p:set>
                                      <p:cBhvr>
                                        <p:cTn id="68" dur="1" fill="hold">
                                          <p:stCondLst>
                                            <p:cond delay="299"/>
                                          </p:stCondLst>
                                        </p:cTn>
                                        <p:tgtEl>
                                          <p:spTgt spid="41"/>
                                        </p:tgtEl>
                                        <p:attrNameLst>
                                          <p:attrName>style.visibility</p:attrName>
                                        </p:attrNameLst>
                                      </p:cBhvr>
                                      <p:to>
                                        <p:strVal val="hidden"/>
                                      </p:to>
                                    </p:set>
                                  </p:childTnLst>
                                </p:cTn>
                              </p:par>
                              <p:par>
                                <p:cTn id="69" presetID="10" presetClass="exit" presetSubtype="0" fill="hold" nodeType="withEffect">
                                  <p:stCondLst>
                                    <p:cond delay="5300"/>
                                  </p:stCondLst>
                                  <p:childTnLst>
                                    <p:animEffect transition="out" filter="fade">
                                      <p:cBhvr>
                                        <p:cTn id="70" dur="300"/>
                                        <p:tgtEl>
                                          <p:spTgt spid="42"/>
                                        </p:tgtEl>
                                      </p:cBhvr>
                                    </p:animEffect>
                                    <p:set>
                                      <p:cBhvr>
                                        <p:cTn id="71" dur="1" fill="hold">
                                          <p:stCondLst>
                                            <p:cond delay="299"/>
                                          </p:stCondLst>
                                        </p:cTn>
                                        <p:tgtEl>
                                          <p:spTgt spid="42"/>
                                        </p:tgtEl>
                                        <p:attrNameLst>
                                          <p:attrName>style.visibility</p:attrName>
                                        </p:attrNameLst>
                                      </p:cBhvr>
                                      <p:to>
                                        <p:strVal val="hidden"/>
                                      </p:to>
                                    </p:set>
                                  </p:childTnLst>
                                </p:cTn>
                              </p:par>
                              <p:par>
                                <p:cTn id="72" presetID="10" presetClass="exit" presetSubtype="0" fill="hold" nodeType="withEffect">
                                  <p:stCondLst>
                                    <p:cond delay="5600"/>
                                  </p:stCondLst>
                                  <p:childTnLst>
                                    <p:animEffect transition="out" filter="fade">
                                      <p:cBhvr>
                                        <p:cTn id="73" dur="300"/>
                                        <p:tgtEl>
                                          <p:spTgt spid="43"/>
                                        </p:tgtEl>
                                      </p:cBhvr>
                                    </p:animEffect>
                                    <p:set>
                                      <p:cBhvr>
                                        <p:cTn id="74" dur="1" fill="hold">
                                          <p:stCondLst>
                                            <p:cond delay="299"/>
                                          </p:stCondLst>
                                        </p:cTn>
                                        <p:tgtEl>
                                          <p:spTgt spid="43"/>
                                        </p:tgtEl>
                                        <p:attrNameLst>
                                          <p:attrName>style.visibility</p:attrName>
                                        </p:attrNameLst>
                                      </p:cBhvr>
                                      <p:to>
                                        <p:strVal val="hidden"/>
                                      </p:to>
                                    </p:set>
                                  </p:childTnLst>
                                </p:cTn>
                              </p:par>
                              <p:par>
                                <p:cTn id="75" presetID="10" presetClass="exit" presetSubtype="0" fill="hold" nodeType="withEffect">
                                  <p:stCondLst>
                                    <p:cond delay="5900"/>
                                  </p:stCondLst>
                                  <p:childTnLst>
                                    <p:animEffect transition="out" filter="fade">
                                      <p:cBhvr>
                                        <p:cTn id="76" dur="300"/>
                                        <p:tgtEl>
                                          <p:spTgt spid="44"/>
                                        </p:tgtEl>
                                      </p:cBhvr>
                                    </p:animEffect>
                                    <p:set>
                                      <p:cBhvr>
                                        <p:cTn id="77" dur="1" fill="hold">
                                          <p:stCondLst>
                                            <p:cond delay="299"/>
                                          </p:stCondLst>
                                        </p:cTn>
                                        <p:tgtEl>
                                          <p:spTgt spid="44"/>
                                        </p:tgtEl>
                                        <p:attrNameLst>
                                          <p:attrName>style.visibility</p:attrName>
                                        </p:attrNameLst>
                                      </p:cBhvr>
                                      <p:to>
                                        <p:strVal val="hidden"/>
                                      </p:to>
                                    </p:set>
                                  </p:childTnLst>
                                </p:cTn>
                              </p:par>
                              <p:par>
                                <p:cTn id="78" presetID="0" presetClass="path" presetSubtype="0" accel="50000" decel="50000" fill="hold" grpId="0" nodeType="withEffect">
                                  <p:stCondLst>
                                    <p:cond delay="23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79" dur="2000" fill="hold"/>
                                        <p:tgtEl>
                                          <p:spTgt spid="29"/>
                                        </p:tgtEl>
                                        <p:attrNameLst>
                                          <p:attrName>ppt_x</p:attrName>
                                          <p:attrName>ppt_y</p:attrName>
                                        </p:attrNameLst>
                                      </p:cBhvr>
                                      <p:rCtr x="-23490" y="-10417"/>
                                    </p:animMotion>
                                  </p:childTnLst>
                                </p:cTn>
                              </p:par>
                              <p:par>
                                <p:cTn id="80" presetID="0" presetClass="path" presetSubtype="0" accel="50000" decel="50000" fill="hold" grpId="0" nodeType="withEffect">
                                  <p:stCondLst>
                                    <p:cond delay="26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81" dur="2000" fill="hold"/>
                                        <p:tgtEl>
                                          <p:spTgt spid="45"/>
                                        </p:tgtEl>
                                        <p:attrNameLst>
                                          <p:attrName>ppt_x</p:attrName>
                                          <p:attrName>ppt_y</p:attrName>
                                        </p:attrNameLst>
                                      </p:cBhvr>
                                      <p:rCtr x="-23490" y="-10417"/>
                                    </p:animMotion>
                                  </p:childTnLst>
                                </p:cTn>
                              </p:par>
                              <p:par>
                                <p:cTn id="82" presetID="0" presetClass="path" presetSubtype="0" accel="50000" decel="50000" fill="hold" grpId="0" nodeType="withEffect">
                                  <p:stCondLst>
                                    <p:cond delay="29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83" dur="2000" fill="hold"/>
                                        <p:tgtEl>
                                          <p:spTgt spid="46"/>
                                        </p:tgtEl>
                                        <p:attrNameLst>
                                          <p:attrName>ppt_x</p:attrName>
                                          <p:attrName>ppt_y</p:attrName>
                                        </p:attrNameLst>
                                      </p:cBhvr>
                                      <p:rCtr x="-23490" y="-10417"/>
                                    </p:animMotion>
                                  </p:childTnLst>
                                </p:cTn>
                              </p:par>
                              <p:par>
                                <p:cTn id="84" presetID="0" presetClass="path" presetSubtype="0" accel="50000" decel="50000" fill="hold" grpId="0" nodeType="withEffect">
                                  <p:stCondLst>
                                    <p:cond delay="32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85" dur="2000" fill="hold"/>
                                        <p:tgtEl>
                                          <p:spTgt spid="47"/>
                                        </p:tgtEl>
                                        <p:attrNameLst>
                                          <p:attrName>ppt_x</p:attrName>
                                          <p:attrName>ppt_y</p:attrName>
                                        </p:attrNameLst>
                                      </p:cBhvr>
                                      <p:rCtr x="-23490" y="-10417"/>
                                    </p:animMotion>
                                  </p:childTnLst>
                                </p:cTn>
                              </p:par>
                              <p:par>
                                <p:cTn id="86" presetID="0" presetClass="path" presetSubtype="0" accel="50000" decel="50000" fill="hold" grpId="0" nodeType="withEffect">
                                  <p:stCondLst>
                                    <p:cond delay="35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87" dur="2000" fill="hold"/>
                                        <p:tgtEl>
                                          <p:spTgt spid="48"/>
                                        </p:tgtEl>
                                        <p:attrNameLst>
                                          <p:attrName>ppt_x</p:attrName>
                                          <p:attrName>ppt_y</p:attrName>
                                        </p:attrNameLst>
                                      </p:cBhvr>
                                      <p:rCtr x="-23490" y="-10417"/>
                                    </p:animMotion>
                                  </p:childTnLst>
                                </p:cTn>
                              </p:par>
                              <p:par>
                                <p:cTn id="88" presetID="0" presetClass="path" presetSubtype="0" accel="50000" decel="50000" fill="hold" grpId="0" nodeType="withEffect">
                                  <p:stCondLst>
                                    <p:cond delay="38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89" dur="2000" fill="hold"/>
                                        <p:tgtEl>
                                          <p:spTgt spid="49"/>
                                        </p:tgtEl>
                                        <p:attrNameLst>
                                          <p:attrName>ppt_x</p:attrName>
                                          <p:attrName>ppt_y</p:attrName>
                                        </p:attrNameLst>
                                      </p:cBhvr>
                                      <p:rCtr x="-23490" y="-10417"/>
                                    </p:animMotion>
                                  </p:childTnLst>
                                </p:cTn>
                              </p:par>
                              <p:par>
                                <p:cTn id="90" presetID="0" presetClass="path" presetSubtype="0" accel="50000" decel="50000" fill="hold" grpId="0" nodeType="withEffect">
                                  <p:stCondLst>
                                    <p:cond delay="41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91" dur="2000" fill="hold"/>
                                        <p:tgtEl>
                                          <p:spTgt spid="50"/>
                                        </p:tgtEl>
                                        <p:attrNameLst>
                                          <p:attrName>ppt_x</p:attrName>
                                          <p:attrName>ppt_y</p:attrName>
                                        </p:attrNameLst>
                                      </p:cBhvr>
                                      <p:rCtr x="-23490" y="-10417"/>
                                    </p:animMotion>
                                  </p:childTnLst>
                                </p:cTn>
                              </p:par>
                              <p:par>
                                <p:cTn id="92" presetID="0" presetClass="path" presetSubtype="0" accel="50000" decel="50000" fill="hold" grpId="0" nodeType="withEffect">
                                  <p:stCondLst>
                                    <p:cond delay="44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93" dur="2000" fill="hold"/>
                                        <p:tgtEl>
                                          <p:spTgt spid="51"/>
                                        </p:tgtEl>
                                        <p:attrNameLst>
                                          <p:attrName>ppt_x</p:attrName>
                                          <p:attrName>ppt_y</p:attrName>
                                        </p:attrNameLst>
                                      </p:cBhvr>
                                      <p:rCtr x="-23490" y="-10417"/>
                                    </p:animMotion>
                                  </p:childTnLst>
                                </p:cTn>
                              </p:par>
                              <p:par>
                                <p:cTn id="94" presetID="0" presetClass="path" presetSubtype="0" accel="50000" decel="50000" fill="hold" grpId="0" nodeType="withEffect">
                                  <p:stCondLst>
                                    <p:cond delay="47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95" dur="2000" fill="hold"/>
                                        <p:tgtEl>
                                          <p:spTgt spid="52"/>
                                        </p:tgtEl>
                                        <p:attrNameLst>
                                          <p:attrName>ppt_x</p:attrName>
                                          <p:attrName>ppt_y</p:attrName>
                                        </p:attrNameLst>
                                      </p:cBhvr>
                                      <p:rCtr x="-23490" y="-10417"/>
                                    </p:animMotion>
                                  </p:childTnLst>
                                </p:cTn>
                              </p:par>
                              <p:par>
                                <p:cTn id="96" presetID="0" presetClass="path" presetSubtype="0" accel="50000" decel="50000" fill="hold" grpId="0" nodeType="withEffect">
                                  <p:stCondLst>
                                    <p:cond delay="50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97" dur="2000" fill="hold"/>
                                        <p:tgtEl>
                                          <p:spTgt spid="53"/>
                                        </p:tgtEl>
                                        <p:attrNameLst>
                                          <p:attrName>ppt_x</p:attrName>
                                          <p:attrName>ppt_y</p:attrName>
                                        </p:attrNameLst>
                                      </p:cBhvr>
                                      <p:rCtr x="-23490" y="-10417"/>
                                    </p:animMotion>
                                  </p:childTnLst>
                                </p:cTn>
                              </p:par>
                              <p:par>
                                <p:cTn id="98" presetID="0" presetClass="path" presetSubtype="0" accel="50000" decel="50000" fill="hold" grpId="0" nodeType="withEffect">
                                  <p:stCondLst>
                                    <p:cond delay="54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99" dur="2000" fill="hold"/>
                                        <p:tgtEl>
                                          <p:spTgt spid="54"/>
                                        </p:tgtEl>
                                        <p:attrNameLst>
                                          <p:attrName>ppt_x</p:attrName>
                                          <p:attrName>ppt_y</p:attrName>
                                        </p:attrNameLst>
                                      </p:cBhvr>
                                      <p:rCtr x="-23490" y="-10417"/>
                                    </p:animMotion>
                                  </p:childTnLst>
                                </p:cTn>
                              </p:par>
                              <p:par>
                                <p:cTn id="100" presetID="0" presetClass="path" presetSubtype="0" accel="50000" decel="50000" fill="hold" grpId="0" nodeType="withEffect">
                                  <p:stCondLst>
                                    <p:cond delay="57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101" dur="2000" fill="hold"/>
                                        <p:tgtEl>
                                          <p:spTgt spid="55"/>
                                        </p:tgtEl>
                                        <p:attrNameLst>
                                          <p:attrName>ppt_x</p:attrName>
                                          <p:attrName>ppt_y</p:attrName>
                                        </p:attrNameLst>
                                      </p:cBhvr>
                                      <p:rCtr x="-23490" y="-10417"/>
                                    </p:animMotion>
                                  </p:childTnLst>
                                </p:cTn>
                              </p:par>
                              <p:par>
                                <p:cTn id="102" presetID="0" presetClass="path" presetSubtype="0" accel="50000" decel="50000" fill="hold" grpId="0" nodeType="withEffect">
                                  <p:stCondLst>
                                    <p:cond delay="60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103" dur="2000" fill="hold"/>
                                        <p:tgtEl>
                                          <p:spTgt spid="56"/>
                                        </p:tgtEl>
                                        <p:attrNameLst>
                                          <p:attrName>ppt_x</p:attrName>
                                          <p:attrName>ppt_y</p:attrName>
                                        </p:attrNameLst>
                                      </p:cBhvr>
                                      <p:rCtr x="-23490" y="-10417"/>
                                    </p:animMotion>
                                  </p:childTnLst>
                                </p:cTn>
                              </p:par>
                              <p:par>
                                <p:cTn id="104" presetID="10" presetClass="exit" presetSubtype="0" fill="hold" grpId="1" nodeType="withEffect">
                                  <p:stCondLst>
                                    <p:cond delay="4300"/>
                                  </p:stCondLst>
                                  <p:childTnLst>
                                    <p:animEffect transition="out" filter="fade">
                                      <p:cBhvr>
                                        <p:cTn id="105" dur="300"/>
                                        <p:tgtEl>
                                          <p:spTgt spid="29"/>
                                        </p:tgtEl>
                                      </p:cBhvr>
                                    </p:animEffect>
                                    <p:set>
                                      <p:cBhvr>
                                        <p:cTn id="106" dur="1" fill="hold">
                                          <p:stCondLst>
                                            <p:cond delay="299"/>
                                          </p:stCondLst>
                                        </p:cTn>
                                        <p:tgtEl>
                                          <p:spTgt spid="29"/>
                                        </p:tgtEl>
                                        <p:attrNameLst>
                                          <p:attrName>style.visibility</p:attrName>
                                        </p:attrNameLst>
                                      </p:cBhvr>
                                      <p:to>
                                        <p:strVal val="hidden"/>
                                      </p:to>
                                    </p:set>
                                  </p:childTnLst>
                                </p:cTn>
                              </p:par>
                              <p:par>
                                <p:cTn id="107" presetID="10" presetClass="exit" presetSubtype="0" fill="hold" grpId="1" nodeType="withEffect">
                                  <p:stCondLst>
                                    <p:cond delay="4600"/>
                                  </p:stCondLst>
                                  <p:childTnLst>
                                    <p:animEffect transition="out" filter="fade">
                                      <p:cBhvr>
                                        <p:cTn id="108" dur="300"/>
                                        <p:tgtEl>
                                          <p:spTgt spid="45"/>
                                        </p:tgtEl>
                                      </p:cBhvr>
                                    </p:animEffect>
                                    <p:set>
                                      <p:cBhvr>
                                        <p:cTn id="109" dur="1" fill="hold">
                                          <p:stCondLst>
                                            <p:cond delay="299"/>
                                          </p:stCondLst>
                                        </p:cTn>
                                        <p:tgtEl>
                                          <p:spTgt spid="45"/>
                                        </p:tgtEl>
                                        <p:attrNameLst>
                                          <p:attrName>style.visibility</p:attrName>
                                        </p:attrNameLst>
                                      </p:cBhvr>
                                      <p:to>
                                        <p:strVal val="hidden"/>
                                      </p:to>
                                    </p:set>
                                  </p:childTnLst>
                                </p:cTn>
                              </p:par>
                              <p:par>
                                <p:cTn id="110" presetID="10" presetClass="exit" presetSubtype="0" fill="hold" grpId="1" nodeType="withEffect">
                                  <p:stCondLst>
                                    <p:cond delay="4900"/>
                                  </p:stCondLst>
                                  <p:childTnLst>
                                    <p:animEffect transition="out" filter="fade">
                                      <p:cBhvr>
                                        <p:cTn id="111" dur="300"/>
                                        <p:tgtEl>
                                          <p:spTgt spid="46"/>
                                        </p:tgtEl>
                                      </p:cBhvr>
                                    </p:animEffect>
                                    <p:set>
                                      <p:cBhvr>
                                        <p:cTn id="112" dur="1" fill="hold">
                                          <p:stCondLst>
                                            <p:cond delay="299"/>
                                          </p:stCondLst>
                                        </p:cTn>
                                        <p:tgtEl>
                                          <p:spTgt spid="46"/>
                                        </p:tgtEl>
                                        <p:attrNameLst>
                                          <p:attrName>style.visibility</p:attrName>
                                        </p:attrNameLst>
                                      </p:cBhvr>
                                      <p:to>
                                        <p:strVal val="hidden"/>
                                      </p:to>
                                    </p:set>
                                  </p:childTnLst>
                                </p:cTn>
                              </p:par>
                              <p:par>
                                <p:cTn id="113" presetID="10" presetClass="exit" presetSubtype="0" fill="hold" grpId="1" nodeType="withEffect">
                                  <p:stCondLst>
                                    <p:cond delay="5200"/>
                                  </p:stCondLst>
                                  <p:childTnLst>
                                    <p:animEffect transition="out" filter="fade">
                                      <p:cBhvr>
                                        <p:cTn id="114" dur="300"/>
                                        <p:tgtEl>
                                          <p:spTgt spid="47"/>
                                        </p:tgtEl>
                                      </p:cBhvr>
                                    </p:animEffect>
                                    <p:set>
                                      <p:cBhvr>
                                        <p:cTn id="115" dur="1" fill="hold">
                                          <p:stCondLst>
                                            <p:cond delay="299"/>
                                          </p:stCondLst>
                                        </p:cTn>
                                        <p:tgtEl>
                                          <p:spTgt spid="47"/>
                                        </p:tgtEl>
                                        <p:attrNameLst>
                                          <p:attrName>style.visibility</p:attrName>
                                        </p:attrNameLst>
                                      </p:cBhvr>
                                      <p:to>
                                        <p:strVal val="hidden"/>
                                      </p:to>
                                    </p:set>
                                  </p:childTnLst>
                                </p:cTn>
                              </p:par>
                              <p:par>
                                <p:cTn id="116" presetID="10" presetClass="exit" presetSubtype="0" fill="hold" grpId="1" nodeType="withEffect">
                                  <p:stCondLst>
                                    <p:cond delay="5500"/>
                                  </p:stCondLst>
                                  <p:childTnLst>
                                    <p:animEffect transition="out" filter="fade">
                                      <p:cBhvr>
                                        <p:cTn id="117" dur="300"/>
                                        <p:tgtEl>
                                          <p:spTgt spid="48"/>
                                        </p:tgtEl>
                                      </p:cBhvr>
                                    </p:animEffect>
                                    <p:set>
                                      <p:cBhvr>
                                        <p:cTn id="118" dur="1" fill="hold">
                                          <p:stCondLst>
                                            <p:cond delay="299"/>
                                          </p:stCondLst>
                                        </p:cTn>
                                        <p:tgtEl>
                                          <p:spTgt spid="48"/>
                                        </p:tgtEl>
                                        <p:attrNameLst>
                                          <p:attrName>style.visibility</p:attrName>
                                        </p:attrNameLst>
                                      </p:cBhvr>
                                      <p:to>
                                        <p:strVal val="hidden"/>
                                      </p:to>
                                    </p:set>
                                  </p:childTnLst>
                                </p:cTn>
                              </p:par>
                              <p:par>
                                <p:cTn id="119" presetID="10" presetClass="exit" presetSubtype="0" fill="hold" grpId="1" nodeType="withEffect">
                                  <p:stCondLst>
                                    <p:cond delay="5800"/>
                                  </p:stCondLst>
                                  <p:childTnLst>
                                    <p:animEffect transition="out" filter="fade">
                                      <p:cBhvr>
                                        <p:cTn id="120" dur="300"/>
                                        <p:tgtEl>
                                          <p:spTgt spid="49"/>
                                        </p:tgtEl>
                                      </p:cBhvr>
                                    </p:animEffect>
                                    <p:set>
                                      <p:cBhvr>
                                        <p:cTn id="121" dur="1" fill="hold">
                                          <p:stCondLst>
                                            <p:cond delay="299"/>
                                          </p:stCondLst>
                                        </p:cTn>
                                        <p:tgtEl>
                                          <p:spTgt spid="49"/>
                                        </p:tgtEl>
                                        <p:attrNameLst>
                                          <p:attrName>style.visibility</p:attrName>
                                        </p:attrNameLst>
                                      </p:cBhvr>
                                      <p:to>
                                        <p:strVal val="hidden"/>
                                      </p:to>
                                    </p:set>
                                  </p:childTnLst>
                                </p:cTn>
                              </p:par>
                              <p:par>
                                <p:cTn id="122" presetID="10" presetClass="exit" presetSubtype="0" fill="hold" grpId="1" nodeType="withEffect">
                                  <p:stCondLst>
                                    <p:cond delay="6100"/>
                                  </p:stCondLst>
                                  <p:childTnLst>
                                    <p:animEffect transition="out" filter="fade">
                                      <p:cBhvr>
                                        <p:cTn id="123" dur="300"/>
                                        <p:tgtEl>
                                          <p:spTgt spid="50"/>
                                        </p:tgtEl>
                                      </p:cBhvr>
                                    </p:animEffect>
                                    <p:set>
                                      <p:cBhvr>
                                        <p:cTn id="124" dur="1" fill="hold">
                                          <p:stCondLst>
                                            <p:cond delay="299"/>
                                          </p:stCondLst>
                                        </p:cTn>
                                        <p:tgtEl>
                                          <p:spTgt spid="50"/>
                                        </p:tgtEl>
                                        <p:attrNameLst>
                                          <p:attrName>style.visibility</p:attrName>
                                        </p:attrNameLst>
                                      </p:cBhvr>
                                      <p:to>
                                        <p:strVal val="hidden"/>
                                      </p:to>
                                    </p:set>
                                  </p:childTnLst>
                                </p:cTn>
                              </p:par>
                              <p:par>
                                <p:cTn id="125" presetID="10" presetClass="exit" presetSubtype="0" fill="hold" grpId="1" nodeType="withEffect">
                                  <p:stCondLst>
                                    <p:cond delay="6400"/>
                                  </p:stCondLst>
                                  <p:childTnLst>
                                    <p:animEffect transition="out" filter="fade">
                                      <p:cBhvr>
                                        <p:cTn id="126" dur="300"/>
                                        <p:tgtEl>
                                          <p:spTgt spid="51"/>
                                        </p:tgtEl>
                                      </p:cBhvr>
                                    </p:animEffect>
                                    <p:set>
                                      <p:cBhvr>
                                        <p:cTn id="127" dur="1" fill="hold">
                                          <p:stCondLst>
                                            <p:cond delay="299"/>
                                          </p:stCondLst>
                                        </p:cTn>
                                        <p:tgtEl>
                                          <p:spTgt spid="51"/>
                                        </p:tgtEl>
                                        <p:attrNameLst>
                                          <p:attrName>style.visibility</p:attrName>
                                        </p:attrNameLst>
                                      </p:cBhvr>
                                      <p:to>
                                        <p:strVal val="hidden"/>
                                      </p:to>
                                    </p:set>
                                  </p:childTnLst>
                                </p:cTn>
                              </p:par>
                              <p:par>
                                <p:cTn id="128" presetID="10" presetClass="exit" presetSubtype="0" fill="hold" grpId="1" nodeType="withEffect">
                                  <p:stCondLst>
                                    <p:cond delay="6700"/>
                                  </p:stCondLst>
                                  <p:childTnLst>
                                    <p:animEffect transition="out" filter="fade">
                                      <p:cBhvr>
                                        <p:cTn id="129" dur="300"/>
                                        <p:tgtEl>
                                          <p:spTgt spid="52"/>
                                        </p:tgtEl>
                                      </p:cBhvr>
                                    </p:animEffect>
                                    <p:set>
                                      <p:cBhvr>
                                        <p:cTn id="130" dur="1" fill="hold">
                                          <p:stCondLst>
                                            <p:cond delay="299"/>
                                          </p:stCondLst>
                                        </p:cTn>
                                        <p:tgtEl>
                                          <p:spTgt spid="52"/>
                                        </p:tgtEl>
                                        <p:attrNameLst>
                                          <p:attrName>style.visibility</p:attrName>
                                        </p:attrNameLst>
                                      </p:cBhvr>
                                      <p:to>
                                        <p:strVal val="hidden"/>
                                      </p:to>
                                    </p:set>
                                  </p:childTnLst>
                                </p:cTn>
                              </p:par>
                              <p:par>
                                <p:cTn id="131" presetID="10" presetClass="exit" presetSubtype="0" fill="hold" grpId="1" nodeType="withEffect">
                                  <p:stCondLst>
                                    <p:cond delay="7000"/>
                                  </p:stCondLst>
                                  <p:childTnLst>
                                    <p:animEffect transition="out" filter="fade">
                                      <p:cBhvr>
                                        <p:cTn id="132" dur="300"/>
                                        <p:tgtEl>
                                          <p:spTgt spid="53"/>
                                        </p:tgtEl>
                                      </p:cBhvr>
                                    </p:animEffect>
                                    <p:set>
                                      <p:cBhvr>
                                        <p:cTn id="133" dur="1" fill="hold">
                                          <p:stCondLst>
                                            <p:cond delay="299"/>
                                          </p:stCondLst>
                                        </p:cTn>
                                        <p:tgtEl>
                                          <p:spTgt spid="53"/>
                                        </p:tgtEl>
                                        <p:attrNameLst>
                                          <p:attrName>style.visibility</p:attrName>
                                        </p:attrNameLst>
                                      </p:cBhvr>
                                      <p:to>
                                        <p:strVal val="hidden"/>
                                      </p:to>
                                    </p:set>
                                  </p:childTnLst>
                                </p:cTn>
                              </p:par>
                              <p:par>
                                <p:cTn id="134" presetID="10" presetClass="exit" presetSubtype="0" fill="hold" grpId="1" nodeType="withEffect">
                                  <p:stCondLst>
                                    <p:cond delay="7300"/>
                                  </p:stCondLst>
                                  <p:childTnLst>
                                    <p:animEffect transition="out" filter="fade">
                                      <p:cBhvr>
                                        <p:cTn id="135" dur="300"/>
                                        <p:tgtEl>
                                          <p:spTgt spid="54"/>
                                        </p:tgtEl>
                                      </p:cBhvr>
                                    </p:animEffect>
                                    <p:set>
                                      <p:cBhvr>
                                        <p:cTn id="136" dur="1" fill="hold">
                                          <p:stCondLst>
                                            <p:cond delay="299"/>
                                          </p:stCondLst>
                                        </p:cTn>
                                        <p:tgtEl>
                                          <p:spTgt spid="54"/>
                                        </p:tgtEl>
                                        <p:attrNameLst>
                                          <p:attrName>style.visibility</p:attrName>
                                        </p:attrNameLst>
                                      </p:cBhvr>
                                      <p:to>
                                        <p:strVal val="hidden"/>
                                      </p:to>
                                    </p:set>
                                  </p:childTnLst>
                                </p:cTn>
                              </p:par>
                              <p:par>
                                <p:cTn id="137" presetID="10" presetClass="exit" presetSubtype="0" fill="hold" nodeType="withEffect">
                                  <p:stCondLst>
                                    <p:cond delay="7600"/>
                                  </p:stCondLst>
                                  <p:childTnLst>
                                    <p:animEffect transition="out" filter="fade">
                                      <p:cBhvr>
                                        <p:cTn id="138" dur="300"/>
                                        <p:tgtEl>
                                          <p:spTgt spid="55"/>
                                        </p:tgtEl>
                                      </p:cBhvr>
                                    </p:animEffect>
                                    <p:set>
                                      <p:cBhvr>
                                        <p:cTn id="139" dur="1" fill="hold">
                                          <p:stCondLst>
                                            <p:cond delay="299"/>
                                          </p:stCondLst>
                                        </p:cTn>
                                        <p:tgtEl>
                                          <p:spTgt spid="55"/>
                                        </p:tgtEl>
                                        <p:attrNameLst>
                                          <p:attrName>style.visibility</p:attrName>
                                        </p:attrNameLst>
                                      </p:cBhvr>
                                      <p:to>
                                        <p:strVal val="hidden"/>
                                      </p:to>
                                    </p:set>
                                  </p:childTnLst>
                                </p:cTn>
                              </p:par>
                              <p:par>
                                <p:cTn id="140" presetID="10" presetClass="exit" presetSubtype="0" fill="hold" nodeType="withEffect">
                                  <p:stCondLst>
                                    <p:cond delay="7900"/>
                                  </p:stCondLst>
                                  <p:childTnLst>
                                    <p:animEffect transition="out" filter="fade">
                                      <p:cBhvr>
                                        <p:cTn id="141" dur="300"/>
                                        <p:tgtEl>
                                          <p:spTgt spid="56"/>
                                        </p:tgtEl>
                                      </p:cBhvr>
                                    </p:animEffect>
                                    <p:set>
                                      <p:cBhvr>
                                        <p:cTn id="142" dur="1" fill="hold">
                                          <p:stCondLst>
                                            <p:cond delay="299"/>
                                          </p:stCondLst>
                                        </p:cTn>
                                        <p:tgtEl>
                                          <p:spTgt spid="56"/>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226"/>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22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2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0" presetClass="path" presetSubtype="0" accel="50000" decel="50000" fill="hold" grpId="0" nodeType="clickEffect">
                                  <p:stCondLst>
                                    <p:cond delay="0"/>
                                  </p:stCondLst>
                                  <p:childTnLst>
                                    <p:animMotion origin="layout" path="M 0.01263 -0.00371 C 0.03425 0.02662 0.10742 0.13379 0.14167 0.17777 C 0.17591 0.22199 0.18451 0.24629 0.21771 0.26134 C 0.25091 0.27638 0.3151 0.26643 0.34063 0.26782 " pathEditMode="relative" rAng="0" ptsTypes="AAAA">
                                      <p:cBhvr>
                                        <p:cTn id="154" dur="1000" fill="hold"/>
                                        <p:tgtEl>
                                          <p:spTgt spid="57"/>
                                        </p:tgtEl>
                                        <p:attrNameLst>
                                          <p:attrName>ppt_x</p:attrName>
                                          <p:attrName>ppt_y</p:attrName>
                                        </p:attrNameLst>
                                      </p:cBhvr>
                                      <p:rCtr x="16393" y="13657"/>
                                    </p:animMotion>
                                  </p:childTnLst>
                                </p:cTn>
                              </p:par>
                              <p:par>
                                <p:cTn id="155" presetID="0" presetClass="path" presetSubtype="0" accel="50000" decel="50000" fill="hold" grpId="0" nodeType="withEffect">
                                  <p:stCondLst>
                                    <p:cond delay="500"/>
                                  </p:stCondLst>
                                  <p:childTnLst>
                                    <p:animMotion origin="layout" path="M 0.01263 -0.00371 C 0.03425 0.02662 0.10742 0.13379 0.14167 0.17777 C 0.17591 0.22199 0.18854 0.24629 0.21771 0.26134 C 0.24688 0.27638 0.29583 0.26666 0.31628 0.26805 " pathEditMode="relative" rAng="0" ptsTypes="AAAA">
                                      <p:cBhvr>
                                        <p:cTn id="156" dur="1000" fill="hold"/>
                                        <p:tgtEl>
                                          <p:spTgt spid="58"/>
                                        </p:tgtEl>
                                        <p:attrNameLst>
                                          <p:attrName>ppt_x</p:attrName>
                                          <p:attrName>ppt_y</p:attrName>
                                        </p:attrNameLst>
                                      </p:cBhvr>
                                      <p:rCtr x="15182" y="13657"/>
                                    </p:animMotion>
                                  </p:childTnLst>
                                </p:cTn>
                              </p:par>
                              <p:par>
                                <p:cTn id="157" presetID="0" presetClass="path" presetSubtype="0" accel="50000" decel="50000" fill="hold" grpId="0" nodeType="withEffect">
                                  <p:stCondLst>
                                    <p:cond delay="1000"/>
                                  </p:stCondLst>
                                  <p:childTnLst>
                                    <p:animMotion origin="layout" path="M 0.01198 -0.00069 C 0.03841 -0.04051 0.06471 -0.08032 0.09063 -0.11805 C 0.11654 -0.15579 0.14909 -0.20185 0.16771 -0.22778 C 0.18633 -0.2537 0.19076 -0.26296 0.20169 -0.27315 C 0.21263 -0.28333 0.21862 -0.28634 0.23385 -0.28889 C 0.24909 -0.29143 0.28138 -0.28912 0.29388 -0.28912 " pathEditMode="relative" rAng="0" ptsTypes="AAAAAA">
                                      <p:cBhvr>
                                        <p:cTn id="158" dur="1000" fill="hold"/>
                                        <p:tgtEl>
                                          <p:spTgt spid="30"/>
                                        </p:tgtEl>
                                        <p:attrNameLst>
                                          <p:attrName>ppt_x</p:attrName>
                                          <p:attrName>ppt_y</p:attrName>
                                        </p:attrNameLst>
                                      </p:cBhvr>
                                      <p:rCtr x="14089" y="-14491"/>
                                    </p:animMotion>
                                  </p:childTnLst>
                                </p:cTn>
                              </p:par>
                              <p:par>
                                <p:cTn id="159" presetID="0" presetClass="path" presetSubtype="0" accel="50000" decel="50000" fill="hold" grpId="0" nodeType="withEffect">
                                  <p:stCondLst>
                                    <p:cond delay="1500"/>
                                  </p:stCondLst>
                                  <p:childTnLst>
                                    <p:animMotion origin="layout" path="M 0.01263 -0.00371 C 0.03425 0.02662 0.10742 0.13379 0.14167 0.17777 C 0.17591 0.22199 0.19596 0.24629 0.21771 0.26134 C 0.23945 0.27638 0.26042 0.26666 0.27149 0.26805 " pathEditMode="relative" rAng="0" ptsTypes="AAAA">
                                      <p:cBhvr>
                                        <p:cTn id="160" dur="1000" fill="hold"/>
                                        <p:tgtEl>
                                          <p:spTgt spid="59"/>
                                        </p:tgtEl>
                                        <p:attrNameLst>
                                          <p:attrName>ppt_x</p:attrName>
                                          <p:attrName>ppt_y</p:attrName>
                                        </p:attrNameLst>
                                      </p:cBhvr>
                                      <p:rCtr x="12943" y="13657"/>
                                    </p:animMotion>
                                  </p:childTnLst>
                                </p:cTn>
                              </p:par>
                              <p:par>
                                <p:cTn id="161" presetID="0" presetClass="path" presetSubtype="0" accel="50000" decel="50000" fill="hold" grpId="0" nodeType="withEffect">
                                  <p:stCondLst>
                                    <p:cond delay="2000"/>
                                  </p:stCondLst>
                                  <p:childTnLst>
                                    <p:animMotion origin="layout" path="M 0.01198 -0.00069 C 0.03841 -0.04051 0.06471 -0.08032 0.09063 -0.11806 C 0.11654 -0.15579 0.14909 -0.20185 0.16771 -0.22778 C 0.18633 -0.2537 0.19076 -0.26296 0.20169 -0.27315 C 0.21263 -0.28333 0.22604 -0.28657 0.23385 -0.28889 C 0.24167 -0.2912 0.24544 -0.28796 0.24844 -0.28773 " pathEditMode="relative" rAng="0" ptsTypes="AAAAAA">
                                      <p:cBhvr>
                                        <p:cTn id="162" dur="1000" fill="hold"/>
                                        <p:tgtEl>
                                          <p:spTgt spid="60"/>
                                        </p:tgtEl>
                                        <p:attrNameLst>
                                          <p:attrName>ppt_x</p:attrName>
                                          <p:attrName>ppt_y</p:attrName>
                                        </p:attrNameLst>
                                      </p:cBhvr>
                                      <p:rCtr x="11823" y="-14468"/>
                                    </p:animMotion>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6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62"/>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64"/>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0" presetClass="exit" presetSubtype="0" fill="hold" nodeType="clickEffect">
                                  <p:stCondLst>
                                    <p:cond delay="0"/>
                                  </p:stCondLst>
                                  <p:childTnLst>
                                    <p:animEffect transition="out" filter="fade">
                                      <p:cBhvr>
                                        <p:cTn id="174" dur="500"/>
                                        <p:tgtEl>
                                          <p:spTgt spid="64"/>
                                        </p:tgtEl>
                                      </p:cBhvr>
                                    </p:animEffect>
                                    <p:set>
                                      <p:cBhvr>
                                        <p:cTn id="175" dur="1" fill="hold">
                                          <p:stCondLst>
                                            <p:cond delay="499"/>
                                          </p:stCondLst>
                                        </p:cTn>
                                        <p:tgtEl>
                                          <p:spTgt spid="64"/>
                                        </p:tgtEl>
                                        <p:attrNameLst>
                                          <p:attrName>style.visibility</p:attrName>
                                        </p:attrNameLst>
                                      </p:cBhvr>
                                      <p:to>
                                        <p:strVal val="hidden"/>
                                      </p:to>
                                    </p:set>
                                  </p:childTnLst>
                                </p:cTn>
                              </p:par>
                              <p:par>
                                <p:cTn id="176" presetID="1" presetClass="exit" presetSubtype="0" fill="hold" grpId="1" nodeType="withEffect">
                                  <p:stCondLst>
                                    <p:cond delay="0"/>
                                  </p:stCondLst>
                                  <p:childTnLst>
                                    <p:set>
                                      <p:cBhvr>
                                        <p:cTn id="177" dur="1" fill="hold">
                                          <p:stCondLst>
                                            <p:cond delay="0"/>
                                          </p:stCondLst>
                                        </p:cTn>
                                        <p:tgtEl>
                                          <p:spTgt spid="24"/>
                                        </p:tgtEl>
                                        <p:attrNameLst>
                                          <p:attrName>style.visibility</p:attrName>
                                        </p:attrNameLst>
                                      </p:cBhvr>
                                      <p:to>
                                        <p:strVal val="hidden"/>
                                      </p:to>
                                    </p:set>
                                  </p:childTnLst>
                                </p:cTn>
                              </p:par>
                              <p:par>
                                <p:cTn id="178" presetID="1" presetClass="exit" presetSubtype="0" fill="hold" grpId="1" nodeType="withEffect">
                                  <p:stCondLst>
                                    <p:cond delay="0"/>
                                  </p:stCondLst>
                                  <p:childTnLst>
                                    <p:set>
                                      <p:cBhvr>
                                        <p:cTn id="179" dur="1" fill="hold">
                                          <p:stCondLst>
                                            <p:cond delay="0"/>
                                          </p:stCondLst>
                                        </p:cTn>
                                        <p:tgtEl>
                                          <p:spTgt spid="226"/>
                                        </p:tgtEl>
                                        <p:attrNameLst>
                                          <p:attrName>style.visibility</p:attrName>
                                        </p:attrNameLst>
                                      </p:cBhvr>
                                      <p:to>
                                        <p:strVal val="hidden"/>
                                      </p:to>
                                    </p:set>
                                  </p:childTnLst>
                                </p:cTn>
                              </p:par>
                              <p:par>
                                <p:cTn id="180" presetID="1" presetClass="exit" presetSubtype="0" fill="hold" nodeType="withEffect">
                                  <p:stCondLst>
                                    <p:cond delay="0"/>
                                  </p:stCondLst>
                                  <p:childTnLst>
                                    <p:set>
                                      <p:cBhvr>
                                        <p:cTn id="181" dur="1" fill="hold">
                                          <p:stCondLst>
                                            <p:cond delay="0"/>
                                          </p:stCondLst>
                                        </p:cTn>
                                        <p:tgtEl>
                                          <p:spTgt spid="224"/>
                                        </p:tgtEl>
                                        <p:attrNameLst>
                                          <p:attrName>style.visibility</p:attrName>
                                        </p:attrNameLst>
                                      </p:cBhvr>
                                      <p:to>
                                        <p:strVal val="hidden"/>
                                      </p:to>
                                    </p:set>
                                  </p:childTnLst>
                                </p:cTn>
                              </p:par>
                              <p:par>
                                <p:cTn id="182" presetID="63" presetClass="path" presetSubtype="0" accel="50000" decel="50000" fill="hold" grpId="1" nodeType="withEffect">
                                  <p:stCondLst>
                                    <p:cond delay="0"/>
                                  </p:stCondLst>
                                  <p:childTnLst>
                                    <p:animMotion origin="layout" path="M 0.33542 0.26759 L 0.51042 0.26759 " pathEditMode="relative" rAng="0" ptsTypes="AA">
                                      <p:cBhvr>
                                        <p:cTn id="183" dur="2000" fill="hold"/>
                                        <p:tgtEl>
                                          <p:spTgt spid="57"/>
                                        </p:tgtEl>
                                        <p:attrNameLst>
                                          <p:attrName>ppt_x</p:attrName>
                                          <p:attrName>ppt_y</p:attrName>
                                        </p:attrNameLst>
                                      </p:cBhvr>
                                      <p:rCtr x="8750" y="0"/>
                                    </p:animMotion>
                                  </p:childTnLst>
                                </p:cTn>
                              </p:par>
                              <p:par>
                                <p:cTn id="184" presetID="10" presetClass="exit" presetSubtype="0" fill="hold" grpId="2" nodeType="withEffect">
                                  <p:stCondLst>
                                    <p:cond delay="1800"/>
                                  </p:stCondLst>
                                  <p:childTnLst>
                                    <p:animEffect transition="out" filter="fade">
                                      <p:cBhvr>
                                        <p:cTn id="185" dur="500"/>
                                        <p:tgtEl>
                                          <p:spTgt spid="57"/>
                                        </p:tgtEl>
                                      </p:cBhvr>
                                    </p:animEffect>
                                    <p:set>
                                      <p:cBhvr>
                                        <p:cTn id="186" dur="1" fill="hold">
                                          <p:stCondLst>
                                            <p:cond delay="499"/>
                                          </p:stCondLst>
                                        </p:cTn>
                                        <p:tgtEl>
                                          <p:spTgt spid="57"/>
                                        </p:tgtEl>
                                        <p:attrNameLst>
                                          <p:attrName>style.visibility</p:attrName>
                                        </p:attrNameLst>
                                      </p:cBhvr>
                                      <p:to>
                                        <p:strVal val="hidden"/>
                                      </p:to>
                                    </p:set>
                                  </p:childTnLst>
                                </p:cTn>
                              </p:par>
                              <p:par>
                                <p:cTn id="187" presetID="10" presetClass="exit" presetSubtype="0" fill="hold" grpId="0" nodeType="withEffect">
                                  <p:stCondLst>
                                    <p:cond delay="1800"/>
                                  </p:stCondLst>
                                  <p:childTnLst>
                                    <p:animEffect transition="out" filter="fade">
                                      <p:cBhvr>
                                        <p:cTn id="188" dur="500"/>
                                        <p:tgtEl>
                                          <p:spTgt spid="15"/>
                                        </p:tgtEl>
                                      </p:cBhvr>
                                    </p:animEffect>
                                    <p:set>
                                      <p:cBhvr>
                                        <p:cTn id="189" dur="1" fill="hold">
                                          <p:stCondLst>
                                            <p:cond delay="499"/>
                                          </p:stCondLst>
                                        </p:cTn>
                                        <p:tgtEl>
                                          <p:spTgt spid="15"/>
                                        </p:tgtEl>
                                        <p:attrNameLst>
                                          <p:attrName>style.visibility</p:attrName>
                                        </p:attrNameLst>
                                      </p:cBhvr>
                                      <p:to>
                                        <p:strVal val="hidden"/>
                                      </p:to>
                                    </p:set>
                                  </p:childTnLst>
                                </p:cTn>
                              </p:par>
                              <p:par>
                                <p:cTn id="190" presetID="0" presetClass="path" presetSubtype="0" accel="50000" decel="50000" fill="hold" grpId="0" nodeType="withEffect">
                                  <p:stCondLst>
                                    <p:cond delay="23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191" dur="2000" fill="hold"/>
                                        <p:tgtEl>
                                          <p:spTgt spid="14"/>
                                        </p:tgtEl>
                                        <p:attrNameLst>
                                          <p:attrName>ppt_x</p:attrName>
                                          <p:attrName>ppt_y</p:attrName>
                                        </p:attrNameLst>
                                      </p:cBhvr>
                                      <p:rCtr x="-23490" y="-10417"/>
                                    </p:animMotion>
                                  </p:childTnLst>
                                </p:cTn>
                              </p:par>
                              <p:par>
                                <p:cTn id="192" presetID="10" presetClass="exit" presetSubtype="0" fill="hold" nodeType="withEffect">
                                  <p:stCondLst>
                                    <p:cond delay="4100"/>
                                  </p:stCondLst>
                                  <p:childTnLst>
                                    <p:animEffect transition="out" filter="fade">
                                      <p:cBhvr>
                                        <p:cTn id="193" dur="500"/>
                                        <p:tgtEl>
                                          <p:spTgt spid="14"/>
                                        </p:tgtEl>
                                      </p:cBhvr>
                                    </p:animEffect>
                                    <p:set>
                                      <p:cBhvr>
                                        <p:cTn id="194" dur="1" fill="hold">
                                          <p:stCondLst>
                                            <p:cond delay="499"/>
                                          </p:stCondLst>
                                        </p:cTn>
                                        <p:tgtEl>
                                          <p:spTgt spid="14"/>
                                        </p:tgtEl>
                                        <p:attrNameLst>
                                          <p:attrName>style.visibility</p:attrName>
                                        </p:attrNameLst>
                                      </p:cBhvr>
                                      <p:to>
                                        <p:strVal val="hidden"/>
                                      </p:to>
                                    </p:set>
                                  </p:childTnLst>
                                </p:cTn>
                              </p:par>
                              <p:par>
                                <p:cTn id="195" presetID="63" presetClass="path" presetSubtype="0" accel="50000" decel="50000" fill="hold" grpId="1" nodeType="withEffect">
                                  <p:stCondLst>
                                    <p:cond delay="500"/>
                                  </p:stCondLst>
                                  <p:childTnLst>
                                    <p:animMotion origin="layout" path="M 0.31576 0.26597 L 0.51419 0.26504 " pathEditMode="relative" rAng="0" ptsTypes="AA">
                                      <p:cBhvr>
                                        <p:cTn id="196" dur="2000" fill="hold"/>
                                        <p:tgtEl>
                                          <p:spTgt spid="58"/>
                                        </p:tgtEl>
                                        <p:attrNameLst>
                                          <p:attrName>ppt_x</p:attrName>
                                          <p:attrName>ppt_y</p:attrName>
                                        </p:attrNameLst>
                                      </p:cBhvr>
                                      <p:rCtr x="9922" y="-46"/>
                                    </p:animMotion>
                                  </p:childTnLst>
                                </p:cTn>
                              </p:par>
                              <p:par>
                                <p:cTn id="197" presetID="10" presetClass="exit" presetSubtype="0" fill="hold" grpId="2" nodeType="withEffect">
                                  <p:stCondLst>
                                    <p:cond delay="2200"/>
                                  </p:stCondLst>
                                  <p:childTnLst>
                                    <p:animEffect transition="out" filter="fade">
                                      <p:cBhvr>
                                        <p:cTn id="198" dur="500"/>
                                        <p:tgtEl>
                                          <p:spTgt spid="58"/>
                                        </p:tgtEl>
                                      </p:cBhvr>
                                    </p:animEffect>
                                    <p:set>
                                      <p:cBhvr>
                                        <p:cTn id="199" dur="1" fill="hold">
                                          <p:stCondLst>
                                            <p:cond delay="499"/>
                                          </p:stCondLst>
                                        </p:cTn>
                                        <p:tgtEl>
                                          <p:spTgt spid="58"/>
                                        </p:tgtEl>
                                        <p:attrNameLst>
                                          <p:attrName>style.visibility</p:attrName>
                                        </p:attrNameLst>
                                      </p:cBhvr>
                                      <p:to>
                                        <p:strVal val="hidden"/>
                                      </p:to>
                                    </p:set>
                                  </p:childTnLst>
                                </p:cTn>
                              </p:par>
                              <p:par>
                                <p:cTn id="200" presetID="0" presetClass="path" presetSubtype="0" accel="50000" decel="50000" fill="hold" grpId="0" nodeType="withEffect">
                                  <p:stCondLst>
                                    <p:cond delay="2700"/>
                                  </p:stCondLst>
                                  <p:childTnLst>
                                    <p:animMotion origin="layout" path="M 0.00039 -0.0007 C -0.03868 -0.00093 -0.17852 0.00301 -0.23425 -0.00348 C -0.28998 -0.00996 -0.30274 -0.01667 -0.33425 -0.03982 C -0.36563 -0.06297 -0.4 -0.11412 -0.42253 -0.14236 C -0.44519 -0.17084 -0.45664 -0.19098 -0.46927 -0.20996 " pathEditMode="relative" rAng="0" ptsTypes="AAAAA">
                                      <p:cBhvr>
                                        <p:cTn id="201" dur="2000" fill="hold"/>
                                        <p:tgtEl>
                                          <p:spTgt spid="13"/>
                                        </p:tgtEl>
                                        <p:attrNameLst>
                                          <p:attrName>ppt_x</p:attrName>
                                          <p:attrName>ppt_y</p:attrName>
                                        </p:attrNameLst>
                                      </p:cBhvr>
                                      <p:rCtr x="-23490" y="-10417"/>
                                    </p:animMotion>
                                  </p:childTnLst>
                                </p:cTn>
                              </p:par>
                              <p:par>
                                <p:cTn id="202" presetID="10" presetClass="exit" presetSubtype="0" fill="hold" nodeType="withEffect">
                                  <p:stCondLst>
                                    <p:cond delay="4500"/>
                                  </p:stCondLst>
                                  <p:childTnLst>
                                    <p:animEffect transition="out" filter="fade">
                                      <p:cBhvr>
                                        <p:cTn id="203" dur="500"/>
                                        <p:tgtEl>
                                          <p:spTgt spid="13"/>
                                        </p:tgtEl>
                                      </p:cBhvr>
                                    </p:animEffect>
                                    <p:set>
                                      <p:cBhvr>
                                        <p:cTn id="204" dur="1" fill="hold">
                                          <p:stCondLst>
                                            <p:cond delay="499"/>
                                          </p:stCondLst>
                                        </p:cTn>
                                        <p:tgtEl>
                                          <p:spTgt spid="13"/>
                                        </p:tgtEl>
                                        <p:attrNameLst>
                                          <p:attrName>style.visibility</p:attrName>
                                        </p:attrNameLst>
                                      </p:cBhvr>
                                      <p:to>
                                        <p:strVal val="hidden"/>
                                      </p:to>
                                    </p:set>
                                  </p:childTnLst>
                                </p:cTn>
                              </p:par>
                              <p:par>
                                <p:cTn id="205" presetID="63" presetClass="path" presetSubtype="0" accel="50000" decel="50000" fill="hold" grpId="1" nodeType="withEffect">
                                  <p:stCondLst>
                                    <p:cond delay="1000"/>
                                  </p:stCondLst>
                                  <p:childTnLst>
                                    <p:animMotion origin="layout" path="M 0.29388 -0.29259 L 0.51263 -0.29259 " pathEditMode="relative" rAng="0" ptsTypes="AA">
                                      <p:cBhvr>
                                        <p:cTn id="206" dur="2000" fill="hold"/>
                                        <p:tgtEl>
                                          <p:spTgt spid="30"/>
                                        </p:tgtEl>
                                        <p:attrNameLst>
                                          <p:attrName>ppt_x</p:attrName>
                                          <p:attrName>ppt_y</p:attrName>
                                        </p:attrNameLst>
                                      </p:cBhvr>
                                      <p:rCtr x="10938" y="0"/>
                                    </p:animMotion>
                                  </p:childTnLst>
                                </p:cTn>
                              </p:par>
                              <p:par>
                                <p:cTn id="207" presetID="10" presetClass="exit" presetSubtype="0" fill="hold" grpId="2" nodeType="withEffect">
                                  <p:stCondLst>
                                    <p:cond delay="2800"/>
                                  </p:stCondLst>
                                  <p:childTnLst>
                                    <p:animEffect transition="out" filter="fade">
                                      <p:cBhvr>
                                        <p:cTn id="208" dur="500"/>
                                        <p:tgtEl>
                                          <p:spTgt spid="30"/>
                                        </p:tgtEl>
                                      </p:cBhvr>
                                    </p:animEffect>
                                    <p:set>
                                      <p:cBhvr>
                                        <p:cTn id="209" dur="1" fill="hold">
                                          <p:stCondLst>
                                            <p:cond delay="499"/>
                                          </p:stCondLst>
                                        </p:cTn>
                                        <p:tgtEl>
                                          <p:spTgt spid="30"/>
                                        </p:tgtEl>
                                        <p:attrNameLst>
                                          <p:attrName>style.visibility</p:attrName>
                                        </p:attrNameLst>
                                      </p:cBhvr>
                                      <p:to>
                                        <p:strVal val="hidden"/>
                                      </p:to>
                                    </p:set>
                                  </p:childTnLst>
                                </p:cTn>
                              </p:par>
                              <p:par>
                                <p:cTn id="210" presetID="10" presetClass="exit" presetSubtype="0" fill="hold" grpId="0" nodeType="withEffect">
                                  <p:stCondLst>
                                    <p:cond delay="2800"/>
                                  </p:stCondLst>
                                  <p:childTnLst>
                                    <p:animEffect transition="out" filter="fade">
                                      <p:cBhvr>
                                        <p:cTn id="211" dur="500"/>
                                        <p:tgtEl>
                                          <p:spTgt spid="70"/>
                                        </p:tgtEl>
                                      </p:cBhvr>
                                    </p:animEffect>
                                    <p:set>
                                      <p:cBhvr>
                                        <p:cTn id="212" dur="1" fill="hold">
                                          <p:stCondLst>
                                            <p:cond delay="499"/>
                                          </p:stCondLst>
                                        </p:cTn>
                                        <p:tgtEl>
                                          <p:spTgt spid="70"/>
                                        </p:tgtEl>
                                        <p:attrNameLst>
                                          <p:attrName>style.visibility</p:attrName>
                                        </p:attrNameLst>
                                      </p:cBhvr>
                                      <p:to>
                                        <p:strVal val="hidden"/>
                                      </p:to>
                                    </p:set>
                                  </p:childTnLst>
                                </p:cTn>
                              </p:par>
                              <p:par>
                                <p:cTn id="213" presetID="0" presetClass="path" presetSubtype="0" accel="50000" decel="50000" fill="hold" grpId="0" nodeType="withEffect">
                                  <p:stCondLst>
                                    <p:cond delay="3300"/>
                                  </p:stCondLst>
                                  <p:childTnLst>
                                    <p:animMotion origin="layout" path="M 0.00039 -0.00069 C -0.03868 0.00023 -0.17644 -0.00625 -0.23451 0.00463 C -0.29271 0.01551 -0.31563 0.03819 -0.34831 0.06458 C -0.38086 0.09097 -0.40977 0.13426 -0.43073 0.16296 C -0.4517 0.19167 -0.4655 0.22107 -0.47448 0.23634 " pathEditMode="relative" rAng="0" ptsTypes="AAAAA">
                                      <p:cBhvr>
                                        <p:cTn id="214" dur="2000" fill="hold"/>
                                        <p:tgtEl>
                                          <p:spTgt spid="68"/>
                                        </p:tgtEl>
                                        <p:attrNameLst>
                                          <p:attrName>ppt_x</p:attrName>
                                          <p:attrName>ppt_y</p:attrName>
                                        </p:attrNameLst>
                                      </p:cBhvr>
                                      <p:rCtr x="-23750" y="11782"/>
                                    </p:animMotion>
                                  </p:childTnLst>
                                </p:cTn>
                              </p:par>
                              <p:par>
                                <p:cTn id="215" presetID="10" presetClass="exit" presetSubtype="0" fill="hold" nodeType="withEffect">
                                  <p:stCondLst>
                                    <p:cond delay="5100"/>
                                  </p:stCondLst>
                                  <p:childTnLst>
                                    <p:animEffect transition="out" filter="fade">
                                      <p:cBhvr>
                                        <p:cTn id="216" dur="500"/>
                                        <p:tgtEl>
                                          <p:spTgt spid="68"/>
                                        </p:tgtEl>
                                      </p:cBhvr>
                                    </p:animEffect>
                                    <p:set>
                                      <p:cBhvr>
                                        <p:cTn id="217" dur="1" fill="hold">
                                          <p:stCondLst>
                                            <p:cond delay="499"/>
                                          </p:stCondLst>
                                        </p:cTn>
                                        <p:tgtEl>
                                          <p:spTgt spid="68"/>
                                        </p:tgtEl>
                                        <p:attrNameLst>
                                          <p:attrName>style.visibility</p:attrName>
                                        </p:attrNameLst>
                                      </p:cBhvr>
                                      <p:to>
                                        <p:strVal val="hidden"/>
                                      </p:to>
                                    </p:set>
                                  </p:childTnLst>
                                </p:cTn>
                              </p:par>
                              <p:par>
                                <p:cTn id="218" presetID="63" presetClass="path" presetSubtype="0" accel="50000" decel="50000" fill="hold" grpId="1" nodeType="withEffect">
                                  <p:stCondLst>
                                    <p:cond delay="1500"/>
                                  </p:stCondLst>
                                  <p:childTnLst>
                                    <p:animMotion origin="layout" path="M 0.27096 0.26736 L 0.51419 0.26597 " pathEditMode="relative" rAng="0" ptsTypes="AA">
                                      <p:cBhvr>
                                        <p:cTn id="219" dur="2000" fill="hold"/>
                                        <p:tgtEl>
                                          <p:spTgt spid="59"/>
                                        </p:tgtEl>
                                        <p:attrNameLst>
                                          <p:attrName>ppt_x</p:attrName>
                                          <p:attrName>ppt_y</p:attrName>
                                        </p:attrNameLst>
                                      </p:cBhvr>
                                      <p:rCtr x="12161" y="-69"/>
                                    </p:animMotion>
                                  </p:childTnLst>
                                </p:cTn>
                              </p:par>
                              <p:par>
                                <p:cTn id="220" presetID="63" presetClass="path" presetSubtype="0" accel="50000" decel="50000" fill="hold" grpId="1" nodeType="withEffect">
                                  <p:stCondLst>
                                    <p:cond delay="1500"/>
                                  </p:stCondLst>
                                  <p:childTnLst>
                                    <p:animMotion origin="layout" path="M 0.00105 0.00139 L 0.2448 0.0007 " pathEditMode="relative" rAng="0" ptsTypes="AA">
                                      <p:cBhvr>
                                        <p:cTn id="221" dur="2000" fill="hold"/>
                                        <p:tgtEl>
                                          <p:spTgt spid="62"/>
                                        </p:tgtEl>
                                        <p:attrNameLst>
                                          <p:attrName>ppt_x</p:attrName>
                                          <p:attrName>ppt_y</p:attrName>
                                        </p:attrNameLst>
                                      </p:cBhvr>
                                      <p:rCtr x="12188" y="-46"/>
                                    </p:animMotion>
                                  </p:childTnLst>
                                </p:cTn>
                              </p:par>
                              <p:par>
                                <p:cTn id="222" presetID="10" presetClass="exit" presetSubtype="0" fill="hold" grpId="2" nodeType="withEffect">
                                  <p:stCondLst>
                                    <p:cond delay="3300"/>
                                  </p:stCondLst>
                                  <p:childTnLst>
                                    <p:animEffect transition="out" filter="fade">
                                      <p:cBhvr>
                                        <p:cTn id="223" dur="500"/>
                                        <p:tgtEl>
                                          <p:spTgt spid="59"/>
                                        </p:tgtEl>
                                      </p:cBhvr>
                                    </p:animEffect>
                                    <p:set>
                                      <p:cBhvr>
                                        <p:cTn id="224" dur="1" fill="hold">
                                          <p:stCondLst>
                                            <p:cond delay="499"/>
                                          </p:stCondLst>
                                        </p:cTn>
                                        <p:tgtEl>
                                          <p:spTgt spid="59"/>
                                        </p:tgtEl>
                                        <p:attrNameLst>
                                          <p:attrName>style.visibility</p:attrName>
                                        </p:attrNameLst>
                                      </p:cBhvr>
                                      <p:to>
                                        <p:strVal val="hidden"/>
                                      </p:to>
                                    </p:set>
                                  </p:childTnLst>
                                </p:cTn>
                              </p:par>
                              <p:par>
                                <p:cTn id="225" presetID="10" presetClass="exit" presetSubtype="0" fill="hold" grpId="2" nodeType="withEffect">
                                  <p:stCondLst>
                                    <p:cond delay="3300"/>
                                  </p:stCondLst>
                                  <p:childTnLst>
                                    <p:animEffect transition="out" filter="fade">
                                      <p:cBhvr>
                                        <p:cTn id="226" dur="500"/>
                                        <p:tgtEl>
                                          <p:spTgt spid="62"/>
                                        </p:tgtEl>
                                      </p:cBhvr>
                                    </p:animEffect>
                                    <p:set>
                                      <p:cBhvr>
                                        <p:cTn id="227" dur="1" fill="hold">
                                          <p:stCondLst>
                                            <p:cond delay="499"/>
                                          </p:stCondLst>
                                        </p:cTn>
                                        <p:tgtEl>
                                          <p:spTgt spid="62"/>
                                        </p:tgtEl>
                                        <p:attrNameLst>
                                          <p:attrName>style.visibility</p:attrName>
                                        </p:attrNameLst>
                                      </p:cBhvr>
                                      <p:to>
                                        <p:strVal val="hidden"/>
                                      </p:to>
                                    </p:set>
                                  </p:childTnLst>
                                </p:cTn>
                              </p:par>
                              <p:par>
                                <p:cTn id="228" presetID="0" presetClass="path" presetSubtype="0" accel="50000" decel="50000" fill="hold" nodeType="withEffect">
                                  <p:stCondLst>
                                    <p:cond delay="3800"/>
                                  </p:stCondLst>
                                  <p:childTnLst>
                                    <p:animMotion origin="layout" path="M -0.00196 0.00277 C -0.09701 0.00416 -0.19219 0.00578 -0.24935 -0.00232 C -0.30638 -0.01042 -0.30782 -0.01111 -0.34427 -0.04561 C -0.38073 -0.0801 -0.42448 -0.14445 -0.4681 -0.20903 " pathEditMode="relative" rAng="0" ptsTypes="AAAA">
                                      <p:cBhvr>
                                        <p:cTn id="229" dur="2000" fill="hold"/>
                                        <p:tgtEl>
                                          <p:spTgt spid="10"/>
                                        </p:tgtEl>
                                        <p:attrNameLst>
                                          <p:attrName>ppt_x</p:attrName>
                                          <p:attrName>ppt_y</p:attrName>
                                        </p:attrNameLst>
                                      </p:cBhvr>
                                      <p:rCtr x="-23307" y="-10556"/>
                                    </p:animMotion>
                                  </p:childTnLst>
                                </p:cTn>
                              </p:par>
                              <p:par>
                                <p:cTn id="230" presetID="10" presetClass="exit" presetSubtype="0" fill="hold" nodeType="withEffect">
                                  <p:stCondLst>
                                    <p:cond delay="5600"/>
                                  </p:stCondLst>
                                  <p:childTnLst>
                                    <p:animEffect transition="out" filter="fade">
                                      <p:cBhvr>
                                        <p:cTn id="231" dur="500"/>
                                        <p:tgtEl>
                                          <p:spTgt spid="10"/>
                                        </p:tgtEl>
                                      </p:cBhvr>
                                    </p:animEffect>
                                    <p:set>
                                      <p:cBhvr>
                                        <p:cTn id="232" dur="1" fill="hold">
                                          <p:stCondLst>
                                            <p:cond delay="499"/>
                                          </p:stCondLst>
                                        </p:cTn>
                                        <p:tgtEl>
                                          <p:spTgt spid="10"/>
                                        </p:tgtEl>
                                        <p:attrNameLst>
                                          <p:attrName>style.visibility</p:attrName>
                                        </p:attrNameLst>
                                      </p:cBhvr>
                                      <p:to>
                                        <p:strVal val="hidden"/>
                                      </p:to>
                                    </p:set>
                                  </p:childTnLst>
                                </p:cTn>
                              </p:par>
                              <p:par>
                                <p:cTn id="233" presetID="63" presetClass="path" presetSubtype="0" accel="50000" decel="50000" fill="hold" grpId="1" nodeType="withEffect">
                                  <p:stCondLst>
                                    <p:cond delay="2000"/>
                                  </p:stCondLst>
                                  <p:childTnLst>
                                    <p:animMotion origin="layout" path="M 0.24219 -0.28935 L 0.51263 -0.29236 " pathEditMode="relative" rAng="0" ptsTypes="AA">
                                      <p:cBhvr>
                                        <p:cTn id="234" dur="2000" fill="hold"/>
                                        <p:tgtEl>
                                          <p:spTgt spid="60"/>
                                        </p:tgtEl>
                                        <p:attrNameLst>
                                          <p:attrName>ppt_x</p:attrName>
                                          <p:attrName>ppt_y</p:attrName>
                                        </p:attrNameLst>
                                      </p:cBhvr>
                                      <p:rCtr x="13516" y="-162"/>
                                    </p:animMotion>
                                  </p:childTnLst>
                                </p:cTn>
                              </p:par>
                              <p:par>
                                <p:cTn id="235" presetID="63" presetClass="path" presetSubtype="0" accel="50000" decel="50000" fill="hold" grpId="1" nodeType="withEffect">
                                  <p:stCondLst>
                                    <p:cond delay="2000"/>
                                  </p:stCondLst>
                                  <p:childTnLst>
                                    <p:animMotion origin="layout" path="M -0.0056 0.0007 L 0.26679 0.00139 " pathEditMode="relative" rAng="0" ptsTypes="AA">
                                      <p:cBhvr>
                                        <p:cTn id="236" dur="2000" fill="hold"/>
                                        <p:tgtEl>
                                          <p:spTgt spid="63"/>
                                        </p:tgtEl>
                                        <p:attrNameLst>
                                          <p:attrName>ppt_x</p:attrName>
                                          <p:attrName>ppt_y</p:attrName>
                                        </p:attrNameLst>
                                      </p:cBhvr>
                                      <p:rCtr x="13620" y="23"/>
                                    </p:animMotion>
                                  </p:childTnLst>
                                </p:cTn>
                              </p:par>
                              <p:par>
                                <p:cTn id="237" presetID="10" presetClass="exit" presetSubtype="0" fill="hold" grpId="2" nodeType="withEffect">
                                  <p:stCondLst>
                                    <p:cond delay="3500"/>
                                  </p:stCondLst>
                                  <p:childTnLst>
                                    <p:animEffect transition="out" filter="fade">
                                      <p:cBhvr>
                                        <p:cTn id="238" dur="800"/>
                                        <p:tgtEl>
                                          <p:spTgt spid="60"/>
                                        </p:tgtEl>
                                      </p:cBhvr>
                                    </p:animEffect>
                                    <p:set>
                                      <p:cBhvr>
                                        <p:cTn id="239" dur="1" fill="hold">
                                          <p:stCondLst>
                                            <p:cond delay="799"/>
                                          </p:stCondLst>
                                        </p:cTn>
                                        <p:tgtEl>
                                          <p:spTgt spid="60"/>
                                        </p:tgtEl>
                                        <p:attrNameLst>
                                          <p:attrName>style.visibility</p:attrName>
                                        </p:attrNameLst>
                                      </p:cBhvr>
                                      <p:to>
                                        <p:strVal val="hidden"/>
                                      </p:to>
                                    </p:set>
                                  </p:childTnLst>
                                </p:cTn>
                              </p:par>
                              <p:par>
                                <p:cTn id="240" presetID="10" presetClass="exit" presetSubtype="0" fill="hold" grpId="2" nodeType="withEffect">
                                  <p:stCondLst>
                                    <p:cond delay="3500"/>
                                  </p:stCondLst>
                                  <p:childTnLst>
                                    <p:animEffect transition="out" filter="fade">
                                      <p:cBhvr>
                                        <p:cTn id="241" dur="800"/>
                                        <p:tgtEl>
                                          <p:spTgt spid="63"/>
                                        </p:tgtEl>
                                      </p:cBhvr>
                                    </p:animEffect>
                                    <p:set>
                                      <p:cBhvr>
                                        <p:cTn id="242" dur="1" fill="hold">
                                          <p:stCondLst>
                                            <p:cond delay="799"/>
                                          </p:stCondLst>
                                        </p:cTn>
                                        <p:tgtEl>
                                          <p:spTgt spid="63"/>
                                        </p:tgtEl>
                                        <p:attrNameLst>
                                          <p:attrName>style.visibility</p:attrName>
                                        </p:attrNameLst>
                                      </p:cBhvr>
                                      <p:to>
                                        <p:strVal val="hidden"/>
                                      </p:to>
                                    </p:set>
                                  </p:childTnLst>
                                </p:cTn>
                              </p:par>
                              <p:par>
                                <p:cTn id="243" presetID="0" presetClass="path" presetSubtype="0" accel="50000" decel="50000" fill="hold" nodeType="withEffect">
                                  <p:stCondLst>
                                    <p:cond delay="4300"/>
                                  </p:stCondLst>
                                  <p:childTnLst>
                                    <p:animMotion origin="layout" path="M 3.95833E-6 -3.7037E-7 C -0.03698 0.00023 -0.16146 -0.01157 -0.22149 0.00116 C -0.28164 0.01389 -0.31784 0.0375 -0.36029 0.07616 C -0.40261 0.11482 -0.45144 0.20023 -0.47539 0.23287 " pathEditMode="relative" rAng="0" ptsTypes="AAAA">
                                      <p:cBhvr>
                                        <p:cTn id="244" dur="2000" fill="hold"/>
                                        <p:tgtEl>
                                          <p:spTgt spid="7"/>
                                        </p:tgtEl>
                                        <p:attrNameLst>
                                          <p:attrName>ppt_x</p:attrName>
                                          <p:attrName>ppt_y</p:attrName>
                                        </p:attrNameLst>
                                      </p:cBhvr>
                                      <p:rCtr x="-23776" y="11389"/>
                                    </p:animMotion>
                                  </p:childTnLst>
                                </p:cTn>
                              </p:par>
                              <p:par>
                                <p:cTn id="245" presetID="10" presetClass="exit" presetSubtype="0" fill="hold" nodeType="withEffect">
                                  <p:stCondLst>
                                    <p:cond delay="6100"/>
                                  </p:stCondLst>
                                  <p:childTnLst>
                                    <p:animEffect transition="out" filter="fade">
                                      <p:cBhvr>
                                        <p:cTn id="246" dur="500"/>
                                        <p:tgtEl>
                                          <p:spTgt spid="7"/>
                                        </p:tgtEl>
                                      </p:cBhvr>
                                    </p:animEffect>
                                    <p:set>
                                      <p:cBhvr>
                                        <p:cTn id="247"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4" grpId="0" animBg="1"/>
      <p:bldP spid="24" grpId="1" animBg="1"/>
      <p:bldP spid="25" grpId="0" animBg="1"/>
      <p:bldP spid="29" grpId="0" animBg="1"/>
      <p:bldP spid="29" grpId="1" animBg="1"/>
      <p:bldP spid="30" grpId="0" animBg="1"/>
      <p:bldP spid="30" grpId="1" animBg="1"/>
      <p:bldP spid="30" grpId="2"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6" grpId="0" animBg="1"/>
      <p:bldP spid="57" grpId="0" animBg="1"/>
      <p:bldP spid="57" grpId="1" animBg="1"/>
      <p:bldP spid="57" grpId="2" animBg="1"/>
      <p:bldP spid="58" grpId="0" animBg="1"/>
      <p:bldP spid="58" grpId="1" animBg="1"/>
      <p:bldP spid="58" grpId="2" animBg="1"/>
      <p:bldP spid="59" grpId="0" animBg="1"/>
      <p:bldP spid="59" grpId="1" animBg="1"/>
      <p:bldP spid="59" grpId="2" animBg="1"/>
      <p:bldP spid="60" grpId="0" animBg="1"/>
      <p:bldP spid="60" grpId="1" animBg="1"/>
      <p:bldP spid="60" grpId="2" animBg="1"/>
      <p:bldP spid="62" grpId="0" animBg="1"/>
      <p:bldP spid="62" grpId="1" animBg="1"/>
      <p:bldP spid="62" grpId="2" animBg="1"/>
      <p:bldP spid="63" grpId="0" animBg="1"/>
      <p:bldP spid="63" grpId="1" animBg="1"/>
      <p:bldP spid="63" grpId="2" animBg="1"/>
      <p:bldP spid="68" grpId="0" animBg="1"/>
      <p:bldP spid="69" grpId="0" animBg="1"/>
      <p:bldP spid="70" grpId="0" animBg="1"/>
      <p:bldP spid="226" grpId="0"/>
      <p:bldP spid="226" grpId="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矩形 227">
            <a:extLst>
              <a:ext uri="{FF2B5EF4-FFF2-40B4-BE49-F238E27FC236}">
                <a16:creationId xmlns:a16="http://schemas.microsoft.com/office/drawing/2014/main" id="{C29C2842-BFB8-4C74-9982-B6C262043A8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Congestion Control Algorithm Design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29" name="Picture 2">
            <a:extLst>
              <a:ext uri="{FF2B5EF4-FFF2-40B4-BE49-F238E27FC236}">
                <a16:creationId xmlns:a16="http://schemas.microsoft.com/office/drawing/2014/main" id="{F03F9313-14FB-44D1-90AB-E1247AAEC7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sp>
        <p:nvSpPr>
          <p:cNvPr id="72" name="Content Placeholder 2">
            <a:extLst>
              <a:ext uri="{FF2B5EF4-FFF2-40B4-BE49-F238E27FC236}">
                <a16:creationId xmlns:a16="http://schemas.microsoft.com/office/drawing/2014/main" id="{12E164CB-6086-4A44-A0E5-D9843ABF0541}"/>
              </a:ext>
            </a:extLst>
          </p:cNvPr>
          <p:cNvSpPr txBox="1">
            <a:spLocks/>
          </p:cNvSpPr>
          <p:nvPr/>
        </p:nvSpPr>
        <p:spPr>
          <a:xfrm>
            <a:off x="1149562" y="1151607"/>
            <a:ext cx="6324600" cy="1600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charset="0"/>
              <a:buNone/>
            </a:pPr>
            <a:r>
              <a:rPr lang="en-US" altLang="zh-CN" b="1" dirty="0">
                <a:solidFill>
                  <a:srgbClr val="0000CC"/>
                </a:solidFill>
                <a:ea typeface="ＭＳ Ｐゴシック" pitchFamily="34" charset="-128"/>
              </a:rPr>
              <a:t>Switch side:</a:t>
            </a:r>
          </a:p>
          <a:p>
            <a:pPr lvl="1"/>
            <a:r>
              <a:rPr lang="en-US" altLang="zh-CN" dirty="0"/>
              <a:t> Mark packets when </a:t>
            </a:r>
            <a:r>
              <a:rPr lang="en-US" altLang="zh-CN" b="1" dirty="0">
                <a:solidFill>
                  <a:srgbClr val="FF0000"/>
                </a:solidFill>
              </a:rPr>
              <a:t>Queue Length &gt; K.</a:t>
            </a:r>
          </a:p>
        </p:txBody>
      </p:sp>
      <p:sp>
        <p:nvSpPr>
          <p:cNvPr id="73" name="Rectangle 18">
            <a:extLst>
              <a:ext uri="{FF2B5EF4-FFF2-40B4-BE49-F238E27FC236}">
                <a16:creationId xmlns:a16="http://schemas.microsoft.com/office/drawing/2014/main" id="{44269813-B77F-4E24-BA0F-90879BB589EA}"/>
              </a:ext>
            </a:extLst>
          </p:cNvPr>
          <p:cNvSpPr>
            <a:spLocks noChangeArrowheads="1"/>
          </p:cNvSpPr>
          <p:nvPr/>
        </p:nvSpPr>
        <p:spPr bwMode="auto">
          <a:xfrm>
            <a:off x="1149562" y="2480027"/>
            <a:ext cx="8382000" cy="3748719"/>
          </a:xfrm>
          <a:prstGeom prst="rect">
            <a:avLst/>
          </a:prstGeom>
          <a:noFill/>
          <a:ln w="9525">
            <a:noFill/>
            <a:miter lim="800000"/>
            <a:headEnd/>
            <a:tailEnd/>
          </a:ln>
        </p:spPr>
        <p:txBody>
          <a:bodyPr>
            <a:spAutoFit/>
          </a:bodyPr>
          <a:lstStyle/>
          <a:p>
            <a:pPr marL="342900" lvl="1" indent="-342900" eaLnBrk="0" fontAlgn="auto" hangingPunct="0">
              <a:spcBef>
                <a:spcPct val="20000"/>
              </a:spcBef>
              <a:spcAft>
                <a:spcPts val="0"/>
              </a:spcAft>
              <a:defRPr/>
            </a:pPr>
            <a:r>
              <a:rPr lang="en-US" sz="2800" b="1" dirty="0">
                <a:solidFill>
                  <a:srgbClr val="0000CC"/>
                </a:solidFill>
                <a:latin typeface="Calibri" charset="0"/>
                <a:ea typeface="ＭＳ Ｐゴシック" charset="-128"/>
                <a:cs typeface="ＭＳ Ｐゴシック" charset="-128"/>
              </a:rPr>
              <a:t>Sender side:</a:t>
            </a:r>
            <a:endParaRPr lang="en-US" sz="3200" b="1" dirty="0">
              <a:solidFill>
                <a:srgbClr val="0000CC"/>
              </a:solidFill>
              <a:latin typeface="Calibri" charset="0"/>
              <a:ea typeface="ＭＳ Ｐゴシック" charset="-128"/>
              <a:cs typeface="ＭＳ Ｐゴシック" charset="-128"/>
            </a:endParaRPr>
          </a:p>
          <a:p>
            <a:pPr marL="742950" lvl="1" indent="-285750" eaLnBrk="0" fontAlgn="auto" hangingPunct="0">
              <a:spcBef>
                <a:spcPct val="20000"/>
              </a:spcBef>
              <a:spcAft>
                <a:spcPts val="0"/>
              </a:spcAft>
              <a:buFont typeface="Arial" charset="0"/>
              <a:buChar char="–"/>
              <a:defRPr/>
            </a:pPr>
            <a:r>
              <a:rPr lang="en-US" sz="2400" dirty="0">
                <a:solidFill>
                  <a:srgbClr val="000000"/>
                </a:solidFill>
                <a:latin typeface="Calibri" charset="0"/>
                <a:ea typeface="ＭＳ Ｐゴシック" charset="-128"/>
                <a:cs typeface="ＭＳ Ｐゴシック" charset="-128"/>
              </a:rPr>
              <a:t>Maintain running average of </a:t>
            </a:r>
            <a:r>
              <a:rPr lang="en-US" sz="2400" b="1" i="1" dirty="0">
                <a:solidFill>
                  <a:srgbClr val="FF0000"/>
                </a:solidFill>
                <a:latin typeface="Calibri" charset="0"/>
                <a:ea typeface="ＭＳ Ｐゴシック" charset="-128"/>
                <a:cs typeface="ＭＳ Ｐゴシック" charset="-128"/>
              </a:rPr>
              <a:t>fraction</a:t>
            </a:r>
            <a:r>
              <a:rPr lang="en-US" sz="2400" i="1" dirty="0">
                <a:solidFill>
                  <a:srgbClr val="000000"/>
                </a:solidFill>
                <a:latin typeface="Calibri" charset="0"/>
                <a:ea typeface="ＭＳ Ｐゴシック" charset="-128"/>
                <a:cs typeface="ＭＳ Ｐゴシック" charset="-128"/>
              </a:rPr>
              <a:t> </a:t>
            </a:r>
            <a:r>
              <a:rPr lang="en-US" sz="2400" dirty="0">
                <a:solidFill>
                  <a:srgbClr val="000000"/>
                </a:solidFill>
                <a:latin typeface="Calibri" charset="0"/>
                <a:ea typeface="ＭＳ Ｐゴシック" charset="-128"/>
                <a:cs typeface="ＭＳ Ｐゴシック" charset="-128"/>
              </a:rPr>
              <a:t>of packets </a:t>
            </a:r>
            <a:r>
              <a:rPr lang="en-US" sz="2400" dirty="0">
                <a:latin typeface="Calibri" charset="0"/>
                <a:ea typeface="ＭＳ Ｐゴシック" charset="-128"/>
                <a:cs typeface="ＭＳ Ｐゴシック" charset="-128"/>
              </a:rPr>
              <a:t>marked </a:t>
            </a:r>
            <a:r>
              <a:rPr lang="en-US" sz="2400" b="1" dirty="0">
                <a:latin typeface="Calibri" charset="0"/>
                <a:ea typeface="ＭＳ Ｐゴシック" charset="-128"/>
                <a:cs typeface="ＭＳ Ｐゴシック" charset="-128"/>
              </a:rPr>
              <a:t>(</a:t>
            </a:r>
            <a:r>
              <a:rPr lang="el-GR" sz="2400" b="1" i="1" dirty="0">
                <a:latin typeface="Calibri" charset="0"/>
                <a:ea typeface="ＭＳ Ｐゴシック" charset="-128"/>
                <a:cs typeface="ＭＳ Ｐゴシック" charset="-128"/>
              </a:rPr>
              <a:t>α</a:t>
            </a:r>
            <a:r>
              <a:rPr lang="en-US" sz="2400" b="1" dirty="0">
                <a:latin typeface="Calibri" charset="0"/>
                <a:ea typeface="ＭＳ Ｐゴシック" charset="-128"/>
                <a:cs typeface="ＭＳ Ｐゴシック" charset="-128"/>
              </a:rPr>
              <a:t>)</a:t>
            </a:r>
            <a:r>
              <a:rPr lang="en-US" sz="2400" dirty="0">
                <a:solidFill>
                  <a:srgbClr val="0000CC"/>
                </a:solidFill>
                <a:latin typeface="Calibri" charset="0"/>
                <a:ea typeface="ＭＳ Ｐゴシック" charset="-128"/>
                <a:cs typeface="ＭＳ Ｐゴシック" charset="-128"/>
              </a:rPr>
              <a:t>.</a:t>
            </a:r>
          </a:p>
          <a:p>
            <a:pPr marL="742950" lvl="1" indent="-285750" eaLnBrk="0" fontAlgn="auto" hangingPunct="0">
              <a:spcBef>
                <a:spcPts val="0"/>
              </a:spcBef>
              <a:spcAft>
                <a:spcPts val="0"/>
              </a:spcAft>
              <a:defRPr/>
            </a:pPr>
            <a:endParaRPr lang="en-US" sz="800" b="1" dirty="0">
              <a:solidFill>
                <a:srgbClr val="FF0000"/>
              </a:solidFill>
              <a:latin typeface="Calibri" charset="0"/>
              <a:ea typeface="ＭＳ Ｐゴシック" charset="-128"/>
              <a:cs typeface="ＭＳ Ｐゴシック" charset="-128"/>
            </a:endParaRPr>
          </a:p>
          <a:p>
            <a:pPr marL="742950" lvl="1" indent="-285750" algn="ctr" eaLnBrk="0" fontAlgn="auto" hangingPunct="0">
              <a:spcBef>
                <a:spcPts val="0"/>
              </a:spcBef>
              <a:spcAft>
                <a:spcPts val="0"/>
              </a:spcAft>
              <a:defRPr/>
            </a:pPr>
            <a:r>
              <a:rPr lang="en-US" sz="2400" b="1" dirty="0">
                <a:latin typeface="Calibri" charset="0"/>
                <a:ea typeface="ＭＳ Ｐゴシック" charset="-128"/>
                <a:cs typeface="ＭＳ Ｐゴシック" charset="-128"/>
              </a:rPr>
              <a:t>In each RTT:</a:t>
            </a:r>
          </a:p>
          <a:p>
            <a:pPr marL="742950" lvl="1" indent="-285750" eaLnBrk="0" fontAlgn="auto" hangingPunct="0">
              <a:spcBef>
                <a:spcPct val="20000"/>
              </a:spcBef>
              <a:spcAft>
                <a:spcPts val="0"/>
              </a:spcAft>
              <a:defRPr/>
            </a:pPr>
            <a:endParaRPr lang="en-US" sz="2000" dirty="0">
              <a:solidFill>
                <a:srgbClr val="000000"/>
              </a:solidFill>
              <a:latin typeface="Calibri" charset="0"/>
              <a:ea typeface="ＭＳ Ｐゴシック" charset="-128"/>
              <a:cs typeface="ＭＳ Ｐゴシック" charset="-128"/>
            </a:endParaRPr>
          </a:p>
          <a:p>
            <a:pPr marL="742950" lvl="1" indent="-285750" eaLnBrk="0" fontAlgn="auto" hangingPunct="0">
              <a:spcBef>
                <a:spcPct val="20000"/>
              </a:spcBef>
              <a:spcAft>
                <a:spcPts val="0"/>
              </a:spcAft>
              <a:defRPr/>
            </a:pPr>
            <a:endParaRPr lang="en-US" sz="1200" dirty="0">
              <a:solidFill>
                <a:srgbClr val="000000"/>
              </a:solidFill>
              <a:latin typeface="Calibri" charset="0"/>
              <a:ea typeface="ＭＳ Ｐゴシック" charset="-128"/>
              <a:cs typeface="ＭＳ Ｐゴシック" charset="-128"/>
            </a:endParaRPr>
          </a:p>
          <a:p>
            <a:pPr marL="742950" lvl="1" indent="-285750" eaLnBrk="0" fontAlgn="auto" hangingPunct="0">
              <a:spcBef>
                <a:spcPct val="20000"/>
              </a:spcBef>
              <a:spcAft>
                <a:spcPts val="0"/>
              </a:spcAft>
              <a:defRPr/>
            </a:pPr>
            <a:endParaRPr lang="en-US" sz="1200" dirty="0">
              <a:solidFill>
                <a:srgbClr val="000000"/>
              </a:solidFill>
              <a:latin typeface="Calibri" charset="0"/>
              <a:ea typeface="ＭＳ Ｐゴシック" charset="-128"/>
              <a:cs typeface="ＭＳ Ｐゴシック" charset="-128"/>
            </a:endParaRPr>
          </a:p>
          <a:p>
            <a:pPr marL="742950" lvl="1" indent="-285750" eaLnBrk="0" fontAlgn="auto" hangingPunct="0">
              <a:spcBef>
                <a:spcPct val="20000"/>
              </a:spcBef>
              <a:spcAft>
                <a:spcPts val="0"/>
              </a:spcAft>
              <a:buFont typeface="Arial" charset="0"/>
              <a:buChar char="–"/>
              <a:defRPr/>
            </a:pPr>
            <a:endParaRPr lang="en-US" sz="800" dirty="0">
              <a:solidFill>
                <a:srgbClr val="000000"/>
              </a:solidFill>
              <a:latin typeface="Calibri" charset="0"/>
              <a:ea typeface="ＭＳ Ｐゴシック" charset="-128"/>
              <a:cs typeface="ＭＳ Ｐゴシック" charset="-128"/>
            </a:endParaRPr>
          </a:p>
          <a:p>
            <a:pPr marL="742950" lvl="1" indent="-285750" eaLnBrk="0" fontAlgn="auto" hangingPunct="0">
              <a:spcBef>
                <a:spcPct val="20000"/>
              </a:spcBef>
              <a:spcAft>
                <a:spcPts val="0"/>
              </a:spcAft>
              <a:buFont typeface="Arial" charset="0"/>
              <a:buChar char="–"/>
              <a:defRPr/>
            </a:pPr>
            <a:endParaRPr lang="en-US" sz="800" dirty="0">
              <a:solidFill>
                <a:srgbClr val="000000"/>
              </a:solidFill>
              <a:latin typeface="Calibri" charset="0"/>
              <a:ea typeface="ＭＳ Ｐゴシック" charset="-128"/>
              <a:cs typeface="ＭＳ Ｐゴシック" charset="-128"/>
            </a:endParaRPr>
          </a:p>
          <a:p>
            <a:pPr marL="742950" lvl="1" indent="-285750" eaLnBrk="0" fontAlgn="auto" hangingPunct="0">
              <a:spcBef>
                <a:spcPct val="20000"/>
              </a:spcBef>
              <a:spcAft>
                <a:spcPts val="0"/>
              </a:spcAft>
              <a:buFont typeface="Arial" charset="0"/>
              <a:buChar char="–"/>
              <a:defRPr/>
            </a:pPr>
            <a:endParaRPr lang="en-US" sz="800" dirty="0">
              <a:solidFill>
                <a:srgbClr val="000000"/>
              </a:solidFill>
              <a:latin typeface="Calibri" charset="0"/>
              <a:ea typeface="ＭＳ Ｐゴシック" charset="-128"/>
              <a:cs typeface="ＭＳ Ｐゴシック" charset="-128"/>
            </a:endParaRPr>
          </a:p>
          <a:p>
            <a:pPr marL="742950" lvl="1" indent="-285750" eaLnBrk="0" fontAlgn="auto" hangingPunct="0">
              <a:spcBef>
                <a:spcPct val="20000"/>
              </a:spcBef>
              <a:spcAft>
                <a:spcPts val="0"/>
              </a:spcAft>
              <a:buFont typeface="Arial" charset="0"/>
              <a:buChar char="–"/>
              <a:defRPr/>
            </a:pPr>
            <a:endParaRPr lang="en-US" sz="800" dirty="0">
              <a:solidFill>
                <a:srgbClr val="000000"/>
              </a:solidFill>
              <a:latin typeface="Calibri" charset="0"/>
              <a:ea typeface="ＭＳ Ｐゴシック" charset="-128"/>
              <a:cs typeface="ＭＳ Ｐゴシック" charset="-128"/>
            </a:endParaRPr>
          </a:p>
          <a:p>
            <a:pPr marL="342900" indent="-342900" eaLnBrk="0" fontAlgn="auto" hangingPunct="0">
              <a:spcBef>
                <a:spcPct val="20000"/>
              </a:spcBef>
              <a:spcAft>
                <a:spcPts val="0"/>
              </a:spcAft>
              <a:buFont typeface="Wingdings" charset="2"/>
              <a:buChar char="Ø"/>
              <a:defRPr/>
            </a:pPr>
            <a:r>
              <a:rPr lang="en-US" sz="2400" b="1" dirty="0">
                <a:solidFill>
                  <a:srgbClr val="FF0000"/>
                </a:solidFill>
                <a:latin typeface="Calibri" charset="0"/>
                <a:ea typeface="ＭＳ Ｐゴシック" charset="-128"/>
                <a:cs typeface="ＭＳ Ｐゴシック" charset="-128"/>
              </a:rPr>
              <a:t>Adaptive window decreases:</a:t>
            </a:r>
          </a:p>
          <a:p>
            <a:pPr marL="742950" lvl="1" indent="-285750" eaLnBrk="0" fontAlgn="auto" hangingPunct="0">
              <a:spcBef>
                <a:spcPct val="20000"/>
              </a:spcBef>
              <a:spcAft>
                <a:spcPts val="0"/>
              </a:spcAft>
              <a:buFont typeface="Arial" charset="0"/>
              <a:buChar char="–"/>
              <a:defRPr/>
            </a:pPr>
            <a:r>
              <a:rPr lang="en-US" sz="2400" dirty="0">
                <a:solidFill>
                  <a:srgbClr val="000000"/>
                </a:solidFill>
                <a:latin typeface="Calibri" charset="0"/>
                <a:ea typeface="ＭＳ Ｐゴシック" charset="-128"/>
                <a:cs typeface="ＭＳ Ｐゴシック" charset="-128"/>
              </a:rPr>
              <a:t>Note: decrease factor between 1 and 2.</a:t>
            </a:r>
          </a:p>
        </p:txBody>
      </p:sp>
      <p:sp>
        <p:nvSpPr>
          <p:cNvPr id="75" name="TextBox 15">
            <a:extLst>
              <a:ext uri="{FF2B5EF4-FFF2-40B4-BE49-F238E27FC236}">
                <a16:creationId xmlns:a16="http://schemas.microsoft.com/office/drawing/2014/main" id="{2F7F5DCF-F0C3-475F-844C-724A03F8D71E}"/>
              </a:ext>
            </a:extLst>
          </p:cNvPr>
          <p:cNvSpPr txBox="1">
            <a:spLocks noChangeArrowheads="1"/>
          </p:cNvSpPr>
          <p:nvPr/>
        </p:nvSpPr>
        <p:spPr bwMode="auto">
          <a:xfrm>
            <a:off x="9901450" y="1100319"/>
            <a:ext cx="369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400" b="1">
                <a:latin typeface="Calibri" pitchFamily="34" charset="0"/>
              </a:rPr>
              <a:t>K</a:t>
            </a:r>
          </a:p>
        </p:txBody>
      </p:sp>
      <p:sp>
        <p:nvSpPr>
          <p:cNvPr id="76" name="TextBox 16">
            <a:extLst>
              <a:ext uri="{FF2B5EF4-FFF2-40B4-BE49-F238E27FC236}">
                <a16:creationId xmlns:a16="http://schemas.microsoft.com/office/drawing/2014/main" id="{74061E69-9261-439D-A331-CE7CED53B4A3}"/>
              </a:ext>
            </a:extLst>
          </p:cNvPr>
          <p:cNvSpPr txBox="1">
            <a:spLocks noChangeArrowheads="1"/>
          </p:cNvSpPr>
          <p:nvPr/>
        </p:nvSpPr>
        <p:spPr bwMode="auto">
          <a:xfrm>
            <a:off x="9072775" y="1228906"/>
            <a:ext cx="1474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FF0000"/>
                </a:solidFill>
                <a:latin typeface="Calibri" pitchFamily="34" charset="0"/>
              </a:rPr>
              <a:t>Mark</a:t>
            </a:r>
            <a:endParaRPr lang="en-US" altLang="zh-CN" sz="2800" b="1">
              <a:solidFill>
                <a:srgbClr val="FF0000"/>
              </a:solidFill>
              <a:latin typeface="Calibri" pitchFamily="34" charset="0"/>
            </a:endParaRPr>
          </a:p>
        </p:txBody>
      </p:sp>
      <p:grpSp>
        <p:nvGrpSpPr>
          <p:cNvPr id="77" name="Group 151">
            <a:extLst>
              <a:ext uri="{FF2B5EF4-FFF2-40B4-BE49-F238E27FC236}">
                <a16:creationId xmlns:a16="http://schemas.microsoft.com/office/drawing/2014/main" id="{B6E2E6AF-178E-42D2-908C-D50979BD3DBF}"/>
              </a:ext>
            </a:extLst>
          </p:cNvPr>
          <p:cNvGrpSpPr>
            <a:grpSpLocks/>
          </p:cNvGrpSpPr>
          <p:nvPr/>
        </p:nvGrpSpPr>
        <p:grpSpPr bwMode="auto">
          <a:xfrm>
            <a:off x="8610813" y="1938221"/>
            <a:ext cx="2209800" cy="609600"/>
            <a:chOff x="4032" y="480"/>
            <a:chExt cx="768" cy="576"/>
          </a:xfrm>
          <a:gradFill>
            <a:gsLst>
              <a:gs pos="0">
                <a:schemeClr val="bg1"/>
              </a:gs>
              <a:gs pos="100000">
                <a:schemeClr val="hlink"/>
              </a:gs>
            </a:gsLst>
            <a:lin ang="0" scaled="1"/>
          </a:gradFill>
        </p:grpSpPr>
        <p:sp>
          <p:nvSpPr>
            <p:cNvPr id="78" name="Freeform 152">
              <a:extLst>
                <a:ext uri="{FF2B5EF4-FFF2-40B4-BE49-F238E27FC236}">
                  <a16:creationId xmlns:a16="http://schemas.microsoft.com/office/drawing/2014/main" id="{AB6CD919-BDDF-432B-91FA-7B7E95449BC6}"/>
                </a:ext>
              </a:extLst>
            </p:cNvPr>
            <p:cNvSpPr>
              <a:spLocks/>
            </p:cNvSpPr>
            <p:nvPr/>
          </p:nvSpPr>
          <p:spPr bwMode="auto">
            <a:xfrm>
              <a:off x="4032" y="480"/>
              <a:ext cx="768" cy="576"/>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pFill/>
            <a:ln w="28575">
              <a:solidFill>
                <a:schemeClr val="tx1"/>
              </a:solidFill>
              <a:round/>
              <a:headEnd/>
              <a:tailEnd/>
            </a:ln>
          </p:spPr>
          <p:txBody>
            <a:bodyPr/>
            <a:lstStyle/>
            <a:p>
              <a:pPr fontAlgn="auto">
                <a:spcBef>
                  <a:spcPts val="0"/>
                </a:spcBef>
                <a:spcAft>
                  <a:spcPts val="0"/>
                </a:spcAft>
                <a:defRPr/>
              </a:pPr>
              <a:endParaRPr lang="en-US">
                <a:solidFill>
                  <a:srgbClr val="333399"/>
                </a:solidFill>
                <a:latin typeface="+mn-lt"/>
                <a:ea typeface="+mn-ea"/>
              </a:endParaRPr>
            </a:p>
          </p:txBody>
        </p:sp>
        <p:sp>
          <p:nvSpPr>
            <p:cNvPr id="79" name="Line 153">
              <a:extLst>
                <a:ext uri="{FF2B5EF4-FFF2-40B4-BE49-F238E27FC236}">
                  <a16:creationId xmlns:a16="http://schemas.microsoft.com/office/drawing/2014/main" id="{100D74DD-B73F-4ACB-B623-96C9382191E6}"/>
                </a:ext>
              </a:extLst>
            </p:cNvPr>
            <p:cNvSpPr>
              <a:spLocks noChangeShapeType="1"/>
            </p:cNvSpPr>
            <p:nvPr/>
          </p:nvSpPr>
          <p:spPr bwMode="auto">
            <a:xfrm>
              <a:off x="4721" y="653"/>
              <a:ext cx="0" cy="288"/>
            </a:xfrm>
            <a:prstGeom prst="line">
              <a:avLst/>
            </a:prstGeom>
            <a:grpFill/>
            <a:ln w="28575">
              <a:solidFill>
                <a:schemeClr val="tx1"/>
              </a:solidFill>
              <a:round/>
              <a:headEnd/>
              <a:tailEnd/>
            </a:ln>
          </p:spPr>
          <p:txBody>
            <a:bodyPr/>
            <a:lstStyle/>
            <a:p>
              <a:pPr fontAlgn="auto">
                <a:spcBef>
                  <a:spcPts val="0"/>
                </a:spcBef>
                <a:spcAft>
                  <a:spcPts val="0"/>
                </a:spcAft>
                <a:defRPr/>
              </a:pPr>
              <a:endParaRPr lang="en-US">
                <a:latin typeface="+mn-lt"/>
                <a:ea typeface="+mn-ea"/>
              </a:endParaRPr>
            </a:p>
          </p:txBody>
        </p:sp>
      </p:grpSp>
      <p:cxnSp>
        <p:nvCxnSpPr>
          <p:cNvPr id="80" name="Straight Connector 4">
            <a:extLst>
              <a:ext uri="{FF2B5EF4-FFF2-40B4-BE49-F238E27FC236}">
                <a16:creationId xmlns:a16="http://schemas.microsoft.com/office/drawing/2014/main" id="{12CE3BAB-A369-48C1-803B-B0AB9B7B4DA7}"/>
              </a:ext>
            </a:extLst>
          </p:cNvPr>
          <p:cNvCxnSpPr/>
          <p:nvPr/>
        </p:nvCxnSpPr>
        <p:spPr>
          <a:xfrm rot="5400000">
            <a:off x="9395037" y="2236969"/>
            <a:ext cx="1384300"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Rectangle 6">
            <a:extLst>
              <a:ext uri="{FF2B5EF4-FFF2-40B4-BE49-F238E27FC236}">
                <a16:creationId xmlns:a16="http://schemas.microsoft.com/office/drawing/2014/main" id="{413E3714-FC54-4521-8026-0835979A5433}"/>
              </a:ext>
            </a:extLst>
          </p:cNvPr>
          <p:cNvSpPr>
            <a:spLocks noChangeArrowheads="1"/>
          </p:cNvSpPr>
          <p:nvPr/>
        </p:nvSpPr>
        <p:spPr bwMode="auto">
          <a:xfrm>
            <a:off x="920962" y="1462757"/>
            <a:ext cx="2209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endParaRPr lang="en-US" altLang="zh-CN">
              <a:cs typeface="Arial" charset="0"/>
            </a:endParaRPr>
          </a:p>
        </p:txBody>
      </p:sp>
      <p:pic>
        <p:nvPicPr>
          <p:cNvPr id="82" name="Picture 4">
            <a:extLst>
              <a:ext uri="{FF2B5EF4-FFF2-40B4-BE49-F238E27FC236}">
                <a16:creationId xmlns:a16="http://schemas.microsoft.com/office/drawing/2014/main" id="{9D0293A3-61DE-4065-8B92-13947A8BF29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39050" y="4250407"/>
            <a:ext cx="32877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7">
            <a:extLst>
              <a:ext uri="{FF2B5EF4-FFF2-40B4-BE49-F238E27FC236}">
                <a16:creationId xmlns:a16="http://schemas.microsoft.com/office/drawing/2014/main" id="{F97939A7-A32C-4963-8F73-2F4DB9982F34}"/>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35362" y="4101182"/>
            <a:ext cx="333692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Picture 10">
            <a:extLst>
              <a:ext uri="{FF2B5EF4-FFF2-40B4-BE49-F238E27FC236}">
                <a16:creationId xmlns:a16="http://schemas.microsoft.com/office/drawing/2014/main" id="{E2C239F6-5962-4934-A1BE-117016F07358}"/>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59637" y="5201320"/>
            <a:ext cx="34496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TextBox 14">
            <a:extLst>
              <a:ext uri="{FF2B5EF4-FFF2-40B4-BE49-F238E27FC236}">
                <a16:creationId xmlns:a16="http://schemas.microsoft.com/office/drawing/2014/main" id="{4BED3E03-3EE4-438D-945E-3AAFD512CF64}"/>
              </a:ext>
            </a:extLst>
          </p:cNvPr>
          <p:cNvSpPr txBox="1">
            <a:spLocks noChangeArrowheads="1"/>
          </p:cNvSpPr>
          <p:nvPr/>
        </p:nvSpPr>
        <p:spPr bwMode="auto">
          <a:xfrm>
            <a:off x="10349377" y="1123171"/>
            <a:ext cx="942472" cy="707886"/>
          </a:xfrm>
          <a:prstGeom prst="rect">
            <a:avLst/>
          </a:prstGeom>
          <a:noFill/>
          <a:ln w="9525">
            <a:noFill/>
            <a:miter lim="800000"/>
            <a:headEnd/>
            <a:tailEnd/>
          </a:ln>
        </p:spPr>
        <p:txBody>
          <a:bodyPr wrap="square">
            <a:prstTxWarp prst="textNoShape">
              <a:avLst/>
            </a:prstTxWarp>
            <a:spAutoFit/>
          </a:bodyPr>
          <a:lstStyle/>
          <a:p>
            <a:r>
              <a:rPr lang="en-US" sz="2000" b="1" dirty="0">
                <a:solidFill>
                  <a:srgbClr val="FF0000"/>
                </a:solidFill>
                <a:latin typeface="Calibri" charset="0"/>
              </a:rPr>
              <a:t>Don’t </a:t>
            </a:r>
          </a:p>
          <a:p>
            <a:r>
              <a:rPr lang="en-US" sz="2000" b="1" dirty="0">
                <a:solidFill>
                  <a:srgbClr val="FF0000"/>
                </a:solidFill>
                <a:latin typeface="Calibri" charset="0"/>
              </a:rPr>
              <a:t>Mark</a:t>
            </a:r>
          </a:p>
        </p:txBody>
      </p:sp>
      <p:sp>
        <p:nvSpPr>
          <p:cNvPr id="86" name="文本框 85">
            <a:extLst>
              <a:ext uri="{FF2B5EF4-FFF2-40B4-BE49-F238E27FC236}">
                <a16:creationId xmlns:a16="http://schemas.microsoft.com/office/drawing/2014/main" id="{3F01D101-C2D6-4609-BB7F-F67AE5E98625}"/>
              </a:ext>
            </a:extLst>
          </p:cNvPr>
          <p:cNvSpPr txBox="1"/>
          <p:nvPr/>
        </p:nvSpPr>
        <p:spPr>
          <a:xfrm>
            <a:off x="165101" y="6351073"/>
            <a:ext cx="12026899" cy="461665"/>
          </a:xfrm>
          <a:prstGeom prst="rect">
            <a:avLst/>
          </a:prstGeom>
          <a:noFill/>
        </p:spPr>
        <p:txBody>
          <a:bodyPr wrap="square">
            <a:spAutoFit/>
          </a:bodyPr>
          <a:lstStyle/>
          <a:p>
            <a:r>
              <a:rPr lang="en-US" altLang="zh-CN" sz="1200" b="0" i="0" dirty="0">
                <a:solidFill>
                  <a:srgbClr val="222222"/>
                </a:solidFill>
                <a:effectLst/>
                <a:latin typeface="Arial" panose="020B0604020202020204" pitchFamily="34" charset="0"/>
              </a:rPr>
              <a:t>Alizadeh, Mohammad, Albert Greenberg, David A. </a:t>
            </a:r>
            <a:r>
              <a:rPr lang="en-US" altLang="zh-CN" sz="1200" b="0" i="0" dirty="0" err="1">
                <a:solidFill>
                  <a:srgbClr val="222222"/>
                </a:solidFill>
                <a:effectLst/>
                <a:latin typeface="Arial" panose="020B0604020202020204" pitchFamily="34" charset="0"/>
              </a:rPr>
              <a:t>Maltz</a:t>
            </a:r>
            <a:r>
              <a:rPr lang="en-US" altLang="zh-CN" sz="1200" b="0" i="0" dirty="0">
                <a:solidFill>
                  <a:srgbClr val="222222"/>
                </a:solidFill>
                <a:effectLst/>
                <a:latin typeface="Arial" panose="020B0604020202020204" pitchFamily="34" charset="0"/>
              </a:rPr>
              <a:t>, Jitendra </a:t>
            </a:r>
            <a:r>
              <a:rPr lang="en-US" altLang="zh-CN" sz="1200" b="0" i="0" dirty="0" err="1">
                <a:solidFill>
                  <a:srgbClr val="222222"/>
                </a:solidFill>
                <a:effectLst/>
                <a:latin typeface="Arial" panose="020B0604020202020204" pitchFamily="34" charset="0"/>
              </a:rPr>
              <a:t>Padhye</a:t>
            </a:r>
            <a:r>
              <a:rPr lang="en-US" altLang="zh-CN" sz="1200" b="0" i="0" dirty="0">
                <a:solidFill>
                  <a:srgbClr val="222222"/>
                </a:solidFill>
                <a:effectLst/>
                <a:latin typeface="Arial" panose="020B0604020202020204" pitchFamily="34" charset="0"/>
              </a:rPr>
              <a:t>, Parveen Patel, Balaji Prabhakar, </a:t>
            </a:r>
            <a:r>
              <a:rPr lang="en-US" altLang="zh-CN" sz="1200" b="0" i="0" dirty="0" err="1">
                <a:solidFill>
                  <a:srgbClr val="222222"/>
                </a:solidFill>
                <a:effectLst/>
                <a:latin typeface="Arial" panose="020B0604020202020204" pitchFamily="34" charset="0"/>
              </a:rPr>
              <a:t>Sudipta</a:t>
            </a:r>
            <a:r>
              <a:rPr lang="en-US" altLang="zh-CN" sz="1200" b="0" i="0" dirty="0">
                <a:solidFill>
                  <a:srgbClr val="222222"/>
                </a:solidFill>
                <a:effectLst/>
                <a:latin typeface="Arial" panose="020B0604020202020204" pitchFamily="34" charset="0"/>
              </a:rPr>
              <a:t> Sengupta, and </a:t>
            </a:r>
            <a:r>
              <a:rPr lang="en-US" altLang="zh-CN" sz="1200" b="0" i="0" dirty="0" err="1">
                <a:solidFill>
                  <a:srgbClr val="222222"/>
                </a:solidFill>
                <a:effectLst/>
                <a:latin typeface="Arial" panose="020B0604020202020204" pitchFamily="34" charset="0"/>
              </a:rPr>
              <a:t>Murari</a:t>
            </a:r>
            <a:r>
              <a:rPr lang="en-US" altLang="zh-CN" sz="1200" b="0" i="0" dirty="0">
                <a:solidFill>
                  <a:srgbClr val="222222"/>
                </a:solidFill>
                <a:effectLst/>
                <a:latin typeface="Arial" panose="020B0604020202020204" pitchFamily="34" charset="0"/>
              </a:rPr>
              <a:t> Sridharan. "Data center </a:t>
            </a:r>
            <a:r>
              <a:rPr lang="en-US" altLang="zh-CN" sz="1200" b="0" i="0" dirty="0" err="1">
                <a:solidFill>
                  <a:srgbClr val="222222"/>
                </a:solidFill>
                <a:effectLst/>
                <a:latin typeface="Arial" panose="020B0604020202020204" pitchFamily="34" charset="0"/>
              </a:rPr>
              <a:t>tcp</a:t>
            </a:r>
            <a:r>
              <a:rPr lang="en-US" altLang="zh-CN" sz="1200" b="0" i="0" dirty="0">
                <a:solidFill>
                  <a:srgbClr val="222222"/>
                </a:solidFill>
                <a:effectLst/>
                <a:latin typeface="Arial" panose="020B0604020202020204" pitchFamily="34" charset="0"/>
              </a:rPr>
              <a:t> (</a:t>
            </a:r>
            <a:r>
              <a:rPr lang="en-US" altLang="zh-CN" sz="1200" b="0" i="0" dirty="0" err="1">
                <a:solidFill>
                  <a:srgbClr val="222222"/>
                </a:solidFill>
                <a:effectLst/>
                <a:latin typeface="Arial" panose="020B0604020202020204" pitchFamily="34" charset="0"/>
              </a:rPr>
              <a:t>dctcp</a:t>
            </a:r>
            <a:r>
              <a:rPr lang="en-US" altLang="zh-CN" sz="1200" b="0" i="0" dirty="0">
                <a:solidFill>
                  <a:srgbClr val="222222"/>
                </a:solidFill>
                <a:effectLst/>
                <a:latin typeface="Arial" panose="020B0604020202020204" pitchFamily="34" charset="0"/>
              </a:rPr>
              <a:t>)." In </a:t>
            </a:r>
            <a:r>
              <a:rPr lang="en-US" altLang="zh-CN" sz="1200" b="0" i="1" dirty="0">
                <a:solidFill>
                  <a:srgbClr val="222222"/>
                </a:solidFill>
                <a:effectLst/>
                <a:latin typeface="Arial" panose="020B0604020202020204" pitchFamily="34" charset="0"/>
              </a:rPr>
              <a:t>Proceedings of the ACM SIGCOMM 2010 Conference</a:t>
            </a:r>
            <a:r>
              <a:rPr lang="en-US" altLang="zh-CN" sz="1200" b="0" i="0" dirty="0">
                <a:solidFill>
                  <a:srgbClr val="222222"/>
                </a:solidFill>
                <a:effectLst/>
                <a:latin typeface="Arial" panose="020B0604020202020204" pitchFamily="34" charset="0"/>
              </a:rPr>
              <a:t>, pp. 63-74. 2010.</a:t>
            </a:r>
            <a:endParaRPr lang="zh-CN" altLang="en-US" sz="1200" dirty="0"/>
          </a:p>
        </p:txBody>
      </p:sp>
    </p:spTree>
    <p:extLst>
      <p:ext uri="{BB962C8B-B14F-4D97-AF65-F5344CB8AC3E}">
        <p14:creationId xmlns:p14="http://schemas.microsoft.com/office/powerpoint/2010/main" val="94630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8612" name="Rectangle 3"/>
          <p:cNvSpPr>
            <a:spLocks noGrp="1" noChangeArrowheads="1"/>
          </p:cNvSpPr>
          <p:nvPr>
            <p:ph idx="1"/>
          </p:nvPr>
        </p:nvSpPr>
        <p:spPr>
          <a:xfrm>
            <a:off x="488005" y="1398988"/>
            <a:ext cx="5834681" cy="3712612"/>
          </a:xfrm>
        </p:spPr>
        <p:txBody>
          <a:bodyPr>
            <a:normAutofit/>
          </a:bodyPr>
          <a:lstStyle/>
          <a:p>
            <a:pPr marL="457200" indent="-457200">
              <a:lnSpc>
                <a:spcPct val="100000"/>
              </a:lnSpc>
              <a:buFont typeface="Arial" panose="020B0604020202020204" pitchFamily="34" charset="0"/>
              <a:buChar char="•"/>
            </a:pPr>
            <a:r>
              <a:rPr lang="en-US" altLang="zh-CN" dirty="0">
                <a:ea typeface="宋体" panose="02010600030101010101" pitchFamily="2" charset="-122"/>
              </a:rPr>
              <a:t>When all else fails, network will drop packets (shed load)</a:t>
            </a:r>
          </a:p>
          <a:p>
            <a:pPr marL="457200" indent="-457200">
              <a:lnSpc>
                <a:spcPct val="100000"/>
              </a:lnSpc>
              <a:buFont typeface="Arial" panose="020B0604020202020204" pitchFamily="34" charset="0"/>
              <a:buChar char="•"/>
            </a:pPr>
            <a:r>
              <a:rPr lang="en-US" altLang="zh-CN" dirty="0">
                <a:ea typeface="宋体" panose="02010600030101010101" pitchFamily="2" charset="-122"/>
              </a:rPr>
              <a:t>Can be done end-to-end or link-by-link</a:t>
            </a:r>
          </a:p>
          <a:p>
            <a:pPr marL="457200" indent="-457200">
              <a:lnSpc>
                <a:spcPct val="100000"/>
              </a:lnSpc>
              <a:buFont typeface="Arial" panose="020B0604020202020204" pitchFamily="34" charset="0"/>
              <a:buChar char="•"/>
            </a:pPr>
            <a:r>
              <a:rPr lang="en-US" altLang="zh-CN" dirty="0">
                <a:ea typeface="宋体" panose="02010600030101010101" pitchFamily="2" charset="-122"/>
              </a:rPr>
              <a:t>Link-by-link (or hop by hop, see the right figure) produces rapid relief</a:t>
            </a:r>
          </a:p>
        </p:txBody>
      </p:sp>
      <p:sp>
        <p:nvSpPr>
          <p:cNvPr id="2" name="矩形 1">
            <a:extLst>
              <a:ext uri="{FF2B5EF4-FFF2-40B4-BE49-F238E27FC236}">
                <a16:creationId xmlns:a16="http://schemas.microsoft.com/office/drawing/2014/main" id="{97DF368E-CB73-4555-B7E2-DFDE2B43EB2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Load Shedding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0" name="Picture 2">
            <a:extLst>
              <a:ext uri="{FF2B5EF4-FFF2-40B4-BE49-F238E27FC236}">
                <a16:creationId xmlns:a16="http://schemas.microsoft.com/office/drawing/2014/main" id="{B6076052-D40A-4B20-B055-11DAE913908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70670" y="1222776"/>
            <a:ext cx="2725738"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3">
            <a:extLst>
              <a:ext uri="{FF2B5EF4-FFF2-40B4-BE49-F238E27FC236}">
                <a16:creationId xmlns:a16="http://schemas.microsoft.com/office/drawing/2014/main" id="{60B05DC7-438F-4F48-B8A8-DA14C2D14B59}"/>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63033" y="1398988"/>
            <a:ext cx="2211387" cy="240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TextBox 6">
            <a:extLst>
              <a:ext uri="{FF2B5EF4-FFF2-40B4-BE49-F238E27FC236}">
                <a16:creationId xmlns:a16="http://schemas.microsoft.com/office/drawing/2014/main" id="{2B2DEDFB-A4C3-4C1E-AD23-EF041A22F09F}"/>
              </a:ext>
            </a:extLst>
          </p:cNvPr>
          <p:cNvSpPr txBox="1"/>
          <p:nvPr/>
        </p:nvSpPr>
        <p:spPr>
          <a:xfrm>
            <a:off x="6918308" y="1437088"/>
            <a:ext cx="298450" cy="339725"/>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1</a:t>
            </a:r>
          </a:p>
        </p:txBody>
      </p:sp>
      <p:sp>
        <p:nvSpPr>
          <p:cNvPr id="25" name="TextBox 7">
            <a:extLst>
              <a:ext uri="{FF2B5EF4-FFF2-40B4-BE49-F238E27FC236}">
                <a16:creationId xmlns:a16="http://schemas.microsoft.com/office/drawing/2014/main" id="{BEF35C1E-326C-4C79-8DC0-BD2365E2CBED}"/>
              </a:ext>
            </a:extLst>
          </p:cNvPr>
          <p:cNvSpPr txBox="1"/>
          <p:nvPr/>
        </p:nvSpPr>
        <p:spPr>
          <a:xfrm>
            <a:off x="6913545" y="4008838"/>
            <a:ext cx="298450" cy="338138"/>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3</a:t>
            </a:r>
          </a:p>
        </p:txBody>
      </p:sp>
      <p:sp>
        <p:nvSpPr>
          <p:cNvPr id="26" name="TextBox 11">
            <a:extLst>
              <a:ext uri="{FF2B5EF4-FFF2-40B4-BE49-F238E27FC236}">
                <a16:creationId xmlns:a16="http://schemas.microsoft.com/office/drawing/2014/main" id="{90E47D7B-7998-4F19-93C9-A9F2637A4189}"/>
              </a:ext>
            </a:extLst>
          </p:cNvPr>
          <p:cNvSpPr txBox="1"/>
          <p:nvPr/>
        </p:nvSpPr>
        <p:spPr>
          <a:xfrm>
            <a:off x="6923070" y="2721376"/>
            <a:ext cx="298450" cy="338137"/>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2</a:t>
            </a:r>
          </a:p>
        </p:txBody>
      </p:sp>
      <p:sp>
        <p:nvSpPr>
          <p:cNvPr id="27" name="TextBox 12">
            <a:extLst>
              <a:ext uri="{FF2B5EF4-FFF2-40B4-BE49-F238E27FC236}">
                <a16:creationId xmlns:a16="http://schemas.microsoft.com/office/drawing/2014/main" id="{C24C7DE0-8128-4DDE-82B0-03B76F20F4F0}"/>
              </a:ext>
            </a:extLst>
          </p:cNvPr>
          <p:cNvSpPr txBox="1"/>
          <p:nvPr/>
        </p:nvSpPr>
        <p:spPr>
          <a:xfrm>
            <a:off x="9307495" y="1506938"/>
            <a:ext cx="298450" cy="338138"/>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4</a:t>
            </a:r>
          </a:p>
        </p:txBody>
      </p:sp>
      <p:sp>
        <p:nvSpPr>
          <p:cNvPr id="28" name="TextBox 13">
            <a:extLst>
              <a:ext uri="{FF2B5EF4-FFF2-40B4-BE49-F238E27FC236}">
                <a16:creationId xmlns:a16="http://schemas.microsoft.com/office/drawing/2014/main" id="{B3CF8805-E522-43CC-9500-E7F38539A122}"/>
              </a:ext>
            </a:extLst>
          </p:cNvPr>
          <p:cNvSpPr txBox="1"/>
          <p:nvPr/>
        </p:nvSpPr>
        <p:spPr>
          <a:xfrm>
            <a:off x="9317020" y="2637238"/>
            <a:ext cx="298450" cy="338138"/>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5</a:t>
            </a:r>
          </a:p>
        </p:txBody>
      </p:sp>
      <p:cxnSp>
        <p:nvCxnSpPr>
          <p:cNvPr id="29" name="Straight Arrow Connector 15">
            <a:extLst>
              <a:ext uri="{FF2B5EF4-FFF2-40B4-BE49-F238E27FC236}">
                <a16:creationId xmlns:a16="http://schemas.microsoft.com/office/drawing/2014/main" id="{B5368EAE-2FF2-46B3-8E1B-BE3E86DD5AA0}"/>
              </a:ext>
            </a:extLst>
          </p:cNvPr>
          <p:cNvCxnSpPr/>
          <p:nvPr/>
        </p:nvCxnSpPr>
        <p:spPr bwMode="auto">
          <a:xfrm rot="5400000" flipH="1" flipV="1">
            <a:off x="8516126" y="4549383"/>
            <a:ext cx="295275" cy="246062"/>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30" name="Straight Arrow Connector 16">
            <a:extLst>
              <a:ext uri="{FF2B5EF4-FFF2-40B4-BE49-F238E27FC236}">
                <a16:creationId xmlns:a16="http://schemas.microsoft.com/office/drawing/2014/main" id="{D47B198B-9F2A-470D-85B2-98A4DFDAD63A}"/>
              </a:ext>
            </a:extLst>
          </p:cNvPr>
          <p:cNvCxnSpPr/>
          <p:nvPr/>
        </p:nvCxnSpPr>
        <p:spPr bwMode="auto">
          <a:xfrm rot="5400000" flipH="1" flipV="1">
            <a:off x="10791808" y="3219851"/>
            <a:ext cx="295275" cy="244475"/>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31" name="Straight Arrow Connector 17">
            <a:extLst>
              <a:ext uri="{FF2B5EF4-FFF2-40B4-BE49-F238E27FC236}">
                <a16:creationId xmlns:a16="http://schemas.microsoft.com/office/drawing/2014/main" id="{D3DF7948-BBE3-4946-B9FD-4269A6B6ECA3}"/>
              </a:ext>
            </a:extLst>
          </p:cNvPr>
          <p:cNvCxnSpPr/>
          <p:nvPr/>
        </p:nvCxnSpPr>
        <p:spPr bwMode="auto">
          <a:xfrm rot="5400000" flipH="1" flipV="1">
            <a:off x="10776726" y="2061770"/>
            <a:ext cx="295275" cy="246062"/>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32" name="Straight Arrow Connector 18">
            <a:extLst>
              <a:ext uri="{FF2B5EF4-FFF2-40B4-BE49-F238E27FC236}">
                <a16:creationId xmlns:a16="http://schemas.microsoft.com/office/drawing/2014/main" id="{8FE1C3F5-AAEE-4E6B-81DC-6106FEDDFC15}"/>
              </a:ext>
            </a:extLst>
          </p:cNvPr>
          <p:cNvCxnSpPr/>
          <p:nvPr/>
        </p:nvCxnSpPr>
        <p:spPr bwMode="auto">
          <a:xfrm flipV="1">
            <a:off x="9837720" y="2430863"/>
            <a:ext cx="757238" cy="1588"/>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33" name="Straight Arrow Connector 20">
            <a:extLst>
              <a:ext uri="{FF2B5EF4-FFF2-40B4-BE49-F238E27FC236}">
                <a16:creationId xmlns:a16="http://schemas.microsoft.com/office/drawing/2014/main" id="{F429B6D9-0B1E-4D4D-AA7F-A4636B10E7F3}"/>
              </a:ext>
            </a:extLst>
          </p:cNvPr>
          <p:cNvCxnSpPr/>
          <p:nvPr/>
        </p:nvCxnSpPr>
        <p:spPr bwMode="auto">
          <a:xfrm flipV="1">
            <a:off x="9832958" y="3615138"/>
            <a:ext cx="757237" cy="3175"/>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34" name="Straight Arrow Connector 21">
            <a:extLst>
              <a:ext uri="{FF2B5EF4-FFF2-40B4-BE49-F238E27FC236}">
                <a16:creationId xmlns:a16="http://schemas.microsoft.com/office/drawing/2014/main" id="{73D6CEAE-7508-441B-BF32-2CC2AA697858}"/>
              </a:ext>
            </a:extLst>
          </p:cNvPr>
          <p:cNvCxnSpPr/>
          <p:nvPr/>
        </p:nvCxnSpPr>
        <p:spPr bwMode="auto">
          <a:xfrm rot="16200000" flipH="1">
            <a:off x="9271776" y="3220645"/>
            <a:ext cx="327025" cy="274638"/>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sp>
        <p:nvSpPr>
          <p:cNvPr id="35" name="矩形 1">
            <a:extLst>
              <a:ext uri="{FF2B5EF4-FFF2-40B4-BE49-F238E27FC236}">
                <a16:creationId xmlns:a16="http://schemas.microsoft.com/office/drawing/2014/main" id="{7F8EFA44-0CCC-40C4-83DF-5E93C83846F8}"/>
              </a:ext>
            </a:extLst>
          </p:cNvPr>
          <p:cNvSpPr>
            <a:spLocks noChangeArrowheads="1"/>
          </p:cNvSpPr>
          <p:nvPr/>
        </p:nvSpPr>
        <p:spPr bwMode="auto">
          <a:xfrm>
            <a:off x="6699233" y="5286776"/>
            <a:ext cx="4572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fontAlgn="base">
              <a:spcBef>
                <a:spcPct val="20000"/>
              </a:spcBef>
              <a:spcAft>
                <a:spcPct val="0"/>
              </a:spcAft>
              <a:buFont typeface="Monotype Sorts" pitchFamily="92" charset="2"/>
              <a:buNone/>
            </a:pPr>
            <a:r>
              <a:rPr lang="en-US" altLang="zh-CN" dirty="0">
                <a:solidFill>
                  <a:srgbClr val="000099"/>
                </a:solidFill>
                <a:latin typeface="Garamond" pitchFamily="18" charset="0"/>
                <a:ea typeface="宋体" pitchFamily="2" charset="-122"/>
              </a:rPr>
              <a:t>(b) A choke packet that affects each hop it passes through.</a:t>
            </a:r>
          </a:p>
        </p:txBody>
      </p:sp>
    </p:spTree>
    <p:extLst>
      <p:ext uri="{BB962C8B-B14F-4D97-AF65-F5344CB8AC3E}">
        <p14:creationId xmlns:p14="http://schemas.microsoft.com/office/powerpoint/2010/main" val="13834076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9636" name="Rectangle 3"/>
          <p:cNvSpPr>
            <a:spLocks noGrp="1" noChangeArrowheads="1"/>
          </p:cNvSpPr>
          <p:nvPr>
            <p:ph idx="1"/>
          </p:nvPr>
        </p:nvSpPr>
        <p:spPr>
          <a:xfrm>
            <a:off x="668179" y="2006285"/>
            <a:ext cx="4603116" cy="1675129"/>
          </a:xfrm>
        </p:spPr>
        <p:txBody>
          <a:bodyPr/>
          <a:lstStyle/>
          <a:p>
            <a:pPr marL="457200" indent="-457200">
              <a:buFont typeface="Arial" panose="020B0604020202020204" pitchFamily="34" charset="0"/>
              <a:buChar char="•"/>
            </a:pPr>
            <a:r>
              <a:rPr lang="en-US" altLang="zh-CN" dirty="0">
                <a:ea typeface="宋体" panose="02010600030101010101" pitchFamily="2" charset="-122"/>
              </a:rPr>
              <a:t>End-to-end (right) takes longer to have an effect, but can better target the cause of congestion</a:t>
            </a:r>
          </a:p>
        </p:txBody>
      </p:sp>
      <p:sp>
        <p:nvSpPr>
          <p:cNvPr id="2" name="矩形 1">
            <a:extLst>
              <a:ext uri="{FF2B5EF4-FFF2-40B4-BE49-F238E27FC236}">
                <a16:creationId xmlns:a16="http://schemas.microsoft.com/office/drawing/2014/main" id="{E9A3EC60-21A9-4FA3-887C-D8F692E99BB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Load Shedding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0" name="Picture 3">
            <a:extLst>
              <a:ext uri="{FF2B5EF4-FFF2-40B4-BE49-F238E27FC236}">
                <a16:creationId xmlns:a16="http://schemas.microsoft.com/office/drawing/2014/main" id="{D51F8E88-D891-49D7-992F-6AE59B33C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7496" y="1154906"/>
            <a:ext cx="1878013"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
            <a:extLst>
              <a:ext uri="{FF2B5EF4-FFF2-40B4-BE49-F238E27FC236}">
                <a16:creationId xmlns:a16="http://schemas.microsoft.com/office/drawing/2014/main" id="{6D350514-E4F9-4BD1-B5FA-D94AD1829D6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91671" y="1686718"/>
            <a:ext cx="3232150" cy="348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10">
            <a:extLst>
              <a:ext uri="{FF2B5EF4-FFF2-40B4-BE49-F238E27FC236}">
                <a16:creationId xmlns:a16="http://schemas.microsoft.com/office/drawing/2014/main" id="{2B40D638-6421-4773-A026-3FD20ACE36B9}"/>
              </a:ext>
            </a:extLst>
          </p:cNvPr>
          <p:cNvSpPr txBox="1"/>
          <p:nvPr/>
        </p:nvSpPr>
        <p:spPr>
          <a:xfrm>
            <a:off x="6735921" y="1285081"/>
            <a:ext cx="298450" cy="338137"/>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1</a:t>
            </a:r>
          </a:p>
        </p:txBody>
      </p:sp>
      <p:sp>
        <p:nvSpPr>
          <p:cNvPr id="43" name="TextBox 11">
            <a:extLst>
              <a:ext uri="{FF2B5EF4-FFF2-40B4-BE49-F238E27FC236}">
                <a16:creationId xmlns:a16="http://schemas.microsoft.com/office/drawing/2014/main" id="{F9B358FF-AB15-436C-9CCB-22E998AF41FE}"/>
              </a:ext>
            </a:extLst>
          </p:cNvPr>
          <p:cNvSpPr txBox="1"/>
          <p:nvPr/>
        </p:nvSpPr>
        <p:spPr>
          <a:xfrm>
            <a:off x="6772434" y="3491706"/>
            <a:ext cx="298450" cy="339725"/>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3</a:t>
            </a:r>
          </a:p>
        </p:txBody>
      </p:sp>
      <p:sp>
        <p:nvSpPr>
          <p:cNvPr id="44" name="TextBox 12">
            <a:extLst>
              <a:ext uri="{FF2B5EF4-FFF2-40B4-BE49-F238E27FC236}">
                <a16:creationId xmlns:a16="http://schemas.microsoft.com/office/drawing/2014/main" id="{D1A54579-D716-48E0-ADDF-DE8716CAFE28}"/>
              </a:ext>
            </a:extLst>
          </p:cNvPr>
          <p:cNvSpPr txBox="1"/>
          <p:nvPr/>
        </p:nvSpPr>
        <p:spPr>
          <a:xfrm>
            <a:off x="6762909" y="2420143"/>
            <a:ext cx="298450" cy="339725"/>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2</a:t>
            </a:r>
          </a:p>
        </p:txBody>
      </p:sp>
      <p:sp>
        <p:nvSpPr>
          <p:cNvPr id="45" name="TextBox 13">
            <a:extLst>
              <a:ext uri="{FF2B5EF4-FFF2-40B4-BE49-F238E27FC236}">
                <a16:creationId xmlns:a16="http://schemas.microsoft.com/office/drawing/2014/main" id="{80028DD2-4BC6-4AC1-9A57-1549A295534A}"/>
              </a:ext>
            </a:extLst>
          </p:cNvPr>
          <p:cNvSpPr txBox="1"/>
          <p:nvPr/>
        </p:nvSpPr>
        <p:spPr>
          <a:xfrm>
            <a:off x="8869521" y="4067968"/>
            <a:ext cx="298450" cy="338138"/>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7</a:t>
            </a:r>
          </a:p>
        </p:txBody>
      </p:sp>
      <p:sp>
        <p:nvSpPr>
          <p:cNvPr id="46" name="TextBox 14">
            <a:extLst>
              <a:ext uri="{FF2B5EF4-FFF2-40B4-BE49-F238E27FC236}">
                <a16:creationId xmlns:a16="http://schemas.microsoft.com/office/drawing/2014/main" id="{00D142E6-D0E7-4605-96BF-8ED0043E00CC}"/>
              </a:ext>
            </a:extLst>
          </p:cNvPr>
          <p:cNvSpPr txBox="1"/>
          <p:nvPr/>
        </p:nvSpPr>
        <p:spPr>
          <a:xfrm>
            <a:off x="8869521" y="1756568"/>
            <a:ext cx="298450" cy="339725"/>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5</a:t>
            </a:r>
          </a:p>
        </p:txBody>
      </p:sp>
      <p:sp>
        <p:nvSpPr>
          <p:cNvPr id="47" name="TextBox 15">
            <a:extLst>
              <a:ext uri="{FF2B5EF4-FFF2-40B4-BE49-F238E27FC236}">
                <a16:creationId xmlns:a16="http://schemas.microsoft.com/office/drawing/2014/main" id="{40B93FE7-DC9C-459E-8CFD-3ADEE2D9D334}"/>
              </a:ext>
            </a:extLst>
          </p:cNvPr>
          <p:cNvSpPr txBox="1"/>
          <p:nvPr/>
        </p:nvSpPr>
        <p:spPr>
          <a:xfrm>
            <a:off x="8874284" y="2901156"/>
            <a:ext cx="298450" cy="338137"/>
          </a:xfrm>
          <a:prstGeom prst="rect">
            <a:avLst/>
          </a:prstGeom>
          <a:noFill/>
        </p:spPr>
        <p:txBody>
          <a:bodyPr>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6</a:t>
            </a:r>
          </a:p>
        </p:txBody>
      </p:sp>
      <p:sp>
        <p:nvSpPr>
          <p:cNvPr id="48" name="TextBox 16">
            <a:extLst>
              <a:ext uri="{FF2B5EF4-FFF2-40B4-BE49-F238E27FC236}">
                <a16:creationId xmlns:a16="http://schemas.microsoft.com/office/drawing/2014/main" id="{09D72218-BAAE-41EA-B61C-B8A2E8122796}"/>
              </a:ext>
            </a:extLst>
          </p:cNvPr>
          <p:cNvSpPr txBox="1"/>
          <p:nvPr/>
        </p:nvSpPr>
        <p:spPr>
          <a:xfrm>
            <a:off x="6721634" y="4529931"/>
            <a:ext cx="298450" cy="338137"/>
          </a:xfrm>
          <a:prstGeom prst="rect">
            <a:avLst/>
          </a:prstGeom>
          <a:noFill/>
        </p:spPr>
        <p:txBody>
          <a:bodyPr wrap="none">
            <a:spAutoFit/>
          </a:bodyPr>
          <a:lstStyle/>
          <a:p>
            <a:pPr fontAlgn="base">
              <a:spcBef>
                <a:spcPct val="0"/>
              </a:spcBef>
              <a:spcAft>
                <a:spcPct val="0"/>
              </a:spcAft>
              <a:defRPr/>
            </a:pPr>
            <a:r>
              <a:rPr lang="en-US" sz="1600" dirty="0">
                <a:solidFill>
                  <a:prstClr val="black"/>
                </a:solidFill>
                <a:latin typeface="Arial" charset="0"/>
                <a:ea typeface="宋体" pitchFamily="2" charset="-122"/>
                <a:cs typeface="Arial" charset="0"/>
              </a:rPr>
              <a:t>4</a:t>
            </a:r>
          </a:p>
        </p:txBody>
      </p:sp>
      <p:cxnSp>
        <p:nvCxnSpPr>
          <p:cNvPr id="49" name="Straight Arrow Connector 17">
            <a:extLst>
              <a:ext uri="{FF2B5EF4-FFF2-40B4-BE49-F238E27FC236}">
                <a16:creationId xmlns:a16="http://schemas.microsoft.com/office/drawing/2014/main" id="{C210BF58-9615-444F-BA56-0F973F1570C6}"/>
              </a:ext>
            </a:extLst>
          </p:cNvPr>
          <p:cNvCxnSpPr/>
          <p:nvPr/>
        </p:nvCxnSpPr>
        <p:spPr bwMode="auto">
          <a:xfrm rot="5400000" flipH="1" flipV="1">
            <a:off x="10289540" y="4613274"/>
            <a:ext cx="295275" cy="246063"/>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50" name="Straight Arrow Connector 18">
            <a:extLst>
              <a:ext uri="{FF2B5EF4-FFF2-40B4-BE49-F238E27FC236}">
                <a16:creationId xmlns:a16="http://schemas.microsoft.com/office/drawing/2014/main" id="{47C80A0C-CBF5-46A4-BAA3-D96F85A3BDD9}"/>
              </a:ext>
            </a:extLst>
          </p:cNvPr>
          <p:cNvCxnSpPr/>
          <p:nvPr/>
        </p:nvCxnSpPr>
        <p:spPr bwMode="auto">
          <a:xfrm flipV="1">
            <a:off x="9355296" y="4968081"/>
            <a:ext cx="757238" cy="1587"/>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51" name="Straight Arrow Connector 19">
            <a:extLst>
              <a:ext uri="{FF2B5EF4-FFF2-40B4-BE49-F238E27FC236}">
                <a16:creationId xmlns:a16="http://schemas.microsoft.com/office/drawing/2014/main" id="{52EAF909-C9EC-423C-AAA0-6E57AB87B486}"/>
              </a:ext>
            </a:extLst>
          </p:cNvPr>
          <p:cNvCxnSpPr/>
          <p:nvPr/>
        </p:nvCxnSpPr>
        <p:spPr bwMode="auto">
          <a:xfrm rot="16200000" flipH="1">
            <a:off x="8854440" y="2332037"/>
            <a:ext cx="309563" cy="250825"/>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52" name="Straight Arrow Connector 20">
            <a:extLst>
              <a:ext uri="{FF2B5EF4-FFF2-40B4-BE49-F238E27FC236}">
                <a16:creationId xmlns:a16="http://schemas.microsoft.com/office/drawing/2014/main" id="{785860B5-7B46-47C9-8DB5-DF8824B24BD7}"/>
              </a:ext>
            </a:extLst>
          </p:cNvPr>
          <p:cNvCxnSpPr/>
          <p:nvPr/>
        </p:nvCxnSpPr>
        <p:spPr bwMode="auto">
          <a:xfrm flipV="1">
            <a:off x="9350534" y="3821906"/>
            <a:ext cx="757237" cy="3175"/>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53" name="Straight Arrow Connector 22">
            <a:extLst>
              <a:ext uri="{FF2B5EF4-FFF2-40B4-BE49-F238E27FC236}">
                <a16:creationId xmlns:a16="http://schemas.microsoft.com/office/drawing/2014/main" id="{98D2878A-03B9-4D9E-BB3F-E6CE40697F93}"/>
              </a:ext>
            </a:extLst>
          </p:cNvPr>
          <p:cNvCxnSpPr/>
          <p:nvPr/>
        </p:nvCxnSpPr>
        <p:spPr bwMode="auto">
          <a:xfrm rot="16200000" flipH="1">
            <a:off x="8840152" y="3478212"/>
            <a:ext cx="309563" cy="250825"/>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cxnSp>
        <p:nvCxnSpPr>
          <p:cNvPr id="54" name="Straight Arrow Connector 23">
            <a:extLst>
              <a:ext uri="{FF2B5EF4-FFF2-40B4-BE49-F238E27FC236}">
                <a16:creationId xmlns:a16="http://schemas.microsoft.com/office/drawing/2014/main" id="{8BDCA5A5-81B6-481F-B8E0-E6E97F1D8F53}"/>
              </a:ext>
            </a:extLst>
          </p:cNvPr>
          <p:cNvCxnSpPr/>
          <p:nvPr/>
        </p:nvCxnSpPr>
        <p:spPr bwMode="auto">
          <a:xfrm rot="16200000" flipH="1">
            <a:off x="8835391" y="4622799"/>
            <a:ext cx="309562" cy="250825"/>
          </a:xfrm>
          <a:prstGeom prst="straightConnector1">
            <a:avLst/>
          </a:prstGeom>
          <a:solidFill>
            <a:srgbClr val="FF388C"/>
          </a:solidFill>
          <a:ln w="19050" cap="flat" cmpd="sng" algn="ctr">
            <a:solidFill>
              <a:srgbClr val="9C007F">
                <a:lumMod val="60000"/>
                <a:lumOff val="40000"/>
              </a:srgbClr>
            </a:solidFill>
            <a:prstDash val="solid"/>
            <a:round/>
            <a:headEnd type="none" w="med" len="med"/>
            <a:tailEnd type="arrow"/>
          </a:ln>
          <a:effectLst/>
        </p:spPr>
      </p:cxnSp>
      <p:sp>
        <p:nvSpPr>
          <p:cNvPr id="55" name="矩形 1">
            <a:extLst>
              <a:ext uri="{FF2B5EF4-FFF2-40B4-BE49-F238E27FC236}">
                <a16:creationId xmlns:a16="http://schemas.microsoft.com/office/drawing/2014/main" id="{7293C129-51EC-48CC-9485-8E801844444C}"/>
              </a:ext>
            </a:extLst>
          </p:cNvPr>
          <p:cNvSpPr>
            <a:spLocks noChangeArrowheads="1"/>
          </p:cNvSpPr>
          <p:nvPr/>
        </p:nvSpPr>
        <p:spPr bwMode="auto">
          <a:xfrm>
            <a:off x="6756559" y="5863431"/>
            <a:ext cx="4365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fontAlgn="base">
              <a:spcBef>
                <a:spcPct val="20000"/>
              </a:spcBef>
              <a:spcAft>
                <a:spcPct val="0"/>
              </a:spcAft>
              <a:buFont typeface="Monotype Sorts" pitchFamily="92" charset="2"/>
              <a:buNone/>
            </a:pPr>
            <a:r>
              <a:rPr lang="en-US" altLang="zh-CN">
                <a:solidFill>
                  <a:srgbClr val="000099"/>
                </a:solidFill>
                <a:latin typeface="Garamond" pitchFamily="18" charset="0"/>
                <a:ea typeface="宋体" pitchFamily="2" charset="-122"/>
              </a:rPr>
              <a:t>(a) A choke packet that affects only the source.</a:t>
            </a:r>
          </a:p>
        </p:txBody>
      </p:sp>
    </p:spTree>
    <p:extLst>
      <p:ext uri="{BB962C8B-B14F-4D97-AF65-F5344CB8AC3E}">
        <p14:creationId xmlns:p14="http://schemas.microsoft.com/office/powerpoint/2010/main" val="56247159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Footer Placeholder 5"/>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 name="矩形 1">
            <a:extLst>
              <a:ext uri="{FF2B5EF4-FFF2-40B4-BE49-F238E27FC236}">
                <a16:creationId xmlns:a16="http://schemas.microsoft.com/office/drawing/2014/main" id="{97DF368E-CB73-4555-B7E2-DFDE2B43EB2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Load Shedding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1" name="Rectangle 3">
            <a:extLst>
              <a:ext uri="{FF2B5EF4-FFF2-40B4-BE49-F238E27FC236}">
                <a16:creationId xmlns:a16="http://schemas.microsoft.com/office/drawing/2014/main" id="{A247C83C-0063-4F0F-8F71-ADE14F2BB798}"/>
              </a:ext>
            </a:extLst>
          </p:cNvPr>
          <p:cNvSpPr txBox="1">
            <a:spLocks noChangeArrowheads="1"/>
          </p:cNvSpPr>
          <p:nvPr/>
        </p:nvSpPr>
        <p:spPr>
          <a:xfrm>
            <a:off x="652758" y="1429187"/>
            <a:ext cx="11450341" cy="3168699"/>
          </a:xfrm>
          <a:prstGeom prst="rect">
            <a:avLst/>
          </a:prstGeom>
          <a:noFill/>
          <a:extLs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106663" tIns="53332" rIns="106663" bIns="53332" rtlCol="0">
            <a:normAutofit/>
          </a:bodyPr>
          <a:lstStyle>
            <a:lvl1pPr marL="228600" indent="-228600" algn="l" defTabSz="914400" rtl="0" eaLnBrk="1" latinLnBrk="0" hangingPunct="1">
              <a:lnSpc>
                <a:spcPct val="90000"/>
              </a:lnSpc>
              <a:spcBef>
                <a:spcPts val="1000"/>
              </a:spcBef>
              <a:buClr>
                <a:srgbClr val="0000FF"/>
              </a:buClr>
              <a:buFont typeface="Arial"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FF"/>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000FF"/>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00FF"/>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pPr>
            <a:r>
              <a:rPr lang="en-US" altLang="zh-CN" dirty="0"/>
              <a:t>Just throw them away </a:t>
            </a:r>
          </a:p>
          <a:p>
            <a:pPr lvl="1">
              <a:lnSpc>
                <a:spcPct val="105000"/>
              </a:lnSpc>
            </a:pPr>
            <a:r>
              <a:rPr lang="en-US" altLang="zh-CN" sz="2800" dirty="0"/>
              <a:t>Random</a:t>
            </a:r>
          </a:p>
          <a:p>
            <a:pPr lvl="1">
              <a:lnSpc>
                <a:spcPct val="105000"/>
              </a:lnSpc>
            </a:pPr>
            <a:r>
              <a:rPr lang="en-US" altLang="zh-CN" sz="2800" dirty="0"/>
              <a:t>Depend on the applications </a:t>
            </a:r>
          </a:p>
          <a:p>
            <a:pPr lvl="1">
              <a:lnSpc>
                <a:spcPct val="105000"/>
              </a:lnSpc>
            </a:pPr>
            <a:r>
              <a:rPr lang="en-US" altLang="zh-CN" sz="2800" dirty="0"/>
              <a:t>Priority, some packets are more important than others </a:t>
            </a:r>
          </a:p>
          <a:p>
            <a:pPr lvl="1">
              <a:lnSpc>
                <a:spcPct val="105000"/>
              </a:lnSpc>
            </a:pPr>
            <a:r>
              <a:rPr lang="en-US" altLang="zh-CN" sz="2800" dirty="0"/>
              <a:t>Allow hosts to exceed the limits, but all excess traffic be marked as low priority  </a:t>
            </a:r>
            <a:endParaRPr lang="zh-CN" altLang="en-US" sz="2800" dirty="0"/>
          </a:p>
        </p:txBody>
      </p:sp>
    </p:spTree>
    <p:extLst>
      <p:ext uri="{BB962C8B-B14F-4D97-AF65-F5344CB8AC3E}">
        <p14:creationId xmlns:p14="http://schemas.microsoft.com/office/powerpoint/2010/main" val="40636960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矩形 227">
            <a:extLst>
              <a:ext uri="{FF2B5EF4-FFF2-40B4-BE49-F238E27FC236}">
                <a16:creationId xmlns:a16="http://schemas.microsoft.com/office/drawing/2014/main" id="{C29C2842-BFB8-4C74-9982-B6C262043A8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err="1">
                <a:solidFill>
                  <a:srgbClr val="C00000"/>
                </a:solidFill>
                <a:latin typeface="微软雅黑" panose="020B0503020204020204" pitchFamily="34" charset="-122"/>
                <a:ea typeface="微软雅黑" panose="020B0503020204020204" pitchFamily="34" charset="-122"/>
              </a:rPr>
              <a:t>Incast</a:t>
            </a:r>
            <a:r>
              <a:rPr lang="en-US" altLang="zh-CN" sz="2800" b="1" kern="0" dirty="0">
                <a:solidFill>
                  <a:srgbClr val="C00000"/>
                </a:solidFill>
                <a:latin typeface="微软雅黑" panose="020B0503020204020204" pitchFamily="34" charset="-122"/>
                <a:ea typeface="微软雅黑" panose="020B0503020204020204" pitchFamily="34" charset="-122"/>
              </a:rPr>
              <a:t> Issue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29" name="Picture 2">
            <a:extLst>
              <a:ext uri="{FF2B5EF4-FFF2-40B4-BE49-F238E27FC236}">
                <a16:creationId xmlns:a16="http://schemas.microsoft.com/office/drawing/2014/main" id="{F03F9313-14FB-44D1-90AB-E1247AAEC7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5" descr="server-gray.png">
            <a:extLst>
              <a:ext uri="{FF2B5EF4-FFF2-40B4-BE49-F238E27FC236}">
                <a16:creationId xmlns:a16="http://schemas.microsoft.com/office/drawing/2014/main" id="{CD419671-04B9-47D5-A725-79D097586EB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4962525"/>
            <a:ext cx="915988"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6" descr="server-gray.png">
            <a:extLst>
              <a:ext uri="{FF2B5EF4-FFF2-40B4-BE49-F238E27FC236}">
                <a16:creationId xmlns:a16="http://schemas.microsoft.com/office/drawing/2014/main" id="{6A3BE6E0-1063-4971-94C1-42885175A99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2388" y="3743325"/>
            <a:ext cx="91440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7" descr="server-gray.png">
            <a:extLst>
              <a:ext uri="{FF2B5EF4-FFF2-40B4-BE49-F238E27FC236}">
                <a16:creationId xmlns:a16="http://schemas.microsoft.com/office/drawing/2014/main" id="{91B739EE-B358-435E-92F6-1CCE479E83E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2388" y="2463800"/>
            <a:ext cx="91440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8" descr="server-gray.png">
            <a:extLst>
              <a:ext uri="{FF2B5EF4-FFF2-40B4-BE49-F238E27FC236}">
                <a16:creationId xmlns:a16="http://schemas.microsoft.com/office/drawing/2014/main" id="{24B43766-F386-43EF-97D8-C386A7210BF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2388" y="1168400"/>
            <a:ext cx="91440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Content Placeholder 9" descr="switch.png">
            <a:extLst>
              <a:ext uri="{FF2B5EF4-FFF2-40B4-BE49-F238E27FC236}">
                <a16:creationId xmlns:a16="http://schemas.microsoft.com/office/drawing/2014/main" id="{022A4ECF-E96B-46BB-9011-090190318D6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6032500" y="3182938"/>
            <a:ext cx="1643063" cy="692150"/>
          </a:xfrm>
          <a:prstGeom prst="rect">
            <a:avLst/>
          </a:prstGeom>
        </p:spPr>
      </p:pic>
      <p:pic>
        <p:nvPicPr>
          <p:cNvPr id="11" name="Picture 4" descr="server2.jpg">
            <a:extLst>
              <a:ext uri="{FF2B5EF4-FFF2-40B4-BE49-F238E27FC236}">
                <a16:creationId xmlns:a16="http://schemas.microsoft.com/office/drawing/2014/main" id="{4DF002EE-9550-42B2-9635-BBA5B08BE08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980488" y="2994025"/>
            <a:ext cx="1149350" cy="110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a:extLst>
              <a:ext uri="{FF2B5EF4-FFF2-40B4-BE49-F238E27FC236}">
                <a16:creationId xmlns:a16="http://schemas.microsoft.com/office/drawing/2014/main" id="{84818A73-C51A-4F3B-AFB0-06F6FC998713}"/>
              </a:ext>
            </a:extLst>
          </p:cNvPr>
          <p:cNvCxnSpPr/>
          <p:nvPr/>
        </p:nvCxnSpPr>
        <p:spPr>
          <a:xfrm flipV="1">
            <a:off x="7446963" y="3529013"/>
            <a:ext cx="1609725" cy="0"/>
          </a:xfrm>
          <a:prstGeom prst="line">
            <a:avLst/>
          </a:prstGeom>
          <a:noFill/>
          <a:ln w="50800" cap="flat" cmpd="sng" algn="ctr">
            <a:solidFill>
              <a:srgbClr val="333333"/>
            </a:solidFill>
            <a:prstDash val="solid"/>
          </a:ln>
          <a:effectLst/>
        </p:spPr>
      </p:cxnSp>
      <p:cxnSp>
        <p:nvCxnSpPr>
          <p:cNvPr id="13" name="Straight Connector 26">
            <a:extLst>
              <a:ext uri="{FF2B5EF4-FFF2-40B4-BE49-F238E27FC236}">
                <a16:creationId xmlns:a16="http://schemas.microsoft.com/office/drawing/2014/main" id="{3DDDCB7C-6398-47CC-8E97-11DF69CC9774}"/>
              </a:ext>
            </a:extLst>
          </p:cNvPr>
          <p:cNvCxnSpPr>
            <a:cxnSpLocks/>
            <a:endCxn id="10" idx="1"/>
          </p:cNvCxnSpPr>
          <p:nvPr/>
        </p:nvCxnSpPr>
        <p:spPr>
          <a:xfrm>
            <a:off x="3449638" y="1655763"/>
            <a:ext cx="2582862" cy="1873250"/>
          </a:xfrm>
          <a:prstGeom prst="line">
            <a:avLst/>
          </a:prstGeom>
          <a:noFill/>
          <a:ln w="50800" cap="flat" cmpd="sng" algn="ctr">
            <a:solidFill>
              <a:srgbClr val="333333"/>
            </a:solidFill>
            <a:prstDash val="solid"/>
          </a:ln>
          <a:effectLst/>
        </p:spPr>
      </p:cxnSp>
      <p:cxnSp>
        <p:nvCxnSpPr>
          <p:cNvPr id="14" name="Straight Connector 29">
            <a:extLst>
              <a:ext uri="{FF2B5EF4-FFF2-40B4-BE49-F238E27FC236}">
                <a16:creationId xmlns:a16="http://schemas.microsoft.com/office/drawing/2014/main" id="{6974A435-97AA-4D35-ABA9-4493D0203AA5}"/>
              </a:ext>
            </a:extLst>
          </p:cNvPr>
          <p:cNvCxnSpPr>
            <a:cxnSpLocks/>
            <a:endCxn id="10" idx="1"/>
          </p:cNvCxnSpPr>
          <p:nvPr/>
        </p:nvCxnSpPr>
        <p:spPr>
          <a:xfrm>
            <a:off x="3449638" y="2951163"/>
            <a:ext cx="2582862" cy="577850"/>
          </a:xfrm>
          <a:prstGeom prst="line">
            <a:avLst/>
          </a:prstGeom>
          <a:noFill/>
          <a:ln w="50800" cap="flat" cmpd="sng" algn="ctr">
            <a:solidFill>
              <a:srgbClr val="333333"/>
            </a:solidFill>
            <a:prstDash val="solid"/>
          </a:ln>
          <a:effectLst/>
        </p:spPr>
      </p:cxnSp>
      <p:cxnSp>
        <p:nvCxnSpPr>
          <p:cNvPr id="15" name="Straight Connector 35">
            <a:extLst>
              <a:ext uri="{FF2B5EF4-FFF2-40B4-BE49-F238E27FC236}">
                <a16:creationId xmlns:a16="http://schemas.microsoft.com/office/drawing/2014/main" id="{65DF8AE7-3638-4E2D-94A6-C9F553AC317E}"/>
              </a:ext>
            </a:extLst>
          </p:cNvPr>
          <p:cNvCxnSpPr>
            <a:cxnSpLocks/>
            <a:endCxn id="10" idx="1"/>
          </p:cNvCxnSpPr>
          <p:nvPr/>
        </p:nvCxnSpPr>
        <p:spPr>
          <a:xfrm flipV="1">
            <a:off x="3449638" y="3529013"/>
            <a:ext cx="2582862" cy="701678"/>
          </a:xfrm>
          <a:prstGeom prst="line">
            <a:avLst/>
          </a:prstGeom>
          <a:noFill/>
          <a:ln w="50800" cap="flat" cmpd="sng" algn="ctr">
            <a:solidFill>
              <a:srgbClr val="333333"/>
            </a:solidFill>
            <a:prstDash val="solid"/>
          </a:ln>
          <a:effectLst/>
        </p:spPr>
      </p:cxnSp>
      <p:cxnSp>
        <p:nvCxnSpPr>
          <p:cNvPr id="16" name="Straight Connector 38">
            <a:extLst>
              <a:ext uri="{FF2B5EF4-FFF2-40B4-BE49-F238E27FC236}">
                <a16:creationId xmlns:a16="http://schemas.microsoft.com/office/drawing/2014/main" id="{62EC05C3-3FAA-48C7-A7FC-4AD557663133}"/>
              </a:ext>
            </a:extLst>
          </p:cNvPr>
          <p:cNvCxnSpPr>
            <a:cxnSpLocks/>
            <a:endCxn id="10" idx="1"/>
          </p:cNvCxnSpPr>
          <p:nvPr/>
        </p:nvCxnSpPr>
        <p:spPr>
          <a:xfrm flipV="1">
            <a:off x="3448050" y="3529013"/>
            <a:ext cx="2584450" cy="1920878"/>
          </a:xfrm>
          <a:prstGeom prst="line">
            <a:avLst/>
          </a:prstGeom>
          <a:noFill/>
          <a:ln w="50800" cap="flat" cmpd="sng" algn="ctr">
            <a:solidFill>
              <a:srgbClr val="333333"/>
            </a:solidFill>
            <a:prstDash val="solid"/>
          </a:ln>
          <a:effectLst/>
        </p:spPr>
      </p:cxnSp>
      <p:grpSp>
        <p:nvGrpSpPr>
          <p:cNvPr id="17" name="Group 151">
            <a:extLst>
              <a:ext uri="{FF2B5EF4-FFF2-40B4-BE49-F238E27FC236}">
                <a16:creationId xmlns:a16="http://schemas.microsoft.com/office/drawing/2014/main" id="{40A2C957-A8FE-4EFB-8E1B-44DD8C2C45EE}"/>
              </a:ext>
            </a:extLst>
          </p:cNvPr>
          <p:cNvGrpSpPr>
            <a:grpSpLocks/>
          </p:cNvGrpSpPr>
          <p:nvPr/>
        </p:nvGrpSpPr>
        <p:grpSpPr bwMode="auto">
          <a:xfrm>
            <a:off x="5983288" y="3225800"/>
            <a:ext cx="1585912" cy="609600"/>
            <a:chOff x="4032" y="480"/>
            <a:chExt cx="768" cy="576"/>
          </a:xfrm>
          <a:gradFill>
            <a:gsLst>
              <a:gs pos="0">
                <a:srgbClr val="FFFFFF"/>
              </a:gs>
              <a:gs pos="100000">
                <a:srgbClr val="5D87A1"/>
              </a:gs>
            </a:gsLst>
            <a:lin ang="0" scaled="1"/>
          </a:gradFill>
        </p:grpSpPr>
        <p:sp>
          <p:nvSpPr>
            <p:cNvPr id="18" name="Freeform 152">
              <a:extLst>
                <a:ext uri="{FF2B5EF4-FFF2-40B4-BE49-F238E27FC236}">
                  <a16:creationId xmlns:a16="http://schemas.microsoft.com/office/drawing/2014/main" id="{E0ACCDA3-B180-4230-8C1D-5A30AD378555}"/>
                </a:ext>
              </a:extLst>
            </p:cNvPr>
            <p:cNvSpPr>
              <a:spLocks/>
            </p:cNvSpPr>
            <p:nvPr/>
          </p:nvSpPr>
          <p:spPr bwMode="auto">
            <a:xfrm>
              <a:off x="4032" y="480"/>
              <a:ext cx="768" cy="576"/>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pFill/>
            <a:ln w="28575">
              <a:solidFill>
                <a:srgbClr val="333333"/>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99"/>
                </a:solidFill>
                <a:effectLst/>
                <a:uLnTx/>
                <a:uFillTx/>
                <a:latin typeface="Arial"/>
              </a:endParaRPr>
            </a:p>
          </p:txBody>
        </p:sp>
        <p:sp>
          <p:nvSpPr>
            <p:cNvPr id="19" name="Line 153">
              <a:extLst>
                <a:ext uri="{FF2B5EF4-FFF2-40B4-BE49-F238E27FC236}">
                  <a16:creationId xmlns:a16="http://schemas.microsoft.com/office/drawing/2014/main" id="{B1B173C6-745C-4DC7-A653-80561125DC9C}"/>
                </a:ext>
              </a:extLst>
            </p:cNvPr>
            <p:cNvSpPr>
              <a:spLocks noChangeShapeType="1"/>
            </p:cNvSpPr>
            <p:nvPr/>
          </p:nvSpPr>
          <p:spPr bwMode="auto">
            <a:xfrm>
              <a:off x="4664" y="653"/>
              <a:ext cx="0" cy="288"/>
            </a:xfrm>
            <a:prstGeom prst="line">
              <a:avLst/>
            </a:prstGeom>
            <a:grpFill/>
            <a:ln w="28575">
              <a:solidFill>
                <a:srgbClr val="333333"/>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Arial"/>
              </a:endParaRPr>
            </a:p>
          </p:txBody>
        </p:sp>
      </p:grpSp>
      <p:sp>
        <p:nvSpPr>
          <p:cNvPr id="21" name="Rectangle 163">
            <a:extLst>
              <a:ext uri="{FF2B5EF4-FFF2-40B4-BE49-F238E27FC236}">
                <a16:creationId xmlns:a16="http://schemas.microsoft.com/office/drawing/2014/main" id="{861D59E8-F9A2-4234-930A-586DCF8D69DA}"/>
              </a:ext>
            </a:extLst>
          </p:cNvPr>
          <p:cNvSpPr>
            <a:spLocks noChangeArrowheads="1"/>
          </p:cNvSpPr>
          <p:nvPr/>
        </p:nvSpPr>
        <p:spPr bwMode="auto">
          <a:xfrm>
            <a:off x="8910638" y="3225800"/>
            <a:ext cx="192087" cy="593725"/>
          </a:xfrm>
          <a:prstGeom prst="rect">
            <a:avLst/>
          </a:prstGeom>
          <a:solidFill>
            <a:srgbClr val="0C921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22" name="Rectangle 163">
            <a:extLst>
              <a:ext uri="{FF2B5EF4-FFF2-40B4-BE49-F238E27FC236}">
                <a16:creationId xmlns:a16="http://schemas.microsoft.com/office/drawing/2014/main" id="{D278DF1F-6A14-45A6-BB57-6B8346A26A80}"/>
              </a:ext>
            </a:extLst>
          </p:cNvPr>
          <p:cNvSpPr>
            <a:spLocks noChangeArrowheads="1"/>
          </p:cNvSpPr>
          <p:nvPr/>
        </p:nvSpPr>
        <p:spPr bwMode="auto">
          <a:xfrm>
            <a:off x="8910638" y="3225800"/>
            <a:ext cx="192087" cy="593725"/>
          </a:xfrm>
          <a:prstGeom prst="rect">
            <a:avLst/>
          </a:prstGeom>
          <a:solidFill>
            <a:srgbClr val="0C921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23" name="Rectangle 163">
            <a:extLst>
              <a:ext uri="{FF2B5EF4-FFF2-40B4-BE49-F238E27FC236}">
                <a16:creationId xmlns:a16="http://schemas.microsoft.com/office/drawing/2014/main" id="{9C3C0F51-00E7-4AFA-A498-909CED0B01EE}"/>
              </a:ext>
            </a:extLst>
          </p:cNvPr>
          <p:cNvSpPr>
            <a:spLocks noChangeArrowheads="1"/>
          </p:cNvSpPr>
          <p:nvPr/>
        </p:nvSpPr>
        <p:spPr bwMode="auto">
          <a:xfrm>
            <a:off x="8910638" y="3225800"/>
            <a:ext cx="192087" cy="593725"/>
          </a:xfrm>
          <a:prstGeom prst="rect">
            <a:avLst/>
          </a:prstGeom>
          <a:solidFill>
            <a:srgbClr val="0C921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24" name="Rectangle 163">
            <a:extLst>
              <a:ext uri="{FF2B5EF4-FFF2-40B4-BE49-F238E27FC236}">
                <a16:creationId xmlns:a16="http://schemas.microsoft.com/office/drawing/2014/main" id="{23583DCE-3B89-4A7B-B712-E3260C5CAAC5}"/>
              </a:ext>
            </a:extLst>
          </p:cNvPr>
          <p:cNvSpPr>
            <a:spLocks noChangeArrowheads="1"/>
          </p:cNvSpPr>
          <p:nvPr/>
        </p:nvSpPr>
        <p:spPr bwMode="auto">
          <a:xfrm>
            <a:off x="8910638" y="3225800"/>
            <a:ext cx="192087" cy="593725"/>
          </a:xfrm>
          <a:prstGeom prst="rect">
            <a:avLst/>
          </a:prstGeom>
          <a:solidFill>
            <a:srgbClr val="0C921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25" name="Rectangle 163">
            <a:extLst>
              <a:ext uri="{FF2B5EF4-FFF2-40B4-BE49-F238E27FC236}">
                <a16:creationId xmlns:a16="http://schemas.microsoft.com/office/drawing/2014/main" id="{764FA369-697F-45B2-B362-4DE16411D524}"/>
              </a:ext>
            </a:extLst>
          </p:cNvPr>
          <p:cNvSpPr>
            <a:spLocks noChangeArrowheads="1"/>
          </p:cNvSpPr>
          <p:nvPr/>
        </p:nvSpPr>
        <p:spPr bwMode="auto">
          <a:xfrm>
            <a:off x="3238500" y="1397000"/>
            <a:ext cx="192088"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26" name="Rectangle 163">
            <a:extLst>
              <a:ext uri="{FF2B5EF4-FFF2-40B4-BE49-F238E27FC236}">
                <a16:creationId xmlns:a16="http://schemas.microsoft.com/office/drawing/2014/main" id="{BBABDCAB-9572-4DEC-B9E6-F467E5D3A2C5}"/>
              </a:ext>
            </a:extLst>
          </p:cNvPr>
          <p:cNvSpPr>
            <a:spLocks noChangeArrowheads="1"/>
          </p:cNvSpPr>
          <p:nvPr/>
        </p:nvSpPr>
        <p:spPr bwMode="auto">
          <a:xfrm>
            <a:off x="3009900" y="1412875"/>
            <a:ext cx="192088"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27" name="Rectangle 163">
            <a:extLst>
              <a:ext uri="{FF2B5EF4-FFF2-40B4-BE49-F238E27FC236}">
                <a16:creationId xmlns:a16="http://schemas.microsoft.com/office/drawing/2014/main" id="{063FFCC4-AB21-4BA7-886B-B5C933885F0A}"/>
              </a:ext>
            </a:extLst>
          </p:cNvPr>
          <p:cNvSpPr>
            <a:spLocks noChangeArrowheads="1"/>
          </p:cNvSpPr>
          <p:nvPr/>
        </p:nvSpPr>
        <p:spPr bwMode="auto">
          <a:xfrm>
            <a:off x="3238500" y="2663825"/>
            <a:ext cx="192088" cy="593725"/>
          </a:xfrm>
          <a:prstGeom prst="rect">
            <a:avLst/>
          </a:prstGeom>
          <a:gradFill rotWithShape="1">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28" name="Rectangle 163">
            <a:extLst>
              <a:ext uri="{FF2B5EF4-FFF2-40B4-BE49-F238E27FC236}">
                <a16:creationId xmlns:a16="http://schemas.microsoft.com/office/drawing/2014/main" id="{D221030A-2CD8-4654-9814-D687B368DF67}"/>
              </a:ext>
            </a:extLst>
          </p:cNvPr>
          <p:cNvSpPr>
            <a:spLocks noChangeArrowheads="1"/>
          </p:cNvSpPr>
          <p:nvPr/>
        </p:nvSpPr>
        <p:spPr bwMode="auto">
          <a:xfrm>
            <a:off x="3009900" y="2663825"/>
            <a:ext cx="192088" cy="593725"/>
          </a:xfrm>
          <a:prstGeom prst="rect">
            <a:avLst/>
          </a:prstGeom>
          <a:gradFill rotWithShape="1">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29" name="Rectangle 163">
            <a:extLst>
              <a:ext uri="{FF2B5EF4-FFF2-40B4-BE49-F238E27FC236}">
                <a16:creationId xmlns:a16="http://schemas.microsoft.com/office/drawing/2014/main" id="{5F0FD0F2-C4FF-49C7-9CB2-CE989FEF2F87}"/>
              </a:ext>
            </a:extLst>
          </p:cNvPr>
          <p:cNvSpPr>
            <a:spLocks noChangeArrowheads="1"/>
          </p:cNvSpPr>
          <p:nvPr/>
        </p:nvSpPr>
        <p:spPr bwMode="auto">
          <a:xfrm>
            <a:off x="3238500" y="3911600"/>
            <a:ext cx="192088" cy="593725"/>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30" name="Rectangle 163">
            <a:extLst>
              <a:ext uri="{FF2B5EF4-FFF2-40B4-BE49-F238E27FC236}">
                <a16:creationId xmlns:a16="http://schemas.microsoft.com/office/drawing/2014/main" id="{5EF670C1-CB32-4DC8-8C40-9DC0E7B739CC}"/>
              </a:ext>
            </a:extLst>
          </p:cNvPr>
          <p:cNvSpPr>
            <a:spLocks noChangeArrowheads="1"/>
          </p:cNvSpPr>
          <p:nvPr/>
        </p:nvSpPr>
        <p:spPr bwMode="auto">
          <a:xfrm>
            <a:off x="3009900" y="3911600"/>
            <a:ext cx="192088" cy="593725"/>
          </a:xfrm>
          <a:prstGeom prst="rect">
            <a:avLst/>
          </a:prstGeom>
          <a:gradFill rotWithShape="1">
            <a:gsLst>
              <a:gs pos="0">
                <a:srgbClr val="825600"/>
              </a:gs>
              <a:gs pos="13000">
                <a:srgbClr val="FFA800"/>
              </a:gs>
              <a:gs pos="28000">
                <a:srgbClr val="825600"/>
              </a:gs>
              <a:gs pos="42999">
                <a:srgbClr val="FFA800"/>
              </a:gs>
              <a:gs pos="58000">
                <a:srgbClr val="825600"/>
              </a:gs>
              <a:gs pos="72000">
                <a:srgbClr val="FFA800"/>
              </a:gs>
              <a:gs pos="87000">
                <a:srgbClr val="825600"/>
              </a:gs>
              <a:gs pos="100000">
                <a:srgbClr val="FFA800"/>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31" name="Rectangle 163">
            <a:extLst>
              <a:ext uri="{FF2B5EF4-FFF2-40B4-BE49-F238E27FC236}">
                <a16:creationId xmlns:a16="http://schemas.microsoft.com/office/drawing/2014/main" id="{DEF040BB-4E6A-4BA5-98E5-CFFF5954918A}"/>
              </a:ext>
            </a:extLst>
          </p:cNvPr>
          <p:cNvSpPr>
            <a:spLocks noChangeArrowheads="1"/>
          </p:cNvSpPr>
          <p:nvPr/>
        </p:nvSpPr>
        <p:spPr bwMode="auto">
          <a:xfrm>
            <a:off x="3238500" y="5207000"/>
            <a:ext cx="192088" cy="593725"/>
          </a:xfrm>
          <a:prstGeom prst="rect">
            <a:avLst/>
          </a:prstGeom>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32" name="Rectangle 163">
            <a:extLst>
              <a:ext uri="{FF2B5EF4-FFF2-40B4-BE49-F238E27FC236}">
                <a16:creationId xmlns:a16="http://schemas.microsoft.com/office/drawing/2014/main" id="{2D499FA7-7CEE-4EFF-9B9D-936010475ECF}"/>
              </a:ext>
            </a:extLst>
          </p:cNvPr>
          <p:cNvSpPr>
            <a:spLocks noChangeArrowheads="1"/>
          </p:cNvSpPr>
          <p:nvPr/>
        </p:nvSpPr>
        <p:spPr bwMode="auto">
          <a:xfrm>
            <a:off x="3009900" y="5207000"/>
            <a:ext cx="192088" cy="593725"/>
          </a:xfrm>
          <a:prstGeom prst="rect">
            <a:avLst/>
          </a:prstGeom>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pic>
        <p:nvPicPr>
          <p:cNvPr id="33" name="Picture 98" descr="bang.gif">
            <a:extLst>
              <a:ext uri="{FF2B5EF4-FFF2-40B4-BE49-F238E27FC236}">
                <a16:creationId xmlns:a16="http://schemas.microsoft.com/office/drawing/2014/main" id="{E72A2AC1-447D-4781-94CC-FF1EFA4A6BA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344988" y="2768600"/>
            <a:ext cx="15240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 name="Group 102">
            <a:extLst>
              <a:ext uri="{FF2B5EF4-FFF2-40B4-BE49-F238E27FC236}">
                <a16:creationId xmlns:a16="http://schemas.microsoft.com/office/drawing/2014/main" id="{A23817FD-2CE7-4EC3-A7F7-D924FDD4D76B}"/>
              </a:ext>
            </a:extLst>
          </p:cNvPr>
          <p:cNvGrpSpPr>
            <a:grpSpLocks/>
          </p:cNvGrpSpPr>
          <p:nvPr/>
        </p:nvGrpSpPr>
        <p:grpSpPr bwMode="auto">
          <a:xfrm>
            <a:off x="4211638" y="5338762"/>
            <a:ext cx="2743200" cy="461963"/>
            <a:chOff x="2743200" y="5418892"/>
            <a:chExt cx="2743200" cy="461665"/>
          </a:xfrm>
        </p:grpSpPr>
        <p:sp>
          <p:nvSpPr>
            <p:cNvPr id="35" name="TextBox 100">
              <a:extLst>
                <a:ext uri="{FF2B5EF4-FFF2-40B4-BE49-F238E27FC236}">
                  <a16:creationId xmlns:a16="http://schemas.microsoft.com/office/drawing/2014/main" id="{361E629F-B86D-4E3A-8D15-1D3B2FC79986}"/>
                </a:ext>
              </a:extLst>
            </p:cNvPr>
            <p:cNvSpPr txBox="1">
              <a:spLocks noChangeArrowheads="1"/>
            </p:cNvSpPr>
            <p:nvPr/>
          </p:nvSpPr>
          <p:spPr bwMode="auto">
            <a:xfrm>
              <a:off x="3581400" y="5418892"/>
              <a:ext cx="190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Calibri" pitchFamily="34" charset="0"/>
                  <a:ea typeface="宋体" charset="-122"/>
                  <a:cs typeface="Arial" charset="0"/>
                </a:rPr>
                <a:t>TCP timeout</a:t>
              </a:r>
              <a:endParaRPr kumimoji="0" lang="en-US" altLang="zh-CN" sz="2000" b="1" i="0" u="none" strike="noStrike" kern="0" cap="none" spc="0" normalizeH="0" baseline="0" noProof="0">
                <a:ln>
                  <a:noFill/>
                </a:ln>
                <a:solidFill>
                  <a:srgbClr val="FF0000"/>
                </a:solidFill>
                <a:effectLst/>
                <a:uLnTx/>
                <a:uFillTx/>
                <a:latin typeface="Calibri" pitchFamily="34" charset="0"/>
                <a:ea typeface="宋体" charset="-122"/>
              </a:endParaRPr>
            </a:p>
          </p:txBody>
        </p:sp>
        <p:sp>
          <p:nvSpPr>
            <p:cNvPr id="36" name="Left Arrow 101">
              <a:extLst>
                <a:ext uri="{FF2B5EF4-FFF2-40B4-BE49-F238E27FC236}">
                  <a16:creationId xmlns:a16="http://schemas.microsoft.com/office/drawing/2014/main" id="{CAA6FAC6-531C-402E-ADCA-72A45E05C05A}"/>
                </a:ext>
              </a:extLst>
            </p:cNvPr>
            <p:cNvSpPr/>
            <p:nvPr/>
          </p:nvSpPr>
          <p:spPr>
            <a:xfrm>
              <a:off x="2743200" y="5563262"/>
              <a:ext cx="762000" cy="239557"/>
            </a:xfrm>
            <a:prstGeom prst="leftArrow">
              <a:avLst/>
            </a:prstGeom>
            <a:solidFill>
              <a:srgbClr val="FF0000"/>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800" b="0" i="0" u="none" strike="noStrike" kern="0" cap="none" spc="0" normalizeH="0" baseline="0" noProof="0">
                <a:ln>
                  <a:noFill/>
                </a:ln>
                <a:solidFill>
                  <a:srgbClr val="FFFFFF"/>
                </a:solidFill>
                <a:effectLst/>
                <a:uLnTx/>
                <a:uFillTx/>
                <a:latin typeface="Arial"/>
                <a:ea typeface="+mn-ea"/>
                <a:cs typeface="+mn-cs"/>
              </a:endParaRPr>
            </a:p>
          </p:txBody>
        </p:sp>
      </p:grpSp>
      <p:sp>
        <p:nvSpPr>
          <p:cNvPr id="37" name="TextBox 40">
            <a:extLst>
              <a:ext uri="{FF2B5EF4-FFF2-40B4-BE49-F238E27FC236}">
                <a16:creationId xmlns:a16="http://schemas.microsoft.com/office/drawing/2014/main" id="{DBAAB155-AC9F-475E-895A-C7A406C07980}"/>
              </a:ext>
            </a:extLst>
          </p:cNvPr>
          <p:cNvSpPr txBox="1">
            <a:spLocks noChangeArrowheads="1"/>
          </p:cNvSpPr>
          <p:nvPr/>
        </p:nvSpPr>
        <p:spPr bwMode="auto">
          <a:xfrm>
            <a:off x="1219200" y="1331913"/>
            <a:ext cx="1295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333333"/>
                </a:solidFill>
                <a:latin typeface="Calibri" pitchFamily="34" charset="0"/>
              </a:rPr>
              <a:t>Worker 1</a:t>
            </a:r>
          </a:p>
        </p:txBody>
      </p:sp>
      <p:sp>
        <p:nvSpPr>
          <p:cNvPr id="38" name="TextBox 42">
            <a:extLst>
              <a:ext uri="{FF2B5EF4-FFF2-40B4-BE49-F238E27FC236}">
                <a16:creationId xmlns:a16="http://schemas.microsoft.com/office/drawing/2014/main" id="{704CE794-4DB1-4AFE-94C6-EE3903C5D641}"/>
              </a:ext>
            </a:extLst>
          </p:cNvPr>
          <p:cNvSpPr txBox="1">
            <a:spLocks noChangeArrowheads="1"/>
          </p:cNvSpPr>
          <p:nvPr/>
        </p:nvSpPr>
        <p:spPr bwMode="auto">
          <a:xfrm>
            <a:off x="1219200" y="2616200"/>
            <a:ext cx="1295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333333"/>
                </a:solidFill>
                <a:latin typeface="Calibri" pitchFamily="34" charset="0"/>
              </a:rPr>
              <a:t>Worker 2</a:t>
            </a:r>
          </a:p>
        </p:txBody>
      </p:sp>
      <p:sp>
        <p:nvSpPr>
          <p:cNvPr id="39" name="TextBox 43">
            <a:extLst>
              <a:ext uri="{FF2B5EF4-FFF2-40B4-BE49-F238E27FC236}">
                <a16:creationId xmlns:a16="http://schemas.microsoft.com/office/drawing/2014/main" id="{67AC3187-EE38-4EB2-8468-2FCC933A7DB4}"/>
              </a:ext>
            </a:extLst>
          </p:cNvPr>
          <p:cNvSpPr txBox="1">
            <a:spLocks noChangeArrowheads="1"/>
          </p:cNvSpPr>
          <p:nvPr/>
        </p:nvSpPr>
        <p:spPr bwMode="auto">
          <a:xfrm>
            <a:off x="1219200" y="3911600"/>
            <a:ext cx="1371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333333"/>
                </a:solidFill>
                <a:latin typeface="Calibri" pitchFamily="34" charset="0"/>
              </a:rPr>
              <a:t>Worker 3</a:t>
            </a:r>
          </a:p>
        </p:txBody>
      </p:sp>
      <p:sp>
        <p:nvSpPr>
          <p:cNvPr id="40" name="TextBox 44">
            <a:extLst>
              <a:ext uri="{FF2B5EF4-FFF2-40B4-BE49-F238E27FC236}">
                <a16:creationId xmlns:a16="http://schemas.microsoft.com/office/drawing/2014/main" id="{6CE8E7B6-CF49-4B39-8794-C45446574D12}"/>
              </a:ext>
            </a:extLst>
          </p:cNvPr>
          <p:cNvSpPr txBox="1">
            <a:spLocks noChangeArrowheads="1"/>
          </p:cNvSpPr>
          <p:nvPr/>
        </p:nvSpPr>
        <p:spPr bwMode="auto">
          <a:xfrm>
            <a:off x="1219200" y="5130800"/>
            <a:ext cx="121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333333"/>
                </a:solidFill>
                <a:latin typeface="Calibri" pitchFamily="34" charset="0"/>
              </a:rPr>
              <a:t>Worker 4</a:t>
            </a:r>
          </a:p>
        </p:txBody>
      </p:sp>
      <p:sp>
        <p:nvSpPr>
          <p:cNvPr id="41" name="TextBox 45">
            <a:extLst>
              <a:ext uri="{FF2B5EF4-FFF2-40B4-BE49-F238E27FC236}">
                <a16:creationId xmlns:a16="http://schemas.microsoft.com/office/drawing/2014/main" id="{BC09F526-FC7A-4F84-B9D8-D6E1B57D3E31}"/>
              </a:ext>
            </a:extLst>
          </p:cNvPr>
          <p:cNvSpPr txBox="1">
            <a:spLocks noChangeArrowheads="1"/>
          </p:cNvSpPr>
          <p:nvPr/>
        </p:nvSpPr>
        <p:spPr bwMode="auto">
          <a:xfrm>
            <a:off x="8756650" y="2463800"/>
            <a:ext cx="1524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333333"/>
                </a:solidFill>
                <a:latin typeface="Calibri" pitchFamily="34" charset="0"/>
              </a:rPr>
              <a:t>Aggregator</a:t>
            </a:r>
          </a:p>
        </p:txBody>
      </p:sp>
      <p:grpSp>
        <p:nvGrpSpPr>
          <p:cNvPr id="42" name="Group 47">
            <a:extLst>
              <a:ext uri="{FF2B5EF4-FFF2-40B4-BE49-F238E27FC236}">
                <a16:creationId xmlns:a16="http://schemas.microsoft.com/office/drawing/2014/main" id="{08854C65-E90C-4D04-8D3E-17E62D025426}"/>
              </a:ext>
            </a:extLst>
          </p:cNvPr>
          <p:cNvGrpSpPr>
            <a:grpSpLocks/>
          </p:cNvGrpSpPr>
          <p:nvPr/>
        </p:nvGrpSpPr>
        <p:grpSpPr bwMode="auto">
          <a:xfrm>
            <a:off x="7011988" y="4397375"/>
            <a:ext cx="2590800" cy="1849437"/>
            <a:chOff x="5410200" y="4837093"/>
            <a:chExt cx="2590800" cy="1849457"/>
          </a:xfrm>
        </p:grpSpPr>
        <p:sp>
          <p:nvSpPr>
            <p:cNvPr id="43" name="TextBox 34">
              <a:extLst>
                <a:ext uri="{FF2B5EF4-FFF2-40B4-BE49-F238E27FC236}">
                  <a16:creationId xmlns:a16="http://schemas.microsoft.com/office/drawing/2014/main" id="{09622883-1DA5-4CC9-B90C-1A3942608B9E}"/>
                </a:ext>
              </a:extLst>
            </p:cNvPr>
            <p:cNvSpPr txBox="1">
              <a:spLocks noChangeArrowheads="1"/>
            </p:cNvSpPr>
            <p:nvPr/>
          </p:nvSpPr>
          <p:spPr bwMode="auto">
            <a:xfrm>
              <a:off x="5410200" y="4837093"/>
              <a:ext cx="2590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2000" b="1">
                  <a:solidFill>
                    <a:srgbClr val="0000CC"/>
                  </a:solidFill>
                  <a:latin typeface="Calibri" pitchFamily="34" charset="0"/>
                  <a:cs typeface="Arial" charset="0"/>
                </a:rPr>
                <a:t>RTO</a:t>
              </a:r>
              <a:r>
                <a:rPr lang="en-US" altLang="zh-CN" sz="2000" b="1" baseline="-25000">
                  <a:solidFill>
                    <a:srgbClr val="0000CC"/>
                  </a:solidFill>
                  <a:latin typeface="Calibri" pitchFamily="34" charset="0"/>
                  <a:cs typeface="Arial" charset="0"/>
                </a:rPr>
                <a:t>min </a:t>
              </a:r>
              <a:r>
                <a:rPr lang="en-US" altLang="zh-CN" sz="2000" b="1">
                  <a:solidFill>
                    <a:srgbClr val="0000CC"/>
                  </a:solidFill>
                  <a:latin typeface="Calibri" pitchFamily="34" charset="0"/>
                  <a:cs typeface="Arial" charset="0"/>
                </a:rPr>
                <a:t>= 300 ms</a:t>
              </a:r>
            </a:p>
            <a:p>
              <a:pPr eaLnBrk="1" hangingPunct="1"/>
              <a:endParaRPr lang="en-US" altLang="zh-CN" b="1">
                <a:solidFill>
                  <a:srgbClr val="FF0000"/>
                </a:solidFill>
                <a:latin typeface="Calibri" pitchFamily="34" charset="0"/>
              </a:endParaRPr>
            </a:p>
            <a:p>
              <a:pPr eaLnBrk="1" hangingPunct="1"/>
              <a:endParaRPr lang="en-US" altLang="zh-CN">
                <a:solidFill>
                  <a:srgbClr val="333333"/>
                </a:solidFill>
                <a:latin typeface="Calibri" pitchFamily="34" charset="0"/>
              </a:endParaRPr>
            </a:p>
          </p:txBody>
        </p:sp>
        <p:pic>
          <p:nvPicPr>
            <p:cNvPr id="44" name="Picture 46" descr="hourglass_3.gif">
              <a:extLst>
                <a:ext uri="{FF2B5EF4-FFF2-40B4-BE49-F238E27FC236}">
                  <a16:creationId xmlns:a16="http://schemas.microsoft.com/office/drawing/2014/main" id="{A2EF4739-AE5B-42B7-8F53-3A5801B6EBD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79180" y="5334000"/>
              <a:ext cx="107882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 name="TextBox 48">
            <a:extLst>
              <a:ext uri="{FF2B5EF4-FFF2-40B4-BE49-F238E27FC236}">
                <a16:creationId xmlns:a16="http://schemas.microsoft.com/office/drawing/2014/main" id="{439608B2-592F-40CF-AD2F-592101CC5968}"/>
              </a:ext>
            </a:extLst>
          </p:cNvPr>
          <p:cNvSpPr txBox="1">
            <a:spLocks noChangeArrowheads="1"/>
          </p:cNvSpPr>
          <p:nvPr/>
        </p:nvSpPr>
        <p:spPr bwMode="auto">
          <a:xfrm>
            <a:off x="5187950" y="1265239"/>
            <a:ext cx="50292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Char char="•"/>
            </a:pPr>
            <a:r>
              <a:rPr lang="en-US" altLang="zh-CN" sz="2800" dirty="0">
                <a:solidFill>
                  <a:srgbClr val="333333"/>
                </a:solidFill>
                <a:latin typeface="Calibri" pitchFamily="34" charset="0"/>
                <a:cs typeface="Arial" charset="0"/>
              </a:rPr>
              <a:t> Synchronized mice collide.</a:t>
            </a:r>
          </a:p>
          <a:p>
            <a:pPr lvl="1" eaLnBrk="1" hangingPunct="1">
              <a:buFont typeface="Wingdings" pitchFamily="2" charset="2"/>
              <a:buChar char="Ø"/>
            </a:pPr>
            <a:r>
              <a:rPr lang="en-US" altLang="zh-CN" sz="2400" b="1" dirty="0">
                <a:solidFill>
                  <a:srgbClr val="FF0000"/>
                </a:solidFill>
                <a:latin typeface="Calibri" pitchFamily="34" charset="0"/>
                <a:cs typeface="Arial" charset="0"/>
              </a:rPr>
              <a:t> Caused by Partition/Aggregate.</a:t>
            </a:r>
            <a:endParaRPr lang="en-US" altLang="zh-CN" sz="2000" b="1" dirty="0">
              <a:solidFill>
                <a:srgbClr val="FF0000"/>
              </a:solidFill>
              <a:latin typeface="Calibri" pitchFamily="34" charset="0"/>
            </a:endParaRPr>
          </a:p>
        </p:txBody>
      </p:sp>
    </p:spTree>
    <p:extLst>
      <p:ext uri="{BB962C8B-B14F-4D97-AF65-F5344CB8AC3E}">
        <p14:creationId xmlns:p14="http://schemas.microsoft.com/office/powerpoint/2010/main" val="1032322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0" presetClass="path" presetSubtype="0" accel="50000" decel="50000" fill="hold" grpId="0" nodeType="withEffect">
                                  <p:stCondLst>
                                    <p:cond delay="0"/>
                                  </p:stCondLst>
                                  <p:childTnLst>
                                    <p:animMotion origin="layout" path="M -0.01054 -0.00023 C -0.11914 0.00092 -0.22252 0.00671 -0.27799 -0.00023 C -0.33333 -0.00718 -0.32747 -0.02847 -0.3431 -0.0419 C -0.35872 -0.05533 -0.34583 -0.04422 -0.372 -0.08056 C -0.39831 -0.1169 -0.47396 -0.22269 -0.50091 -0.26019 " pathEditMode="relative" rAng="0" ptsTypes="AAAAA">
                                      <p:cBhvr>
                                        <p:cTn id="18" dur="2000" fill="hold"/>
                                        <p:tgtEl>
                                          <p:spTgt spid="21"/>
                                        </p:tgtEl>
                                        <p:attrNameLst>
                                          <p:attrName>ppt_x</p:attrName>
                                          <p:attrName>ppt_y</p:attrName>
                                        </p:attrNameLst>
                                      </p:cBhvr>
                                      <p:rCtr x="-24518" y="-12847"/>
                                    </p:animMotion>
                                  </p:childTnLst>
                                </p:cTn>
                              </p:par>
                              <p:par>
                                <p:cTn id="19" presetID="0" presetClass="path" presetSubtype="0" accel="50000" decel="50000" fill="hold" grpId="0" nodeType="withEffect">
                                  <p:stCondLst>
                                    <p:cond delay="0"/>
                                  </p:stCondLst>
                                  <p:childTnLst>
                                    <p:animMotion origin="layout" path="M -0.01054 -0.00023 C -0.11914 0.00092 -0.22487 0.00115 -0.27799 -0.00023 C -0.33112 -0.00162 -0.3082 -0.00139 -0.32982 -0.0081 C -0.35156 -0.01482 -0.37929 -0.02824 -0.4082 -0.04028 C -0.43698 -0.05232 -0.48346 -0.07222 -0.50325 -0.08056 " pathEditMode="relative" rAng="0" ptsTypes="AAAAA">
                                      <p:cBhvr>
                                        <p:cTn id="20" dur="2000" fill="hold"/>
                                        <p:tgtEl>
                                          <p:spTgt spid="22"/>
                                        </p:tgtEl>
                                        <p:attrNameLst>
                                          <p:attrName>ppt_x</p:attrName>
                                          <p:attrName>ppt_y</p:attrName>
                                        </p:attrNameLst>
                                      </p:cBhvr>
                                      <p:rCtr x="-24635" y="-3981"/>
                                    </p:animMotion>
                                  </p:childTnLst>
                                </p:cTn>
                              </p:par>
                              <p:par>
                                <p:cTn id="21" presetID="0" presetClass="path" presetSubtype="0" accel="50000" decel="50000" fill="hold" grpId="0" nodeType="withEffect">
                                  <p:stCondLst>
                                    <p:cond delay="0"/>
                                  </p:stCondLst>
                                  <p:childTnLst>
                                    <p:animMotion origin="layout" path="M -0.01054 -0.00023 C -0.11914 0.00092 -0.22383 -0.00255 -0.27799 -0.00023 C -0.33216 0.00208 -0.31445 0.00602 -0.33581 0.01435 C -0.35716 0.02268 -0.37851 0.03588 -0.40573 0.04953 C -0.43294 0.06319 -0.48008 0.08657 -0.49961 0.09629 " pathEditMode="relative" rAng="0" ptsTypes="AAAAA">
                                      <p:cBhvr>
                                        <p:cTn id="22" dur="2000" fill="hold"/>
                                        <p:tgtEl>
                                          <p:spTgt spid="23"/>
                                        </p:tgtEl>
                                        <p:attrNameLst>
                                          <p:attrName>ppt_x</p:attrName>
                                          <p:attrName>ppt_y</p:attrName>
                                        </p:attrNameLst>
                                      </p:cBhvr>
                                      <p:rCtr x="-24453" y="4769"/>
                                    </p:animMotion>
                                  </p:childTnLst>
                                </p:cTn>
                              </p:par>
                              <p:par>
                                <p:cTn id="23" presetID="0" presetClass="path" presetSubtype="0" accel="50000" decel="50000" fill="hold" grpId="0" nodeType="withEffect">
                                  <p:stCondLst>
                                    <p:cond delay="0"/>
                                  </p:stCondLst>
                                  <p:childTnLst>
                                    <p:animMotion origin="layout" path="M -0.01054 -0.00023 C -0.05521 -0.00023 -0.22278 -0.00764 -0.27799 -0.00023 C -0.3332 0.00717 -0.32252 0.025 -0.34179 0.0449 C -0.36107 0.06481 -0.36719 0.08148 -0.39362 0.11875 C -0.41992 0.15602 -0.4776 0.2368 -0.49961 0.26782 " pathEditMode="relative" rAng="0" ptsTypes="AAAAA">
                                      <p:cBhvr>
                                        <p:cTn id="24" dur="2000" fill="hold"/>
                                        <p:tgtEl>
                                          <p:spTgt spid="24"/>
                                        </p:tgtEl>
                                        <p:attrNameLst>
                                          <p:attrName>ppt_x</p:attrName>
                                          <p:attrName>ppt_y</p:attrName>
                                        </p:attrNameLst>
                                      </p:cBhvr>
                                      <p:rCtr x="-24453" y="13218"/>
                                    </p:animMotion>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1000"/>
                                        <p:tgtEl>
                                          <p:spTgt spid="10"/>
                                        </p:tgtEl>
                                      </p:cBhvr>
                                    </p:animEffect>
                                    <p:set>
                                      <p:cBhvr>
                                        <p:cTn id="29" dur="1" fill="hold">
                                          <p:stCondLst>
                                            <p:cond delay="999"/>
                                          </p:stCondLst>
                                        </p:cTn>
                                        <p:tgtEl>
                                          <p:spTgt spid="10"/>
                                        </p:tgtEl>
                                        <p:attrNameLst>
                                          <p:attrName>style.visibility</p:attrName>
                                        </p:attrNameLst>
                                      </p:cBhvr>
                                      <p:to>
                                        <p:strVal val="hidden"/>
                                      </p:to>
                                    </p:se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xit" presetSubtype="0" fill="hold" grpId="2" nodeType="withEffect">
                                  <p:stCondLst>
                                    <p:cond delay="0"/>
                                  </p:stCondLst>
                                  <p:childTnLst>
                                    <p:animEffect transition="out" filter="fade">
                                      <p:cBhvr>
                                        <p:cTn id="34" dur="1000"/>
                                        <p:tgtEl>
                                          <p:spTgt spid="21"/>
                                        </p:tgtEl>
                                      </p:cBhvr>
                                    </p:animEffect>
                                    <p:set>
                                      <p:cBhvr>
                                        <p:cTn id="35" dur="1" fill="hold">
                                          <p:stCondLst>
                                            <p:cond delay="999"/>
                                          </p:stCondLst>
                                        </p:cTn>
                                        <p:tgtEl>
                                          <p:spTgt spid="21"/>
                                        </p:tgtEl>
                                        <p:attrNameLst>
                                          <p:attrName>style.visibility</p:attrName>
                                        </p:attrNameLst>
                                      </p:cBhvr>
                                      <p:to>
                                        <p:strVal val="hidden"/>
                                      </p:to>
                                    </p:set>
                                  </p:childTnLst>
                                </p:cTn>
                              </p:par>
                              <p:par>
                                <p:cTn id="36" presetID="10" presetClass="exit" presetSubtype="0" fill="hold" grpId="2" nodeType="withEffect">
                                  <p:stCondLst>
                                    <p:cond delay="0"/>
                                  </p:stCondLst>
                                  <p:childTnLst>
                                    <p:animEffect transition="out" filter="fade">
                                      <p:cBhvr>
                                        <p:cTn id="37" dur="1000"/>
                                        <p:tgtEl>
                                          <p:spTgt spid="22"/>
                                        </p:tgtEl>
                                      </p:cBhvr>
                                    </p:animEffect>
                                    <p:set>
                                      <p:cBhvr>
                                        <p:cTn id="38" dur="1" fill="hold">
                                          <p:stCondLst>
                                            <p:cond delay="999"/>
                                          </p:stCondLst>
                                        </p:cTn>
                                        <p:tgtEl>
                                          <p:spTgt spid="22"/>
                                        </p:tgtEl>
                                        <p:attrNameLst>
                                          <p:attrName>style.visibility</p:attrName>
                                        </p:attrNameLst>
                                      </p:cBhvr>
                                      <p:to>
                                        <p:strVal val="hidden"/>
                                      </p:to>
                                    </p:set>
                                  </p:childTnLst>
                                </p:cTn>
                              </p:par>
                              <p:par>
                                <p:cTn id="39" presetID="10" presetClass="exit" presetSubtype="0" fill="hold" grpId="2" nodeType="withEffect">
                                  <p:stCondLst>
                                    <p:cond delay="0"/>
                                  </p:stCondLst>
                                  <p:childTnLst>
                                    <p:animEffect transition="out" filter="fade">
                                      <p:cBhvr>
                                        <p:cTn id="40" dur="1000"/>
                                        <p:tgtEl>
                                          <p:spTgt spid="23"/>
                                        </p:tgtEl>
                                      </p:cBhvr>
                                    </p:animEffect>
                                    <p:set>
                                      <p:cBhvr>
                                        <p:cTn id="41" dur="1" fill="hold">
                                          <p:stCondLst>
                                            <p:cond delay="999"/>
                                          </p:stCondLst>
                                        </p:cTn>
                                        <p:tgtEl>
                                          <p:spTgt spid="23"/>
                                        </p:tgtEl>
                                        <p:attrNameLst>
                                          <p:attrName>style.visibility</p:attrName>
                                        </p:attrNameLst>
                                      </p:cBhvr>
                                      <p:to>
                                        <p:strVal val="hidden"/>
                                      </p:to>
                                    </p:set>
                                  </p:childTnLst>
                                </p:cTn>
                              </p:par>
                              <p:par>
                                <p:cTn id="42" presetID="10" presetClass="exit" presetSubtype="0" fill="hold" grpId="2" nodeType="withEffect">
                                  <p:stCondLst>
                                    <p:cond delay="0"/>
                                  </p:stCondLst>
                                  <p:childTnLst>
                                    <p:animEffect transition="out" filter="fade">
                                      <p:cBhvr>
                                        <p:cTn id="43" dur="1000"/>
                                        <p:tgtEl>
                                          <p:spTgt spid="24"/>
                                        </p:tgtEl>
                                      </p:cBhvr>
                                    </p:animEffect>
                                    <p:set>
                                      <p:cBhvr>
                                        <p:cTn id="44" dur="1" fill="hold">
                                          <p:stCondLst>
                                            <p:cond delay="999"/>
                                          </p:stCondLst>
                                        </p:cTn>
                                        <p:tgtEl>
                                          <p:spTgt spid="24"/>
                                        </p:tgtEl>
                                        <p:attrNameLst>
                                          <p:attrName>style.visibility</p:attrName>
                                        </p:attrNameLst>
                                      </p:cBhvr>
                                      <p:to>
                                        <p:strVal val="hidden"/>
                                      </p:to>
                                    </p:set>
                                  </p:childTnLst>
                                </p:cTn>
                              </p:par>
                            </p:childTnLst>
                          </p:cTn>
                        </p:par>
                        <p:par>
                          <p:cTn id="45" fill="hold">
                            <p:stCondLst>
                              <p:cond delay="1000"/>
                            </p:stCondLst>
                            <p:childTnLst>
                              <p:par>
                                <p:cTn id="46" presetID="1" presetClass="entr" presetSubtype="0"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0" presetClass="path" presetSubtype="0" accel="50000" decel="50000" fill="hold" grpId="1" nodeType="clickEffect">
                                  <p:stCondLst>
                                    <p:cond delay="0"/>
                                  </p:stCondLst>
                                  <p:childTnLst>
                                    <p:animMotion origin="layout" path="M 0.01263 -0.0037 C 0.03424 0.02662 0.10742 0.1338 0.14166 0.17778 C 0.17591 0.22199 0.1845 0.2463 0.21771 0.26134 C 0.25091 0.27639 0.3151 0.26644 0.34062 0.26782 " pathEditMode="relative" rAng="0" ptsTypes="AAAA">
                                      <p:cBhvr>
                                        <p:cTn id="65" dur="1000" fill="hold"/>
                                        <p:tgtEl>
                                          <p:spTgt spid="25"/>
                                        </p:tgtEl>
                                        <p:attrNameLst>
                                          <p:attrName>ppt_x</p:attrName>
                                          <p:attrName>ppt_y</p:attrName>
                                        </p:attrNameLst>
                                      </p:cBhvr>
                                      <p:rCtr x="16393" y="13657"/>
                                    </p:animMotion>
                                  </p:childTnLst>
                                </p:cTn>
                              </p:par>
                              <p:par>
                                <p:cTn id="66" presetID="0" presetClass="path" presetSubtype="0" accel="50000" decel="50000" fill="hold" grpId="1" nodeType="withEffect">
                                  <p:stCondLst>
                                    <p:cond delay="0"/>
                                  </p:stCondLst>
                                  <p:childTnLst>
                                    <p:animMotion origin="layout" path="M 0.00898 -0.00463 C 0.01458 -0.00325 0.02708 -0.01204 0.04271 0.00324 C 0.05833 0.01851 0.07773 0.05138 0.10299 0.08657 C 0.12812 0.12175 0.16823 0.18518 0.19336 0.21481 C 0.21862 0.24444 0.22916 0.25555 0.25364 0.26388 C 0.27812 0.27222 0.32226 0.26527 0.34023 0.2655 " pathEditMode="relative" rAng="0" ptsTypes="AAAAAA">
                                      <p:cBhvr>
                                        <p:cTn id="67" dur="1000" fill="hold"/>
                                        <p:tgtEl>
                                          <p:spTgt spid="26"/>
                                        </p:tgtEl>
                                        <p:attrNameLst>
                                          <p:attrName>ppt_x</p:attrName>
                                          <p:attrName>ppt_y</p:attrName>
                                        </p:attrNameLst>
                                      </p:cBhvr>
                                      <p:rCtr x="16563" y="13542"/>
                                    </p:animMotion>
                                  </p:childTnLst>
                                </p:cTn>
                              </p:par>
                              <p:par>
                                <p:cTn id="68" presetID="0" presetClass="path" presetSubtype="0" accel="50000" decel="50000" fill="hold" grpId="1" nodeType="withEffect">
                                  <p:stCondLst>
                                    <p:cond delay="200"/>
                                  </p:stCondLst>
                                  <p:childTnLst>
                                    <p:animMotion origin="layout" path="M 2.5E-6 -2.96296E-6 C 0.06458 0.02917 0.12929 0.05834 0.1651 0.07246 C 0.20091 0.08658 0.19362 0.08334 0.21458 0.08519 C 0.23554 0.08704 0.27513 0.0838 0.29114 0.08334 " pathEditMode="relative" rAng="0" ptsTypes="AAAA">
                                      <p:cBhvr>
                                        <p:cTn id="69" dur="1000" fill="hold"/>
                                        <p:tgtEl>
                                          <p:spTgt spid="27"/>
                                        </p:tgtEl>
                                        <p:attrNameLst>
                                          <p:attrName>ppt_x</p:attrName>
                                          <p:attrName>ppt_y</p:attrName>
                                        </p:attrNameLst>
                                      </p:cBhvr>
                                      <p:rCtr x="14557" y="4282"/>
                                    </p:animMotion>
                                  </p:childTnLst>
                                </p:cTn>
                              </p:par>
                              <p:par>
                                <p:cTn id="70" presetID="0" presetClass="path" presetSubtype="0" accel="50000" decel="50000" fill="hold" grpId="1" nodeType="withEffect">
                                  <p:stCondLst>
                                    <p:cond delay="200"/>
                                  </p:stCondLst>
                                  <p:childTnLst>
                                    <p:animMotion origin="layout" path="M 2.5E-6 -0.00694 C -0.003 -0.01203 -0.00638 -0.01759 0.02877 -0.0037 C 0.06406 0.01019 0.16758 0.06227 0.21146 0.07685 C 0.25534 0.09144 0.27539 0.08195 0.29219 0.08334 " pathEditMode="relative" rAng="0" ptsTypes="AAAA">
                                      <p:cBhvr>
                                        <p:cTn id="71" dur="1000" fill="hold"/>
                                        <p:tgtEl>
                                          <p:spTgt spid="28"/>
                                        </p:tgtEl>
                                        <p:attrNameLst>
                                          <p:attrName>ppt_x</p:attrName>
                                          <p:attrName>ppt_y</p:attrName>
                                        </p:attrNameLst>
                                      </p:cBhvr>
                                      <p:rCtr x="14518" y="4306"/>
                                    </p:animMotion>
                                  </p:childTnLst>
                                </p:cTn>
                              </p:par>
                              <p:par>
                                <p:cTn id="72" presetID="0" presetClass="path" presetSubtype="0" accel="50000" decel="50000" fill="hold" grpId="1" nodeType="withEffect">
                                  <p:stCondLst>
                                    <p:cond delay="400"/>
                                  </p:stCondLst>
                                  <p:childTnLst>
                                    <p:animMotion origin="layout" path="M 0.00208 0.00416 C 0.01666 -0.00301 0.06341 -0.02755 0.08997 -0.04074 C 0.11653 -0.05394 0.14062 -0.06528 0.16107 -0.07454 C 0.18164 -0.0838 0.19909 -0.09306 0.21289 -0.09699 C 0.22656 -0.10093 0.23685 -0.09838 0.2431 -0.09861 " pathEditMode="relative" rAng="0" ptsTypes="AAAAA">
                                      <p:cBhvr>
                                        <p:cTn id="73" dur="1000" fill="hold"/>
                                        <p:tgtEl>
                                          <p:spTgt spid="29"/>
                                        </p:tgtEl>
                                        <p:attrNameLst>
                                          <p:attrName>ppt_x</p:attrName>
                                          <p:attrName>ppt_y</p:attrName>
                                        </p:attrNameLst>
                                      </p:cBhvr>
                                      <p:rCtr x="12044" y="-5185"/>
                                    </p:animMotion>
                                  </p:childTnLst>
                                </p:cTn>
                              </p:par>
                              <p:par>
                                <p:cTn id="74" presetID="0" presetClass="path" presetSubtype="0" accel="50000" decel="50000" fill="hold" grpId="1" nodeType="withEffect">
                                  <p:stCondLst>
                                    <p:cond delay="400"/>
                                  </p:stCondLst>
                                  <p:childTnLst>
                                    <p:animMotion origin="layout" path="M 2.5E-6 2.59259E-6 C 0.00625 0.00208 0.01263 0.00416 0.02044 0.00324 C 0.02825 0.00231 0.02747 0.00254 0.04687 -0.00625 C 0.06627 -0.01505 0.10898 -0.03426 0.13659 -0.04885 C 0.16419 -0.06343 0.19466 -0.08565 0.21263 -0.09375 C 0.23073 -0.10185 0.23841 -0.0963 0.24518 -0.09699 " pathEditMode="relative" rAng="0" ptsTypes="AAAAAA">
                                      <p:cBhvr>
                                        <p:cTn id="75" dur="1000" fill="hold"/>
                                        <p:tgtEl>
                                          <p:spTgt spid="30"/>
                                        </p:tgtEl>
                                        <p:attrNameLst>
                                          <p:attrName>ppt_x</p:attrName>
                                          <p:attrName>ppt_y</p:attrName>
                                        </p:attrNameLst>
                                      </p:cBhvr>
                                      <p:rCtr x="12253" y="-4769"/>
                                    </p:animMotion>
                                  </p:childTnLst>
                                </p:cTn>
                              </p:par>
                              <p:par>
                                <p:cTn id="76" presetID="0" presetClass="path" presetSubtype="0" accel="50000" decel="50000" fill="hold" grpId="1" nodeType="withEffect">
                                  <p:stCondLst>
                                    <p:cond delay="600"/>
                                  </p:stCondLst>
                                  <p:childTnLst>
                                    <p:animMotion origin="layout" path="M 0.02135 -0.02084 L 0.2069 -0.28611 " pathEditMode="relative" rAng="0" ptsTypes="AA">
                                      <p:cBhvr>
                                        <p:cTn id="77" dur="1000" fill="hold"/>
                                        <p:tgtEl>
                                          <p:spTgt spid="31"/>
                                        </p:tgtEl>
                                        <p:attrNameLst>
                                          <p:attrName>ppt_x</p:attrName>
                                          <p:attrName>ppt_y</p:attrName>
                                        </p:attrNameLst>
                                      </p:cBhvr>
                                      <p:rCtr x="9271" y="-13264"/>
                                    </p:animMotion>
                                  </p:childTnLst>
                                </p:cTn>
                              </p:par>
                              <p:par>
                                <p:cTn id="78" presetID="0" presetClass="path" presetSubtype="0" accel="50000" decel="50000" fill="hold" grpId="1" nodeType="withEffect">
                                  <p:stCondLst>
                                    <p:cond delay="600"/>
                                  </p:stCondLst>
                                  <p:childTnLst>
                                    <p:animMotion origin="layout" path="M 0.00937 0.00277 C 0.01823 0.0037 0.02708 0.00463 0.03333 0.00115 C 0.03958 -0.00232 0.01575 0.02639 0.04674 -0.01806 C 0.0776 -0.0625 0.1483 -0.16389 0.21888 -0.26528 " pathEditMode="relative" rAng="0" ptsTypes="AAAA">
                                      <p:cBhvr>
                                        <p:cTn id="79" dur="1000" fill="hold"/>
                                        <p:tgtEl>
                                          <p:spTgt spid="32"/>
                                        </p:tgtEl>
                                        <p:attrNameLst>
                                          <p:attrName>ppt_x</p:attrName>
                                          <p:attrName>ppt_y</p:attrName>
                                        </p:attrNameLst>
                                      </p:cBhvr>
                                      <p:rCtr x="10469" y="-13194"/>
                                    </p:animMotion>
                                  </p:childTnLst>
                                </p:cTn>
                              </p:par>
                              <p:par>
                                <p:cTn id="80" presetID="1" presetClass="entr" presetSubtype="0" fill="hold" nodeType="withEffect">
                                  <p:stCondLst>
                                    <p:cond delay="1500"/>
                                  </p:stCondLst>
                                  <p:childTnLst>
                                    <p:set>
                                      <p:cBhvr>
                                        <p:cTn id="81" dur="1" fill="hold">
                                          <p:stCondLst>
                                            <p:cond delay="0"/>
                                          </p:stCondLst>
                                        </p:cTn>
                                        <p:tgtEl>
                                          <p:spTgt spid="33"/>
                                        </p:tgtEl>
                                        <p:attrNameLst>
                                          <p:attrName>style.visibility</p:attrName>
                                        </p:attrNameLst>
                                      </p:cBhvr>
                                      <p:to>
                                        <p:strVal val="visible"/>
                                      </p:to>
                                    </p:set>
                                  </p:childTnLst>
                                </p:cTn>
                              </p:par>
                              <p:par>
                                <p:cTn id="82" presetID="42" presetClass="path" presetSubtype="0" accel="50000" decel="50000" fill="hold" grpId="2" nodeType="withEffect">
                                  <p:stCondLst>
                                    <p:cond delay="2000"/>
                                  </p:stCondLst>
                                  <p:childTnLst>
                                    <p:animMotion origin="layout" path="M 0.21054 -0.28727 L 0.21054 0.24537 " pathEditMode="relative" rAng="0" ptsTypes="AA">
                                      <p:cBhvr>
                                        <p:cTn id="83" dur="1000" fill="hold"/>
                                        <p:tgtEl>
                                          <p:spTgt spid="31"/>
                                        </p:tgtEl>
                                        <p:attrNameLst>
                                          <p:attrName>ppt_x</p:attrName>
                                          <p:attrName>ppt_y</p:attrName>
                                        </p:attrNameLst>
                                      </p:cBhvr>
                                      <p:rCtr x="0" y="26620"/>
                                    </p:animMotion>
                                  </p:childTnLst>
                                </p:cTn>
                              </p:par>
                              <p:par>
                                <p:cTn id="84" presetID="8" presetClass="emph" presetSubtype="0" fill="hold" grpId="3" nodeType="withEffect">
                                  <p:stCondLst>
                                    <p:cond delay="2000"/>
                                  </p:stCondLst>
                                  <p:childTnLst>
                                    <p:animRot by="-86400000">
                                      <p:cBhvr>
                                        <p:cTn id="85" dur="1000" fill="hold"/>
                                        <p:tgtEl>
                                          <p:spTgt spid="31"/>
                                        </p:tgtEl>
                                        <p:attrNameLst>
                                          <p:attrName>r</p:attrName>
                                        </p:attrNameLst>
                                      </p:cBhvr>
                                    </p:animRot>
                                  </p:childTnLst>
                                </p:cTn>
                              </p:par>
                              <p:par>
                                <p:cTn id="86" presetID="42" presetClass="path" presetSubtype="0" accel="50000" decel="50000" fill="hold" grpId="2" nodeType="withEffect">
                                  <p:stCondLst>
                                    <p:cond delay="2000"/>
                                  </p:stCondLst>
                                  <p:childTnLst>
                                    <p:animMotion origin="layout" path="M 0.21888 -0.26528 L 0.21888 0.24537 " pathEditMode="relative" rAng="0" ptsTypes="AA">
                                      <p:cBhvr>
                                        <p:cTn id="87" dur="1000" fill="hold"/>
                                        <p:tgtEl>
                                          <p:spTgt spid="32"/>
                                        </p:tgtEl>
                                        <p:attrNameLst>
                                          <p:attrName>ppt_x</p:attrName>
                                          <p:attrName>ppt_y</p:attrName>
                                        </p:attrNameLst>
                                      </p:cBhvr>
                                      <p:rCtr x="0" y="25532"/>
                                    </p:animMotion>
                                  </p:childTnLst>
                                </p:cTn>
                              </p:par>
                              <p:par>
                                <p:cTn id="88" presetID="8" presetClass="emph" presetSubtype="0" fill="hold" grpId="3" nodeType="withEffect">
                                  <p:stCondLst>
                                    <p:cond delay="2000"/>
                                  </p:stCondLst>
                                  <p:childTnLst>
                                    <p:animRot by="-86400000">
                                      <p:cBhvr>
                                        <p:cTn id="89" dur="1000" fill="hold"/>
                                        <p:tgtEl>
                                          <p:spTgt spid="32"/>
                                        </p:tgtEl>
                                        <p:attrNameLst>
                                          <p:attrName>r</p:attrName>
                                        </p:attrNameLst>
                                      </p:cBhvr>
                                    </p:animRot>
                                  </p:childTnLst>
                                </p:cTn>
                              </p:par>
                            </p:childTnLst>
                          </p:cTn>
                        </p:par>
                        <p:par>
                          <p:cTn id="90" fill="hold">
                            <p:stCondLst>
                              <p:cond delay="3000"/>
                            </p:stCondLst>
                            <p:childTnLst>
                              <p:par>
                                <p:cTn id="91" presetID="63" presetClass="path" presetSubtype="0" accel="50000" decel="50000" fill="hold" grpId="2" nodeType="afterEffect">
                                  <p:stCondLst>
                                    <p:cond delay="0"/>
                                  </p:stCondLst>
                                  <p:childTnLst>
                                    <p:animMotion origin="layout" path="M 0.33541 0.26759 L 0.51041 0.26759 " pathEditMode="relative" rAng="0" ptsTypes="AA">
                                      <p:cBhvr>
                                        <p:cTn id="92" dur="1000" fill="hold"/>
                                        <p:tgtEl>
                                          <p:spTgt spid="25"/>
                                        </p:tgtEl>
                                        <p:attrNameLst>
                                          <p:attrName>ppt_x</p:attrName>
                                          <p:attrName>ppt_y</p:attrName>
                                        </p:attrNameLst>
                                      </p:cBhvr>
                                      <p:rCtr x="8750" y="0"/>
                                    </p:animMotion>
                                  </p:childTnLst>
                                </p:cTn>
                              </p:par>
                              <p:par>
                                <p:cTn id="93" presetID="10" presetClass="exit" presetSubtype="0" fill="hold" grpId="3" nodeType="withEffect">
                                  <p:stCondLst>
                                    <p:cond delay="500"/>
                                  </p:stCondLst>
                                  <p:childTnLst>
                                    <p:animEffect transition="out" filter="fade">
                                      <p:cBhvr>
                                        <p:cTn id="94" dur="1000"/>
                                        <p:tgtEl>
                                          <p:spTgt spid="25"/>
                                        </p:tgtEl>
                                      </p:cBhvr>
                                    </p:animEffect>
                                    <p:set>
                                      <p:cBhvr>
                                        <p:cTn id="95" dur="1" fill="hold">
                                          <p:stCondLst>
                                            <p:cond delay="999"/>
                                          </p:stCondLst>
                                        </p:cTn>
                                        <p:tgtEl>
                                          <p:spTgt spid="25"/>
                                        </p:tgtEl>
                                        <p:attrNameLst>
                                          <p:attrName>style.visibility</p:attrName>
                                        </p:attrNameLst>
                                      </p:cBhvr>
                                      <p:to>
                                        <p:strVal val="hidden"/>
                                      </p:to>
                                    </p:set>
                                  </p:childTnLst>
                                </p:cTn>
                              </p:par>
                              <p:par>
                                <p:cTn id="96" presetID="63" presetClass="path" presetSubtype="0" accel="50000" decel="50000" fill="hold" grpId="2" nodeType="withEffect">
                                  <p:stCondLst>
                                    <p:cond delay="500"/>
                                  </p:stCondLst>
                                  <p:childTnLst>
                                    <p:animMotion origin="layout" path="M 0.33607 0.26458 L 0.53541 0.26527 " pathEditMode="relative" rAng="0" ptsTypes="AA">
                                      <p:cBhvr>
                                        <p:cTn id="97" dur="1000" fill="hold"/>
                                        <p:tgtEl>
                                          <p:spTgt spid="26"/>
                                        </p:tgtEl>
                                        <p:attrNameLst>
                                          <p:attrName>ppt_x</p:attrName>
                                          <p:attrName>ppt_y</p:attrName>
                                        </p:attrNameLst>
                                      </p:cBhvr>
                                      <p:rCtr x="9961" y="23"/>
                                    </p:animMotion>
                                  </p:childTnLst>
                                </p:cTn>
                              </p:par>
                              <p:par>
                                <p:cTn id="98" presetID="10" presetClass="exit" presetSubtype="0" fill="hold" grpId="3" nodeType="withEffect">
                                  <p:stCondLst>
                                    <p:cond delay="1000"/>
                                  </p:stCondLst>
                                  <p:childTnLst>
                                    <p:animEffect transition="out" filter="fade">
                                      <p:cBhvr>
                                        <p:cTn id="99" dur="1000"/>
                                        <p:tgtEl>
                                          <p:spTgt spid="26"/>
                                        </p:tgtEl>
                                      </p:cBhvr>
                                    </p:animEffect>
                                    <p:set>
                                      <p:cBhvr>
                                        <p:cTn id="100" dur="1" fill="hold">
                                          <p:stCondLst>
                                            <p:cond delay="999"/>
                                          </p:stCondLst>
                                        </p:cTn>
                                        <p:tgtEl>
                                          <p:spTgt spid="26"/>
                                        </p:tgtEl>
                                        <p:attrNameLst>
                                          <p:attrName>style.visibility</p:attrName>
                                        </p:attrNameLst>
                                      </p:cBhvr>
                                      <p:to>
                                        <p:strVal val="hidden"/>
                                      </p:to>
                                    </p:set>
                                  </p:childTnLst>
                                </p:cTn>
                              </p:par>
                              <p:par>
                                <p:cTn id="101" presetID="1" presetClass="exit" presetSubtype="0" fill="hold" nodeType="withEffect">
                                  <p:stCondLst>
                                    <p:cond delay="1500"/>
                                  </p:stCondLst>
                                  <p:childTnLst>
                                    <p:set>
                                      <p:cBhvr>
                                        <p:cTn id="102" dur="1" fill="hold">
                                          <p:stCondLst>
                                            <p:cond delay="0"/>
                                          </p:stCondLst>
                                        </p:cTn>
                                        <p:tgtEl>
                                          <p:spTgt spid="33"/>
                                        </p:tgtEl>
                                        <p:attrNameLst>
                                          <p:attrName>style.visibility</p:attrName>
                                        </p:attrNameLst>
                                      </p:cBhvr>
                                      <p:to>
                                        <p:strVal val="hidden"/>
                                      </p:to>
                                    </p:set>
                                  </p:childTnLst>
                                </p:cTn>
                              </p:par>
                              <p:par>
                                <p:cTn id="103" presetID="63" presetClass="path" presetSubtype="0" accel="50000" decel="50000" fill="hold" grpId="2" nodeType="withEffect">
                                  <p:stCondLst>
                                    <p:cond delay="1000"/>
                                  </p:stCondLst>
                                  <p:childTnLst>
                                    <p:animMotion origin="layout" path="M 0.27864 0.08148 L 0.51041 0.0831 " pathEditMode="relative" rAng="0" ptsTypes="AA">
                                      <p:cBhvr>
                                        <p:cTn id="104" dur="1000" fill="hold"/>
                                        <p:tgtEl>
                                          <p:spTgt spid="27"/>
                                        </p:tgtEl>
                                        <p:attrNameLst>
                                          <p:attrName>ppt_x</p:attrName>
                                          <p:attrName>ppt_y</p:attrName>
                                        </p:attrNameLst>
                                      </p:cBhvr>
                                      <p:rCtr x="11589" y="69"/>
                                    </p:animMotion>
                                  </p:childTnLst>
                                </p:cTn>
                              </p:par>
                              <p:par>
                                <p:cTn id="105" presetID="10" presetClass="exit" presetSubtype="0" fill="hold" grpId="3" nodeType="withEffect">
                                  <p:stCondLst>
                                    <p:cond delay="1500"/>
                                  </p:stCondLst>
                                  <p:childTnLst>
                                    <p:animEffect transition="out" filter="fade">
                                      <p:cBhvr>
                                        <p:cTn id="106" dur="1000"/>
                                        <p:tgtEl>
                                          <p:spTgt spid="27"/>
                                        </p:tgtEl>
                                      </p:cBhvr>
                                    </p:animEffect>
                                    <p:set>
                                      <p:cBhvr>
                                        <p:cTn id="107" dur="1" fill="hold">
                                          <p:stCondLst>
                                            <p:cond delay="999"/>
                                          </p:stCondLst>
                                        </p:cTn>
                                        <p:tgtEl>
                                          <p:spTgt spid="27"/>
                                        </p:tgtEl>
                                        <p:attrNameLst>
                                          <p:attrName>style.visibility</p:attrName>
                                        </p:attrNameLst>
                                      </p:cBhvr>
                                      <p:to>
                                        <p:strVal val="hidden"/>
                                      </p:to>
                                    </p:set>
                                  </p:childTnLst>
                                </p:cTn>
                              </p:par>
                              <p:par>
                                <p:cTn id="108" presetID="63" presetClass="path" presetSubtype="0" accel="50000" decel="50000" fill="hold" grpId="2" nodeType="withEffect">
                                  <p:stCondLst>
                                    <p:cond delay="1500"/>
                                  </p:stCondLst>
                                  <p:childTnLst>
                                    <p:animMotion origin="layout" path="M 0.28437 0.0831 L 0.53541 0.08264 " pathEditMode="relative" rAng="0" ptsTypes="AA">
                                      <p:cBhvr>
                                        <p:cTn id="109" dur="1000" fill="hold"/>
                                        <p:tgtEl>
                                          <p:spTgt spid="28"/>
                                        </p:tgtEl>
                                        <p:attrNameLst>
                                          <p:attrName>ppt_x</p:attrName>
                                          <p:attrName>ppt_y</p:attrName>
                                        </p:attrNameLst>
                                      </p:cBhvr>
                                      <p:rCtr x="12552" y="-23"/>
                                    </p:animMotion>
                                  </p:childTnLst>
                                </p:cTn>
                              </p:par>
                              <p:par>
                                <p:cTn id="110" presetID="10" presetClass="exit" presetSubtype="0" fill="hold" grpId="3" nodeType="withEffect">
                                  <p:stCondLst>
                                    <p:cond delay="1900"/>
                                  </p:stCondLst>
                                  <p:childTnLst>
                                    <p:animEffect transition="out" filter="fade">
                                      <p:cBhvr>
                                        <p:cTn id="111" dur="1000"/>
                                        <p:tgtEl>
                                          <p:spTgt spid="28"/>
                                        </p:tgtEl>
                                      </p:cBhvr>
                                    </p:animEffect>
                                    <p:set>
                                      <p:cBhvr>
                                        <p:cTn id="112" dur="1" fill="hold">
                                          <p:stCondLst>
                                            <p:cond delay="999"/>
                                          </p:stCondLst>
                                        </p:cTn>
                                        <p:tgtEl>
                                          <p:spTgt spid="28"/>
                                        </p:tgtEl>
                                        <p:attrNameLst>
                                          <p:attrName>style.visibility</p:attrName>
                                        </p:attrNameLst>
                                      </p:cBhvr>
                                      <p:to>
                                        <p:strVal val="hidden"/>
                                      </p:to>
                                    </p:set>
                                  </p:childTnLst>
                                </p:cTn>
                              </p:par>
                              <p:par>
                                <p:cTn id="113" presetID="63" presetClass="path" presetSubtype="0" accel="50000" decel="50000" fill="hold" grpId="2" nodeType="withEffect">
                                  <p:stCondLst>
                                    <p:cond delay="2000"/>
                                  </p:stCondLst>
                                  <p:childTnLst>
                                    <p:animMotion origin="layout" path="M 0.24258 -0.09885 L 0.51041 -0.09885 " pathEditMode="relative" rAng="0" ptsTypes="AA">
                                      <p:cBhvr>
                                        <p:cTn id="114" dur="1000" fill="hold"/>
                                        <p:tgtEl>
                                          <p:spTgt spid="29"/>
                                        </p:tgtEl>
                                        <p:attrNameLst>
                                          <p:attrName>ppt_x</p:attrName>
                                          <p:attrName>ppt_y</p:attrName>
                                        </p:attrNameLst>
                                      </p:cBhvr>
                                      <p:rCtr x="13385" y="0"/>
                                    </p:animMotion>
                                  </p:childTnLst>
                                </p:cTn>
                              </p:par>
                              <p:par>
                                <p:cTn id="115" presetID="10" presetClass="exit" presetSubtype="0" fill="hold" grpId="3" nodeType="withEffect">
                                  <p:stCondLst>
                                    <p:cond delay="2500"/>
                                  </p:stCondLst>
                                  <p:childTnLst>
                                    <p:animEffect transition="out" filter="fade">
                                      <p:cBhvr>
                                        <p:cTn id="116" dur="1000"/>
                                        <p:tgtEl>
                                          <p:spTgt spid="29"/>
                                        </p:tgtEl>
                                      </p:cBhvr>
                                    </p:animEffect>
                                    <p:set>
                                      <p:cBhvr>
                                        <p:cTn id="117" dur="1" fill="hold">
                                          <p:stCondLst>
                                            <p:cond delay="999"/>
                                          </p:stCondLst>
                                        </p:cTn>
                                        <p:tgtEl>
                                          <p:spTgt spid="29"/>
                                        </p:tgtEl>
                                        <p:attrNameLst>
                                          <p:attrName>style.visibility</p:attrName>
                                        </p:attrNameLst>
                                      </p:cBhvr>
                                      <p:to>
                                        <p:strVal val="hidden"/>
                                      </p:to>
                                    </p:set>
                                  </p:childTnLst>
                                </p:cTn>
                              </p:par>
                              <p:par>
                                <p:cTn id="118" presetID="63" presetClass="path" presetSubtype="0" accel="50000" decel="50000" fill="hold" grpId="2" nodeType="withEffect">
                                  <p:stCondLst>
                                    <p:cond delay="2500"/>
                                  </p:stCondLst>
                                  <p:childTnLst>
                                    <p:animMotion origin="layout" path="M 0.25273 -0.09885 L 0.53541 -0.09885 " pathEditMode="relative" rAng="0" ptsTypes="AA">
                                      <p:cBhvr>
                                        <p:cTn id="119" dur="1000" fill="hold"/>
                                        <p:tgtEl>
                                          <p:spTgt spid="30"/>
                                        </p:tgtEl>
                                        <p:attrNameLst>
                                          <p:attrName>ppt_x</p:attrName>
                                          <p:attrName>ppt_y</p:attrName>
                                        </p:attrNameLst>
                                      </p:cBhvr>
                                      <p:rCtr x="14128" y="0"/>
                                    </p:animMotion>
                                  </p:childTnLst>
                                </p:cTn>
                              </p:par>
                              <p:par>
                                <p:cTn id="120" presetID="10" presetClass="exit" presetSubtype="0" fill="hold" grpId="3" nodeType="withEffect">
                                  <p:stCondLst>
                                    <p:cond delay="3000"/>
                                  </p:stCondLst>
                                  <p:childTnLst>
                                    <p:animEffect transition="out" filter="fade">
                                      <p:cBhvr>
                                        <p:cTn id="121" dur="1000"/>
                                        <p:tgtEl>
                                          <p:spTgt spid="30"/>
                                        </p:tgtEl>
                                      </p:cBhvr>
                                    </p:animEffect>
                                    <p:set>
                                      <p:cBhvr>
                                        <p:cTn id="122" dur="1" fill="hold">
                                          <p:stCondLst>
                                            <p:cond delay="999"/>
                                          </p:stCondLst>
                                        </p:cTn>
                                        <p:tgtEl>
                                          <p:spTgt spid="30"/>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nodeType="clickEffect">
                                  <p:stCondLst>
                                    <p:cond delay="0"/>
                                  </p:stCondLst>
                                  <p:childTnLst>
                                    <p:set>
                                      <p:cBhvr>
                                        <p:cTn id="126" dur="1" fill="hold">
                                          <p:stCondLst>
                                            <p:cond delay="0"/>
                                          </p:stCondLst>
                                        </p:cTn>
                                        <p:tgtEl>
                                          <p:spTgt spid="42"/>
                                        </p:tgtEl>
                                        <p:attrNameLst>
                                          <p:attrName>style.visibility</p:attrName>
                                        </p:attrNameLst>
                                      </p:cBhvr>
                                      <p:to>
                                        <p:strVal val="visible"/>
                                      </p:to>
                                    </p:set>
                                    <p:animEffect transition="in" filter="box(in)">
                                      <p:cBhvr>
                                        <p:cTn id="127" dur="500"/>
                                        <p:tgtEl>
                                          <p:spTgt spid="42"/>
                                        </p:tgtEl>
                                      </p:cBhvr>
                                    </p:animEffect>
                                  </p:childTnLst>
                                </p:cTn>
                              </p:par>
                            </p:childTnLst>
                          </p:cTn>
                        </p:par>
                      </p:childTnLst>
                    </p:cTn>
                  </p:par>
                  <p:par>
                    <p:cTn id="128" fill="hold">
                      <p:stCondLst>
                        <p:cond delay="indefinite"/>
                      </p:stCondLst>
                      <p:childTnLst>
                        <p:par>
                          <p:cTn id="129" fill="hold">
                            <p:stCondLst>
                              <p:cond delay="0"/>
                            </p:stCondLst>
                            <p:childTnLst>
                              <p:par>
                                <p:cTn id="130" presetID="3" presetClass="entr" presetSubtype="10" fill="hold" nodeType="clickEffect">
                                  <p:stCondLst>
                                    <p:cond delay="0"/>
                                  </p:stCondLst>
                                  <p:childTnLst>
                                    <p:set>
                                      <p:cBhvr>
                                        <p:cTn id="131" dur="1" fill="hold">
                                          <p:stCondLst>
                                            <p:cond delay="0"/>
                                          </p:stCondLst>
                                        </p:cTn>
                                        <p:tgtEl>
                                          <p:spTgt spid="34"/>
                                        </p:tgtEl>
                                        <p:attrNameLst>
                                          <p:attrName>style.visibility</p:attrName>
                                        </p:attrNameLst>
                                      </p:cBhvr>
                                      <p:to>
                                        <p:strVal val="visible"/>
                                      </p:to>
                                    </p:set>
                                    <p:animEffect transition="in" filter="blinds(horizontal)">
                                      <p:cBhvr>
                                        <p:cTn id="132" dur="500"/>
                                        <p:tgtEl>
                                          <p:spTgt spid="34"/>
                                        </p:tgtEl>
                                      </p:cBhvr>
                                    </p:animEffect>
                                  </p:childTnLst>
                                </p:cTn>
                              </p:par>
                              <p:par>
                                <p:cTn id="133" presetID="0" presetClass="path" presetSubtype="0" accel="50000" decel="50000" fill="hold" grpId="4" nodeType="withEffect">
                                  <p:stCondLst>
                                    <p:cond delay="0"/>
                                  </p:stCondLst>
                                  <p:childTnLst>
                                    <p:animMotion origin="layout" path="M 0.00664 0.00115 C 0.02955 -0.03195 0.11315 -0.15186 0.14427 -0.19769 C 0.17539 -0.24375 0.1832 -0.25996 0.19362 -0.27477 C 0.20403 -0.28959 0.20052 -0.28426 0.2069 -0.28611 C 0.21341 -0.28797 0.18138 -0.28611 0.2319 -0.28611 C 0.28242 -0.28611 0.45247 -0.28611 0.51041 -0.28611 " pathEditMode="relative" rAng="0" ptsTypes="AAAAAA">
                                      <p:cBhvr>
                                        <p:cTn id="134" dur="1500" fill="hold"/>
                                        <p:tgtEl>
                                          <p:spTgt spid="31"/>
                                        </p:tgtEl>
                                        <p:attrNameLst>
                                          <p:attrName>ppt_x</p:attrName>
                                          <p:attrName>ppt_y</p:attrName>
                                        </p:attrNameLst>
                                      </p:cBhvr>
                                      <p:rCtr x="25182" y="-14421"/>
                                    </p:animMotion>
                                  </p:childTnLst>
                                </p:cTn>
                              </p:par>
                              <p:par>
                                <p:cTn id="135" presetID="10" presetClass="exit" presetSubtype="0" fill="hold" grpId="5" nodeType="withEffect">
                                  <p:stCondLst>
                                    <p:cond delay="1000"/>
                                  </p:stCondLst>
                                  <p:childTnLst>
                                    <p:animEffect transition="out" filter="fade">
                                      <p:cBhvr>
                                        <p:cTn id="136" dur="1000"/>
                                        <p:tgtEl>
                                          <p:spTgt spid="31"/>
                                        </p:tgtEl>
                                      </p:cBhvr>
                                    </p:animEffect>
                                    <p:set>
                                      <p:cBhvr>
                                        <p:cTn id="137" dur="1" fill="hold">
                                          <p:stCondLst>
                                            <p:cond delay="999"/>
                                          </p:stCondLst>
                                        </p:cTn>
                                        <p:tgtEl>
                                          <p:spTgt spid="31"/>
                                        </p:tgtEl>
                                        <p:attrNameLst>
                                          <p:attrName>style.visibility</p:attrName>
                                        </p:attrNameLst>
                                      </p:cBhvr>
                                      <p:to>
                                        <p:strVal val="hidden"/>
                                      </p:to>
                                    </p:set>
                                  </p:childTnLst>
                                </p:cTn>
                              </p:par>
                              <p:par>
                                <p:cTn id="138" presetID="0" presetClass="path" presetSubtype="0" accel="50000" decel="50000" fill="hold" grpId="4" nodeType="withEffect">
                                  <p:stCondLst>
                                    <p:cond delay="500"/>
                                  </p:stCondLst>
                                  <p:childTnLst>
                                    <p:animMotion origin="layout" path="M 2.5E-6 0.00625 C 0.01094 0.00717 0.02044 0.00787 0.02773 0.00463 C 0.03502 0.00139 0.02539 0.01226 0.04336 -0.01297 C 0.06146 -0.0382 0.10625 -0.1044 0.13607 -0.1463 C 0.16601 -0.18797 0.19896 -0.24213 0.22291 -0.26482 C 0.24687 -0.2875 0.22799 -0.27986 0.27955 -0.28264 C 0.33112 -0.28542 0.47982 -0.28218 0.53242 -0.28218 " pathEditMode="relative" rAng="0" ptsTypes="AAAAAAA">
                                      <p:cBhvr>
                                        <p:cTn id="139" dur="1500" fill="hold"/>
                                        <p:tgtEl>
                                          <p:spTgt spid="32"/>
                                        </p:tgtEl>
                                        <p:attrNameLst>
                                          <p:attrName>ppt_x</p:attrName>
                                          <p:attrName>ppt_y</p:attrName>
                                        </p:attrNameLst>
                                      </p:cBhvr>
                                      <p:rCtr x="26615" y="-14468"/>
                                    </p:animMotion>
                                  </p:childTnLst>
                                </p:cTn>
                              </p:par>
                              <p:par>
                                <p:cTn id="140" presetID="10" presetClass="exit" presetSubtype="0" fill="hold" grpId="5" nodeType="withEffect">
                                  <p:stCondLst>
                                    <p:cond delay="1500"/>
                                  </p:stCondLst>
                                  <p:childTnLst>
                                    <p:animEffect transition="out" filter="fade">
                                      <p:cBhvr>
                                        <p:cTn id="141" dur="1000"/>
                                        <p:tgtEl>
                                          <p:spTgt spid="32"/>
                                        </p:tgtEl>
                                      </p:cBhvr>
                                    </p:animEffect>
                                    <p:set>
                                      <p:cBhvr>
                                        <p:cTn id="142" dur="1" fill="hold">
                                          <p:stCondLst>
                                            <p:cond delay="9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1" grpId="2" animBg="1"/>
      <p:bldP spid="22" grpId="0" animBg="1"/>
      <p:bldP spid="22" grpId="1" animBg="1"/>
      <p:bldP spid="22" grpId="2" animBg="1"/>
      <p:bldP spid="23" grpId="0" animBg="1"/>
      <p:bldP spid="23" grpId="1" animBg="1"/>
      <p:bldP spid="23" grpId="2" animBg="1"/>
      <p:bldP spid="24" grpId="0" animBg="1"/>
      <p:bldP spid="24" grpId="1" animBg="1"/>
      <p:bldP spid="24" grpId="2" animBg="1"/>
      <p:bldP spid="25" grpId="0" animBg="1"/>
      <p:bldP spid="25" grpId="1" animBg="1"/>
      <p:bldP spid="25" grpId="2" animBg="1"/>
      <p:bldP spid="25" grpId="3" animBg="1"/>
      <p:bldP spid="26" grpId="0" animBg="1"/>
      <p:bldP spid="26" grpId="1" animBg="1"/>
      <p:bldP spid="26" grpId="2" animBg="1"/>
      <p:bldP spid="26" grpId="3" animBg="1"/>
      <p:bldP spid="27" grpId="0" animBg="1"/>
      <p:bldP spid="27" grpId="1" animBg="1"/>
      <p:bldP spid="27" grpId="2" animBg="1"/>
      <p:bldP spid="27" grpId="3" animBg="1"/>
      <p:bldP spid="28" grpId="0" animBg="1"/>
      <p:bldP spid="28" grpId="1" animBg="1"/>
      <p:bldP spid="28" grpId="2" animBg="1"/>
      <p:bldP spid="28" grpId="3" animBg="1"/>
      <p:bldP spid="29" grpId="0" animBg="1"/>
      <p:bldP spid="29" grpId="1" animBg="1"/>
      <p:bldP spid="29" grpId="2" animBg="1"/>
      <p:bldP spid="29" grpId="3" animBg="1"/>
      <p:bldP spid="30" grpId="0" animBg="1"/>
      <p:bldP spid="30" grpId="1" animBg="1"/>
      <p:bldP spid="30" grpId="2" animBg="1"/>
      <p:bldP spid="30" grpId="3" animBg="1"/>
      <p:bldP spid="31" grpId="0" animBg="1"/>
      <p:bldP spid="31" grpId="1" animBg="1"/>
      <p:bldP spid="31" grpId="2" animBg="1"/>
      <p:bldP spid="31" grpId="3" animBg="1"/>
      <p:bldP spid="31" grpId="4" animBg="1"/>
      <p:bldP spid="31" grpId="5" animBg="1"/>
      <p:bldP spid="32" grpId="0" animBg="1"/>
      <p:bldP spid="32" grpId="1" animBg="1"/>
      <p:bldP spid="32" grpId="2" animBg="1"/>
      <p:bldP spid="32" grpId="3" animBg="1"/>
      <p:bldP spid="32" grpId="4" animBg="1"/>
      <p:bldP spid="32" grpId="5" animBg="1"/>
      <p:bldP spid="4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矩形 227">
            <a:extLst>
              <a:ext uri="{FF2B5EF4-FFF2-40B4-BE49-F238E27FC236}">
                <a16:creationId xmlns:a16="http://schemas.microsoft.com/office/drawing/2014/main" id="{C29C2842-BFB8-4C74-9982-B6C262043A8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rPr>
              <a:t>Queue Buildup Issue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29" name="Picture 2">
            <a:extLst>
              <a:ext uri="{FF2B5EF4-FFF2-40B4-BE49-F238E27FC236}">
                <a16:creationId xmlns:a16="http://schemas.microsoft.com/office/drawing/2014/main" id="{F03F9313-14FB-44D1-90AB-E1247AAEC7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9550612" y="1"/>
            <a:ext cx="2353879" cy="7993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85" descr="server-gray.png">
            <a:extLst>
              <a:ext uri="{FF2B5EF4-FFF2-40B4-BE49-F238E27FC236}">
                <a16:creationId xmlns:a16="http://schemas.microsoft.com/office/drawing/2014/main" id="{469B8E88-DDB9-4E3D-BDF6-7586652E1C0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0663" y="5394325"/>
            <a:ext cx="91440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88" descr="server-gray.png">
            <a:extLst>
              <a:ext uri="{FF2B5EF4-FFF2-40B4-BE49-F238E27FC236}">
                <a16:creationId xmlns:a16="http://schemas.microsoft.com/office/drawing/2014/main" id="{6EE8279E-6342-460D-80A6-AF841A7B015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0663" y="1601788"/>
            <a:ext cx="915987"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Content Placeholder 9" descr="switch.png">
            <a:extLst>
              <a:ext uri="{FF2B5EF4-FFF2-40B4-BE49-F238E27FC236}">
                <a16:creationId xmlns:a16="http://schemas.microsoft.com/office/drawing/2014/main" id="{B13CCB1C-DA83-4AD1-A31E-BF56E8DD464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6367463" y="3614738"/>
            <a:ext cx="1643062" cy="693737"/>
          </a:xfrm>
          <a:prstGeom prst="rect">
            <a:avLst/>
          </a:prstGeom>
        </p:spPr>
      </p:pic>
      <p:pic>
        <p:nvPicPr>
          <p:cNvPr id="49" name="Picture 4" descr="server2.jpg">
            <a:extLst>
              <a:ext uri="{FF2B5EF4-FFF2-40B4-BE49-F238E27FC236}">
                <a16:creationId xmlns:a16="http://schemas.microsoft.com/office/drawing/2014/main" id="{A302EDAB-3620-452D-B599-D51D2BA908B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315450" y="3425825"/>
            <a:ext cx="1149350" cy="110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0" name="Straight Connector 11">
            <a:extLst>
              <a:ext uri="{FF2B5EF4-FFF2-40B4-BE49-F238E27FC236}">
                <a16:creationId xmlns:a16="http://schemas.microsoft.com/office/drawing/2014/main" id="{CAE55037-D5D7-44D7-83F4-30A7AFFA6A3E}"/>
              </a:ext>
            </a:extLst>
          </p:cNvPr>
          <p:cNvCxnSpPr/>
          <p:nvPr/>
        </p:nvCxnSpPr>
        <p:spPr>
          <a:xfrm flipV="1">
            <a:off x="7781925" y="3960813"/>
            <a:ext cx="1609725" cy="0"/>
          </a:xfrm>
          <a:prstGeom prst="line">
            <a:avLst/>
          </a:prstGeom>
          <a:noFill/>
          <a:ln w="50800" cap="flat" cmpd="sng" algn="ctr">
            <a:solidFill>
              <a:srgbClr val="333333"/>
            </a:solidFill>
            <a:prstDash val="solid"/>
          </a:ln>
          <a:effectLst/>
        </p:spPr>
      </p:cxnSp>
      <p:cxnSp>
        <p:nvCxnSpPr>
          <p:cNvPr id="51" name="Straight Connector 26">
            <a:extLst>
              <a:ext uri="{FF2B5EF4-FFF2-40B4-BE49-F238E27FC236}">
                <a16:creationId xmlns:a16="http://schemas.microsoft.com/office/drawing/2014/main" id="{93A7527D-09A6-4A04-B1FD-03B6238C4630}"/>
              </a:ext>
            </a:extLst>
          </p:cNvPr>
          <p:cNvCxnSpPr>
            <a:cxnSpLocks/>
          </p:cNvCxnSpPr>
          <p:nvPr/>
        </p:nvCxnSpPr>
        <p:spPr>
          <a:xfrm>
            <a:off x="3619500" y="2087563"/>
            <a:ext cx="2763441" cy="1873250"/>
          </a:xfrm>
          <a:prstGeom prst="line">
            <a:avLst/>
          </a:prstGeom>
          <a:noFill/>
          <a:ln w="50800" cap="flat" cmpd="sng" algn="ctr">
            <a:solidFill>
              <a:srgbClr val="333333"/>
            </a:solidFill>
            <a:prstDash val="solid"/>
          </a:ln>
          <a:effectLst/>
        </p:spPr>
      </p:cxnSp>
      <p:cxnSp>
        <p:nvCxnSpPr>
          <p:cNvPr id="52" name="Straight Connector 38">
            <a:extLst>
              <a:ext uri="{FF2B5EF4-FFF2-40B4-BE49-F238E27FC236}">
                <a16:creationId xmlns:a16="http://schemas.microsoft.com/office/drawing/2014/main" id="{4CA09D02-84A6-4910-A2BE-285051DE478D}"/>
              </a:ext>
            </a:extLst>
          </p:cNvPr>
          <p:cNvCxnSpPr>
            <a:cxnSpLocks/>
            <a:endCxn id="48" idx="1"/>
          </p:cNvCxnSpPr>
          <p:nvPr/>
        </p:nvCxnSpPr>
        <p:spPr>
          <a:xfrm flipV="1">
            <a:off x="3617913" y="3961607"/>
            <a:ext cx="2749550" cy="1920082"/>
          </a:xfrm>
          <a:prstGeom prst="line">
            <a:avLst/>
          </a:prstGeom>
          <a:noFill/>
          <a:ln w="50800" cap="flat" cmpd="sng" algn="ctr">
            <a:solidFill>
              <a:srgbClr val="333333"/>
            </a:solidFill>
            <a:prstDash val="solid"/>
          </a:ln>
          <a:effectLst/>
        </p:spPr>
      </p:cxnSp>
      <p:grpSp>
        <p:nvGrpSpPr>
          <p:cNvPr id="53" name="Group 151">
            <a:extLst>
              <a:ext uri="{FF2B5EF4-FFF2-40B4-BE49-F238E27FC236}">
                <a16:creationId xmlns:a16="http://schemas.microsoft.com/office/drawing/2014/main" id="{3ADC5352-20B2-4489-AFFB-5D540F6A601D}"/>
              </a:ext>
            </a:extLst>
          </p:cNvPr>
          <p:cNvGrpSpPr>
            <a:grpSpLocks/>
          </p:cNvGrpSpPr>
          <p:nvPr/>
        </p:nvGrpSpPr>
        <p:grpSpPr bwMode="auto">
          <a:xfrm>
            <a:off x="6382941" y="3658394"/>
            <a:ext cx="1414853" cy="609600"/>
            <a:chOff x="4135" y="480"/>
            <a:chExt cx="665" cy="576"/>
          </a:xfrm>
          <a:gradFill>
            <a:gsLst>
              <a:gs pos="0">
                <a:srgbClr val="FFFFFF"/>
              </a:gs>
              <a:gs pos="100000">
                <a:srgbClr val="5D87A1"/>
              </a:gs>
            </a:gsLst>
            <a:lin ang="0" scaled="1"/>
          </a:gradFill>
        </p:grpSpPr>
        <p:sp>
          <p:nvSpPr>
            <p:cNvPr id="54" name="Freeform 152">
              <a:extLst>
                <a:ext uri="{FF2B5EF4-FFF2-40B4-BE49-F238E27FC236}">
                  <a16:creationId xmlns:a16="http://schemas.microsoft.com/office/drawing/2014/main" id="{13C336AA-6CA6-4200-905F-44DD6F7B7BCA}"/>
                </a:ext>
              </a:extLst>
            </p:cNvPr>
            <p:cNvSpPr>
              <a:spLocks/>
            </p:cNvSpPr>
            <p:nvPr/>
          </p:nvSpPr>
          <p:spPr bwMode="auto">
            <a:xfrm>
              <a:off x="4135" y="480"/>
              <a:ext cx="665" cy="576"/>
            </a:xfrm>
            <a:custGeom>
              <a:avLst/>
              <a:gdLst>
                <a:gd name="T0" fmla="*/ 0 w 768"/>
                <a:gd name="T1" fmla="*/ 0 h 576"/>
                <a:gd name="T2" fmla="*/ 768 w 768"/>
                <a:gd name="T3" fmla="*/ 0 h 576"/>
                <a:gd name="T4" fmla="*/ 768 w 768"/>
                <a:gd name="T5" fmla="*/ 576 h 576"/>
                <a:gd name="T6" fmla="*/ 0 w 768"/>
                <a:gd name="T7" fmla="*/ 576 h 576"/>
                <a:gd name="T8" fmla="*/ 0 60000 65536"/>
                <a:gd name="T9" fmla="*/ 0 60000 65536"/>
                <a:gd name="T10" fmla="*/ 0 60000 65536"/>
                <a:gd name="T11" fmla="*/ 0 60000 65536"/>
                <a:gd name="T12" fmla="*/ 0 w 768"/>
                <a:gd name="T13" fmla="*/ 0 h 576"/>
                <a:gd name="T14" fmla="*/ 768 w 768"/>
                <a:gd name="T15" fmla="*/ 576 h 576"/>
              </a:gdLst>
              <a:ahLst/>
              <a:cxnLst>
                <a:cxn ang="T8">
                  <a:pos x="T0" y="T1"/>
                </a:cxn>
                <a:cxn ang="T9">
                  <a:pos x="T2" y="T3"/>
                </a:cxn>
                <a:cxn ang="T10">
                  <a:pos x="T4" y="T5"/>
                </a:cxn>
                <a:cxn ang="T11">
                  <a:pos x="T6" y="T7"/>
                </a:cxn>
              </a:cxnLst>
              <a:rect l="T12" t="T13" r="T14" b="T15"/>
              <a:pathLst>
                <a:path w="768" h="576">
                  <a:moveTo>
                    <a:pt x="0" y="0"/>
                  </a:moveTo>
                  <a:lnTo>
                    <a:pt x="768" y="0"/>
                  </a:lnTo>
                  <a:lnTo>
                    <a:pt x="768" y="576"/>
                  </a:lnTo>
                  <a:lnTo>
                    <a:pt x="0" y="576"/>
                  </a:lnTo>
                </a:path>
              </a:pathLst>
            </a:custGeom>
            <a:grpFill/>
            <a:ln w="28575">
              <a:solidFill>
                <a:srgbClr val="333333"/>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99"/>
                </a:solidFill>
                <a:effectLst/>
                <a:uLnTx/>
                <a:uFillTx/>
                <a:latin typeface="Arial"/>
              </a:endParaRPr>
            </a:p>
          </p:txBody>
        </p:sp>
        <p:sp>
          <p:nvSpPr>
            <p:cNvPr id="55" name="Line 153">
              <a:extLst>
                <a:ext uri="{FF2B5EF4-FFF2-40B4-BE49-F238E27FC236}">
                  <a16:creationId xmlns:a16="http://schemas.microsoft.com/office/drawing/2014/main" id="{02B79419-D222-4B43-9362-8DCED421368D}"/>
                </a:ext>
              </a:extLst>
            </p:cNvPr>
            <p:cNvSpPr>
              <a:spLocks noChangeShapeType="1"/>
            </p:cNvSpPr>
            <p:nvPr/>
          </p:nvSpPr>
          <p:spPr bwMode="auto">
            <a:xfrm>
              <a:off x="4664" y="653"/>
              <a:ext cx="0" cy="288"/>
            </a:xfrm>
            <a:prstGeom prst="line">
              <a:avLst/>
            </a:prstGeom>
            <a:grpFill/>
            <a:ln w="28575">
              <a:solidFill>
                <a:srgbClr val="333333"/>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33333"/>
                </a:solidFill>
                <a:effectLst/>
                <a:uLnTx/>
                <a:uFillTx/>
                <a:latin typeface="Arial"/>
              </a:endParaRPr>
            </a:p>
          </p:txBody>
        </p:sp>
      </p:grpSp>
      <p:sp>
        <p:nvSpPr>
          <p:cNvPr id="56" name="Rectangle 163">
            <a:extLst>
              <a:ext uri="{FF2B5EF4-FFF2-40B4-BE49-F238E27FC236}">
                <a16:creationId xmlns:a16="http://schemas.microsoft.com/office/drawing/2014/main" id="{F1687DF1-54A0-4D29-8AC3-987CAA1303D4}"/>
              </a:ext>
            </a:extLst>
          </p:cNvPr>
          <p:cNvSpPr>
            <a:spLocks noChangeArrowheads="1"/>
          </p:cNvSpPr>
          <p:nvPr/>
        </p:nvSpPr>
        <p:spPr bwMode="auto">
          <a:xfrm>
            <a:off x="3408363" y="1830388"/>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57" name="Rectangle 163">
            <a:extLst>
              <a:ext uri="{FF2B5EF4-FFF2-40B4-BE49-F238E27FC236}">
                <a16:creationId xmlns:a16="http://schemas.microsoft.com/office/drawing/2014/main" id="{B93DD0EA-44BE-4718-BBE0-5E11588784A7}"/>
              </a:ext>
            </a:extLst>
          </p:cNvPr>
          <p:cNvSpPr>
            <a:spLocks noChangeArrowheads="1"/>
          </p:cNvSpPr>
          <p:nvPr/>
        </p:nvSpPr>
        <p:spPr bwMode="auto">
          <a:xfrm>
            <a:off x="3179763" y="1830388"/>
            <a:ext cx="192087"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58" name="Rectangle 163">
            <a:extLst>
              <a:ext uri="{FF2B5EF4-FFF2-40B4-BE49-F238E27FC236}">
                <a16:creationId xmlns:a16="http://schemas.microsoft.com/office/drawing/2014/main" id="{6CA75CFC-D4B4-4042-8481-F5141C558C76}"/>
              </a:ext>
            </a:extLst>
          </p:cNvPr>
          <p:cNvSpPr>
            <a:spLocks noChangeArrowheads="1"/>
          </p:cNvSpPr>
          <p:nvPr/>
        </p:nvSpPr>
        <p:spPr bwMode="auto">
          <a:xfrm>
            <a:off x="3408363" y="5640388"/>
            <a:ext cx="192087" cy="593725"/>
          </a:xfrm>
          <a:prstGeom prst="rect">
            <a:avLst/>
          </a:prstGeom>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59" name="Rectangle 163">
            <a:extLst>
              <a:ext uri="{FF2B5EF4-FFF2-40B4-BE49-F238E27FC236}">
                <a16:creationId xmlns:a16="http://schemas.microsoft.com/office/drawing/2014/main" id="{7DE86AFC-4D86-4CA2-86CC-F791820647CC}"/>
              </a:ext>
            </a:extLst>
          </p:cNvPr>
          <p:cNvSpPr>
            <a:spLocks noChangeArrowheads="1"/>
          </p:cNvSpPr>
          <p:nvPr/>
        </p:nvSpPr>
        <p:spPr bwMode="auto">
          <a:xfrm>
            <a:off x="3179763" y="5640388"/>
            <a:ext cx="192087" cy="593725"/>
          </a:xfrm>
          <a:prstGeom prst="rect">
            <a:avLst/>
          </a:prstGeom>
          <a:gradFill rotWithShape="1">
            <a:gsLst>
              <a:gs pos="0">
                <a:srgbClr val="000082"/>
              </a:gs>
              <a:gs pos="13000">
                <a:srgbClr val="0047FF"/>
              </a:gs>
              <a:gs pos="28000">
                <a:srgbClr val="000082"/>
              </a:gs>
              <a:gs pos="42999">
                <a:srgbClr val="0047FF"/>
              </a:gs>
              <a:gs pos="58000">
                <a:srgbClr val="000082"/>
              </a:gs>
              <a:gs pos="72000">
                <a:srgbClr val="0047FF"/>
              </a:gs>
              <a:gs pos="87000">
                <a:srgbClr val="000082"/>
              </a:gs>
              <a:gs pos="100000">
                <a:srgbClr val="0047FF"/>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60" name="TextBox 40">
            <a:extLst>
              <a:ext uri="{FF2B5EF4-FFF2-40B4-BE49-F238E27FC236}">
                <a16:creationId xmlns:a16="http://schemas.microsoft.com/office/drawing/2014/main" id="{A476B0FD-B3DF-48FB-A817-677749F43001}"/>
              </a:ext>
            </a:extLst>
          </p:cNvPr>
          <p:cNvSpPr txBox="1">
            <a:spLocks noChangeArrowheads="1"/>
          </p:cNvSpPr>
          <p:nvPr/>
        </p:nvSpPr>
        <p:spPr bwMode="auto">
          <a:xfrm>
            <a:off x="2532063" y="1144588"/>
            <a:ext cx="1295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solidFill>
                  <a:srgbClr val="333333"/>
                </a:solidFill>
                <a:latin typeface="Calibri" pitchFamily="34" charset="0"/>
              </a:rPr>
              <a:t>Sender 1</a:t>
            </a:r>
          </a:p>
        </p:txBody>
      </p:sp>
      <p:sp>
        <p:nvSpPr>
          <p:cNvPr id="61" name="TextBox 44">
            <a:extLst>
              <a:ext uri="{FF2B5EF4-FFF2-40B4-BE49-F238E27FC236}">
                <a16:creationId xmlns:a16="http://schemas.microsoft.com/office/drawing/2014/main" id="{EF5C438A-2081-4B54-88F4-7DCC0EAA84C9}"/>
              </a:ext>
            </a:extLst>
          </p:cNvPr>
          <p:cNvSpPr txBox="1">
            <a:spLocks noChangeArrowheads="1"/>
          </p:cNvSpPr>
          <p:nvPr/>
        </p:nvSpPr>
        <p:spPr bwMode="auto">
          <a:xfrm>
            <a:off x="2532063" y="4954588"/>
            <a:ext cx="1066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solidFill>
                  <a:srgbClr val="333333"/>
                </a:solidFill>
                <a:latin typeface="Calibri" pitchFamily="34" charset="0"/>
              </a:rPr>
              <a:t>Sender 2</a:t>
            </a:r>
          </a:p>
        </p:txBody>
      </p:sp>
      <p:sp>
        <p:nvSpPr>
          <p:cNvPr id="62" name="TextBox 45">
            <a:extLst>
              <a:ext uri="{FF2B5EF4-FFF2-40B4-BE49-F238E27FC236}">
                <a16:creationId xmlns:a16="http://schemas.microsoft.com/office/drawing/2014/main" id="{584F88CD-90DB-4278-9229-10D93D5827A1}"/>
              </a:ext>
            </a:extLst>
          </p:cNvPr>
          <p:cNvSpPr txBox="1">
            <a:spLocks noChangeArrowheads="1"/>
          </p:cNvSpPr>
          <p:nvPr/>
        </p:nvSpPr>
        <p:spPr bwMode="auto">
          <a:xfrm>
            <a:off x="9320213" y="2908300"/>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b="1">
                <a:solidFill>
                  <a:srgbClr val="333333"/>
                </a:solidFill>
                <a:latin typeface="Calibri" pitchFamily="34" charset="0"/>
              </a:rPr>
              <a:t>Receiver</a:t>
            </a:r>
          </a:p>
        </p:txBody>
      </p:sp>
      <p:sp>
        <p:nvSpPr>
          <p:cNvPr id="63" name="Rectangle 163">
            <a:extLst>
              <a:ext uri="{FF2B5EF4-FFF2-40B4-BE49-F238E27FC236}">
                <a16:creationId xmlns:a16="http://schemas.microsoft.com/office/drawing/2014/main" id="{3765F4B5-562E-4CDE-BA96-2AF43A57C464}"/>
              </a:ext>
            </a:extLst>
          </p:cNvPr>
          <p:cNvSpPr>
            <a:spLocks noChangeArrowheads="1"/>
          </p:cNvSpPr>
          <p:nvPr/>
        </p:nvSpPr>
        <p:spPr bwMode="auto">
          <a:xfrm>
            <a:off x="2949575" y="1830388"/>
            <a:ext cx="192088"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64" name="Rectangle 163">
            <a:extLst>
              <a:ext uri="{FF2B5EF4-FFF2-40B4-BE49-F238E27FC236}">
                <a16:creationId xmlns:a16="http://schemas.microsoft.com/office/drawing/2014/main" id="{8B9B42AB-626E-4251-A97A-046B2960B6D3}"/>
              </a:ext>
            </a:extLst>
          </p:cNvPr>
          <p:cNvSpPr>
            <a:spLocks noChangeArrowheads="1"/>
          </p:cNvSpPr>
          <p:nvPr/>
        </p:nvSpPr>
        <p:spPr bwMode="auto">
          <a:xfrm>
            <a:off x="2720975" y="1830388"/>
            <a:ext cx="192088"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65" name="Rectangle 163">
            <a:extLst>
              <a:ext uri="{FF2B5EF4-FFF2-40B4-BE49-F238E27FC236}">
                <a16:creationId xmlns:a16="http://schemas.microsoft.com/office/drawing/2014/main" id="{B2C8DB03-082B-4B56-A2C0-8C81583E3718}"/>
              </a:ext>
            </a:extLst>
          </p:cNvPr>
          <p:cNvSpPr>
            <a:spLocks noChangeArrowheads="1"/>
          </p:cNvSpPr>
          <p:nvPr/>
        </p:nvSpPr>
        <p:spPr bwMode="auto">
          <a:xfrm>
            <a:off x="2492375" y="1830388"/>
            <a:ext cx="192088" cy="593725"/>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grpSp>
        <p:nvGrpSpPr>
          <p:cNvPr id="66" name="Group 57">
            <a:extLst>
              <a:ext uri="{FF2B5EF4-FFF2-40B4-BE49-F238E27FC236}">
                <a16:creationId xmlns:a16="http://schemas.microsoft.com/office/drawing/2014/main" id="{FA9A99FE-6443-4EC5-AA69-8179CBAB3ED6}"/>
              </a:ext>
            </a:extLst>
          </p:cNvPr>
          <p:cNvGrpSpPr>
            <a:grpSpLocks/>
          </p:cNvGrpSpPr>
          <p:nvPr/>
        </p:nvGrpSpPr>
        <p:grpSpPr bwMode="auto">
          <a:xfrm>
            <a:off x="1120775" y="1830388"/>
            <a:ext cx="1335088" cy="593725"/>
            <a:chOff x="3389376" y="1676400"/>
            <a:chExt cx="1335024" cy="594360"/>
          </a:xfrm>
        </p:grpSpPr>
        <p:sp>
          <p:nvSpPr>
            <p:cNvPr id="67" name="Rectangle 163">
              <a:extLst>
                <a:ext uri="{FF2B5EF4-FFF2-40B4-BE49-F238E27FC236}">
                  <a16:creationId xmlns:a16="http://schemas.microsoft.com/office/drawing/2014/main" id="{423210F3-33C4-4FDA-823D-836836432775}"/>
                </a:ext>
              </a:extLst>
            </p:cNvPr>
            <p:cNvSpPr>
              <a:spLocks noChangeArrowheads="1"/>
            </p:cNvSpPr>
            <p:nvPr/>
          </p:nvSpPr>
          <p:spPr bwMode="auto">
            <a:xfrm>
              <a:off x="3389376" y="1676400"/>
              <a:ext cx="192024" cy="594360"/>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68" name="Rectangle 163">
              <a:extLst>
                <a:ext uri="{FF2B5EF4-FFF2-40B4-BE49-F238E27FC236}">
                  <a16:creationId xmlns:a16="http://schemas.microsoft.com/office/drawing/2014/main" id="{A2874B34-290B-4D65-B91B-17211179B387}"/>
                </a:ext>
              </a:extLst>
            </p:cNvPr>
            <p:cNvSpPr>
              <a:spLocks noChangeArrowheads="1"/>
            </p:cNvSpPr>
            <p:nvPr/>
          </p:nvSpPr>
          <p:spPr bwMode="auto">
            <a:xfrm>
              <a:off x="3617976" y="1676400"/>
              <a:ext cx="192024" cy="594360"/>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69" name="Rectangle 163">
              <a:extLst>
                <a:ext uri="{FF2B5EF4-FFF2-40B4-BE49-F238E27FC236}">
                  <a16:creationId xmlns:a16="http://schemas.microsoft.com/office/drawing/2014/main" id="{64B8FBFB-A96A-40AF-B8A7-ED2F24234D7D}"/>
                </a:ext>
              </a:extLst>
            </p:cNvPr>
            <p:cNvSpPr>
              <a:spLocks noChangeArrowheads="1"/>
            </p:cNvSpPr>
            <p:nvPr/>
          </p:nvSpPr>
          <p:spPr bwMode="auto">
            <a:xfrm>
              <a:off x="3846576" y="1676400"/>
              <a:ext cx="192024" cy="594360"/>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70" name="Rectangle 163">
              <a:extLst>
                <a:ext uri="{FF2B5EF4-FFF2-40B4-BE49-F238E27FC236}">
                  <a16:creationId xmlns:a16="http://schemas.microsoft.com/office/drawing/2014/main" id="{FDD6E2B3-9B58-43E2-AA97-4010774E8076}"/>
                </a:ext>
              </a:extLst>
            </p:cNvPr>
            <p:cNvSpPr>
              <a:spLocks noChangeArrowheads="1"/>
            </p:cNvSpPr>
            <p:nvPr/>
          </p:nvSpPr>
          <p:spPr bwMode="auto">
            <a:xfrm>
              <a:off x="4075176" y="1676400"/>
              <a:ext cx="192024" cy="594360"/>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71" name="Rectangle 163">
              <a:extLst>
                <a:ext uri="{FF2B5EF4-FFF2-40B4-BE49-F238E27FC236}">
                  <a16:creationId xmlns:a16="http://schemas.microsoft.com/office/drawing/2014/main" id="{C461458E-315D-4D56-94F0-02A453E33944}"/>
                </a:ext>
              </a:extLst>
            </p:cNvPr>
            <p:cNvSpPr>
              <a:spLocks noChangeArrowheads="1"/>
            </p:cNvSpPr>
            <p:nvPr/>
          </p:nvSpPr>
          <p:spPr bwMode="auto">
            <a:xfrm>
              <a:off x="4303776" y="1676400"/>
              <a:ext cx="192024" cy="594360"/>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sp>
          <p:nvSpPr>
            <p:cNvPr id="72" name="Rectangle 163">
              <a:extLst>
                <a:ext uri="{FF2B5EF4-FFF2-40B4-BE49-F238E27FC236}">
                  <a16:creationId xmlns:a16="http://schemas.microsoft.com/office/drawing/2014/main" id="{227CA0DC-08D8-4DBE-9396-050294CF5057}"/>
                </a:ext>
              </a:extLst>
            </p:cNvPr>
            <p:cNvSpPr>
              <a:spLocks noChangeArrowheads="1"/>
            </p:cNvSpPr>
            <p:nvPr/>
          </p:nvSpPr>
          <p:spPr bwMode="auto">
            <a:xfrm>
              <a:off x="4532376" y="1676400"/>
              <a:ext cx="192024" cy="594360"/>
            </a:xfrm>
            <a:prstGeom prst="rect">
              <a:avLst/>
            </a:prstGeom>
            <a:gradFill rotWithShape="1">
              <a:gsLst>
                <a:gs pos="0">
                  <a:srgbClr val="72280A"/>
                </a:gs>
                <a:gs pos="50000">
                  <a:srgbClr val="F75615"/>
                </a:gs>
                <a:gs pos="100000">
                  <a:srgbClr val="72280A"/>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zh-CN">
                <a:solidFill>
                  <a:srgbClr val="333399"/>
                </a:solidFill>
                <a:latin typeface="Arial"/>
              </a:endParaRPr>
            </a:p>
          </p:txBody>
        </p:sp>
      </p:grpSp>
      <p:sp>
        <p:nvSpPr>
          <p:cNvPr id="73" name="TextBox 58">
            <a:extLst>
              <a:ext uri="{FF2B5EF4-FFF2-40B4-BE49-F238E27FC236}">
                <a16:creationId xmlns:a16="http://schemas.microsoft.com/office/drawing/2014/main" id="{9F9ED5E0-9B8F-43DE-8ACF-4F73F825DEBE}"/>
              </a:ext>
            </a:extLst>
          </p:cNvPr>
          <p:cNvSpPr txBox="1">
            <a:spLocks noChangeArrowheads="1"/>
          </p:cNvSpPr>
          <p:nvPr/>
        </p:nvSpPr>
        <p:spPr bwMode="auto">
          <a:xfrm>
            <a:off x="4770437" y="1325563"/>
            <a:ext cx="54864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Char char="•"/>
            </a:pPr>
            <a:r>
              <a:rPr lang="en-US" altLang="zh-CN" sz="2800">
                <a:solidFill>
                  <a:srgbClr val="333333"/>
                </a:solidFill>
                <a:latin typeface="Calibri" pitchFamily="34" charset="0"/>
                <a:cs typeface="Arial" charset="0"/>
              </a:rPr>
              <a:t> Big flows buildup queues. </a:t>
            </a:r>
          </a:p>
          <a:p>
            <a:pPr lvl="1" eaLnBrk="1" hangingPunct="1">
              <a:buFont typeface="Wingdings" pitchFamily="2" charset="2"/>
              <a:buChar char="Ø"/>
            </a:pPr>
            <a:r>
              <a:rPr lang="en-US" altLang="zh-CN" sz="2400" b="1">
                <a:solidFill>
                  <a:srgbClr val="FF0000"/>
                </a:solidFill>
                <a:latin typeface="Calibri" pitchFamily="34" charset="0"/>
                <a:cs typeface="Arial" charset="0"/>
              </a:rPr>
              <a:t> Increased latency for short flows.</a:t>
            </a:r>
            <a:endParaRPr lang="en-US" altLang="zh-CN" sz="2000" b="1">
              <a:solidFill>
                <a:srgbClr val="FF0000"/>
              </a:solidFill>
              <a:latin typeface="Calibri" pitchFamily="34" charset="0"/>
            </a:endParaRPr>
          </a:p>
        </p:txBody>
      </p:sp>
      <p:sp>
        <p:nvSpPr>
          <p:cNvPr id="74" name="TextBox 59">
            <a:extLst>
              <a:ext uri="{FF2B5EF4-FFF2-40B4-BE49-F238E27FC236}">
                <a16:creationId xmlns:a16="http://schemas.microsoft.com/office/drawing/2014/main" id="{52B7A870-BD62-4378-8717-C186CF5CF6B4}"/>
              </a:ext>
            </a:extLst>
          </p:cNvPr>
          <p:cNvSpPr txBox="1">
            <a:spLocks noChangeArrowheads="1"/>
          </p:cNvSpPr>
          <p:nvPr/>
        </p:nvSpPr>
        <p:spPr bwMode="auto">
          <a:xfrm>
            <a:off x="4770437" y="5010151"/>
            <a:ext cx="5410200" cy="126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buFont typeface="Arial" charset="0"/>
              <a:buChar char="•"/>
            </a:pPr>
            <a:r>
              <a:rPr lang="en-US" altLang="zh-CN" sz="2800">
                <a:solidFill>
                  <a:srgbClr val="333333"/>
                </a:solidFill>
                <a:latin typeface="Calibri" pitchFamily="34" charset="0"/>
                <a:cs typeface="Arial" charset="0"/>
              </a:rPr>
              <a:t> Measurements in Bing cluster</a:t>
            </a:r>
          </a:p>
          <a:p>
            <a:pPr lvl="1" eaLnBrk="1" hangingPunct="1">
              <a:buFont typeface="Wingdings" pitchFamily="2" charset="2"/>
              <a:buChar char="Ø"/>
            </a:pPr>
            <a:r>
              <a:rPr lang="en-US" altLang="zh-CN" sz="2400" b="1">
                <a:solidFill>
                  <a:srgbClr val="0000CC"/>
                </a:solidFill>
                <a:latin typeface="Calibri" pitchFamily="34" charset="0"/>
                <a:cs typeface="Arial" charset="0"/>
              </a:rPr>
              <a:t> For 90% packets: RTT &lt; 1ms</a:t>
            </a:r>
          </a:p>
          <a:p>
            <a:pPr lvl="1" eaLnBrk="1" hangingPunct="1">
              <a:buFont typeface="Wingdings" pitchFamily="2" charset="2"/>
              <a:buChar char="Ø"/>
            </a:pPr>
            <a:r>
              <a:rPr lang="en-US" altLang="zh-CN" sz="2400" b="1">
                <a:solidFill>
                  <a:srgbClr val="FF0000"/>
                </a:solidFill>
                <a:latin typeface="Calibri" pitchFamily="34" charset="0"/>
                <a:cs typeface="Arial" charset="0"/>
              </a:rPr>
              <a:t> For 10% packets: 1ms &lt; RTT &lt; 15ms</a:t>
            </a:r>
            <a:endParaRPr lang="en-US" altLang="zh-CN" sz="2000" b="1">
              <a:solidFill>
                <a:srgbClr val="FF0000"/>
              </a:solidFill>
              <a:latin typeface="Calibri" pitchFamily="34" charset="0"/>
            </a:endParaRPr>
          </a:p>
        </p:txBody>
      </p:sp>
    </p:spTree>
    <p:extLst>
      <p:ext uri="{BB962C8B-B14F-4D97-AF65-F5344CB8AC3E}">
        <p14:creationId xmlns:p14="http://schemas.microsoft.com/office/powerpoint/2010/main" val="311034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1000"/>
                                        <p:tgtEl>
                                          <p:spTgt spid="48"/>
                                        </p:tgtEl>
                                      </p:cBhvr>
                                    </p:animEffect>
                                    <p:set>
                                      <p:cBhvr>
                                        <p:cTn id="11" dur="1" fill="hold">
                                          <p:stCondLst>
                                            <p:cond delay="999"/>
                                          </p:stCondLst>
                                        </p:cTn>
                                        <p:tgtEl>
                                          <p:spTgt spid="48"/>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53"/>
                                        </p:tgtEl>
                                        <p:attrNameLst>
                                          <p:attrName>style.visibility</p:attrName>
                                        </p:attrNameLst>
                                      </p:cBhvr>
                                      <p:to>
                                        <p:strVal val="visible"/>
                                      </p:to>
                                    </p:set>
                                    <p:animEffect transition="in" filter="fade">
                                      <p:cBhvr>
                                        <p:cTn id="14" dur="500"/>
                                        <p:tgtEl>
                                          <p:spTgt spid="53"/>
                                        </p:tgtEl>
                                      </p:cBhvr>
                                    </p:animEffec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5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6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4"/>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grpId="1" nodeType="clickEffect">
                                  <p:stCondLst>
                                    <p:cond delay="0"/>
                                  </p:stCondLst>
                                  <p:childTnLst>
                                    <p:animMotion origin="layout" path="M 0.01263 -0.00371 C 0.03424 0.02662 0.10742 0.13379 0.14167 0.17777 C 0.17591 0.22199 0.18451 0.24629 0.21771 0.26134 C 0.25091 0.27638 0.3151 0.26643 0.34062 0.26782 " pathEditMode="relative" rAng="0" ptsTypes="AAAA">
                                      <p:cBhvr>
                                        <p:cTn id="36" dur="1000" fill="hold"/>
                                        <p:tgtEl>
                                          <p:spTgt spid="56"/>
                                        </p:tgtEl>
                                        <p:attrNameLst>
                                          <p:attrName>ppt_x</p:attrName>
                                          <p:attrName>ppt_y</p:attrName>
                                        </p:attrNameLst>
                                      </p:cBhvr>
                                      <p:rCtr x="16393" y="13657"/>
                                    </p:animMotion>
                                  </p:childTnLst>
                                </p:cTn>
                              </p:par>
                              <p:par>
                                <p:cTn id="37" presetID="0" presetClass="path" presetSubtype="0" accel="50000" decel="50000" fill="hold" grpId="1" nodeType="withEffect">
                                  <p:stCondLst>
                                    <p:cond delay="0"/>
                                  </p:stCondLst>
                                  <p:childTnLst>
                                    <p:animMotion origin="layout" path="M 0.00898 -0.00463 C 0.01458 -0.00325 0.02708 -0.01204 0.04271 0.00324 C 0.05833 0.01851 0.07773 0.05138 0.10299 0.08657 C 0.12812 0.12175 0.16836 0.18449 0.19336 0.21481 C 0.21836 0.24513 0.22826 0.25879 0.25299 0.26782 C 0.2776 0.27685 0.32279 0.26921 0.34102 0.26944 " pathEditMode="relative" rAng="0" ptsTypes="AAAAAA">
                                      <p:cBhvr>
                                        <p:cTn id="38" dur="1000" fill="hold"/>
                                        <p:tgtEl>
                                          <p:spTgt spid="57"/>
                                        </p:tgtEl>
                                        <p:attrNameLst>
                                          <p:attrName>ppt_x</p:attrName>
                                          <p:attrName>ppt_y</p:attrName>
                                        </p:attrNameLst>
                                      </p:cBhvr>
                                      <p:rCtr x="16602" y="13773"/>
                                    </p:animMotion>
                                  </p:childTnLst>
                                </p:cTn>
                              </p:par>
                              <p:par>
                                <p:cTn id="39" presetID="0" presetClass="path" presetSubtype="0" accel="50000" decel="50000" fill="hold" grpId="1" nodeType="withEffect">
                                  <p:stCondLst>
                                    <p:cond delay="0"/>
                                  </p:stCondLst>
                                  <p:childTnLst>
                                    <p:animMotion origin="layout" path="M 0.06523 -0.00463 C 0.08542 0.02476 0.15299 0.12731 0.18633 0.17129 C 0.21966 0.2155 0.23945 0.24421 0.26523 0.26018 C 0.29115 0.27615 0.32604 0.2662 0.34206 0.26782 " pathEditMode="relative" rAng="0" ptsTypes="AAAA">
                                      <p:cBhvr>
                                        <p:cTn id="40" dur="1000" fill="hold"/>
                                        <p:tgtEl>
                                          <p:spTgt spid="63"/>
                                        </p:tgtEl>
                                        <p:attrNameLst>
                                          <p:attrName>ppt_x</p:attrName>
                                          <p:attrName>ppt_y</p:attrName>
                                        </p:attrNameLst>
                                      </p:cBhvr>
                                      <p:rCtr x="13841" y="13681"/>
                                    </p:animMotion>
                                  </p:childTnLst>
                                </p:cTn>
                              </p:par>
                              <p:par>
                                <p:cTn id="41" presetID="0" presetClass="path" presetSubtype="0" accel="50000" decel="50000" fill="hold" grpId="1" nodeType="withEffect">
                                  <p:stCondLst>
                                    <p:cond delay="0"/>
                                  </p:stCondLst>
                                  <p:childTnLst>
                                    <p:animMotion origin="layout" path="M 0.00898 -0.00463 C 0.02253 -0.00348 0.06237 -0.01922 0.09023 0.00208 C 0.11823 0.02337 0.15065 0.08796 0.17656 0.12384 C 0.20247 0.15972 0.22747 0.19351 0.24583 0.21759 C 0.26419 0.24166 0.27122 0.25972 0.2875 0.26805 C 0.30378 0.27638 0.33177 0.26782 0.34336 0.26782 " pathEditMode="relative" rAng="0" ptsTypes="AAAAAA">
                                      <p:cBhvr>
                                        <p:cTn id="42" dur="1000" fill="hold"/>
                                        <p:tgtEl>
                                          <p:spTgt spid="64"/>
                                        </p:tgtEl>
                                        <p:attrNameLst>
                                          <p:attrName>ppt_x</p:attrName>
                                          <p:attrName>ppt_y</p:attrName>
                                        </p:attrNameLst>
                                      </p:cBhvr>
                                      <p:rCtr x="16719" y="13565"/>
                                    </p:animMotion>
                                  </p:childTnLst>
                                </p:cTn>
                              </p:par>
                              <p:par>
                                <p:cTn id="43" presetID="0" presetClass="path" presetSubtype="0" accel="50000" decel="50000" fill="hold" grpId="1" nodeType="withEffect">
                                  <p:stCondLst>
                                    <p:cond delay="0"/>
                                  </p:stCondLst>
                                  <p:childTnLst>
                                    <p:animMotion origin="layout" path="M 4.16667E-7 -0.00024 C 0.01172 -0.00047 0.05104 -0.00255 0.07083 -0.00209 C 0.09062 -0.00163 0.10065 -0.01227 0.11862 0.00277 C 0.13659 0.01805 0.15781 0.05856 0.17812 0.08958 C 0.1987 0.1206 0.22044 0.15949 0.24167 0.18888 C 0.26276 0.21851 0.28802 0.25416 0.30508 0.26759 C 0.32187 0.28078 0.33529 0.26898 0.34336 0.26921 " pathEditMode="relative" rAng="0" ptsTypes="AAAAAAA">
                                      <p:cBhvr>
                                        <p:cTn id="44" dur="1000" fill="hold"/>
                                        <p:tgtEl>
                                          <p:spTgt spid="65"/>
                                        </p:tgtEl>
                                        <p:attrNameLst>
                                          <p:attrName>ppt_x</p:attrName>
                                          <p:attrName>ppt_y</p:attrName>
                                        </p:attrNameLst>
                                      </p:cBhvr>
                                      <p:rCtr x="17161" y="13449"/>
                                    </p:animMotion>
                                  </p:childTnLst>
                                </p:cTn>
                              </p:par>
                              <p:par>
                                <p:cTn id="45" presetID="0" presetClass="path" presetSubtype="0" accel="50000" decel="50000" fill="hold" grpId="1" nodeType="withEffect">
                                  <p:stCondLst>
                                    <p:cond delay="0"/>
                                  </p:stCondLst>
                                  <p:childTnLst>
                                    <p:animMotion origin="layout" path="M 2.08333E-7 0.01296 C 0.06224 -0.06852 0.12539 -0.15023 0.15781 -0.19305 C 0.19049 -0.23565 0.18411 -0.22824 0.19557 -0.24375 C 0.20703 -0.25903 0.21797 -0.27801 0.22682 -0.28542 C 0.23542 -0.29282 0.24375 -0.2875 0.24831 -0.28819 " pathEditMode="relative" rAng="0" ptsTypes="AAAAA">
                                      <p:cBhvr>
                                        <p:cTn id="46" dur="1000" fill="hold"/>
                                        <p:tgtEl>
                                          <p:spTgt spid="58"/>
                                        </p:tgtEl>
                                        <p:attrNameLst>
                                          <p:attrName>ppt_x</p:attrName>
                                          <p:attrName>ppt_y</p:attrName>
                                        </p:attrNameLst>
                                      </p:cBhvr>
                                      <p:rCtr x="12409" y="-15139"/>
                                    </p:animMotion>
                                  </p:childTnLst>
                                </p:cTn>
                              </p:par>
                              <p:par>
                                <p:cTn id="47" presetID="0" presetClass="path" presetSubtype="0" accel="50000" decel="50000" fill="hold" grpId="1" nodeType="withEffect">
                                  <p:stCondLst>
                                    <p:cond delay="0"/>
                                  </p:stCondLst>
                                  <p:childTnLst>
                                    <p:animMotion origin="layout" path="M 1.04167E-6 2.22222E-6 C 0.0056 -0.00047 0.01133 0.02176 0.03437 -0.00324 C 0.05742 -0.02824 0.10885 -0.10741 0.13815 -0.14977 C 0.16758 -0.19213 0.19323 -0.2338 0.21029 -0.25672 C 0.22734 -0.27963 0.23424 -0.28148 0.24075 -0.28773 " pathEditMode="relative" rAng="0" ptsTypes="AAAAA">
                                      <p:cBhvr>
                                        <p:cTn id="48" dur="1000" fill="hold"/>
                                        <p:tgtEl>
                                          <p:spTgt spid="59"/>
                                        </p:tgtEl>
                                        <p:attrNameLst>
                                          <p:attrName>ppt_x</p:attrName>
                                          <p:attrName>ppt_y</p:attrName>
                                        </p:attrNameLst>
                                      </p:cBhvr>
                                      <p:rCtr x="12031" y="-13958"/>
                                    </p:animMotion>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grpId="3" nodeType="clickEffect">
                                  <p:stCondLst>
                                    <p:cond delay="0"/>
                                  </p:stCondLst>
                                  <p:childTnLst>
                                    <p:animMotion origin="layout" path="M 0.24075 -0.28773 L 0.24075 0.18958 " pathEditMode="relative" rAng="0" ptsTypes="AA">
                                      <p:cBhvr>
                                        <p:cTn id="52" dur="1000" fill="hold"/>
                                        <p:tgtEl>
                                          <p:spTgt spid="59"/>
                                        </p:tgtEl>
                                        <p:attrNameLst>
                                          <p:attrName>ppt_x</p:attrName>
                                          <p:attrName>ppt_y</p:attrName>
                                        </p:attrNameLst>
                                      </p:cBhvr>
                                      <p:rCtr x="0" y="23866"/>
                                    </p:animMotion>
                                  </p:childTnLst>
                                </p:cTn>
                              </p:par>
                              <p:par>
                                <p:cTn id="53" presetID="8" presetClass="emph" presetSubtype="0" fill="hold" grpId="2" nodeType="withEffect">
                                  <p:stCondLst>
                                    <p:cond delay="0"/>
                                  </p:stCondLst>
                                  <p:childTnLst>
                                    <p:animRot by="-86400000">
                                      <p:cBhvr>
                                        <p:cTn id="54" dur="1000" fill="hold"/>
                                        <p:tgtEl>
                                          <p:spTgt spid="59"/>
                                        </p:tgtEl>
                                        <p:attrNameLst>
                                          <p:attrName>r</p:attrName>
                                        </p:attrNameLst>
                                      </p:cBhvr>
                                    </p:animRot>
                                  </p:childTnLst>
                                </p:cTn>
                              </p:par>
                            </p:childTnLst>
                          </p:cTn>
                        </p:par>
                      </p:childTnLst>
                    </p:cTn>
                  </p:par>
                  <p:par>
                    <p:cTn id="55" fill="hold">
                      <p:stCondLst>
                        <p:cond delay="indefinite"/>
                      </p:stCondLst>
                      <p:childTnLst>
                        <p:par>
                          <p:cTn id="56" fill="hold">
                            <p:stCondLst>
                              <p:cond delay="0"/>
                            </p:stCondLst>
                            <p:childTnLst>
                              <p:par>
                                <p:cTn id="57" presetID="63" presetClass="path" presetSubtype="0" accel="50000" decel="50000" fill="hold" grpId="2" nodeType="clickEffect">
                                  <p:stCondLst>
                                    <p:cond delay="0"/>
                                  </p:stCondLst>
                                  <p:childTnLst>
                                    <p:animMotion origin="layout" path="M 0.33542 0.26759 L 0.51042 0.26759 " pathEditMode="relative" rAng="0" ptsTypes="AA">
                                      <p:cBhvr>
                                        <p:cTn id="58" dur="1000" fill="hold"/>
                                        <p:tgtEl>
                                          <p:spTgt spid="56"/>
                                        </p:tgtEl>
                                        <p:attrNameLst>
                                          <p:attrName>ppt_x</p:attrName>
                                          <p:attrName>ppt_y</p:attrName>
                                        </p:attrNameLst>
                                      </p:cBhvr>
                                      <p:rCtr x="8750" y="0"/>
                                    </p:animMotion>
                                  </p:childTnLst>
                                </p:cTn>
                              </p:par>
                              <p:par>
                                <p:cTn id="59" presetID="10" presetClass="exit" presetSubtype="0" fill="hold" grpId="3" nodeType="withEffect">
                                  <p:stCondLst>
                                    <p:cond delay="500"/>
                                  </p:stCondLst>
                                  <p:childTnLst>
                                    <p:animEffect transition="out" filter="fade">
                                      <p:cBhvr>
                                        <p:cTn id="60" dur="1000"/>
                                        <p:tgtEl>
                                          <p:spTgt spid="56"/>
                                        </p:tgtEl>
                                      </p:cBhvr>
                                    </p:animEffect>
                                    <p:set>
                                      <p:cBhvr>
                                        <p:cTn id="61" dur="1" fill="hold">
                                          <p:stCondLst>
                                            <p:cond delay="999"/>
                                          </p:stCondLst>
                                        </p:cTn>
                                        <p:tgtEl>
                                          <p:spTgt spid="56"/>
                                        </p:tgtEl>
                                        <p:attrNameLst>
                                          <p:attrName>style.visibility</p:attrName>
                                        </p:attrNameLst>
                                      </p:cBhvr>
                                      <p:to>
                                        <p:strVal val="hidden"/>
                                      </p:to>
                                    </p:set>
                                  </p:childTnLst>
                                </p:cTn>
                              </p:par>
                              <p:par>
                                <p:cTn id="62" presetID="63" presetClass="path" presetSubtype="0" accel="50000" decel="50000" fill="hold" grpId="2" nodeType="withEffect">
                                  <p:stCondLst>
                                    <p:cond delay="500"/>
                                  </p:stCondLst>
                                  <p:childTnLst>
                                    <p:animMotion origin="layout" path="M 0.33607 0.26458 L 0.53542 0.26527 " pathEditMode="relative" rAng="0" ptsTypes="AA">
                                      <p:cBhvr>
                                        <p:cTn id="63" dur="1000" fill="hold"/>
                                        <p:tgtEl>
                                          <p:spTgt spid="57"/>
                                        </p:tgtEl>
                                        <p:attrNameLst>
                                          <p:attrName>ppt_x</p:attrName>
                                          <p:attrName>ppt_y</p:attrName>
                                        </p:attrNameLst>
                                      </p:cBhvr>
                                      <p:rCtr x="9961" y="23"/>
                                    </p:animMotion>
                                  </p:childTnLst>
                                </p:cTn>
                              </p:par>
                              <p:par>
                                <p:cTn id="64" presetID="10" presetClass="exit" presetSubtype="0" fill="hold" grpId="3" nodeType="withEffect">
                                  <p:stCondLst>
                                    <p:cond delay="1000"/>
                                  </p:stCondLst>
                                  <p:childTnLst>
                                    <p:animEffect transition="out" filter="fade">
                                      <p:cBhvr>
                                        <p:cTn id="65" dur="1000"/>
                                        <p:tgtEl>
                                          <p:spTgt spid="57"/>
                                        </p:tgtEl>
                                      </p:cBhvr>
                                    </p:animEffect>
                                    <p:set>
                                      <p:cBhvr>
                                        <p:cTn id="66" dur="1" fill="hold">
                                          <p:stCondLst>
                                            <p:cond delay="999"/>
                                          </p:stCondLst>
                                        </p:cTn>
                                        <p:tgtEl>
                                          <p:spTgt spid="57"/>
                                        </p:tgtEl>
                                        <p:attrNameLst>
                                          <p:attrName>style.visibility</p:attrName>
                                        </p:attrNameLst>
                                      </p:cBhvr>
                                      <p:to>
                                        <p:strVal val="hidden"/>
                                      </p:to>
                                    </p:set>
                                  </p:childTnLst>
                                </p:cTn>
                              </p:par>
                              <p:par>
                                <p:cTn id="67" presetID="63" presetClass="path" presetSubtype="0" accel="50000" decel="50000" fill="hold" nodeType="withEffect">
                                  <p:stCondLst>
                                    <p:cond delay="1000"/>
                                  </p:stCondLst>
                                  <p:childTnLst>
                                    <p:animMotion origin="layout" path="M 0.33542 0.26759 L 0.56055 0.26759 " pathEditMode="relative" rAng="0" ptsTypes="AA">
                                      <p:cBhvr>
                                        <p:cTn id="68" dur="1000" fill="hold"/>
                                        <p:tgtEl>
                                          <p:spTgt spid="63"/>
                                        </p:tgtEl>
                                        <p:attrNameLst>
                                          <p:attrName>ppt_x</p:attrName>
                                          <p:attrName>ppt_y</p:attrName>
                                        </p:attrNameLst>
                                      </p:cBhvr>
                                      <p:rCtr x="11250" y="0"/>
                                    </p:animMotion>
                                  </p:childTnLst>
                                </p:cTn>
                              </p:par>
                              <p:par>
                                <p:cTn id="69" presetID="10" presetClass="exit" presetSubtype="0" fill="hold" nodeType="withEffect">
                                  <p:stCondLst>
                                    <p:cond delay="1500"/>
                                  </p:stCondLst>
                                  <p:childTnLst>
                                    <p:animEffect transition="out" filter="fade">
                                      <p:cBhvr>
                                        <p:cTn id="70" dur="1000"/>
                                        <p:tgtEl>
                                          <p:spTgt spid="63"/>
                                        </p:tgtEl>
                                      </p:cBhvr>
                                    </p:animEffect>
                                    <p:set>
                                      <p:cBhvr>
                                        <p:cTn id="71" dur="1" fill="hold">
                                          <p:stCondLst>
                                            <p:cond delay="999"/>
                                          </p:stCondLst>
                                        </p:cTn>
                                        <p:tgtEl>
                                          <p:spTgt spid="63"/>
                                        </p:tgtEl>
                                        <p:attrNameLst>
                                          <p:attrName>style.visibility</p:attrName>
                                        </p:attrNameLst>
                                      </p:cBhvr>
                                      <p:to>
                                        <p:strVal val="hidden"/>
                                      </p:to>
                                    </p:set>
                                  </p:childTnLst>
                                </p:cTn>
                              </p:par>
                              <p:par>
                                <p:cTn id="72" presetID="63" presetClass="path" presetSubtype="0" accel="50000" decel="50000" fill="hold" nodeType="withEffect">
                                  <p:stCondLst>
                                    <p:cond delay="1500"/>
                                  </p:stCondLst>
                                  <p:childTnLst>
                                    <p:animMotion origin="layout" path="M 0.33607 0.26388 L 0.58555 0.26759 " pathEditMode="relative" rAng="0" ptsTypes="AA">
                                      <p:cBhvr>
                                        <p:cTn id="73" dur="1000" fill="hold"/>
                                        <p:tgtEl>
                                          <p:spTgt spid="64"/>
                                        </p:tgtEl>
                                        <p:attrNameLst>
                                          <p:attrName>ppt_x</p:attrName>
                                          <p:attrName>ppt_y</p:attrName>
                                        </p:attrNameLst>
                                      </p:cBhvr>
                                      <p:rCtr x="12474" y="185"/>
                                    </p:animMotion>
                                  </p:childTnLst>
                                </p:cTn>
                              </p:par>
                              <p:par>
                                <p:cTn id="74" presetID="10" presetClass="exit" presetSubtype="0" fill="hold" nodeType="withEffect">
                                  <p:stCondLst>
                                    <p:cond delay="2000"/>
                                  </p:stCondLst>
                                  <p:childTnLst>
                                    <p:animEffect transition="out" filter="fade">
                                      <p:cBhvr>
                                        <p:cTn id="75" dur="1000"/>
                                        <p:tgtEl>
                                          <p:spTgt spid="64"/>
                                        </p:tgtEl>
                                      </p:cBhvr>
                                    </p:animEffect>
                                    <p:set>
                                      <p:cBhvr>
                                        <p:cTn id="76" dur="1" fill="hold">
                                          <p:stCondLst>
                                            <p:cond delay="999"/>
                                          </p:stCondLst>
                                        </p:cTn>
                                        <p:tgtEl>
                                          <p:spTgt spid="64"/>
                                        </p:tgtEl>
                                        <p:attrNameLst>
                                          <p:attrName>style.visibility</p:attrName>
                                        </p:attrNameLst>
                                      </p:cBhvr>
                                      <p:to>
                                        <p:strVal val="hidden"/>
                                      </p:to>
                                    </p:set>
                                  </p:childTnLst>
                                </p:cTn>
                              </p:par>
                              <p:par>
                                <p:cTn id="77" presetID="63" presetClass="path" presetSubtype="0" accel="50000" decel="50000" fill="hold" grpId="2" nodeType="withEffect">
                                  <p:stCondLst>
                                    <p:cond delay="2000"/>
                                  </p:stCondLst>
                                  <p:childTnLst>
                                    <p:animMotion origin="layout" path="M 0.33242 0.26736 L 0.61888 0.26759 " pathEditMode="relative" rAng="0" ptsTypes="AA">
                                      <p:cBhvr>
                                        <p:cTn id="78" dur="1000" fill="hold"/>
                                        <p:tgtEl>
                                          <p:spTgt spid="65"/>
                                        </p:tgtEl>
                                        <p:attrNameLst>
                                          <p:attrName>ppt_x</p:attrName>
                                          <p:attrName>ppt_y</p:attrName>
                                        </p:attrNameLst>
                                      </p:cBhvr>
                                      <p:rCtr x="14323" y="0"/>
                                    </p:animMotion>
                                  </p:childTnLst>
                                </p:cTn>
                              </p:par>
                              <p:par>
                                <p:cTn id="79" presetID="10" presetClass="exit" presetSubtype="0" fill="hold" grpId="3" nodeType="withEffect">
                                  <p:stCondLst>
                                    <p:cond delay="2500"/>
                                  </p:stCondLst>
                                  <p:childTnLst>
                                    <p:animEffect transition="out" filter="fade">
                                      <p:cBhvr>
                                        <p:cTn id="80" dur="1000"/>
                                        <p:tgtEl>
                                          <p:spTgt spid="65"/>
                                        </p:tgtEl>
                                      </p:cBhvr>
                                    </p:animEffect>
                                    <p:set>
                                      <p:cBhvr>
                                        <p:cTn id="81" dur="1" fill="hold">
                                          <p:stCondLst>
                                            <p:cond delay="999"/>
                                          </p:stCondLst>
                                        </p:cTn>
                                        <p:tgtEl>
                                          <p:spTgt spid="65"/>
                                        </p:tgtEl>
                                        <p:attrNameLst>
                                          <p:attrName>style.visibility</p:attrName>
                                        </p:attrNameLst>
                                      </p:cBhvr>
                                      <p:to>
                                        <p:strVal val="hidden"/>
                                      </p:to>
                                    </p:set>
                                  </p:childTnLst>
                                </p:cTn>
                              </p:par>
                              <p:par>
                                <p:cTn id="82" presetID="63" presetClass="path" presetSubtype="0" accel="50000" decel="50000" fill="hold" grpId="2" nodeType="withEffect">
                                  <p:stCondLst>
                                    <p:cond delay="2500"/>
                                  </p:stCondLst>
                                  <p:childTnLst>
                                    <p:animMotion origin="layout" path="M 0.24831 -0.28773 L 0.53464 -0.27407 " pathEditMode="relative" rAng="0" ptsTypes="AA">
                                      <p:cBhvr>
                                        <p:cTn id="83" dur="1000" fill="hold"/>
                                        <p:tgtEl>
                                          <p:spTgt spid="58"/>
                                        </p:tgtEl>
                                        <p:attrNameLst>
                                          <p:attrName>ppt_x</p:attrName>
                                          <p:attrName>ppt_y</p:attrName>
                                        </p:attrNameLst>
                                      </p:cBhvr>
                                      <p:rCtr x="14310" y="671"/>
                                    </p:animMotion>
                                  </p:childTnLst>
                                </p:cTn>
                              </p:par>
                              <p:par>
                                <p:cTn id="84" presetID="10" presetClass="exit" presetSubtype="0" fill="hold" grpId="3" nodeType="withEffect">
                                  <p:stCondLst>
                                    <p:cond delay="3000"/>
                                  </p:stCondLst>
                                  <p:childTnLst>
                                    <p:animEffect transition="out" filter="fade">
                                      <p:cBhvr>
                                        <p:cTn id="85" dur="1000"/>
                                        <p:tgtEl>
                                          <p:spTgt spid="58"/>
                                        </p:tgtEl>
                                      </p:cBhvr>
                                    </p:animEffect>
                                    <p:set>
                                      <p:cBhvr>
                                        <p:cTn id="86" dur="1" fill="hold">
                                          <p:stCondLst>
                                            <p:cond delay="999"/>
                                          </p:stCondLst>
                                        </p:cTn>
                                        <p:tgtEl>
                                          <p:spTgt spid="58"/>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6" grpId="2" animBg="1"/>
      <p:bldP spid="56" grpId="3" animBg="1"/>
      <p:bldP spid="57" grpId="0" animBg="1"/>
      <p:bldP spid="57" grpId="1" animBg="1"/>
      <p:bldP spid="57" grpId="2" animBg="1"/>
      <p:bldP spid="57" grpId="3" animBg="1"/>
      <p:bldP spid="58" grpId="0" animBg="1"/>
      <p:bldP spid="58" grpId="1" animBg="1"/>
      <p:bldP spid="58" grpId="2" animBg="1"/>
      <p:bldP spid="58" grpId="3" animBg="1"/>
      <p:bldP spid="59" grpId="0" animBg="1"/>
      <p:bldP spid="59" grpId="1" animBg="1"/>
      <p:bldP spid="59" grpId="2" animBg="1"/>
      <p:bldP spid="59" grpId="3" animBg="1"/>
      <p:bldP spid="63" grpId="0" animBg="1"/>
      <p:bldP spid="63" grpId="1" animBg="1"/>
      <p:bldP spid="64" grpId="0" animBg="1"/>
      <p:bldP spid="64" grpId="1" animBg="1"/>
      <p:bldP spid="65" grpId="0" animBg="1"/>
      <p:bldP spid="65" grpId="1" animBg="1"/>
      <p:bldP spid="65" grpId="2" animBg="1"/>
      <p:bldP spid="65" grpId="3" animBg="1"/>
      <p:bldP spid="73" grpId="0"/>
      <p:bldP spid="7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220" name="Subtitle 2"/>
          <p:cNvSpPr>
            <a:spLocks noGrp="1"/>
          </p:cNvSpPr>
          <p:nvPr>
            <p:ph idx="1"/>
          </p:nvPr>
        </p:nvSpPr>
        <p:spPr>
          <a:xfrm>
            <a:off x="2781300" y="1990725"/>
            <a:ext cx="6686550" cy="4019550"/>
          </a:xfrm>
        </p:spPr>
        <p:txBody>
          <a:bodyPr vert="horz" lIns="91440" tIns="45720" rIns="91440" bIns="45720" rtlCol="0">
            <a:normAutofit/>
          </a:bodyPr>
          <a:lstStyle/>
          <a:p>
            <a:pPr lvl="1"/>
            <a:r>
              <a:rPr lang="en-US" altLang="zh-CN" dirty="0"/>
              <a:t>Design Issues</a:t>
            </a:r>
          </a:p>
          <a:p>
            <a:pPr lvl="1"/>
            <a:r>
              <a:rPr lang="en-US" altLang="zh-CN" dirty="0"/>
              <a:t>Routing Algorithms</a:t>
            </a:r>
          </a:p>
          <a:p>
            <a:pPr lvl="1"/>
            <a:r>
              <a:rPr lang="en-US" altLang="zh-CN" dirty="0"/>
              <a:t>Congestion Control</a:t>
            </a:r>
          </a:p>
          <a:p>
            <a:pPr lvl="1"/>
            <a:r>
              <a:rPr lang="en-US" altLang="zh-CN" b="1" dirty="0">
                <a:solidFill>
                  <a:srgbClr val="C00000"/>
                </a:solidFill>
              </a:rPr>
              <a:t>Quality of Service</a:t>
            </a:r>
          </a:p>
          <a:p>
            <a:pPr lvl="1"/>
            <a:r>
              <a:rPr lang="en-US" altLang="zh-CN" dirty="0"/>
              <a:t>Internetworking</a:t>
            </a:r>
          </a:p>
          <a:p>
            <a:pPr lvl="1"/>
            <a:r>
              <a:rPr lang="en-US" altLang="zh-CN" dirty="0"/>
              <a:t>Network Layer of the Internet</a:t>
            </a:r>
          </a:p>
        </p:txBody>
      </p:sp>
      <p:sp>
        <p:nvSpPr>
          <p:cNvPr id="2" name="矩形 1">
            <a:extLst>
              <a:ext uri="{FF2B5EF4-FFF2-40B4-BE49-F238E27FC236}">
                <a16:creationId xmlns:a16="http://schemas.microsoft.com/office/drawing/2014/main" id="{B4980F9B-94EF-4944-9E61-6B0F74FFB2A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Chapter 5</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240612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70660" name="Rectangle 3"/>
          <p:cNvSpPr>
            <a:spLocks noGrp="1" noChangeArrowheads="1"/>
          </p:cNvSpPr>
          <p:nvPr>
            <p:ph idx="1"/>
          </p:nvPr>
        </p:nvSpPr>
        <p:spPr>
          <a:xfrm>
            <a:off x="2905125" y="1990725"/>
            <a:ext cx="7315200" cy="4019550"/>
          </a:xfrm>
        </p:spPr>
        <p:txBody>
          <a:bodyPr/>
          <a:lstStyle/>
          <a:p>
            <a:pPr lvl="1"/>
            <a:r>
              <a:rPr lang="en-US" altLang="zh-CN" dirty="0">
                <a:ea typeface="宋体" panose="02010600030101010101" pitchFamily="2" charset="-122"/>
              </a:rPr>
              <a:t>Application requirements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Traffic shaping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Packet scheduling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Admission control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Integrated services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集成服务</a:t>
            </a:r>
            <a:endParaRPr lang="en-US" altLang="zh-CN" dirty="0">
              <a:ea typeface="宋体" panose="02010600030101010101" pitchFamily="2" charset="-122"/>
            </a:endParaRPr>
          </a:p>
          <a:p>
            <a:pPr lvl="1"/>
            <a:r>
              <a:rPr lang="en-US" altLang="zh-CN" dirty="0">
                <a:ea typeface="宋体" panose="02010600030101010101" pitchFamily="2" charset="-122"/>
              </a:rPr>
              <a:t>Differentiated services </a:t>
            </a:r>
            <a:r>
              <a:rPr lang="en-US" altLang="zh-CN" dirty="0">
                <a:solidFill>
                  <a:srgbClr val="0000FF"/>
                </a:solidFill>
                <a:ea typeface="宋体" panose="02010600030101010101" pitchFamily="2" charset="-122"/>
              </a:rPr>
              <a:t>» </a:t>
            </a:r>
            <a:r>
              <a:rPr lang="zh-CN" altLang="en-US" dirty="0">
                <a:solidFill>
                  <a:srgbClr val="0000FF"/>
                </a:solidFill>
                <a:ea typeface="宋体" panose="02010600030101010101" pitchFamily="2" charset="-122"/>
              </a:rPr>
              <a:t>差分服务</a:t>
            </a:r>
            <a:endParaRPr lang="en-US" altLang="zh-CN" dirty="0">
              <a:ea typeface="宋体" panose="02010600030101010101" pitchFamily="2" charset="-122"/>
            </a:endParaRPr>
          </a:p>
          <a:p>
            <a:endParaRPr lang="en-US" altLang="zh-CN" dirty="0">
              <a:ea typeface="宋体" panose="02010600030101010101" pitchFamily="2" charset="-122"/>
            </a:endParaRPr>
          </a:p>
        </p:txBody>
      </p:sp>
      <p:sp>
        <p:nvSpPr>
          <p:cNvPr id="2" name="矩形 1">
            <a:extLst>
              <a:ext uri="{FF2B5EF4-FFF2-40B4-BE49-F238E27FC236}">
                <a16:creationId xmlns:a16="http://schemas.microsoft.com/office/drawing/2014/main" id="{CBC31D52-5C05-4745-9380-1D864B0B75F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Quality of Service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705016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71684" name="Rectangle 3"/>
          <p:cNvSpPr>
            <a:spLocks noGrp="1" noChangeArrowheads="1"/>
          </p:cNvSpPr>
          <p:nvPr>
            <p:ph idx="1"/>
          </p:nvPr>
        </p:nvSpPr>
        <p:spPr>
          <a:xfrm>
            <a:off x="1544321" y="1116012"/>
            <a:ext cx="9164319" cy="1377164"/>
          </a:xfrm>
        </p:spPr>
        <p:txBody>
          <a:bodyPr>
            <a:normAutofit lnSpcReduction="10000"/>
          </a:bodyPr>
          <a:lstStyle/>
          <a:p>
            <a:r>
              <a:rPr lang="en-US" altLang="zh-CN" dirty="0">
                <a:ea typeface="宋体" panose="02010600030101010101" pitchFamily="2" charset="-122"/>
              </a:rPr>
              <a:t>Different applications care about different properties</a:t>
            </a:r>
          </a:p>
          <a:p>
            <a:pPr lvl="1"/>
            <a:r>
              <a:rPr lang="en-US" altLang="zh-CN" dirty="0">
                <a:ea typeface="宋体" panose="02010600030101010101" pitchFamily="2" charset="-122"/>
              </a:rPr>
              <a:t>We want all applications to get what they need</a:t>
            </a:r>
          </a:p>
          <a:p>
            <a:r>
              <a:rPr lang="en-US" altLang="zh-CN" dirty="0">
                <a:ea typeface="宋体" panose="02010600030101010101" pitchFamily="2" charset="-122"/>
              </a:rPr>
              <a:t>.</a:t>
            </a:r>
          </a:p>
        </p:txBody>
      </p:sp>
      <p:pic>
        <p:nvPicPr>
          <p:cNvPr id="7168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5712" y="2420938"/>
            <a:ext cx="7140575"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6" name="TextBox 8"/>
          <p:cNvSpPr txBox="1">
            <a:spLocks noChangeArrowheads="1"/>
          </p:cNvSpPr>
          <p:nvPr/>
        </p:nvSpPr>
        <p:spPr bwMode="auto">
          <a:xfrm>
            <a:off x="2862262" y="5730876"/>
            <a:ext cx="6340475"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“High” means a demanding requirement, e.g., low delay</a:t>
            </a:r>
          </a:p>
        </p:txBody>
      </p:sp>
      <p:sp>
        <p:nvSpPr>
          <p:cNvPr id="71687" name="Rectangle 9"/>
          <p:cNvSpPr>
            <a:spLocks noChangeArrowheads="1"/>
          </p:cNvSpPr>
          <p:nvPr/>
        </p:nvSpPr>
        <p:spPr bwMode="auto">
          <a:xfrm>
            <a:off x="4787900" y="3203575"/>
            <a:ext cx="1404937" cy="357188"/>
          </a:xfrm>
          <a:prstGeom prst="rect">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71688" name="Rectangle 10"/>
          <p:cNvSpPr>
            <a:spLocks noChangeArrowheads="1"/>
          </p:cNvSpPr>
          <p:nvPr/>
        </p:nvSpPr>
        <p:spPr bwMode="auto">
          <a:xfrm>
            <a:off x="4787899" y="5254625"/>
            <a:ext cx="1416050" cy="350838"/>
          </a:xfrm>
          <a:prstGeom prst="rect">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71689" name="Rectangle 11"/>
          <p:cNvSpPr>
            <a:spLocks noChangeArrowheads="1"/>
          </p:cNvSpPr>
          <p:nvPr/>
        </p:nvSpPr>
        <p:spPr bwMode="auto">
          <a:xfrm>
            <a:off x="6208711" y="4916488"/>
            <a:ext cx="1125538" cy="330200"/>
          </a:xfrm>
          <a:prstGeom prst="rect">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71690" name="Rectangle 12"/>
          <p:cNvSpPr>
            <a:spLocks noChangeArrowheads="1"/>
          </p:cNvSpPr>
          <p:nvPr/>
        </p:nvSpPr>
        <p:spPr bwMode="auto">
          <a:xfrm>
            <a:off x="6192836" y="5265738"/>
            <a:ext cx="1125538" cy="330200"/>
          </a:xfrm>
          <a:prstGeom prst="rect">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71691" name="Rectangle 13"/>
          <p:cNvSpPr>
            <a:spLocks noChangeArrowheads="1"/>
          </p:cNvSpPr>
          <p:nvPr/>
        </p:nvSpPr>
        <p:spPr bwMode="auto">
          <a:xfrm>
            <a:off x="7339011" y="4238625"/>
            <a:ext cx="1125538" cy="1366838"/>
          </a:xfrm>
          <a:prstGeom prst="rect">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2" name="圆角矩形标注 1"/>
          <p:cNvSpPr/>
          <p:nvPr/>
        </p:nvSpPr>
        <p:spPr bwMode="auto">
          <a:xfrm>
            <a:off x="9202736" y="2032960"/>
            <a:ext cx="1271204" cy="387979"/>
          </a:xfrm>
          <a:prstGeom prst="wedgeRoundRectCallout">
            <a:avLst>
              <a:gd name="adj1" fmla="val -39700"/>
              <a:gd name="adj2" fmla="val 110139"/>
              <a:gd name="adj3" fmla="val 166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r>
              <a:rPr lang="en-US" altLang="zh-CN" dirty="0">
                <a:solidFill>
                  <a:schemeClr val="tx1"/>
                </a:solidFill>
                <a:latin typeface="Arial" charset="0"/>
              </a:rPr>
              <a:t>Reliability</a:t>
            </a:r>
            <a:endParaRPr lang="zh-CN" altLang="en-US" dirty="0">
              <a:solidFill>
                <a:schemeClr val="tx1"/>
              </a:solidFill>
              <a:latin typeface="Arial" charset="0"/>
            </a:endParaRPr>
          </a:p>
        </p:txBody>
      </p:sp>
      <p:sp>
        <p:nvSpPr>
          <p:cNvPr id="3" name="矩形 2">
            <a:extLst>
              <a:ext uri="{FF2B5EF4-FFF2-40B4-BE49-F238E27FC236}">
                <a16:creationId xmlns:a16="http://schemas.microsoft.com/office/drawing/2014/main" id="{17EE52C4-46A4-49A8-80DF-7077B4E2F96A}"/>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Application Requirements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4" name="Rectangle 10">
            <a:extLst>
              <a:ext uri="{FF2B5EF4-FFF2-40B4-BE49-F238E27FC236}">
                <a16:creationId xmlns:a16="http://schemas.microsoft.com/office/drawing/2014/main" id="{453EF679-EC5F-4C3E-B599-FAA28E3347F8}"/>
              </a:ext>
            </a:extLst>
          </p:cNvPr>
          <p:cNvSpPr>
            <a:spLocks noChangeArrowheads="1"/>
          </p:cNvSpPr>
          <p:nvPr/>
        </p:nvSpPr>
        <p:spPr bwMode="auto">
          <a:xfrm>
            <a:off x="4787899" y="4557713"/>
            <a:ext cx="1416050" cy="350838"/>
          </a:xfrm>
          <a:prstGeom prst="rect">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Tree>
    <p:extLst>
      <p:ext uri="{BB962C8B-B14F-4D97-AF65-F5344CB8AC3E}">
        <p14:creationId xmlns:p14="http://schemas.microsoft.com/office/powerpoint/2010/main" val="232830224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72708" name="Rectangle 3"/>
          <p:cNvSpPr>
            <a:spLocks noGrp="1" noChangeArrowheads="1"/>
          </p:cNvSpPr>
          <p:nvPr>
            <p:ph idx="1"/>
          </p:nvPr>
        </p:nvSpPr>
        <p:spPr>
          <a:xfrm>
            <a:off x="770574" y="1256487"/>
            <a:ext cx="10642916" cy="997902"/>
          </a:xfrm>
        </p:spPr>
        <p:txBody>
          <a:bodyPr/>
          <a:lstStyle/>
          <a:p>
            <a:pPr marL="457200" indent="-457200">
              <a:buFont typeface="Arial" panose="020B0604020202020204" pitchFamily="34" charset="0"/>
              <a:buChar char="•"/>
            </a:pPr>
            <a:r>
              <a:rPr lang="en-US" altLang="zh-CN" dirty="0">
                <a:ea typeface="宋体" panose="02010600030101010101" pitchFamily="2" charset="-122"/>
              </a:rPr>
              <a:t>Network provides service with different kinds of QoS (Quality of Service) to meet application requirements </a:t>
            </a:r>
          </a:p>
        </p:txBody>
      </p:sp>
      <p:graphicFrame>
        <p:nvGraphicFramePr>
          <p:cNvPr id="8" name="Content Placeholder 6"/>
          <p:cNvGraphicFramePr>
            <a:graphicFrameLocks/>
          </p:cNvGraphicFramePr>
          <p:nvPr>
            <p:extLst>
              <p:ext uri="{D42A27DB-BD31-4B8C-83A1-F6EECF244321}">
                <p14:modId xmlns:p14="http://schemas.microsoft.com/office/powerpoint/2010/main" val="1400178133"/>
              </p:ext>
            </p:extLst>
          </p:nvPr>
        </p:nvGraphicFramePr>
        <p:xfrm>
          <a:off x="2793683" y="2711562"/>
          <a:ext cx="6102350" cy="1865315"/>
        </p:xfrm>
        <a:graphic>
          <a:graphicData uri="http://schemas.openxmlformats.org/drawingml/2006/table">
            <a:tbl>
              <a:tblPr firstRow="1" bandRow="1">
                <a:tableStyleId>{5C22544A-7EE6-4342-B048-85BDC9FD1C3A}</a:tableStyleId>
              </a:tblPr>
              <a:tblGrid>
                <a:gridCol w="3516835">
                  <a:extLst>
                    <a:ext uri="{9D8B030D-6E8A-4147-A177-3AD203B41FA5}">
                      <a16:colId xmlns:a16="http://schemas.microsoft.com/office/drawing/2014/main" val="20000"/>
                    </a:ext>
                  </a:extLst>
                </a:gridCol>
                <a:gridCol w="2585515">
                  <a:extLst>
                    <a:ext uri="{9D8B030D-6E8A-4147-A177-3AD203B41FA5}">
                      <a16:colId xmlns:a16="http://schemas.microsoft.com/office/drawing/2014/main" val="20001"/>
                    </a:ext>
                  </a:extLst>
                </a:gridCol>
              </a:tblGrid>
              <a:tr h="373063">
                <a:tc>
                  <a:txBody>
                    <a:bodyPr/>
                    <a:lstStyle/>
                    <a:p>
                      <a:pPr algn="l"/>
                      <a:r>
                        <a:rPr lang="en-US" sz="1800" dirty="0">
                          <a:ln>
                            <a:noFill/>
                          </a:ln>
                          <a:solidFill>
                            <a:schemeClr val="tx1"/>
                          </a:solidFill>
                          <a:latin typeface="Arial" pitchFamily="34" charset="0"/>
                          <a:cs typeface="Arial" pitchFamily="34" charset="0"/>
                        </a:rPr>
                        <a:t>Network</a:t>
                      </a:r>
                      <a:r>
                        <a:rPr lang="en-US" sz="1800" baseline="0" dirty="0">
                          <a:ln>
                            <a:noFill/>
                          </a:ln>
                          <a:solidFill>
                            <a:schemeClr val="tx1"/>
                          </a:solidFill>
                          <a:latin typeface="Arial" pitchFamily="34" charset="0"/>
                          <a:cs typeface="Arial" pitchFamily="34" charset="0"/>
                        </a:rPr>
                        <a:t> Service</a:t>
                      </a:r>
                      <a:endParaRPr lang="en-US" sz="1800" dirty="0">
                        <a:ln>
                          <a:noFill/>
                        </a:ln>
                        <a:solidFill>
                          <a:schemeClr val="tx1"/>
                        </a:solidFill>
                        <a:latin typeface="Arial" pitchFamily="34" charset="0"/>
                        <a:cs typeface="Arial" pitchFamily="34" charset="0"/>
                      </a:endParaRP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Application</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3063">
                <a:tc>
                  <a:txBody>
                    <a:bodyPr/>
                    <a:lstStyle/>
                    <a:p>
                      <a:pPr algn="l"/>
                      <a:r>
                        <a:rPr lang="en-US" sz="1800" dirty="0">
                          <a:ln>
                            <a:noFill/>
                          </a:ln>
                          <a:solidFill>
                            <a:schemeClr val="tx1"/>
                          </a:solidFill>
                          <a:latin typeface="Arial" pitchFamily="34" charset="0"/>
                          <a:cs typeface="Arial" pitchFamily="34" charset="0"/>
                        </a:rPr>
                        <a:t>Constant bit rate</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Telephony</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3063">
                <a:tc>
                  <a:txBody>
                    <a:bodyPr/>
                    <a:lstStyle/>
                    <a:p>
                      <a:pPr algn="l"/>
                      <a:r>
                        <a:rPr lang="en-US" sz="1800" dirty="0">
                          <a:ln>
                            <a:noFill/>
                          </a:ln>
                          <a:solidFill>
                            <a:schemeClr val="tx1"/>
                          </a:solidFill>
                          <a:latin typeface="Arial" pitchFamily="34" charset="0"/>
                          <a:cs typeface="Arial" pitchFamily="34" charset="0"/>
                        </a:rPr>
                        <a:t>Real-time variable bit rate</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Videoconferencing</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3063">
                <a:tc>
                  <a:txBody>
                    <a:bodyPr/>
                    <a:lstStyle/>
                    <a:p>
                      <a:pPr algn="l"/>
                      <a:r>
                        <a:rPr lang="en-US" sz="1800" dirty="0">
                          <a:ln>
                            <a:noFill/>
                          </a:ln>
                          <a:solidFill>
                            <a:schemeClr val="tx1"/>
                          </a:solidFill>
                          <a:latin typeface="Arial" pitchFamily="34" charset="0"/>
                          <a:cs typeface="Arial" pitchFamily="34" charset="0"/>
                        </a:rPr>
                        <a:t>Non-real-time variable bit rate</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Streaming a movie</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73063">
                <a:tc>
                  <a:txBody>
                    <a:bodyPr/>
                    <a:lstStyle/>
                    <a:p>
                      <a:pPr algn="l"/>
                      <a:r>
                        <a:rPr lang="en-US" sz="1800" dirty="0">
                          <a:ln>
                            <a:noFill/>
                          </a:ln>
                          <a:solidFill>
                            <a:schemeClr val="tx1"/>
                          </a:solidFill>
                          <a:latin typeface="Arial" pitchFamily="34" charset="0"/>
                          <a:cs typeface="Arial" pitchFamily="34" charset="0"/>
                        </a:rPr>
                        <a:t>Available bit rate</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dirty="0">
                          <a:ln>
                            <a:noFill/>
                          </a:ln>
                          <a:solidFill>
                            <a:schemeClr val="tx1"/>
                          </a:solidFill>
                          <a:latin typeface="Arial" pitchFamily="34" charset="0"/>
                          <a:cs typeface="Arial" pitchFamily="34" charset="0"/>
                        </a:rPr>
                        <a:t>File transfer</a:t>
                      </a:r>
                    </a:p>
                  </a:txBody>
                  <a:tcPr marL="94950" marR="94950">
                    <a:lnL w="19050" cap="flat" cmpd="sng" algn="ctr">
                      <a:solidFill>
                        <a:schemeClr val="tx1">
                          <a:lumMod val="50000"/>
                          <a:lumOff val="50000"/>
                        </a:schemeClr>
                      </a:solidFill>
                      <a:prstDash val="solid"/>
                      <a:round/>
                      <a:headEnd type="none" w="med" len="med"/>
                      <a:tailEnd type="none" w="med" len="med"/>
                    </a:lnL>
                    <a:lnR w="19050" cap="flat" cmpd="sng" algn="ctr">
                      <a:solidFill>
                        <a:schemeClr val="tx1">
                          <a:lumMod val="50000"/>
                          <a:lumOff val="50000"/>
                        </a:schemeClr>
                      </a:solidFill>
                      <a:prstDash val="solid"/>
                      <a:round/>
                      <a:headEnd type="none" w="med" len="med"/>
                      <a:tailEnd type="none" w="med" len="med"/>
                    </a:lnR>
                    <a:lnT w="19050" cap="flat" cmpd="sng" algn="ctr">
                      <a:solidFill>
                        <a:schemeClr val="tx1">
                          <a:lumMod val="50000"/>
                          <a:lumOff val="50000"/>
                        </a:schemeClr>
                      </a:solidFill>
                      <a:prstDash val="solid"/>
                      <a:round/>
                      <a:headEnd type="none" w="med" len="med"/>
                      <a:tailEnd type="none" w="med" len="med"/>
                    </a:lnT>
                    <a:lnB w="190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72729" name="TextBox 8"/>
          <p:cNvSpPr txBox="1">
            <a:spLocks noChangeArrowheads="1"/>
          </p:cNvSpPr>
          <p:nvPr/>
        </p:nvSpPr>
        <p:spPr bwMode="auto">
          <a:xfrm>
            <a:off x="3528553" y="5052276"/>
            <a:ext cx="4945063"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solidFill>
                  <a:srgbClr val="FF2BD8"/>
                </a:solidFill>
                <a:ea typeface="宋体" panose="02010600030101010101" pitchFamily="2" charset="-122"/>
              </a:rPr>
              <a:t>Example of QoS categories from ATM networks</a:t>
            </a:r>
          </a:p>
        </p:txBody>
      </p:sp>
      <p:sp>
        <p:nvSpPr>
          <p:cNvPr id="2" name="矩形 1">
            <a:extLst>
              <a:ext uri="{FF2B5EF4-FFF2-40B4-BE49-F238E27FC236}">
                <a16:creationId xmlns:a16="http://schemas.microsoft.com/office/drawing/2014/main" id="{9144C740-1132-4D3D-B5EF-B579B286C3C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Application Requirements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96087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74756" name="Content Placeholder 2"/>
          <p:cNvSpPr>
            <a:spLocks noGrp="1"/>
          </p:cNvSpPr>
          <p:nvPr>
            <p:ph idx="1"/>
          </p:nvPr>
        </p:nvSpPr>
        <p:spPr>
          <a:xfrm>
            <a:off x="578803" y="2000885"/>
            <a:ext cx="6457949" cy="2574506"/>
          </a:xfrm>
        </p:spPr>
        <p:txBody>
          <a:bodyPr>
            <a:normAutofit/>
          </a:bodyPr>
          <a:lstStyle/>
          <a:p>
            <a:pPr marL="457200" indent="-457200">
              <a:lnSpc>
                <a:spcPct val="100000"/>
              </a:lnSpc>
              <a:buFont typeface="Arial" panose="020B0604020202020204" pitchFamily="34" charset="0"/>
              <a:buChar char="•"/>
            </a:pPr>
            <a:r>
              <a:rPr lang="en-US" altLang="zh-CN" sz="3200" dirty="0">
                <a:ea typeface="宋体" panose="02010600030101010101" pitchFamily="2" charset="-122"/>
              </a:rPr>
              <a:t>Traffic shaping regulates the average rate and burstiness of data entering the network</a:t>
            </a:r>
          </a:p>
          <a:p>
            <a:pPr lvl="1">
              <a:lnSpc>
                <a:spcPct val="100000"/>
              </a:lnSpc>
            </a:pPr>
            <a:r>
              <a:rPr lang="en-US" altLang="zh-CN" sz="2800" dirty="0">
                <a:ea typeface="宋体" panose="02010600030101010101" pitchFamily="2" charset="-122"/>
              </a:rPr>
              <a:t>Lets us make guarantees</a:t>
            </a:r>
          </a:p>
        </p:txBody>
      </p:sp>
      <p:pic>
        <p:nvPicPr>
          <p:cNvPr id="74757" name="Picture 2"/>
          <p:cNvPicPr>
            <a:picLocks noChangeAspect="1" noChangeArrowheads="1"/>
          </p:cNvPicPr>
          <p:nvPr/>
        </p:nvPicPr>
        <p:blipFill>
          <a:blip r:embed="rId3">
            <a:extLst>
              <a:ext uri="{28A0092B-C50C-407E-A947-70E740481C1C}">
                <a14:useLocalDpi xmlns:a14="http://schemas.microsoft.com/office/drawing/2010/main" val="0"/>
              </a:ext>
            </a:extLst>
          </a:blip>
          <a:srcRect r="70042" b="11290"/>
          <a:stretch>
            <a:fillRect/>
          </a:stretch>
        </p:blipFill>
        <p:spPr bwMode="auto">
          <a:xfrm>
            <a:off x="7728904" y="1683383"/>
            <a:ext cx="3481070" cy="4122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8" name="TextBox 8"/>
          <p:cNvSpPr txBox="1">
            <a:spLocks noChangeArrowheads="1"/>
          </p:cNvSpPr>
          <p:nvPr/>
        </p:nvSpPr>
        <p:spPr bwMode="auto">
          <a:xfrm>
            <a:off x="9838056" y="3744394"/>
            <a:ext cx="1775141"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dirty="0">
                <a:ea typeface="宋体" panose="02010600030101010101" pitchFamily="2" charset="-122"/>
              </a:rPr>
              <a:t>Shape traffic here</a:t>
            </a:r>
          </a:p>
        </p:txBody>
      </p:sp>
      <p:sp>
        <p:nvSpPr>
          <p:cNvPr id="2" name="矩形 1">
            <a:extLst>
              <a:ext uri="{FF2B5EF4-FFF2-40B4-BE49-F238E27FC236}">
                <a16:creationId xmlns:a16="http://schemas.microsoft.com/office/drawing/2014/main" id="{A72882F0-7FE9-43F2-9378-4FFD7FFCF0A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Traffic Shaping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21806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75780" name="Content Placeholder 2"/>
          <p:cNvSpPr>
            <a:spLocks noGrp="1"/>
          </p:cNvSpPr>
          <p:nvPr>
            <p:ph idx="1"/>
          </p:nvPr>
        </p:nvSpPr>
        <p:spPr>
          <a:xfrm>
            <a:off x="767081" y="1132683"/>
            <a:ext cx="10871200" cy="1920398"/>
          </a:xfrm>
        </p:spPr>
        <p:txBody>
          <a:bodyPr/>
          <a:lstStyle/>
          <a:p>
            <a:r>
              <a:rPr lang="en-US" altLang="zh-CN" dirty="0">
                <a:ea typeface="宋体" panose="02010600030101010101" pitchFamily="2" charset="-122"/>
              </a:rPr>
              <a:t>Token/Leaky bucket limits both the average rate (R)  and short-term burst (B) of traffic</a:t>
            </a:r>
          </a:p>
          <a:p>
            <a:pPr lvl="1"/>
            <a:r>
              <a:rPr lang="en-US" altLang="zh-CN" dirty="0">
                <a:ea typeface="宋体" panose="02010600030101010101" pitchFamily="2" charset="-122"/>
              </a:rPr>
              <a:t>For token, bucket size is B, water enters at rate R and is removed to send; opposite for leaky.</a:t>
            </a:r>
          </a:p>
        </p:txBody>
      </p:sp>
      <p:pic>
        <p:nvPicPr>
          <p:cNvPr id="75781"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2253" b="18835"/>
          <a:stretch>
            <a:fillRect/>
          </a:stretch>
        </p:blipFill>
        <p:spPr bwMode="auto">
          <a:xfrm>
            <a:off x="3262631" y="2806384"/>
            <a:ext cx="5516563" cy="26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2" name="TextBox 5"/>
          <p:cNvSpPr txBox="1">
            <a:spLocks noChangeArrowheads="1"/>
          </p:cNvSpPr>
          <p:nvPr/>
        </p:nvSpPr>
        <p:spPr bwMode="auto">
          <a:xfrm>
            <a:off x="3332481" y="5547996"/>
            <a:ext cx="2455863" cy="6143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2000" dirty="0">
                <a:solidFill>
                  <a:srgbClr val="FF2BD8"/>
                </a:solidFill>
                <a:ea typeface="宋体" panose="02010600030101010101" pitchFamily="2" charset="-122"/>
              </a:rPr>
              <a:t>Leaky bucket</a:t>
            </a:r>
          </a:p>
          <a:p>
            <a:pPr algn="ctr" eaLnBrk="1" hangingPunct="1">
              <a:spcBef>
                <a:spcPct val="0"/>
              </a:spcBef>
              <a:buClrTx/>
              <a:buFontTx/>
              <a:buNone/>
            </a:pPr>
            <a:r>
              <a:rPr lang="en-US" altLang="zh-CN" sz="2000" dirty="0">
                <a:solidFill>
                  <a:srgbClr val="FF2BD8"/>
                </a:solidFill>
                <a:ea typeface="宋体" panose="02010600030101010101" pitchFamily="2" charset="-122"/>
              </a:rPr>
              <a:t>(need not full to send)</a:t>
            </a:r>
          </a:p>
        </p:txBody>
      </p:sp>
      <p:sp>
        <p:nvSpPr>
          <p:cNvPr id="75783" name="TextBox 6"/>
          <p:cNvSpPr txBox="1">
            <a:spLocks noChangeArrowheads="1"/>
          </p:cNvSpPr>
          <p:nvPr/>
        </p:nvSpPr>
        <p:spPr bwMode="auto">
          <a:xfrm>
            <a:off x="6329680" y="5552758"/>
            <a:ext cx="3214688" cy="615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2000" dirty="0">
                <a:solidFill>
                  <a:srgbClr val="FF2BD8"/>
                </a:solidFill>
                <a:ea typeface="宋体" panose="02010600030101010101" pitchFamily="2" charset="-122"/>
              </a:rPr>
              <a:t>Token bucket</a:t>
            </a:r>
          </a:p>
          <a:p>
            <a:pPr algn="ctr" eaLnBrk="1" hangingPunct="1">
              <a:spcBef>
                <a:spcPct val="0"/>
              </a:spcBef>
              <a:buClrTx/>
              <a:buFontTx/>
              <a:buNone/>
            </a:pPr>
            <a:r>
              <a:rPr lang="en-US" altLang="zh-CN" sz="2000" dirty="0">
                <a:solidFill>
                  <a:srgbClr val="FF2BD8"/>
                </a:solidFill>
                <a:ea typeface="宋体" panose="02010600030101010101" pitchFamily="2" charset="-122"/>
              </a:rPr>
              <a:t>(need some water to send)</a:t>
            </a:r>
          </a:p>
        </p:txBody>
      </p:sp>
      <p:sp>
        <p:nvSpPr>
          <p:cNvPr id="75784" name="TextBox 10"/>
          <p:cNvSpPr txBox="1">
            <a:spLocks noChangeArrowheads="1"/>
          </p:cNvSpPr>
          <p:nvPr/>
        </p:nvSpPr>
        <p:spPr bwMode="auto">
          <a:xfrm>
            <a:off x="3241994" y="3927159"/>
            <a:ext cx="6889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200">
                <a:ea typeface="宋体" panose="02010600030101010101" pitchFamily="2" charset="-122"/>
              </a:rPr>
              <a:t>to send</a:t>
            </a:r>
          </a:p>
        </p:txBody>
      </p:sp>
      <p:sp>
        <p:nvSpPr>
          <p:cNvPr id="75785" name="TextBox 11"/>
          <p:cNvSpPr txBox="1">
            <a:spLocks noChangeArrowheads="1"/>
          </p:cNvSpPr>
          <p:nvPr/>
        </p:nvSpPr>
        <p:spPr bwMode="auto">
          <a:xfrm>
            <a:off x="6315394" y="4620896"/>
            <a:ext cx="68738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200">
                <a:ea typeface="宋体" panose="02010600030101010101" pitchFamily="2" charset="-122"/>
              </a:rPr>
              <a:t>to send</a:t>
            </a:r>
          </a:p>
        </p:txBody>
      </p:sp>
      <p:sp>
        <p:nvSpPr>
          <p:cNvPr id="2" name="矩形 1">
            <a:extLst>
              <a:ext uri="{FF2B5EF4-FFF2-40B4-BE49-F238E27FC236}">
                <a16:creationId xmlns:a16="http://schemas.microsoft.com/office/drawing/2014/main" id="{159A21D0-DA80-46B2-A89E-613849DBE5C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Traffic Shaping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233100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157414-0357-43B5-9BD2-D0809FB8365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Packet Scheduling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F214E505-907D-41D4-BC2A-023B9FBF96F5}"/>
              </a:ext>
            </a:extLst>
          </p:cNvPr>
          <p:cNvPicPr>
            <a:picLocks noChangeAspect="1"/>
          </p:cNvPicPr>
          <p:nvPr/>
        </p:nvPicPr>
        <p:blipFill>
          <a:blip r:embed="rId2"/>
          <a:stretch>
            <a:fillRect/>
          </a:stretch>
        </p:blipFill>
        <p:spPr>
          <a:xfrm>
            <a:off x="6337739" y="1198322"/>
            <a:ext cx="4921489" cy="5050346"/>
          </a:xfrm>
          <a:prstGeom prst="rect">
            <a:avLst/>
          </a:prstGeom>
        </p:spPr>
      </p:pic>
      <p:sp>
        <p:nvSpPr>
          <p:cNvPr id="6" name="文本框 5">
            <a:extLst>
              <a:ext uri="{FF2B5EF4-FFF2-40B4-BE49-F238E27FC236}">
                <a16:creationId xmlns:a16="http://schemas.microsoft.com/office/drawing/2014/main" id="{FE5F2118-F690-4B81-A969-0E3B2A864FDF}"/>
              </a:ext>
            </a:extLst>
          </p:cNvPr>
          <p:cNvSpPr txBox="1"/>
          <p:nvPr/>
        </p:nvSpPr>
        <p:spPr>
          <a:xfrm>
            <a:off x="301659" y="1629104"/>
            <a:ext cx="5320687" cy="923330"/>
          </a:xfrm>
          <a:prstGeom prst="rect">
            <a:avLst/>
          </a:prstGeom>
          <a:noFill/>
        </p:spPr>
        <p:txBody>
          <a:bodyPr wrap="none" rtlCol="0">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报文到达的速率大于端口发送速率时，需要排队</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上行速率大于下行速率</a:t>
            </a:r>
            <a:endParaRPr lang="en-US" altLang="zh-CN" dirty="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多打一的场景</a:t>
            </a:r>
          </a:p>
        </p:txBody>
      </p:sp>
      <p:sp>
        <p:nvSpPr>
          <p:cNvPr id="7" name="箭头: 右 6">
            <a:extLst>
              <a:ext uri="{FF2B5EF4-FFF2-40B4-BE49-F238E27FC236}">
                <a16:creationId xmlns:a16="http://schemas.microsoft.com/office/drawing/2014/main" id="{A0BEA751-BC2D-4D45-84FD-0798D91DDD72}"/>
              </a:ext>
            </a:extLst>
          </p:cNvPr>
          <p:cNvSpPr/>
          <p:nvPr/>
        </p:nvSpPr>
        <p:spPr>
          <a:xfrm>
            <a:off x="483476" y="3773214"/>
            <a:ext cx="966952" cy="5323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2EAA1079-38D1-4A22-9E07-DCA4CED88C2B}"/>
              </a:ext>
            </a:extLst>
          </p:cNvPr>
          <p:cNvSpPr txBox="1"/>
          <p:nvPr/>
        </p:nvSpPr>
        <p:spPr>
          <a:xfrm>
            <a:off x="1776247" y="3790560"/>
            <a:ext cx="2736647" cy="461665"/>
          </a:xfrm>
          <a:prstGeom prst="rect">
            <a:avLst/>
          </a:prstGeom>
          <a:noFill/>
        </p:spPr>
        <p:txBody>
          <a:bodyPr wrap="none" rtlCol="0">
            <a:spAutoFit/>
          </a:bodyPr>
          <a:lstStyle/>
          <a:p>
            <a:r>
              <a:rPr lang="en-US" altLang="zh-CN" sz="2400" b="1" dirty="0">
                <a:solidFill>
                  <a:srgbClr val="FF0000"/>
                </a:solidFill>
              </a:rPr>
              <a:t>Packet Scheduling</a:t>
            </a:r>
            <a:endParaRPr lang="zh-CN" altLang="en-US" sz="2400" b="1" dirty="0">
              <a:solidFill>
                <a:srgbClr val="FF0000"/>
              </a:solidFill>
            </a:endParaRPr>
          </a:p>
        </p:txBody>
      </p:sp>
    </p:spTree>
    <p:extLst>
      <p:ext uri="{BB962C8B-B14F-4D97-AF65-F5344CB8AC3E}">
        <p14:creationId xmlns:p14="http://schemas.microsoft.com/office/powerpoint/2010/main" val="24511139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p:cNvSpPr>
            <a:spLocks noGrp="1" noChangeArrowheads="1"/>
          </p:cNvSpPr>
          <p:nvPr>
            <p:ph idx="1"/>
          </p:nvPr>
        </p:nvSpPr>
        <p:spPr>
          <a:xfrm>
            <a:off x="301660" y="1041880"/>
            <a:ext cx="11649040" cy="3803170"/>
          </a:xfrm>
        </p:spPr>
        <p:txBody>
          <a:bodyPr>
            <a:normAutofit fontScale="92500"/>
          </a:bodyPr>
          <a:lstStyle/>
          <a:p>
            <a:pPr marL="457200" indent="-457200">
              <a:lnSpc>
                <a:spcPct val="100000"/>
              </a:lnSpc>
              <a:buFont typeface="Arial" panose="020B0604020202020204" pitchFamily="34" charset="0"/>
              <a:buChar char="•"/>
            </a:pPr>
            <a:r>
              <a:rPr lang="en-US" altLang="zh-CN" sz="2400" dirty="0">
                <a:ea typeface="宋体" panose="02010600030101010101" pitchFamily="2" charset="-122"/>
              </a:rPr>
              <a:t>Algorithms that allocate router resources among the packets of a flow and between competing flows are called </a:t>
            </a:r>
            <a:r>
              <a:rPr lang="en-US" altLang="zh-CN" sz="2400" b="1" dirty="0">
                <a:ea typeface="宋体" panose="02010600030101010101" pitchFamily="2" charset="-122"/>
              </a:rPr>
              <a:t>packet scheduling algorithms</a:t>
            </a:r>
            <a:r>
              <a:rPr lang="en-US" altLang="zh-CN" sz="2400" dirty="0">
                <a:ea typeface="宋体" panose="02010600030101010101" pitchFamily="2" charset="-122"/>
              </a:rPr>
              <a:t>.</a:t>
            </a:r>
          </a:p>
          <a:p>
            <a:pPr marL="457200" indent="-457200">
              <a:lnSpc>
                <a:spcPct val="100000"/>
              </a:lnSpc>
              <a:buFont typeface="Arial" panose="020B0604020202020204" pitchFamily="34" charset="0"/>
              <a:buChar char="•"/>
            </a:pPr>
            <a:r>
              <a:rPr lang="en-US" altLang="zh-CN" sz="2400" dirty="0">
                <a:ea typeface="宋体" panose="02010600030101010101" pitchFamily="2" charset="-122"/>
              </a:rPr>
              <a:t>Each router buffers packets in a queue for each output line, and sent in the same order that they arrived. This is known as </a:t>
            </a:r>
            <a:r>
              <a:rPr lang="en-US" altLang="zh-CN" sz="2400" b="1" dirty="0">
                <a:ea typeface="宋体" panose="02010600030101010101" pitchFamily="2" charset="-122"/>
              </a:rPr>
              <a:t>FIFO (First-In First-Out), </a:t>
            </a:r>
            <a:r>
              <a:rPr lang="en-US" altLang="zh-CN" sz="2400" dirty="0">
                <a:ea typeface="宋体" panose="02010600030101010101" pitchFamily="2" charset="-122"/>
              </a:rPr>
              <a:t>or </a:t>
            </a:r>
            <a:r>
              <a:rPr lang="en-US" altLang="zh-CN" sz="2400" b="1" dirty="0">
                <a:ea typeface="宋体" panose="02010600030101010101" pitchFamily="2" charset="-122"/>
              </a:rPr>
              <a:t>FCFS (First-Come First-Serve).</a:t>
            </a:r>
          </a:p>
          <a:p>
            <a:pPr marL="457200" indent="-457200">
              <a:lnSpc>
                <a:spcPct val="100000"/>
              </a:lnSpc>
              <a:buFont typeface="Arial" panose="020B0604020202020204" pitchFamily="34" charset="0"/>
              <a:buChar char="•"/>
            </a:pPr>
            <a:r>
              <a:rPr lang="zh-CN" altLang="en-US" sz="2400" dirty="0">
                <a:ea typeface="宋体" panose="02010600030101010101" pitchFamily="2" charset="-122"/>
              </a:rPr>
              <a:t>FIFO routers usually drop newly arriving packets when the queue is full</a:t>
            </a:r>
            <a:r>
              <a:rPr lang="en-US" altLang="zh-CN" sz="2400" dirty="0">
                <a:ea typeface="宋体" panose="02010600030101010101" pitchFamily="2" charset="-122"/>
              </a:rPr>
              <a:t>,</a:t>
            </a:r>
            <a:r>
              <a:rPr lang="zh-CN" altLang="en-US" sz="2400" dirty="0">
                <a:ea typeface="宋体" panose="02010600030101010101" pitchFamily="2" charset="-122"/>
              </a:rPr>
              <a:t> this behavior is called </a:t>
            </a:r>
            <a:r>
              <a:rPr lang="zh-CN" altLang="en-US" sz="2400" b="1" dirty="0">
                <a:ea typeface="宋体" panose="02010600030101010101" pitchFamily="2" charset="-122"/>
              </a:rPr>
              <a:t>tail drop</a:t>
            </a:r>
            <a:r>
              <a:rPr lang="zh-CN" altLang="en-US" sz="2400" dirty="0">
                <a:ea typeface="宋体" panose="02010600030101010101" pitchFamily="2" charset="-122"/>
              </a:rPr>
              <a:t>. </a:t>
            </a:r>
            <a:endParaRPr lang="en-US" altLang="zh-CN" sz="2400" dirty="0">
              <a:ea typeface="宋体" panose="02010600030101010101" pitchFamily="2" charset="-122"/>
            </a:endParaRPr>
          </a:p>
          <a:p>
            <a:pPr marL="457200" indent="-457200">
              <a:lnSpc>
                <a:spcPct val="100000"/>
              </a:lnSpc>
              <a:buFont typeface="Arial" panose="020B0604020202020204" pitchFamily="34" charset="0"/>
              <a:buChar char="•"/>
            </a:pPr>
            <a:r>
              <a:rPr lang="en-US" altLang="zh-CN" sz="2400" dirty="0">
                <a:ea typeface="宋体" panose="02010600030101010101" pitchFamily="2" charset="-122"/>
              </a:rPr>
              <a:t>FIFO scheduling is simple to implement, but it is not suited to providing good QoS, because when there are multiple flows, one flow can easily affect the performance of the other flows. If the first flow is aggressive and sends large bursts of packets, they will lodge in the queue.</a:t>
            </a:r>
            <a:endParaRPr lang="zh-CN" altLang="en-US" sz="2400" dirty="0">
              <a:ea typeface="宋体" panose="02010600030101010101" pitchFamily="2" charset="-122"/>
            </a:endParaRPr>
          </a:p>
        </p:txBody>
      </p:sp>
      <p:sp>
        <p:nvSpPr>
          <p:cNvPr id="2" name="矩形 1">
            <a:extLst>
              <a:ext uri="{FF2B5EF4-FFF2-40B4-BE49-F238E27FC236}">
                <a16:creationId xmlns:a16="http://schemas.microsoft.com/office/drawing/2014/main" id="{8D157414-0357-43B5-9BD2-D0809FB8365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Packet Scheduling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050" name="Picture 2">
            <a:extLst>
              <a:ext uri="{FF2B5EF4-FFF2-40B4-BE49-F238E27FC236}">
                <a16:creationId xmlns:a16="http://schemas.microsoft.com/office/drawing/2014/main" id="{6FFB88C7-AC34-4788-89F9-C59938F32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449" y="4629151"/>
            <a:ext cx="6343651" cy="1952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53962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p:cNvSpPr>
            <a:spLocks noGrp="1" noChangeArrowheads="1"/>
          </p:cNvSpPr>
          <p:nvPr>
            <p:ph idx="1"/>
          </p:nvPr>
        </p:nvSpPr>
        <p:spPr>
          <a:xfrm>
            <a:off x="301660" y="1041880"/>
            <a:ext cx="11649040" cy="2721772"/>
          </a:xfrm>
        </p:spPr>
        <p:txBody>
          <a:bodyPr>
            <a:normAutofit/>
          </a:bodyPr>
          <a:lstStyle/>
          <a:p>
            <a:pPr marL="457200" indent="-457200">
              <a:lnSpc>
                <a:spcPct val="100000"/>
              </a:lnSpc>
              <a:buFont typeface="Arial" panose="020B0604020202020204" pitchFamily="34" charset="0"/>
              <a:buChar char="•"/>
            </a:pPr>
            <a:r>
              <a:rPr lang="en-US" altLang="zh-CN" sz="2400" dirty="0">
                <a:ea typeface="宋体" panose="02010600030101010101" pitchFamily="2" charset="-122"/>
              </a:rPr>
              <a:t>Many packet scheduling algorithms have been devised that provide stronger isolation between flows and  attempts at interference.</a:t>
            </a:r>
          </a:p>
          <a:p>
            <a:pPr marL="457200" indent="-457200">
              <a:lnSpc>
                <a:spcPct val="100000"/>
              </a:lnSpc>
              <a:buFont typeface="Arial" panose="020B0604020202020204" pitchFamily="34" charset="0"/>
              <a:buChar char="•"/>
            </a:pPr>
            <a:r>
              <a:rPr lang="en-US" altLang="zh-CN" sz="2400" dirty="0">
                <a:ea typeface="宋体" panose="02010600030101010101" pitchFamily="2" charset="-122"/>
              </a:rPr>
              <a:t>One of the first ones was the </a:t>
            </a:r>
            <a:r>
              <a:rPr lang="en-US" altLang="zh-CN" sz="2400" b="1" dirty="0">
                <a:ea typeface="宋体" panose="02010600030101010101" pitchFamily="2" charset="-122"/>
              </a:rPr>
              <a:t>fair queueing algorithm </a:t>
            </a:r>
            <a:r>
              <a:rPr lang="en-US" altLang="zh-CN" sz="2400" dirty="0">
                <a:ea typeface="宋体" panose="02010600030101010101" pitchFamily="2" charset="-122"/>
              </a:rPr>
              <a:t>devised by Nagle (1987).</a:t>
            </a:r>
          </a:p>
          <a:p>
            <a:pPr marL="457200" indent="-457200">
              <a:lnSpc>
                <a:spcPct val="100000"/>
              </a:lnSpc>
              <a:buFont typeface="Arial" panose="020B0604020202020204" pitchFamily="34" charset="0"/>
              <a:buChar char="•"/>
            </a:pPr>
            <a:r>
              <a:rPr lang="en-US" altLang="zh-CN" sz="2400" dirty="0">
                <a:ea typeface="宋体" panose="02010600030101010101" pitchFamily="2" charset="-122"/>
              </a:rPr>
              <a:t>The essence of this algorithm is that routers have separate queues, one for each flow for a given output line. When the line becomes idle, the router scans the queues round-robin, as shown in Fig.</a:t>
            </a:r>
          </a:p>
        </p:txBody>
      </p:sp>
      <p:pic>
        <p:nvPicPr>
          <p:cNvPr id="7885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0420" y="3763652"/>
            <a:ext cx="8220075"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4" name="TextBox 8"/>
          <p:cNvSpPr txBox="1">
            <a:spLocks noChangeArrowheads="1"/>
          </p:cNvSpPr>
          <p:nvPr/>
        </p:nvSpPr>
        <p:spPr bwMode="auto">
          <a:xfrm>
            <a:off x="3205956" y="6116326"/>
            <a:ext cx="38523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Example of round-robin fair queuing</a:t>
            </a:r>
          </a:p>
        </p:txBody>
      </p:sp>
      <p:sp>
        <p:nvSpPr>
          <p:cNvPr id="78855" name="TextBox 9"/>
          <p:cNvSpPr txBox="1">
            <a:spLocks noChangeArrowheads="1"/>
          </p:cNvSpPr>
          <p:nvPr/>
        </p:nvSpPr>
        <p:spPr bwMode="auto">
          <a:xfrm>
            <a:off x="3239294" y="3992252"/>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78856" name="TextBox 10"/>
          <p:cNvSpPr txBox="1">
            <a:spLocks noChangeArrowheads="1"/>
          </p:cNvSpPr>
          <p:nvPr/>
        </p:nvSpPr>
        <p:spPr bwMode="auto">
          <a:xfrm>
            <a:off x="2948781" y="4006538"/>
            <a:ext cx="298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78857" name="TextBox 11"/>
          <p:cNvSpPr txBox="1">
            <a:spLocks noChangeArrowheads="1"/>
          </p:cNvSpPr>
          <p:nvPr/>
        </p:nvSpPr>
        <p:spPr bwMode="auto">
          <a:xfrm>
            <a:off x="2620169" y="3992252"/>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1</a:t>
            </a:r>
          </a:p>
        </p:txBody>
      </p:sp>
      <p:sp>
        <p:nvSpPr>
          <p:cNvPr id="78858" name="TextBox 12"/>
          <p:cNvSpPr txBox="1">
            <a:spLocks noChangeArrowheads="1"/>
          </p:cNvSpPr>
          <p:nvPr/>
        </p:nvSpPr>
        <p:spPr bwMode="auto">
          <a:xfrm>
            <a:off x="3312319" y="4646302"/>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78859" name="TextBox 13"/>
          <p:cNvSpPr txBox="1">
            <a:spLocks noChangeArrowheads="1"/>
          </p:cNvSpPr>
          <p:nvPr/>
        </p:nvSpPr>
        <p:spPr bwMode="auto">
          <a:xfrm>
            <a:off x="3012281" y="4651063"/>
            <a:ext cx="298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2</a:t>
            </a:r>
          </a:p>
        </p:txBody>
      </p:sp>
      <p:sp>
        <p:nvSpPr>
          <p:cNvPr id="78860" name="TextBox 15"/>
          <p:cNvSpPr txBox="1">
            <a:spLocks noChangeArrowheads="1"/>
          </p:cNvSpPr>
          <p:nvPr/>
        </p:nvSpPr>
        <p:spPr bwMode="auto">
          <a:xfrm>
            <a:off x="3248819" y="5300352"/>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3</a:t>
            </a:r>
          </a:p>
        </p:txBody>
      </p:sp>
      <p:sp>
        <p:nvSpPr>
          <p:cNvPr id="78861" name="TextBox 16"/>
          <p:cNvSpPr txBox="1">
            <a:spLocks noChangeArrowheads="1"/>
          </p:cNvSpPr>
          <p:nvPr/>
        </p:nvSpPr>
        <p:spPr bwMode="auto">
          <a:xfrm>
            <a:off x="2850356" y="5314638"/>
            <a:ext cx="298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3</a:t>
            </a:r>
          </a:p>
        </p:txBody>
      </p:sp>
      <p:sp>
        <p:nvSpPr>
          <p:cNvPr id="78862" name="TextBox 17"/>
          <p:cNvSpPr txBox="1">
            <a:spLocks noChangeArrowheads="1"/>
          </p:cNvSpPr>
          <p:nvPr/>
        </p:nvSpPr>
        <p:spPr bwMode="auto">
          <a:xfrm>
            <a:off x="2463006" y="5309877"/>
            <a:ext cx="298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ea typeface="宋体" panose="02010600030101010101" pitchFamily="2" charset="-122"/>
              </a:rPr>
              <a:t>3</a:t>
            </a:r>
          </a:p>
        </p:txBody>
      </p:sp>
      <p:sp>
        <p:nvSpPr>
          <p:cNvPr id="2" name="矩形 1">
            <a:extLst>
              <a:ext uri="{FF2B5EF4-FFF2-40B4-BE49-F238E27FC236}">
                <a16:creationId xmlns:a16="http://schemas.microsoft.com/office/drawing/2014/main" id="{8D157414-0357-43B5-9BD2-D0809FB8365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Packet Scheduling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44A50CE4-9D7C-4115-A6A4-65AE2079E3B7}"/>
              </a:ext>
            </a:extLst>
          </p:cNvPr>
          <p:cNvSpPr txBox="1"/>
          <p:nvPr/>
        </p:nvSpPr>
        <p:spPr>
          <a:xfrm>
            <a:off x="9179721" y="3645611"/>
            <a:ext cx="2790822" cy="2677656"/>
          </a:xfrm>
          <a:prstGeom prst="rect">
            <a:avLst/>
          </a:prstGeom>
          <a:noFill/>
        </p:spPr>
        <p:txBody>
          <a:bodyPr wrap="square">
            <a:spAutoFit/>
          </a:bodyPr>
          <a:lstStyle/>
          <a:p>
            <a:r>
              <a:rPr lang="en-US" altLang="zh-CN" sz="2400" b="1" dirty="0">
                <a:solidFill>
                  <a:srgbClr val="C00000"/>
                </a:solidFill>
              </a:rPr>
              <a:t>T</a:t>
            </a:r>
            <a:r>
              <a:rPr lang="zh-CN" altLang="en-US" sz="2400" b="1" dirty="0">
                <a:solidFill>
                  <a:srgbClr val="C00000"/>
                </a:solidFill>
              </a:rPr>
              <a:t>he algorithm has a flaw: it gives more bandwidth to hosts that use large packets than to hosts that use small packets.</a:t>
            </a:r>
          </a:p>
        </p:txBody>
      </p:sp>
    </p:spTree>
    <p:extLst>
      <p:ext uri="{BB962C8B-B14F-4D97-AF65-F5344CB8AC3E}">
        <p14:creationId xmlns:p14="http://schemas.microsoft.com/office/powerpoint/2010/main" val="146741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79876" name="Rectangle 3"/>
          <p:cNvSpPr>
            <a:spLocks noGrp="1" noChangeArrowheads="1"/>
          </p:cNvSpPr>
          <p:nvPr>
            <p:ph idx="1"/>
          </p:nvPr>
        </p:nvSpPr>
        <p:spPr>
          <a:xfrm>
            <a:off x="601980" y="954887"/>
            <a:ext cx="11355070" cy="2309013"/>
          </a:xfrm>
        </p:spPr>
        <p:txBody>
          <a:bodyPr>
            <a:normAutofit fontScale="92500"/>
          </a:bodyPr>
          <a:lstStyle/>
          <a:p>
            <a:pPr marL="342900" indent="-342900">
              <a:lnSpc>
                <a:spcPct val="120000"/>
              </a:lnSpc>
              <a:buFont typeface="Arial" panose="020B0604020202020204" pitchFamily="34" charset="0"/>
              <a:buChar char="•"/>
            </a:pPr>
            <a:r>
              <a:rPr lang="en-US" altLang="zh-CN" sz="2400" dirty="0">
                <a:ea typeface="宋体" panose="02010600030101010101" pitchFamily="2" charset="-122"/>
              </a:rPr>
              <a:t>Demers et al. (1990) suggested an improvement: a byte-by-byte round-robin, instead of a packet-by-packet round-robin.</a:t>
            </a:r>
          </a:p>
          <a:p>
            <a:pPr marL="342900" indent="-342900">
              <a:lnSpc>
                <a:spcPct val="120000"/>
              </a:lnSpc>
              <a:buFont typeface="Arial" panose="020B0604020202020204" pitchFamily="34" charset="0"/>
              <a:buChar char="•"/>
            </a:pPr>
            <a:r>
              <a:rPr lang="en-US" altLang="zh-CN" sz="2400" dirty="0">
                <a:ea typeface="宋体" panose="02010600030101010101" pitchFamily="2" charset="-122"/>
              </a:rPr>
              <a:t>The trick is to compute a virtual time that is the number of the round at which each packet would finish being sent. Each round drains a byte from all of the queues that have data to send. The packets are then sorted in order of their finishing times and sent in that order.</a:t>
            </a:r>
          </a:p>
        </p:txBody>
      </p:sp>
      <p:pic>
        <p:nvPicPr>
          <p:cNvPr id="79877" name="Picture 2"/>
          <p:cNvPicPr>
            <a:picLocks noChangeAspect="1" noChangeArrowheads="1"/>
          </p:cNvPicPr>
          <p:nvPr/>
        </p:nvPicPr>
        <p:blipFill>
          <a:blip r:embed="rId3">
            <a:extLst>
              <a:ext uri="{28A0092B-C50C-407E-A947-70E740481C1C}">
                <a14:useLocalDpi xmlns:a14="http://schemas.microsoft.com/office/drawing/2010/main" val="0"/>
              </a:ext>
            </a:extLst>
          </a:blip>
          <a:srcRect b="14426"/>
          <a:stretch>
            <a:fillRect/>
          </a:stretch>
        </p:blipFill>
        <p:spPr bwMode="auto">
          <a:xfrm>
            <a:off x="774209" y="3248289"/>
            <a:ext cx="8181975" cy="258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8" name="TextBox 9"/>
          <p:cNvSpPr txBox="1">
            <a:spLocks noChangeArrowheads="1"/>
          </p:cNvSpPr>
          <p:nvPr/>
        </p:nvSpPr>
        <p:spPr bwMode="auto">
          <a:xfrm>
            <a:off x="1446213" y="5892800"/>
            <a:ext cx="25923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Packets may be sent out of arrival order</a:t>
            </a:r>
          </a:p>
        </p:txBody>
      </p:sp>
      <p:sp>
        <p:nvSpPr>
          <p:cNvPr id="79879" name="TextBox 10"/>
          <p:cNvSpPr txBox="1">
            <a:spLocks noChangeArrowheads="1"/>
          </p:cNvSpPr>
          <p:nvPr/>
        </p:nvSpPr>
        <p:spPr bwMode="auto">
          <a:xfrm>
            <a:off x="5688300" y="5777505"/>
            <a:ext cx="3440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solidFill>
                  <a:srgbClr val="FF2BD8"/>
                </a:solidFill>
                <a:ea typeface="宋体" panose="02010600030101010101" pitchFamily="2" charset="-122"/>
              </a:rPr>
              <a:t>Finish virtual times determine transmission order</a:t>
            </a:r>
          </a:p>
        </p:txBody>
      </p:sp>
      <p:sp>
        <p:nvSpPr>
          <p:cNvPr id="2" name="矩形 1">
            <a:extLst>
              <a:ext uri="{FF2B5EF4-FFF2-40B4-BE49-F238E27FC236}">
                <a16:creationId xmlns:a16="http://schemas.microsoft.com/office/drawing/2014/main" id="{23FEFCB8-5F44-46B3-B37F-63B0BA36E18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Packet Scheduling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28F805DD-7A0F-4886-9B62-B9CAEDD0E336}"/>
              </a:ext>
            </a:extLst>
          </p:cNvPr>
          <p:cNvSpPr txBox="1"/>
          <p:nvPr/>
        </p:nvSpPr>
        <p:spPr>
          <a:xfrm>
            <a:off x="9659623" y="4013709"/>
            <a:ext cx="2252977" cy="1569660"/>
          </a:xfrm>
          <a:prstGeom prst="rect">
            <a:avLst/>
          </a:prstGeom>
          <a:noFill/>
        </p:spPr>
        <p:txBody>
          <a:bodyPr wrap="square">
            <a:spAutoFit/>
          </a:bodyPr>
          <a:lstStyle/>
          <a:p>
            <a:r>
              <a:rPr lang="en-US" altLang="zh-CN" sz="2400" b="1" dirty="0">
                <a:solidFill>
                  <a:srgbClr val="C00000"/>
                </a:solidFill>
              </a:rPr>
              <a:t>S</a:t>
            </a:r>
            <a:r>
              <a:rPr lang="zh-CN" altLang="en-US" sz="2400" b="1" dirty="0">
                <a:solidFill>
                  <a:srgbClr val="C00000"/>
                </a:solidFill>
              </a:rPr>
              <a:t>hortcoming</a:t>
            </a:r>
            <a:r>
              <a:rPr lang="en-US" altLang="zh-CN" sz="2400" b="1" dirty="0">
                <a:solidFill>
                  <a:srgbClr val="C00000"/>
                </a:solidFill>
              </a:rPr>
              <a:t>:</a:t>
            </a:r>
          </a:p>
          <a:p>
            <a:r>
              <a:rPr lang="zh-CN" altLang="en-US" sz="2400" b="1" dirty="0">
                <a:solidFill>
                  <a:srgbClr val="C00000"/>
                </a:solidFill>
              </a:rPr>
              <a:t>it gives all hosts the same priority</a:t>
            </a:r>
          </a:p>
        </p:txBody>
      </p:sp>
    </p:spTree>
    <p:extLst>
      <p:ext uri="{BB962C8B-B14F-4D97-AF65-F5344CB8AC3E}">
        <p14:creationId xmlns:p14="http://schemas.microsoft.com/office/powerpoint/2010/main" val="169936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79876" name="Rectangle 3"/>
          <p:cNvSpPr>
            <a:spLocks noGrp="1" noChangeArrowheads="1"/>
          </p:cNvSpPr>
          <p:nvPr>
            <p:ph idx="1"/>
          </p:nvPr>
        </p:nvSpPr>
        <p:spPr>
          <a:xfrm>
            <a:off x="711200" y="988226"/>
            <a:ext cx="11176000" cy="1253324"/>
          </a:xfrm>
        </p:spPr>
        <p:txBody>
          <a:bodyPr>
            <a:normAutofit fontScale="92500"/>
          </a:bodyPr>
          <a:lstStyle/>
          <a:p>
            <a:pPr marL="457200" indent="-457200">
              <a:lnSpc>
                <a:spcPct val="120000"/>
              </a:lnSpc>
              <a:buFont typeface="Arial" panose="020B0604020202020204" pitchFamily="34" charset="0"/>
              <a:buChar char="•"/>
            </a:pPr>
            <a:r>
              <a:rPr lang="en-US" altLang="zh-CN" sz="2600" dirty="0">
                <a:ea typeface="宋体" panose="02010600030101010101" pitchFamily="2" charset="-122"/>
              </a:rPr>
              <a:t>WFQ (Weighted Fair Queueing): Letting the number of bytes per round be the weight of a flow, W, we can now give the formula for computing the finish time:</a:t>
            </a:r>
          </a:p>
        </p:txBody>
      </p:sp>
      <p:pic>
        <p:nvPicPr>
          <p:cNvPr id="79877" name="Picture 2"/>
          <p:cNvPicPr>
            <a:picLocks noChangeAspect="1" noChangeArrowheads="1"/>
          </p:cNvPicPr>
          <p:nvPr/>
        </p:nvPicPr>
        <p:blipFill>
          <a:blip r:embed="rId3">
            <a:extLst>
              <a:ext uri="{28A0092B-C50C-407E-A947-70E740481C1C}">
                <a14:useLocalDpi xmlns:a14="http://schemas.microsoft.com/office/drawing/2010/main" val="0"/>
              </a:ext>
            </a:extLst>
          </a:blip>
          <a:srcRect b="14426"/>
          <a:stretch>
            <a:fillRect/>
          </a:stretch>
        </p:blipFill>
        <p:spPr bwMode="auto">
          <a:xfrm>
            <a:off x="1795464" y="3189418"/>
            <a:ext cx="8181975" cy="258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8" name="TextBox 9"/>
          <p:cNvSpPr txBox="1">
            <a:spLocks noChangeArrowheads="1"/>
          </p:cNvSpPr>
          <p:nvPr/>
        </p:nvSpPr>
        <p:spPr bwMode="auto">
          <a:xfrm>
            <a:off x="2271714" y="5950080"/>
            <a:ext cx="25923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Packets may be sent out of arrival order</a:t>
            </a:r>
          </a:p>
        </p:txBody>
      </p:sp>
      <p:sp>
        <p:nvSpPr>
          <p:cNvPr id="79879" name="TextBox 10"/>
          <p:cNvSpPr txBox="1">
            <a:spLocks noChangeArrowheads="1"/>
          </p:cNvSpPr>
          <p:nvPr/>
        </p:nvSpPr>
        <p:spPr bwMode="auto">
          <a:xfrm>
            <a:off x="6556376" y="5935793"/>
            <a:ext cx="34401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Finish virtual times determine transmission order</a:t>
            </a:r>
          </a:p>
        </p:txBody>
      </p:sp>
      <p:sp>
        <p:nvSpPr>
          <p:cNvPr id="79880" name="TextBox 11"/>
          <p:cNvSpPr txBox="1">
            <a:spLocks noChangeArrowheads="1"/>
          </p:cNvSpPr>
          <p:nvPr/>
        </p:nvSpPr>
        <p:spPr bwMode="auto">
          <a:xfrm>
            <a:off x="6888163" y="5565905"/>
            <a:ext cx="280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2000" dirty="0">
                <a:ea typeface="宋体" panose="02010600030101010101" pitchFamily="2" charset="-122"/>
              </a:rPr>
              <a:t>F</a:t>
            </a:r>
            <a:r>
              <a:rPr lang="en-US" altLang="zh-CN" sz="2000" baseline="-25000" dirty="0">
                <a:ea typeface="宋体" panose="02010600030101010101" pitchFamily="2" charset="-122"/>
              </a:rPr>
              <a:t>i</a:t>
            </a:r>
            <a:r>
              <a:rPr lang="en-US" altLang="zh-CN" sz="2000" dirty="0">
                <a:ea typeface="宋体" panose="02010600030101010101" pitchFamily="2" charset="-122"/>
              </a:rPr>
              <a:t> = max(A</a:t>
            </a:r>
            <a:r>
              <a:rPr lang="en-US" altLang="zh-CN" sz="2000" baseline="-25000" dirty="0">
                <a:ea typeface="宋体" panose="02010600030101010101" pitchFamily="2" charset="-122"/>
              </a:rPr>
              <a:t>i</a:t>
            </a:r>
            <a:r>
              <a:rPr lang="en-US" altLang="zh-CN" sz="2000" dirty="0">
                <a:ea typeface="宋体" panose="02010600030101010101" pitchFamily="2" charset="-122"/>
              </a:rPr>
              <a:t>, F</a:t>
            </a:r>
            <a:r>
              <a:rPr lang="en-US" altLang="zh-CN" sz="2000" baseline="-25000" dirty="0">
                <a:ea typeface="宋体" panose="02010600030101010101" pitchFamily="2" charset="-122"/>
              </a:rPr>
              <a:t>i-1</a:t>
            </a:r>
            <a:r>
              <a:rPr lang="en-US" altLang="zh-CN" sz="2000" dirty="0">
                <a:ea typeface="宋体" panose="02010600030101010101" pitchFamily="2" charset="-122"/>
              </a:rPr>
              <a:t>) + L</a:t>
            </a:r>
            <a:r>
              <a:rPr lang="en-US" altLang="zh-CN" sz="2000" baseline="-25000" dirty="0">
                <a:ea typeface="宋体" panose="02010600030101010101" pitchFamily="2" charset="-122"/>
              </a:rPr>
              <a:t>i</a:t>
            </a:r>
            <a:r>
              <a:rPr lang="en-US" altLang="zh-CN" sz="2000" dirty="0">
                <a:ea typeface="宋体" panose="02010600030101010101" pitchFamily="2" charset="-122"/>
              </a:rPr>
              <a:t>/W</a:t>
            </a:r>
          </a:p>
        </p:txBody>
      </p:sp>
      <p:sp>
        <p:nvSpPr>
          <p:cNvPr id="2" name="矩形 1">
            <a:extLst>
              <a:ext uri="{FF2B5EF4-FFF2-40B4-BE49-F238E27FC236}">
                <a16:creationId xmlns:a16="http://schemas.microsoft.com/office/drawing/2014/main" id="{23FEFCB8-5F44-46B3-B37F-63B0BA36E18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Packet Scheduling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9" name="TextBox 11">
            <a:extLst>
              <a:ext uri="{FF2B5EF4-FFF2-40B4-BE49-F238E27FC236}">
                <a16:creationId xmlns:a16="http://schemas.microsoft.com/office/drawing/2014/main" id="{5F5B3DF5-A541-48C4-A588-4EE7478C9B56}"/>
              </a:ext>
            </a:extLst>
          </p:cNvPr>
          <p:cNvSpPr txBox="1">
            <a:spLocks noChangeArrowheads="1"/>
          </p:cNvSpPr>
          <p:nvPr/>
        </p:nvSpPr>
        <p:spPr bwMode="auto">
          <a:xfrm>
            <a:off x="3891757" y="1966735"/>
            <a:ext cx="33297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dirty="0">
                <a:ea typeface="宋体" panose="02010600030101010101" pitchFamily="2" charset="-122"/>
              </a:rPr>
              <a:t>F</a:t>
            </a:r>
            <a:r>
              <a:rPr lang="en-US" altLang="zh-CN" baseline="-25000" dirty="0">
                <a:ea typeface="宋体" panose="02010600030101010101" pitchFamily="2" charset="-122"/>
              </a:rPr>
              <a:t>i</a:t>
            </a:r>
            <a:r>
              <a:rPr lang="en-US" altLang="zh-CN" dirty="0">
                <a:ea typeface="宋体" panose="02010600030101010101" pitchFamily="2" charset="-122"/>
              </a:rPr>
              <a:t> = max(A</a:t>
            </a:r>
            <a:r>
              <a:rPr lang="en-US" altLang="zh-CN" baseline="-25000" dirty="0">
                <a:ea typeface="宋体" panose="02010600030101010101" pitchFamily="2" charset="-122"/>
              </a:rPr>
              <a:t>i</a:t>
            </a:r>
            <a:r>
              <a:rPr lang="en-US" altLang="zh-CN" dirty="0">
                <a:ea typeface="宋体" panose="02010600030101010101" pitchFamily="2" charset="-122"/>
              </a:rPr>
              <a:t>, F</a:t>
            </a:r>
            <a:r>
              <a:rPr lang="en-US" altLang="zh-CN" baseline="-25000" dirty="0">
                <a:ea typeface="宋体" panose="02010600030101010101" pitchFamily="2" charset="-122"/>
              </a:rPr>
              <a:t>i-1</a:t>
            </a:r>
            <a:r>
              <a:rPr lang="en-US" altLang="zh-CN" dirty="0">
                <a:ea typeface="宋体" panose="02010600030101010101" pitchFamily="2" charset="-122"/>
              </a:rPr>
              <a:t>) + L</a:t>
            </a:r>
            <a:r>
              <a:rPr lang="en-US" altLang="zh-CN" baseline="-25000" dirty="0">
                <a:ea typeface="宋体" panose="02010600030101010101" pitchFamily="2" charset="-122"/>
              </a:rPr>
              <a:t>i</a:t>
            </a:r>
            <a:r>
              <a:rPr lang="en-US" altLang="zh-CN" dirty="0">
                <a:ea typeface="宋体" panose="02010600030101010101" pitchFamily="2" charset="-122"/>
              </a:rPr>
              <a:t>/W</a:t>
            </a:r>
          </a:p>
        </p:txBody>
      </p:sp>
      <p:sp>
        <p:nvSpPr>
          <p:cNvPr id="11" name="文本框 10">
            <a:extLst>
              <a:ext uri="{FF2B5EF4-FFF2-40B4-BE49-F238E27FC236}">
                <a16:creationId xmlns:a16="http://schemas.microsoft.com/office/drawing/2014/main" id="{CA4AFD26-5AD0-489E-8F3A-22CE86EB04E4}"/>
              </a:ext>
            </a:extLst>
          </p:cNvPr>
          <p:cNvSpPr txBox="1"/>
          <p:nvPr/>
        </p:nvSpPr>
        <p:spPr>
          <a:xfrm>
            <a:off x="1249362" y="2515949"/>
            <a:ext cx="10472737" cy="461665"/>
          </a:xfrm>
          <a:prstGeom prst="rect">
            <a:avLst/>
          </a:prstGeom>
          <a:noFill/>
        </p:spPr>
        <p:txBody>
          <a:bodyPr wrap="square">
            <a:spAutoFit/>
          </a:bodyPr>
          <a:lstStyle/>
          <a:p>
            <a:r>
              <a:rPr lang="zh-CN" altLang="en-US" sz="2400" dirty="0"/>
              <a:t>A</a:t>
            </a:r>
            <a:r>
              <a:rPr lang="zh-CN" altLang="en-US" sz="2400" baseline="-25000" dirty="0"/>
              <a:t>i</a:t>
            </a:r>
            <a:r>
              <a:rPr lang="zh-CN" altLang="en-US" sz="2400" dirty="0"/>
              <a:t> is the arrival time, F</a:t>
            </a:r>
            <a:r>
              <a:rPr lang="zh-CN" altLang="en-US" sz="2400" baseline="-25000" dirty="0"/>
              <a:t>i</a:t>
            </a:r>
            <a:r>
              <a:rPr lang="zh-CN" altLang="en-US" sz="2400" dirty="0"/>
              <a:t> is the finish time, and L</a:t>
            </a:r>
            <a:r>
              <a:rPr lang="zh-CN" altLang="en-US" sz="2400" baseline="-25000" dirty="0"/>
              <a:t>i</a:t>
            </a:r>
            <a:r>
              <a:rPr lang="zh-CN" altLang="en-US" sz="2400" dirty="0"/>
              <a:t> is the length of packet i.</a:t>
            </a:r>
          </a:p>
        </p:txBody>
      </p:sp>
    </p:spTree>
    <p:extLst>
      <p:ext uri="{BB962C8B-B14F-4D97-AF65-F5344CB8AC3E}">
        <p14:creationId xmlns:p14="http://schemas.microsoft.com/office/powerpoint/2010/main" val="4674467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81924" name="Rectangle 3"/>
          <p:cNvSpPr>
            <a:spLocks noGrp="1" noChangeArrowheads="1"/>
          </p:cNvSpPr>
          <p:nvPr>
            <p:ph idx="1"/>
          </p:nvPr>
        </p:nvSpPr>
        <p:spPr>
          <a:xfrm>
            <a:off x="1320801" y="1167214"/>
            <a:ext cx="10375899" cy="1601786"/>
          </a:xfrm>
        </p:spPr>
        <p:txBody>
          <a:bodyPr/>
          <a:lstStyle/>
          <a:p>
            <a:r>
              <a:rPr lang="en-US" altLang="zh-CN" dirty="0">
                <a:ea typeface="宋体" panose="02010600030101010101" pitchFamily="2" charset="-122"/>
              </a:rPr>
              <a:t>Admission control takes a traffic </a:t>
            </a:r>
            <a:r>
              <a:rPr lang="en-US" altLang="zh-CN" b="1" dirty="0">
                <a:ea typeface="宋体" panose="02010600030101010101" pitchFamily="2" charset="-122"/>
              </a:rPr>
              <a:t>flow specification </a:t>
            </a:r>
            <a:r>
              <a:rPr lang="en-US" altLang="zh-CN" dirty="0">
                <a:ea typeface="宋体" panose="02010600030101010101" pitchFamily="2" charset="-122"/>
              </a:rPr>
              <a:t>and decides whether the network can carry it</a:t>
            </a:r>
          </a:p>
          <a:p>
            <a:pPr lvl="1"/>
            <a:r>
              <a:rPr lang="en-US" altLang="zh-CN" dirty="0">
                <a:ea typeface="宋体" panose="02010600030101010101" pitchFamily="2" charset="-122"/>
              </a:rPr>
              <a:t>Sets up packet scheduling to meet QoS</a:t>
            </a:r>
          </a:p>
        </p:txBody>
      </p:sp>
      <p:pic>
        <p:nvPicPr>
          <p:cNvPr id="819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0038" y="3136900"/>
            <a:ext cx="3917950"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6" name="TextBox 11"/>
          <p:cNvSpPr txBox="1">
            <a:spLocks noChangeArrowheads="1"/>
          </p:cNvSpPr>
          <p:nvPr/>
        </p:nvSpPr>
        <p:spPr bwMode="auto">
          <a:xfrm>
            <a:off x="3703638" y="5407025"/>
            <a:ext cx="48641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Example flow specification</a:t>
            </a:r>
          </a:p>
        </p:txBody>
      </p:sp>
      <p:sp>
        <p:nvSpPr>
          <p:cNvPr id="2" name="矩形 1">
            <a:extLst>
              <a:ext uri="{FF2B5EF4-FFF2-40B4-BE49-F238E27FC236}">
                <a16:creationId xmlns:a16="http://schemas.microsoft.com/office/drawing/2014/main" id="{434850FC-B687-43FB-9977-9F92E420CA8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Admission Control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4228866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82948" name="Rectangle 3"/>
          <p:cNvSpPr>
            <a:spLocks noGrp="1" noChangeArrowheads="1"/>
          </p:cNvSpPr>
          <p:nvPr>
            <p:ph idx="1"/>
          </p:nvPr>
        </p:nvSpPr>
        <p:spPr>
          <a:xfrm>
            <a:off x="965200" y="1037089"/>
            <a:ext cx="10909300" cy="2439986"/>
          </a:xfrm>
        </p:spPr>
        <p:txBody>
          <a:bodyPr>
            <a:normAutofit fontScale="92500" lnSpcReduction="10000"/>
          </a:bodyPr>
          <a:lstStyle/>
          <a:p>
            <a:pPr>
              <a:lnSpc>
                <a:spcPct val="110000"/>
              </a:lnSpc>
            </a:pPr>
            <a:r>
              <a:rPr lang="en-US" altLang="zh-CN" dirty="0">
                <a:ea typeface="宋体" panose="02010600030101010101" pitchFamily="2" charset="-122"/>
              </a:rPr>
              <a:t>Construction to guarantee bandwidth B and delay D:</a:t>
            </a:r>
          </a:p>
          <a:p>
            <a:pPr lvl="1">
              <a:lnSpc>
                <a:spcPct val="110000"/>
              </a:lnSpc>
            </a:pPr>
            <a:r>
              <a:rPr lang="en-US" altLang="zh-CN" dirty="0">
                <a:ea typeface="宋体" panose="02010600030101010101" pitchFamily="2" charset="-122"/>
              </a:rPr>
              <a:t>Shape traffic source to a (R, B) token bucket</a:t>
            </a:r>
          </a:p>
          <a:p>
            <a:pPr lvl="1">
              <a:lnSpc>
                <a:spcPct val="110000"/>
              </a:lnSpc>
            </a:pPr>
            <a:r>
              <a:rPr lang="en-US" altLang="zh-CN" dirty="0">
                <a:ea typeface="宋体" panose="02010600030101010101" pitchFamily="2" charset="-122"/>
              </a:rPr>
              <a:t>Run WFQ with weight </a:t>
            </a:r>
            <a:r>
              <a:rPr lang="en-US" altLang="zh-CN" b="1" dirty="0">
                <a:ea typeface="宋体" panose="02010600030101010101" pitchFamily="2" charset="-122"/>
              </a:rPr>
              <a:t>W / all weights &gt; R/capacity</a:t>
            </a:r>
            <a:r>
              <a:rPr lang="en-US" altLang="zh-CN" dirty="0">
                <a:ea typeface="宋体" panose="02010600030101010101" pitchFamily="2" charset="-122"/>
              </a:rPr>
              <a:t>: This guarantees the flow a minimum bandwidth. If it cannot be given a large enough rate, the flow cannot be admitted.</a:t>
            </a:r>
          </a:p>
          <a:p>
            <a:pPr lvl="1">
              <a:lnSpc>
                <a:spcPct val="110000"/>
              </a:lnSpc>
            </a:pPr>
            <a:r>
              <a:rPr lang="en-US" altLang="zh-CN" dirty="0">
                <a:ea typeface="宋体" panose="02010600030101010101" pitchFamily="2" charset="-122"/>
              </a:rPr>
              <a:t>Holds for all traffic patterns, all topologies</a:t>
            </a:r>
          </a:p>
        </p:txBody>
      </p:sp>
      <p:pic>
        <p:nvPicPr>
          <p:cNvPr id="8294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1425" y="3496125"/>
            <a:ext cx="737235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5C17A4A9-6DD2-49C9-BF3F-A0AA904D6E1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Admission Control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35E3E78E-702D-49B7-BA24-2DED4609A907}"/>
              </a:ext>
            </a:extLst>
          </p:cNvPr>
          <p:cNvSpPr txBox="1"/>
          <p:nvPr/>
        </p:nvSpPr>
        <p:spPr>
          <a:xfrm>
            <a:off x="1746250" y="5897210"/>
            <a:ext cx="65341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algn="ctr">
              <a:spcBef>
                <a:spcPct val="0"/>
              </a:spcBef>
              <a:buClrTx/>
              <a:buFontTx/>
              <a:buNone/>
              <a:defRPr>
                <a:solidFill>
                  <a:srgbClr val="FF2BD8"/>
                </a:solidFill>
                <a:latin typeface="Arial" panose="020B0604020202020204" pitchFamily="34" charset="0"/>
                <a:ea typeface="宋体" panose="02010600030101010101" pitchFamily="2" charset="-122"/>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latin typeface="Arial" panose="020B0604020202020204" pitchFamily="34" charset="0"/>
                <a:cs typeface="Arial" panose="020B0604020202020204" pitchFamily="34" charset="0"/>
              </a:defRPr>
            </a:lvl9pPr>
          </a:lstStyle>
          <a:p>
            <a:r>
              <a:rPr lang="zh-CN" altLang="en-US" dirty="0"/>
              <a:t>Bandwidth and delay guarantees with token buckets and WFQ.</a:t>
            </a:r>
          </a:p>
        </p:txBody>
      </p:sp>
      <p:sp>
        <p:nvSpPr>
          <p:cNvPr id="11" name="文本框 10">
            <a:extLst>
              <a:ext uri="{FF2B5EF4-FFF2-40B4-BE49-F238E27FC236}">
                <a16:creationId xmlns:a16="http://schemas.microsoft.com/office/drawing/2014/main" id="{0F0CA468-18B3-497B-88AF-D9EC5FB5966C}"/>
              </a:ext>
            </a:extLst>
          </p:cNvPr>
          <p:cNvSpPr txBox="1"/>
          <p:nvPr/>
        </p:nvSpPr>
        <p:spPr>
          <a:xfrm>
            <a:off x="8940800" y="3296687"/>
            <a:ext cx="3187700" cy="2862322"/>
          </a:xfrm>
          <a:prstGeom prst="rect">
            <a:avLst/>
          </a:prstGeom>
          <a:noFill/>
        </p:spPr>
        <p:txBody>
          <a:bodyPr wrap="square">
            <a:spAutoFit/>
          </a:bodyPr>
          <a:lstStyle/>
          <a:p>
            <a:r>
              <a:rPr lang="zh-CN" altLang="en-US" sz="2000" dirty="0"/>
              <a:t>For example, if the flow has a rate of 1 Mbps and the router and output link have a capacity of 1 Gbps, the weight for the flow must be greater than 1/1000th of the total of the weights for all of the flows at that router for the output link. </a:t>
            </a:r>
          </a:p>
        </p:txBody>
      </p:sp>
    </p:spTree>
    <p:extLst>
      <p:ext uri="{BB962C8B-B14F-4D97-AF65-F5344CB8AC3E}">
        <p14:creationId xmlns:p14="http://schemas.microsoft.com/office/powerpoint/2010/main" val="15069964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46FFBA5-07EF-46FA-8111-15BC89EC8E1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IP QoS</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基本模型</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5" name="内容占位符 2">
            <a:extLst>
              <a:ext uri="{FF2B5EF4-FFF2-40B4-BE49-F238E27FC236}">
                <a16:creationId xmlns:a16="http://schemas.microsoft.com/office/drawing/2014/main" id="{463765C1-7F03-4C98-ADD3-5ED57B7C802A}"/>
              </a:ext>
            </a:extLst>
          </p:cNvPr>
          <p:cNvSpPr>
            <a:spLocks noGrp="1"/>
          </p:cNvSpPr>
          <p:nvPr>
            <p:ph idx="1"/>
          </p:nvPr>
        </p:nvSpPr>
        <p:spPr>
          <a:xfrm>
            <a:off x="654050" y="1495425"/>
            <a:ext cx="10756900" cy="4137025"/>
          </a:xfrm>
        </p:spPr>
        <p:txBody>
          <a:bodyPr/>
          <a:lstStyle/>
          <a:p>
            <a:pPr marL="457200" indent="-457200" eaLnBrk="1" hangingPunct="1">
              <a:lnSpc>
                <a:spcPct val="100000"/>
              </a:lnSpc>
              <a:buFont typeface="Arial" panose="020B0604020202020204" pitchFamily="34" charset="0"/>
              <a:buChar char="•"/>
            </a:pPr>
            <a:r>
              <a:rPr lang="en-US" altLang="zh-CN" sz="2600" b="1" dirty="0">
                <a:latin typeface="微软雅黑" panose="020B0503020204020204" pitchFamily="34" charset="-122"/>
                <a:ea typeface="微软雅黑" panose="020B0503020204020204" pitchFamily="34" charset="-122"/>
              </a:rPr>
              <a:t>Best-Effort </a:t>
            </a:r>
            <a:r>
              <a:rPr lang="zh-CN" altLang="en-US" sz="2600" b="1" dirty="0">
                <a:latin typeface="微软雅黑" panose="020B0503020204020204" pitchFamily="34" charset="-122"/>
                <a:ea typeface="微软雅黑" panose="020B0503020204020204" pitchFamily="34" charset="-122"/>
              </a:rPr>
              <a:t>模型</a:t>
            </a:r>
            <a:r>
              <a:rPr lang="zh-CN" altLang="en-US" sz="2600" dirty="0">
                <a:latin typeface="微软雅黑" panose="020B0503020204020204" pitchFamily="34" charset="-122"/>
                <a:ea typeface="微软雅黑" panose="020B0503020204020204" pitchFamily="34" charset="-122"/>
              </a:rPr>
              <a:t>：是目前</a:t>
            </a:r>
            <a:r>
              <a:rPr lang="en-US" altLang="zh-CN" sz="2600" dirty="0">
                <a:latin typeface="微软雅黑" panose="020B0503020204020204" pitchFamily="34" charset="-122"/>
                <a:ea typeface="微软雅黑" panose="020B0503020204020204" pitchFamily="34" charset="-122"/>
              </a:rPr>
              <a:t>Internet</a:t>
            </a:r>
            <a:r>
              <a:rPr lang="zh-CN" altLang="en-US" sz="2600" dirty="0">
                <a:latin typeface="微软雅黑" panose="020B0503020204020204" pitchFamily="34" charset="-122"/>
                <a:ea typeface="微软雅黑" panose="020B0503020204020204" pitchFamily="34" charset="-122"/>
              </a:rPr>
              <a:t>的缺省服务模型，主要实现技术是先进先出队列</a:t>
            </a:r>
            <a:r>
              <a:rPr lang="en-US" altLang="zh-CN" sz="2600" dirty="0">
                <a:latin typeface="微软雅黑" panose="020B0503020204020204" pitchFamily="34" charset="-122"/>
                <a:ea typeface="微软雅黑" panose="020B0503020204020204" pitchFamily="34" charset="-122"/>
              </a:rPr>
              <a:t>(FIFO)</a:t>
            </a:r>
          </a:p>
          <a:p>
            <a:pPr marL="457200" indent="-457200" eaLnBrk="1" hangingPunct="1">
              <a:lnSpc>
                <a:spcPct val="100000"/>
              </a:lnSpc>
              <a:buFont typeface="Arial" panose="020B0604020202020204" pitchFamily="34" charset="0"/>
              <a:buChar char="•"/>
            </a:pPr>
            <a:r>
              <a:rPr lang="en-US" altLang="zh-CN" sz="2600" b="1" dirty="0">
                <a:latin typeface="微软雅黑" panose="020B0503020204020204" pitchFamily="34" charset="-122"/>
                <a:ea typeface="微软雅黑" panose="020B0503020204020204" pitchFamily="34" charset="-122"/>
              </a:rPr>
              <a:t>Integrated Service</a:t>
            </a:r>
            <a:r>
              <a:rPr lang="zh-CN" altLang="en-US" sz="2600" b="1" dirty="0">
                <a:latin typeface="微软雅黑" panose="020B0503020204020204" pitchFamily="34" charset="-122"/>
                <a:ea typeface="微软雅黑" panose="020B0503020204020204" pitchFamily="34" charset="-122"/>
              </a:rPr>
              <a:t>模型</a:t>
            </a:r>
            <a:r>
              <a:rPr lang="en-US" altLang="zh-CN" sz="2600" b="1" dirty="0">
                <a:latin typeface="微软雅黑" panose="020B0503020204020204" pitchFamily="34" charset="-122"/>
                <a:ea typeface="微软雅黑" panose="020B0503020204020204" pitchFamily="34" charset="-122"/>
              </a:rPr>
              <a:t>(</a:t>
            </a:r>
            <a:r>
              <a:rPr lang="zh-CN" altLang="en-US" sz="2600" b="1" dirty="0">
                <a:latin typeface="微软雅黑" panose="020B0503020204020204" pitchFamily="34" charset="-122"/>
                <a:ea typeface="微软雅黑" panose="020B0503020204020204" pitchFamily="34" charset="-122"/>
              </a:rPr>
              <a:t>集成服务</a:t>
            </a:r>
            <a:r>
              <a:rPr lang="en-US" altLang="zh-CN" sz="2600" b="1"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：是端到端的基于流的</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技术。业务通过信令向网络申请特定的</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服务，网络在流量参数描述的范围内，预留资源以承诺满足该请求</a:t>
            </a:r>
          </a:p>
          <a:p>
            <a:pPr marL="457200" indent="-457200" eaLnBrk="1" hangingPunct="1">
              <a:lnSpc>
                <a:spcPct val="100000"/>
              </a:lnSpc>
              <a:buFont typeface="Arial" panose="020B0604020202020204" pitchFamily="34" charset="0"/>
              <a:buChar char="•"/>
            </a:pPr>
            <a:r>
              <a:rPr lang="zh-CN" altLang="en-US" sz="2600" b="1" dirty="0">
                <a:latin typeface="微软雅黑" panose="020B0503020204020204" pitchFamily="34" charset="-122"/>
                <a:ea typeface="微软雅黑" panose="020B0503020204020204" pitchFamily="34" charset="-122"/>
              </a:rPr>
              <a:t> </a:t>
            </a:r>
            <a:r>
              <a:rPr lang="en-US" altLang="zh-CN" sz="2600" b="1" dirty="0">
                <a:latin typeface="微软雅黑" panose="020B0503020204020204" pitchFamily="34" charset="-122"/>
                <a:ea typeface="微软雅黑" panose="020B0503020204020204" pitchFamily="34" charset="-122"/>
              </a:rPr>
              <a:t>Differentiated Service</a:t>
            </a:r>
            <a:r>
              <a:rPr lang="zh-CN" altLang="en-US" sz="2600" b="1" dirty="0">
                <a:latin typeface="微软雅黑" panose="020B0503020204020204" pitchFamily="34" charset="-122"/>
                <a:ea typeface="微软雅黑" panose="020B0503020204020204" pitchFamily="34" charset="-122"/>
              </a:rPr>
              <a:t>模型</a:t>
            </a:r>
            <a:r>
              <a:rPr lang="en-US" altLang="zh-CN" sz="2600" b="1" dirty="0">
                <a:latin typeface="微软雅黑" panose="020B0503020204020204" pitchFamily="34" charset="-122"/>
                <a:ea typeface="微软雅黑" panose="020B0503020204020204" pitchFamily="34" charset="-122"/>
              </a:rPr>
              <a:t>(</a:t>
            </a:r>
            <a:r>
              <a:rPr lang="zh-CN" altLang="en-US" sz="2600" b="1" dirty="0">
                <a:latin typeface="微软雅黑" panose="020B0503020204020204" pitchFamily="34" charset="-122"/>
                <a:ea typeface="微软雅黑" panose="020B0503020204020204" pitchFamily="34" charset="-122"/>
              </a:rPr>
              <a:t>差分服务</a:t>
            </a:r>
            <a:r>
              <a:rPr lang="en-US" altLang="zh-CN" sz="2600" b="1"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：是一种基于类的</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技术，将数据流按</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要求进行简单分类，当网络出现拥塞时，根据业务的不同服务等级约定，有差别地进行流量控制和转发来解决拥塞问题</a:t>
            </a:r>
          </a:p>
          <a:p>
            <a:pPr marL="457200" indent="-457200" eaLnBrk="1" hangingPunct="1">
              <a:lnSpc>
                <a:spcPct val="100000"/>
              </a:lnSpc>
              <a:buFont typeface="Arial" panose="020B0604020202020204" pitchFamily="34" charset="0"/>
              <a:buChar char="•"/>
            </a:pPr>
            <a:endParaRPr lang="zh-CN" altLang="en-US" sz="2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3674205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84996" name="Content Placeholder 2"/>
          <p:cNvSpPr>
            <a:spLocks noGrp="1"/>
          </p:cNvSpPr>
          <p:nvPr>
            <p:ph idx="1"/>
          </p:nvPr>
        </p:nvSpPr>
        <p:spPr>
          <a:xfrm>
            <a:off x="670561" y="1477815"/>
            <a:ext cx="11424620" cy="2973386"/>
          </a:xfrm>
        </p:spPr>
        <p:txBody>
          <a:bodyPr/>
          <a:lstStyle/>
          <a:p>
            <a:r>
              <a:rPr lang="en-US" altLang="zh-CN" dirty="0">
                <a:ea typeface="宋体" panose="02010600030101010101" pitchFamily="2" charset="-122"/>
              </a:rPr>
              <a:t>Design with QoS for each flow; handles multicast traffic.</a:t>
            </a:r>
          </a:p>
          <a:p>
            <a:r>
              <a:rPr lang="en-US" altLang="zh-CN" dirty="0">
                <a:ea typeface="宋体" panose="02010600030101010101" pitchFamily="2" charset="-122"/>
              </a:rPr>
              <a:t>Admission with RSVP (Resource </a:t>
            </a:r>
            <a:r>
              <a:rPr lang="en-US" altLang="zh-CN" dirty="0" err="1">
                <a:ea typeface="宋体" panose="02010600030101010101" pitchFamily="2" charset="-122"/>
              </a:rPr>
              <a:t>reSerVation</a:t>
            </a:r>
            <a:r>
              <a:rPr lang="en-US" altLang="zh-CN" dirty="0">
                <a:ea typeface="宋体" panose="02010600030101010101" pitchFamily="2" charset="-122"/>
              </a:rPr>
              <a:t> Protocol</a:t>
            </a:r>
            <a:r>
              <a:rPr lang="zh-CN" altLang="en-US" dirty="0">
                <a:ea typeface="宋体" panose="02010600030101010101" pitchFamily="2" charset="-122"/>
              </a:rPr>
              <a:t>，</a:t>
            </a:r>
            <a:r>
              <a:rPr lang="en-US" altLang="zh-CN" sz="2400" dirty="0"/>
              <a:t>RFCs 2205–2210</a:t>
            </a:r>
            <a:r>
              <a:rPr lang="en-US" altLang="zh-CN" dirty="0">
                <a:ea typeface="宋体" panose="02010600030101010101" pitchFamily="2" charset="-122"/>
              </a:rPr>
              <a:t>):</a:t>
            </a:r>
          </a:p>
          <a:p>
            <a:pPr lvl="1"/>
            <a:r>
              <a:rPr lang="en-US" altLang="zh-CN" dirty="0">
                <a:ea typeface="宋体" panose="02010600030101010101" pitchFamily="2" charset="-122"/>
              </a:rPr>
              <a:t>Receiver sends a request back to the sender</a:t>
            </a:r>
          </a:p>
          <a:p>
            <a:pPr lvl="1"/>
            <a:r>
              <a:rPr lang="en-US" altLang="zh-CN" dirty="0">
                <a:ea typeface="宋体" panose="02010600030101010101" pitchFamily="2" charset="-122"/>
              </a:rPr>
              <a:t>Each router along the way reserves resources</a:t>
            </a:r>
          </a:p>
          <a:p>
            <a:pPr lvl="1"/>
            <a:r>
              <a:rPr lang="en-US" altLang="zh-CN" dirty="0">
                <a:ea typeface="宋体" panose="02010600030101010101" pitchFamily="2" charset="-122"/>
              </a:rPr>
              <a:t>Routers merge multiple requests for same flow</a:t>
            </a:r>
          </a:p>
          <a:p>
            <a:pPr lvl="1"/>
            <a:r>
              <a:rPr lang="en-US" altLang="zh-CN" dirty="0">
                <a:ea typeface="宋体" panose="02010600030101010101" pitchFamily="2" charset="-122"/>
              </a:rPr>
              <a:t>Entire path is set up, or reservation not made</a:t>
            </a:r>
          </a:p>
        </p:txBody>
      </p:sp>
      <p:sp>
        <p:nvSpPr>
          <p:cNvPr id="2" name="矩形 1">
            <a:extLst>
              <a:ext uri="{FF2B5EF4-FFF2-40B4-BE49-F238E27FC236}">
                <a16:creationId xmlns:a16="http://schemas.microsoft.com/office/drawing/2014/main" id="{A4961874-22B8-40DB-92DB-5FB30A84AF2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Integrated Services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6810726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86020" name="Picture 2"/>
          <p:cNvPicPr>
            <a:picLocks noChangeAspect="1" noChangeArrowheads="1"/>
          </p:cNvPicPr>
          <p:nvPr/>
        </p:nvPicPr>
        <p:blipFill>
          <a:blip r:embed="rId3">
            <a:extLst>
              <a:ext uri="{28A0092B-C50C-407E-A947-70E740481C1C}">
                <a14:useLocalDpi xmlns:a14="http://schemas.microsoft.com/office/drawing/2010/main" val="0"/>
              </a:ext>
            </a:extLst>
          </a:blip>
          <a:srcRect b="8679"/>
          <a:stretch>
            <a:fillRect/>
          </a:stretch>
        </p:blipFill>
        <p:spPr bwMode="auto">
          <a:xfrm>
            <a:off x="2379663" y="1389063"/>
            <a:ext cx="7410450"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1" name="TextBox 5"/>
          <p:cNvSpPr txBox="1">
            <a:spLocks noChangeArrowheads="1"/>
          </p:cNvSpPr>
          <p:nvPr/>
        </p:nvSpPr>
        <p:spPr bwMode="auto">
          <a:xfrm>
            <a:off x="2349500" y="5191126"/>
            <a:ext cx="21542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R3 reserves flow from S1</a:t>
            </a:r>
          </a:p>
        </p:txBody>
      </p:sp>
      <p:sp>
        <p:nvSpPr>
          <p:cNvPr id="86022" name="TextBox 6"/>
          <p:cNvSpPr txBox="1">
            <a:spLocks noChangeArrowheads="1"/>
          </p:cNvSpPr>
          <p:nvPr/>
        </p:nvSpPr>
        <p:spPr bwMode="auto">
          <a:xfrm>
            <a:off x="5010150" y="5216526"/>
            <a:ext cx="21288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R3 reserves flow from S2</a:t>
            </a:r>
          </a:p>
        </p:txBody>
      </p:sp>
      <p:sp>
        <p:nvSpPr>
          <p:cNvPr id="86023" name="TextBox 7"/>
          <p:cNvSpPr txBox="1">
            <a:spLocks noChangeArrowheads="1"/>
          </p:cNvSpPr>
          <p:nvPr/>
        </p:nvSpPr>
        <p:spPr bwMode="auto">
          <a:xfrm>
            <a:off x="7275514" y="5200650"/>
            <a:ext cx="3038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a:solidFill>
                  <a:srgbClr val="FF2BD8"/>
                </a:solidFill>
                <a:ea typeface="宋体" panose="02010600030101010101" pitchFamily="2" charset="-122"/>
              </a:rPr>
              <a:t>R5 reserves flow from S1; merged with R3 at H</a:t>
            </a:r>
          </a:p>
        </p:txBody>
      </p:sp>
      <p:cxnSp>
        <p:nvCxnSpPr>
          <p:cNvPr id="86024" name="Straight Arrow Connector 13"/>
          <p:cNvCxnSpPr>
            <a:cxnSpLocks noChangeShapeType="1"/>
          </p:cNvCxnSpPr>
          <p:nvPr/>
        </p:nvCxnSpPr>
        <p:spPr bwMode="auto">
          <a:xfrm>
            <a:off x="8386764" y="3392489"/>
            <a:ext cx="276225" cy="14763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86025" name="TextBox 14"/>
          <p:cNvSpPr txBox="1">
            <a:spLocks noChangeArrowheads="1"/>
          </p:cNvSpPr>
          <p:nvPr/>
        </p:nvSpPr>
        <p:spPr bwMode="auto">
          <a:xfrm>
            <a:off x="7620000" y="3136900"/>
            <a:ext cx="838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Merge</a:t>
            </a:r>
          </a:p>
        </p:txBody>
      </p:sp>
      <p:sp>
        <p:nvSpPr>
          <p:cNvPr id="2" name="矩形 1">
            <a:extLst>
              <a:ext uri="{FF2B5EF4-FFF2-40B4-BE49-F238E27FC236}">
                <a16:creationId xmlns:a16="http://schemas.microsoft.com/office/drawing/2014/main" id="{A3697620-D1B8-43BE-9F7E-E013959B50E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Integrated Services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5236934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sp>
        <p:nvSpPr>
          <p:cNvPr id="2" name="矩形 1">
            <a:extLst>
              <a:ext uri="{FF2B5EF4-FFF2-40B4-BE49-F238E27FC236}">
                <a16:creationId xmlns:a16="http://schemas.microsoft.com/office/drawing/2014/main" id="{A3697620-D1B8-43BE-9F7E-E013959B50E1}"/>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Integrated Services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0" name="内容占位符 2">
            <a:extLst>
              <a:ext uri="{FF2B5EF4-FFF2-40B4-BE49-F238E27FC236}">
                <a16:creationId xmlns:a16="http://schemas.microsoft.com/office/drawing/2014/main" id="{8350436D-3A6B-4BB1-B6F1-AB534FDEED81}"/>
              </a:ext>
            </a:extLst>
          </p:cNvPr>
          <p:cNvSpPr>
            <a:spLocks noGrp="1"/>
          </p:cNvSpPr>
          <p:nvPr>
            <p:ph idx="1"/>
          </p:nvPr>
        </p:nvSpPr>
        <p:spPr>
          <a:xfrm>
            <a:off x="425450" y="1058068"/>
            <a:ext cx="11341100" cy="5298282"/>
          </a:xfrm>
        </p:spPr>
        <p:txBody>
          <a:bodyPr>
            <a:normAutofit fontScale="85000" lnSpcReduction="20000"/>
          </a:bodyPr>
          <a:lstStyle/>
          <a:p>
            <a:pPr eaLnBrk="1" hangingPunct="1">
              <a:lnSpc>
                <a:spcPct val="120000"/>
              </a:lnSpc>
            </a:pPr>
            <a:r>
              <a:rPr lang="en-US" altLang="zh-CN" sz="2600" dirty="0">
                <a:latin typeface="微软雅黑" panose="020B0503020204020204" pitchFamily="34" charset="-122"/>
                <a:ea typeface="微软雅黑" panose="020B0503020204020204" pitchFamily="34" charset="-122"/>
              </a:rPr>
              <a:t>Integrated Service</a:t>
            </a:r>
            <a:r>
              <a:rPr lang="zh-CN" altLang="en-US" sz="2600" dirty="0">
                <a:latin typeface="微软雅黑" panose="020B0503020204020204" pitchFamily="34" charset="-122"/>
                <a:ea typeface="微软雅黑" panose="020B0503020204020204" pitchFamily="34" charset="-122"/>
              </a:rPr>
              <a:t>基本思想是在传送数据之前，根据业务的</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需求进行网络资源预留，从而为该数据流提供端到端的</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保证。</a:t>
            </a:r>
            <a:endParaRPr lang="en-US" altLang="zh-CN" sz="2600" dirty="0">
              <a:latin typeface="微软雅黑" panose="020B0503020204020204" pitchFamily="34" charset="-122"/>
              <a:ea typeface="微软雅黑" panose="020B0503020204020204" pitchFamily="34" charset="-122"/>
            </a:endParaRPr>
          </a:p>
          <a:p>
            <a:pPr eaLnBrk="1" hangingPunct="1">
              <a:lnSpc>
                <a:spcPct val="120000"/>
              </a:lnSpc>
            </a:pPr>
            <a:r>
              <a:rPr lang="zh-CN" altLang="en-US" sz="2600" dirty="0">
                <a:latin typeface="微软雅黑" panose="020B0503020204020204" pitchFamily="34" charset="-122"/>
                <a:ea typeface="微软雅黑" panose="020B0503020204020204" pitchFamily="34" charset="-122"/>
              </a:rPr>
              <a:t>集成服务通常采用面向流的资源预留协议（</a:t>
            </a:r>
            <a:r>
              <a:rPr lang="en-US" altLang="zh-CN" sz="2600" dirty="0">
                <a:latin typeface="微软雅黑" panose="020B0503020204020204" pitchFamily="34" charset="-122"/>
                <a:ea typeface="微软雅黑" panose="020B0503020204020204" pitchFamily="34" charset="-122"/>
              </a:rPr>
              <a:t>RSVP</a:t>
            </a:r>
            <a:r>
              <a:rPr lang="zh-CN" altLang="en-US" sz="2600" dirty="0">
                <a:latin typeface="微软雅黑" panose="020B0503020204020204" pitchFamily="34" charset="-122"/>
                <a:ea typeface="微软雅黑" panose="020B0503020204020204" pitchFamily="34" charset="-122"/>
              </a:rPr>
              <a:t>），在流传输路径上的每个节点为流预留并维护资源。</a:t>
            </a:r>
            <a:endParaRPr lang="en-US" altLang="zh-CN" sz="2600" dirty="0">
              <a:latin typeface="微软雅黑" panose="020B0503020204020204" pitchFamily="34" charset="-122"/>
              <a:ea typeface="微软雅黑" panose="020B0503020204020204" pitchFamily="34" charset="-122"/>
            </a:endParaRPr>
          </a:p>
          <a:p>
            <a:pPr eaLnBrk="1" hangingPunct="1">
              <a:lnSpc>
                <a:spcPct val="120000"/>
              </a:lnSpc>
            </a:pPr>
            <a:r>
              <a:rPr lang="zh-CN" altLang="en-US" sz="2600" dirty="0">
                <a:latin typeface="微软雅黑" panose="020B0503020204020204" pitchFamily="34" charset="-122"/>
                <a:ea typeface="微软雅黑" panose="020B0503020204020204" pitchFamily="34" charset="-122"/>
              </a:rPr>
              <a:t>主机利用</a:t>
            </a:r>
            <a:r>
              <a:rPr lang="en-US" altLang="zh-CN" sz="2600" dirty="0">
                <a:latin typeface="微软雅黑" panose="020B0503020204020204" pitchFamily="34" charset="-122"/>
                <a:ea typeface="微软雅黑" panose="020B0503020204020204" pitchFamily="34" charset="-122"/>
              </a:rPr>
              <a:t>RSVP</a:t>
            </a:r>
            <a:r>
              <a:rPr lang="zh-CN" altLang="en-US" sz="2600" dirty="0">
                <a:latin typeface="微软雅黑" panose="020B0503020204020204" pitchFamily="34" charset="-122"/>
                <a:ea typeface="微软雅黑" panose="020B0503020204020204" pitchFamily="34" charset="-122"/>
              </a:rPr>
              <a:t>向网络为应用流提出</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的请求；</a:t>
            </a:r>
            <a:endParaRPr lang="en-US" altLang="zh-CN" sz="2600" dirty="0">
              <a:latin typeface="微软雅黑" panose="020B0503020204020204" pitchFamily="34" charset="-122"/>
              <a:ea typeface="微软雅黑" panose="020B0503020204020204" pitchFamily="34" charset="-122"/>
            </a:endParaRPr>
          </a:p>
          <a:p>
            <a:pPr>
              <a:lnSpc>
                <a:spcPct val="120000"/>
              </a:lnSpc>
            </a:pPr>
            <a:r>
              <a:rPr lang="zh-CN" altLang="en-US" sz="2600" dirty="0">
                <a:latin typeface="微软雅黑" panose="020B0503020204020204" pitchFamily="34" charset="-122"/>
                <a:ea typeface="微软雅黑" panose="020B0503020204020204" pitchFamily="34" charset="-122"/>
              </a:rPr>
              <a:t>路由器利用</a:t>
            </a:r>
            <a:r>
              <a:rPr lang="en-US" altLang="zh-CN" sz="2600" dirty="0">
                <a:latin typeface="微软雅黑" panose="020B0503020204020204" pitchFamily="34" charset="-122"/>
                <a:ea typeface="微软雅黑" panose="020B0503020204020204" pitchFamily="34" charset="-122"/>
              </a:rPr>
              <a:t>RSVP</a:t>
            </a:r>
            <a:r>
              <a:rPr lang="zh-CN" altLang="en-US" sz="2600" dirty="0">
                <a:latin typeface="微软雅黑" panose="020B0503020204020204" pitchFamily="34" charset="-122"/>
                <a:ea typeface="微软雅黑" panose="020B0503020204020204" pitchFamily="34" charset="-122"/>
              </a:rPr>
              <a:t>将</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请求信息传给流的路径中的其他路由器，并建立和保存该服务的信息；</a:t>
            </a:r>
            <a:r>
              <a:rPr lang="en-US" altLang="zh-CN" sz="2600" dirty="0">
                <a:latin typeface="微软雅黑" panose="020B0503020204020204" pitchFamily="34" charset="-122"/>
                <a:ea typeface="微软雅黑" panose="020B0503020204020204" pitchFamily="34" charset="-122"/>
              </a:rPr>
              <a:t>RSVP</a:t>
            </a:r>
            <a:r>
              <a:rPr lang="zh-CN" altLang="en-US" sz="2600" dirty="0">
                <a:latin typeface="微软雅黑" panose="020B0503020204020204" pitchFamily="34" charset="-122"/>
                <a:ea typeface="微软雅黑" panose="020B0503020204020204" pitchFamily="34" charset="-122"/>
              </a:rPr>
              <a:t>请求将会使得沿着数据路径的资源在路由器处预留。</a:t>
            </a:r>
            <a:endParaRPr lang="en-US" altLang="zh-CN" sz="2600" dirty="0">
              <a:latin typeface="微软雅黑" panose="020B0503020204020204" pitchFamily="34" charset="-122"/>
              <a:ea typeface="微软雅黑" panose="020B0503020204020204" pitchFamily="34" charset="-122"/>
            </a:endParaRPr>
          </a:p>
          <a:p>
            <a:pPr>
              <a:lnSpc>
                <a:spcPct val="120000"/>
              </a:lnSpc>
            </a:pPr>
            <a:r>
              <a:rPr lang="zh-CN" altLang="en-US" sz="2600" dirty="0">
                <a:latin typeface="微软雅黑" panose="020B0503020204020204" pitchFamily="34" charset="-122"/>
                <a:ea typeface="微软雅黑" panose="020B0503020204020204" pitchFamily="34" charset="-122"/>
              </a:rPr>
              <a:t>集成服务模型的优点是能提供端到端的绝对的</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保证，但这种模型在实现上是非常困难的，主要体现在：</a:t>
            </a:r>
            <a:endParaRPr lang="en-US" altLang="zh-CN" sz="2600" dirty="0">
              <a:latin typeface="微软雅黑" panose="020B0503020204020204" pitchFamily="34" charset="-122"/>
              <a:ea typeface="微软雅黑" panose="020B0503020204020204" pitchFamily="34" charset="-122"/>
            </a:endParaRPr>
          </a:p>
          <a:p>
            <a:pPr>
              <a:lnSpc>
                <a:spcPct val="120000"/>
              </a:lnSpc>
            </a:pP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1</a:t>
            </a:r>
            <a:r>
              <a:rPr lang="zh-CN" altLang="en-US" sz="2600" dirty="0">
                <a:latin typeface="微软雅黑" panose="020B0503020204020204" pitchFamily="34" charset="-122"/>
                <a:ea typeface="微软雅黑" panose="020B0503020204020204" pitchFamily="34" charset="-122"/>
              </a:rPr>
              <a:t>）由于预留是基于每个流而进行的，因此使得节点中要保留每个流的状态信息，导致核心路由器负担太重，因此可扩展性很差。 </a:t>
            </a:r>
            <a:br>
              <a:rPr lang="zh-CN" altLang="en-US" sz="2600" dirty="0">
                <a:latin typeface="微软雅黑" panose="020B0503020204020204" pitchFamily="34" charset="-122"/>
                <a:ea typeface="微软雅黑" panose="020B0503020204020204" pitchFamily="34" charset="-122"/>
              </a:rPr>
            </a:b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2</a:t>
            </a:r>
            <a:r>
              <a:rPr lang="zh-CN" altLang="en-US" sz="2600" dirty="0">
                <a:latin typeface="微软雅黑" panose="020B0503020204020204" pitchFamily="34" charset="-122"/>
                <a:ea typeface="微软雅黑" panose="020B0503020204020204" pitchFamily="34" charset="-122"/>
              </a:rPr>
              <a:t>）网络中每个节点都要维护各类数据库，并实现复杂的功能模块（如资源预留、路由、接纳控制等），造成了极大的复杂性。 </a:t>
            </a:r>
          </a:p>
          <a:p>
            <a:pPr eaLnBrk="1" hangingPunct="1">
              <a:lnSpc>
                <a:spcPct val="120000"/>
              </a:lnSpc>
            </a:pPr>
            <a:endParaRPr lang="zh-CN" altLang="en-US" sz="2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88548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1"/>
          </p:nvPr>
        </p:nvSpPr>
        <p:spPr>
          <a:xfrm>
            <a:off x="1270000" y="1192212"/>
            <a:ext cx="10261600" cy="1554162"/>
          </a:xfrm>
        </p:spPr>
        <p:txBody>
          <a:bodyPr/>
          <a:lstStyle/>
          <a:p>
            <a:r>
              <a:rPr lang="en-US" altLang="zh-CN" dirty="0">
                <a:ea typeface="宋体" panose="02010600030101010101" pitchFamily="2" charset="-122"/>
              </a:rPr>
              <a:t>Design with classes of QoS; customers buy what they want</a:t>
            </a:r>
          </a:p>
          <a:p>
            <a:pPr lvl="1"/>
            <a:r>
              <a:rPr lang="en-US" altLang="zh-CN" dirty="0">
                <a:ea typeface="宋体" panose="02010600030101010101" pitchFamily="2" charset="-122"/>
              </a:rPr>
              <a:t>Expedited class is sent in preference to regular class</a:t>
            </a:r>
          </a:p>
          <a:p>
            <a:pPr lvl="1"/>
            <a:r>
              <a:rPr lang="en-US" altLang="zh-CN" dirty="0">
                <a:ea typeface="宋体" panose="02010600030101010101" pitchFamily="2" charset="-122"/>
              </a:rPr>
              <a:t>Less expedited traffic but better quality for applications</a:t>
            </a:r>
          </a:p>
        </p:txBody>
      </p:sp>
      <p:sp>
        <p:nvSpPr>
          <p:cNvPr id="870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8704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591" y="2825750"/>
            <a:ext cx="9022818" cy="2997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8DCA906-F3D7-465B-9903-3283F9FC105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Differentiated Services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939810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88068" name="Rectangle 3"/>
          <p:cNvSpPr>
            <a:spLocks noGrp="1" noChangeArrowheads="1"/>
          </p:cNvSpPr>
          <p:nvPr>
            <p:ph idx="1"/>
          </p:nvPr>
        </p:nvSpPr>
        <p:spPr>
          <a:xfrm>
            <a:off x="1524001" y="1050969"/>
            <a:ext cx="9583435" cy="1843696"/>
          </a:xfrm>
        </p:spPr>
        <p:txBody>
          <a:bodyPr/>
          <a:lstStyle/>
          <a:p>
            <a:r>
              <a:rPr lang="en-US" altLang="zh-CN" dirty="0">
                <a:ea typeface="宋体" panose="02010600030101010101" pitchFamily="2" charset="-122"/>
              </a:rPr>
              <a:t>Implementation of </a:t>
            </a:r>
            <a:r>
              <a:rPr lang="en-US" altLang="zh-CN" dirty="0" err="1">
                <a:ea typeface="宋体" panose="02010600030101010101" pitchFamily="2" charset="-122"/>
              </a:rPr>
              <a:t>DiffServ</a:t>
            </a:r>
            <a:r>
              <a:rPr lang="en-US" altLang="zh-CN" dirty="0">
                <a:ea typeface="宋体" panose="02010600030101010101" pitchFamily="2" charset="-122"/>
              </a:rPr>
              <a:t>:</a:t>
            </a:r>
          </a:p>
          <a:p>
            <a:pPr lvl="1"/>
            <a:r>
              <a:rPr lang="en-US" altLang="zh-CN" dirty="0">
                <a:ea typeface="宋体" panose="02010600030101010101" pitchFamily="2" charset="-122"/>
              </a:rPr>
              <a:t>Customers mark desired class on packet</a:t>
            </a:r>
          </a:p>
          <a:p>
            <a:pPr lvl="1"/>
            <a:r>
              <a:rPr lang="en-US" altLang="zh-CN" dirty="0">
                <a:ea typeface="宋体" panose="02010600030101010101" pitchFamily="2" charset="-122"/>
              </a:rPr>
              <a:t>ISP shapes traffic to ensure markings are paid for</a:t>
            </a:r>
          </a:p>
          <a:p>
            <a:pPr lvl="1"/>
            <a:r>
              <a:rPr lang="en-US" altLang="zh-CN" dirty="0">
                <a:ea typeface="宋体" panose="02010600030101010101" pitchFamily="2" charset="-122"/>
              </a:rPr>
              <a:t>Routers use WFQ to give different service levels</a:t>
            </a:r>
          </a:p>
        </p:txBody>
      </p:sp>
      <p:pic>
        <p:nvPicPr>
          <p:cNvPr id="8806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2628" y="2894665"/>
            <a:ext cx="9786744" cy="312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E3B21BFC-C84E-4264-8075-F28401C1F74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Differentiated Services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5223622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E3B21BFC-C84E-4264-8075-F28401C1F74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Differentiated Services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内容占位符 2">
            <a:extLst>
              <a:ext uri="{FF2B5EF4-FFF2-40B4-BE49-F238E27FC236}">
                <a16:creationId xmlns:a16="http://schemas.microsoft.com/office/drawing/2014/main" id="{72DD21DE-AF9E-4027-B75E-B5542B745435}"/>
              </a:ext>
            </a:extLst>
          </p:cNvPr>
          <p:cNvSpPr>
            <a:spLocks noGrp="1"/>
          </p:cNvSpPr>
          <p:nvPr>
            <p:ph idx="1"/>
          </p:nvPr>
        </p:nvSpPr>
        <p:spPr>
          <a:xfrm>
            <a:off x="526256" y="1339585"/>
            <a:ext cx="11139487" cy="4373996"/>
          </a:xfrm>
        </p:spPr>
        <p:txBody>
          <a:bodyPr>
            <a:normAutofit fontScale="92500" lnSpcReduction="20000"/>
          </a:bodyPr>
          <a:lstStyle/>
          <a:p>
            <a:pPr marL="457200" indent="-457200" eaLnBrk="1" hangingPunct="1">
              <a:lnSpc>
                <a:spcPct val="110000"/>
              </a:lnSpc>
              <a:buFont typeface="Arial" panose="020B0604020202020204" pitchFamily="34" charset="0"/>
              <a:buChar char="•"/>
            </a:pPr>
            <a:r>
              <a:rPr lang="en-US" altLang="zh-CN" sz="2800" dirty="0" err="1">
                <a:latin typeface="微软雅黑" panose="020B0503020204020204" pitchFamily="34" charset="-122"/>
                <a:ea typeface="微软雅黑" panose="020B0503020204020204" pitchFamily="34" charset="-122"/>
              </a:rPr>
              <a:t>DiffServ</a:t>
            </a:r>
            <a:r>
              <a:rPr lang="zh-CN" altLang="en-US" sz="2800" dirty="0">
                <a:latin typeface="微软雅黑" panose="020B0503020204020204" pitchFamily="34" charset="-122"/>
                <a:ea typeface="微软雅黑" panose="020B0503020204020204" pitchFamily="34" charset="-122"/>
              </a:rPr>
              <a:t>模型</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差分服务</a:t>
            </a:r>
            <a:r>
              <a:rPr lang="en-US" altLang="zh-CN" sz="28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基本思想是在网络的入口处为每个数据包分类，并在数据包中标记相应的区分服务代码点（</a:t>
            </a:r>
            <a:r>
              <a:rPr lang="en-US" altLang="zh-CN" sz="2600" dirty="0">
                <a:latin typeface="微软雅黑" panose="020B0503020204020204" pitchFamily="34" charset="-122"/>
                <a:ea typeface="微软雅黑" panose="020B0503020204020204" pitchFamily="34" charset="-122"/>
              </a:rPr>
              <a:t>DSCP</a:t>
            </a:r>
            <a:r>
              <a:rPr lang="zh-CN" altLang="en-US" sz="2600" dirty="0">
                <a:latin typeface="微软雅黑" panose="020B0503020204020204" pitchFamily="34" charset="-122"/>
                <a:ea typeface="微软雅黑" panose="020B0503020204020204" pitchFamily="34" charset="-122"/>
              </a:rPr>
              <a:t>，</a:t>
            </a:r>
            <a:r>
              <a:rPr lang="en-US" altLang="zh-CN" sz="2600" dirty="0" err="1">
                <a:latin typeface="微软雅黑" panose="020B0503020204020204" pitchFamily="34" charset="-122"/>
                <a:ea typeface="微软雅黑" panose="020B0503020204020204" pitchFamily="34" charset="-122"/>
              </a:rPr>
              <a:t>DiffServ</a:t>
            </a:r>
            <a:r>
              <a:rPr lang="en-US" altLang="zh-CN" sz="2600" dirty="0">
                <a:latin typeface="微软雅黑" panose="020B0503020204020204" pitchFamily="34" charset="-122"/>
                <a:ea typeface="微软雅黑" panose="020B0503020204020204" pitchFamily="34" charset="-122"/>
              </a:rPr>
              <a:t> </a:t>
            </a:r>
            <a:r>
              <a:rPr lang="en-US" altLang="zh-CN" sz="2600" dirty="0" err="1">
                <a:latin typeface="微软雅黑" panose="020B0503020204020204" pitchFamily="34" charset="-122"/>
                <a:ea typeface="微软雅黑" panose="020B0503020204020204" pitchFamily="34" charset="-122"/>
              </a:rPr>
              <a:t>CodePoint</a:t>
            </a:r>
            <a:r>
              <a:rPr lang="zh-CN" altLang="en-US" sz="2600" dirty="0">
                <a:latin typeface="微软雅黑" panose="020B0503020204020204" pitchFamily="34" charset="-122"/>
                <a:ea typeface="微软雅黑" panose="020B0503020204020204" pitchFamily="34" charset="-122"/>
              </a:rPr>
              <a:t>），用于指示数据包在网络转发路径的中间节点上被处理的方式。</a:t>
            </a:r>
            <a:endParaRPr lang="en-US" altLang="zh-CN" sz="2600" dirty="0">
              <a:latin typeface="微软雅黑" panose="020B0503020204020204" pitchFamily="34" charset="-122"/>
              <a:ea typeface="微软雅黑" panose="020B0503020204020204" pitchFamily="34" charset="-122"/>
            </a:endParaRPr>
          </a:p>
          <a:p>
            <a:pPr marL="457200" indent="-457200" eaLnBrk="1" hangingPunct="1">
              <a:lnSpc>
                <a:spcPct val="110000"/>
              </a:lnSpc>
              <a:buFont typeface="Arial" panose="020B0604020202020204" pitchFamily="34" charset="0"/>
              <a:buChar char="•"/>
            </a:pPr>
            <a:endParaRPr lang="en-US" altLang="zh-CN" sz="2600" dirty="0">
              <a:latin typeface="微软雅黑" panose="020B0503020204020204" pitchFamily="34" charset="-122"/>
              <a:ea typeface="微软雅黑" panose="020B0503020204020204" pitchFamily="34" charset="-122"/>
            </a:endParaRPr>
          </a:p>
          <a:p>
            <a:pPr marL="457200" indent="-457200">
              <a:lnSpc>
                <a:spcPct val="11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在网络内部的核心路由器中只保存简单的</a:t>
            </a:r>
            <a:r>
              <a:rPr lang="en-US" altLang="zh-CN" sz="2600" dirty="0">
                <a:latin typeface="微软雅黑" panose="020B0503020204020204" pitchFamily="34" charset="-122"/>
                <a:ea typeface="微软雅黑" panose="020B0503020204020204" pitchFamily="34" charset="-122"/>
              </a:rPr>
              <a:t>DSCP</a:t>
            </a:r>
            <a:r>
              <a:rPr lang="zh-CN" altLang="en-US" sz="2600" dirty="0">
                <a:latin typeface="微软雅黑" panose="020B0503020204020204" pitchFamily="34" charset="-122"/>
                <a:ea typeface="微软雅黑" panose="020B0503020204020204" pitchFamily="34" charset="-122"/>
              </a:rPr>
              <a:t>与</a:t>
            </a:r>
            <a:r>
              <a:rPr lang="en-US" altLang="zh-CN" sz="2600" dirty="0">
                <a:latin typeface="微软雅黑" panose="020B0503020204020204" pitchFamily="34" charset="-122"/>
                <a:ea typeface="微软雅黑" panose="020B0503020204020204" pitchFamily="34" charset="-122"/>
              </a:rPr>
              <a:t>PHB</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Per Hop Behavior</a:t>
            </a:r>
            <a:r>
              <a:rPr lang="zh-CN" altLang="en-US" sz="2600" dirty="0">
                <a:latin typeface="微软雅黑" panose="020B0503020204020204" pitchFamily="34" charset="-122"/>
                <a:ea typeface="微软雅黑" panose="020B0503020204020204" pitchFamily="34" charset="-122"/>
              </a:rPr>
              <a:t>每跳行为）的对应机制，根据数据包头部中的</a:t>
            </a:r>
            <a:r>
              <a:rPr lang="en-US" altLang="zh-CN" sz="2600" dirty="0">
                <a:latin typeface="微软雅黑" panose="020B0503020204020204" pitchFamily="34" charset="-122"/>
                <a:ea typeface="微软雅黑" panose="020B0503020204020204" pitchFamily="34" charset="-122"/>
              </a:rPr>
              <a:t>DSCP</a:t>
            </a:r>
            <a:r>
              <a:rPr lang="zh-CN" altLang="en-US" sz="2600" dirty="0">
                <a:latin typeface="微软雅黑" panose="020B0503020204020204" pitchFamily="34" charset="-122"/>
                <a:ea typeface="微软雅黑" panose="020B0503020204020204" pitchFamily="34" charset="-122"/>
              </a:rPr>
              <a:t>值对数据包进行相应的优先级转发，而业务流状态信息的保存与流量控制机制的实现等都在网络边界节点进行，内部节点是与状态无关的。</a:t>
            </a:r>
            <a:endParaRPr lang="en-US" altLang="zh-CN" sz="2600" dirty="0">
              <a:latin typeface="微软雅黑" panose="020B0503020204020204" pitchFamily="34" charset="-122"/>
              <a:ea typeface="微软雅黑" panose="020B0503020204020204" pitchFamily="34" charset="-122"/>
            </a:endParaRPr>
          </a:p>
          <a:p>
            <a:pPr marL="457200" indent="-457200">
              <a:lnSpc>
                <a:spcPct val="110000"/>
              </a:lnSpc>
              <a:buFont typeface="Arial" panose="020B0604020202020204" pitchFamily="34" charset="0"/>
              <a:buChar char="•"/>
            </a:pPr>
            <a:endParaRPr lang="en-US" altLang="zh-CN" sz="2600" dirty="0">
              <a:latin typeface="微软雅黑" panose="020B0503020204020204" pitchFamily="34" charset="-122"/>
              <a:ea typeface="微软雅黑" panose="020B0503020204020204" pitchFamily="34" charset="-122"/>
            </a:endParaRPr>
          </a:p>
          <a:p>
            <a:pPr marL="457200" indent="-457200">
              <a:lnSpc>
                <a:spcPct val="110000"/>
              </a:lnSpc>
              <a:buFont typeface="Arial" panose="020B0604020202020204" pitchFamily="34" charset="0"/>
              <a:buChar char="•"/>
            </a:pPr>
            <a:r>
              <a:rPr lang="zh-CN" altLang="en-US" sz="2600" dirty="0">
                <a:latin typeface="微软雅黑" panose="020B0503020204020204" pitchFamily="34" charset="-122"/>
                <a:ea typeface="微软雅黑" panose="020B0503020204020204" pitchFamily="34" charset="-122"/>
              </a:rPr>
              <a:t>路由器可以把</a:t>
            </a:r>
            <a:r>
              <a:rPr lang="en-US" altLang="zh-CN" sz="2600" dirty="0">
                <a:latin typeface="微软雅黑" panose="020B0503020204020204" pitchFamily="34" charset="-122"/>
                <a:ea typeface="微软雅黑" panose="020B0503020204020204" pitchFamily="34" charset="-122"/>
              </a:rPr>
              <a:t>QoS</a:t>
            </a:r>
            <a:r>
              <a:rPr lang="zh-CN" altLang="en-US" sz="2600" dirty="0">
                <a:latin typeface="微软雅黑" panose="020B0503020204020204" pitchFamily="34" charset="-122"/>
                <a:ea typeface="微软雅黑" panose="020B0503020204020204" pitchFamily="34" charset="-122"/>
              </a:rPr>
              <a:t>需求相似的业务流看成一个类，以减少调度算法处理的队列数量。</a:t>
            </a:r>
          </a:p>
        </p:txBody>
      </p:sp>
    </p:spTree>
    <p:extLst>
      <p:ext uri="{BB962C8B-B14F-4D97-AF65-F5344CB8AC3E}">
        <p14:creationId xmlns:p14="http://schemas.microsoft.com/office/powerpoint/2010/main" val="93309434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E3B21BFC-C84E-4264-8075-F28401C1F74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Differentiated Services (4)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内容占位符 2">
            <a:extLst>
              <a:ext uri="{FF2B5EF4-FFF2-40B4-BE49-F238E27FC236}">
                <a16:creationId xmlns:a16="http://schemas.microsoft.com/office/drawing/2014/main" id="{72DD21DE-AF9E-4027-B75E-B5542B745435}"/>
              </a:ext>
            </a:extLst>
          </p:cNvPr>
          <p:cNvSpPr>
            <a:spLocks noGrp="1"/>
          </p:cNvSpPr>
          <p:nvPr>
            <p:ph idx="1"/>
          </p:nvPr>
        </p:nvSpPr>
        <p:spPr>
          <a:xfrm>
            <a:off x="316706" y="4363192"/>
            <a:ext cx="11139487" cy="2398127"/>
          </a:xfrm>
        </p:spPr>
        <p:txBody>
          <a:bodyPr>
            <a:normAutofit/>
          </a:bodyPr>
          <a:lstStyle/>
          <a:p>
            <a:pPr marL="457200" indent="-457200" eaLnBrk="1" hangingPunct="1">
              <a:lnSpc>
                <a:spcPct val="11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IETF </a:t>
            </a:r>
            <a:r>
              <a:rPr lang="en-US" altLang="zh-CN" sz="2400" dirty="0" err="1">
                <a:latin typeface="微软雅黑" panose="020B0503020204020204" pitchFamily="34" charset="-122"/>
                <a:ea typeface="微软雅黑" panose="020B0503020204020204" pitchFamily="34" charset="-122"/>
              </a:rPr>
              <a:t>DiffServ</a:t>
            </a:r>
            <a:r>
              <a:rPr lang="zh-CN" altLang="zh-CN" sz="2400" dirty="0">
                <a:latin typeface="微软雅黑" panose="020B0503020204020204" pitchFamily="34" charset="-122"/>
                <a:ea typeface="微软雅黑" panose="020B0503020204020204" pitchFamily="34" charset="-122"/>
              </a:rPr>
              <a:t>工作组将</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报文头</a:t>
            </a:r>
            <a:r>
              <a:rPr lang="en-US" altLang="zh-CN" sz="2400" dirty="0" err="1">
                <a:latin typeface="微软雅黑" panose="020B0503020204020204" pitchFamily="34" charset="-122"/>
                <a:ea typeface="微软雅黑" panose="020B0503020204020204" pitchFamily="34" charset="-122"/>
              </a:rPr>
              <a:t>ToS</a:t>
            </a:r>
            <a:r>
              <a:rPr lang="zh-CN" altLang="zh-CN" sz="2400" dirty="0">
                <a:latin typeface="微软雅黑" panose="020B0503020204020204" pitchFamily="34" charset="-122"/>
                <a:ea typeface="微软雅黑" panose="020B0503020204020204" pitchFamily="34" charset="-122"/>
              </a:rPr>
              <a:t>字节的6比特重新定义为</a:t>
            </a:r>
            <a:r>
              <a:rPr lang="en-US" altLang="zh-CN" sz="2400" dirty="0">
                <a:latin typeface="微软雅黑" panose="020B0503020204020204" pitchFamily="34" charset="-122"/>
                <a:ea typeface="微软雅黑" panose="020B0503020204020204" pitchFamily="34" charset="-122"/>
              </a:rPr>
              <a:t>DSCP</a:t>
            </a:r>
            <a:r>
              <a:rPr lang="zh-CN" altLang="en-US" sz="2400" dirty="0">
                <a:latin typeface="微软雅黑" panose="020B0503020204020204" pitchFamily="34" charset="-122"/>
                <a:ea typeface="微软雅黑" panose="020B0503020204020204" pitchFamily="34" charset="-122"/>
              </a:rPr>
              <a:t>，</a:t>
            </a:r>
            <a:r>
              <a:rPr lang="en-US" altLang="zh-CN" sz="2400" dirty="0" err="1">
                <a:latin typeface="微软雅黑" panose="020B0503020204020204" pitchFamily="34" charset="-122"/>
                <a:ea typeface="微软雅黑" panose="020B0503020204020204" pitchFamily="34" charset="-122"/>
              </a:rPr>
              <a:t>ToS</a:t>
            </a:r>
            <a:r>
              <a:rPr lang="zh-CN" altLang="zh-CN" sz="2400" dirty="0">
                <a:latin typeface="微软雅黑" panose="020B0503020204020204" pitchFamily="34" charset="-122"/>
                <a:ea typeface="微软雅黑" panose="020B0503020204020204" pitchFamily="34" charset="-122"/>
              </a:rPr>
              <a:t>字节改名为</a:t>
            </a:r>
            <a:r>
              <a:rPr lang="en-US" altLang="zh-CN" sz="2400" dirty="0">
                <a:latin typeface="微软雅黑" panose="020B0503020204020204" pitchFamily="34" charset="-122"/>
                <a:ea typeface="微软雅黑" panose="020B0503020204020204" pitchFamily="34" charset="-122"/>
              </a:rPr>
              <a:t>DS</a:t>
            </a:r>
            <a:r>
              <a:rPr lang="zh-CN" altLang="zh-CN" sz="2400" dirty="0">
                <a:latin typeface="微软雅黑" panose="020B0503020204020204" pitchFamily="34" charset="-122"/>
                <a:ea typeface="微软雅黑" panose="020B0503020204020204" pitchFamily="34" charset="-122"/>
              </a:rPr>
              <a:t>字节</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457200" indent="-457200" eaLnBrk="1" hangingPunct="1">
              <a:lnSpc>
                <a:spcPct val="11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网络边缘的路由器使用</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优先级或在</a:t>
            </a:r>
            <a:r>
              <a:rPr lang="en-US" altLang="zh-CN" sz="2400" dirty="0" err="1">
                <a:latin typeface="微软雅黑" panose="020B0503020204020204" pitchFamily="34" charset="-122"/>
                <a:ea typeface="微软雅黑" panose="020B0503020204020204" pitchFamily="34" charset="-122"/>
              </a:rPr>
              <a:t>DiffServ</a:t>
            </a:r>
            <a:r>
              <a:rPr lang="zh-CN" altLang="en-US" sz="2400" dirty="0">
                <a:latin typeface="微软雅黑" panose="020B0503020204020204" pitchFamily="34" charset="-122"/>
                <a:ea typeface="微软雅黑" panose="020B0503020204020204" pitchFamily="34" charset="-122"/>
              </a:rPr>
              <a:t>网络中使用</a:t>
            </a:r>
            <a:r>
              <a:rPr lang="en-US" altLang="zh-CN" sz="2400" dirty="0">
                <a:latin typeface="微软雅黑" panose="020B0503020204020204" pitchFamily="34" charset="-122"/>
                <a:ea typeface="微软雅黑" panose="020B0503020204020204" pitchFamily="34" charset="-122"/>
              </a:rPr>
              <a:t>DSCP</a:t>
            </a:r>
            <a:r>
              <a:rPr lang="zh-CN" altLang="en-US" sz="2400" dirty="0">
                <a:latin typeface="微软雅黑" panose="020B0503020204020204" pitchFamily="34" charset="-122"/>
                <a:ea typeface="微软雅黑" panose="020B0503020204020204" pitchFamily="34" charset="-122"/>
              </a:rPr>
              <a:t>值来分类和标记报文。核心网中支持 </a:t>
            </a:r>
            <a:r>
              <a:rPr lang="en-US" altLang="zh-CN" sz="2400" dirty="0" err="1">
                <a:latin typeface="微软雅黑" panose="020B0503020204020204" pitchFamily="34" charset="-122"/>
                <a:ea typeface="微软雅黑" panose="020B0503020204020204" pitchFamily="34" charset="-122"/>
              </a:rPr>
              <a:t>DiffServ</a:t>
            </a:r>
            <a:r>
              <a:rPr lang="zh-CN" altLang="en-US" sz="2400" dirty="0">
                <a:latin typeface="微软雅黑" panose="020B0503020204020204" pitchFamily="34" charset="-122"/>
                <a:ea typeface="微软雅黑" panose="020B0503020204020204" pitchFamily="34" charset="-122"/>
              </a:rPr>
              <a:t>的其它网络设备使用</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头中的</a:t>
            </a:r>
            <a:r>
              <a:rPr lang="en-US" altLang="zh-CN" sz="2400" dirty="0">
                <a:latin typeface="微软雅黑" panose="020B0503020204020204" pitchFamily="34" charset="-122"/>
                <a:ea typeface="微软雅黑" panose="020B0503020204020204" pitchFamily="34" charset="-122"/>
              </a:rPr>
              <a:t>DSCP</a:t>
            </a:r>
            <a:r>
              <a:rPr lang="zh-CN" altLang="en-US" sz="2400" dirty="0">
                <a:latin typeface="微软雅黑" panose="020B0503020204020204" pitchFamily="34" charset="-122"/>
                <a:ea typeface="微软雅黑" panose="020B0503020204020204" pitchFamily="34" charset="-122"/>
              </a:rPr>
              <a:t>值来选择报文的</a:t>
            </a:r>
            <a:r>
              <a:rPr lang="en-US" altLang="zh-CN" sz="2400" dirty="0">
                <a:latin typeface="微软雅黑" panose="020B0503020204020204" pitchFamily="34" charset="-122"/>
                <a:ea typeface="微软雅黑" panose="020B0503020204020204" pitchFamily="34" charset="-122"/>
              </a:rPr>
              <a:t>PHB</a:t>
            </a:r>
            <a:r>
              <a:rPr lang="zh-CN" altLang="en-US" sz="2400" dirty="0">
                <a:latin typeface="微软雅黑" panose="020B0503020204020204" pitchFamily="34" charset="-122"/>
                <a:ea typeface="微软雅黑" panose="020B0503020204020204" pitchFamily="34" charset="-122"/>
              </a:rPr>
              <a:t>行为并对其作相应的</a:t>
            </a:r>
            <a:r>
              <a:rPr lang="en-US" altLang="zh-CN" sz="2400" dirty="0">
                <a:latin typeface="微软雅黑" panose="020B0503020204020204" pitchFamily="34" charset="-122"/>
                <a:ea typeface="微软雅黑" panose="020B0503020204020204" pitchFamily="34" charset="-122"/>
              </a:rPr>
              <a:t>QoS</a:t>
            </a:r>
            <a:r>
              <a:rPr lang="zh-CN" altLang="en-US" sz="2400" dirty="0">
                <a:latin typeface="微软雅黑" panose="020B0503020204020204" pitchFamily="34" charset="-122"/>
                <a:ea typeface="微软雅黑" panose="020B0503020204020204" pitchFamily="34" charset="-122"/>
              </a:rPr>
              <a:t>处理。</a:t>
            </a:r>
            <a:endParaRPr lang="en-US" altLang="zh-CN" sz="2400" dirty="0">
              <a:latin typeface="微软雅黑" panose="020B0503020204020204" pitchFamily="34" charset="-122"/>
              <a:ea typeface="微软雅黑" panose="020B0503020204020204" pitchFamily="34" charset="-122"/>
            </a:endParaRPr>
          </a:p>
        </p:txBody>
      </p:sp>
      <p:pic>
        <p:nvPicPr>
          <p:cNvPr id="83" name="Picture 5">
            <a:extLst>
              <a:ext uri="{FF2B5EF4-FFF2-40B4-BE49-F238E27FC236}">
                <a16:creationId xmlns:a16="http://schemas.microsoft.com/office/drawing/2014/main" id="{102BC6B8-4E8E-42F3-BDC9-0F094E002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938" y="1335087"/>
            <a:ext cx="20637" cy="3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 name="Picture 6">
            <a:extLst>
              <a:ext uri="{FF2B5EF4-FFF2-40B4-BE49-F238E27FC236}">
                <a16:creationId xmlns:a16="http://schemas.microsoft.com/office/drawing/2014/main" id="{EEBB5415-C0B5-4307-88D1-86BAF2775C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938" y="1335087"/>
            <a:ext cx="20637" cy="3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Picture 7">
            <a:extLst>
              <a:ext uri="{FF2B5EF4-FFF2-40B4-BE49-F238E27FC236}">
                <a16:creationId xmlns:a16="http://schemas.microsoft.com/office/drawing/2014/main" id="{CE9DC977-9831-47E1-A1F8-B8B7CA0CA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938" y="1335087"/>
            <a:ext cx="20637" cy="3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8">
            <a:extLst>
              <a:ext uri="{FF2B5EF4-FFF2-40B4-BE49-F238E27FC236}">
                <a16:creationId xmlns:a16="http://schemas.microsoft.com/office/drawing/2014/main" id="{2A83C8BD-E740-4C71-B8F0-3C7AA61B9F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938" y="1335087"/>
            <a:ext cx="20637" cy="3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 name="Rectangle 9">
            <a:extLst>
              <a:ext uri="{FF2B5EF4-FFF2-40B4-BE49-F238E27FC236}">
                <a16:creationId xmlns:a16="http://schemas.microsoft.com/office/drawing/2014/main" id="{94C6F797-E5F8-495F-83EF-C17889ECDDA2}"/>
              </a:ext>
            </a:extLst>
          </p:cNvPr>
          <p:cNvSpPr>
            <a:spLocks noChangeArrowheads="1"/>
          </p:cNvSpPr>
          <p:nvPr/>
        </p:nvSpPr>
        <p:spPr bwMode="auto">
          <a:xfrm>
            <a:off x="5135563" y="1211262"/>
            <a:ext cx="560387"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88" name="Rectangle 10">
            <a:extLst>
              <a:ext uri="{FF2B5EF4-FFF2-40B4-BE49-F238E27FC236}">
                <a16:creationId xmlns:a16="http://schemas.microsoft.com/office/drawing/2014/main" id="{CAB44404-35EF-4FA6-A3D8-89EF519F0C4F}"/>
              </a:ext>
            </a:extLst>
          </p:cNvPr>
          <p:cNvSpPr>
            <a:spLocks noChangeArrowheads="1"/>
          </p:cNvSpPr>
          <p:nvPr/>
        </p:nvSpPr>
        <p:spPr bwMode="auto">
          <a:xfrm>
            <a:off x="5688013" y="1211262"/>
            <a:ext cx="741362"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89" name="Rectangle 11">
            <a:extLst>
              <a:ext uri="{FF2B5EF4-FFF2-40B4-BE49-F238E27FC236}">
                <a16:creationId xmlns:a16="http://schemas.microsoft.com/office/drawing/2014/main" id="{062D7193-9486-4C03-AEFE-5CE6E50C4618}"/>
              </a:ext>
            </a:extLst>
          </p:cNvPr>
          <p:cNvSpPr>
            <a:spLocks noChangeArrowheads="1"/>
          </p:cNvSpPr>
          <p:nvPr/>
        </p:nvSpPr>
        <p:spPr bwMode="auto">
          <a:xfrm>
            <a:off x="6421438" y="1211262"/>
            <a:ext cx="546100"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90" name="Rectangle 12">
            <a:extLst>
              <a:ext uri="{FF2B5EF4-FFF2-40B4-BE49-F238E27FC236}">
                <a16:creationId xmlns:a16="http://schemas.microsoft.com/office/drawing/2014/main" id="{61D99219-D271-478C-B16C-7C88D5588E87}"/>
              </a:ext>
            </a:extLst>
          </p:cNvPr>
          <p:cNvSpPr>
            <a:spLocks noChangeArrowheads="1"/>
          </p:cNvSpPr>
          <p:nvPr/>
        </p:nvSpPr>
        <p:spPr bwMode="auto">
          <a:xfrm>
            <a:off x="6958013" y="1211262"/>
            <a:ext cx="741362"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91" name="Rectangle 13">
            <a:extLst>
              <a:ext uri="{FF2B5EF4-FFF2-40B4-BE49-F238E27FC236}">
                <a16:creationId xmlns:a16="http://schemas.microsoft.com/office/drawing/2014/main" id="{B5CF61F6-CDA7-40C3-825B-DA744145A09E}"/>
              </a:ext>
            </a:extLst>
          </p:cNvPr>
          <p:cNvSpPr>
            <a:spLocks noChangeArrowheads="1"/>
          </p:cNvSpPr>
          <p:nvPr/>
        </p:nvSpPr>
        <p:spPr bwMode="auto">
          <a:xfrm>
            <a:off x="7693025" y="1211262"/>
            <a:ext cx="574675"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92" name="Rectangle 14">
            <a:extLst>
              <a:ext uri="{FF2B5EF4-FFF2-40B4-BE49-F238E27FC236}">
                <a16:creationId xmlns:a16="http://schemas.microsoft.com/office/drawing/2014/main" id="{023091C6-5049-46E0-9D3C-7D91EFCA26BC}"/>
              </a:ext>
            </a:extLst>
          </p:cNvPr>
          <p:cNvSpPr>
            <a:spLocks noChangeArrowheads="1"/>
          </p:cNvSpPr>
          <p:nvPr/>
        </p:nvSpPr>
        <p:spPr bwMode="auto">
          <a:xfrm>
            <a:off x="8266113" y="1211262"/>
            <a:ext cx="725487"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93" name="Rectangle 15">
            <a:extLst>
              <a:ext uri="{FF2B5EF4-FFF2-40B4-BE49-F238E27FC236}">
                <a16:creationId xmlns:a16="http://schemas.microsoft.com/office/drawing/2014/main" id="{D1EB27C3-B7F7-4EAA-9680-3356C03F2114}"/>
              </a:ext>
            </a:extLst>
          </p:cNvPr>
          <p:cNvSpPr>
            <a:spLocks noChangeArrowheads="1"/>
          </p:cNvSpPr>
          <p:nvPr/>
        </p:nvSpPr>
        <p:spPr bwMode="auto">
          <a:xfrm>
            <a:off x="8982075" y="1211262"/>
            <a:ext cx="725488"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94" name="Rectangle 16">
            <a:extLst>
              <a:ext uri="{FF2B5EF4-FFF2-40B4-BE49-F238E27FC236}">
                <a16:creationId xmlns:a16="http://schemas.microsoft.com/office/drawing/2014/main" id="{5C59D64C-46C2-4D16-B204-11E4EF2368C2}"/>
              </a:ext>
            </a:extLst>
          </p:cNvPr>
          <p:cNvSpPr>
            <a:spLocks noChangeArrowheads="1"/>
          </p:cNvSpPr>
          <p:nvPr/>
        </p:nvSpPr>
        <p:spPr bwMode="auto">
          <a:xfrm>
            <a:off x="9688513" y="1211262"/>
            <a:ext cx="655637"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95" name="Rectangle 17">
            <a:extLst>
              <a:ext uri="{FF2B5EF4-FFF2-40B4-BE49-F238E27FC236}">
                <a16:creationId xmlns:a16="http://schemas.microsoft.com/office/drawing/2014/main" id="{B5EE7C5E-E63B-456D-814A-4EF16BBA8C79}"/>
              </a:ext>
            </a:extLst>
          </p:cNvPr>
          <p:cNvSpPr>
            <a:spLocks noChangeArrowheads="1"/>
          </p:cNvSpPr>
          <p:nvPr/>
        </p:nvSpPr>
        <p:spPr bwMode="auto">
          <a:xfrm>
            <a:off x="4591050" y="1211262"/>
            <a:ext cx="560388"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96" name="Rectangle 18">
            <a:extLst>
              <a:ext uri="{FF2B5EF4-FFF2-40B4-BE49-F238E27FC236}">
                <a16:creationId xmlns:a16="http://schemas.microsoft.com/office/drawing/2014/main" id="{1DC4E134-D78B-4418-A164-F86E8FAE9CC7}"/>
              </a:ext>
            </a:extLst>
          </p:cNvPr>
          <p:cNvSpPr>
            <a:spLocks noChangeArrowheads="1"/>
          </p:cNvSpPr>
          <p:nvPr/>
        </p:nvSpPr>
        <p:spPr bwMode="auto">
          <a:xfrm>
            <a:off x="2863850" y="1211262"/>
            <a:ext cx="950913" cy="569913"/>
          </a:xfrm>
          <a:prstGeom prst="rect">
            <a:avLst/>
          </a:prstGeom>
          <a:gradFill rotWithShape="0">
            <a:gsLst>
              <a:gs pos="0">
                <a:srgbClr val="412900"/>
              </a:gs>
              <a:gs pos="50000">
                <a:srgbClr val="C27C00"/>
              </a:gs>
              <a:gs pos="100000">
                <a:srgbClr val="412900"/>
              </a:gs>
            </a:gsLst>
            <a:lin ang="2700000" scaled="1"/>
          </a:gradFill>
          <a:ln w="12700">
            <a:solidFill>
              <a:srgbClr val="FFB735"/>
            </a:solidFill>
            <a:miter lim="800000"/>
            <a:headEnd/>
            <a:tailEnd/>
          </a:ln>
        </p:spPr>
        <p:txBody>
          <a:bodyPr wrap="none"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97" name="Rectangle 19">
            <a:extLst>
              <a:ext uri="{FF2B5EF4-FFF2-40B4-BE49-F238E27FC236}">
                <a16:creationId xmlns:a16="http://schemas.microsoft.com/office/drawing/2014/main" id="{6F8472C9-18C9-476F-A5C1-5E691986DFD8}"/>
              </a:ext>
            </a:extLst>
          </p:cNvPr>
          <p:cNvSpPr>
            <a:spLocks noChangeArrowheads="1"/>
          </p:cNvSpPr>
          <p:nvPr/>
        </p:nvSpPr>
        <p:spPr bwMode="auto">
          <a:xfrm>
            <a:off x="2895600" y="1206500"/>
            <a:ext cx="893763" cy="579437"/>
          </a:xfrm>
          <a:prstGeom prst="rect">
            <a:avLst/>
          </a:prstGeom>
          <a:noFill/>
          <a:ln w="12700">
            <a:noFill/>
            <a:miter lim="800000"/>
            <a:headEnd/>
            <a:tailEnd/>
          </a:ln>
          <a:effectLst/>
        </p:spPr>
        <p:txBody>
          <a:bodyPr wrap="none" lIns="1951139" tIns="975583" rIns="1951139" bIns="975583" anchor="ctr"/>
          <a:lstStyle/>
          <a:p>
            <a:pPr algn="ctr" defTabSz="822325" fontAlgn="base">
              <a:lnSpc>
                <a:spcPct val="90000"/>
              </a:lnSpc>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a:p>
            <a:pPr algn="ctr" defTabSz="822325" fontAlgn="base">
              <a:lnSpc>
                <a:spcPct val="90000"/>
              </a:lnSpc>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98" name="Rectangle 20">
            <a:extLst>
              <a:ext uri="{FF2B5EF4-FFF2-40B4-BE49-F238E27FC236}">
                <a16:creationId xmlns:a16="http://schemas.microsoft.com/office/drawing/2014/main" id="{23A2BC2E-ECD7-4AFD-A4B8-421B3A567289}"/>
              </a:ext>
            </a:extLst>
          </p:cNvPr>
          <p:cNvSpPr>
            <a:spLocks noChangeArrowheads="1"/>
          </p:cNvSpPr>
          <p:nvPr/>
        </p:nvSpPr>
        <p:spPr bwMode="auto">
          <a:xfrm>
            <a:off x="4575175" y="1206500"/>
            <a:ext cx="604838"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99" name="Rectangle 21">
            <a:extLst>
              <a:ext uri="{FF2B5EF4-FFF2-40B4-BE49-F238E27FC236}">
                <a16:creationId xmlns:a16="http://schemas.microsoft.com/office/drawing/2014/main" id="{FC971FD3-F40E-4510-BAB3-14F11D06585B}"/>
              </a:ext>
            </a:extLst>
          </p:cNvPr>
          <p:cNvSpPr>
            <a:spLocks noChangeArrowheads="1"/>
          </p:cNvSpPr>
          <p:nvPr/>
        </p:nvSpPr>
        <p:spPr bwMode="auto">
          <a:xfrm>
            <a:off x="5075238" y="1206500"/>
            <a:ext cx="601662"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100" name="Rectangle 22">
            <a:extLst>
              <a:ext uri="{FF2B5EF4-FFF2-40B4-BE49-F238E27FC236}">
                <a16:creationId xmlns:a16="http://schemas.microsoft.com/office/drawing/2014/main" id="{E1907F9D-28D9-49B2-9B9A-2CEA54ECDA45}"/>
              </a:ext>
            </a:extLst>
          </p:cNvPr>
          <p:cNvSpPr>
            <a:spLocks noChangeArrowheads="1"/>
          </p:cNvSpPr>
          <p:nvPr/>
        </p:nvSpPr>
        <p:spPr bwMode="auto">
          <a:xfrm>
            <a:off x="5675313" y="1206500"/>
            <a:ext cx="727075"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101" name="Rectangle 23">
            <a:extLst>
              <a:ext uri="{FF2B5EF4-FFF2-40B4-BE49-F238E27FC236}">
                <a16:creationId xmlns:a16="http://schemas.microsoft.com/office/drawing/2014/main" id="{43D42704-7B74-4FDE-8DC2-CA9C3F4DEF0C}"/>
              </a:ext>
            </a:extLst>
          </p:cNvPr>
          <p:cNvSpPr>
            <a:spLocks noChangeArrowheads="1"/>
          </p:cNvSpPr>
          <p:nvPr/>
        </p:nvSpPr>
        <p:spPr bwMode="auto">
          <a:xfrm>
            <a:off x="6402388" y="1206500"/>
            <a:ext cx="601662"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102" name="Rectangle 24">
            <a:extLst>
              <a:ext uri="{FF2B5EF4-FFF2-40B4-BE49-F238E27FC236}">
                <a16:creationId xmlns:a16="http://schemas.microsoft.com/office/drawing/2014/main" id="{DD5EF6C5-FA37-44AB-B130-30851E9D8F75}"/>
              </a:ext>
            </a:extLst>
          </p:cNvPr>
          <p:cNvSpPr>
            <a:spLocks noChangeArrowheads="1"/>
          </p:cNvSpPr>
          <p:nvPr/>
        </p:nvSpPr>
        <p:spPr bwMode="auto">
          <a:xfrm>
            <a:off x="7002463" y="1206500"/>
            <a:ext cx="652462"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103" name="Rectangle 25">
            <a:extLst>
              <a:ext uri="{FF2B5EF4-FFF2-40B4-BE49-F238E27FC236}">
                <a16:creationId xmlns:a16="http://schemas.microsoft.com/office/drawing/2014/main" id="{4A6FEFC6-4551-4117-B0F3-7E5E75AAC85C}"/>
              </a:ext>
            </a:extLst>
          </p:cNvPr>
          <p:cNvSpPr>
            <a:spLocks noChangeArrowheads="1"/>
          </p:cNvSpPr>
          <p:nvPr/>
        </p:nvSpPr>
        <p:spPr bwMode="auto">
          <a:xfrm>
            <a:off x="7654925" y="1206500"/>
            <a:ext cx="657225"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104" name="Rectangle 26">
            <a:extLst>
              <a:ext uri="{FF2B5EF4-FFF2-40B4-BE49-F238E27FC236}">
                <a16:creationId xmlns:a16="http://schemas.microsoft.com/office/drawing/2014/main" id="{616D8F74-2445-4F02-9882-B849310DD70D}"/>
              </a:ext>
            </a:extLst>
          </p:cNvPr>
          <p:cNvSpPr>
            <a:spLocks noChangeArrowheads="1"/>
          </p:cNvSpPr>
          <p:nvPr/>
        </p:nvSpPr>
        <p:spPr bwMode="auto">
          <a:xfrm>
            <a:off x="8278813" y="1206500"/>
            <a:ext cx="717550"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105" name="Rectangle 27">
            <a:extLst>
              <a:ext uri="{FF2B5EF4-FFF2-40B4-BE49-F238E27FC236}">
                <a16:creationId xmlns:a16="http://schemas.microsoft.com/office/drawing/2014/main" id="{EC1F78FF-6C1D-4DAE-B2D4-9DA4F7550EA9}"/>
              </a:ext>
            </a:extLst>
          </p:cNvPr>
          <p:cNvSpPr>
            <a:spLocks noChangeArrowheads="1"/>
          </p:cNvSpPr>
          <p:nvPr/>
        </p:nvSpPr>
        <p:spPr bwMode="auto">
          <a:xfrm>
            <a:off x="8969375" y="1206500"/>
            <a:ext cx="720725"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106" name="Rectangle 28">
            <a:extLst>
              <a:ext uri="{FF2B5EF4-FFF2-40B4-BE49-F238E27FC236}">
                <a16:creationId xmlns:a16="http://schemas.microsoft.com/office/drawing/2014/main" id="{B20DE294-687D-47F6-8A75-DE6B91C69431}"/>
              </a:ext>
            </a:extLst>
          </p:cNvPr>
          <p:cNvSpPr>
            <a:spLocks noChangeArrowheads="1"/>
          </p:cNvSpPr>
          <p:nvPr/>
        </p:nvSpPr>
        <p:spPr bwMode="auto">
          <a:xfrm>
            <a:off x="9674225" y="1206500"/>
            <a:ext cx="657225" cy="579437"/>
          </a:xfrm>
          <a:prstGeom prst="rect">
            <a:avLst/>
          </a:prstGeom>
          <a:noFill/>
          <a:ln w="12700">
            <a:noFill/>
            <a:miter lim="800000"/>
            <a:headEnd/>
            <a:tailEnd/>
          </a:ln>
          <a:effectLst/>
        </p:spPr>
        <p:txBody>
          <a:bodyPr wrap="none" lIns="1951139" tIns="975583" rIns="1951139" bIns="975583" anchor="ctr"/>
          <a:lstStyle/>
          <a:p>
            <a:pPr algn="ctr" defTabSz="822325" fontAlgn="base">
              <a:spcBef>
                <a:spcPct val="0"/>
              </a:spcBef>
              <a:spcAft>
                <a:spcPct val="0"/>
              </a:spcAft>
              <a:defRPr/>
            </a:pPr>
            <a:endPar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endParaRPr>
          </a:p>
        </p:txBody>
      </p:sp>
      <p:sp>
        <p:nvSpPr>
          <p:cNvPr id="107" name="Rectangle 29">
            <a:extLst>
              <a:ext uri="{FF2B5EF4-FFF2-40B4-BE49-F238E27FC236}">
                <a16:creationId xmlns:a16="http://schemas.microsoft.com/office/drawing/2014/main" id="{EAC9215D-6BDD-4984-BABC-C67BA3A0D01D}"/>
              </a:ext>
            </a:extLst>
          </p:cNvPr>
          <p:cNvSpPr>
            <a:spLocks noChangeArrowheads="1"/>
          </p:cNvSpPr>
          <p:nvPr/>
        </p:nvSpPr>
        <p:spPr bwMode="auto">
          <a:xfrm>
            <a:off x="3805238" y="1209675"/>
            <a:ext cx="779462" cy="571500"/>
          </a:xfrm>
          <a:prstGeom prst="rect">
            <a:avLst/>
          </a:prstGeom>
          <a:gradFill rotWithShape="0">
            <a:gsLst>
              <a:gs pos="0">
                <a:srgbClr val="7B00E4">
                  <a:gamma/>
                  <a:shade val="29804"/>
                  <a:invGamma/>
                </a:srgbClr>
              </a:gs>
              <a:gs pos="50000">
                <a:srgbClr val="7B00E4"/>
              </a:gs>
              <a:gs pos="100000">
                <a:srgbClr val="7B00E4">
                  <a:gamma/>
                  <a:shade val="29804"/>
                  <a:invGamma/>
                </a:srgbClr>
              </a:gs>
            </a:gsLst>
            <a:lin ang="2700000" scaled="1"/>
          </a:gradFill>
          <a:ln w="12700">
            <a:solidFill>
              <a:srgbClr val="CC99FF"/>
            </a:solidFill>
            <a:miter lim="800000"/>
            <a:headEnd/>
            <a:tailEnd/>
          </a:ln>
          <a:effectLst/>
        </p:spPr>
        <p:txBody>
          <a:bodyPr wrap="none" anchor="ctr"/>
          <a:lstStyle/>
          <a:p>
            <a:pPr algn="ctr" fontAlgn="base">
              <a:spcBef>
                <a:spcPct val="0"/>
              </a:spcBef>
              <a:spcAft>
                <a:spcPct val="0"/>
              </a:spcAft>
              <a:defRPr/>
            </a:pPr>
            <a:endParaRPr kumimoji="1" lang="en-US" altLang="en-US" b="1">
              <a:solidFill>
                <a:srgbClr val="666699"/>
              </a:solidFill>
              <a:effectLst>
                <a:outerShdw blurRad="38100" dist="38100" dir="2700000" algn="tl">
                  <a:srgbClr val="000000"/>
                </a:outerShdw>
              </a:effectLst>
              <a:latin typeface="Helvetica" pitchFamily="34" charset="0"/>
              <a:ea typeface="宋体" panose="02010600030101010101" pitchFamily="2" charset="-122"/>
            </a:endParaRPr>
          </a:p>
        </p:txBody>
      </p:sp>
      <p:sp>
        <p:nvSpPr>
          <p:cNvPr id="108" name="Rectangle 30">
            <a:extLst>
              <a:ext uri="{FF2B5EF4-FFF2-40B4-BE49-F238E27FC236}">
                <a16:creationId xmlns:a16="http://schemas.microsoft.com/office/drawing/2014/main" id="{ACCFC18B-E318-45F4-A6D8-02BCA13FC4BA}"/>
              </a:ext>
            </a:extLst>
          </p:cNvPr>
          <p:cNvSpPr>
            <a:spLocks noChangeArrowheads="1"/>
          </p:cNvSpPr>
          <p:nvPr/>
        </p:nvSpPr>
        <p:spPr bwMode="auto">
          <a:xfrm>
            <a:off x="3749675" y="1220787"/>
            <a:ext cx="892175" cy="600075"/>
          </a:xfrm>
          <a:prstGeom prst="rect">
            <a:avLst/>
          </a:prstGeom>
          <a:noFill/>
          <a:ln w="9525">
            <a:noFill/>
            <a:miter lim="800000"/>
            <a:headEnd/>
            <a:tailEnd/>
          </a:ln>
          <a:effectLst/>
        </p:spPr>
        <p:txBody>
          <a:bodyPr wrap="none" lIns="103548" tIns="51774" rIns="103548" bIns="51774">
            <a:spAutoFit/>
          </a:bodyPr>
          <a:lstStyle/>
          <a:p>
            <a:pPr algn="ctr" defTabSz="1028700" fontAlgn="base">
              <a:lnSpc>
                <a:spcPct val="90000"/>
              </a:lnSpc>
              <a:spcBef>
                <a:spcPct val="0"/>
              </a:spcBef>
              <a:spcAft>
                <a:spcPct val="0"/>
              </a:spcAft>
              <a:defRPr/>
            </a:pPr>
            <a:r>
              <a:rPr kumimoji="1" lang="en-US" altLang="zh-CN" b="1" dirty="0" err="1">
                <a:solidFill>
                  <a:srgbClr val="666699"/>
                </a:solidFill>
                <a:effectLst>
                  <a:outerShdw blurRad="38100" dist="38100" dir="2700000" algn="tl">
                    <a:srgbClr val="C0C0C0"/>
                  </a:outerShdw>
                </a:effectLst>
                <a:latin typeface="Helvetica" pitchFamily="34" charset="0"/>
                <a:ea typeface="宋体" panose="02010600030101010101" pitchFamily="2" charset="-122"/>
              </a:rPr>
              <a:t>ToS</a:t>
            </a:r>
            <a:br>
              <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rPr>
            </a:br>
            <a:r>
              <a:rPr kumimoji="1" lang="en-US" altLang="zh-CN" b="1" dirty="0">
                <a:solidFill>
                  <a:srgbClr val="666699"/>
                </a:solidFill>
                <a:effectLst>
                  <a:outerShdw blurRad="38100" dist="38100" dir="2700000" algn="tl">
                    <a:srgbClr val="C0C0C0"/>
                  </a:outerShdw>
                </a:effectLst>
                <a:latin typeface="Helvetica" pitchFamily="34" charset="0"/>
                <a:ea typeface="宋体" panose="02010600030101010101" pitchFamily="2" charset="-122"/>
              </a:rPr>
              <a:t>1 Byte</a:t>
            </a:r>
          </a:p>
        </p:txBody>
      </p:sp>
      <p:sp>
        <p:nvSpPr>
          <p:cNvPr id="109" name="Rectangle 33">
            <a:extLst>
              <a:ext uri="{FF2B5EF4-FFF2-40B4-BE49-F238E27FC236}">
                <a16:creationId xmlns:a16="http://schemas.microsoft.com/office/drawing/2014/main" id="{62C506D4-CC12-4ED0-BD39-B3F5E06E0631}"/>
              </a:ext>
            </a:extLst>
          </p:cNvPr>
          <p:cNvSpPr>
            <a:spLocks noChangeArrowheads="1"/>
          </p:cNvSpPr>
          <p:nvPr/>
        </p:nvSpPr>
        <p:spPr bwMode="auto">
          <a:xfrm>
            <a:off x="7505700" y="3206750"/>
            <a:ext cx="1550988" cy="398462"/>
          </a:xfrm>
          <a:prstGeom prst="rect">
            <a:avLst/>
          </a:prstGeom>
          <a:gradFill rotWithShape="0">
            <a:gsLst>
              <a:gs pos="0">
                <a:srgbClr val="CC9900"/>
              </a:gs>
              <a:gs pos="100000">
                <a:srgbClr val="4A3700"/>
              </a:gs>
            </a:gsLst>
            <a:lin ang="2700000" scaled="1"/>
          </a:gradFill>
          <a:ln w="9525">
            <a:solidFill>
              <a:srgbClr val="003366"/>
            </a:solidFill>
            <a:miter lim="800000"/>
            <a:headEnd/>
            <a:tailEnd/>
          </a:ln>
        </p:spPr>
        <p:txBody>
          <a:bodyPr wrap="none" lIns="92075" tIns="46038" rIns="92075" bIns="46038"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10" name="Rectangle 34">
            <a:extLst>
              <a:ext uri="{FF2B5EF4-FFF2-40B4-BE49-F238E27FC236}">
                <a16:creationId xmlns:a16="http://schemas.microsoft.com/office/drawing/2014/main" id="{2A2DE3BE-7900-4F7C-8F22-025543C6DD21}"/>
              </a:ext>
            </a:extLst>
          </p:cNvPr>
          <p:cNvSpPr>
            <a:spLocks noChangeArrowheads="1"/>
          </p:cNvSpPr>
          <p:nvPr/>
        </p:nvSpPr>
        <p:spPr bwMode="auto">
          <a:xfrm>
            <a:off x="2884488" y="3206750"/>
            <a:ext cx="4614862" cy="398462"/>
          </a:xfrm>
          <a:prstGeom prst="rect">
            <a:avLst/>
          </a:prstGeom>
          <a:gradFill rotWithShape="0">
            <a:gsLst>
              <a:gs pos="0">
                <a:srgbClr val="430086"/>
              </a:gs>
              <a:gs pos="50000">
                <a:srgbClr val="6600CC"/>
              </a:gs>
              <a:gs pos="100000">
                <a:srgbClr val="430086"/>
              </a:gs>
            </a:gsLst>
            <a:lin ang="2700000" scaled="1"/>
          </a:gradFill>
          <a:ln w="9525">
            <a:solidFill>
              <a:srgbClr val="6600CC"/>
            </a:solidFill>
            <a:miter lim="800000"/>
            <a:headEnd type="none" w="sm" len="sm"/>
            <a:tailEnd type="none" w="sm" len="sm"/>
          </a:ln>
        </p:spPr>
        <p:txBody>
          <a:bodyPr wrap="none" lIns="73025" tIns="36512" rIns="73025" bIns="36512"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50000"/>
              </a:spcBef>
              <a:spcAft>
                <a:spcPct val="0"/>
              </a:spcAft>
            </a:pPr>
            <a:endParaRPr lang="en-US" altLang="zh-CN" b="1">
              <a:solidFill>
                <a:srgbClr val="FFFFFF"/>
              </a:solidFill>
              <a:latin typeface="Helvetica" panose="020B0604020202020204" pitchFamily="34" charset="0"/>
            </a:endParaRPr>
          </a:p>
        </p:txBody>
      </p:sp>
      <p:sp>
        <p:nvSpPr>
          <p:cNvPr id="111" name="Line 35">
            <a:extLst>
              <a:ext uri="{FF2B5EF4-FFF2-40B4-BE49-F238E27FC236}">
                <a16:creationId xmlns:a16="http://schemas.microsoft.com/office/drawing/2014/main" id="{85CE3C6A-DC4F-44D6-9581-5E367E3887A1}"/>
              </a:ext>
            </a:extLst>
          </p:cNvPr>
          <p:cNvSpPr>
            <a:spLocks noChangeShapeType="1"/>
          </p:cNvSpPr>
          <p:nvPr/>
        </p:nvSpPr>
        <p:spPr bwMode="auto">
          <a:xfrm>
            <a:off x="6683375" y="3211512"/>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12" name="Line 36">
            <a:extLst>
              <a:ext uri="{FF2B5EF4-FFF2-40B4-BE49-F238E27FC236}">
                <a16:creationId xmlns:a16="http://schemas.microsoft.com/office/drawing/2014/main" id="{1722055F-A2F2-4D4E-A1CF-669955B1371D}"/>
              </a:ext>
            </a:extLst>
          </p:cNvPr>
          <p:cNvSpPr>
            <a:spLocks noChangeShapeType="1"/>
          </p:cNvSpPr>
          <p:nvPr/>
        </p:nvSpPr>
        <p:spPr bwMode="auto">
          <a:xfrm>
            <a:off x="4335463" y="3216275"/>
            <a:ext cx="0" cy="388937"/>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13" name="Text Box 37">
            <a:extLst>
              <a:ext uri="{FF2B5EF4-FFF2-40B4-BE49-F238E27FC236}">
                <a16:creationId xmlns:a16="http://schemas.microsoft.com/office/drawing/2014/main" id="{705DF3D3-A7E0-4F01-814F-CC24258929D6}"/>
              </a:ext>
            </a:extLst>
          </p:cNvPr>
          <p:cNvSpPr txBox="1">
            <a:spLocks noChangeArrowheads="1"/>
          </p:cNvSpPr>
          <p:nvPr/>
        </p:nvSpPr>
        <p:spPr bwMode="auto">
          <a:xfrm>
            <a:off x="8459788" y="3278187"/>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0</a:t>
            </a:r>
          </a:p>
        </p:txBody>
      </p:sp>
      <p:sp>
        <p:nvSpPr>
          <p:cNvPr id="114" name="Text Box 38">
            <a:extLst>
              <a:ext uri="{FF2B5EF4-FFF2-40B4-BE49-F238E27FC236}">
                <a16:creationId xmlns:a16="http://schemas.microsoft.com/office/drawing/2014/main" id="{1BBC6338-374B-4624-81D3-857A8D2A2974}"/>
              </a:ext>
            </a:extLst>
          </p:cNvPr>
          <p:cNvSpPr txBox="1">
            <a:spLocks noChangeArrowheads="1"/>
          </p:cNvSpPr>
          <p:nvPr/>
        </p:nvSpPr>
        <p:spPr bwMode="auto">
          <a:xfrm>
            <a:off x="3021013" y="3278187"/>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7</a:t>
            </a:r>
          </a:p>
        </p:txBody>
      </p:sp>
      <p:sp>
        <p:nvSpPr>
          <p:cNvPr id="115" name="Text Box 39">
            <a:extLst>
              <a:ext uri="{FF2B5EF4-FFF2-40B4-BE49-F238E27FC236}">
                <a16:creationId xmlns:a16="http://schemas.microsoft.com/office/drawing/2014/main" id="{9F3BA4BE-60D7-4A62-871B-58BBA0DD5E67}"/>
              </a:ext>
            </a:extLst>
          </p:cNvPr>
          <p:cNvSpPr txBox="1">
            <a:spLocks noChangeArrowheads="1"/>
          </p:cNvSpPr>
          <p:nvPr/>
        </p:nvSpPr>
        <p:spPr bwMode="auto">
          <a:xfrm>
            <a:off x="7780338" y="3265487"/>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1</a:t>
            </a:r>
          </a:p>
        </p:txBody>
      </p:sp>
      <p:sp>
        <p:nvSpPr>
          <p:cNvPr id="116" name="Text Box 40">
            <a:extLst>
              <a:ext uri="{FF2B5EF4-FFF2-40B4-BE49-F238E27FC236}">
                <a16:creationId xmlns:a16="http://schemas.microsoft.com/office/drawing/2014/main" id="{2E652160-E8A3-41EB-AE47-D5DCCFE64473}"/>
              </a:ext>
            </a:extLst>
          </p:cNvPr>
          <p:cNvSpPr txBox="1">
            <a:spLocks noChangeArrowheads="1"/>
          </p:cNvSpPr>
          <p:nvPr/>
        </p:nvSpPr>
        <p:spPr bwMode="auto">
          <a:xfrm>
            <a:off x="7007225" y="3244850"/>
            <a:ext cx="2730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2</a:t>
            </a:r>
          </a:p>
        </p:txBody>
      </p:sp>
      <p:sp>
        <p:nvSpPr>
          <p:cNvPr id="117" name="Line 41">
            <a:extLst>
              <a:ext uri="{FF2B5EF4-FFF2-40B4-BE49-F238E27FC236}">
                <a16:creationId xmlns:a16="http://schemas.microsoft.com/office/drawing/2014/main" id="{9BD32AE3-0DAB-4E65-87FD-670D04F968AA}"/>
              </a:ext>
            </a:extLst>
          </p:cNvPr>
          <p:cNvSpPr>
            <a:spLocks noChangeShapeType="1"/>
          </p:cNvSpPr>
          <p:nvPr/>
        </p:nvSpPr>
        <p:spPr bwMode="auto">
          <a:xfrm>
            <a:off x="5886450" y="3213100"/>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18" name="Line 42">
            <a:extLst>
              <a:ext uri="{FF2B5EF4-FFF2-40B4-BE49-F238E27FC236}">
                <a16:creationId xmlns:a16="http://schemas.microsoft.com/office/drawing/2014/main" id="{155B8E72-F6DC-42CA-BCEA-07DA9B7A1FBF}"/>
              </a:ext>
            </a:extLst>
          </p:cNvPr>
          <p:cNvSpPr>
            <a:spLocks noChangeShapeType="1"/>
          </p:cNvSpPr>
          <p:nvPr/>
        </p:nvSpPr>
        <p:spPr bwMode="auto">
          <a:xfrm>
            <a:off x="5075238" y="3213100"/>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19" name="Line 43">
            <a:extLst>
              <a:ext uri="{FF2B5EF4-FFF2-40B4-BE49-F238E27FC236}">
                <a16:creationId xmlns:a16="http://schemas.microsoft.com/office/drawing/2014/main" id="{FB5B88DD-3EAF-479B-8E50-9C758B18EE0A}"/>
              </a:ext>
            </a:extLst>
          </p:cNvPr>
          <p:cNvSpPr>
            <a:spLocks noChangeShapeType="1"/>
          </p:cNvSpPr>
          <p:nvPr/>
        </p:nvSpPr>
        <p:spPr bwMode="auto">
          <a:xfrm>
            <a:off x="3533775" y="3213100"/>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20" name="Line 44">
            <a:extLst>
              <a:ext uri="{FF2B5EF4-FFF2-40B4-BE49-F238E27FC236}">
                <a16:creationId xmlns:a16="http://schemas.microsoft.com/office/drawing/2014/main" id="{A34D97F4-DEAC-4614-8A8E-7EBCED5D61D0}"/>
              </a:ext>
            </a:extLst>
          </p:cNvPr>
          <p:cNvSpPr>
            <a:spLocks noChangeShapeType="1"/>
          </p:cNvSpPr>
          <p:nvPr/>
        </p:nvSpPr>
        <p:spPr bwMode="auto">
          <a:xfrm>
            <a:off x="8332788" y="3213100"/>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21" name="Text Box 45">
            <a:extLst>
              <a:ext uri="{FF2B5EF4-FFF2-40B4-BE49-F238E27FC236}">
                <a16:creationId xmlns:a16="http://schemas.microsoft.com/office/drawing/2014/main" id="{26909B93-58CC-4945-8761-48EF8A41000C}"/>
              </a:ext>
            </a:extLst>
          </p:cNvPr>
          <p:cNvSpPr txBox="1">
            <a:spLocks noChangeArrowheads="1"/>
          </p:cNvSpPr>
          <p:nvPr/>
        </p:nvSpPr>
        <p:spPr bwMode="auto">
          <a:xfrm>
            <a:off x="6208713" y="3268662"/>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3</a:t>
            </a:r>
          </a:p>
        </p:txBody>
      </p:sp>
      <p:sp>
        <p:nvSpPr>
          <p:cNvPr id="122" name="Text Box 46">
            <a:extLst>
              <a:ext uri="{FF2B5EF4-FFF2-40B4-BE49-F238E27FC236}">
                <a16:creationId xmlns:a16="http://schemas.microsoft.com/office/drawing/2014/main" id="{6363684E-0248-4A67-B2E9-D5675B73506D}"/>
              </a:ext>
            </a:extLst>
          </p:cNvPr>
          <p:cNvSpPr txBox="1">
            <a:spLocks noChangeArrowheads="1"/>
          </p:cNvSpPr>
          <p:nvPr/>
        </p:nvSpPr>
        <p:spPr bwMode="auto">
          <a:xfrm>
            <a:off x="5411788" y="3278187"/>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4</a:t>
            </a:r>
          </a:p>
        </p:txBody>
      </p:sp>
      <p:sp>
        <p:nvSpPr>
          <p:cNvPr id="123" name="Text Box 47">
            <a:extLst>
              <a:ext uri="{FF2B5EF4-FFF2-40B4-BE49-F238E27FC236}">
                <a16:creationId xmlns:a16="http://schemas.microsoft.com/office/drawing/2014/main" id="{E0BECCC4-2240-4631-A6D4-EA953A1ABDEB}"/>
              </a:ext>
            </a:extLst>
          </p:cNvPr>
          <p:cNvSpPr txBox="1">
            <a:spLocks noChangeArrowheads="1"/>
          </p:cNvSpPr>
          <p:nvPr/>
        </p:nvSpPr>
        <p:spPr bwMode="auto">
          <a:xfrm>
            <a:off x="4560888" y="3278187"/>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5</a:t>
            </a:r>
          </a:p>
        </p:txBody>
      </p:sp>
      <p:sp>
        <p:nvSpPr>
          <p:cNvPr id="124" name="Text Box 48">
            <a:extLst>
              <a:ext uri="{FF2B5EF4-FFF2-40B4-BE49-F238E27FC236}">
                <a16:creationId xmlns:a16="http://schemas.microsoft.com/office/drawing/2014/main" id="{FB0B2687-9911-40EB-9887-A0A4E2200B1E}"/>
              </a:ext>
            </a:extLst>
          </p:cNvPr>
          <p:cNvSpPr txBox="1">
            <a:spLocks noChangeArrowheads="1"/>
          </p:cNvSpPr>
          <p:nvPr/>
        </p:nvSpPr>
        <p:spPr bwMode="auto">
          <a:xfrm>
            <a:off x="3857625" y="3278187"/>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6</a:t>
            </a:r>
          </a:p>
        </p:txBody>
      </p:sp>
      <p:sp>
        <p:nvSpPr>
          <p:cNvPr id="125" name="AutoShape 49">
            <a:extLst>
              <a:ext uri="{FF2B5EF4-FFF2-40B4-BE49-F238E27FC236}">
                <a16:creationId xmlns:a16="http://schemas.microsoft.com/office/drawing/2014/main" id="{22AF801C-720B-41FD-A343-5A5D9691596E}"/>
              </a:ext>
            </a:extLst>
          </p:cNvPr>
          <p:cNvSpPr>
            <a:spLocks/>
          </p:cNvSpPr>
          <p:nvPr/>
        </p:nvSpPr>
        <p:spPr bwMode="auto">
          <a:xfrm rot="16200000">
            <a:off x="5005388" y="1519237"/>
            <a:ext cx="369888" cy="4529137"/>
          </a:xfrm>
          <a:prstGeom prst="leftBrace">
            <a:avLst>
              <a:gd name="adj1" fmla="val 102038"/>
              <a:gd name="adj2" fmla="val 50000"/>
            </a:avLst>
          </a:prstGeom>
          <a:noFill/>
          <a:ln w="38100">
            <a:solidFill>
              <a:srgbClr val="6600C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26" name="Text Box 50">
            <a:extLst>
              <a:ext uri="{FF2B5EF4-FFF2-40B4-BE49-F238E27FC236}">
                <a16:creationId xmlns:a16="http://schemas.microsoft.com/office/drawing/2014/main" id="{7C4F1C03-8F94-4D8F-A082-B65D92493EAD}"/>
              </a:ext>
            </a:extLst>
          </p:cNvPr>
          <p:cNvSpPr txBox="1">
            <a:spLocks noChangeArrowheads="1"/>
          </p:cNvSpPr>
          <p:nvPr/>
        </p:nvSpPr>
        <p:spPr bwMode="auto">
          <a:xfrm>
            <a:off x="4811713" y="3968750"/>
            <a:ext cx="7810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dirty="0">
                <a:solidFill>
                  <a:srgbClr val="003366"/>
                </a:solidFill>
                <a:latin typeface="Helvetica" panose="020B0604020202020204" pitchFamily="34" charset="0"/>
              </a:rPr>
              <a:t>DSCP</a:t>
            </a:r>
          </a:p>
        </p:txBody>
      </p:sp>
      <p:sp>
        <p:nvSpPr>
          <p:cNvPr id="127" name="AutoShape 51">
            <a:extLst>
              <a:ext uri="{FF2B5EF4-FFF2-40B4-BE49-F238E27FC236}">
                <a16:creationId xmlns:a16="http://schemas.microsoft.com/office/drawing/2014/main" id="{50D7FF5D-DC2B-4835-8164-1B479CB9D8DB}"/>
              </a:ext>
            </a:extLst>
          </p:cNvPr>
          <p:cNvSpPr>
            <a:spLocks/>
          </p:cNvSpPr>
          <p:nvPr/>
        </p:nvSpPr>
        <p:spPr bwMode="auto">
          <a:xfrm rot="16200000">
            <a:off x="8124031" y="2996406"/>
            <a:ext cx="287338" cy="1504950"/>
          </a:xfrm>
          <a:prstGeom prst="leftBrace">
            <a:avLst>
              <a:gd name="adj1" fmla="val 43646"/>
              <a:gd name="adj2" fmla="val 50000"/>
            </a:avLst>
          </a:prstGeom>
          <a:noFill/>
          <a:ln w="38100">
            <a:solidFill>
              <a:srgbClr val="6600C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lIns="73025" tIns="36512" rIns="73025" bIns="36512"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pPr>
            <a:endParaRPr lang="en-US" altLang="zh-CN" sz="1500" b="1">
              <a:solidFill>
                <a:srgbClr val="003366"/>
              </a:solidFill>
              <a:latin typeface="Helvetica" panose="020B0604020202020204" pitchFamily="34" charset="0"/>
            </a:endParaRPr>
          </a:p>
        </p:txBody>
      </p:sp>
      <p:sp>
        <p:nvSpPr>
          <p:cNvPr id="128" name="Rectangle 52">
            <a:extLst>
              <a:ext uri="{FF2B5EF4-FFF2-40B4-BE49-F238E27FC236}">
                <a16:creationId xmlns:a16="http://schemas.microsoft.com/office/drawing/2014/main" id="{8BDD761B-EF1A-4C2E-9EBE-66A5D7AC693B}"/>
              </a:ext>
            </a:extLst>
          </p:cNvPr>
          <p:cNvSpPr>
            <a:spLocks noChangeArrowheads="1"/>
          </p:cNvSpPr>
          <p:nvPr/>
        </p:nvSpPr>
        <p:spPr bwMode="auto">
          <a:xfrm>
            <a:off x="7505700" y="2124075"/>
            <a:ext cx="1550988" cy="398462"/>
          </a:xfrm>
          <a:prstGeom prst="rect">
            <a:avLst/>
          </a:prstGeom>
          <a:gradFill rotWithShape="0">
            <a:gsLst>
              <a:gs pos="0">
                <a:srgbClr val="CC9900"/>
              </a:gs>
              <a:gs pos="100000">
                <a:srgbClr val="4A3700"/>
              </a:gs>
            </a:gsLst>
            <a:lin ang="2700000" scaled="1"/>
          </a:gradFill>
          <a:ln w="9525">
            <a:solidFill>
              <a:srgbClr val="003366"/>
            </a:solidFill>
            <a:miter lim="800000"/>
            <a:headEnd/>
            <a:tailEnd/>
          </a:ln>
        </p:spPr>
        <p:txBody>
          <a:bodyPr wrap="none" lIns="92075" tIns="46038" rIns="92075" bIns="46038" anchor="ctr">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29" name="Rectangle 53">
            <a:extLst>
              <a:ext uri="{FF2B5EF4-FFF2-40B4-BE49-F238E27FC236}">
                <a16:creationId xmlns:a16="http://schemas.microsoft.com/office/drawing/2014/main" id="{771F2769-5D70-4B91-B339-23065DF13D25}"/>
              </a:ext>
            </a:extLst>
          </p:cNvPr>
          <p:cNvSpPr>
            <a:spLocks noChangeArrowheads="1"/>
          </p:cNvSpPr>
          <p:nvPr/>
        </p:nvSpPr>
        <p:spPr bwMode="auto">
          <a:xfrm>
            <a:off x="2884488" y="2124075"/>
            <a:ext cx="5451475" cy="398462"/>
          </a:xfrm>
          <a:prstGeom prst="rect">
            <a:avLst/>
          </a:prstGeom>
          <a:gradFill rotWithShape="0">
            <a:gsLst>
              <a:gs pos="0">
                <a:srgbClr val="430086"/>
              </a:gs>
              <a:gs pos="50000">
                <a:srgbClr val="6600CC"/>
              </a:gs>
              <a:gs pos="100000">
                <a:srgbClr val="430086"/>
              </a:gs>
            </a:gsLst>
            <a:lin ang="2700000" scaled="1"/>
          </a:gradFill>
          <a:ln w="9525">
            <a:solidFill>
              <a:srgbClr val="6600CC"/>
            </a:solidFill>
            <a:miter lim="800000"/>
            <a:headEnd type="none" w="sm" len="sm"/>
            <a:tailEnd type="none" w="sm" len="sm"/>
          </a:ln>
        </p:spPr>
        <p:txBody>
          <a:bodyPr wrap="none" lIns="73025" tIns="36512" rIns="73025" bIns="36512"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50000"/>
              </a:spcBef>
              <a:spcAft>
                <a:spcPct val="0"/>
              </a:spcAft>
            </a:pPr>
            <a:endParaRPr lang="en-US" altLang="zh-CN" b="1">
              <a:solidFill>
                <a:srgbClr val="FFFFFF"/>
              </a:solidFill>
              <a:latin typeface="Helvetica" panose="020B0604020202020204" pitchFamily="34" charset="0"/>
            </a:endParaRPr>
          </a:p>
        </p:txBody>
      </p:sp>
      <p:sp>
        <p:nvSpPr>
          <p:cNvPr id="130" name="Line 54">
            <a:extLst>
              <a:ext uri="{FF2B5EF4-FFF2-40B4-BE49-F238E27FC236}">
                <a16:creationId xmlns:a16="http://schemas.microsoft.com/office/drawing/2014/main" id="{FA3F5499-3E26-4229-BFD5-2DEEC220E745}"/>
              </a:ext>
            </a:extLst>
          </p:cNvPr>
          <p:cNvSpPr>
            <a:spLocks noChangeShapeType="1"/>
          </p:cNvSpPr>
          <p:nvPr/>
        </p:nvSpPr>
        <p:spPr bwMode="auto">
          <a:xfrm>
            <a:off x="6683375" y="2128837"/>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31" name="Line 55">
            <a:extLst>
              <a:ext uri="{FF2B5EF4-FFF2-40B4-BE49-F238E27FC236}">
                <a16:creationId xmlns:a16="http://schemas.microsoft.com/office/drawing/2014/main" id="{DAC9F7A9-5446-4AD3-868E-42296844D946}"/>
              </a:ext>
            </a:extLst>
          </p:cNvPr>
          <p:cNvSpPr>
            <a:spLocks noChangeShapeType="1"/>
          </p:cNvSpPr>
          <p:nvPr/>
        </p:nvSpPr>
        <p:spPr bwMode="auto">
          <a:xfrm>
            <a:off x="4335463" y="2133600"/>
            <a:ext cx="0" cy="388937"/>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32" name="Text Box 56">
            <a:extLst>
              <a:ext uri="{FF2B5EF4-FFF2-40B4-BE49-F238E27FC236}">
                <a16:creationId xmlns:a16="http://schemas.microsoft.com/office/drawing/2014/main" id="{D8B66AF6-F046-4291-8FB1-A69B16D5A9B9}"/>
              </a:ext>
            </a:extLst>
          </p:cNvPr>
          <p:cNvSpPr txBox="1">
            <a:spLocks noChangeArrowheads="1"/>
          </p:cNvSpPr>
          <p:nvPr/>
        </p:nvSpPr>
        <p:spPr bwMode="auto">
          <a:xfrm>
            <a:off x="8459788" y="2195512"/>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0</a:t>
            </a:r>
          </a:p>
        </p:txBody>
      </p:sp>
      <p:sp>
        <p:nvSpPr>
          <p:cNvPr id="133" name="Text Box 57">
            <a:extLst>
              <a:ext uri="{FF2B5EF4-FFF2-40B4-BE49-F238E27FC236}">
                <a16:creationId xmlns:a16="http://schemas.microsoft.com/office/drawing/2014/main" id="{4FFD96C9-BDDE-4255-A78E-4069179DFC7D}"/>
              </a:ext>
            </a:extLst>
          </p:cNvPr>
          <p:cNvSpPr txBox="1">
            <a:spLocks noChangeArrowheads="1"/>
          </p:cNvSpPr>
          <p:nvPr/>
        </p:nvSpPr>
        <p:spPr bwMode="auto">
          <a:xfrm>
            <a:off x="3021013" y="2195512"/>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7</a:t>
            </a:r>
          </a:p>
        </p:txBody>
      </p:sp>
      <p:sp>
        <p:nvSpPr>
          <p:cNvPr id="134" name="Text Box 58">
            <a:extLst>
              <a:ext uri="{FF2B5EF4-FFF2-40B4-BE49-F238E27FC236}">
                <a16:creationId xmlns:a16="http://schemas.microsoft.com/office/drawing/2014/main" id="{76ECDDB3-1FE8-44D9-B40E-37BA5ABB0442}"/>
              </a:ext>
            </a:extLst>
          </p:cNvPr>
          <p:cNvSpPr txBox="1">
            <a:spLocks noChangeArrowheads="1"/>
          </p:cNvSpPr>
          <p:nvPr/>
        </p:nvSpPr>
        <p:spPr bwMode="auto">
          <a:xfrm>
            <a:off x="7758113" y="2147887"/>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1</a:t>
            </a:r>
          </a:p>
        </p:txBody>
      </p:sp>
      <p:sp>
        <p:nvSpPr>
          <p:cNvPr id="135" name="Text Box 59">
            <a:extLst>
              <a:ext uri="{FF2B5EF4-FFF2-40B4-BE49-F238E27FC236}">
                <a16:creationId xmlns:a16="http://schemas.microsoft.com/office/drawing/2014/main" id="{DF7235F4-034C-41FB-B317-E5D3C1509245}"/>
              </a:ext>
            </a:extLst>
          </p:cNvPr>
          <p:cNvSpPr txBox="1">
            <a:spLocks noChangeArrowheads="1"/>
          </p:cNvSpPr>
          <p:nvPr/>
        </p:nvSpPr>
        <p:spPr bwMode="auto">
          <a:xfrm>
            <a:off x="7007225" y="2162175"/>
            <a:ext cx="2730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2</a:t>
            </a:r>
          </a:p>
        </p:txBody>
      </p:sp>
      <p:sp>
        <p:nvSpPr>
          <p:cNvPr id="136" name="Line 60">
            <a:extLst>
              <a:ext uri="{FF2B5EF4-FFF2-40B4-BE49-F238E27FC236}">
                <a16:creationId xmlns:a16="http://schemas.microsoft.com/office/drawing/2014/main" id="{ACA2945A-37B8-4CBB-A828-F120A2DB79DA}"/>
              </a:ext>
            </a:extLst>
          </p:cNvPr>
          <p:cNvSpPr>
            <a:spLocks noChangeShapeType="1"/>
          </p:cNvSpPr>
          <p:nvPr/>
        </p:nvSpPr>
        <p:spPr bwMode="auto">
          <a:xfrm>
            <a:off x="5886450" y="2130425"/>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37" name="Line 61">
            <a:extLst>
              <a:ext uri="{FF2B5EF4-FFF2-40B4-BE49-F238E27FC236}">
                <a16:creationId xmlns:a16="http://schemas.microsoft.com/office/drawing/2014/main" id="{02281EB1-5DA5-4321-8DFF-180305080C0A}"/>
              </a:ext>
            </a:extLst>
          </p:cNvPr>
          <p:cNvSpPr>
            <a:spLocks noChangeShapeType="1"/>
          </p:cNvSpPr>
          <p:nvPr/>
        </p:nvSpPr>
        <p:spPr bwMode="auto">
          <a:xfrm>
            <a:off x="5075238" y="2130425"/>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38" name="Line 62">
            <a:extLst>
              <a:ext uri="{FF2B5EF4-FFF2-40B4-BE49-F238E27FC236}">
                <a16:creationId xmlns:a16="http://schemas.microsoft.com/office/drawing/2014/main" id="{EF5A232C-28E5-4284-83E0-E0DB144F7785}"/>
              </a:ext>
            </a:extLst>
          </p:cNvPr>
          <p:cNvSpPr>
            <a:spLocks noChangeShapeType="1"/>
          </p:cNvSpPr>
          <p:nvPr/>
        </p:nvSpPr>
        <p:spPr bwMode="auto">
          <a:xfrm>
            <a:off x="3533775" y="2130425"/>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39" name="Line 63">
            <a:extLst>
              <a:ext uri="{FF2B5EF4-FFF2-40B4-BE49-F238E27FC236}">
                <a16:creationId xmlns:a16="http://schemas.microsoft.com/office/drawing/2014/main" id="{2C2E1B8F-3A39-425E-8315-FE42A4101A26}"/>
              </a:ext>
            </a:extLst>
          </p:cNvPr>
          <p:cNvSpPr>
            <a:spLocks noChangeShapeType="1"/>
          </p:cNvSpPr>
          <p:nvPr/>
        </p:nvSpPr>
        <p:spPr bwMode="auto">
          <a:xfrm>
            <a:off x="8332788" y="2130425"/>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40" name="Text Box 64">
            <a:extLst>
              <a:ext uri="{FF2B5EF4-FFF2-40B4-BE49-F238E27FC236}">
                <a16:creationId xmlns:a16="http://schemas.microsoft.com/office/drawing/2014/main" id="{F7222F28-D397-43F7-A3BB-CC98119A5DDC}"/>
              </a:ext>
            </a:extLst>
          </p:cNvPr>
          <p:cNvSpPr txBox="1">
            <a:spLocks noChangeArrowheads="1"/>
          </p:cNvSpPr>
          <p:nvPr/>
        </p:nvSpPr>
        <p:spPr bwMode="auto">
          <a:xfrm>
            <a:off x="6208713" y="2185987"/>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3</a:t>
            </a:r>
          </a:p>
        </p:txBody>
      </p:sp>
      <p:sp>
        <p:nvSpPr>
          <p:cNvPr id="141" name="Text Box 65">
            <a:extLst>
              <a:ext uri="{FF2B5EF4-FFF2-40B4-BE49-F238E27FC236}">
                <a16:creationId xmlns:a16="http://schemas.microsoft.com/office/drawing/2014/main" id="{ED922D5E-0E81-4EB0-9BC2-98319BD2561B}"/>
              </a:ext>
            </a:extLst>
          </p:cNvPr>
          <p:cNvSpPr txBox="1">
            <a:spLocks noChangeArrowheads="1"/>
          </p:cNvSpPr>
          <p:nvPr/>
        </p:nvSpPr>
        <p:spPr bwMode="auto">
          <a:xfrm>
            <a:off x="5411788" y="2195512"/>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4</a:t>
            </a:r>
          </a:p>
        </p:txBody>
      </p:sp>
      <p:sp>
        <p:nvSpPr>
          <p:cNvPr id="142" name="Text Box 66">
            <a:extLst>
              <a:ext uri="{FF2B5EF4-FFF2-40B4-BE49-F238E27FC236}">
                <a16:creationId xmlns:a16="http://schemas.microsoft.com/office/drawing/2014/main" id="{FCAD1AF9-302E-417D-890A-2E0C6A0A9967}"/>
              </a:ext>
            </a:extLst>
          </p:cNvPr>
          <p:cNvSpPr txBox="1">
            <a:spLocks noChangeArrowheads="1"/>
          </p:cNvSpPr>
          <p:nvPr/>
        </p:nvSpPr>
        <p:spPr bwMode="auto">
          <a:xfrm>
            <a:off x="4560888" y="2195512"/>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5</a:t>
            </a:r>
          </a:p>
        </p:txBody>
      </p:sp>
      <p:sp>
        <p:nvSpPr>
          <p:cNvPr id="143" name="Text Box 67">
            <a:extLst>
              <a:ext uri="{FF2B5EF4-FFF2-40B4-BE49-F238E27FC236}">
                <a16:creationId xmlns:a16="http://schemas.microsoft.com/office/drawing/2014/main" id="{362E70B5-4DD8-450F-A30E-5394252F5CF5}"/>
              </a:ext>
            </a:extLst>
          </p:cNvPr>
          <p:cNvSpPr txBox="1">
            <a:spLocks noChangeArrowheads="1"/>
          </p:cNvSpPr>
          <p:nvPr/>
        </p:nvSpPr>
        <p:spPr bwMode="auto">
          <a:xfrm>
            <a:off x="3857625" y="2195512"/>
            <a:ext cx="2730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FFFFFF"/>
                </a:solidFill>
                <a:latin typeface="Helvetica" panose="020B0604020202020204" pitchFamily="34" charset="0"/>
              </a:rPr>
              <a:t>6</a:t>
            </a:r>
          </a:p>
        </p:txBody>
      </p:sp>
      <p:sp>
        <p:nvSpPr>
          <p:cNvPr id="144" name="AutoShape 68">
            <a:extLst>
              <a:ext uri="{FF2B5EF4-FFF2-40B4-BE49-F238E27FC236}">
                <a16:creationId xmlns:a16="http://schemas.microsoft.com/office/drawing/2014/main" id="{8AE2343C-3436-488D-8CB4-91F3D7CAAA92}"/>
              </a:ext>
            </a:extLst>
          </p:cNvPr>
          <p:cNvSpPr>
            <a:spLocks/>
          </p:cNvSpPr>
          <p:nvPr/>
        </p:nvSpPr>
        <p:spPr bwMode="auto">
          <a:xfrm rot="16242666">
            <a:off x="3775869" y="1567656"/>
            <a:ext cx="398463" cy="2168525"/>
          </a:xfrm>
          <a:prstGeom prst="leftBrace">
            <a:avLst>
              <a:gd name="adj1" fmla="val 45352"/>
              <a:gd name="adj2" fmla="val 50000"/>
            </a:avLst>
          </a:prstGeom>
          <a:noFill/>
          <a:ln w="38100">
            <a:solidFill>
              <a:srgbClr val="6600C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45" name="Text Box 69">
            <a:extLst>
              <a:ext uri="{FF2B5EF4-FFF2-40B4-BE49-F238E27FC236}">
                <a16:creationId xmlns:a16="http://schemas.microsoft.com/office/drawing/2014/main" id="{3B4BB42B-8122-4060-BBDF-E88CE9A5F23C}"/>
              </a:ext>
            </a:extLst>
          </p:cNvPr>
          <p:cNvSpPr txBox="1">
            <a:spLocks noChangeArrowheads="1"/>
          </p:cNvSpPr>
          <p:nvPr/>
        </p:nvSpPr>
        <p:spPr bwMode="auto">
          <a:xfrm>
            <a:off x="3286125" y="2782887"/>
            <a:ext cx="17081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003366"/>
                </a:solidFill>
                <a:latin typeface="Helvetica" panose="020B0604020202020204" pitchFamily="34" charset="0"/>
              </a:rPr>
              <a:t>IP Precedence</a:t>
            </a:r>
          </a:p>
        </p:txBody>
      </p:sp>
      <p:sp>
        <p:nvSpPr>
          <p:cNvPr id="146" name="AutoShape 70">
            <a:extLst>
              <a:ext uri="{FF2B5EF4-FFF2-40B4-BE49-F238E27FC236}">
                <a16:creationId xmlns:a16="http://schemas.microsoft.com/office/drawing/2014/main" id="{F53803B3-0442-459D-8FF9-7416420E86B5}"/>
              </a:ext>
            </a:extLst>
          </p:cNvPr>
          <p:cNvSpPr>
            <a:spLocks/>
          </p:cNvSpPr>
          <p:nvPr/>
        </p:nvSpPr>
        <p:spPr bwMode="auto">
          <a:xfrm rot="16200000">
            <a:off x="8563769" y="2301081"/>
            <a:ext cx="228600" cy="684212"/>
          </a:xfrm>
          <a:prstGeom prst="leftBrace">
            <a:avLst>
              <a:gd name="adj1" fmla="val 24942"/>
              <a:gd name="adj2" fmla="val 50000"/>
            </a:avLst>
          </a:prstGeom>
          <a:noFill/>
          <a:ln w="38100">
            <a:solidFill>
              <a:srgbClr val="6600C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vert="eaVert" wrap="none" lIns="73025" tIns="36512" rIns="73025" bIns="36512"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pPr>
            <a:endParaRPr lang="en-US" altLang="zh-CN" sz="1500" b="1">
              <a:solidFill>
                <a:srgbClr val="003366"/>
              </a:solidFill>
              <a:latin typeface="Helvetica" panose="020B0604020202020204" pitchFamily="34" charset="0"/>
            </a:endParaRPr>
          </a:p>
        </p:txBody>
      </p:sp>
      <p:sp>
        <p:nvSpPr>
          <p:cNvPr id="147" name="Text Box 71">
            <a:extLst>
              <a:ext uri="{FF2B5EF4-FFF2-40B4-BE49-F238E27FC236}">
                <a16:creationId xmlns:a16="http://schemas.microsoft.com/office/drawing/2014/main" id="{D3383189-30B8-41A7-8EF1-D1008D57AF43}"/>
              </a:ext>
            </a:extLst>
          </p:cNvPr>
          <p:cNvSpPr txBox="1">
            <a:spLocks noChangeArrowheads="1"/>
          </p:cNvSpPr>
          <p:nvPr/>
        </p:nvSpPr>
        <p:spPr bwMode="auto">
          <a:xfrm>
            <a:off x="7462838" y="3892550"/>
            <a:ext cx="155892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pPr>
            <a:r>
              <a:rPr lang="zh-CN" altLang="en-US" sz="1800" b="1">
                <a:solidFill>
                  <a:srgbClr val="003366"/>
                </a:solidFill>
                <a:latin typeface="Helvetica" panose="020B0604020202020204" pitchFamily="34" charset="0"/>
              </a:rPr>
              <a:t>目前未使用</a:t>
            </a:r>
          </a:p>
        </p:txBody>
      </p:sp>
      <p:sp>
        <p:nvSpPr>
          <p:cNvPr id="148" name="Line 72">
            <a:extLst>
              <a:ext uri="{FF2B5EF4-FFF2-40B4-BE49-F238E27FC236}">
                <a16:creationId xmlns:a16="http://schemas.microsoft.com/office/drawing/2014/main" id="{9A8A0694-C118-4F32-81A1-683BEF65C8BE}"/>
              </a:ext>
            </a:extLst>
          </p:cNvPr>
          <p:cNvSpPr>
            <a:spLocks noChangeShapeType="1"/>
          </p:cNvSpPr>
          <p:nvPr/>
        </p:nvSpPr>
        <p:spPr bwMode="auto">
          <a:xfrm>
            <a:off x="7497763" y="2147887"/>
            <a:ext cx="0" cy="387350"/>
          </a:xfrm>
          <a:prstGeom prst="line">
            <a:avLst/>
          </a:prstGeom>
          <a:noFill/>
          <a:ln w="9525">
            <a:solidFill>
              <a:srgbClr val="003366"/>
            </a:solidFill>
            <a:round/>
            <a:headEnd type="none" w="sm" len="sm"/>
            <a:tailEnd type="none" w="sm" len="sm"/>
          </a:ln>
          <a:extLst>
            <a:ext uri="{909E8E84-426E-40DD-AFC4-6F175D3DCCD1}">
              <a14:hiddenFill xmlns:a14="http://schemas.microsoft.com/office/drawing/2010/main">
                <a:noFill/>
              </a14:hiddenFill>
            </a:ext>
          </a:extLst>
        </p:spPr>
        <p:txBody>
          <a:bodyPr wrap="none" lIns="73025" tIns="36512" rIns="73025" bIns="36512"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49" name="AutoShape 73">
            <a:extLst>
              <a:ext uri="{FF2B5EF4-FFF2-40B4-BE49-F238E27FC236}">
                <a16:creationId xmlns:a16="http://schemas.microsoft.com/office/drawing/2014/main" id="{AF7133A1-D058-48C2-B1E0-6689778CB03F}"/>
              </a:ext>
            </a:extLst>
          </p:cNvPr>
          <p:cNvSpPr>
            <a:spLocks/>
          </p:cNvSpPr>
          <p:nvPr/>
        </p:nvSpPr>
        <p:spPr bwMode="auto">
          <a:xfrm rot="16242666">
            <a:off x="6528594" y="1026318"/>
            <a:ext cx="381000" cy="3233738"/>
          </a:xfrm>
          <a:prstGeom prst="leftBrace">
            <a:avLst>
              <a:gd name="adj1" fmla="val 70729"/>
              <a:gd name="adj2" fmla="val 50000"/>
            </a:avLst>
          </a:prstGeom>
          <a:noFill/>
          <a:ln w="38100">
            <a:solidFill>
              <a:srgbClr val="6600C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3366"/>
              </a:solidFill>
              <a:effectLst/>
              <a:uLnTx/>
              <a:uFillTx/>
              <a:latin typeface="Arial" panose="020B0604020202020204" pitchFamily="34" charset="0"/>
              <a:ea typeface="宋体" panose="02010600030101010101" pitchFamily="2" charset="-122"/>
            </a:endParaRPr>
          </a:p>
        </p:txBody>
      </p:sp>
      <p:sp>
        <p:nvSpPr>
          <p:cNvPr id="150" name="Text Box 74">
            <a:extLst>
              <a:ext uri="{FF2B5EF4-FFF2-40B4-BE49-F238E27FC236}">
                <a16:creationId xmlns:a16="http://schemas.microsoft.com/office/drawing/2014/main" id="{A72F3B7A-6DB5-4DFA-A04F-C5125A5D988B}"/>
              </a:ext>
            </a:extLst>
          </p:cNvPr>
          <p:cNvSpPr txBox="1">
            <a:spLocks noChangeArrowheads="1"/>
          </p:cNvSpPr>
          <p:nvPr/>
        </p:nvSpPr>
        <p:spPr bwMode="auto">
          <a:xfrm>
            <a:off x="6430963" y="2787650"/>
            <a:ext cx="5778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003366"/>
                </a:solidFill>
                <a:latin typeface="Helvetica" panose="020B0604020202020204" pitchFamily="34" charset="0"/>
              </a:rPr>
              <a:t>ToS</a:t>
            </a:r>
          </a:p>
        </p:txBody>
      </p:sp>
      <p:sp>
        <p:nvSpPr>
          <p:cNvPr id="151" name="Text Box 76">
            <a:extLst>
              <a:ext uri="{FF2B5EF4-FFF2-40B4-BE49-F238E27FC236}">
                <a16:creationId xmlns:a16="http://schemas.microsoft.com/office/drawing/2014/main" id="{4487407E-8AFA-41C9-8373-372A146CEBEE}"/>
              </a:ext>
            </a:extLst>
          </p:cNvPr>
          <p:cNvSpPr txBox="1">
            <a:spLocks noChangeArrowheads="1"/>
          </p:cNvSpPr>
          <p:nvPr/>
        </p:nvSpPr>
        <p:spPr bwMode="auto">
          <a:xfrm>
            <a:off x="7920038" y="2740025"/>
            <a:ext cx="155892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pPr>
            <a:r>
              <a:rPr lang="zh-CN" altLang="en-US" sz="1800" b="1">
                <a:solidFill>
                  <a:srgbClr val="003366"/>
                </a:solidFill>
                <a:latin typeface="Helvetica" panose="020B0604020202020204" pitchFamily="34" charset="0"/>
              </a:rPr>
              <a:t>目前未使用</a:t>
            </a:r>
          </a:p>
        </p:txBody>
      </p:sp>
      <p:sp>
        <p:nvSpPr>
          <p:cNvPr id="152" name="Text Box 77">
            <a:extLst>
              <a:ext uri="{FF2B5EF4-FFF2-40B4-BE49-F238E27FC236}">
                <a16:creationId xmlns:a16="http://schemas.microsoft.com/office/drawing/2014/main" id="{A38CF285-C4AD-45D3-972A-B1E43D53DEC2}"/>
              </a:ext>
            </a:extLst>
          </p:cNvPr>
          <p:cNvSpPr txBox="1">
            <a:spLocks noChangeArrowheads="1"/>
          </p:cNvSpPr>
          <p:nvPr/>
        </p:nvSpPr>
        <p:spPr bwMode="auto">
          <a:xfrm>
            <a:off x="9097963" y="2147887"/>
            <a:ext cx="11239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dirty="0">
                <a:solidFill>
                  <a:srgbClr val="003366"/>
                </a:solidFill>
                <a:latin typeface="Helvetica" panose="020B0604020202020204" pitchFamily="34" charset="0"/>
              </a:rPr>
              <a:t>RFC1349</a:t>
            </a:r>
          </a:p>
        </p:txBody>
      </p:sp>
      <p:sp>
        <p:nvSpPr>
          <p:cNvPr id="153" name="Text Box 78">
            <a:extLst>
              <a:ext uri="{FF2B5EF4-FFF2-40B4-BE49-F238E27FC236}">
                <a16:creationId xmlns:a16="http://schemas.microsoft.com/office/drawing/2014/main" id="{1BF77953-CE39-468F-9C3E-9AAA6D57B527}"/>
              </a:ext>
            </a:extLst>
          </p:cNvPr>
          <p:cNvSpPr txBox="1">
            <a:spLocks noChangeArrowheads="1"/>
          </p:cNvSpPr>
          <p:nvPr/>
        </p:nvSpPr>
        <p:spPr bwMode="auto">
          <a:xfrm>
            <a:off x="9097963" y="3240087"/>
            <a:ext cx="1123950"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dirty="0">
                <a:solidFill>
                  <a:srgbClr val="003366"/>
                </a:solidFill>
                <a:latin typeface="Helvetica" panose="020B0604020202020204" pitchFamily="34" charset="0"/>
              </a:rPr>
              <a:t>RFC2474</a:t>
            </a:r>
          </a:p>
        </p:txBody>
      </p:sp>
      <p:sp>
        <p:nvSpPr>
          <p:cNvPr id="154" name="Text Box 79">
            <a:extLst>
              <a:ext uri="{FF2B5EF4-FFF2-40B4-BE49-F238E27FC236}">
                <a16:creationId xmlns:a16="http://schemas.microsoft.com/office/drawing/2014/main" id="{BF1D567F-984A-4D70-960B-7E3458E29330}"/>
              </a:ext>
            </a:extLst>
          </p:cNvPr>
          <p:cNvSpPr txBox="1">
            <a:spLocks noChangeArrowheads="1"/>
          </p:cNvSpPr>
          <p:nvPr/>
        </p:nvSpPr>
        <p:spPr bwMode="auto">
          <a:xfrm>
            <a:off x="5397500" y="1857375"/>
            <a:ext cx="3111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003366"/>
                </a:solidFill>
                <a:latin typeface="Helvetica" panose="020B0604020202020204" pitchFamily="34" charset="0"/>
              </a:rPr>
              <a:t>D</a:t>
            </a:r>
          </a:p>
        </p:txBody>
      </p:sp>
      <p:sp>
        <p:nvSpPr>
          <p:cNvPr id="155" name="Text Box 80">
            <a:extLst>
              <a:ext uri="{FF2B5EF4-FFF2-40B4-BE49-F238E27FC236}">
                <a16:creationId xmlns:a16="http://schemas.microsoft.com/office/drawing/2014/main" id="{9BD8BB0F-505A-45A3-B524-78CB62B49CA4}"/>
              </a:ext>
            </a:extLst>
          </p:cNvPr>
          <p:cNvSpPr txBox="1">
            <a:spLocks noChangeArrowheads="1"/>
          </p:cNvSpPr>
          <p:nvPr/>
        </p:nvSpPr>
        <p:spPr bwMode="auto">
          <a:xfrm>
            <a:off x="6215063" y="1857375"/>
            <a:ext cx="285750"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003366"/>
                </a:solidFill>
                <a:latin typeface="Helvetica" panose="020B0604020202020204" pitchFamily="34" charset="0"/>
              </a:rPr>
              <a:t>T</a:t>
            </a:r>
          </a:p>
        </p:txBody>
      </p:sp>
      <p:sp>
        <p:nvSpPr>
          <p:cNvPr id="156" name="Text Box 81">
            <a:extLst>
              <a:ext uri="{FF2B5EF4-FFF2-40B4-BE49-F238E27FC236}">
                <a16:creationId xmlns:a16="http://schemas.microsoft.com/office/drawing/2014/main" id="{56D949D4-8B5A-4EF8-8CA9-D751D5795726}"/>
              </a:ext>
            </a:extLst>
          </p:cNvPr>
          <p:cNvSpPr txBox="1">
            <a:spLocks noChangeArrowheads="1"/>
          </p:cNvSpPr>
          <p:nvPr/>
        </p:nvSpPr>
        <p:spPr bwMode="auto">
          <a:xfrm>
            <a:off x="7005638" y="1857375"/>
            <a:ext cx="4095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003366"/>
                </a:solidFill>
                <a:latin typeface="Helvetica" panose="020B0604020202020204" pitchFamily="34" charset="0"/>
              </a:rPr>
              <a:t>R</a:t>
            </a:r>
          </a:p>
        </p:txBody>
      </p:sp>
      <p:sp>
        <p:nvSpPr>
          <p:cNvPr id="157" name="Text Box 82">
            <a:extLst>
              <a:ext uri="{FF2B5EF4-FFF2-40B4-BE49-F238E27FC236}">
                <a16:creationId xmlns:a16="http://schemas.microsoft.com/office/drawing/2014/main" id="{C77B215A-A71B-4852-9021-9BCC2070E31E}"/>
              </a:ext>
            </a:extLst>
          </p:cNvPr>
          <p:cNvSpPr txBox="1">
            <a:spLocks noChangeArrowheads="1"/>
          </p:cNvSpPr>
          <p:nvPr/>
        </p:nvSpPr>
        <p:spPr bwMode="auto">
          <a:xfrm>
            <a:off x="7747000" y="1857375"/>
            <a:ext cx="4095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eaLnBrk="0" hangingPunct="0">
              <a:defRPr kumimoji="1" sz="2400">
                <a:solidFill>
                  <a:schemeClr val="tx1"/>
                </a:solidFill>
                <a:latin typeface="Arial" panose="020B0604020202020204" pitchFamily="34" charset="0"/>
                <a:ea typeface="宋体" panose="02010600030101010101" pitchFamily="2" charset="-122"/>
              </a:defRPr>
            </a:lvl1pPr>
            <a:lvl2pPr marL="742950" indent="-285750" eaLnBrk="0" hangingPunct="0">
              <a:defRPr kumimoji="1" sz="2400">
                <a:solidFill>
                  <a:schemeClr val="tx1"/>
                </a:solidFill>
                <a:latin typeface="Arial" panose="020B0604020202020204" pitchFamily="34" charset="0"/>
                <a:ea typeface="宋体" panose="02010600030101010101" pitchFamily="2" charset="-122"/>
              </a:defRPr>
            </a:lvl2pPr>
            <a:lvl3pPr marL="1143000" indent="-228600" eaLnBrk="0" hangingPunct="0">
              <a:defRPr kumimoji="1" sz="2400">
                <a:solidFill>
                  <a:schemeClr val="tx1"/>
                </a:solidFill>
                <a:latin typeface="Arial" panose="020B0604020202020204" pitchFamily="34" charset="0"/>
                <a:ea typeface="宋体" panose="02010600030101010101" pitchFamily="2" charset="-122"/>
              </a:defRPr>
            </a:lvl3pPr>
            <a:lvl4pPr marL="1600200" indent="-228600" eaLnBrk="0" hangingPunct="0">
              <a:defRPr kumimoji="1" sz="2400">
                <a:solidFill>
                  <a:schemeClr val="tx1"/>
                </a:solidFill>
                <a:latin typeface="Arial" panose="020B0604020202020204" pitchFamily="34" charset="0"/>
                <a:ea typeface="宋体" panose="02010600030101010101" pitchFamily="2" charset="-122"/>
              </a:defRPr>
            </a:lvl4pPr>
            <a:lvl5pPr marL="2057400" indent="-228600" eaLnBrk="0" hangingPunct="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en-US" altLang="zh-CN" sz="1800" b="1">
                <a:solidFill>
                  <a:srgbClr val="003366"/>
                </a:solidFill>
                <a:latin typeface="Helvetica" panose="020B0604020202020204" pitchFamily="34" charset="0"/>
              </a:rPr>
              <a:t>C</a:t>
            </a:r>
          </a:p>
        </p:txBody>
      </p:sp>
      <p:sp>
        <p:nvSpPr>
          <p:cNvPr id="158" name="Line 31">
            <a:extLst>
              <a:ext uri="{FF2B5EF4-FFF2-40B4-BE49-F238E27FC236}">
                <a16:creationId xmlns:a16="http://schemas.microsoft.com/office/drawing/2014/main" id="{189F955E-A85E-4088-BEFD-1F02A24DB8F1}"/>
              </a:ext>
            </a:extLst>
          </p:cNvPr>
          <p:cNvSpPr>
            <a:spLocks noChangeShapeType="1"/>
          </p:cNvSpPr>
          <p:nvPr/>
        </p:nvSpPr>
        <p:spPr bwMode="auto">
          <a:xfrm flipH="1">
            <a:off x="2884488" y="1778000"/>
            <a:ext cx="928687" cy="357187"/>
          </a:xfrm>
          <a:prstGeom prst="line">
            <a:avLst/>
          </a:prstGeom>
          <a:noFill/>
          <a:ln w="9525">
            <a:solidFill>
              <a:srgbClr val="750484"/>
            </a:solidFill>
            <a:round/>
            <a:headEnd/>
            <a:tailEnd/>
          </a:ln>
          <a:extLst>
            <a:ext uri="{909E8E84-426E-40DD-AFC4-6F175D3DCCD1}">
              <a14:hiddenFill xmlns:a14="http://schemas.microsoft.com/office/drawing/2010/main">
                <a:noFill/>
              </a14:hiddenFill>
            </a:ext>
          </a:extLst>
        </p:spPr>
        <p:txBody>
          <a:bodyPr lIns="92075" tIns="46038" rIns="92075" bIns="46038" anchor="ctr">
            <a:spAutoFit/>
          </a:bodyPr>
          <a:lstStyle/>
          <a:p>
            <a:pPr fontAlgn="base">
              <a:spcBef>
                <a:spcPct val="0"/>
              </a:spcBef>
              <a:spcAft>
                <a:spcPct val="0"/>
              </a:spcAft>
            </a:pPr>
            <a:endParaRPr kumimoji="1" lang="zh-CN" altLang="en-US" sz="2400">
              <a:solidFill>
                <a:srgbClr val="003366"/>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9948762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E3B21BFC-C84E-4264-8075-F28401C1F74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Differentiated Services (5)</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8" name="内容占位符 2">
            <a:extLst>
              <a:ext uri="{FF2B5EF4-FFF2-40B4-BE49-F238E27FC236}">
                <a16:creationId xmlns:a16="http://schemas.microsoft.com/office/drawing/2014/main" id="{72DD21DE-AF9E-4027-B75E-B5542B745435}"/>
              </a:ext>
            </a:extLst>
          </p:cNvPr>
          <p:cNvSpPr>
            <a:spLocks noGrp="1"/>
          </p:cNvSpPr>
          <p:nvPr>
            <p:ph idx="1"/>
          </p:nvPr>
        </p:nvSpPr>
        <p:spPr>
          <a:xfrm>
            <a:off x="526256" y="1226292"/>
            <a:ext cx="11139487" cy="4895108"/>
          </a:xfrm>
        </p:spPr>
        <p:txBody>
          <a:bodyPr>
            <a:normAutofit fontScale="92500"/>
          </a:bodyPr>
          <a:lstStyle/>
          <a:p>
            <a:pPr marL="342900" indent="-342900" eaLnBrk="1" hangingPunct="1">
              <a:lnSpc>
                <a:spcPct val="12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差分服务具有实现简单，扩展性好的特点。目前在</a:t>
            </a:r>
            <a:r>
              <a:rPr lang="en-US" altLang="zh-CN" sz="2400" dirty="0">
                <a:latin typeface="微软雅黑" panose="020B0503020204020204" pitchFamily="34" charset="-122"/>
                <a:ea typeface="微软雅黑" panose="020B0503020204020204" pitchFamily="34" charset="-122"/>
              </a:rPr>
              <a:t>IP</a:t>
            </a:r>
            <a:r>
              <a:rPr lang="zh-CN" altLang="en-US" sz="2400" dirty="0">
                <a:latin typeface="微软雅黑" panose="020B0503020204020204" pitchFamily="34" charset="-122"/>
                <a:ea typeface="微软雅黑" panose="020B0503020204020204" pitchFamily="34" charset="-122"/>
              </a:rPr>
              <a:t>网中区分服务得到了绝大部分厂家的支持，其具体实现技术包括分类、重标记、速率限制、流量监管、拥塞避免、队列调度等。</a:t>
            </a:r>
            <a:endParaRPr lang="en-US" altLang="zh-CN" sz="24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但差分服务也有自己的局限性，主要体现在： </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）区分服务只承诺相对的服务质量，因而不能对用户提供绝对的服务质量保证。 </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）在拥塞发生时，区分服务模型只能采取丢弃报文的方式，而不能采用例如旁路的方式使部分流量通过其他路径到达终点。 </a:t>
            </a:r>
            <a:br>
              <a:rPr lang="zh-CN" altLang="en-US" sz="2400" dirty="0">
                <a:latin typeface="微软雅黑" panose="020B0503020204020204" pitchFamily="34" charset="-122"/>
                <a:ea typeface="微软雅黑" panose="020B0503020204020204" pitchFamily="34" charset="-122"/>
              </a:rPr>
            </a:b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对相同优先级的业务而言，设备在拥塞时对报文的丢弃是非智能化的，也就是说，设备只能随机地丢弃报文，其结果是所有业务的服务质量都受到影响。而此时希望的结果是只丢弃少部分业务流的报文，从而避免剩下的大多数的业务流的服务质量受到影响。</a:t>
            </a:r>
          </a:p>
          <a:p>
            <a:pPr marL="342900" indent="-342900" eaLnBrk="1" hangingPunct="1">
              <a:lnSpc>
                <a:spcPct val="12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2927507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220" name="Subtitle 2"/>
          <p:cNvSpPr>
            <a:spLocks noGrp="1"/>
          </p:cNvSpPr>
          <p:nvPr>
            <p:ph idx="1"/>
          </p:nvPr>
        </p:nvSpPr>
        <p:spPr>
          <a:xfrm>
            <a:off x="2781300" y="1990725"/>
            <a:ext cx="6686550" cy="4019550"/>
          </a:xfrm>
        </p:spPr>
        <p:txBody>
          <a:bodyPr vert="horz" lIns="91440" tIns="45720" rIns="91440" bIns="45720" rtlCol="0">
            <a:normAutofit/>
          </a:bodyPr>
          <a:lstStyle/>
          <a:p>
            <a:pPr lvl="1"/>
            <a:r>
              <a:rPr lang="en-US" altLang="zh-CN" dirty="0"/>
              <a:t>Design Issues</a:t>
            </a:r>
          </a:p>
          <a:p>
            <a:pPr lvl="1"/>
            <a:r>
              <a:rPr lang="en-US" altLang="zh-CN" dirty="0"/>
              <a:t>Routing Algorithms</a:t>
            </a:r>
          </a:p>
          <a:p>
            <a:pPr lvl="1"/>
            <a:r>
              <a:rPr lang="en-US" altLang="zh-CN" dirty="0"/>
              <a:t>Congestion Control</a:t>
            </a:r>
          </a:p>
          <a:p>
            <a:pPr lvl="1"/>
            <a:r>
              <a:rPr lang="en-US" altLang="zh-CN" dirty="0"/>
              <a:t>Quality of Service</a:t>
            </a:r>
          </a:p>
          <a:p>
            <a:pPr lvl="1"/>
            <a:r>
              <a:rPr lang="en-US" altLang="zh-CN" b="1" dirty="0">
                <a:solidFill>
                  <a:srgbClr val="C00000"/>
                </a:solidFill>
              </a:rPr>
              <a:t>Internetworking</a:t>
            </a:r>
          </a:p>
          <a:p>
            <a:pPr lvl="1"/>
            <a:r>
              <a:rPr lang="en-US" altLang="zh-CN" dirty="0"/>
              <a:t>Network Layer of the Internet</a:t>
            </a:r>
          </a:p>
        </p:txBody>
      </p:sp>
      <p:sp>
        <p:nvSpPr>
          <p:cNvPr id="2" name="矩形 1">
            <a:extLst>
              <a:ext uri="{FF2B5EF4-FFF2-40B4-BE49-F238E27FC236}">
                <a16:creationId xmlns:a16="http://schemas.microsoft.com/office/drawing/2014/main" id="{B4980F9B-94EF-4944-9E61-6B0F74FFB2A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Chapter 5</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517798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89092" name="Rectangle 3"/>
          <p:cNvSpPr>
            <a:spLocks noGrp="1" noChangeArrowheads="1"/>
          </p:cNvSpPr>
          <p:nvPr>
            <p:ph idx="1"/>
          </p:nvPr>
        </p:nvSpPr>
        <p:spPr>
          <a:xfrm>
            <a:off x="2114141" y="1239711"/>
            <a:ext cx="8718414" cy="4019550"/>
          </a:xfrm>
        </p:spPr>
        <p:txBody>
          <a:bodyPr/>
          <a:lstStyle/>
          <a:p>
            <a:r>
              <a:rPr lang="en-US" altLang="zh-CN" dirty="0">
                <a:ea typeface="宋体" panose="02010600030101010101" pitchFamily="2" charset="-122"/>
              </a:rPr>
              <a:t>Internetworking joins multiple, different networks  into a single larger network</a:t>
            </a:r>
          </a:p>
          <a:p>
            <a:pPr lvl="3"/>
            <a:endParaRPr lang="en-US" altLang="zh-CN" dirty="0">
              <a:ea typeface="宋体" panose="02010600030101010101" pitchFamily="2" charset="-122"/>
            </a:endParaRPr>
          </a:p>
          <a:p>
            <a:pPr lvl="1"/>
            <a:r>
              <a:rPr lang="en-US" altLang="zh-CN" dirty="0">
                <a:ea typeface="宋体" panose="02010600030101010101" pitchFamily="2" charset="-122"/>
              </a:rPr>
              <a:t>How networks differ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How networks can be connected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Tunneling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Internetwork routing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Packet fragmentation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endParaRPr lang="en-US" altLang="zh-CN" dirty="0">
              <a:ea typeface="宋体" panose="02010600030101010101" pitchFamily="2" charset="-122"/>
            </a:endParaRPr>
          </a:p>
        </p:txBody>
      </p:sp>
      <p:sp>
        <p:nvSpPr>
          <p:cNvPr id="7" name="矩形 6">
            <a:extLst>
              <a:ext uri="{FF2B5EF4-FFF2-40B4-BE49-F238E27FC236}">
                <a16:creationId xmlns:a16="http://schemas.microsoft.com/office/drawing/2014/main" id="{0A5F5466-4127-443D-A062-2C045D8A8DF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Internetworking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121173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0116" name="Rectangle 3"/>
          <p:cNvSpPr>
            <a:spLocks noGrp="1" noChangeArrowheads="1"/>
          </p:cNvSpPr>
          <p:nvPr>
            <p:ph idx="1"/>
          </p:nvPr>
        </p:nvSpPr>
        <p:spPr>
          <a:xfrm>
            <a:off x="1495952" y="1114847"/>
            <a:ext cx="10340760" cy="576514"/>
          </a:xfrm>
        </p:spPr>
        <p:txBody>
          <a:bodyPr/>
          <a:lstStyle/>
          <a:p>
            <a:r>
              <a:rPr lang="en-US" altLang="zh-CN" dirty="0">
                <a:ea typeface="宋体" panose="02010600030101010101" pitchFamily="2" charset="-122"/>
              </a:rPr>
              <a:t>Differences can be large; complicates internetworking</a:t>
            </a:r>
          </a:p>
        </p:txBody>
      </p:sp>
      <p:pic>
        <p:nvPicPr>
          <p:cNvPr id="901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8231" y="1794256"/>
            <a:ext cx="7227274" cy="4230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467BD10B-E5E4-4396-9202-481178DFEE6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How Networks Differ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010762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1140" name="Rectangle 3"/>
          <p:cNvSpPr>
            <a:spLocks noGrp="1" noChangeArrowheads="1"/>
          </p:cNvSpPr>
          <p:nvPr>
            <p:ph idx="1"/>
          </p:nvPr>
        </p:nvSpPr>
        <p:spPr>
          <a:xfrm>
            <a:off x="1445464" y="1259191"/>
            <a:ext cx="9667581" cy="646113"/>
          </a:xfrm>
        </p:spPr>
        <p:txBody>
          <a:bodyPr/>
          <a:lstStyle/>
          <a:p>
            <a:r>
              <a:rPr lang="en-US" altLang="zh-CN" dirty="0">
                <a:ea typeface="宋体" panose="02010600030101010101" pitchFamily="2" charset="-122"/>
              </a:rPr>
              <a:t>Internetworking based on a common network layer – IP</a:t>
            </a:r>
          </a:p>
        </p:txBody>
      </p:sp>
      <p:pic>
        <p:nvPicPr>
          <p:cNvPr id="91141"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554" t="6451" b="3098"/>
          <a:stretch>
            <a:fillRect/>
          </a:stretch>
        </p:blipFill>
        <p:spPr bwMode="auto">
          <a:xfrm>
            <a:off x="1973711" y="2308528"/>
            <a:ext cx="7708900" cy="347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8"/>
          <p:cNvSpPr/>
          <p:nvPr/>
        </p:nvSpPr>
        <p:spPr bwMode="auto">
          <a:xfrm>
            <a:off x="4667699" y="2249792"/>
            <a:ext cx="441325" cy="333375"/>
          </a:xfrm>
          <a:custGeom>
            <a:avLst/>
            <a:gdLst>
              <a:gd name="connsiteX0" fmla="*/ 442452 w 442452"/>
              <a:gd name="connsiteY0" fmla="*/ 0 h 334297"/>
              <a:gd name="connsiteX1" fmla="*/ 147484 w 442452"/>
              <a:gd name="connsiteY1" fmla="*/ 78658 h 334297"/>
              <a:gd name="connsiteX2" fmla="*/ 0 w 442452"/>
              <a:gd name="connsiteY2" fmla="*/ 334297 h 334297"/>
            </a:gdLst>
            <a:ahLst/>
            <a:cxnLst>
              <a:cxn ang="0">
                <a:pos x="connsiteX0" y="connsiteY0"/>
              </a:cxn>
              <a:cxn ang="0">
                <a:pos x="connsiteX1" y="connsiteY1"/>
              </a:cxn>
              <a:cxn ang="0">
                <a:pos x="connsiteX2" y="connsiteY2"/>
              </a:cxn>
            </a:cxnLst>
            <a:rect l="l" t="t" r="r" b="b"/>
            <a:pathLst>
              <a:path w="442452" h="334297">
                <a:moveTo>
                  <a:pt x="442452" y="0"/>
                </a:moveTo>
                <a:cubicBezTo>
                  <a:pt x="331839" y="11471"/>
                  <a:pt x="221226" y="22942"/>
                  <a:pt x="147484" y="78658"/>
                </a:cubicBezTo>
                <a:cubicBezTo>
                  <a:pt x="73742" y="134374"/>
                  <a:pt x="36871" y="234335"/>
                  <a:pt x="0" y="334297"/>
                </a:cubicBezTo>
              </a:path>
            </a:pathLst>
          </a:custGeom>
          <a:noFill/>
          <a:ln w="19050" cap="flat" cmpd="sng" algn="ctr">
            <a:solidFill>
              <a:schemeClr val="accent3">
                <a:lumMod val="60000"/>
                <a:lumOff val="40000"/>
              </a:schemeClr>
            </a:solidFill>
            <a:prstDash val="solid"/>
            <a:round/>
            <a:headEnd type="none" w="med" len="med"/>
            <a:tailEnd type="arrow" w="med" len="med"/>
          </a:ln>
          <a:effectLst/>
        </p:spPr>
        <p:txBody>
          <a:bodyPr/>
          <a:lstStyle/>
          <a:p>
            <a:pPr algn="ctr" eaLnBrk="1" hangingPunct="1">
              <a:defRPr/>
            </a:pPr>
            <a:endParaRPr lang="en-US">
              <a:latin typeface="Arial" charset="0"/>
              <a:cs typeface="Arial" charset="0"/>
            </a:endParaRPr>
          </a:p>
        </p:txBody>
      </p:sp>
      <p:sp>
        <p:nvSpPr>
          <p:cNvPr id="91143" name="TextBox 9"/>
          <p:cNvSpPr txBox="1">
            <a:spLocks noChangeArrowheads="1"/>
          </p:cNvSpPr>
          <p:nvPr/>
        </p:nvSpPr>
        <p:spPr bwMode="auto">
          <a:xfrm>
            <a:off x="5001073" y="1905304"/>
            <a:ext cx="18875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Packet mapped to a VC here</a:t>
            </a:r>
          </a:p>
        </p:txBody>
      </p:sp>
      <p:sp>
        <p:nvSpPr>
          <p:cNvPr id="11" name="Freeform 10"/>
          <p:cNvSpPr/>
          <p:nvPr/>
        </p:nvSpPr>
        <p:spPr bwMode="auto">
          <a:xfrm>
            <a:off x="4681986" y="4200829"/>
            <a:ext cx="442912" cy="334963"/>
          </a:xfrm>
          <a:custGeom>
            <a:avLst/>
            <a:gdLst>
              <a:gd name="connsiteX0" fmla="*/ 442452 w 442452"/>
              <a:gd name="connsiteY0" fmla="*/ 0 h 334297"/>
              <a:gd name="connsiteX1" fmla="*/ 147484 w 442452"/>
              <a:gd name="connsiteY1" fmla="*/ 78658 h 334297"/>
              <a:gd name="connsiteX2" fmla="*/ 0 w 442452"/>
              <a:gd name="connsiteY2" fmla="*/ 334297 h 334297"/>
            </a:gdLst>
            <a:ahLst/>
            <a:cxnLst>
              <a:cxn ang="0">
                <a:pos x="connsiteX0" y="connsiteY0"/>
              </a:cxn>
              <a:cxn ang="0">
                <a:pos x="connsiteX1" y="connsiteY1"/>
              </a:cxn>
              <a:cxn ang="0">
                <a:pos x="connsiteX2" y="connsiteY2"/>
              </a:cxn>
            </a:cxnLst>
            <a:rect l="l" t="t" r="r" b="b"/>
            <a:pathLst>
              <a:path w="442452" h="334297">
                <a:moveTo>
                  <a:pt x="442452" y="0"/>
                </a:moveTo>
                <a:cubicBezTo>
                  <a:pt x="331839" y="11471"/>
                  <a:pt x="221226" y="22942"/>
                  <a:pt x="147484" y="78658"/>
                </a:cubicBezTo>
                <a:cubicBezTo>
                  <a:pt x="73742" y="134374"/>
                  <a:pt x="36871" y="234335"/>
                  <a:pt x="0" y="334297"/>
                </a:cubicBezTo>
              </a:path>
            </a:pathLst>
          </a:custGeom>
          <a:noFill/>
          <a:ln w="19050" cap="flat" cmpd="sng" algn="ctr">
            <a:solidFill>
              <a:schemeClr val="accent3">
                <a:lumMod val="60000"/>
                <a:lumOff val="40000"/>
              </a:schemeClr>
            </a:solidFill>
            <a:prstDash val="solid"/>
            <a:round/>
            <a:headEnd type="none" w="med" len="med"/>
            <a:tailEnd type="arrow" w="med" len="med"/>
          </a:ln>
          <a:effectLst/>
        </p:spPr>
        <p:txBody>
          <a:bodyPr/>
          <a:lstStyle/>
          <a:p>
            <a:pPr algn="ctr" eaLnBrk="1" hangingPunct="1">
              <a:defRPr/>
            </a:pPr>
            <a:endParaRPr lang="en-US">
              <a:latin typeface="Arial" charset="0"/>
              <a:cs typeface="Arial" charset="0"/>
            </a:endParaRPr>
          </a:p>
        </p:txBody>
      </p:sp>
      <p:sp>
        <p:nvSpPr>
          <p:cNvPr id="91145" name="TextBox 11"/>
          <p:cNvSpPr txBox="1">
            <a:spLocks noChangeArrowheads="1"/>
          </p:cNvSpPr>
          <p:nvPr/>
        </p:nvSpPr>
        <p:spPr bwMode="auto">
          <a:xfrm>
            <a:off x="5015361" y="3856341"/>
            <a:ext cx="2590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Common protocol (IP) carried all the way</a:t>
            </a:r>
          </a:p>
        </p:txBody>
      </p:sp>
      <p:sp>
        <p:nvSpPr>
          <p:cNvPr id="10" name="矩形 9">
            <a:extLst>
              <a:ext uri="{FF2B5EF4-FFF2-40B4-BE49-F238E27FC236}">
                <a16:creationId xmlns:a16="http://schemas.microsoft.com/office/drawing/2014/main" id="{90D32C90-65B0-4469-9370-C0DAFFDA479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How Networks Can Be Connected</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1220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3188" name="Rectangle 3"/>
          <p:cNvSpPr>
            <a:spLocks noGrp="1" noChangeArrowheads="1"/>
          </p:cNvSpPr>
          <p:nvPr>
            <p:ph idx="1"/>
          </p:nvPr>
        </p:nvSpPr>
        <p:spPr>
          <a:xfrm>
            <a:off x="1751452" y="1160462"/>
            <a:ext cx="7789863" cy="1077856"/>
          </a:xfrm>
        </p:spPr>
        <p:txBody>
          <a:bodyPr/>
          <a:lstStyle/>
          <a:p>
            <a:r>
              <a:rPr lang="en-US" altLang="zh-CN" dirty="0">
                <a:ea typeface="宋体" panose="02010600030101010101" pitchFamily="2" charset="-122"/>
              </a:rPr>
              <a:t>Connects two networks through a middle one</a:t>
            </a:r>
          </a:p>
          <a:p>
            <a:pPr lvl="1"/>
            <a:r>
              <a:rPr lang="en-US" altLang="zh-CN" dirty="0">
                <a:ea typeface="宋体" panose="02010600030101010101" pitchFamily="2" charset="-122"/>
              </a:rPr>
              <a:t>Packets are encapsulated over the middle</a:t>
            </a:r>
          </a:p>
        </p:txBody>
      </p:sp>
      <p:pic>
        <p:nvPicPr>
          <p:cNvPr id="9318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7448" y="2491939"/>
            <a:ext cx="8820777" cy="328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34EEA8EC-A866-4420-A791-811FA20756D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Tunneling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4494854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4212" name="Rectangle 3"/>
          <p:cNvSpPr>
            <a:spLocks noGrp="1" noChangeArrowheads="1"/>
          </p:cNvSpPr>
          <p:nvPr>
            <p:ph idx="1"/>
          </p:nvPr>
        </p:nvSpPr>
        <p:spPr>
          <a:xfrm>
            <a:off x="1919286" y="1180308"/>
            <a:ext cx="7789863" cy="1058010"/>
          </a:xfrm>
        </p:spPr>
        <p:txBody>
          <a:bodyPr/>
          <a:lstStyle/>
          <a:p>
            <a:r>
              <a:rPr lang="en-US" altLang="zh-CN" dirty="0">
                <a:ea typeface="宋体" panose="02010600030101010101" pitchFamily="2" charset="-122"/>
              </a:rPr>
              <a:t>Tunneling analogy: </a:t>
            </a:r>
          </a:p>
          <a:p>
            <a:pPr lvl="1"/>
            <a:r>
              <a:rPr lang="en-US" altLang="zh-CN" dirty="0">
                <a:ea typeface="宋体" panose="02010600030101010101" pitchFamily="2" charset="-122"/>
              </a:rPr>
              <a:t>tunnel is a link; packet can only enter/exit at ends</a:t>
            </a:r>
          </a:p>
        </p:txBody>
      </p:sp>
      <p:pic>
        <p:nvPicPr>
          <p:cNvPr id="942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4892" y="2668355"/>
            <a:ext cx="10146441" cy="2846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7F82CFD0-5397-4D54-ABC8-F8970799257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Tunneling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496907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idx="1"/>
          </p:nvPr>
        </p:nvSpPr>
        <p:spPr>
          <a:xfrm>
            <a:off x="1118691" y="1039666"/>
            <a:ext cx="10515600" cy="975242"/>
          </a:xfrm>
        </p:spPr>
        <p:txBody>
          <a:bodyPr/>
          <a:lstStyle/>
          <a:p>
            <a:r>
              <a:rPr lang="fr-FR" altLang="zh-CN">
                <a:ea typeface="宋体" panose="02010600030101010101" pitchFamily="2" charset="-122"/>
              </a:rPr>
              <a:t>Networks have different packet size limits for many reasons</a:t>
            </a:r>
          </a:p>
          <a:p>
            <a:pPr lvl="1"/>
            <a:r>
              <a:rPr lang="fr-FR" altLang="zh-CN">
                <a:ea typeface="宋体" panose="02010600030101010101" pitchFamily="2" charset="-122"/>
              </a:rPr>
              <a:t>Large packets sent with fragmentation &amp; reassembly</a:t>
            </a:r>
            <a:endParaRPr lang="en-US" altLang="zh-CN">
              <a:ea typeface="宋体" panose="02010600030101010101" pitchFamily="2" charset="-122"/>
            </a:endParaRPr>
          </a:p>
        </p:txBody>
      </p:sp>
      <p:sp>
        <p:nvSpPr>
          <p:cNvPr id="9523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grpSp>
        <p:nvGrpSpPr>
          <p:cNvPr id="95237" name="Group 27"/>
          <p:cNvGrpSpPr>
            <a:grpSpLocks/>
          </p:cNvGrpSpPr>
          <p:nvPr/>
        </p:nvGrpSpPr>
        <p:grpSpPr bwMode="auto">
          <a:xfrm>
            <a:off x="2057400" y="2020889"/>
            <a:ext cx="8077200" cy="4429125"/>
            <a:chOff x="533400" y="2020682"/>
            <a:chExt cx="8077200" cy="4429125"/>
          </a:xfrm>
        </p:grpSpPr>
        <p:pic>
          <p:nvPicPr>
            <p:cNvPr id="95238"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3400" y="2020682"/>
              <a:ext cx="8077200"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9" name="Rectangle 14"/>
            <p:cNvSpPr>
              <a:spLocks noChangeArrowheads="1"/>
            </p:cNvSpPr>
            <p:nvPr/>
          </p:nvSpPr>
          <p:spPr bwMode="auto">
            <a:xfrm>
              <a:off x="1956619" y="3438832"/>
              <a:ext cx="1278194" cy="45474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5240" name="Rectangle 15"/>
            <p:cNvSpPr>
              <a:spLocks noChangeArrowheads="1"/>
            </p:cNvSpPr>
            <p:nvPr/>
          </p:nvSpPr>
          <p:spPr bwMode="auto">
            <a:xfrm>
              <a:off x="3677265" y="3303639"/>
              <a:ext cx="1081548" cy="58010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5241" name="Rectangle 16"/>
            <p:cNvSpPr>
              <a:spLocks noChangeArrowheads="1"/>
            </p:cNvSpPr>
            <p:nvPr/>
          </p:nvSpPr>
          <p:spPr bwMode="auto">
            <a:xfrm>
              <a:off x="5815780" y="3438833"/>
              <a:ext cx="1184788" cy="52356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5242" name="Rectangle 17"/>
            <p:cNvSpPr>
              <a:spLocks noChangeArrowheads="1"/>
            </p:cNvSpPr>
            <p:nvPr/>
          </p:nvSpPr>
          <p:spPr bwMode="auto">
            <a:xfrm>
              <a:off x="7285702" y="3360176"/>
              <a:ext cx="1081548" cy="58010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5243" name="TextBox 13"/>
            <p:cNvSpPr txBox="1">
              <a:spLocks noChangeArrowheads="1"/>
            </p:cNvSpPr>
            <p:nvPr/>
          </p:nvSpPr>
          <p:spPr bwMode="auto">
            <a:xfrm>
              <a:off x="1435510" y="3438832"/>
              <a:ext cx="1268296"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G</a:t>
              </a:r>
              <a:r>
                <a:rPr lang="en-US" altLang="zh-CN" sz="1400" baseline="-25000">
                  <a:ea typeface="宋体" panose="02010600030101010101" pitchFamily="2" charset="-122"/>
                </a:rPr>
                <a:t>1</a:t>
              </a:r>
              <a:r>
                <a:rPr lang="en-US" altLang="zh-CN" sz="1400">
                  <a:ea typeface="宋体" panose="02010600030101010101" pitchFamily="2" charset="-122"/>
                </a:rPr>
                <a:t> fragments</a:t>
              </a:r>
            </a:p>
          </p:txBody>
        </p:sp>
        <p:sp>
          <p:nvSpPr>
            <p:cNvPr id="95244" name="TextBox 18"/>
            <p:cNvSpPr txBox="1">
              <a:spLocks noChangeArrowheads="1"/>
            </p:cNvSpPr>
            <p:nvPr/>
          </p:nvSpPr>
          <p:spPr bwMode="auto">
            <a:xfrm>
              <a:off x="2767784" y="3429000"/>
              <a:ext cx="1455848"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G</a:t>
              </a:r>
              <a:r>
                <a:rPr lang="en-US" altLang="zh-CN" sz="1400" baseline="-25000">
                  <a:ea typeface="宋体" panose="02010600030101010101" pitchFamily="2" charset="-122"/>
                </a:rPr>
                <a:t>2</a:t>
              </a:r>
              <a:r>
                <a:rPr lang="en-US" altLang="zh-CN" sz="1400">
                  <a:ea typeface="宋体" panose="02010600030101010101" pitchFamily="2" charset="-122"/>
                </a:rPr>
                <a:t> reassembles</a:t>
              </a:r>
            </a:p>
          </p:txBody>
        </p:sp>
        <p:sp>
          <p:nvSpPr>
            <p:cNvPr id="95245" name="Rectangle 19"/>
            <p:cNvSpPr>
              <a:spLocks noChangeArrowheads="1"/>
            </p:cNvSpPr>
            <p:nvPr/>
          </p:nvSpPr>
          <p:spPr bwMode="auto">
            <a:xfrm>
              <a:off x="3932903" y="3905864"/>
              <a:ext cx="1278194" cy="45474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5246" name="TextBox 11"/>
            <p:cNvSpPr txBox="1">
              <a:spLocks noChangeArrowheads="1"/>
            </p:cNvSpPr>
            <p:nvPr/>
          </p:nvSpPr>
          <p:spPr bwMode="auto">
            <a:xfrm>
              <a:off x="1120880" y="3795262"/>
              <a:ext cx="6831742"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Transparent – packets fragmented / reassembled in each network</a:t>
              </a:r>
            </a:p>
          </p:txBody>
        </p:sp>
        <p:sp>
          <p:nvSpPr>
            <p:cNvPr id="95247" name="Rectangle 20"/>
            <p:cNvSpPr>
              <a:spLocks noChangeArrowheads="1"/>
            </p:cNvSpPr>
            <p:nvPr/>
          </p:nvSpPr>
          <p:spPr bwMode="auto">
            <a:xfrm>
              <a:off x="3741174" y="5975555"/>
              <a:ext cx="1278194" cy="45474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5248" name="TextBox 12"/>
            <p:cNvSpPr txBox="1">
              <a:spLocks noChangeArrowheads="1"/>
            </p:cNvSpPr>
            <p:nvPr/>
          </p:nvSpPr>
          <p:spPr bwMode="auto">
            <a:xfrm>
              <a:off x="1342114" y="5943604"/>
              <a:ext cx="6494085"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Non-transparent  – fragments are reassembled at destination</a:t>
              </a:r>
            </a:p>
          </p:txBody>
        </p:sp>
        <p:sp>
          <p:nvSpPr>
            <p:cNvPr id="95249" name="TextBox 21"/>
            <p:cNvSpPr txBox="1">
              <a:spLocks noChangeArrowheads="1"/>
            </p:cNvSpPr>
            <p:nvPr/>
          </p:nvSpPr>
          <p:spPr bwMode="auto">
            <a:xfrm>
              <a:off x="5048881" y="3438832"/>
              <a:ext cx="1236236"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G</a:t>
              </a:r>
              <a:r>
                <a:rPr lang="en-US" altLang="zh-CN" sz="1400" baseline="-25000">
                  <a:ea typeface="宋体" panose="02010600030101010101" pitchFamily="2" charset="-122"/>
                </a:rPr>
                <a:t>3</a:t>
              </a:r>
              <a:r>
                <a:rPr lang="en-US" altLang="zh-CN" sz="1400">
                  <a:ea typeface="宋体" panose="02010600030101010101" pitchFamily="2" charset="-122"/>
                </a:rPr>
                <a:t> fragments</a:t>
              </a:r>
            </a:p>
          </p:txBody>
        </p:sp>
        <p:sp>
          <p:nvSpPr>
            <p:cNvPr id="95250" name="TextBox 22"/>
            <p:cNvSpPr txBox="1">
              <a:spLocks noChangeArrowheads="1"/>
            </p:cNvSpPr>
            <p:nvPr/>
          </p:nvSpPr>
          <p:spPr bwMode="auto">
            <a:xfrm>
              <a:off x="6381155" y="3429000"/>
              <a:ext cx="1455848"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G</a:t>
              </a:r>
              <a:r>
                <a:rPr lang="en-US" altLang="zh-CN" sz="1400" baseline="-25000">
                  <a:ea typeface="宋体" panose="02010600030101010101" pitchFamily="2" charset="-122"/>
                </a:rPr>
                <a:t>4</a:t>
              </a:r>
              <a:r>
                <a:rPr lang="en-US" altLang="zh-CN" sz="1400">
                  <a:ea typeface="宋体" panose="02010600030101010101" pitchFamily="2" charset="-122"/>
                </a:rPr>
                <a:t> reassembles</a:t>
              </a:r>
            </a:p>
          </p:txBody>
        </p:sp>
        <p:sp>
          <p:nvSpPr>
            <p:cNvPr id="95251" name="Rectangle 25"/>
            <p:cNvSpPr>
              <a:spLocks noChangeArrowheads="1"/>
            </p:cNvSpPr>
            <p:nvPr/>
          </p:nvSpPr>
          <p:spPr bwMode="auto">
            <a:xfrm>
              <a:off x="1558411" y="5456900"/>
              <a:ext cx="1194619" cy="516194"/>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5252" name="Rectangle 26"/>
            <p:cNvSpPr>
              <a:spLocks noChangeArrowheads="1"/>
            </p:cNvSpPr>
            <p:nvPr/>
          </p:nvSpPr>
          <p:spPr bwMode="auto">
            <a:xfrm>
              <a:off x="3876370" y="5461816"/>
              <a:ext cx="3409336" cy="516194"/>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5253" name="TextBox 23"/>
            <p:cNvSpPr txBox="1">
              <a:spLocks noChangeArrowheads="1"/>
            </p:cNvSpPr>
            <p:nvPr/>
          </p:nvSpPr>
          <p:spPr bwMode="auto">
            <a:xfrm>
              <a:off x="1764883" y="5527668"/>
              <a:ext cx="1268296"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G</a:t>
              </a:r>
              <a:r>
                <a:rPr lang="en-US" altLang="zh-CN" sz="1400" baseline="-25000">
                  <a:ea typeface="宋体" panose="02010600030101010101" pitchFamily="2" charset="-122"/>
                </a:rPr>
                <a:t>1</a:t>
              </a:r>
              <a:r>
                <a:rPr lang="en-US" altLang="zh-CN" sz="1400">
                  <a:ea typeface="宋体" panose="02010600030101010101" pitchFamily="2" charset="-122"/>
                </a:rPr>
                <a:t> fragments</a:t>
              </a:r>
            </a:p>
          </p:txBody>
        </p:sp>
        <p:sp>
          <p:nvSpPr>
            <p:cNvPr id="95254" name="TextBox 24"/>
            <p:cNvSpPr txBox="1">
              <a:spLocks noChangeArrowheads="1"/>
            </p:cNvSpPr>
            <p:nvPr/>
          </p:nvSpPr>
          <p:spPr bwMode="auto">
            <a:xfrm>
              <a:off x="7152968" y="5380188"/>
              <a:ext cx="1440422"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 destination will reassemble</a:t>
              </a:r>
            </a:p>
          </p:txBody>
        </p:sp>
      </p:grpSp>
      <p:sp>
        <p:nvSpPr>
          <p:cNvPr id="23" name="矩形 22">
            <a:extLst>
              <a:ext uri="{FF2B5EF4-FFF2-40B4-BE49-F238E27FC236}">
                <a16:creationId xmlns:a16="http://schemas.microsoft.com/office/drawing/2014/main" id="{510E4F00-7361-4C00-8EB7-0E448996677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Packet Fragmentation (1)</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87600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Content Placeholder 26"/>
          <p:cNvSpPr>
            <a:spLocks noGrp="1"/>
          </p:cNvSpPr>
          <p:nvPr>
            <p:ph idx="1"/>
          </p:nvPr>
        </p:nvSpPr>
        <p:spPr>
          <a:xfrm>
            <a:off x="989666" y="1082675"/>
            <a:ext cx="10515600" cy="4351338"/>
          </a:xfrm>
        </p:spPr>
        <p:txBody>
          <a:bodyPr/>
          <a:lstStyle/>
          <a:p>
            <a:r>
              <a:rPr lang="en-US" altLang="zh-CN" dirty="0">
                <a:ea typeface="宋体" panose="02010600030101010101" pitchFamily="2" charset="-122"/>
              </a:rPr>
              <a:t>Example of IP-style fragmentation:</a:t>
            </a:r>
          </a:p>
        </p:txBody>
      </p:sp>
      <p:sp>
        <p:nvSpPr>
          <p:cNvPr id="962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grpSp>
        <p:nvGrpSpPr>
          <p:cNvPr id="96261" name="Group 10"/>
          <p:cNvGrpSpPr>
            <a:grpSpLocks/>
          </p:cNvGrpSpPr>
          <p:nvPr/>
        </p:nvGrpSpPr>
        <p:grpSpPr bwMode="auto">
          <a:xfrm>
            <a:off x="3333750" y="1720850"/>
            <a:ext cx="5151438" cy="1504950"/>
            <a:chOff x="2001301" y="1953481"/>
            <a:chExt cx="5490419" cy="1604312"/>
          </a:xfrm>
        </p:grpSpPr>
        <p:pic>
          <p:nvPicPr>
            <p:cNvPr id="96269" name="Picture 2"/>
            <p:cNvPicPr>
              <a:picLocks noChangeAspect="1" noChangeArrowheads="1"/>
            </p:cNvPicPr>
            <p:nvPr/>
          </p:nvPicPr>
          <p:blipFill>
            <a:blip r:embed="rId2">
              <a:extLst>
                <a:ext uri="{28A0092B-C50C-407E-A947-70E740481C1C}">
                  <a14:useLocalDpi xmlns:a14="http://schemas.microsoft.com/office/drawing/2010/main" val="0"/>
                </a:ext>
              </a:extLst>
            </a:blip>
            <a:srcRect l="16714" t="19337"/>
            <a:stretch>
              <a:fillRect/>
            </a:stretch>
          </p:blipFill>
          <p:spPr bwMode="auto">
            <a:xfrm>
              <a:off x="2095613" y="2047790"/>
              <a:ext cx="5396107" cy="1510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70" name="Rectangle 5"/>
            <p:cNvSpPr>
              <a:spLocks noChangeArrowheads="1"/>
            </p:cNvSpPr>
            <p:nvPr/>
          </p:nvSpPr>
          <p:spPr bwMode="auto">
            <a:xfrm>
              <a:off x="2001301" y="1953481"/>
              <a:ext cx="3376942" cy="43576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6271" name="TextBox 6"/>
            <p:cNvSpPr txBox="1">
              <a:spLocks noChangeArrowheads="1"/>
            </p:cNvSpPr>
            <p:nvPr/>
          </p:nvSpPr>
          <p:spPr bwMode="auto">
            <a:xfrm>
              <a:off x="2156508" y="2094276"/>
              <a:ext cx="645807" cy="4593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400">
                  <a:ea typeface="宋体" panose="02010600030101010101" pitchFamily="2" charset="-122"/>
                </a:rPr>
                <a:t>Packet</a:t>
              </a:r>
            </a:p>
            <a:p>
              <a:pPr algn="ctr" eaLnBrk="1" hangingPunct="1">
                <a:spcBef>
                  <a:spcPct val="0"/>
                </a:spcBef>
                <a:buClrTx/>
                <a:buFontTx/>
                <a:buNone/>
              </a:pPr>
              <a:r>
                <a:rPr lang="en-US" altLang="zh-CN" sz="1400">
                  <a:ea typeface="宋体" panose="02010600030101010101" pitchFamily="2" charset="-122"/>
                </a:rPr>
                <a:t>number</a:t>
              </a:r>
            </a:p>
          </p:txBody>
        </p:sp>
        <p:sp>
          <p:nvSpPr>
            <p:cNvPr id="96272" name="TextBox 7"/>
            <p:cNvSpPr txBox="1">
              <a:spLocks noChangeArrowheads="1"/>
            </p:cNvSpPr>
            <p:nvPr/>
          </p:nvSpPr>
          <p:spPr bwMode="auto">
            <a:xfrm>
              <a:off x="2823132" y="2079531"/>
              <a:ext cx="462933" cy="4593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400">
                  <a:ea typeface="宋体" panose="02010600030101010101" pitchFamily="2" charset="-122"/>
                </a:rPr>
                <a:t>Start</a:t>
              </a:r>
            </a:p>
            <a:p>
              <a:pPr algn="ctr" eaLnBrk="1" hangingPunct="1">
                <a:spcBef>
                  <a:spcPct val="0"/>
                </a:spcBef>
                <a:buClrTx/>
                <a:buFontTx/>
                <a:buNone/>
              </a:pPr>
              <a:r>
                <a:rPr lang="en-US" altLang="zh-CN" sz="1400">
                  <a:ea typeface="宋体" panose="02010600030101010101" pitchFamily="2" charset="-122"/>
                </a:rPr>
                <a:t>offset</a:t>
              </a:r>
            </a:p>
          </p:txBody>
        </p:sp>
        <p:sp>
          <p:nvSpPr>
            <p:cNvPr id="96273" name="Rectangle 9"/>
            <p:cNvSpPr>
              <a:spLocks noChangeArrowheads="1"/>
            </p:cNvSpPr>
            <p:nvPr/>
          </p:nvSpPr>
          <p:spPr bwMode="auto">
            <a:xfrm>
              <a:off x="3313470" y="2158183"/>
              <a:ext cx="958644" cy="349044"/>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96274" name="TextBox 8"/>
            <p:cNvSpPr txBox="1">
              <a:spLocks noChangeArrowheads="1"/>
            </p:cNvSpPr>
            <p:nvPr/>
          </p:nvSpPr>
          <p:spPr bwMode="auto">
            <a:xfrm>
              <a:off x="3361470" y="2104115"/>
              <a:ext cx="339989" cy="4593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400">
                  <a:ea typeface="宋体" panose="02010600030101010101" pitchFamily="2" charset="-122"/>
                </a:rPr>
                <a:t>End</a:t>
              </a:r>
            </a:p>
            <a:p>
              <a:pPr algn="ctr" eaLnBrk="1" hangingPunct="1">
                <a:spcBef>
                  <a:spcPct val="0"/>
                </a:spcBef>
                <a:buClrTx/>
                <a:buFontTx/>
                <a:buNone/>
              </a:pPr>
              <a:r>
                <a:rPr lang="en-US" altLang="zh-CN" sz="1400">
                  <a:ea typeface="宋体" panose="02010600030101010101" pitchFamily="2" charset="-122"/>
                </a:rPr>
                <a:t>bit</a:t>
              </a:r>
            </a:p>
          </p:txBody>
        </p:sp>
      </p:grpSp>
      <p:pic>
        <p:nvPicPr>
          <p:cNvPr id="962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0464" y="3546475"/>
            <a:ext cx="603408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8863" y="4602163"/>
            <a:ext cx="3059112"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0175" y="4772026"/>
            <a:ext cx="2287588"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2350" y="4716463"/>
            <a:ext cx="1930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6" name="TextBox 15"/>
          <p:cNvSpPr txBox="1">
            <a:spLocks noChangeArrowheads="1"/>
          </p:cNvSpPr>
          <p:nvPr/>
        </p:nvSpPr>
        <p:spPr bwMode="auto">
          <a:xfrm>
            <a:off x="1828801" y="2339976"/>
            <a:ext cx="1787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Original packet:</a:t>
            </a:r>
          </a:p>
          <a:p>
            <a:pPr eaLnBrk="1" hangingPunct="1">
              <a:spcBef>
                <a:spcPct val="0"/>
              </a:spcBef>
              <a:buClrTx/>
              <a:buFontTx/>
              <a:buNone/>
            </a:pPr>
            <a:r>
              <a:rPr lang="en-US" altLang="zh-CN" sz="1800">
                <a:solidFill>
                  <a:srgbClr val="FF2BD8"/>
                </a:solidFill>
                <a:ea typeface="宋体" panose="02010600030101010101" pitchFamily="2" charset="-122"/>
              </a:rPr>
              <a:t>(10 data bytes)</a:t>
            </a:r>
          </a:p>
        </p:txBody>
      </p:sp>
      <p:sp>
        <p:nvSpPr>
          <p:cNvPr id="96267" name="TextBox 16"/>
          <p:cNvSpPr txBox="1">
            <a:spLocks noChangeArrowheads="1"/>
          </p:cNvSpPr>
          <p:nvPr/>
        </p:nvSpPr>
        <p:spPr bwMode="auto">
          <a:xfrm>
            <a:off x="1843088" y="3597276"/>
            <a:ext cx="18526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Fragmented:</a:t>
            </a:r>
          </a:p>
          <a:p>
            <a:pPr eaLnBrk="1" hangingPunct="1">
              <a:spcBef>
                <a:spcPct val="0"/>
              </a:spcBef>
              <a:buClrTx/>
              <a:buFontTx/>
              <a:buNone/>
            </a:pPr>
            <a:r>
              <a:rPr lang="en-US" altLang="zh-CN" sz="1800">
                <a:solidFill>
                  <a:srgbClr val="FF2BD8"/>
                </a:solidFill>
                <a:ea typeface="宋体" panose="02010600030101010101" pitchFamily="2" charset="-122"/>
              </a:rPr>
              <a:t>(to 8 data bytes)</a:t>
            </a:r>
          </a:p>
        </p:txBody>
      </p:sp>
      <p:sp>
        <p:nvSpPr>
          <p:cNvPr id="96268" name="TextBox 17"/>
          <p:cNvSpPr txBox="1">
            <a:spLocks noChangeArrowheads="1"/>
          </p:cNvSpPr>
          <p:nvPr/>
        </p:nvSpPr>
        <p:spPr bwMode="auto">
          <a:xfrm>
            <a:off x="1828801" y="4743450"/>
            <a:ext cx="1787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Re-fragmented:</a:t>
            </a:r>
          </a:p>
          <a:p>
            <a:pPr eaLnBrk="1" hangingPunct="1">
              <a:spcBef>
                <a:spcPct val="0"/>
              </a:spcBef>
              <a:buClrTx/>
              <a:buFontTx/>
              <a:buNone/>
            </a:pPr>
            <a:r>
              <a:rPr lang="en-US" altLang="zh-CN" sz="1800">
                <a:solidFill>
                  <a:srgbClr val="FF2BD8"/>
                </a:solidFill>
                <a:ea typeface="宋体" panose="02010600030101010101" pitchFamily="2" charset="-122"/>
              </a:rPr>
              <a:t>(to 5 bytes)</a:t>
            </a:r>
          </a:p>
        </p:txBody>
      </p:sp>
      <p:sp>
        <p:nvSpPr>
          <p:cNvPr id="19" name="矩形 18">
            <a:extLst>
              <a:ext uri="{FF2B5EF4-FFF2-40B4-BE49-F238E27FC236}">
                <a16:creationId xmlns:a16="http://schemas.microsoft.com/office/drawing/2014/main" id="{85AA5F21-758E-45B4-A96F-95BD851BA683}"/>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Packet Fragmentation (2)</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5200320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7284" name="Rectangle 3"/>
          <p:cNvSpPr>
            <a:spLocks noGrp="1" noChangeArrowheads="1"/>
          </p:cNvSpPr>
          <p:nvPr>
            <p:ph idx="1"/>
          </p:nvPr>
        </p:nvSpPr>
        <p:spPr>
          <a:xfrm>
            <a:off x="419197" y="1119816"/>
            <a:ext cx="11481576" cy="1411481"/>
          </a:xfrm>
        </p:spPr>
        <p:txBody>
          <a:bodyPr/>
          <a:lstStyle/>
          <a:p>
            <a:r>
              <a:rPr lang="en-US" altLang="zh-CN" dirty="0">
                <a:ea typeface="宋体" panose="02010600030101010101" pitchFamily="2" charset="-122"/>
              </a:rPr>
              <a:t>Path MTU Discovery avoids network fragmentation</a:t>
            </a:r>
          </a:p>
          <a:p>
            <a:pPr lvl="1"/>
            <a:r>
              <a:rPr lang="en-US" altLang="zh-CN" dirty="0">
                <a:ea typeface="宋体" panose="02010600030101010101" pitchFamily="2" charset="-122"/>
              </a:rPr>
              <a:t>Routers return MTU (Max. Transmission Unit) to source and discard large packets</a:t>
            </a:r>
          </a:p>
        </p:txBody>
      </p:sp>
      <p:grpSp>
        <p:nvGrpSpPr>
          <p:cNvPr id="97285" name="Group 16"/>
          <p:cNvGrpSpPr>
            <a:grpSpLocks/>
          </p:cNvGrpSpPr>
          <p:nvPr/>
        </p:nvGrpSpPr>
        <p:grpSpPr bwMode="auto">
          <a:xfrm>
            <a:off x="1689425" y="2133215"/>
            <a:ext cx="8813148" cy="2591569"/>
            <a:chOff x="521109" y="2698944"/>
            <a:chExt cx="8175215" cy="2265648"/>
          </a:xfrm>
        </p:grpSpPr>
        <p:pic>
          <p:nvPicPr>
            <p:cNvPr id="972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109" y="2698944"/>
              <a:ext cx="8175215" cy="22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7287" name="Group 15"/>
            <p:cNvGrpSpPr>
              <a:grpSpLocks/>
            </p:cNvGrpSpPr>
            <p:nvPr/>
          </p:nvGrpSpPr>
          <p:grpSpPr bwMode="auto">
            <a:xfrm>
              <a:off x="1691146" y="4178699"/>
              <a:ext cx="3212491" cy="280631"/>
              <a:chOff x="1691146" y="4178699"/>
              <a:chExt cx="3212491" cy="280631"/>
            </a:xfrm>
          </p:grpSpPr>
          <p:sp>
            <p:nvSpPr>
              <p:cNvPr id="97288" name="TextBox 13"/>
              <p:cNvSpPr txBox="1">
                <a:spLocks noChangeArrowheads="1"/>
              </p:cNvSpPr>
              <p:nvPr/>
            </p:nvSpPr>
            <p:spPr bwMode="auto">
              <a:xfrm>
                <a:off x="1691146" y="4178699"/>
                <a:ext cx="963561"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dirty="0">
                    <a:solidFill>
                      <a:srgbClr val="FF2BD8"/>
                    </a:solidFill>
                    <a:ea typeface="宋体" panose="02010600030101010101" pitchFamily="2" charset="-122"/>
                  </a:rPr>
                  <a:t>  Try 1200</a:t>
                </a:r>
              </a:p>
            </p:txBody>
          </p:sp>
          <p:sp>
            <p:nvSpPr>
              <p:cNvPr id="97289" name="TextBox 14"/>
              <p:cNvSpPr txBox="1">
                <a:spLocks noChangeArrowheads="1"/>
              </p:cNvSpPr>
              <p:nvPr/>
            </p:nvSpPr>
            <p:spPr bwMode="auto">
              <a:xfrm>
                <a:off x="4100147" y="4213109"/>
                <a:ext cx="803490"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600">
                    <a:solidFill>
                      <a:srgbClr val="FF2BD8"/>
                    </a:solidFill>
                    <a:ea typeface="宋体" panose="02010600030101010101" pitchFamily="2" charset="-122"/>
                  </a:rPr>
                  <a:t>Try 900  </a:t>
                </a:r>
              </a:p>
            </p:txBody>
          </p:sp>
        </p:grpSp>
      </p:grpSp>
      <p:sp>
        <p:nvSpPr>
          <p:cNvPr id="10" name="矩形 9">
            <a:extLst>
              <a:ext uri="{FF2B5EF4-FFF2-40B4-BE49-F238E27FC236}">
                <a16:creationId xmlns:a16="http://schemas.microsoft.com/office/drawing/2014/main" id="{0C5CDAA3-C6EA-416B-A2E2-E04E630159C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Packet Fragmentation (3)</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539258FA-61E5-4717-9E18-8E6466ACD4E3}"/>
              </a:ext>
            </a:extLst>
          </p:cNvPr>
          <p:cNvSpPr/>
          <p:nvPr/>
        </p:nvSpPr>
        <p:spPr>
          <a:xfrm>
            <a:off x="352368" y="4702716"/>
            <a:ext cx="11377755" cy="1477328"/>
          </a:xfrm>
          <a:prstGeom prst="rect">
            <a:avLst/>
          </a:prstGeom>
        </p:spPr>
        <p:txBody>
          <a:bodyPr wrap="square">
            <a:spAutoFit/>
          </a:bodyPr>
          <a:lstStyle/>
          <a:p>
            <a:r>
              <a:rPr lang="en-US" altLang="zh-CN" dirty="0"/>
              <a:t>Each IP packet is sent with its header bits set to indicate that no fragmentation is allowed to be performed. If a router receives a packet that is too large, it generates an error packet, returns it to the source, and drops the packet. When the source receives the error packet, it uses the information inside to </a:t>
            </a:r>
            <a:r>
              <a:rPr lang="en-US" altLang="zh-CN" dirty="0" err="1"/>
              <a:t>refragment</a:t>
            </a:r>
            <a:r>
              <a:rPr lang="en-US" altLang="zh-CN" dirty="0"/>
              <a:t> the packet into pieces that are small enough for the router to handle. If a router further down the path has an even smaller MTU, the process is repeated.</a:t>
            </a:r>
            <a:endParaRPr lang="zh-CN" altLang="en-US" dirty="0"/>
          </a:p>
        </p:txBody>
      </p:sp>
    </p:spTree>
    <p:extLst>
      <p:ext uri="{BB962C8B-B14F-4D97-AF65-F5344CB8AC3E}">
        <p14:creationId xmlns:p14="http://schemas.microsoft.com/office/powerpoint/2010/main" val="25662591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Footer Placeholder 8"/>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220" name="Subtitle 2"/>
          <p:cNvSpPr>
            <a:spLocks noGrp="1"/>
          </p:cNvSpPr>
          <p:nvPr>
            <p:ph idx="1"/>
          </p:nvPr>
        </p:nvSpPr>
        <p:spPr>
          <a:xfrm>
            <a:off x="2702762" y="1654136"/>
            <a:ext cx="6686550" cy="2659812"/>
          </a:xfrm>
        </p:spPr>
        <p:txBody>
          <a:bodyPr vert="horz" lIns="91440" tIns="45720" rIns="91440" bIns="45720" rtlCol="0">
            <a:normAutofit/>
          </a:bodyPr>
          <a:lstStyle/>
          <a:p>
            <a:pPr lvl="1"/>
            <a:r>
              <a:rPr lang="en-US" altLang="zh-CN" dirty="0"/>
              <a:t>Design Issues</a:t>
            </a:r>
          </a:p>
          <a:p>
            <a:pPr lvl="1"/>
            <a:r>
              <a:rPr lang="en-US" altLang="zh-CN" dirty="0"/>
              <a:t>Routing Algorithms</a:t>
            </a:r>
          </a:p>
          <a:p>
            <a:pPr lvl="1"/>
            <a:r>
              <a:rPr lang="en-US" altLang="zh-CN" dirty="0"/>
              <a:t>Congestion Control</a:t>
            </a:r>
          </a:p>
          <a:p>
            <a:pPr lvl="1"/>
            <a:r>
              <a:rPr lang="en-US" altLang="zh-CN" dirty="0"/>
              <a:t>Quality of Service</a:t>
            </a:r>
          </a:p>
          <a:p>
            <a:pPr lvl="1"/>
            <a:r>
              <a:rPr lang="en-US" altLang="zh-CN" dirty="0"/>
              <a:t>Internetworking</a:t>
            </a:r>
          </a:p>
          <a:p>
            <a:pPr lvl="1"/>
            <a:r>
              <a:rPr lang="en-US" altLang="zh-CN" b="1" dirty="0">
                <a:solidFill>
                  <a:srgbClr val="C00000"/>
                </a:solidFill>
              </a:rPr>
              <a:t>Network Layer of the Internet</a:t>
            </a:r>
          </a:p>
        </p:txBody>
      </p:sp>
      <p:sp>
        <p:nvSpPr>
          <p:cNvPr id="2" name="矩形 1">
            <a:extLst>
              <a:ext uri="{FF2B5EF4-FFF2-40B4-BE49-F238E27FC236}">
                <a16:creationId xmlns:a16="http://schemas.microsoft.com/office/drawing/2014/main" id="{B4980F9B-94EF-4944-9E61-6B0F74FFB2A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Chapter 5</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340656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8308" name="Rectangle 3"/>
          <p:cNvSpPr>
            <a:spLocks noGrp="1" noChangeArrowheads="1"/>
          </p:cNvSpPr>
          <p:nvPr>
            <p:ph idx="1"/>
          </p:nvPr>
        </p:nvSpPr>
        <p:spPr>
          <a:xfrm>
            <a:off x="2905125" y="1695450"/>
            <a:ext cx="7315200" cy="4019550"/>
          </a:xfrm>
        </p:spPr>
        <p:txBody>
          <a:bodyPr/>
          <a:lstStyle/>
          <a:p>
            <a:pPr lvl="1"/>
            <a:r>
              <a:rPr lang="it-IT" altLang="zh-CN" dirty="0">
                <a:ea typeface="宋体" panose="02010600030101010101" pitchFamily="2" charset="-122"/>
              </a:rPr>
              <a:t>IP Version 4 </a:t>
            </a:r>
            <a:r>
              <a:rPr lang="en-US" altLang="zh-CN" dirty="0">
                <a:solidFill>
                  <a:srgbClr val="0000FF"/>
                </a:solidFill>
                <a:ea typeface="宋体" panose="02010600030101010101" pitchFamily="2" charset="-122"/>
              </a:rPr>
              <a:t>»</a:t>
            </a:r>
            <a:endParaRPr lang="it-IT" altLang="zh-CN" dirty="0">
              <a:ea typeface="宋体" panose="02010600030101010101" pitchFamily="2" charset="-122"/>
            </a:endParaRPr>
          </a:p>
          <a:p>
            <a:pPr lvl="1"/>
            <a:r>
              <a:rPr lang="en-US" altLang="zh-CN" dirty="0">
                <a:ea typeface="宋体" panose="02010600030101010101" pitchFamily="2" charset="-122"/>
              </a:rPr>
              <a:t>IP Addresses</a:t>
            </a:r>
            <a:r>
              <a:rPr lang="en-US" altLang="zh-CN" dirty="0">
                <a:solidFill>
                  <a:srgbClr val="0000FF"/>
                </a:solidFill>
                <a:ea typeface="宋体" panose="02010600030101010101" pitchFamily="2" charset="-122"/>
              </a:rPr>
              <a:t> »</a:t>
            </a:r>
            <a:endParaRPr lang="en-US" altLang="zh-CN" dirty="0">
              <a:ea typeface="宋体" panose="02010600030101010101" pitchFamily="2" charset="-122"/>
            </a:endParaRPr>
          </a:p>
          <a:p>
            <a:pPr lvl="1"/>
            <a:r>
              <a:rPr lang="en-US" altLang="zh-CN" dirty="0">
                <a:ea typeface="宋体" panose="02010600030101010101" pitchFamily="2" charset="-122"/>
              </a:rPr>
              <a:t>IP Version 6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Internet Control Protocols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Label Switching and MPLS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OSPF—An Interior Gateway Routing Protocol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BGP—The Exterior Gateway Routing Protocol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solidFill>
                  <a:srgbClr val="7F7F7F"/>
                </a:solidFill>
                <a:ea typeface="宋体" panose="02010600030101010101" pitchFamily="2" charset="-122"/>
              </a:rPr>
              <a:t>Internet Multicasting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solidFill>
                  <a:srgbClr val="7F7F7F"/>
                </a:solidFill>
                <a:ea typeface="宋体" panose="02010600030101010101" pitchFamily="2" charset="-122"/>
              </a:rPr>
              <a:t>Mobile IP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5" name="矩形 4">
            <a:extLst>
              <a:ext uri="{FF2B5EF4-FFF2-40B4-BE49-F238E27FC236}">
                <a16:creationId xmlns:a16="http://schemas.microsoft.com/office/drawing/2014/main" id="{AAE25231-94D9-42C0-8BC0-792446F78F6C}"/>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 in the Internet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43220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9332" name="Rectangle 3"/>
          <p:cNvSpPr>
            <a:spLocks noGrp="1" noChangeArrowheads="1"/>
          </p:cNvSpPr>
          <p:nvPr>
            <p:ph idx="1"/>
          </p:nvPr>
        </p:nvSpPr>
        <p:spPr>
          <a:xfrm>
            <a:off x="2546019" y="1381312"/>
            <a:ext cx="7791450" cy="4598987"/>
          </a:xfrm>
        </p:spPr>
        <p:txBody>
          <a:bodyPr/>
          <a:lstStyle/>
          <a:p>
            <a:r>
              <a:rPr lang="en-US" altLang="zh-CN" dirty="0">
                <a:ea typeface="宋体" panose="02010600030101010101" pitchFamily="2" charset="-122"/>
              </a:rPr>
              <a:t>IP has been shaped by guiding principles:</a:t>
            </a:r>
          </a:p>
          <a:p>
            <a:pPr lvl="2"/>
            <a:r>
              <a:rPr lang="en-US" altLang="zh-CN" dirty="0">
                <a:ea typeface="宋体" panose="02010600030101010101" pitchFamily="2" charset="-122"/>
              </a:rPr>
              <a:t>Make sure it works</a:t>
            </a:r>
          </a:p>
          <a:p>
            <a:pPr lvl="2"/>
            <a:r>
              <a:rPr lang="en-US" altLang="zh-CN" dirty="0">
                <a:ea typeface="宋体" panose="02010600030101010101" pitchFamily="2" charset="-122"/>
              </a:rPr>
              <a:t>Keep it simple</a:t>
            </a:r>
          </a:p>
          <a:p>
            <a:pPr lvl="2"/>
            <a:r>
              <a:rPr lang="en-US" altLang="zh-CN" dirty="0">
                <a:ea typeface="宋体" panose="02010600030101010101" pitchFamily="2" charset="-122"/>
              </a:rPr>
              <a:t>Make clear choices</a:t>
            </a:r>
          </a:p>
          <a:p>
            <a:pPr lvl="2"/>
            <a:r>
              <a:rPr lang="en-US" altLang="zh-CN" dirty="0">
                <a:ea typeface="宋体" panose="02010600030101010101" pitchFamily="2" charset="-122"/>
              </a:rPr>
              <a:t>Exploit modularity</a:t>
            </a:r>
          </a:p>
          <a:p>
            <a:pPr lvl="2"/>
            <a:r>
              <a:rPr lang="en-US" altLang="zh-CN" dirty="0">
                <a:ea typeface="宋体" panose="02010600030101010101" pitchFamily="2" charset="-122"/>
              </a:rPr>
              <a:t>Expect heterogeneity</a:t>
            </a:r>
          </a:p>
          <a:p>
            <a:pPr lvl="2"/>
            <a:r>
              <a:rPr lang="en-US" altLang="zh-CN" dirty="0">
                <a:ea typeface="宋体" panose="02010600030101010101" pitchFamily="2" charset="-122"/>
              </a:rPr>
              <a:t>Avoid static options and parameters</a:t>
            </a:r>
          </a:p>
          <a:p>
            <a:pPr lvl="2"/>
            <a:r>
              <a:rPr lang="en-US" altLang="zh-CN" dirty="0">
                <a:ea typeface="宋体" panose="02010600030101010101" pitchFamily="2" charset="-122"/>
              </a:rPr>
              <a:t>Look for good design (not perfect)</a:t>
            </a:r>
          </a:p>
          <a:p>
            <a:pPr lvl="2"/>
            <a:r>
              <a:rPr lang="en-US" altLang="zh-CN" dirty="0">
                <a:ea typeface="宋体" panose="02010600030101010101" pitchFamily="2" charset="-122"/>
              </a:rPr>
              <a:t>Strict sending, tolerant receiving</a:t>
            </a:r>
          </a:p>
          <a:p>
            <a:pPr lvl="2"/>
            <a:r>
              <a:rPr lang="en-US" altLang="zh-CN" dirty="0">
                <a:ea typeface="宋体" panose="02010600030101010101" pitchFamily="2" charset="-122"/>
              </a:rPr>
              <a:t>Think about scalability</a:t>
            </a:r>
          </a:p>
          <a:p>
            <a:pPr lvl="2"/>
            <a:r>
              <a:rPr lang="en-US" altLang="zh-CN" dirty="0">
                <a:ea typeface="宋体" panose="02010600030101010101" pitchFamily="2" charset="-122"/>
              </a:rPr>
              <a:t>Consider performance and cost</a:t>
            </a:r>
            <a:br>
              <a:rPr lang="en-US" altLang="zh-CN" dirty="0">
                <a:ea typeface="宋体" panose="02010600030101010101" pitchFamily="2" charset="-122"/>
              </a:rPr>
            </a:br>
            <a:endParaRPr lang="en-US" altLang="zh-CN" dirty="0">
              <a:ea typeface="宋体" panose="02010600030101010101" pitchFamily="2" charset="-122"/>
            </a:endParaRPr>
          </a:p>
        </p:txBody>
      </p:sp>
      <p:sp>
        <p:nvSpPr>
          <p:cNvPr id="5" name="矩形 4">
            <a:extLst>
              <a:ext uri="{FF2B5EF4-FFF2-40B4-BE49-F238E27FC236}">
                <a16:creationId xmlns:a16="http://schemas.microsoft.com/office/drawing/2014/main" id="{B4899C20-7B35-412C-A43F-B017C6B4F02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10 Design Principles of IP Protocol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21033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
          <p:cNvSpPr>
            <a:spLocks noGrp="1" noChangeArrowheads="1"/>
          </p:cNvSpPr>
          <p:nvPr>
            <p:ph idx="1"/>
          </p:nvPr>
        </p:nvSpPr>
        <p:spPr>
          <a:xfrm>
            <a:off x="645160" y="995363"/>
            <a:ext cx="10977880" cy="960438"/>
          </a:xfrm>
        </p:spPr>
        <p:txBody>
          <a:bodyPr/>
          <a:lstStyle/>
          <a:p>
            <a:r>
              <a:rPr lang="en-US" altLang="zh-CN" dirty="0">
                <a:ea typeface="宋体" panose="02010600030101010101" pitchFamily="2" charset="-122"/>
              </a:rPr>
              <a:t>Internet is an interconnected collection of many networks that is held together by the IP protocol</a:t>
            </a:r>
          </a:p>
        </p:txBody>
      </p:sp>
      <p:sp>
        <p:nvSpPr>
          <p:cNvPr id="1013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10138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2119313"/>
            <a:ext cx="6769100" cy="429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614DCE12-9A7D-43CC-ADE7-65DA0A04E74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 in the Internet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4787235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3334" y="1701007"/>
            <a:ext cx="9512800" cy="4196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20644834-E489-4D74-B7B0-56D861E9E808}"/>
              </a:ext>
            </a:extLst>
          </p:cNvPr>
          <p:cNvSpPr/>
          <p:nvPr/>
        </p:nvSpPr>
        <p:spPr>
          <a:xfrm>
            <a:off x="301659" y="276094"/>
            <a:ext cx="11716652" cy="954107"/>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Position of IP and other network-layer protocols in TCP/IP protocol suite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709511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02404" name="Rectangle 3"/>
          <p:cNvSpPr>
            <a:spLocks noGrp="1" noChangeArrowheads="1"/>
          </p:cNvSpPr>
          <p:nvPr>
            <p:ph idx="1"/>
          </p:nvPr>
        </p:nvSpPr>
        <p:spPr>
          <a:xfrm>
            <a:off x="1238250" y="1215889"/>
            <a:ext cx="10109200" cy="927238"/>
          </a:xfrm>
        </p:spPr>
        <p:txBody>
          <a:bodyPr>
            <a:normAutofit/>
          </a:bodyPr>
          <a:lstStyle/>
          <a:p>
            <a:r>
              <a:rPr lang="en-US" altLang="zh-CN" dirty="0">
                <a:ea typeface="宋体" panose="02010600030101010101" pitchFamily="2" charset="-122"/>
              </a:rPr>
              <a:t>IPv4 (Internet Protocol) header is carried on all packets and has fields for the key parts of the protocol: </a:t>
            </a:r>
          </a:p>
        </p:txBody>
      </p:sp>
      <p:pic>
        <p:nvPicPr>
          <p:cNvPr id="10240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9093" y="2291049"/>
            <a:ext cx="8321031" cy="4003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F4C67CBD-FF8D-425D-ACCB-58B93A1FE0AB}"/>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it-IT" altLang="zh-CN" sz="2800" b="1" kern="0" dirty="0">
                <a:solidFill>
                  <a:srgbClr val="C00000"/>
                </a:solidFill>
                <a:latin typeface="微软雅黑" panose="020B0503020204020204" pitchFamily="34" charset="-122"/>
                <a:ea typeface="微软雅黑" panose="020B0503020204020204" pitchFamily="34" charset="-122"/>
                <a:cs typeface="+mn-cs"/>
              </a:rPr>
              <a:t>IP Version 4 Protocol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006EB675-F46D-446F-9DFF-C78C9C4BEA41}"/>
              </a:ext>
            </a:extLst>
          </p:cNvPr>
          <p:cNvSpPr txBox="1"/>
          <p:nvPr/>
        </p:nvSpPr>
        <p:spPr>
          <a:xfrm>
            <a:off x="10562491" y="5497418"/>
            <a:ext cx="1356462" cy="369332"/>
          </a:xfrm>
          <a:prstGeom prst="rect">
            <a:avLst/>
          </a:prstGeom>
          <a:noFill/>
        </p:spPr>
        <p:txBody>
          <a:bodyPr wrap="none" rtlCol="0">
            <a:spAutoFit/>
          </a:bodyPr>
          <a:lstStyle/>
          <a:p>
            <a:r>
              <a:rPr lang="en-US" altLang="zh-CN" b="1" dirty="0"/>
              <a:t>0~40 bytes</a:t>
            </a:r>
            <a:endParaRPr lang="zh-CN" altLang="en-US" b="1" dirty="0"/>
          </a:p>
        </p:txBody>
      </p:sp>
      <p:sp>
        <p:nvSpPr>
          <p:cNvPr id="3" name="右大括号 2">
            <a:extLst>
              <a:ext uri="{FF2B5EF4-FFF2-40B4-BE49-F238E27FC236}">
                <a16:creationId xmlns:a16="http://schemas.microsoft.com/office/drawing/2014/main" id="{942C2E14-E57D-4997-9024-362503D53D23}"/>
              </a:ext>
            </a:extLst>
          </p:cNvPr>
          <p:cNvSpPr/>
          <p:nvPr/>
        </p:nvSpPr>
        <p:spPr>
          <a:xfrm>
            <a:off x="10191699" y="3221323"/>
            <a:ext cx="300360" cy="2025650"/>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E3A9E525-D758-4255-A913-82E18762304E}"/>
              </a:ext>
            </a:extLst>
          </p:cNvPr>
          <p:cNvSpPr txBox="1"/>
          <p:nvPr/>
        </p:nvSpPr>
        <p:spPr>
          <a:xfrm>
            <a:off x="10562491" y="4049482"/>
            <a:ext cx="1067921" cy="369332"/>
          </a:xfrm>
          <a:prstGeom prst="rect">
            <a:avLst/>
          </a:prstGeom>
          <a:noFill/>
        </p:spPr>
        <p:txBody>
          <a:bodyPr wrap="none" rtlCol="0">
            <a:spAutoFit/>
          </a:bodyPr>
          <a:lstStyle/>
          <a:p>
            <a:r>
              <a:rPr lang="en-US" altLang="zh-CN" b="1" dirty="0"/>
              <a:t>20 bytes</a:t>
            </a:r>
            <a:endParaRPr lang="zh-CN" altLang="en-US" b="1" dirty="0"/>
          </a:p>
        </p:txBody>
      </p:sp>
      <p:sp>
        <p:nvSpPr>
          <p:cNvPr id="10" name="右大括号 9">
            <a:extLst>
              <a:ext uri="{FF2B5EF4-FFF2-40B4-BE49-F238E27FC236}">
                <a16:creationId xmlns:a16="http://schemas.microsoft.com/office/drawing/2014/main" id="{1F1E90EE-C03E-428C-A7F9-07088265C0BE}"/>
              </a:ext>
            </a:extLst>
          </p:cNvPr>
          <p:cNvSpPr/>
          <p:nvPr/>
        </p:nvSpPr>
        <p:spPr>
          <a:xfrm>
            <a:off x="10191699" y="5297772"/>
            <a:ext cx="300360" cy="777359"/>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6BDED3C7-B08E-4F5F-8082-22BC2F23442D}"/>
              </a:ext>
            </a:extLst>
          </p:cNvPr>
          <p:cNvSpPr txBox="1"/>
          <p:nvPr/>
        </p:nvSpPr>
        <p:spPr>
          <a:xfrm>
            <a:off x="336251" y="2098037"/>
            <a:ext cx="1797050" cy="923330"/>
          </a:xfrm>
          <a:prstGeom prst="rect">
            <a:avLst/>
          </a:prstGeom>
          <a:noFill/>
        </p:spPr>
        <p:txBody>
          <a:bodyPr wrap="square">
            <a:spAutoFit/>
          </a:bodyPr>
          <a:lstStyle/>
          <a:p>
            <a:r>
              <a:rPr lang="en-US" altLang="zh-CN" b="0" i="0" dirty="0">
                <a:solidFill>
                  <a:srgbClr val="4D4D4D"/>
                </a:solidFill>
                <a:effectLst/>
                <a:latin typeface="-apple-system"/>
              </a:rPr>
              <a:t>Version</a:t>
            </a:r>
            <a:r>
              <a:rPr lang="zh-CN" altLang="en-US" b="0" i="0" dirty="0">
                <a:solidFill>
                  <a:srgbClr val="4D4D4D"/>
                </a:solidFill>
                <a:effectLst/>
                <a:latin typeface="-apple-system"/>
              </a:rPr>
              <a:t>：</a:t>
            </a:r>
            <a:endParaRPr lang="en-US" altLang="zh-CN" b="0" i="0" dirty="0">
              <a:solidFill>
                <a:srgbClr val="4D4D4D"/>
              </a:solidFill>
              <a:effectLst/>
              <a:latin typeface="-apple-system"/>
            </a:endParaRPr>
          </a:p>
          <a:p>
            <a:r>
              <a:rPr lang="en-US" altLang="zh-CN" b="0" i="0" dirty="0">
                <a:solidFill>
                  <a:srgbClr val="4D4D4D"/>
                </a:solidFill>
                <a:effectLst/>
                <a:latin typeface="-apple-system"/>
              </a:rPr>
              <a:t>0100</a:t>
            </a:r>
            <a:r>
              <a:rPr lang="zh-CN" altLang="en-US" b="0" i="0" dirty="0">
                <a:solidFill>
                  <a:srgbClr val="4D4D4D"/>
                </a:solidFill>
                <a:effectLst/>
                <a:latin typeface="-apple-system"/>
              </a:rPr>
              <a:t>（</a:t>
            </a:r>
            <a:r>
              <a:rPr lang="en-US" altLang="zh-CN" b="0" i="0" dirty="0">
                <a:solidFill>
                  <a:srgbClr val="4D4D4D"/>
                </a:solidFill>
                <a:effectLst/>
                <a:latin typeface="-apple-system"/>
              </a:rPr>
              <a:t>IPv4</a:t>
            </a:r>
            <a:r>
              <a:rPr lang="zh-CN" altLang="en-US" b="0" i="0" dirty="0">
                <a:solidFill>
                  <a:srgbClr val="4D4D4D"/>
                </a:solidFill>
                <a:effectLst/>
                <a:latin typeface="-apple-system"/>
              </a:rPr>
              <a:t>）</a:t>
            </a:r>
            <a:r>
              <a:rPr lang="en-US" altLang="zh-CN" b="0" i="0" dirty="0">
                <a:solidFill>
                  <a:srgbClr val="4D4D4D"/>
                </a:solidFill>
                <a:effectLst/>
                <a:latin typeface="-apple-system"/>
              </a:rPr>
              <a:t> 0110 </a:t>
            </a:r>
            <a:r>
              <a:rPr lang="zh-CN" altLang="en-US" b="0" i="0" dirty="0">
                <a:solidFill>
                  <a:srgbClr val="4D4D4D"/>
                </a:solidFill>
                <a:effectLst/>
                <a:latin typeface="-apple-system"/>
              </a:rPr>
              <a:t>（</a:t>
            </a:r>
            <a:r>
              <a:rPr lang="en-US" altLang="zh-CN" b="0" i="0" dirty="0">
                <a:solidFill>
                  <a:srgbClr val="4D4D4D"/>
                </a:solidFill>
                <a:effectLst/>
                <a:latin typeface="-apple-system"/>
              </a:rPr>
              <a:t> IPv6 </a:t>
            </a:r>
            <a:r>
              <a:rPr lang="zh-CN" altLang="en-US" b="0" i="0" dirty="0">
                <a:solidFill>
                  <a:srgbClr val="4D4D4D"/>
                </a:solidFill>
                <a:effectLst/>
                <a:latin typeface="-apple-system"/>
              </a:rPr>
              <a:t>）</a:t>
            </a:r>
            <a:endParaRPr lang="zh-CN" altLang="en-US" dirty="0"/>
          </a:p>
        </p:txBody>
      </p:sp>
      <p:sp>
        <p:nvSpPr>
          <p:cNvPr id="4" name="矩形 3">
            <a:extLst>
              <a:ext uri="{FF2B5EF4-FFF2-40B4-BE49-F238E27FC236}">
                <a16:creationId xmlns:a16="http://schemas.microsoft.com/office/drawing/2014/main" id="{13982032-1A85-48E0-B69E-59EB8CE9BE07}"/>
              </a:ext>
            </a:extLst>
          </p:cNvPr>
          <p:cNvSpPr/>
          <p:nvPr/>
        </p:nvSpPr>
        <p:spPr>
          <a:xfrm>
            <a:off x="96259" y="3687503"/>
            <a:ext cx="2020756" cy="1815882"/>
          </a:xfrm>
          <a:prstGeom prst="rect">
            <a:avLst/>
          </a:prstGeom>
        </p:spPr>
        <p:txBody>
          <a:bodyPr wrap="square">
            <a:spAutoFit/>
          </a:bodyPr>
          <a:lstStyle/>
          <a:p>
            <a:r>
              <a:rPr lang="en-US" altLang="zh-CN" sz="1600" dirty="0">
                <a:solidFill>
                  <a:srgbClr val="4D4D4D"/>
                </a:solidFill>
                <a:latin typeface="微软雅黑" panose="020B0503020204020204" pitchFamily="34" charset="-122"/>
                <a:ea typeface="微软雅黑" panose="020B0503020204020204" pitchFamily="34" charset="-122"/>
              </a:rPr>
              <a:t>IHL</a:t>
            </a:r>
            <a:r>
              <a:rPr lang="zh-CN" altLang="en-US" sz="1600" dirty="0">
                <a:solidFill>
                  <a:srgbClr val="4D4D4D"/>
                </a:solidFill>
                <a:latin typeface="微软雅黑" panose="020B0503020204020204" pitchFamily="34" charset="-122"/>
                <a:ea typeface="微软雅黑" panose="020B0503020204020204" pitchFamily="34" charset="-122"/>
              </a:rPr>
              <a:t>：</a:t>
            </a:r>
            <a:r>
              <a:rPr lang="en-US" altLang="zh-CN" sz="1600" dirty="0">
                <a:solidFill>
                  <a:srgbClr val="4D4D4D"/>
                </a:solidFill>
                <a:latin typeface="微软雅黑" panose="020B0503020204020204" pitchFamily="34" charset="-122"/>
                <a:ea typeface="微软雅黑" panose="020B0503020204020204" pitchFamily="34" charset="-122"/>
              </a:rPr>
              <a:t>IP</a:t>
            </a:r>
            <a:r>
              <a:rPr lang="zh-CN" altLang="en-US" sz="1600" dirty="0">
                <a:solidFill>
                  <a:srgbClr val="4D4D4D"/>
                </a:solidFill>
                <a:latin typeface="微软雅黑" panose="020B0503020204020204" pitchFamily="34" charset="-122"/>
                <a:ea typeface="微软雅黑" panose="020B0503020204020204" pitchFamily="34" charset="-122"/>
              </a:rPr>
              <a:t>包头长度，</a:t>
            </a:r>
            <a:r>
              <a:rPr lang="en-US" altLang="zh-CN" sz="1600" dirty="0">
                <a:solidFill>
                  <a:srgbClr val="4D4D4D"/>
                </a:solidFill>
                <a:latin typeface="微软雅黑" panose="020B0503020204020204" pitchFamily="34" charset="-122"/>
                <a:ea typeface="微软雅黑" panose="020B0503020204020204" pitchFamily="34" charset="-122"/>
              </a:rPr>
              <a:t>4</a:t>
            </a:r>
            <a:r>
              <a:rPr lang="zh-CN" altLang="en-US" sz="1600" dirty="0">
                <a:solidFill>
                  <a:srgbClr val="4D4D4D"/>
                </a:solidFill>
                <a:latin typeface="微软雅黑" panose="020B0503020204020204" pitchFamily="34" charset="-122"/>
                <a:ea typeface="微软雅黑" panose="020B0503020204020204" pitchFamily="34" charset="-122"/>
              </a:rPr>
              <a:t>比特，单位为</a:t>
            </a:r>
            <a:r>
              <a:rPr lang="en-US" altLang="zh-CN" sz="1600" dirty="0">
                <a:solidFill>
                  <a:srgbClr val="4D4D4D"/>
                </a:solidFill>
                <a:latin typeface="微软雅黑" panose="020B0503020204020204" pitchFamily="34" charset="-122"/>
                <a:ea typeface="微软雅黑" panose="020B0503020204020204" pitchFamily="34" charset="-122"/>
              </a:rPr>
              <a:t>32bit</a:t>
            </a:r>
            <a:r>
              <a:rPr lang="zh-CN" altLang="en-US" sz="1600" dirty="0">
                <a:solidFill>
                  <a:srgbClr val="4D4D4D"/>
                </a:solidFill>
                <a:latin typeface="微软雅黑" panose="020B0503020204020204" pitchFamily="34" charset="-122"/>
                <a:ea typeface="微软雅黑" panose="020B0503020204020204" pitchFamily="34" charset="-122"/>
              </a:rPr>
              <a:t>（</a:t>
            </a:r>
            <a:r>
              <a:rPr lang="en-US" altLang="zh-CN" sz="1600" dirty="0">
                <a:solidFill>
                  <a:srgbClr val="4D4D4D"/>
                </a:solidFill>
                <a:latin typeface="微软雅黑" panose="020B0503020204020204" pitchFamily="34" charset="-122"/>
                <a:ea typeface="微软雅黑" panose="020B0503020204020204" pitchFamily="34" charset="-122"/>
              </a:rPr>
              <a:t>4</a:t>
            </a:r>
            <a:r>
              <a:rPr lang="zh-CN" altLang="en-US" sz="1600" dirty="0">
                <a:solidFill>
                  <a:srgbClr val="4D4D4D"/>
                </a:solidFill>
                <a:latin typeface="微软雅黑" panose="020B0503020204020204" pitchFamily="34" charset="-122"/>
                <a:ea typeface="微软雅黑" panose="020B0503020204020204" pitchFamily="34" charset="-122"/>
              </a:rPr>
              <a:t> </a:t>
            </a:r>
            <a:r>
              <a:rPr lang="en-US" altLang="zh-CN" sz="1600" dirty="0">
                <a:solidFill>
                  <a:srgbClr val="4D4D4D"/>
                </a:solidFill>
                <a:latin typeface="微软雅黑" panose="020B0503020204020204" pitchFamily="34" charset="-122"/>
                <a:ea typeface="微软雅黑" panose="020B0503020204020204" pitchFamily="34" charset="-122"/>
              </a:rPr>
              <a:t>Byte</a:t>
            </a:r>
            <a:r>
              <a:rPr lang="zh-CN" altLang="en-US" sz="1600" dirty="0">
                <a:solidFill>
                  <a:srgbClr val="4D4D4D"/>
                </a:solidFill>
                <a:latin typeface="微软雅黑" panose="020B0503020204020204" pitchFamily="34" charset="-122"/>
                <a:ea typeface="微软雅黑" panose="020B0503020204020204" pitchFamily="34" charset="-122"/>
              </a:rPr>
              <a:t>），一个</a:t>
            </a:r>
            <a:r>
              <a:rPr lang="en-US" altLang="zh-CN" sz="1600" dirty="0">
                <a:solidFill>
                  <a:srgbClr val="4D4D4D"/>
                </a:solidFill>
                <a:latin typeface="微软雅黑" panose="020B0503020204020204" pitchFamily="34" charset="-122"/>
                <a:ea typeface="微软雅黑" panose="020B0503020204020204" pitchFamily="34" charset="-122"/>
              </a:rPr>
              <a:t>IP</a:t>
            </a:r>
            <a:r>
              <a:rPr lang="zh-CN" altLang="en-US" sz="1600" dirty="0">
                <a:solidFill>
                  <a:srgbClr val="4D4D4D"/>
                </a:solidFill>
                <a:latin typeface="微软雅黑" panose="020B0503020204020204" pitchFamily="34" charset="-122"/>
                <a:ea typeface="微软雅黑" panose="020B0503020204020204" pitchFamily="34" charset="-122"/>
              </a:rPr>
              <a:t>包头的长度最长为“</a:t>
            </a:r>
            <a:r>
              <a:rPr lang="en-US" altLang="zh-CN" sz="1600" dirty="0">
                <a:solidFill>
                  <a:srgbClr val="4D4D4D"/>
                </a:solidFill>
                <a:latin typeface="微软雅黑" panose="020B0503020204020204" pitchFamily="34" charset="-122"/>
                <a:ea typeface="微软雅黑" panose="020B0503020204020204" pitchFamily="34" charset="-122"/>
              </a:rPr>
              <a:t>1111”</a:t>
            </a:r>
            <a:r>
              <a:rPr lang="zh-CN" altLang="en-US" sz="1600" dirty="0">
                <a:solidFill>
                  <a:srgbClr val="4D4D4D"/>
                </a:solidFill>
                <a:latin typeface="微软雅黑" panose="020B0503020204020204" pitchFamily="34" charset="-122"/>
                <a:ea typeface="微软雅黑" panose="020B0503020204020204" pitchFamily="34" charset="-122"/>
              </a:rPr>
              <a:t>，即</a:t>
            </a:r>
            <a:r>
              <a:rPr lang="en-US" altLang="zh-CN" sz="1600" dirty="0">
                <a:solidFill>
                  <a:srgbClr val="4D4D4D"/>
                </a:solidFill>
                <a:latin typeface="微软雅黑" panose="020B0503020204020204" pitchFamily="34" charset="-122"/>
                <a:ea typeface="微软雅黑" panose="020B0503020204020204" pitchFamily="34" charset="-122"/>
              </a:rPr>
              <a:t>15*4</a:t>
            </a:r>
            <a:r>
              <a:rPr lang="zh-CN" altLang="en-US" sz="1600" dirty="0">
                <a:solidFill>
                  <a:srgbClr val="4D4D4D"/>
                </a:solidFill>
                <a:latin typeface="微软雅黑" panose="020B0503020204020204" pitchFamily="34" charset="-122"/>
                <a:ea typeface="微软雅黑" panose="020B0503020204020204" pitchFamily="34" charset="-122"/>
              </a:rPr>
              <a:t>＝</a:t>
            </a:r>
            <a:r>
              <a:rPr lang="en-US" altLang="zh-CN" sz="1600" dirty="0">
                <a:solidFill>
                  <a:srgbClr val="4D4D4D"/>
                </a:solidFill>
                <a:latin typeface="微软雅黑" panose="020B0503020204020204" pitchFamily="34" charset="-122"/>
                <a:ea typeface="微软雅黑" panose="020B0503020204020204" pitchFamily="34" charset="-122"/>
              </a:rPr>
              <a:t>60</a:t>
            </a:r>
            <a:r>
              <a:rPr lang="zh-CN" altLang="en-US" sz="1600" dirty="0">
                <a:solidFill>
                  <a:srgbClr val="4D4D4D"/>
                </a:solidFill>
                <a:latin typeface="微软雅黑" panose="020B0503020204020204" pitchFamily="34" charset="-122"/>
                <a:ea typeface="微软雅黑" panose="020B0503020204020204" pitchFamily="34" charset="-122"/>
              </a:rPr>
              <a:t>个字节。最小长度为</a:t>
            </a:r>
            <a:r>
              <a:rPr lang="en-US" altLang="zh-CN" sz="1600" dirty="0">
                <a:solidFill>
                  <a:srgbClr val="4D4D4D"/>
                </a:solidFill>
                <a:latin typeface="微软雅黑" panose="020B0503020204020204" pitchFamily="34" charset="-122"/>
                <a:ea typeface="微软雅黑" panose="020B0503020204020204" pitchFamily="34" charset="-122"/>
              </a:rPr>
              <a:t>20</a:t>
            </a:r>
            <a:r>
              <a:rPr lang="zh-CN" altLang="en-US" sz="1600" dirty="0">
                <a:solidFill>
                  <a:srgbClr val="4D4D4D"/>
                </a:solidFill>
                <a:latin typeface="微软雅黑" panose="020B0503020204020204" pitchFamily="34" charset="-122"/>
                <a:ea typeface="微软雅黑" panose="020B0503020204020204" pitchFamily="34" charset="-122"/>
              </a:rPr>
              <a:t>字节。</a:t>
            </a:r>
          </a:p>
        </p:txBody>
      </p:sp>
      <p:sp>
        <p:nvSpPr>
          <p:cNvPr id="5" name="矩形 4">
            <a:extLst>
              <a:ext uri="{FF2B5EF4-FFF2-40B4-BE49-F238E27FC236}">
                <a16:creationId xmlns:a16="http://schemas.microsoft.com/office/drawing/2014/main" id="{FA5C9706-090D-4034-8E8D-FE78F0A52CEA}"/>
              </a:ext>
            </a:extLst>
          </p:cNvPr>
          <p:cNvSpPr/>
          <p:nvPr/>
        </p:nvSpPr>
        <p:spPr>
          <a:xfrm>
            <a:off x="10222907" y="1838027"/>
            <a:ext cx="1956437" cy="1077218"/>
          </a:xfrm>
          <a:prstGeom prst="rect">
            <a:avLst/>
          </a:prstGeom>
        </p:spPr>
        <p:txBody>
          <a:bodyPr wrap="square">
            <a:spAutoFit/>
          </a:bodyPr>
          <a:lstStyle/>
          <a:p>
            <a:r>
              <a:rPr lang="en-US" altLang="zh-CN" sz="1600" dirty="0">
                <a:solidFill>
                  <a:srgbClr val="4D4D4D"/>
                </a:solidFill>
                <a:latin typeface="微软雅黑" panose="020B0503020204020204" pitchFamily="34" charset="-122"/>
                <a:ea typeface="微软雅黑" panose="020B0503020204020204" pitchFamily="34" charset="-122"/>
              </a:rPr>
              <a:t>Total Length</a:t>
            </a:r>
            <a:r>
              <a:rPr lang="zh-CN" altLang="en-US" sz="1600" dirty="0">
                <a:solidFill>
                  <a:srgbClr val="4D4D4D"/>
                </a:solidFill>
                <a:latin typeface="微软雅黑" panose="020B0503020204020204" pitchFamily="34" charset="-122"/>
                <a:ea typeface="微软雅黑" panose="020B0503020204020204" pitchFamily="34" charset="-122"/>
              </a:rPr>
              <a:t>：长度</a:t>
            </a:r>
            <a:r>
              <a:rPr lang="en-US" altLang="zh-CN" sz="1600" dirty="0">
                <a:solidFill>
                  <a:srgbClr val="4D4D4D"/>
                </a:solidFill>
                <a:latin typeface="微软雅黑" panose="020B0503020204020204" pitchFamily="34" charset="-122"/>
                <a:ea typeface="微软雅黑" panose="020B0503020204020204" pitchFamily="34" charset="-122"/>
              </a:rPr>
              <a:t>16</a:t>
            </a:r>
            <a:r>
              <a:rPr lang="zh-CN" altLang="en-US" sz="1600" dirty="0">
                <a:solidFill>
                  <a:srgbClr val="4D4D4D"/>
                </a:solidFill>
                <a:latin typeface="微软雅黑" panose="020B0503020204020204" pitchFamily="34" charset="-122"/>
                <a:ea typeface="微软雅黑" panose="020B0503020204020204" pitchFamily="34" charset="-122"/>
              </a:rPr>
              <a:t>比特。以字节为单位，</a:t>
            </a:r>
            <a:r>
              <a:rPr lang="en-US" altLang="zh-CN" sz="1600" dirty="0">
                <a:solidFill>
                  <a:srgbClr val="4D4D4D"/>
                </a:solidFill>
                <a:latin typeface="微软雅黑" panose="020B0503020204020204" pitchFamily="34" charset="-122"/>
                <a:ea typeface="微软雅黑" panose="020B0503020204020204" pitchFamily="34" charset="-122"/>
              </a:rPr>
              <a:t>IP</a:t>
            </a:r>
            <a:r>
              <a:rPr lang="zh-CN" altLang="en-US" sz="1600" dirty="0">
                <a:solidFill>
                  <a:srgbClr val="4D4D4D"/>
                </a:solidFill>
                <a:latin typeface="微软雅黑" panose="020B0503020204020204" pitchFamily="34" charset="-122"/>
                <a:ea typeface="微软雅黑" panose="020B0503020204020204" pitchFamily="34" charset="-122"/>
              </a:rPr>
              <a:t>包最大长度</a:t>
            </a:r>
            <a:r>
              <a:rPr lang="en-US" altLang="zh-CN" sz="1600" dirty="0">
                <a:solidFill>
                  <a:srgbClr val="4D4D4D"/>
                </a:solidFill>
                <a:latin typeface="微软雅黑" panose="020B0503020204020204" pitchFamily="34" charset="-122"/>
                <a:ea typeface="微软雅黑" panose="020B0503020204020204" pitchFamily="34" charset="-122"/>
              </a:rPr>
              <a:t>65535</a:t>
            </a:r>
            <a:r>
              <a:rPr lang="zh-CN" altLang="en-US" sz="1600" dirty="0">
                <a:solidFill>
                  <a:srgbClr val="4D4D4D"/>
                </a:solidFill>
                <a:latin typeface="微软雅黑" panose="020B0503020204020204" pitchFamily="34" charset="-122"/>
                <a:ea typeface="微软雅黑" panose="020B0503020204020204" pitchFamily="34" charset="-122"/>
              </a:rPr>
              <a:t>字节</a:t>
            </a:r>
            <a:endParaRPr lang="zh-CN" altLang="en-US" sz="16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4BF06AB1-DC24-43F7-9CEB-AEDA07900033}"/>
              </a:ext>
            </a:extLst>
          </p:cNvPr>
          <p:cNvSpPr/>
          <p:nvPr/>
        </p:nvSpPr>
        <p:spPr>
          <a:xfrm>
            <a:off x="10492059" y="3277364"/>
            <a:ext cx="1569022" cy="584775"/>
          </a:xfrm>
          <a:prstGeom prst="rect">
            <a:avLst/>
          </a:prstGeom>
        </p:spPr>
        <p:txBody>
          <a:bodyPr wrap="square">
            <a:spAutoFit/>
          </a:bodyPr>
          <a:lstStyle/>
          <a:p>
            <a:r>
              <a:rPr lang="en-US" altLang="zh-CN" sz="1600" dirty="0">
                <a:solidFill>
                  <a:srgbClr val="4D4D4D"/>
                </a:solidFill>
                <a:latin typeface="微软雅黑" panose="020B0503020204020204" pitchFamily="34" charset="-122"/>
                <a:ea typeface="微软雅黑" panose="020B0503020204020204" pitchFamily="34" charset="-122"/>
              </a:rPr>
              <a:t>offset</a:t>
            </a:r>
            <a:r>
              <a:rPr lang="zh-CN" altLang="en-US" sz="1600" dirty="0">
                <a:solidFill>
                  <a:srgbClr val="4D4D4D"/>
                </a:solidFill>
                <a:latin typeface="微软雅黑" panose="020B0503020204020204" pitchFamily="34" charset="-122"/>
                <a:ea typeface="微软雅黑" panose="020B0503020204020204" pitchFamily="34" charset="-122"/>
              </a:rPr>
              <a:t>的单位为</a:t>
            </a:r>
            <a:r>
              <a:rPr lang="en-US" altLang="zh-CN" sz="1600" dirty="0">
                <a:solidFill>
                  <a:srgbClr val="4D4D4D"/>
                </a:solidFill>
                <a:latin typeface="微软雅黑" panose="020B0503020204020204" pitchFamily="34" charset="-122"/>
                <a:ea typeface="微软雅黑" panose="020B0503020204020204" pitchFamily="34" charset="-122"/>
              </a:rPr>
              <a:t>8 Byte</a:t>
            </a:r>
            <a:endParaRPr lang="zh-CN" altLang="en-US" sz="1600" dirty="0">
              <a:solidFill>
                <a:srgbClr val="4D4D4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052590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8435" y="3635409"/>
            <a:ext cx="5460178" cy="2549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750" y="4269493"/>
            <a:ext cx="2206625"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2521" y="1516308"/>
            <a:ext cx="5799137"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C4D232C2-499A-4E07-BA53-50A0E9964BFC}"/>
              </a:ext>
            </a:extLst>
          </p:cNvPr>
          <p:cNvSpPr/>
          <p:nvPr/>
        </p:nvSpPr>
        <p:spPr>
          <a:xfrm>
            <a:off x="301659" y="276094"/>
            <a:ext cx="11716652" cy="954107"/>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Multiplexing and demultiplexing using the value of the protocol field</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6096090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05475" name="Rectangle 2"/>
          <p:cNvSpPr>
            <a:spLocks noChangeArrowheads="1"/>
          </p:cNvSpPr>
          <p:nvPr/>
        </p:nvSpPr>
        <p:spPr bwMode="auto">
          <a:xfrm>
            <a:off x="1752600" y="1143001"/>
            <a:ext cx="8686800" cy="138499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2800" b="1" i="1" dirty="0">
                <a:latin typeface="Calibri" panose="020F0502020204030204" pitchFamily="34" charset="0"/>
                <a:ea typeface="宋体" panose="02010600030101010101" pitchFamily="2" charset="-122"/>
                <a:cs typeface="Calibri" panose="020F0502020204030204" pitchFamily="34" charset="0"/>
              </a:rPr>
              <a:t>An IPv4 packet has arrived with the first 8 bits as shown:</a:t>
            </a:r>
          </a:p>
          <a:p>
            <a:pPr algn="ctr">
              <a:spcBef>
                <a:spcPct val="0"/>
              </a:spcBef>
              <a:buClrTx/>
              <a:buFontTx/>
              <a:buNone/>
            </a:pPr>
            <a:r>
              <a:rPr lang="en-US" altLang="zh-CN" sz="2800" b="1" i="1" dirty="0">
                <a:solidFill>
                  <a:schemeClr val="folHlink"/>
                </a:solidFill>
                <a:latin typeface="Calibri" panose="020F0502020204030204" pitchFamily="34" charset="0"/>
                <a:ea typeface="宋体" panose="02010600030101010101" pitchFamily="2" charset="-122"/>
                <a:cs typeface="Calibri" panose="020F0502020204030204" pitchFamily="34" charset="0"/>
              </a:rPr>
              <a:t>01000010</a:t>
            </a:r>
          </a:p>
          <a:p>
            <a:pPr algn="just">
              <a:spcBef>
                <a:spcPct val="0"/>
              </a:spcBef>
              <a:buClrTx/>
              <a:buFontTx/>
              <a:buNone/>
            </a:pPr>
            <a:r>
              <a:rPr lang="en-US" altLang="zh-CN" sz="2800" b="1" i="1" dirty="0">
                <a:latin typeface="Calibri" panose="020F0502020204030204" pitchFamily="34" charset="0"/>
                <a:ea typeface="宋体" panose="02010600030101010101" pitchFamily="2" charset="-122"/>
                <a:cs typeface="Calibri" panose="020F0502020204030204" pitchFamily="34" charset="0"/>
              </a:rPr>
              <a:t>The receiver discards the packet. Why?</a:t>
            </a:r>
          </a:p>
        </p:txBody>
      </p:sp>
      <p:sp>
        <p:nvSpPr>
          <p:cNvPr id="923651" name="Rectangle 3"/>
          <p:cNvSpPr>
            <a:spLocks noChangeArrowheads="1"/>
          </p:cNvSpPr>
          <p:nvPr/>
        </p:nvSpPr>
        <p:spPr bwMode="auto">
          <a:xfrm>
            <a:off x="1752600" y="3106738"/>
            <a:ext cx="8686800" cy="2677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2800" b="1" i="1" dirty="0">
                <a:solidFill>
                  <a:schemeClr val="hlink"/>
                </a:solidFill>
                <a:latin typeface="Calibri" panose="020F0502020204030204" pitchFamily="34" charset="0"/>
                <a:ea typeface="宋体" panose="02010600030101010101" pitchFamily="2" charset="-122"/>
                <a:cs typeface="Calibri" panose="020F0502020204030204" pitchFamily="34" charset="0"/>
              </a:rPr>
              <a:t>Solution</a:t>
            </a:r>
          </a:p>
          <a:p>
            <a:pPr>
              <a:spcBef>
                <a:spcPct val="0"/>
              </a:spcBef>
              <a:buClrTx/>
              <a:buFontTx/>
              <a:buNone/>
            </a:pPr>
            <a:r>
              <a:rPr lang="en-US" altLang="zh-CN" sz="2800" b="1" i="1" dirty="0">
                <a:latin typeface="Calibri" panose="020F0502020204030204" pitchFamily="34" charset="0"/>
                <a:ea typeface="宋体" panose="02010600030101010101" pitchFamily="2" charset="-122"/>
                <a:cs typeface="Calibri" panose="020F0502020204030204" pitchFamily="34" charset="0"/>
              </a:rPr>
              <a:t>There is an error in this packet. The 4 leftmost bits (0100) show the version, which is correct. The next 4 bits (0010) show an invalid header length (2 × 4 = 8). The minimum number of bytes in the header must be </a:t>
            </a:r>
            <a:r>
              <a:rPr lang="en-US" altLang="zh-CN" sz="2800" b="1" i="1" dirty="0">
                <a:solidFill>
                  <a:schemeClr val="folHlink"/>
                </a:solidFill>
                <a:latin typeface="Calibri" panose="020F0502020204030204" pitchFamily="34" charset="0"/>
                <a:ea typeface="宋体" panose="02010600030101010101" pitchFamily="2" charset="-122"/>
                <a:cs typeface="Calibri" panose="020F0502020204030204" pitchFamily="34" charset="0"/>
              </a:rPr>
              <a:t>20</a:t>
            </a:r>
            <a:r>
              <a:rPr lang="en-US" altLang="zh-CN" sz="2800" b="1" i="1" dirty="0">
                <a:latin typeface="Calibri" panose="020F0502020204030204" pitchFamily="34" charset="0"/>
                <a:ea typeface="宋体" panose="02010600030101010101" pitchFamily="2" charset="-122"/>
                <a:cs typeface="Calibri" panose="020F0502020204030204" pitchFamily="34" charset="0"/>
              </a:rPr>
              <a:t>. The packet has been corrupted in transmission.</a:t>
            </a:r>
          </a:p>
        </p:txBody>
      </p:sp>
      <p:sp>
        <p:nvSpPr>
          <p:cNvPr id="6" name="矩形 5">
            <a:extLst>
              <a:ext uri="{FF2B5EF4-FFF2-40B4-BE49-F238E27FC236}">
                <a16:creationId xmlns:a16="http://schemas.microsoft.com/office/drawing/2014/main" id="{321960B2-6CA8-4386-AFEA-12219C35A75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Example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91327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3651">
                                            <p:txEl>
                                              <p:pRg st="0" end="0"/>
                                            </p:txEl>
                                          </p:spTgt>
                                        </p:tgtEl>
                                        <p:attrNameLst>
                                          <p:attrName>style.visibility</p:attrName>
                                        </p:attrNameLst>
                                      </p:cBhvr>
                                      <p:to>
                                        <p:strVal val="visible"/>
                                      </p:to>
                                    </p:set>
                                    <p:animEffect transition="in" filter="blinds(horizontal)">
                                      <p:cBhvr>
                                        <p:cTn id="7" dur="500"/>
                                        <p:tgtEl>
                                          <p:spTgt spid="92365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3651">
                                            <p:txEl>
                                              <p:pRg st="1" end="1"/>
                                            </p:txEl>
                                          </p:spTgt>
                                        </p:tgtEl>
                                        <p:attrNameLst>
                                          <p:attrName>style.visibility</p:attrName>
                                        </p:attrNameLst>
                                      </p:cBhvr>
                                      <p:to>
                                        <p:strVal val="visible"/>
                                      </p:to>
                                    </p:set>
                                    <p:animEffect transition="in" filter="blinds(horizontal)">
                                      <p:cBhvr>
                                        <p:cTn id="10" dur="500"/>
                                        <p:tgtEl>
                                          <p:spTgt spid="9236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07523" name="Rectangle 2"/>
          <p:cNvSpPr>
            <a:spLocks noChangeArrowheads="1"/>
          </p:cNvSpPr>
          <p:nvPr/>
        </p:nvSpPr>
        <p:spPr bwMode="auto">
          <a:xfrm>
            <a:off x="1752600" y="1143001"/>
            <a:ext cx="8686800" cy="138499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a:latin typeface="Calibri" panose="020F0502020204030204" pitchFamily="34" charset="0"/>
                <a:ea typeface="宋体" panose="02010600030101010101" pitchFamily="2" charset="-122"/>
                <a:cs typeface="Calibri" panose="020F0502020204030204" pitchFamily="34" charset="0"/>
              </a:rPr>
              <a:t>In an IPv4 packet, the value of HLEN is 1000 in binary. How many bytes of options are being carried by this packet?</a:t>
            </a:r>
          </a:p>
        </p:txBody>
      </p:sp>
      <p:sp>
        <p:nvSpPr>
          <p:cNvPr id="925699" name="Rectangle 3"/>
          <p:cNvSpPr>
            <a:spLocks noChangeArrowheads="1"/>
          </p:cNvSpPr>
          <p:nvPr/>
        </p:nvSpPr>
        <p:spPr bwMode="auto">
          <a:xfrm>
            <a:off x="1752600" y="3106739"/>
            <a:ext cx="8686800" cy="224676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dirty="0">
                <a:solidFill>
                  <a:schemeClr val="hlink"/>
                </a:solidFill>
                <a:latin typeface="Calibri" panose="020F0502020204030204" pitchFamily="34" charset="0"/>
                <a:ea typeface="宋体" panose="02010600030101010101" pitchFamily="2" charset="-122"/>
                <a:cs typeface="Calibri" panose="020F0502020204030204" pitchFamily="34" charset="0"/>
              </a:rPr>
              <a:t>Solution</a:t>
            </a:r>
          </a:p>
          <a:p>
            <a:pPr algn="just">
              <a:spcBef>
                <a:spcPct val="0"/>
              </a:spcBef>
              <a:buClrTx/>
              <a:buFontTx/>
              <a:buNone/>
            </a:pPr>
            <a:r>
              <a:rPr lang="en-US" altLang="zh-CN" sz="2800" b="1" i="1" dirty="0">
                <a:latin typeface="Calibri" panose="020F0502020204030204" pitchFamily="34" charset="0"/>
                <a:ea typeface="宋体" panose="02010600030101010101" pitchFamily="2" charset="-122"/>
                <a:cs typeface="Calibri" panose="020F0502020204030204" pitchFamily="34" charset="0"/>
              </a:rPr>
              <a:t>The HLEN value is 8, which means the total number of bytes in the header is 8 × 4, or 32 bytes. The first 20 bytes are the base header, the next </a:t>
            </a:r>
            <a:r>
              <a:rPr lang="en-US" altLang="zh-CN" sz="2800" b="1" i="1" dirty="0">
                <a:solidFill>
                  <a:schemeClr val="folHlink"/>
                </a:solidFill>
                <a:latin typeface="Calibri" panose="020F0502020204030204" pitchFamily="34" charset="0"/>
                <a:ea typeface="宋体" panose="02010600030101010101" pitchFamily="2" charset="-122"/>
                <a:cs typeface="Calibri" panose="020F0502020204030204" pitchFamily="34" charset="0"/>
              </a:rPr>
              <a:t>12</a:t>
            </a:r>
            <a:r>
              <a:rPr lang="en-US" altLang="zh-CN" sz="2800" b="1" i="1" dirty="0">
                <a:latin typeface="Calibri" panose="020F0502020204030204" pitchFamily="34" charset="0"/>
                <a:ea typeface="宋体" panose="02010600030101010101" pitchFamily="2" charset="-122"/>
                <a:cs typeface="Calibri" panose="020F0502020204030204" pitchFamily="34" charset="0"/>
              </a:rPr>
              <a:t> bytes are the options.</a:t>
            </a:r>
          </a:p>
        </p:txBody>
      </p:sp>
      <p:sp>
        <p:nvSpPr>
          <p:cNvPr id="6" name="矩形 5">
            <a:extLst>
              <a:ext uri="{FF2B5EF4-FFF2-40B4-BE49-F238E27FC236}">
                <a16:creationId xmlns:a16="http://schemas.microsoft.com/office/drawing/2014/main" id="{784C5709-BB6F-4E14-8C33-893579BC152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Example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489888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5699">
                                            <p:txEl>
                                              <p:pRg st="0" end="0"/>
                                            </p:txEl>
                                          </p:spTgt>
                                        </p:tgtEl>
                                        <p:attrNameLst>
                                          <p:attrName>style.visibility</p:attrName>
                                        </p:attrNameLst>
                                      </p:cBhvr>
                                      <p:to>
                                        <p:strVal val="visible"/>
                                      </p:to>
                                    </p:set>
                                    <p:animEffect transition="in" filter="blinds(horizontal)">
                                      <p:cBhvr>
                                        <p:cTn id="7" dur="500"/>
                                        <p:tgtEl>
                                          <p:spTgt spid="92569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5699">
                                            <p:txEl>
                                              <p:pRg st="1" end="1"/>
                                            </p:txEl>
                                          </p:spTgt>
                                        </p:tgtEl>
                                        <p:attrNameLst>
                                          <p:attrName>style.visibility</p:attrName>
                                        </p:attrNameLst>
                                      </p:cBhvr>
                                      <p:to>
                                        <p:strVal val="visible"/>
                                      </p:to>
                                    </p:set>
                                    <p:animEffect transition="in" filter="blinds(horizontal)">
                                      <p:cBhvr>
                                        <p:cTn id="10" dur="500"/>
                                        <p:tgtEl>
                                          <p:spTgt spid="9256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07523" name="Rectangle 2"/>
          <p:cNvSpPr>
            <a:spLocks noChangeArrowheads="1"/>
          </p:cNvSpPr>
          <p:nvPr/>
        </p:nvSpPr>
        <p:spPr bwMode="auto">
          <a:xfrm>
            <a:off x="1752600" y="1143000"/>
            <a:ext cx="8686800" cy="270843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r>
              <a:rPr lang="en-US" altLang="zh-CN" sz="2800" b="1" i="1" dirty="0">
                <a:latin typeface="Calibri" panose="020F0502020204030204" pitchFamily="34" charset="0"/>
                <a:ea typeface="宋体" panose="02010600030101010101" pitchFamily="2" charset="-122"/>
                <a:cs typeface="Calibri" panose="020F0502020204030204" pitchFamily="34" charset="0"/>
              </a:rPr>
              <a:t>An IPv4 packet has arrived with the first few hexadecimal digits as shown.</a:t>
            </a:r>
          </a:p>
          <a:p>
            <a:pPr algn="just"/>
            <a:endParaRPr lang="en-US" altLang="zh-CN" sz="2800" b="1" i="1" dirty="0">
              <a:latin typeface="Calibri" panose="020F0502020204030204" pitchFamily="34" charset="0"/>
              <a:ea typeface="宋体" panose="02010600030101010101" pitchFamily="2" charset="-122"/>
              <a:cs typeface="Calibri" panose="020F0502020204030204" pitchFamily="34" charset="0"/>
            </a:endParaRPr>
          </a:p>
          <a:p>
            <a:pPr algn="just"/>
            <a:r>
              <a:rPr lang="en-US" altLang="zh-CN" sz="2800" b="1" i="1" dirty="0">
                <a:latin typeface="Calibri" panose="020F0502020204030204" pitchFamily="34" charset="0"/>
                <a:ea typeface="宋体" panose="02010600030101010101" pitchFamily="2" charset="-122"/>
                <a:cs typeface="Calibri" panose="020F0502020204030204" pitchFamily="34" charset="0"/>
              </a:rPr>
              <a:t>How many hops can this packet travel before being dropped? The data belong to what upper-layer protocol?</a:t>
            </a:r>
          </a:p>
        </p:txBody>
      </p:sp>
      <p:sp>
        <p:nvSpPr>
          <p:cNvPr id="925699" name="Rectangle 3"/>
          <p:cNvSpPr>
            <a:spLocks noChangeArrowheads="1"/>
          </p:cNvSpPr>
          <p:nvPr/>
        </p:nvSpPr>
        <p:spPr bwMode="auto">
          <a:xfrm>
            <a:off x="1752600" y="3905506"/>
            <a:ext cx="8686800" cy="2677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dirty="0">
                <a:solidFill>
                  <a:schemeClr val="hlink"/>
                </a:solidFill>
                <a:latin typeface="Calibri" panose="020F0502020204030204" pitchFamily="34" charset="0"/>
                <a:ea typeface="宋体" panose="02010600030101010101" pitchFamily="2" charset="-122"/>
                <a:cs typeface="Calibri" panose="020F0502020204030204" pitchFamily="34" charset="0"/>
              </a:rPr>
              <a:t>Solution</a:t>
            </a:r>
          </a:p>
          <a:p>
            <a:pPr algn="just">
              <a:spcBef>
                <a:spcPct val="0"/>
              </a:spcBef>
              <a:buClrTx/>
            </a:pPr>
            <a:r>
              <a:rPr lang="en-US" altLang="zh-CN" sz="2800" b="1" i="1" dirty="0">
                <a:latin typeface="Calibri" panose="020F0502020204030204" pitchFamily="34" charset="0"/>
                <a:ea typeface="宋体" panose="02010600030101010101" pitchFamily="2" charset="-122"/>
                <a:cs typeface="Calibri" panose="020F0502020204030204" pitchFamily="34" charset="0"/>
              </a:rPr>
              <a:t>To find the time-to-live field, we skip 8 bytes (16 hexadecimal digits). The time-to-live field is the ninth byte, which is (01)</a:t>
            </a:r>
            <a:r>
              <a:rPr lang="en-US" altLang="zh-CN" sz="2800" b="1" i="1" baseline="-25000" dirty="0">
                <a:latin typeface="Calibri" panose="020F0502020204030204" pitchFamily="34" charset="0"/>
                <a:ea typeface="宋体" panose="02010600030101010101" pitchFamily="2" charset="-122"/>
                <a:cs typeface="Calibri" panose="020F0502020204030204" pitchFamily="34" charset="0"/>
              </a:rPr>
              <a:t>16</a:t>
            </a:r>
            <a:r>
              <a:rPr lang="en-US" altLang="zh-CN" sz="2800" b="1" i="1" dirty="0">
                <a:latin typeface="Calibri" panose="020F0502020204030204" pitchFamily="34" charset="0"/>
                <a:ea typeface="宋体" panose="02010600030101010101" pitchFamily="2" charset="-122"/>
                <a:cs typeface="Calibri" panose="020F0502020204030204" pitchFamily="34" charset="0"/>
              </a:rPr>
              <a:t>. This means the packet can travel only one hop. The protocol field is the next byte (02)</a:t>
            </a:r>
            <a:r>
              <a:rPr lang="en-US" altLang="zh-CN" sz="2800" b="1" i="1" baseline="-25000" dirty="0">
                <a:latin typeface="Calibri" panose="020F0502020204030204" pitchFamily="34" charset="0"/>
                <a:ea typeface="宋体" panose="02010600030101010101" pitchFamily="2" charset="-122"/>
                <a:cs typeface="Calibri" panose="020F0502020204030204" pitchFamily="34" charset="0"/>
              </a:rPr>
              <a:t>16</a:t>
            </a:r>
            <a:r>
              <a:rPr lang="en-US" altLang="zh-CN" sz="2800" b="1" i="1" dirty="0">
                <a:latin typeface="Calibri" panose="020F0502020204030204" pitchFamily="34" charset="0"/>
                <a:ea typeface="宋体" panose="02010600030101010101" pitchFamily="2" charset="-122"/>
                <a:cs typeface="Calibri" panose="020F0502020204030204" pitchFamily="34" charset="0"/>
              </a:rPr>
              <a:t>, which means that the upper-layer protocol is IGMP.</a:t>
            </a: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3127" y="2077323"/>
            <a:ext cx="4921250"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CAEC78A0-4221-4ABB-8CB4-A7F6FF6A187A}"/>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Example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056738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5699">
                                            <p:txEl>
                                              <p:pRg st="0" end="0"/>
                                            </p:txEl>
                                          </p:spTgt>
                                        </p:tgtEl>
                                        <p:attrNameLst>
                                          <p:attrName>style.visibility</p:attrName>
                                        </p:attrNameLst>
                                      </p:cBhvr>
                                      <p:to>
                                        <p:strVal val="visible"/>
                                      </p:to>
                                    </p:set>
                                    <p:animEffect transition="in" filter="blinds(horizontal)">
                                      <p:cBhvr>
                                        <p:cTn id="7" dur="500"/>
                                        <p:tgtEl>
                                          <p:spTgt spid="92569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5699">
                                            <p:txEl>
                                              <p:pRg st="1" end="1"/>
                                            </p:txEl>
                                          </p:spTgt>
                                        </p:tgtEl>
                                        <p:attrNameLst>
                                          <p:attrName>style.visibility</p:attrName>
                                        </p:attrNameLst>
                                      </p:cBhvr>
                                      <p:to>
                                        <p:strVal val="visible"/>
                                      </p:to>
                                    </p:set>
                                    <p:animEffect transition="in" filter="blinds(horizontal)">
                                      <p:cBhvr>
                                        <p:cTn id="10" dur="500"/>
                                        <p:tgtEl>
                                          <p:spTgt spid="9256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0872" y="5193645"/>
            <a:ext cx="3829759" cy="738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页脚占位符 1"/>
          <p:cNvSpPr>
            <a:spLocks noGrp="1"/>
          </p:cNvSpPr>
          <p:nvPr>
            <p:ph type="ftr" sz="quarter" idx="11"/>
          </p:nvPr>
        </p:nvSpPr>
        <p:spPr/>
        <p:txBody>
          <a:bodyPr/>
          <a:lstStyle/>
          <a:p>
            <a:pPr>
              <a:defRPr/>
            </a:pPr>
            <a:r>
              <a:rPr lang="en-US" altLang="zh-CN"/>
              <a:t>Computer Networks, Chapter 5 The Network Layer</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8143" y="1141412"/>
            <a:ext cx="4994275"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6380" y="3059112"/>
            <a:ext cx="4202113" cy="379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9779" y="2001838"/>
            <a:ext cx="482600"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p:cNvSpPr/>
          <p:nvPr/>
        </p:nvSpPr>
        <p:spPr>
          <a:xfrm>
            <a:off x="7303704" y="1154102"/>
            <a:ext cx="3923096" cy="3046988"/>
          </a:xfrm>
          <a:prstGeom prst="rect">
            <a:avLst/>
          </a:prstGeom>
        </p:spPr>
        <p:txBody>
          <a:bodyPr wrap="square">
            <a:spAutoFit/>
          </a:bodyPr>
          <a:lstStyle/>
          <a:p>
            <a:pPr marL="285750" indent="-285750">
              <a:buFont typeface="Arial" panose="020B0604020202020204" pitchFamily="34" charset="0"/>
              <a:buChar char="•"/>
            </a:pPr>
            <a:r>
              <a:rPr lang="en-US" altLang="zh-CN" sz="2400" dirty="0">
                <a:latin typeface="Calibri" panose="020F0502020204030204" pitchFamily="34" charset="0"/>
                <a:cs typeface="Calibri" panose="020F0502020204030204" pitchFamily="34" charset="0"/>
              </a:rPr>
              <a:t>The header is divided into 16-bit sections. </a:t>
            </a:r>
          </a:p>
          <a:p>
            <a:pPr marL="285750" indent="-285750">
              <a:buFont typeface="Arial" panose="020B0604020202020204" pitchFamily="34" charset="0"/>
              <a:buChar char="•"/>
            </a:pPr>
            <a:r>
              <a:rPr lang="en-US" altLang="zh-CN" sz="2400" dirty="0">
                <a:latin typeface="Calibri" panose="020F0502020204030204" pitchFamily="34" charset="0"/>
                <a:cs typeface="Calibri" panose="020F0502020204030204" pitchFamily="34" charset="0"/>
              </a:rPr>
              <a:t>All the sections are added and the sum is complemented after wrapping the leftmost digit. </a:t>
            </a:r>
          </a:p>
          <a:p>
            <a:pPr marL="285750" indent="-285750">
              <a:buFont typeface="Arial" panose="020B0604020202020204" pitchFamily="34" charset="0"/>
              <a:buChar char="•"/>
            </a:pPr>
            <a:r>
              <a:rPr lang="en-US" altLang="zh-CN" sz="2400" dirty="0">
                <a:latin typeface="Calibri" panose="020F0502020204030204" pitchFamily="34" charset="0"/>
                <a:cs typeface="Calibri" panose="020F0502020204030204" pitchFamily="34" charset="0"/>
              </a:rPr>
              <a:t>The result is inserted in the checksum field.</a:t>
            </a:r>
            <a:endParaRPr lang="zh-CN" altLang="en-US" sz="2400" dirty="0"/>
          </a:p>
        </p:txBody>
      </p:sp>
      <p:sp>
        <p:nvSpPr>
          <p:cNvPr id="12" name="矩形 11">
            <a:extLst>
              <a:ext uri="{FF2B5EF4-FFF2-40B4-BE49-F238E27FC236}">
                <a16:creationId xmlns:a16="http://schemas.microsoft.com/office/drawing/2014/main" id="{FA4DEB0B-0E17-4F15-B370-90717A30E31F}"/>
              </a:ext>
            </a:extLst>
          </p:cNvPr>
          <p:cNvSpPr/>
          <p:nvPr/>
        </p:nvSpPr>
        <p:spPr>
          <a:xfrm>
            <a:off x="301658" y="91944"/>
            <a:ext cx="11725241" cy="954107"/>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An example of a checksum calculation for an IPv4 header without options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0D0F1506-D6C5-48B7-BE35-EBF49FB6FA99}"/>
              </a:ext>
            </a:extLst>
          </p:cNvPr>
          <p:cNvSpPr txBox="1"/>
          <p:nvPr/>
        </p:nvSpPr>
        <p:spPr>
          <a:xfrm>
            <a:off x="2637888" y="3552149"/>
            <a:ext cx="825867" cy="369332"/>
          </a:xfrm>
          <a:prstGeom prst="rect">
            <a:avLst/>
          </a:prstGeom>
          <a:solidFill>
            <a:schemeClr val="bg1"/>
          </a:solidFill>
        </p:spPr>
        <p:txBody>
          <a:bodyPr wrap="none" rtlCol="0">
            <a:spAutoFit/>
          </a:bodyPr>
          <a:lstStyle/>
          <a:p>
            <a:r>
              <a:rPr lang="en-US" altLang="zh-CN" b="1" dirty="0">
                <a:latin typeface="Arial" panose="020B0604020202020204" pitchFamily="34" charset="0"/>
                <a:cs typeface="Arial" panose="020B0604020202020204" pitchFamily="34" charset="0"/>
              </a:rPr>
              <a:t>49153</a:t>
            </a:r>
            <a:endParaRPr lang="zh-CN" alt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5715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103428" name="Rectangle 3"/>
          <p:cNvSpPr>
            <a:spLocks noGrp="1" noChangeArrowheads="1"/>
          </p:cNvSpPr>
          <p:nvPr>
            <p:ph type="body" idx="1"/>
          </p:nvPr>
        </p:nvSpPr>
        <p:spPr>
          <a:xfrm>
            <a:off x="2133600" y="2441576"/>
            <a:ext cx="8064500" cy="1209675"/>
          </a:xfrm>
        </p:spPr>
        <p:txBody>
          <a:bodyPr>
            <a:normAutofit lnSpcReduction="10000"/>
          </a:bodyPr>
          <a:lstStyle/>
          <a:p>
            <a:pPr>
              <a:lnSpc>
                <a:spcPct val="100000"/>
              </a:lnSpc>
              <a:buFont typeface="Monotype Sorts" pitchFamily="2" charset="2"/>
              <a:buNone/>
            </a:pPr>
            <a:r>
              <a:rPr lang="en-US" altLang="zh-CN" sz="4000" dirty="0">
                <a:ea typeface="宋体" panose="02010600030101010101" pitchFamily="2" charset="-122"/>
              </a:rPr>
              <a:t>Why the checksum in IPv4 covers only the header, not the data?</a:t>
            </a:r>
          </a:p>
        </p:txBody>
      </p:sp>
    </p:spTree>
    <p:extLst>
      <p:ext uri="{BB962C8B-B14F-4D97-AF65-F5344CB8AC3E}">
        <p14:creationId xmlns:p14="http://schemas.microsoft.com/office/powerpoint/2010/main" val="16046617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10957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03500" y="1024175"/>
            <a:ext cx="7662836" cy="187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7748" name="Text Box 4"/>
          <p:cNvSpPr txBox="1">
            <a:spLocks noChangeArrowheads="1"/>
          </p:cNvSpPr>
          <p:nvPr/>
        </p:nvSpPr>
        <p:spPr bwMode="auto">
          <a:xfrm>
            <a:off x="6272993" y="4399230"/>
            <a:ext cx="38925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b="1" i="1">
                <a:latin typeface="Times New Roman" panose="02020603050405020304" pitchFamily="18" charset="0"/>
                <a:ea typeface="宋体" panose="02010600030101010101" pitchFamily="2" charset="-122"/>
              </a:rPr>
              <a:t>MTUs for some networks</a:t>
            </a:r>
          </a:p>
        </p:txBody>
      </p:sp>
      <p:pic>
        <p:nvPicPr>
          <p:cNvPr id="92774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06562" y="2903775"/>
            <a:ext cx="4465638" cy="331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a:extLst>
              <a:ext uri="{FF2B5EF4-FFF2-40B4-BE49-F238E27FC236}">
                <a16:creationId xmlns:a16="http://schemas.microsoft.com/office/drawing/2014/main" id="{8091A25F-47DC-4C14-B80A-A04AAB9B50F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Maximum transfer unit (MTU)</a:t>
            </a:r>
          </a:p>
        </p:txBody>
      </p:sp>
    </p:spTree>
    <p:extLst>
      <p:ext uri="{BB962C8B-B14F-4D97-AF65-F5344CB8AC3E}">
        <p14:creationId xmlns:p14="http://schemas.microsoft.com/office/powerpoint/2010/main" val="6618495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7749"/>
                                        </p:tgtEl>
                                        <p:attrNameLst>
                                          <p:attrName>style.visibility</p:attrName>
                                        </p:attrNameLst>
                                      </p:cBhvr>
                                      <p:to>
                                        <p:strVal val="visible"/>
                                      </p:to>
                                    </p:set>
                                    <p:animEffect transition="in" filter="blinds(horizontal)">
                                      <p:cBhvr>
                                        <p:cTn id="7" dur="500"/>
                                        <p:tgtEl>
                                          <p:spTgt spid="92774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27748"/>
                                        </p:tgtEl>
                                        <p:attrNameLst>
                                          <p:attrName>style.visibility</p:attrName>
                                        </p:attrNameLst>
                                      </p:cBhvr>
                                      <p:to>
                                        <p:strVal val="visible"/>
                                      </p:to>
                                    </p:set>
                                    <p:animEffect transition="in" filter="blinds(horizontal)">
                                      <p:cBhvr>
                                        <p:cTn id="10" dur="500"/>
                                        <p:tgtEl>
                                          <p:spTgt spid="927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748"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A625771-7C34-4B95-85E3-E0AC81B0ABE0}"/>
              </a:ext>
            </a:extLst>
          </p:cNvPr>
          <p:cNvSpPr/>
          <p:nvPr/>
        </p:nvSpPr>
        <p:spPr>
          <a:xfrm>
            <a:off x="301659" y="1013509"/>
            <a:ext cx="11323323" cy="2585323"/>
          </a:xfrm>
          <a:prstGeom prst="rect">
            <a:avLst/>
          </a:prstGeom>
        </p:spPr>
        <p:txBody>
          <a:bodyPr wrap="square">
            <a:spAutoFit/>
          </a:bodyPr>
          <a:lstStyle/>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MTU： Maximum Transmit Unit，最大传输单元，即物理接口（数据链路层）提供给其上层（通常是IP层）最大一次传输数据的大小；以普遍使用的以太网接口为例，缺省MTU=1500 Byte，这是以太网接口对IP层的约束，如果IP层有&lt;=1500 byte 需要发送，只需要一个IP包就可以完成发送任务；如果IP层有&gt; 1500 byte 数据需要发送，需要分片才能完成发送，这些分片有一个共同点，即IP Header ID相同。</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MSS：Maximum Segment Size ，TCP提交给IP层最大分段大小，不包含TCP Header和 TCP Option，只包含TCP Payload ，MSS是TCP用来限制application层最大的发送字节数。如果底层物理接口MTU= 1500 byte，则 MSS = 1500- 20(IP Header) -20 (TCP Header) = 1460 byte，如果application 有2000 byte发送，需要两个segment才可以完成发送，第一个TCP segment = 1460，第二个TCP segment = 540。</a:t>
            </a:r>
          </a:p>
        </p:txBody>
      </p:sp>
      <p:sp>
        <p:nvSpPr>
          <p:cNvPr id="3" name="矩形 2">
            <a:extLst>
              <a:ext uri="{FF2B5EF4-FFF2-40B4-BE49-F238E27FC236}">
                <a16:creationId xmlns:a16="http://schemas.microsoft.com/office/drawing/2014/main" id="{C9288823-BBBA-469B-93BC-1CE1B8FF5BC0}"/>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Maximum transfer unit (MTU)</a:t>
            </a:r>
          </a:p>
        </p:txBody>
      </p:sp>
      <p:pic>
        <p:nvPicPr>
          <p:cNvPr id="4" name="图片 3">
            <a:extLst>
              <a:ext uri="{FF2B5EF4-FFF2-40B4-BE49-F238E27FC236}">
                <a16:creationId xmlns:a16="http://schemas.microsoft.com/office/drawing/2014/main" id="{C68FB4EE-3588-4533-8476-9B45BD0A358D}"/>
              </a:ext>
            </a:extLst>
          </p:cNvPr>
          <p:cNvPicPr>
            <a:picLocks noChangeAspect="1"/>
          </p:cNvPicPr>
          <p:nvPr/>
        </p:nvPicPr>
        <p:blipFill rotWithShape="1">
          <a:blip r:embed="rId2"/>
          <a:srcRect t="12020"/>
          <a:stretch/>
        </p:blipFill>
        <p:spPr>
          <a:xfrm>
            <a:off x="2070845" y="3598832"/>
            <a:ext cx="6638090" cy="3259168"/>
          </a:xfrm>
          <a:prstGeom prst="rect">
            <a:avLst/>
          </a:prstGeom>
        </p:spPr>
      </p:pic>
      <p:sp>
        <p:nvSpPr>
          <p:cNvPr id="5" name="椭圆 4">
            <a:extLst>
              <a:ext uri="{FF2B5EF4-FFF2-40B4-BE49-F238E27FC236}">
                <a16:creationId xmlns:a16="http://schemas.microsoft.com/office/drawing/2014/main" id="{84630A25-1BEB-4BC8-BABD-506AE20F2E5D}"/>
              </a:ext>
            </a:extLst>
          </p:cNvPr>
          <p:cNvSpPr/>
          <p:nvPr/>
        </p:nvSpPr>
        <p:spPr>
          <a:xfrm>
            <a:off x="3852582" y="5553635"/>
            <a:ext cx="3106271" cy="43703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a:extLst>
              <a:ext uri="{FF2B5EF4-FFF2-40B4-BE49-F238E27FC236}">
                <a16:creationId xmlns:a16="http://schemas.microsoft.com/office/drawing/2014/main" id="{A1C8575A-D7E0-450A-821B-A2205598A305}"/>
              </a:ext>
            </a:extLst>
          </p:cNvPr>
          <p:cNvCxnSpPr>
            <a:cxnSpLocks/>
            <a:endCxn id="5" idx="6"/>
          </p:cNvCxnSpPr>
          <p:nvPr/>
        </p:nvCxnSpPr>
        <p:spPr>
          <a:xfrm flipH="1">
            <a:off x="6958853" y="5388429"/>
            <a:ext cx="2321218" cy="38372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E492A7B2-A887-4F0D-AC3C-16D432516741}"/>
              </a:ext>
            </a:extLst>
          </p:cNvPr>
          <p:cNvSpPr txBox="1"/>
          <p:nvPr/>
        </p:nvSpPr>
        <p:spPr>
          <a:xfrm>
            <a:off x="9282508" y="5188963"/>
            <a:ext cx="745717" cy="369332"/>
          </a:xfrm>
          <a:prstGeom prst="rect">
            <a:avLst/>
          </a:prstGeom>
          <a:noFill/>
        </p:spPr>
        <p:txBody>
          <a:bodyPr wrap="none" rtlCol="0">
            <a:spAutoFit/>
          </a:bodyPr>
          <a:lstStyle/>
          <a:p>
            <a:r>
              <a:rPr lang="en-US" altLang="zh-CN" b="1" dirty="0">
                <a:solidFill>
                  <a:srgbClr val="FF0000"/>
                </a:solidFill>
                <a:latin typeface="微软雅黑" panose="020B0503020204020204" pitchFamily="34" charset="-122"/>
                <a:ea typeface="微软雅黑" panose="020B0503020204020204" pitchFamily="34" charset="-122"/>
              </a:rPr>
              <a:t>MTU</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10" name="椭圆 9">
            <a:extLst>
              <a:ext uri="{FF2B5EF4-FFF2-40B4-BE49-F238E27FC236}">
                <a16:creationId xmlns:a16="http://schemas.microsoft.com/office/drawing/2014/main" id="{1EC2DBE8-69A3-4688-9B65-947EF84589E7}"/>
              </a:ext>
            </a:extLst>
          </p:cNvPr>
          <p:cNvSpPr/>
          <p:nvPr/>
        </p:nvSpPr>
        <p:spPr>
          <a:xfrm>
            <a:off x="4611757" y="4732884"/>
            <a:ext cx="2379506" cy="43703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47C50225-0E08-404F-A56B-E5097B55FC1A}"/>
              </a:ext>
            </a:extLst>
          </p:cNvPr>
          <p:cNvCxnSpPr>
            <a:cxnSpLocks/>
            <a:endCxn id="10" idx="6"/>
          </p:cNvCxnSpPr>
          <p:nvPr/>
        </p:nvCxnSpPr>
        <p:spPr>
          <a:xfrm flipH="1">
            <a:off x="6991263" y="4670291"/>
            <a:ext cx="2250462" cy="2811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1303A7AF-FF00-4A02-A40E-E4085C9B8008}"/>
              </a:ext>
            </a:extLst>
          </p:cNvPr>
          <p:cNvSpPr txBox="1"/>
          <p:nvPr/>
        </p:nvSpPr>
        <p:spPr>
          <a:xfrm>
            <a:off x="9217354" y="4485625"/>
            <a:ext cx="700833" cy="369332"/>
          </a:xfrm>
          <a:prstGeom prst="rect">
            <a:avLst/>
          </a:prstGeom>
          <a:noFill/>
        </p:spPr>
        <p:txBody>
          <a:bodyPr wrap="none" rtlCol="0">
            <a:spAutoFit/>
          </a:bodyPr>
          <a:lstStyle/>
          <a:p>
            <a:r>
              <a:rPr lang="en-US" altLang="zh-CN" b="1" dirty="0">
                <a:solidFill>
                  <a:srgbClr val="FF0000"/>
                </a:solidFill>
                <a:latin typeface="微软雅黑" panose="020B0503020204020204" pitchFamily="34" charset="-122"/>
                <a:ea typeface="微软雅黑" panose="020B0503020204020204" pitchFamily="34" charset="-122"/>
              </a:rPr>
              <a:t>MSS</a:t>
            </a:r>
            <a:endParaRPr lang="zh-CN" altLang="en-US"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937797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页脚占位符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grpSp>
        <p:nvGrpSpPr>
          <p:cNvPr id="111620" name="Group 3"/>
          <p:cNvGrpSpPr>
            <a:grpSpLocks/>
          </p:cNvGrpSpPr>
          <p:nvPr/>
        </p:nvGrpSpPr>
        <p:grpSpPr bwMode="auto">
          <a:xfrm>
            <a:off x="5130800" y="1498600"/>
            <a:ext cx="5029200" cy="4046538"/>
            <a:chOff x="1218" y="944"/>
            <a:chExt cx="3168" cy="2549"/>
          </a:xfrm>
        </p:grpSpPr>
        <p:grpSp>
          <p:nvGrpSpPr>
            <p:cNvPr id="111626" name="Group 4"/>
            <p:cNvGrpSpPr>
              <a:grpSpLocks/>
            </p:cNvGrpSpPr>
            <p:nvPr/>
          </p:nvGrpSpPr>
          <p:grpSpPr bwMode="auto">
            <a:xfrm>
              <a:off x="1218" y="944"/>
              <a:ext cx="2676" cy="419"/>
              <a:chOff x="3006" y="1208"/>
              <a:chExt cx="2676" cy="419"/>
            </a:xfrm>
          </p:grpSpPr>
          <p:sp>
            <p:nvSpPr>
              <p:cNvPr id="111670" name="Rectangle 5"/>
              <p:cNvSpPr>
                <a:spLocks noChangeArrowheads="1"/>
              </p:cNvSpPr>
              <p:nvPr/>
            </p:nvSpPr>
            <p:spPr bwMode="auto">
              <a:xfrm>
                <a:off x="3048" y="1212"/>
                <a:ext cx="2634" cy="34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sp>
            <p:nvSpPr>
              <p:cNvPr id="111671" name="Rectangle 6"/>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sp>
            <p:nvSpPr>
              <p:cNvPr id="111672" name="Text Box 7"/>
              <p:cNvSpPr txBox="1">
                <a:spLocks noChangeArrowheads="1"/>
              </p:cNvSpPr>
              <p:nvPr/>
            </p:nvSpPr>
            <p:spPr bwMode="auto">
              <a:xfrm>
                <a:off x="3734" y="1208"/>
                <a:ext cx="252"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ID</a:t>
                </a:r>
              </a:p>
              <a:p>
                <a:pP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=x</a:t>
                </a:r>
              </a:p>
            </p:txBody>
          </p:sp>
          <p:sp>
            <p:nvSpPr>
              <p:cNvPr id="111673" name="Text Box 8"/>
              <p:cNvSpPr txBox="1">
                <a:spLocks noChangeArrowheads="1"/>
              </p:cNvSpPr>
              <p:nvPr/>
            </p:nvSpPr>
            <p:spPr bwMode="auto">
              <a:xfrm>
                <a:off x="4655" y="1220"/>
                <a:ext cx="456"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offset</a:t>
                </a:r>
              </a:p>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=0</a:t>
                </a:r>
              </a:p>
            </p:txBody>
          </p:sp>
          <p:sp>
            <p:nvSpPr>
              <p:cNvPr id="111674" name="Text Box 9"/>
              <p:cNvSpPr txBox="1">
                <a:spLocks noChangeArrowheads="1"/>
              </p:cNvSpPr>
              <p:nvPr/>
            </p:nvSpPr>
            <p:spPr bwMode="auto">
              <a:xfrm>
                <a:off x="4034" y="1220"/>
                <a:ext cx="563"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1800" dirty="0" err="1">
                    <a:latin typeface="Calibri" panose="020F0502020204030204" pitchFamily="34" charset="0"/>
                    <a:ea typeface="宋体" panose="02010600030101010101" pitchFamily="2" charset="-122"/>
                    <a:cs typeface="Calibri" panose="020F0502020204030204" pitchFamily="34" charset="0"/>
                  </a:rPr>
                  <a:t>fragflag</a:t>
                </a:r>
                <a:endParaRPr lang="en-US" altLang="zh-CN" sz="1800" dirty="0">
                  <a:latin typeface="Calibri" panose="020F0502020204030204" pitchFamily="34" charset="0"/>
                  <a:ea typeface="宋体" panose="02010600030101010101" pitchFamily="2" charset="-122"/>
                  <a:cs typeface="Calibri" panose="020F0502020204030204" pitchFamily="34" charset="0"/>
                </a:endParaRPr>
              </a:p>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=0</a:t>
                </a:r>
              </a:p>
            </p:txBody>
          </p:sp>
          <p:sp>
            <p:nvSpPr>
              <p:cNvPr id="111675" name="Text Box 10"/>
              <p:cNvSpPr txBox="1">
                <a:spLocks noChangeArrowheads="1"/>
              </p:cNvSpPr>
              <p:nvPr/>
            </p:nvSpPr>
            <p:spPr bwMode="auto">
              <a:xfrm>
                <a:off x="3230" y="1208"/>
                <a:ext cx="491"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length</a:t>
                </a:r>
              </a:p>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=4000</a:t>
                </a:r>
              </a:p>
            </p:txBody>
          </p:sp>
          <p:sp>
            <p:nvSpPr>
              <p:cNvPr id="111676" name="Line 11"/>
              <p:cNvSpPr>
                <a:spLocks noChangeShapeType="1"/>
              </p:cNvSpPr>
              <p:nvPr/>
            </p:nvSpPr>
            <p:spPr bwMode="auto">
              <a:xfrm>
                <a:off x="3246"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77" name="Line 12"/>
              <p:cNvSpPr>
                <a:spLocks noChangeShapeType="1"/>
              </p:cNvSpPr>
              <p:nvPr/>
            </p:nvSpPr>
            <p:spPr bwMode="auto">
              <a:xfrm>
                <a:off x="3750"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78" name="Line 13"/>
              <p:cNvSpPr>
                <a:spLocks noChangeShapeType="1"/>
              </p:cNvSpPr>
              <p:nvPr/>
            </p:nvSpPr>
            <p:spPr bwMode="auto">
              <a:xfrm>
                <a:off x="4020" y="1254"/>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79" name="Line 14"/>
              <p:cNvSpPr>
                <a:spLocks noChangeShapeType="1"/>
              </p:cNvSpPr>
              <p:nvPr/>
            </p:nvSpPr>
            <p:spPr bwMode="auto">
              <a:xfrm>
                <a:off x="4638"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80" name="Line 15"/>
              <p:cNvSpPr>
                <a:spLocks noChangeShapeType="1"/>
              </p:cNvSpPr>
              <p:nvPr/>
            </p:nvSpPr>
            <p:spPr bwMode="auto">
              <a:xfrm>
                <a:off x="5112"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81" name="Rectangle 16"/>
              <p:cNvSpPr>
                <a:spLocks noChangeArrowheads="1"/>
              </p:cNvSpPr>
              <p:nvPr/>
            </p:nvSpPr>
            <p:spPr bwMode="auto">
              <a:xfrm>
                <a:off x="5232" y="1212"/>
                <a:ext cx="138" cy="3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grpSp>
        <p:grpSp>
          <p:nvGrpSpPr>
            <p:cNvPr id="111627" name="Group 17"/>
            <p:cNvGrpSpPr>
              <a:grpSpLocks/>
            </p:cNvGrpSpPr>
            <p:nvPr/>
          </p:nvGrpSpPr>
          <p:grpSpPr bwMode="auto">
            <a:xfrm>
              <a:off x="1566" y="2048"/>
              <a:ext cx="2676" cy="419"/>
              <a:chOff x="3006" y="1208"/>
              <a:chExt cx="2676" cy="419"/>
            </a:xfrm>
          </p:grpSpPr>
          <p:sp>
            <p:nvSpPr>
              <p:cNvPr id="111658" name="Rectangle 18"/>
              <p:cNvSpPr>
                <a:spLocks noChangeArrowheads="1"/>
              </p:cNvSpPr>
              <p:nvPr/>
            </p:nvSpPr>
            <p:spPr bwMode="auto">
              <a:xfrm>
                <a:off x="3048" y="1212"/>
                <a:ext cx="2634" cy="34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sp>
            <p:nvSpPr>
              <p:cNvPr id="111659" name="Rectangle 19"/>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sp>
            <p:nvSpPr>
              <p:cNvPr id="111660" name="Text Box 20"/>
              <p:cNvSpPr txBox="1">
                <a:spLocks noChangeArrowheads="1"/>
              </p:cNvSpPr>
              <p:nvPr/>
            </p:nvSpPr>
            <p:spPr bwMode="auto">
              <a:xfrm>
                <a:off x="3734" y="1208"/>
                <a:ext cx="252"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ID</a:t>
                </a:r>
              </a:p>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=x</a:t>
                </a:r>
              </a:p>
            </p:txBody>
          </p:sp>
          <p:sp>
            <p:nvSpPr>
              <p:cNvPr id="111661" name="Text Box 21"/>
              <p:cNvSpPr txBox="1">
                <a:spLocks noChangeArrowheads="1"/>
              </p:cNvSpPr>
              <p:nvPr/>
            </p:nvSpPr>
            <p:spPr bwMode="auto">
              <a:xfrm>
                <a:off x="4655" y="1220"/>
                <a:ext cx="456"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offset</a:t>
                </a:r>
              </a:p>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=0</a:t>
                </a:r>
              </a:p>
            </p:txBody>
          </p:sp>
          <p:sp>
            <p:nvSpPr>
              <p:cNvPr id="111662" name="Text Box 22"/>
              <p:cNvSpPr txBox="1">
                <a:spLocks noChangeArrowheads="1"/>
              </p:cNvSpPr>
              <p:nvPr/>
            </p:nvSpPr>
            <p:spPr bwMode="auto">
              <a:xfrm>
                <a:off x="4034" y="1220"/>
                <a:ext cx="563"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1800" dirty="0" err="1">
                    <a:latin typeface="Calibri" panose="020F0502020204030204" pitchFamily="34" charset="0"/>
                    <a:ea typeface="宋体" panose="02010600030101010101" pitchFamily="2" charset="-122"/>
                    <a:cs typeface="Calibri" panose="020F0502020204030204" pitchFamily="34" charset="0"/>
                  </a:rPr>
                  <a:t>fragflag</a:t>
                </a:r>
                <a:endParaRPr lang="en-US" altLang="zh-CN" sz="1800" dirty="0">
                  <a:latin typeface="Calibri" panose="020F0502020204030204" pitchFamily="34" charset="0"/>
                  <a:ea typeface="宋体" panose="02010600030101010101" pitchFamily="2" charset="-122"/>
                  <a:cs typeface="Calibri" panose="020F0502020204030204" pitchFamily="34" charset="0"/>
                </a:endParaRPr>
              </a:p>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=1</a:t>
                </a:r>
              </a:p>
            </p:txBody>
          </p:sp>
          <p:sp>
            <p:nvSpPr>
              <p:cNvPr id="111663" name="Text Box 23"/>
              <p:cNvSpPr txBox="1">
                <a:spLocks noChangeArrowheads="1"/>
              </p:cNvSpPr>
              <p:nvPr/>
            </p:nvSpPr>
            <p:spPr bwMode="auto">
              <a:xfrm>
                <a:off x="3230" y="1208"/>
                <a:ext cx="491"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length</a:t>
                </a:r>
              </a:p>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=1500</a:t>
                </a:r>
              </a:p>
            </p:txBody>
          </p:sp>
          <p:sp>
            <p:nvSpPr>
              <p:cNvPr id="111664" name="Line 24"/>
              <p:cNvSpPr>
                <a:spLocks noChangeShapeType="1"/>
              </p:cNvSpPr>
              <p:nvPr/>
            </p:nvSpPr>
            <p:spPr bwMode="auto">
              <a:xfrm>
                <a:off x="3246"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65" name="Line 25"/>
              <p:cNvSpPr>
                <a:spLocks noChangeShapeType="1"/>
              </p:cNvSpPr>
              <p:nvPr/>
            </p:nvSpPr>
            <p:spPr bwMode="auto">
              <a:xfrm>
                <a:off x="3750"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66" name="Line 26"/>
              <p:cNvSpPr>
                <a:spLocks noChangeShapeType="1"/>
              </p:cNvSpPr>
              <p:nvPr/>
            </p:nvSpPr>
            <p:spPr bwMode="auto">
              <a:xfrm>
                <a:off x="4020" y="1254"/>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67" name="Line 27"/>
              <p:cNvSpPr>
                <a:spLocks noChangeShapeType="1"/>
              </p:cNvSpPr>
              <p:nvPr/>
            </p:nvSpPr>
            <p:spPr bwMode="auto">
              <a:xfrm>
                <a:off x="4638"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68" name="Line 28"/>
              <p:cNvSpPr>
                <a:spLocks noChangeShapeType="1"/>
              </p:cNvSpPr>
              <p:nvPr/>
            </p:nvSpPr>
            <p:spPr bwMode="auto">
              <a:xfrm>
                <a:off x="5112"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69" name="Rectangle 29"/>
              <p:cNvSpPr>
                <a:spLocks noChangeArrowheads="1"/>
              </p:cNvSpPr>
              <p:nvPr/>
            </p:nvSpPr>
            <p:spPr bwMode="auto">
              <a:xfrm>
                <a:off x="5232" y="1212"/>
                <a:ext cx="138" cy="3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grpSp>
        <p:grpSp>
          <p:nvGrpSpPr>
            <p:cNvPr id="111628" name="Group 30"/>
            <p:cNvGrpSpPr>
              <a:grpSpLocks/>
            </p:cNvGrpSpPr>
            <p:nvPr/>
          </p:nvGrpSpPr>
          <p:grpSpPr bwMode="auto">
            <a:xfrm>
              <a:off x="1566" y="2552"/>
              <a:ext cx="2676" cy="419"/>
              <a:chOff x="3006" y="1208"/>
              <a:chExt cx="2676" cy="419"/>
            </a:xfrm>
          </p:grpSpPr>
          <p:sp>
            <p:nvSpPr>
              <p:cNvPr id="111646" name="Rectangle 31"/>
              <p:cNvSpPr>
                <a:spLocks noChangeArrowheads="1"/>
              </p:cNvSpPr>
              <p:nvPr/>
            </p:nvSpPr>
            <p:spPr bwMode="auto">
              <a:xfrm>
                <a:off x="3048" y="1212"/>
                <a:ext cx="2634" cy="34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sp>
            <p:nvSpPr>
              <p:cNvPr id="111647" name="Rectangle 32"/>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sp>
            <p:nvSpPr>
              <p:cNvPr id="111648" name="Text Box 33"/>
              <p:cNvSpPr txBox="1">
                <a:spLocks noChangeArrowheads="1"/>
              </p:cNvSpPr>
              <p:nvPr/>
            </p:nvSpPr>
            <p:spPr bwMode="auto">
              <a:xfrm>
                <a:off x="3734" y="1208"/>
                <a:ext cx="252"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ID</a:t>
                </a:r>
              </a:p>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=x</a:t>
                </a:r>
              </a:p>
            </p:txBody>
          </p:sp>
          <p:sp>
            <p:nvSpPr>
              <p:cNvPr id="111649" name="Text Box 34"/>
              <p:cNvSpPr txBox="1">
                <a:spLocks noChangeArrowheads="1"/>
              </p:cNvSpPr>
              <p:nvPr/>
            </p:nvSpPr>
            <p:spPr bwMode="auto">
              <a:xfrm>
                <a:off x="4655" y="1220"/>
                <a:ext cx="456"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offset</a:t>
                </a:r>
              </a:p>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=185</a:t>
                </a:r>
              </a:p>
            </p:txBody>
          </p:sp>
          <p:sp>
            <p:nvSpPr>
              <p:cNvPr id="111650" name="Text Box 35"/>
              <p:cNvSpPr txBox="1">
                <a:spLocks noChangeArrowheads="1"/>
              </p:cNvSpPr>
              <p:nvPr/>
            </p:nvSpPr>
            <p:spPr bwMode="auto">
              <a:xfrm>
                <a:off x="4034" y="1220"/>
                <a:ext cx="563"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1800" dirty="0" err="1">
                    <a:latin typeface="Calibri" panose="020F0502020204030204" pitchFamily="34" charset="0"/>
                    <a:ea typeface="宋体" panose="02010600030101010101" pitchFamily="2" charset="-122"/>
                    <a:cs typeface="Calibri" panose="020F0502020204030204" pitchFamily="34" charset="0"/>
                  </a:rPr>
                  <a:t>fragflag</a:t>
                </a:r>
                <a:endParaRPr lang="en-US" altLang="zh-CN" sz="1800" dirty="0">
                  <a:latin typeface="Calibri" panose="020F0502020204030204" pitchFamily="34" charset="0"/>
                  <a:ea typeface="宋体" panose="02010600030101010101" pitchFamily="2" charset="-122"/>
                  <a:cs typeface="Calibri" panose="020F0502020204030204" pitchFamily="34" charset="0"/>
                </a:endParaRPr>
              </a:p>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=1</a:t>
                </a:r>
              </a:p>
            </p:txBody>
          </p:sp>
          <p:sp>
            <p:nvSpPr>
              <p:cNvPr id="111651" name="Text Box 36"/>
              <p:cNvSpPr txBox="1">
                <a:spLocks noChangeArrowheads="1"/>
              </p:cNvSpPr>
              <p:nvPr/>
            </p:nvSpPr>
            <p:spPr bwMode="auto">
              <a:xfrm>
                <a:off x="3230" y="1208"/>
                <a:ext cx="491"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length</a:t>
                </a:r>
              </a:p>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=1500</a:t>
                </a:r>
              </a:p>
            </p:txBody>
          </p:sp>
          <p:sp>
            <p:nvSpPr>
              <p:cNvPr id="111652" name="Line 37"/>
              <p:cNvSpPr>
                <a:spLocks noChangeShapeType="1"/>
              </p:cNvSpPr>
              <p:nvPr/>
            </p:nvSpPr>
            <p:spPr bwMode="auto">
              <a:xfrm>
                <a:off x="3246"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53" name="Line 38"/>
              <p:cNvSpPr>
                <a:spLocks noChangeShapeType="1"/>
              </p:cNvSpPr>
              <p:nvPr/>
            </p:nvSpPr>
            <p:spPr bwMode="auto">
              <a:xfrm>
                <a:off x="3750"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54" name="Line 39"/>
              <p:cNvSpPr>
                <a:spLocks noChangeShapeType="1"/>
              </p:cNvSpPr>
              <p:nvPr/>
            </p:nvSpPr>
            <p:spPr bwMode="auto">
              <a:xfrm>
                <a:off x="4020" y="1254"/>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55" name="Line 40"/>
              <p:cNvSpPr>
                <a:spLocks noChangeShapeType="1"/>
              </p:cNvSpPr>
              <p:nvPr/>
            </p:nvSpPr>
            <p:spPr bwMode="auto">
              <a:xfrm>
                <a:off x="4638"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56" name="Line 41"/>
              <p:cNvSpPr>
                <a:spLocks noChangeShapeType="1"/>
              </p:cNvSpPr>
              <p:nvPr/>
            </p:nvSpPr>
            <p:spPr bwMode="auto">
              <a:xfrm>
                <a:off x="5112"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57" name="Rectangle 42"/>
              <p:cNvSpPr>
                <a:spLocks noChangeArrowheads="1"/>
              </p:cNvSpPr>
              <p:nvPr/>
            </p:nvSpPr>
            <p:spPr bwMode="auto">
              <a:xfrm>
                <a:off x="5232" y="1212"/>
                <a:ext cx="138" cy="3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grpSp>
        <p:grpSp>
          <p:nvGrpSpPr>
            <p:cNvPr id="111629" name="Group 43"/>
            <p:cNvGrpSpPr>
              <a:grpSpLocks/>
            </p:cNvGrpSpPr>
            <p:nvPr/>
          </p:nvGrpSpPr>
          <p:grpSpPr bwMode="auto">
            <a:xfrm>
              <a:off x="1560" y="3074"/>
              <a:ext cx="2676" cy="419"/>
              <a:chOff x="3006" y="1208"/>
              <a:chExt cx="2676" cy="419"/>
            </a:xfrm>
          </p:grpSpPr>
          <p:sp>
            <p:nvSpPr>
              <p:cNvPr id="111634" name="Rectangle 44"/>
              <p:cNvSpPr>
                <a:spLocks noChangeArrowheads="1"/>
              </p:cNvSpPr>
              <p:nvPr/>
            </p:nvSpPr>
            <p:spPr bwMode="auto">
              <a:xfrm>
                <a:off x="3048" y="1212"/>
                <a:ext cx="2634" cy="34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sp>
            <p:nvSpPr>
              <p:cNvPr id="111635" name="Rectangle 45"/>
              <p:cNvSpPr>
                <a:spLocks noChangeArrowheads="1"/>
              </p:cNvSpPr>
              <p:nvPr/>
            </p:nvSpPr>
            <p:spPr bwMode="auto">
              <a:xfrm>
                <a:off x="3006" y="1242"/>
                <a:ext cx="2634" cy="34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sp>
            <p:nvSpPr>
              <p:cNvPr id="111636" name="Text Box 46"/>
              <p:cNvSpPr txBox="1">
                <a:spLocks noChangeArrowheads="1"/>
              </p:cNvSpPr>
              <p:nvPr/>
            </p:nvSpPr>
            <p:spPr bwMode="auto">
              <a:xfrm>
                <a:off x="3734" y="1208"/>
                <a:ext cx="252"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ID</a:t>
                </a:r>
              </a:p>
              <a:p>
                <a:pP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=x</a:t>
                </a:r>
              </a:p>
            </p:txBody>
          </p:sp>
          <p:sp>
            <p:nvSpPr>
              <p:cNvPr id="111637" name="Text Box 47"/>
              <p:cNvSpPr txBox="1">
                <a:spLocks noChangeArrowheads="1"/>
              </p:cNvSpPr>
              <p:nvPr/>
            </p:nvSpPr>
            <p:spPr bwMode="auto">
              <a:xfrm>
                <a:off x="4655" y="1220"/>
                <a:ext cx="456"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offset</a:t>
                </a:r>
              </a:p>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=370</a:t>
                </a:r>
              </a:p>
            </p:txBody>
          </p:sp>
          <p:sp>
            <p:nvSpPr>
              <p:cNvPr id="111638" name="Text Box 48"/>
              <p:cNvSpPr txBox="1">
                <a:spLocks noChangeArrowheads="1"/>
              </p:cNvSpPr>
              <p:nvPr/>
            </p:nvSpPr>
            <p:spPr bwMode="auto">
              <a:xfrm>
                <a:off x="4034" y="1220"/>
                <a:ext cx="563"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1800" dirty="0" err="1">
                    <a:latin typeface="Calibri" panose="020F0502020204030204" pitchFamily="34" charset="0"/>
                    <a:ea typeface="宋体" panose="02010600030101010101" pitchFamily="2" charset="-122"/>
                    <a:cs typeface="Calibri" panose="020F0502020204030204" pitchFamily="34" charset="0"/>
                  </a:rPr>
                  <a:t>fragflag</a:t>
                </a:r>
                <a:endParaRPr lang="en-US" altLang="zh-CN" sz="1800" dirty="0">
                  <a:latin typeface="Calibri" panose="020F0502020204030204" pitchFamily="34" charset="0"/>
                  <a:ea typeface="宋体" panose="02010600030101010101" pitchFamily="2" charset="-122"/>
                  <a:cs typeface="Calibri" panose="020F0502020204030204" pitchFamily="34" charset="0"/>
                </a:endParaRPr>
              </a:p>
              <a:p>
                <a:pPr algn="ctr">
                  <a:spcBef>
                    <a:spcPct val="0"/>
                  </a:spcBef>
                  <a:buClrTx/>
                  <a:buFontTx/>
                  <a:buNone/>
                </a:pPr>
                <a:r>
                  <a:rPr lang="en-US" altLang="zh-CN" sz="1800" dirty="0">
                    <a:latin typeface="Calibri" panose="020F0502020204030204" pitchFamily="34" charset="0"/>
                    <a:ea typeface="宋体" panose="02010600030101010101" pitchFamily="2" charset="-122"/>
                    <a:cs typeface="Calibri" panose="020F0502020204030204" pitchFamily="34" charset="0"/>
                  </a:rPr>
                  <a:t>=0</a:t>
                </a:r>
              </a:p>
            </p:txBody>
          </p:sp>
          <p:sp>
            <p:nvSpPr>
              <p:cNvPr id="111639" name="Text Box 49"/>
              <p:cNvSpPr txBox="1">
                <a:spLocks noChangeArrowheads="1"/>
              </p:cNvSpPr>
              <p:nvPr/>
            </p:nvSpPr>
            <p:spPr bwMode="auto">
              <a:xfrm>
                <a:off x="3230" y="1208"/>
                <a:ext cx="491" cy="4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length</a:t>
                </a:r>
              </a:p>
              <a:p>
                <a:pPr>
                  <a:spcBef>
                    <a:spcPct val="0"/>
                  </a:spcBef>
                  <a:buClrTx/>
                  <a:buFontTx/>
                  <a:buNone/>
                </a:pPr>
                <a:r>
                  <a:rPr lang="en-US" altLang="zh-CN" sz="1800">
                    <a:latin typeface="Calibri" panose="020F0502020204030204" pitchFamily="34" charset="0"/>
                    <a:ea typeface="宋体" panose="02010600030101010101" pitchFamily="2" charset="-122"/>
                    <a:cs typeface="Calibri" panose="020F0502020204030204" pitchFamily="34" charset="0"/>
                  </a:rPr>
                  <a:t>=1040</a:t>
                </a:r>
              </a:p>
            </p:txBody>
          </p:sp>
          <p:sp>
            <p:nvSpPr>
              <p:cNvPr id="111640" name="Line 50"/>
              <p:cNvSpPr>
                <a:spLocks noChangeShapeType="1"/>
              </p:cNvSpPr>
              <p:nvPr/>
            </p:nvSpPr>
            <p:spPr bwMode="auto">
              <a:xfrm>
                <a:off x="3246"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41" name="Line 51"/>
              <p:cNvSpPr>
                <a:spLocks noChangeShapeType="1"/>
              </p:cNvSpPr>
              <p:nvPr/>
            </p:nvSpPr>
            <p:spPr bwMode="auto">
              <a:xfrm>
                <a:off x="3750"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42" name="Line 52"/>
              <p:cNvSpPr>
                <a:spLocks noChangeShapeType="1"/>
              </p:cNvSpPr>
              <p:nvPr/>
            </p:nvSpPr>
            <p:spPr bwMode="auto">
              <a:xfrm>
                <a:off x="4020" y="1254"/>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43" name="Line 53"/>
              <p:cNvSpPr>
                <a:spLocks noChangeShapeType="1"/>
              </p:cNvSpPr>
              <p:nvPr/>
            </p:nvSpPr>
            <p:spPr bwMode="auto">
              <a:xfrm>
                <a:off x="4638"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44" name="Line 54"/>
              <p:cNvSpPr>
                <a:spLocks noChangeShapeType="1"/>
              </p:cNvSpPr>
              <p:nvPr/>
            </p:nvSpPr>
            <p:spPr bwMode="auto">
              <a:xfrm>
                <a:off x="5112" y="1242"/>
                <a:ext cx="0" cy="34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45" name="Rectangle 55"/>
              <p:cNvSpPr>
                <a:spLocks noChangeArrowheads="1"/>
              </p:cNvSpPr>
              <p:nvPr/>
            </p:nvSpPr>
            <p:spPr bwMode="auto">
              <a:xfrm>
                <a:off x="5232" y="1212"/>
                <a:ext cx="138" cy="3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Calibri" panose="020F0502020204030204" pitchFamily="34" charset="0"/>
                  <a:ea typeface="宋体" panose="02010600030101010101" pitchFamily="2" charset="-122"/>
                  <a:cs typeface="Calibri" panose="020F0502020204030204" pitchFamily="34" charset="0"/>
                </a:endParaRPr>
              </a:p>
            </p:txBody>
          </p:sp>
        </p:grpSp>
        <p:sp>
          <p:nvSpPr>
            <p:cNvPr id="111630" name="Freeform 56"/>
            <p:cNvSpPr>
              <a:spLocks/>
            </p:cNvSpPr>
            <p:nvPr/>
          </p:nvSpPr>
          <p:spPr bwMode="auto">
            <a:xfrm>
              <a:off x="1290" y="1422"/>
              <a:ext cx="210" cy="1362"/>
            </a:xfrm>
            <a:custGeom>
              <a:avLst/>
              <a:gdLst>
                <a:gd name="T0" fmla="*/ 0 w 210"/>
                <a:gd name="T1" fmla="*/ 0 h 1362"/>
                <a:gd name="T2" fmla="*/ 0 w 210"/>
                <a:gd name="T3" fmla="*/ 1362 h 1362"/>
                <a:gd name="T4" fmla="*/ 210 w 210"/>
                <a:gd name="T5" fmla="*/ 858 h 1362"/>
                <a:gd name="T6" fmla="*/ 0 60000 65536"/>
                <a:gd name="T7" fmla="*/ 0 60000 65536"/>
                <a:gd name="T8" fmla="*/ 0 60000 65536"/>
              </a:gdLst>
              <a:ahLst/>
              <a:cxnLst>
                <a:cxn ang="T6">
                  <a:pos x="T0" y="T1"/>
                </a:cxn>
                <a:cxn ang="T7">
                  <a:pos x="T2" y="T3"/>
                </a:cxn>
                <a:cxn ang="T8">
                  <a:pos x="T4" y="T5"/>
                </a:cxn>
              </a:cxnLst>
              <a:rect l="0" t="0" r="r" b="b"/>
              <a:pathLst>
                <a:path w="210" h="1362">
                  <a:moveTo>
                    <a:pt x="0" y="0"/>
                  </a:moveTo>
                  <a:lnTo>
                    <a:pt x="0" y="1362"/>
                  </a:lnTo>
                  <a:lnTo>
                    <a:pt x="210" y="858"/>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31" name="Line 57"/>
            <p:cNvSpPr>
              <a:spLocks noChangeShapeType="1"/>
            </p:cNvSpPr>
            <p:nvPr/>
          </p:nvSpPr>
          <p:spPr bwMode="auto">
            <a:xfrm>
              <a:off x="1290" y="2766"/>
              <a:ext cx="228"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32" name="Line 58"/>
            <p:cNvSpPr>
              <a:spLocks noChangeShapeType="1"/>
            </p:cNvSpPr>
            <p:nvPr/>
          </p:nvSpPr>
          <p:spPr bwMode="auto">
            <a:xfrm>
              <a:off x="1296" y="2772"/>
              <a:ext cx="210" cy="49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Calibri" panose="020F0502020204030204" pitchFamily="34" charset="0"/>
                <a:cs typeface="Calibri" panose="020F0502020204030204" pitchFamily="34" charset="0"/>
              </a:endParaRPr>
            </a:p>
          </p:txBody>
        </p:sp>
        <p:sp>
          <p:nvSpPr>
            <p:cNvPr id="111633" name="Text Box 59"/>
            <p:cNvSpPr txBox="1">
              <a:spLocks noChangeArrowheads="1"/>
            </p:cNvSpPr>
            <p:nvPr/>
          </p:nvSpPr>
          <p:spPr bwMode="auto">
            <a:xfrm>
              <a:off x="1274" y="1472"/>
              <a:ext cx="3112" cy="4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2000" dirty="0">
                  <a:solidFill>
                    <a:srgbClr val="FF0000"/>
                  </a:solidFill>
                  <a:latin typeface="Calibri" panose="020F0502020204030204" pitchFamily="34" charset="0"/>
                  <a:ea typeface="宋体" panose="02010600030101010101" pitchFamily="2" charset="-122"/>
                  <a:cs typeface="Calibri" panose="020F0502020204030204" pitchFamily="34" charset="0"/>
                </a:rPr>
                <a:t>One large datagram becomes several smaller datagrams</a:t>
              </a:r>
              <a:endParaRPr lang="en-US" altLang="zh-CN" sz="2000" dirty="0">
                <a:latin typeface="Calibri" panose="020F0502020204030204" pitchFamily="34" charset="0"/>
                <a:ea typeface="宋体" panose="02010600030101010101" pitchFamily="2" charset="-122"/>
                <a:cs typeface="Calibri" panose="020F0502020204030204" pitchFamily="34" charset="0"/>
              </a:endParaRPr>
            </a:p>
          </p:txBody>
        </p:sp>
      </p:grpSp>
      <p:sp>
        <p:nvSpPr>
          <p:cNvPr id="111621" name="Rectangle 60"/>
          <p:cNvSpPr>
            <a:spLocks noChangeArrowheads="1"/>
          </p:cNvSpPr>
          <p:nvPr/>
        </p:nvSpPr>
        <p:spPr bwMode="auto">
          <a:xfrm>
            <a:off x="1751012" y="1801814"/>
            <a:ext cx="2935288"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08585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42875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177165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22885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68605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14325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60045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35000"/>
              </a:spcBef>
              <a:buClr>
                <a:srgbClr val="993300"/>
              </a:buClr>
              <a:buSzPct val="90000"/>
              <a:buFont typeface="Monotype Sorts" pitchFamily="2" charset="2"/>
              <a:buNone/>
            </a:pPr>
            <a:r>
              <a:rPr kumimoji="1" lang="en-US" altLang="zh-CN" sz="2000" u="sng" dirty="0">
                <a:solidFill>
                  <a:srgbClr val="FF0000"/>
                </a:solidFill>
                <a:latin typeface="Helvetica" panose="020B0604020202020204" pitchFamily="34" charset="0"/>
                <a:ea typeface="宋体" panose="02010600030101010101" pitchFamily="2" charset="-122"/>
              </a:rPr>
              <a:t>Example</a:t>
            </a:r>
            <a:endParaRPr kumimoji="1" lang="en-US" altLang="zh-CN" sz="2000" dirty="0">
              <a:latin typeface="Helvetica" panose="020B0604020202020204" pitchFamily="34" charset="0"/>
              <a:ea typeface="宋体" panose="02010600030101010101" pitchFamily="2" charset="-122"/>
            </a:endParaRPr>
          </a:p>
          <a:p>
            <a:pPr>
              <a:spcBef>
                <a:spcPct val="35000"/>
              </a:spcBef>
              <a:buClr>
                <a:srgbClr val="993300"/>
              </a:buClr>
              <a:buSzPct val="90000"/>
              <a:buFont typeface="Monotype Sorts" pitchFamily="2" charset="2"/>
              <a:buChar char="n"/>
            </a:pPr>
            <a:r>
              <a:rPr kumimoji="1" lang="en-US" altLang="zh-CN" sz="2000" dirty="0">
                <a:latin typeface="Helvetica" panose="020B0604020202020204" pitchFamily="34" charset="0"/>
                <a:ea typeface="宋体" panose="02010600030101010101" pitchFamily="2" charset="-122"/>
              </a:rPr>
              <a:t>4000 byte datagram</a:t>
            </a:r>
          </a:p>
          <a:p>
            <a:pPr>
              <a:spcBef>
                <a:spcPct val="35000"/>
              </a:spcBef>
              <a:buClr>
                <a:srgbClr val="993300"/>
              </a:buClr>
              <a:buSzPct val="90000"/>
              <a:buFont typeface="Monotype Sorts" pitchFamily="2" charset="2"/>
              <a:buChar char="n"/>
            </a:pPr>
            <a:r>
              <a:rPr kumimoji="1" lang="en-US" altLang="zh-CN" sz="2000" dirty="0">
                <a:latin typeface="Helvetica" panose="020B0604020202020204" pitchFamily="34" charset="0"/>
                <a:ea typeface="宋体" panose="02010600030101010101" pitchFamily="2" charset="-122"/>
              </a:rPr>
              <a:t>MTU = 1500 bytes</a:t>
            </a:r>
          </a:p>
          <a:p>
            <a:pPr>
              <a:spcBef>
                <a:spcPct val="35000"/>
              </a:spcBef>
              <a:buClr>
                <a:srgbClr val="993300"/>
              </a:buClr>
              <a:buSzPct val="90000"/>
              <a:buFont typeface="Monotype Sorts" pitchFamily="2" charset="2"/>
              <a:buChar char="n"/>
            </a:pPr>
            <a:endParaRPr kumimoji="1" lang="zh-CN" altLang="en-US" sz="2000" dirty="0">
              <a:latin typeface="Helvetica" panose="020B0604020202020204" pitchFamily="34" charset="0"/>
              <a:ea typeface="宋体" panose="02010600030101010101" pitchFamily="2" charset="-122"/>
            </a:endParaRPr>
          </a:p>
        </p:txBody>
      </p:sp>
      <p:sp>
        <p:nvSpPr>
          <p:cNvPr id="111622" name="Text Box 61"/>
          <p:cNvSpPr txBox="1">
            <a:spLocks noChangeArrowheads="1"/>
          </p:cNvSpPr>
          <p:nvPr/>
        </p:nvSpPr>
        <p:spPr bwMode="auto">
          <a:xfrm>
            <a:off x="1987551" y="3756026"/>
            <a:ext cx="163423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2000" dirty="0">
                <a:latin typeface="Calibri" panose="020F0502020204030204" pitchFamily="34" charset="0"/>
                <a:ea typeface="宋体" panose="02010600030101010101" pitchFamily="2" charset="-122"/>
                <a:cs typeface="Calibri" panose="020F0502020204030204" pitchFamily="34" charset="0"/>
              </a:rPr>
              <a:t>1480 bytes in </a:t>
            </a:r>
            <a:br>
              <a:rPr lang="en-US" altLang="zh-CN" sz="2000" dirty="0">
                <a:latin typeface="Calibri" panose="020F0502020204030204" pitchFamily="34" charset="0"/>
                <a:ea typeface="宋体" panose="02010600030101010101" pitchFamily="2" charset="-122"/>
                <a:cs typeface="Calibri" panose="020F0502020204030204" pitchFamily="34" charset="0"/>
              </a:rPr>
            </a:br>
            <a:r>
              <a:rPr lang="en-US" altLang="zh-CN" sz="2000" dirty="0">
                <a:latin typeface="Calibri" panose="020F0502020204030204" pitchFamily="34" charset="0"/>
                <a:ea typeface="宋体" panose="02010600030101010101" pitchFamily="2" charset="-122"/>
                <a:cs typeface="Calibri" panose="020F0502020204030204" pitchFamily="34" charset="0"/>
              </a:rPr>
              <a:t>data field</a:t>
            </a:r>
          </a:p>
        </p:txBody>
      </p:sp>
      <p:sp>
        <p:nvSpPr>
          <p:cNvPr id="111623" name="Line 62"/>
          <p:cNvSpPr>
            <a:spLocks noChangeShapeType="1"/>
          </p:cNvSpPr>
          <p:nvPr/>
        </p:nvSpPr>
        <p:spPr bwMode="auto">
          <a:xfrm flipV="1">
            <a:off x="3609976" y="3592514"/>
            <a:ext cx="2536825" cy="581025"/>
          </a:xfrm>
          <a:prstGeom prst="line">
            <a:avLst/>
          </a:prstGeom>
          <a:noFill/>
          <a:ln w="19050">
            <a:solidFill>
              <a:srgbClr val="008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624" name="Text Box 63"/>
          <p:cNvSpPr txBox="1">
            <a:spLocks noChangeArrowheads="1"/>
          </p:cNvSpPr>
          <p:nvPr/>
        </p:nvSpPr>
        <p:spPr bwMode="auto">
          <a:xfrm>
            <a:off x="3363914" y="4567239"/>
            <a:ext cx="150874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2000" dirty="0">
                <a:latin typeface="Calibri" panose="020F0502020204030204" pitchFamily="34" charset="0"/>
                <a:ea typeface="宋体" panose="02010600030101010101" pitchFamily="2" charset="-122"/>
                <a:cs typeface="Calibri" panose="020F0502020204030204" pitchFamily="34" charset="0"/>
              </a:rPr>
              <a:t>offset =</a:t>
            </a:r>
          </a:p>
          <a:p>
            <a:pPr>
              <a:spcBef>
                <a:spcPct val="0"/>
              </a:spcBef>
              <a:buClrTx/>
              <a:buFontTx/>
              <a:buNone/>
            </a:pPr>
            <a:r>
              <a:rPr lang="en-US" altLang="zh-CN" sz="2000" dirty="0">
                <a:latin typeface="Calibri" panose="020F0502020204030204" pitchFamily="34" charset="0"/>
                <a:ea typeface="宋体" panose="02010600030101010101" pitchFamily="2" charset="-122"/>
                <a:cs typeface="Calibri" panose="020F0502020204030204" pitchFamily="34" charset="0"/>
              </a:rPr>
              <a:t>1480/8=185 </a:t>
            </a:r>
          </a:p>
        </p:txBody>
      </p:sp>
      <p:sp>
        <p:nvSpPr>
          <p:cNvPr id="111625" name="Line 64"/>
          <p:cNvSpPr>
            <a:spLocks noChangeShapeType="1"/>
          </p:cNvSpPr>
          <p:nvPr/>
        </p:nvSpPr>
        <p:spPr bwMode="auto">
          <a:xfrm flipV="1">
            <a:off x="4394200" y="4440238"/>
            <a:ext cx="4032250" cy="412750"/>
          </a:xfrm>
          <a:prstGeom prst="line">
            <a:avLst/>
          </a:prstGeom>
          <a:noFill/>
          <a:ln w="19050">
            <a:solidFill>
              <a:srgbClr val="008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 name="矩形 65">
            <a:extLst>
              <a:ext uri="{FF2B5EF4-FFF2-40B4-BE49-F238E27FC236}">
                <a16:creationId xmlns:a16="http://schemas.microsoft.com/office/drawing/2014/main" id="{4860A202-7CFA-4612-8437-3ACEE5E319C8}"/>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IP Fragmentation and Reassembly</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
        <p:nvSpPr>
          <p:cNvPr id="67" name="矩形 66">
            <a:extLst>
              <a:ext uri="{FF2B5EF4-FFF2-40B4-BE49-F238E27FC236}">
                <a16:creationId xmlns:a16="http://schemas.microsoft.com/office/drawing/2014/main" id="{D5A1E3D8-B84B-4113-9525-85CA4C87E692}"/>
              </a:ext>
            </a:extLst>
          </p:cNvPr>
          <p:cNvSpPr/>
          <p:nvPr/>
        </p:nvSpPr>
        <p:spPr>
          <a:xfrm>
            <a:off x="2408413" y="5527041"/>
            <a:ext cx="3016478" cy="338554"/>
          </a:xfrm>
          <a:prstGeom prst="rect">
            <a:avLst/>
          </a:prstGeom>
        </p:spPr>
        <p:txBody>
          <a:bodyPr wrap="square">
            <a:spAutoFit/>
          </a:bodyPr>
          <a:lstStyle/>
          <a:p>
            <a:r>
              <a:rPr lang="zh-CN" altLang="en-US" sz="1600" dirty="0">
                <a:solidFill>
                  <a:srgbClr val="4D4D4D"/>
                </a:solidFill>
                <a:latin typeface="微软雅黑" panose="020B0503020204020204" pitchFamily="34" charset="-122"/>
                <a:ea typeface="微软雅黑" panose="020B0503020204020204" pitchFamily="34" charset="-122"/>
              </a:rPr>
              <a:t>注意：</a:t>
            </a:r>
            <a:r>
              <a:rPr lang="en-US" altLang="zh-CN" sz="1600" dirty="0">
                <a:solidFill>
                  <a:srgbClr val="4D4D4D"/>
                </a:solidFill>
                <a:latin typeface="微软雅黑" panose="020B0503020204020204" pitchFamily="34" charset="-122"/>
                <a:ea typeface="微软雅黑" panose="020B0503020204020204" pitchFamily="34" charset="-122"/>
              </a:rPr>
              <a:t>offset</a:t>
            </a:r>
            <a:r>
              <a:rPr lang="zh-CN" altLang="en-US" sz="1600" dirty="0">
                <a:solidFill>
                  <a:srgbClr val="4D4D4D"/>
                </a:solidFill>
                <a:latin typeface="微软雅黑" panose="020B0503020204020204" pitchFamily="34" charset="-122"/>
                <a:ea typeface="微软雅黑" panose="020B0503020204020204" pitchFamily="34" charset="-122"/>
              </a:rPr>
              <a:t>的单位为</a:t>
            </a:r>
            <a:r>
              <a:rPr lang="en-US" altLang="zh-CN" sz="1600" dirty="0">
                <a:solidFill>
                  <a:srgbClr val="4D4D4D"/>
                </a:solidFill>
                <a:latin typeface="微软雅黑" panose="020B0503020204020204" pitchFamily="34" charset="-122"/>
                <a:ea typeface="微软雅黑" panose="020B0503020204020204" pitchFamily="34" charset="-122"/>
              </a:rPr>
              <a:t>8 Byte</a:t>
            </a:r>
            <a:endParaRPr lang="zh-CN" altLang="en-US" sz="1600" dirty="0">
              <a:solidFill>
                <a:srgbClr val="4D4D4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138398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112644" name="Rectangle 3"/>
          <p:cNvSpPr>
            <a:spLocks noGrp="1" noChangeArrowheads="1"/>
          </p:cNvSpPr>
          <p:nvPr>
            <p:ph type="body" idx="1"/>
          </p:nvPr>
        </p:nvSpPr>
        <p:spPr>
          <a:xfrm>
            <a:off x="539750" y="996951"/>
            <a:ext cx="11303000" cy="2285999"/>
          </a:xfrm>
        </p:spPr>
        <p:txBody>
          <a:bodyPr>
            <a:normAutofit fontScale="85000" lnSpcReduction="10000"/>
          </a:bodyPr>
          <a:lstStyle/>
          <a:p>
            <a:pPr>
              <a:lnSpc>
                <a:spcPct val="120000"/>
              </a:lnSpc>
            </a:pPr>
            <a:r>
              <a:rPr lang="en-US" altLang="zh-CN" dirty="0">
                <a:ea typeface="宋体" panose="02010600030101010101" pitchFamily="2" charset="-122"/>
              </a:rPr>
              <a:t>A packet is to be forwarded to a network with MTU of 576 bytes. The packet has an IP header of 20 bytes and a data part of 1484 bytes. </a:t>
            </a:r>
          </a:p>
          <a:p>
            <a:pPr>
              <a:lnSpc>
                <a:spcPct val="120000"/>
              </a:lnSpc>
            </a:pPr>
            <a:r>
              <a:rPr lang="en-US" altLang="zh-CN" dirty="0">
                <a:ea typeface="宋体" panose="02010600030101010101" pitchFamily="2" charset="-122"/>
              </a:rPr>
              <a:t>For each fragment, Maximum data length per fragment = 576 - 20 = 556 bytes.</a:t>
            </a:r>
          </a:p>
          <a:p>
            <a:pPr>
              <a:lnSpc>
                <a:spcPct val="120000"/>
              </a:lnSpc>
            </a:pPr>
            <a:r>
              <a:rPr lang="en-US" altLang="zh-CN" dirty="0">
                <a:ea typeface="宋体" panose="02010600030101010101" pitchFamily="2" charset="-122"/>
              </a:rPr>
              <a:t>We set maximum data length to 552 bytes to get multiple of 8.  </a:t>
            </a:r>
          </a:p>
        </p:txBody>
      </p:sp>
      <p:graphicFrame>
        <p:nvGraphicFramePr>
          <p:cNvPr id="930860" name="Group 44"/>
          <p:cNvGraphicFramePr>
            <a:graphicFrameLocks noGrp="1"/>
          </p:cNvGraphicFramePr>
          <p:nvPr>
            <p:extLst>
              <p:ext uri="{D42A27DB-BD31-4B8C-83A1-F6EECF244321}">
                <p14:modId xmlns:p14="http://schemas.microsoft.com/office/powerpoint/2010/main" val="2057324180"/>
              </p:ext>
            </p:extLst>
          </p:nvPr>
        </p:nvGraphicFramePr>
        <p:xfrm>
          <a:off x="2782888" y="3435351"/>
          <a:ext cx="6419850" cy="2625726"/>
        </p:xfrm>
        <a:graphic>
          <a:graphicData uri="http://schemas.openxmlformats.org/drawingml/2006/table">
            <a:tbl>
              <a:tblPr/>
              <a:tblGrid>
                <a:gridCol w="2336800">
                  <a:extLst>
                    <a:ext uri="{9D8B030D-6E8A-4147-A177-3AD203B41FA5}">
                      <a16:colId xmlns:a16="http://schemas.microsoft.com/office/drawing/2014/main" val="20000"/>
                    </a:ext>
                  </a:extLst>
                </a:gridCol>
                <a:gridCol w="1357312">
                  <a:extLst>
                    <a:ext uri="{9D8B030D-6E8A-4147-A177-3AD203B41FA5}">
                      <a16:colId xmlns:a16="http://schemas.microsoft.com/office/drawing/2014/main" val="20001"/>
                    </a:ext>
                  </a:extLst>
                </a:gridCol>
                <a:gridCol w="484188">
                  <a:extLst>
                    <a:ext uri="{9D8B030D-6E8A-4147-A177-3AD203B41FA5}">
                      <a16:colId xmlns:a16="http://schemas.microsoft.com/office/drawing/2014/main" val="20002"/>
                    </a:ext>
                  </a:extLst>
                </a:gridCol>
                <a:gridCol w="606425">
                  <a:extLst>
                    <a:ext uri="{9D8B030D-6E8A-4147-A177-3AD203B41FA5}">
                      <a16:colId xmlns:a16="http://schemas.microsoft.com/office/drawing/2014/main" val="20003"/>
                    </a:ext>
                  </a:extLst>
                </a:gridCol>
                <a:gridCol w="1635125">
                  <a:extLst>
                    <a:ext uri="{9D8B030D-6E8A-4147-A177-3AD203B41FA5}">
                      <a16:colId xmlns:a16="http://schemas.microsoft.com/office/drawing/2014/main" val="20004"/>
                    </a:ext>
                  </a:extLst>
                </a:gridCol>
              </a:tblGrid>
              <a:tr h="771525">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 </a:t>
                      </a:r>
                      <a:endParaRPr kumimoji="1" lang="zh-CN" altLang="en-US"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Total Length</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Id</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MF</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Fragment Offset</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3388">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Original packet</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1504</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x</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0</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0</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075">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Fragment 1</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572</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x</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1</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0</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4663">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Fragment 2</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572</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x</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1</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69</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3075">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Fragment 3</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80808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400</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80808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x</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80808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0</a:t>
                      </a:r>
                      <a:endParaRPr kumimoji="1" lang="en-US" altLang="zh-CN" sz="3800" b="0" i="0" u="none" strike="noStrike" cap="none" normalizeH="0" baseline="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808080"/>
                      </a:solidFill>
                      <a:prstDash val="solid"/>
                      <a:round/>
                      <a:headEnd type="none" w="med" len="med"/>
                      <a:tailEnd type="none" w="med" len="med"/>
                    </a:lnB>
                    <a:lnTlToBr>
                      <a:noFill/>
                    </a:lnTlToBr>
                    <a:lnBlToTr>
                      <a:noFill/>
                    </a:lnBlToTr>
                    <a:noFill/>
                  </a:tcPr>
                </a:tc>
                <a:tc>
                  <a:txBody>
                    <a:bodyPr/>
                    <a:lstStyle>
                      <a:lvl1pPr>
                        <a:spcBef>
                          <a:spcPct val="35000"/>
                        </a:spcBef>
                        <a:buClr>
                          <a:srgbClr val="993300"/>
                        </a:buClr>
                        <a:buSzPct val="90000"/>
                        <a:buFont typeface="Monotype Sorts" pitchFamily="2" charset="2"/>
                        <a:defRPr kumimoji="1" sz="1600">
                          <a:solidFill>
                            <a:schemeClr val="tx1"/>
                          </a:solidFill>
                          <a:latin typeface="Helvetica" panose="020B0604020202020204" pitchFamily="34" charset="0"/>
                        </a:defRPr>
                      </a:lvl1pPr>
                      <a:lvl2pPr>
                        <a:spcBef>
                          <a:spcPct val="35000"/>
                        </a:spcBef>
                        <a:buClr>
                          <a:srgbClr val="CC6600"/>
                        </a:buClr>
                        <a:buSzPct val="80000"/>
                        <a:buFont typeface="Monotype Sorts" pitchFamily="2" charset="2"/>
                        <a:defRPr kumimoji="1" sz="1600">
                          <a:solidFill>
                            <a:schemeClr val="tx1"/>
                          </a:solidFill>
                          <a:latin typeface="Helvetica" panose="020B0604020202020204" pitchFamily="34" charset="0"/>
                        </a:defRPr>
                      </a:lvl2pPr>
                      <a:lvl3pPr>
                        <a:spcBef>
                          <a:spcPct val="35000"/>
                        </a:spcBef>
                        <a:buClr>
                          <a:srgbClr val="009900"/>
                        </a:buClr>
                        <a:buSzPct val="75000"/>
                        <a:buFont typeface="Webdings" panose="05030102010509060703" pitchFamily="18" charset="2"/>
                        <a:defRPr kumimoji="1" sz="1600">
                          <a:solidFill>
                            <a:schemeClr val="tx1"/>
                          </a:solidFill>
                          <a:latin typeface="Helvetica" panose="020B0604020202020204" pitchFamily="34" charset="0"/>
                        </a:defRPr>
                      </a:lvl3pPr>
                      <a:lvl4pPr>
                        <a:spcBef>
                          <a:spcPct val="35000"/>
                        </a:spcBef>
                        <a:buClr>
                          <a:schemeClr val="hlink"/>
                        </a:buClr>
                        <a:buSzPct val="75000"/>
                        <a:defRPr kumimoji="1" sz="1600">
                          <a:solidFill>
                            <a:schemeClr val="tx1"/>
                          </a:solidFill>
                          <a:latin typeface="Helvetica" panose="020B0604020202020204" pitchFamily="34" charset="0"/>
                        </a:defRPr>
                      </a:lvl4pPr>
                      <a:lvl5pPr>
                        <a:spcBef>
                          <a:spcPct val="35000"/>
                        </a:spcBef>
                        <a:buClr>
                          <a:srgbClr val="FF0066"/>
                        </a:buClr>
                        <a:buSzPct val="75000"/>
                        <a:defRPr kumimoji="1" sz="1600">
                          <a:solidFill>
                            <a:schemeClr val="tx1"/>
                          </a:solidFill>
                          <a:latin typeface="Helvetica" panose="020B0604020202020204" pitchFamily="34" charset="0"/>
                        </a:defRPr>
                      </a:lvl5pPr>
                      <a:lvl6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6pPr>
                      <a:lvl7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7pPr>
                      <a:lvl8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8pPr>
                      <a:lvl9pPr eaLnBrk="0" fontAlgn="base" hangingPunct="0">
                        <a:spcBef>
                          <a:spcPct val="35000"/>
                        </a:spcBef>
                        <a:spcAft>
                          <a:spcPct val="0"/>
                        </a:spcAft>
                        <a:buClr>
                          <a:srgbClr val="FF0066"/>
                        </a:buClr>
                        <a:buSzPct val="75000"/>
                        <a:defRPr kumimoji="1" sz="1600">
                          <a:solidFill>
                            <a:schemeClr val="tx1"/>
                          </a:solidFill>
                          <a:latin typeface="Helvetica"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1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rPr>
                        <a:t>138</a:t>
                      </a:r>
                      <a:endParaRPr kumimoji="1" lang="en-US" altLang="zh-CN" sz="3800" b="0" i="0" u="none" strike="noStrike" cap="none" normalizeH="0" baseline="0" dirty="0">
                        <a:ln>
                          <a:noFill/>
                        </a:ln>
                        <a:solidFill>
                          <a:schemeClr val="tx1"/>
                        </a:solidFill>
                        <a:effectLst/>
                        <a:latin typeface="Helvetica" panose="020B0604020202020204" pitchFamily="34" charset="0"/>
                        <a:ea typeface="宋体" panose="02010600030101010101" pitchFamily="2"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80808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矩形 5">
            <a:extLst>
              <a:ext uri="{FF2B5EF4-FFF2-40B4-BE49-F238E27FC236}">
                <a16:creationId xmlns:a16="http://schemas.microsoft.com/office/drawing/2014/main" id="{DC6FEA55-72FD-4C04-97FF-F60558A9DFD9}"/>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Example:  Fragmenting a Packet</a:t>
            </a:r>
          </a:p>
        </p:txBody>
      </p:sp>
    </p:spTree>
    <p:extLst>
      <p:ext uri="{BB962C8B-B14F-4D97-AF65-F5344CB8AC3E}">
        <p14:creationId xmlns:p14="http://schemas.microsoft.com/office/powerpoint/2010/main" val="391289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4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4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308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07523" name="Rectangle 2"/>
          <p:cNvSpPr>
            <a:spLocks noChangeArrowheads="1"/>
          </p:cNvSpPr>
          <p:nvPr/>
        </p:nvSpPr>
        <p:spPr bwMode="auto">
          <a:xfrm>
            <a:off x="1752600" y="1143000"/>
            <a:ext cx="9067800" cy="181588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r>
              <a:rPr lang="en-US" altLang="zh-CN" sz="2800" b="1" i="1" dirty="0">
                <a:latin typeface="Calibri" panose="020F0502020204030204" pitchFamily="34" charset="0"/>
                <a:ea typeface="宋体" panose="02010600030101010101" pitchFamily="2" charset="-122"/>
                <a:cs typeface="Calibri" panose="020F0502020204030204" pitchFamily="34" charset="0"/>
              </a:rPr>
              <a:t>A packet has arrived in which the offset value is (100)</a:t>
            </a:r>
            <a:r>
              <a:rPr lang="en-US" altLang="zh-CN" sz="2800" b="1" i="1" baseline="-25000" dirty="0">
                <a:latin typeface="Calibri" panose="020F0502020204030204" pitchFamily="34" charset="0"/>
                <a:ea typeface="宋体" panose="02010600030101010101" pitchFamily="2" charset="-122"/>
                <a:cs typeface="Calibri" panose="020F0502020204030204" pitchFamily="34" charset="0"/>
              </a:rPr>
              <a:t>10</a:t>
            </a:r>
            <a:r>
              <a:rPr lang="en-US" altLang="zh-CN" sz="2800" b="1" i="1" dirty="0">
                <a:latin typeface="Calibri" panose="020F0502020204030204" pitchFamily="34" charset="0"/>
                <a:ea typeface="宋体" panose="02010600030101010101" pitchFamily="2" charset="-122"/>
                <a:cs typeface="Calibri" panose="020F0502020204030204" pitchFamily="34" charset="0"/>
              </a:rPr>
              <a:t>, the value of HLEN is (5)</a:t>
            </a:r>
            <a:r>
              <a:rPr lang="en-US" altLang="zh-CN" sz="2800" b="1" i="1" baseline="-25000" dirty="0">
                <a:latin typeface="Calibri" panose="020F0502020204030204" pitchFamily="34" charset="0"/>
                <a:ea typeface="宋体" panose="02010600030101010101" pitchFamily="2" charset="-122"/>
                <a:cs typeface="Calibri" panose="020F0502020204030204" pitchFamily="34" charset="0"/>
              </a:rPr>
              <a:t>10</a:t>
            </a:r>
            <a:r>
              <a:rPr lang="en-US" altLang="zh-CN" sz="2800" b="1" i="1" dirty="0">
                <a:latin typeface="Calibri" panose="020F0502020204030204" pitchFamily="34" charset="0"/>
                <a:ea typeface="宋体" panose="02010600030101010101" pitchFamily="2" charset="-122"/>
                <a:cs typeface="Calibri" panose="020F0502020204030204" pitchFamily="34" charset="0"/>
              </a:rPr>
              <a:t>, and the value of the total length field is (100)</a:t>
            </a:r>
            <a:r>
              <a:rPr lang="en-US" altLang="zh-CN" sz="2800" b="1" i="1" baseline="-25000" dirty="0">
                <a:latin typeface="Calibri" panose="020F0502020204030204" pitchFamily="34" charset="0"/>
                <a:ea typeface="宋体" panose="02010600030101010101" pitchFamily="2" charset="-122"/>
                <a:cs typeface="Calibri" panose="020F0502020204030204" pitchFamily="34" charset="0"/>
              </a:rPr>
              <a:t>10</a:t>
            </a:r>
            <a:r>
              <a:rPr lang="en-US" altLang="zh-CN" sz="2800" b="1" i="1" dirty="0">
                <a:latin typeface="Calibri" panose="020F0502020204030204" pitchFamily="34" charset="0"/>
                <a:ea typeface="宋体" panose="02010600030101010101" pitchFamily="2" charset="-122"/>
                <a:cs typeface="Calibri" panose="020F0502020204030204" pitchFamily="34" charset="0"/>
              </a:rPr>
              <a:t>. What are the numbers of the first byte and the last byte?</a:t>
            </a:r>
          </a:p>
        </p:txBody>
      </p:sp>
      <p:sp>
        <p:nvSpPr>
          <p:cNvPr id="925699" name="Rectangle 3"/>
          <p:cNvSpPr>
            <a:spLocks noChangeArrowheads="1"/>
          </p:cNvSpPr>
          <p:nvPr/>
        </p:nvSpPr>
        <p:spPr bwMode="auto">
          <a:xfrm>
            <a:off x="1752600" y="3106739"/>
            <a:ext cx="8686800" cy="310854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dirty="0">
                <a:solidFill>
                  <a:schemeClr val="hlink"/>
                </a:solidFill>
                <a:latin typeface="Calibri" panose="020F0502020204030204" pitchFamily="34" charset="0"/>
                <a:ea typeface="宋体" panose="02010600030101010101" pitchFamily="2" charset="-122"/>
                <a:cs typeface="Calibri" panose="020F0502020204030204" pitchFamily="34" charset="0"/>
              </a:rPr>
              <a:t>Solution</a:t>
            </a:r>
          </a:p>
          <a:p>
            <a:pPr algn="just">
              <a:spcBef>
                <a:spcPct val="0"/>
              </a:spcBef>
              <a:buClrTx/>
            </a:pPr>
            <a:r>
              <a:rPr lang="en-US" altLang="zh-CN" sz="2800" b="1" i="1" dirty="0">
                <a:latin typeface="Calibri" panose="020F0502020204030204" pitchFamily="34" charset="0"/>
                <a:ea typeface="宋体" panose="02010600030101010101" pitchFamily="2" charset="-122"/>
                <a:cs typeface="Calibri" panose="020F0502020204030204" pitchFamily="34" charset="0"/>
              </a:rPr>
              <a:t>The first byte number is 100 × 8 = 800. The total length is 100 bytes, and the header length is 20 bytes (5 × 4), which means that there are 80 bytes of payload in this datagram. If the first byte number is 800, the last byte number must be 879.</a:t>
            </a:r>
          </a:p>
          <a:p>
            <a:pPr algn="just">
              <a:spcBef>
                <a:spcPct val="0"/>
              </a:spcBef>
              <a:buClrTx/>
              <a:buFontTx/>
              <a:buNone/>
            </a:pPr>
            <a:endParaRPr lang="en-US" altLang="zh-CN" sz="2800" b="1" i="1" dirty="0">
              <a:latin typeface="Calibri" panose="020F0502020204030204" pitchFamily="34" charset="0"/>
              <a:ea typeface="宋体" panose="02010600030101010101" pitchFamily="2" charset="-122"/>
              <a:cs typeface="Calibri" panose="020F0502020204030204" pitchFamily="34" charset="0"/>
            </a:endParaRPr>
          </a:p>
        </p:txBody>
      </p:sp>
      <p:sp>
        <p:nvSpPr>
          <p:cNvPr id="6" name="矩形 5">
            <a:extLst>
              <a:ext uri="{FF2B5EF4-FFF2-40B4-BE49-F238E27FC236}">
                <a16:creationId xmlns:a16="http://schemas.microsoft.com/office/drawing/2014/main" id="{D917CE14-800A-46AB-B826-F0356D346065}"/>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Example</a:t>
            </a:r>
          </a:p>
        </p:txBody>
      </p:sp>
    </p:spTree>
    <p:extLst>
      <p:ext uri="{BB962C8B-B14F-4D97-AF65-F5344CB8AC3E}">
        <p14:creationId xmlns:p14="http://schemas.microsoft.com/office/powerpoint/2010/main" val="390339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5699">
                                            <p:txEl>
                                              <p:pRg st="0" end="0"/>
                                            </p:txEl>
                                          </p:spTgt>
                                        </p:tgtEl>
                                        <p:attrNameLst>
                                          <p:attrName>style.visibility</p:attrName>
                                        </p:attrNameLst>
                                      </p:cBhvr>
                                      <p:to>
                                        <p:strVal val="visible"/>
                                      </p:to>
                                    </p:set>
                                    <p:animEffect transition="in" filter="blinds(horizontal)">
                                      <p:cBhvr>
                                        <p:cTn id="7" dur="500"/>
                                        <p:tgtEl>
                                          <p:spTgt spid="92569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5699">
                                            <p:txEl>
                                              <p:pRg st="1" end="1"/>
                                            </p:txEl>
                                          </p:spTgt>
                                        </p:tgtEl>
                                        <p:attrNameLst>
                                          <p:attrName>style.visibility</p:attrName>
                                        </p:attrNameLst>
                                      </p:cBhvr>
                                      <p:to>
                                        <p:strVal val="visible"/>
                                      </p:to>
                                    </p:set>
                                    <p:animEffect transition="in" filter="blinds(horizontal)">
                                      <p:cBhvr>
                                        <p:cTn id="10" dur="500"/>
                                        <p:tgtEl>
                                          <p:spTgt spid="9256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113668" name="Rectangle 3"/>
          <p:cNvSpPr>
            <a:spLocks noGrp="1" noChangeArrowheads="1"/>
          </p:cNvSpPr>
          <p:nvPr>
            <p:ph type="body" idx="1"/>
          </p:nvPr>
        </p:nvSpPr>
        <p:spPr/>
        <p:txBody>
          <a:bodyPr/>
          <a:lstStyle/>
          <a:p>
            <a:r>
              <a:rPr lang="en-US" altLang="zh-CN" dirty="0">
                <a:ea typeface="宋体" panose="02010600030101010101" pitchFamily="2" charset="-122"/>
              </a:rPr>
              <a:t>An </a:t>
            </a:r>
            <a:r>
              <a:rPr lang="en-US" altLang="zh-CN" dirty="0">
                <a:solidFill>
                  <a:schemeClr val="hlink"/>
                </a:solidFill>
                <a:ea typeface="宋体" panose="02010600030101010101" pitchFamily="2" charset="-122"/>
              </a:rPr>
              <a:t>IPv4 address</a:t>
            </a:r>
            <a:r>
              <a:rPr lang="en-US" altLang="zh-CN" dirty="0">
                <a:ea typeface="宋体" panose="02010600030101010101" pitchFamily="2" charset="-122"/>
              </a:rPr>
              <a:t> is a </a:t>
            </a:r>
            <a:r>
              <a:rPr lang="en-US" altLang="zh-CN" dirty="0">
                <a:solidFill>
                  <a:schemeClr val="folHlink"/>
                </a:solidFill>
                <a:ea typeface="宋体" panose="02010600030101010101" pitchFamily="2" charset="-122"/>
              </a:rPr>
              <a:t>32-bit</a:t>
            </a:r>
            <a:r>
              <a:rPr lang="en-US" altLang="zh-CN" dirty="0">
                <a:ea typeface="宋体" panose="02010600030101010101" pitchFamily="2" charset="-122"/>
              </a:rPr>
              <a:t> address that uniquely and universally defines the connection of a device (for example, a computer or a router) to the Internet.</a:t>
            </a:r>
          </a:p>
          <a:p>
            <a:endParaRPr lang="en-US" altLang="zh-CN" dirty="0">
              <a:ea typeface="宋体" panose="02010600030101010101" pitchFamily="2" charset="-122"/>
            </a:endParaRPr>
          </a:p>
          <a:p>
            <a:r>
              <a:rPr lang="en-US" altLang="zh-CN" dirty="0">
                <a:ea typeface="宋体" panose="02010600030101010101" pitchFamily="2" charset="-122"/>
              </a:rPr>
              <a:t>The address space of IPv4 is  2</a:t>
            </a:r>
            <a:r>
              <a:rPr lang="en-US" altLang="zh-CN" baseline="30000" dirty="0">
                <a:ea typeface="宋体" panose="02010600030101010101" pitchFamily="2" charset="-122"/>
              </a:rPr>
              <a:t>32</a:t>
            </a:r>
            <a:r>
              <a:rPr lang="en-US" altLang="zh-CN" dirty="0">
                <a:ea typeface="宋体" panose="02010600030101010101" pitchFamily="2" charset="-122"/>
              </a:rPr>
              <a:t>  or  4,294,967,296.</a:t>
            </a:r>
          </a:p>
          <a:p>
            <a:endParaRPr lang="en-US" altLang="zh-CN" dirty="0">
              <a:ea typeface="宋体" panose="02010600030101010101" pitchFamily="2" charset="-122"/>
            </a:endParaRPr>
          </a:p>
          <a:p>
            <a:endParaRPr lang="zh-CN" altLang="en-US" dirty="0">
              <a:ea typeface="宋体" panose="02010600030101010101" pitchFamily="2" charset="-122"/>
            </a:endParaRPr>
          </a:p>
        </p:txBody>
      </p:sp>
      <p:sp>
        <p:nvSpPr>
          <p:cNvPr id="5" name="矩形 4">
            <a:extLst>
              <a:ext uri="{FF2B5EF4-FFF2-40B4-BE49-F238E27FC236}">
                <a16:creationId xmlns:a16="http://schemas.microsoft.com/office/drawing/2014/main" id="{53C91262-1B3A-4FE6-B643-60BB66F951AB}"/>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IPv4 Addresses</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176443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1146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1326" y="2317750"/>
            <a:ext cx="9006575"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a:extLst>
              <a:ext uri="{FF2B5EF4-FFF2-40B4-BE49-F238E27FC236}">
                <a16:creationId xmlns:a16="http://schemas.microsoft.com/office/drawing/2014/main" id="{D06D3366-28E7-42A5-9225-46C8995A9864}"/>
              </a:ext>
            </a:extLst>
          </p:cNvPr>
          <p:cNvSpPr/>
          <p:nvPr/>
        </p:nvSpPr>
        <p:spPr>
          <a:xfrm>
            <a:off x="158750" y="276094"/>
            <a:ext cx="12033251"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Dotted-decimal Notation and Binary notation for an IPv4 address</a:t>
            </a:r>
          </a:p>
        </p:txBody>
      </p:sp>
    </p:spTree>
    <p:extLst>
      <p:ext uri="{BB962C8B-B14F-4D97-AF65-F5344CB8AC3E}">
        <p14:creationId xmlns:p14="http://schemas.microsoft.com/office/powerpoint/2010/main" val="71740241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20835" name="Rectangle 2"/>
          <p:cNvSpPr>
            <a:spLocks noChangeArrowheads="1"/>
          </p:cNvSpPr>
          <p:nvPr/>
        </p:nvSpPr>
        <p:spPr bwMode="auto">
          <a:xfrm>
            <a:off x="1752600" y="990601"/>
            <a:ext cx="86868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a:latin typeface="Calibri" panose="020F0502020204030204" pitchFamily="34" charset="0"/>
                <a:ea typeface="宋体" panose="02010600030101010101" pitchFamily="2" charset="-122"/>
                <a:cs typeface="Calibri" panose="020F0502020204030204" pitchFamily="34" charset="0"/>
              </a:rPr>
              <a:t>Find the error, if any, in the following IPv4 addresses.</a:t>
            </a:r>
          </a:p>
        </p:txBody>
      </p:sp>
      <p:pic>
        <p:nvPicPr>
          <p:cNvPr id="1208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8164" y="1447801"/>
            <a:ext cx="3602037" cy="207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19205" name="Rectangle 5"/>
          <p:cNvSpPr>
            <a:spLocks noChangeArrowheads="1"/>
          </p:cNvSpPr>
          <p:nvPr/>
        </p:nvSpPr>
        <p:spPr bwMode="auto">
          <a:xfrm>
            <a:off x="1828800" y="3657600"/>
            <a:ext cx="8686800" cy="230832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b="1" i="1">
                <a:solidFill>
                  <a:schemeClr val="hlink"/>
                </a:solidFill>
                <a:latin typeface="Calibri" panose="020F0502020204030204" pitchFamily="34" charset="0"/>
                <a:ea typeface="宋体" panose="02010600030101010101" pitchFamily="2" charset="-122"/>
                <a:cs typeface="Calibri" panose="020F0502020204030204" pitchFamily="34" charset="0"/>
              </a:rPr>
              <a:t>Solution</a:t>
            </a:r>
          </a:p>
          <a:p>
            <a:pPr>
              <a:spcBef>
                <a:spcPct val="0"/>
              </a:spcBef>
              <a:buClrTx/>
              <a:buFontTx/>
              <a:buNone/>
            </a:pPr>
            <a:r>
              <a:rPr lang="en-US" altLang="zh-CN" b="1" i="1">
                <a:solidFill>
                  <a:schemeClr val="hlink"/>
                </a:solidFill>
                <a:latin typeface="Calibri" panose="020F0502020204030204" pitchFamily="34" charset="0"/>
                <a:ea typeface="宋体" panose="02010600030101010101" pitchFamily="2" charset="-122"/>
                <a:cs typeface="Calibri" panose="020F0502020204030204" pitchFamily="34" charset="0"/>
              </a:rPr>
              <a:t>a.</a:t>
            </a:r>
            <a:r>
              <a:rPr lang="en-US" altLang="zh-CN" b="1" i="1">
                <a:latin typeface="Calibri" panose="020F0502020204030204" pitchFamily="34" charset="0"/>
                <a:ea typeface="宋体" panose="02010600030101010101" pitchFamily="2" charset="-122"/>
                <a:cs typeface="Calibri" panose="020F0502020204030204" pitchFamily="34" charset="0"/>
              </a:rPr>
              <a:t> There must be no leading zero (045).</a:t>
            </a:r>
          </a:p>
          <a:p>
            <a:pPr>
              <a:spcBef>
                <a:spcPct val="0"/>
              </a:spcBef>
              <a:buClrTx/>
              <a:buFontTx/>
              <a:buNone/>
            </a:pPr>
            <a:r>
              <a:rPr lang="en-US" altLang="zh-CN" b="1" i="1">
                <a:solidFill>
                  <a:schemeClr val="hlink"/>
                </a:solidFill>
                <a:latin typeface="Calibri" panose="020F0502020204030204" pitchFamily="34" charset="0"/>
                <a:ea typeface="宋体" panose="02010600030101010101" pitchFamily="2" charset="-122"/>
                <a:cs typeface="Calibri" panose="020F0502020204030204" pitchFamily="34" charset="0"/>
              </a:rPr>
              <a:t>b.</a:t>
            </a:r>
            <a:r>
              <a:rPr lang="en-US" altLang="zh-CN" b="1" i="1">
                <a:latin typeface="Calibri" panose="020F0502020204030204" pitchFamily="34" charset="0"/>
                <a:ea typeface="宋体" panose="02010600030101010101" pitchFamily="2" charset="-122"/>
                <a:cs typeface="Calibri" panose="020F0502020204030204" pitchFamily="34" charset="0"/>
              </a:rPr>
              <a:t> There can be no more than four bytes in IP address.</a:t>
            </a:r>
          </a:p>
          <a:p>
            <a:pPr>
              <a:spcBef>
                <a:spcPct val="0"/>
              </a:spcBef>
              <a:buClrTx/>
              <a:buFontTx/>
              <a:buNone/>
            </a:pPr>
            <a:r>
              <a:rPr lang="en-US" altLang="zh-CN" b="1" i="1">
                <a:solidFill>
                  <a:schemeClr val="hlink"/>
                </a:solidFill>
                <a:latin typeface="Calibri" panose="020F0502020204030204" pitchFamily="34" charset="0"/>
                <a:ea typeface="宋体" panose="02010600030101010101" pitchFamily="2" charset="-122"/>
                <a:cs typeface="Calibri" panose="020F0502020204030204" pitchFamily="34" charset="0"/>
              </a:rPr>
              <a:t>c.</a:t>
            </a:r>
            <a:r>
              <a:rPr lang="en-US" altLang="zh-CN" b="1" i="1">
                <a:latin typeface="Calibri" panose="020F0502020204030204" pitchFamily="34" charset="0"/>
                <a:ea typeface="宋体" panose="02010600030101010101" pitchFamily="2" charset="-122"/>
                <a:cs typeface="Calibri" panose="020F0502020204030204" pitchFamily="34" charset="0"/>
              </a:rPr>
              <a:t> Each number needs to be less than or equal to 255.</a:t>
            </a:r>
          </a:p>
          <a:p>
            <a:pPr>
              <a:spcBef>
                <a:spcPct val="0"/>
              </a:spcBef>
              <a:buClrTx/>
              <a:buFontTx/>
              <a:buNone/>
            </a:pPr>
            <a:r>
              <a:rPr lang="en-US" altLang="zh-CN" b="1" i="1">
                <a:solidFill>
                  <a:schemeClr val="hlink"/>
                </a:solidFill>
                <a:latin typeface="Calibri" panose="020F0502020204030204" pitchFamily="34" charset="0"/>
                <a:ea typeface="宋体" panose="02010600030101010101" pitchFamily="2" charset="-122"/>
                <a:cs typeface="Calibri" panose="020F0502020204030204" pitchFamily="34" charset="0"/>
              </a:rPr>
              <a:t>d.</a:t>
            </a:r>
            <a:r>
              <a:rPr lang="en-US" altLang="zh-CN" b="1" i="1">
                <a:latin typeface="Calibri" panose="020F0502020204030204" pitchFamily="34" charset="0"/>
                <a:ea typeface="宋体" panose="02010600030101010101" pitchFamily="2" charset="-122"/>
                <a:cs typeface="Calibri" panose="020F0502020204030204" pitchFamily="34" charset="0"/>
              </a:rPr>
              <a:t> A mixture of binary notation and dotted-decimal</a:t>
            </a:r>
            <a:br>
              <a:rPr lang="en-US" altLang="zh-CN" b="1" i="1">
                <a:latin typeface="Calibri" panose="020F0502020204030204" pitchFamily="34" charset="0"/>
                <a:ea typeface="宋体" panose="02010600030101010101" pitchFamily="2" charset="-122"/>
                <a:cs typeface="Calibri" panose="020F0502020204030204" pitchFamily="34" charset="0"/>
              </a:rPr>
            </a:br>
            <a:r>
              <a:rPr lang="en-US" altLang="zh-CN" b="1" i="1">
                <a:latin typeface="Calibri" panose="020F0502020204030204" pitchFamily="34" charset="0"/>
                <a:ea typeface="宋体" panose="02010600030101010101" pitchFamily="2" charset="-122"/>
                <a:cs typeface="Calibri" panose="020F0502020204030204" pitchFamily="34" charset="0"/>
              </a:rPr>
              <a:t>    notation is not allowed.</a:t>
            </a:r>
          </a:p>
        </p:txBody>
      </p:sp>
      <p:sp>
        <p:nvSpPr>
          <p:cNvPr id="7" name="矩形 6">
            <a:extLst>
              <a:ext uri="{FF2B5EF4-FFF2-40B4-BE49-F238E27FC236}">
                <a16:creationId xmlns:a16="http://schemas.microsoft.com/office/drawing/2014/main" id="{9DD8AB19-A8B1-4B16-AAB6-E8E9C6D2949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Example</a:t>
            </a:r>
          </a:p>
        </p:txBody>
      </p:sp>
    </p:spTree>
    <p:extLst>
      <p:ext uri="{BB962C8B-B14F-4D97-AF65-F5344CB8AC3E}">
        <p14:creationId xmlns:p14="http://schemas.microsoft.com/office/powerpoint/2010/main" val="8444815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205"/>
                                        </p:tgtEl>
                                        <p:attrNameLst>
                                          <p:attrName>style.visibility</p:attrName>
                                        </p:attrNameLst>
                                      </p:cBhvr>
                                      <p:to>
                                        <p:strVal val="visible"/>
                                      </p:to>
                                    </p:set>
                                    <p:animEffect transition="in" filter="blinds(horizontal)">
                                      <p:cBhvr>
                                        <p:cTn id="7" dur="500"/>
                                        <p:tgtEl>
                                          <p:spTgt spid="819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5"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22884" name="Rectangle 3"/>
          <p:cNvSpPr>
            <a:spLocks noGrp="1" noChangeArrowheads="1"/>
          </p:cNvSpPr>
          <p:nvPr>
            <p:ph idx="1"/>
          </p:nvPr>
        </p:nvSpPr>
        <p:spPr>
          <a:xfrm>
            <a:off x="1562101" y="1103315"/>
            <a:ext cx="9531349" cy="1989136"/>
          </a:xfrm>
        </p:spPr>
        <p:txBody>
          <a:bodyPr>
            <a:normAutofit/>
          </a:bodyPr>
          <a:lstStyle/>
          <a:p>
            <a:r>
              <a:rPr lang="en-US" altLang="zh-CN" sz="3200" dirty="0">
                <a:ea typeface="宋体" panose="02010600030101010101" pitchFamily="2" charset="-122"/>
              </a:rPr>
              <a:t>Addresses are allocated in blocks called </a:t>
            </a:r>
            <a:r>
              <a:rPr lang="en-US" altLang="zh-CN" sz="3200" u="sng" dirty="0">
                <a:ea typeface="宋体" panose="02010600030101010101" pitchFamily="2" charset="-122"/>
              </a:rPr>
              <a:t>prefixes</a:t>
            </a:r>
          </a:p>
          <a:p>
            <a:pPr lvl="1"/>
            <a:r>
              <a:rPr lang="en-US" altLang="zh-CN" sz="2800" dirty="0">
                <a:ea typeface="宋体" panose="02010600030101010101" pitchFamily="2" charset="-122"/>
              </a:rPr>
              <a:t>Prefix is determined by the network portion</a:t>
            </a:r>
          </a:p>
          <a:p>
            <a:pPr lvl="1"/>
            <a:r>
              <a:rPr lang="en-US" altLang="zh-CN" sz="2800" dirty="0">
                <a:ea typeface="宋体" panose="02010600030101010101" pitchFamily="2" charset="-122"/>
              </a:rPr>
              <a:t>Has 2</a:t>
            </a:r>
            <a:r>
              <a:rPr lang="en-US" altLang="zh-CN" sz="2800" baseline="30000" dirty="0">
                <a:ea typeface="宋体" panose="02010600030101010101" pitchFamily="2" charset="-122"/>
              </a:rPr>
              <a:t>L</a:t>
            </a:r>
            <a:r>
              <a:rPr lang="en-US" altLang="zh-CN" sz="2800" dirty="0">
                <a:ea typeface="宋体" panose="02010600030101010101" pitchFamily="2" charset="-122"/>
              </a:rPr>
              <a:t> addresses aligned on 2</a:t>
            </a:r>
            <a:r>
              <a:rPr lang="en-US" altLang="zh-CN" sz="2800" baseline="30000" dirty="0">
                <a:ea typeface="宋体" panose="02010600030101010101" pitchFamily="2" charset="-122"/>
              </a:rPr>
              <a:t>L</a:t>
            </a:r>
            <a:r>
              <a:rPr lang="en-US" altLang="zh-CN" sz="2800" dirty="0">
                <a:ea typeface="宋体" panose="02010600030101010101" pitchFamily="2" charset="-122"/>
              </a:rPr>
              <a:t> boundary</a:t>
            </a:r>
          </a:p>
          <a:p>
            <a:pPr lvl="1"/>
            <a:r>
              <a:rPr lang="en-US" altLang="zh-CN" sz="2800" dirty="0">
                <a:ea typeface="宋体" panose="02010600030101010101" pitchFamily="2" charset="-122"/>
              </a:rPr>
              <a:t>Written address/length, e.g., 18.0.31.0/24</a:t>
            </a:r>
          </a:p>
        </p:txBody>
      </p:sp>
      <p:pic>
        <p:nvPicPr>
          <p:cNvPr id="12288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0816" y="3268664"/>
            <a:ext cx="9069395" cy="2693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C2954300-0B7A-4452-94DF-1DC00E9529DC}"/>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Hierarchy in IP Addresses</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9118936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260" y="1295401"/>
            <a:ext cx="5619750"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299" y="3784600"/>
            <a:ext cx="46704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9299" y="5689600"/>
            <a:ext cx="4670425"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9260" y="4676776"/>
            <a:ext cx="1333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24648" y="2057400"/>
            <a:ext cx="24384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eft Arrow Callout 4"/>
          <p:cNvSpPr/>
          <p:nvPr/>
        </p:nvSpPr>
        <p:spPr bwMode="auto">
          <a:xfrm>
            <a:off x="6879816" y="5314652"/>
            <a:ext cx="2133600" cy="1048190"/>
          </a:xfrm>
          <a:prstGeom prst="leftArrowCallo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a:defRPr/>
            </a:pPr>
            <a:r>
              <a:rPr lang="en-US" sz="2000" dirty="0">
                <a:ln w="12700">
                  <a:solidFill>
                    <a:schemeClr val="tx2">
                      <a:satMod val="155000"/>
                    </a:schemeClr>
                  </a:solidFill>
                  <a:prstDash val="solid"/>
                </a:ln>
                <a:solidFill>
                  <a:srgbClr val="FF0000"/>
                </a:solidFill>
                <a:latin typeface="Arial" pitchFamily="34" charset="0"/>
                <a:cs typeface="Arial" pitchFamily="34" charset="0"/>
              </a:rPr>
              <a:t>Set all suffix bits</a:t>
            </a:r>
          </a:p>
          <a:p>
            <a:pPr>
              <a:defRPr/>
            </a:pPr>
            <a:r>
              <a:rPr lang="en-US" sz="2000" dirty="0">
                <a:ln w="12700">
                  <a:solidFill>
                    <a:schemeClr val="tx2">
                      <a:satMod val="155000"/>
                    </a:schemeClr>
                  </a:solidFill>
                  <a:prstDash val="solid"/>
                </a:ln>
                <a:solidFill>
                  <a:srgbClr val="FF0000"/>
                </a:solidFill>
                <a:latin typeface="Arial" pitchFamily="34" charset="0"/>
                <a:cs typeface="Arial" pitchFamily="34" charset="0"/>
              </a:rPr>
              <a:t>to 1s</a:t>
            </a:r>
          </a:p>
        </p:txBody>
      </p:sp>
      <p:sp>
        <p:nvSpPr>
          <p:cNvPr id="11" name="Left Arrow Callout 22"/>
          <p:cNvSpPr/>
          <p:nvPr/>
        </p:nvSpPr>
        <p:spPr bwMode="auto">
          <a:xfrm>
            <a:off x="6914985" y="3422992"/>
            <a:ext cx="2133600" cy="1048190"/>
          </a:xfrm>
          <a:prstGeom prst="leftArrowCallou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a:defRPr/>
            </a:pPr>
            <a:r>
              <a:rPr lang="en-US" sz="2000" dirty="0">
                <a:ln w="12700">
                  <a:solidFill>
                    <a:schemeClr val="tx2">
                      <a:satMod val="155000"/>
                    </a:schemeClr>
                  </a:solidFill>
                  <a:prstDash val="solid"/>
                </a:ln>
                <a:solidFill>
                  <a:srgbClr val="FF0000"/>
                </a:solidFill>
                <a:latin typeface="Arial" pitchFamily="34" charset="0"/>
                <a:cs typeface="Arial" pitchFamily="34" charset="0"/>
              </a:rPr>
              <a:t>Set all suffix bits</a:t>
            </a:r>
          </a:p>
          <a:p>
            <a:pPr>
              <a:defRPr/>
            </a:pPr>
            <a:r>
              <a:rPr lang="en-US" sz="2000" dirty="0">
                <a:ln w="12700">
                  <a:solidFill>
                    <a:schemeClr val="tx2">
                      <a:satMod val="155000"/>
                    </a:schemeClr>
                  </a:solidFill>
                  <a:prstDash val="solid"/>
                </a:ln>
                <a:solidFill>
                  <a:srgbClr val="FF0000"/>
                </a:solidFill>
                <a:latin typeface="Arial" pitchFamily="34" charset="0"/>
                <a:cs typeface="Arial" pitchFamily="34" charset="0"/>
              </a:rPr>
              <a:t>to 0s</a:t>
            </a:r>
          </a:p>
        </p:txBody>
      </p:sp>
      <p:sp>
        <p:nvSpPr>
          <p:cNvPr id="12" name="矩形 11">
            <a:extLst>
              <a:ext uri="{FF2B5EF4-FFF2-40B4-BE49-F238E27FC236}">
                <a16:creationId xmlns:a16="http://schemas.microsoft.com/office/drawing/2014/main" id="{EAB9F776-74AF-4467-83B5-1EEA8C9BFA7C}"/>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Information extraction in classless addressing</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638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1402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351" y="1974850"/>
            <a:ext cx="9624716"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60EDCE3D-B315-4B18-A13A-DA7EDE7A989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A network configuration for the block 205.16.37.32/28</a:t>
            </a:r>
          </a:p>
        </p:txBody>
      </p:sp>
    </p:spTree>
    <p:extLst>
      <p:ext uri="{BB962C8B-B14F-4D97-AF65-F5344CB8AC3E}">
        <p14:creationId xmlns:p14="http://schemas.microsoft.com/office/powerpoint/2010/main" val="205916800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692150" y="1087437"/>
            <a:ext cx="10515600" cy="2193924"/>
          </a:xfrm>
        </p:spPr>
        <p:txBody>
          <a:bodyPr/>
          <a:lstStyle/>
          <a:p>
            <a:r>
              <a:rPr lang="en-US" altLang="zh-CN" dirty="0">
                <a:ea typeface="宋体" panose="02010600030101010101" pitchFamily="2" charset="-122"/>
              </a:rPr>
              <a:t>In classless addressing, an address cannot per se define the block the address belongs to. </a:t>
            </a:r>
          </a:p>
          <a:p>
            <a:r>
              <a:rPr lang="en-US" altLang="zh-CN" dirty="0">
                <a:ea typeface="宋体" panose="02010600030101010101" pitchFamily="2" charset="-122"/>
              </a:rPr>
              <a:t>For example, the address 230.8.24.56 can belong to many blocks. Some of them are shown below with the value of the prefix associated with that block.</a:t>
            </a:r>
          </a:p>
          <a:p>
            <a:endParaRPr lang="zh-CN" altLang="en-US" dirty="0"/>
          </a:p>
        </p:txBody>
      </p:sp>
      <p:sp>
        <p:nvSpPr>
          <p:cNvPr id="2" name="页脚占位符 1"/>
          <p:cNvSpPr>
            <a:spLocks noGrp="1"/>
          </p:cNvSpPr>
          <p:nvPr>
            <p:ph type="ftr" sz="quarter" idx="11"/>
          </p:nvPr>
        </p:nvSpPr>
        <p:spPr/>
        <p:txBody>
          <a:bodyPr/>
          <a:lstStyle/>
          <a:p>
            <a:pPr>
              <a:defRPr/>
            </a:pPr>
            <a:r>
              <a:rPr lang="en-US" altLang="zh-CN"/>
              <a:t>Computer Networks, Chapter 5 The Network Layer</a:t>
            </a:r>
          </a:p>
        </p:txBody>
      </p:sp>
      <p:grpSp>
        <p:nvGrpSpPr>
          <p:cNvPr id="7" name="Group 1"/>
          <p:cNvGrpSpPr>
            <a:grpSpLocks/>
          </p:cNvGrpSpPr>
          <p:nvPr/>
        </p:nvGrpSpPr>
        <p:grpSpPr bwMode="auto">
          <a:xfrm>
            <a:off x="1288256" y="3576640"/>
            <a:ext cx="9615487" cy="2290762"/>
            <a:chOff x="152400" y="3200399"/>
            <a:chExt cx="8778240" cy="2194561"/>
          </a:xfrm>
        </p:grpSpPr>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1" y="3200399"/>
              <a:ext cx="8686800" cy="2145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a:spLocks noChangeArrowheads="1"/>
            </p:cNvSpPr>
            <p:nvPr/>
          </p:nvSpPr>
          <p:spPr bwMode="auto">
            <a:xfrm>
              <a:off x="152400" y="3200400"/>
              <a:ext cx="8778240" cy="2194560"/>
            </a:xfrm>
            <a:prstGeom prst="rect">
              <a:avLst/>
            </a:prstGeom>
            <a:noFill/>
            <a:ln w="5715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i="1">
                  <a:solidFill>
                    <a:schemeClr val="tx1"/>
                  </a:solidFill>
                  <a:latin typeface="Baby Kruffy"/>
                </a:defRPr>
              </a:lvl1pPr>
              <a:lvl2pPr marL="742950" indent="-285750">
                <a:defRPr sz="3200" b="1" i="1">
                  <a:solidFill>
                    <a:schemeClr val="tx1"/>
                  </a:solidFill>
                  <a:latin typeface="Baby Kruffy"/>
                </a:defRPr>
              </a:lvl2pPr>
              <a:lvl3pPr marL="1143000" indent="-228600">
                <a:defRPr sz="3200" b="1" i="1">
                  <a:solidFill>
                    <a:schemeClr val="tx1"/>
                  </a:solidFill>
                  <a:latin typeface="Baby Kruffy"/>
                </a:defRPr>
              </a:lvl3pPr>
              <a:lvl4pPr marL="1600200" indent="-228600">
                <a:defRPr sz="3200" b="1" i="1">
                  <a:solidFill>
                    <a:schemeClr val="tx1"/>
                  </a:solidFill>
                  <a:latin typeface="Baby Kruffy"/>
                </a:defRPr>
              </a:lvl4pPr>
              <a:lvl5pPr marL="2057400" indent="-22860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endParaRPr lang="zh-CN" altLang="zh-CN">
                <a:ea typeface="宋体" panose="02010600030101010101" pitchFamily="2" charset="-122"/>
              </a:endParaRPr>
            </a:p>
          </p:txBody>
        </p:sp>
      </p:grpSp>
      <p:sp>
        <p:nvSpPr>
          <p:cNvPr id="10" name="矩形 9">
            <a:extLst>
              <a:ext uri="{FF2B5EF4-FFF2-40B4-BE49-F238E27FC236}">
                <a16:creationId xmlns:a16="http://schemas.microsoft.com/office/drawing/2014/main" id="{2BA66539-00CF-4483-A912-138DA8A6BF27}"/>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Which address block does an IP address belong to?</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52083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75108" name="Rectangle 3"/>
          <p:cNvSpPr>
            <a:spLocks noGrp="1" noChangeArrowheads="1"/>
          </p:cNvSpPr>
          <p:nvPr>
            <p:ph idx="1"/>
          </p:nvPr>
        </p:nvSpPr>
        <p:spPr>
          <a:xfrm>
            <a:off x="1301751" y="998544"/>
            <a:ext cx="10483849" cy="1519238"/>
          </a:xfrm>
        </p:spPr>
        <p:txBody>
          <a:bodyPr>
            <a:normAutofit/>
          </a:bodyPr>
          <a:lstStyle/>
          <a:p>
            <a:r>
              <a:rPr lang="en-US" altLang="zh-CN" sz="3200" dirty="0">
                <a:ea typeface="宋体" panose="02010600030101010101" pitchFamily="2" charset="-122"/>
              </a:rPr>
              <a:t>Old addresses came in blocks of fixed size (A, B, C)</a:t>
            </a:r>
          </a:p>
          <a:p>
            <a:pPr lvl="1"/>
            <a:r>
              <a:rPr lang="en-US" altLang="zh-CN" sz="2800" dirty="0">
                <a:ea typeface="宋体" panose="02010600030101010101" pitchFamily="2" charset="-122"/>
              </a:rPr>
              <a:t>Carries size as part of address, but lacks flexibility</a:t>
            </a:r>
          </a:p>
          <a:p>
            <a:pPr lvl="1"/>
            <a:r>
              <a:rPr lang="en-US" altLang="zh-CN" sz="2800" dirty="0">
                <a:ea typeface="宋体" panose="02010600030101010101" pitchFamily="2" charset="-122"/>
              </a:rPr>
              <a:t>Called classful (vs. classless) addressing</a:t>
            </a:r>
          </a:p>
        </p:txBody>
      </p:sp>
      <p:pic>
        <p:nvPicPr>
          <p:cNvPr id="175109"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98550" y="2445764"/>
            <a:ext cx="7454900" cy="3788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CF895583-0F88-4B05-B9DD-B07267E556B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Classful Addressing</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6B8F59FD-8974-4657-B67D-E0946B846712}"/>
              </a:ext>
            </a:extLst>
          </p:cNvPr>
          <p:cNvSpPr txBox="1"/>
          <p:nvPr/>
        </p:nvSpPr>
        <p:spPr>
          <a:xfrm>
            <a:off x="8445500" y="3508321"/>
            <a:ext cx="3683000" cy="615553"/>
          </a:xfrm>
          <a:prstGeom prst="rect">
            <a:avLst/>
          </a:prstGeom>
          <a:noFill/>
        </p:spPr>
        <p:txBody>
          <a:bodyPr wrap="square">
            <a:spAutoFit/>
          </a:bodyPr>
          <a:lstStyle/>
          <a:p>
            <a:r>
              <a:rPr lang="zh-CN" altLang="en-US" sz="1600" b="0" i="0" dirty="0">
                <a:solidFill>
                  <a:srgbClr val="4D4D4D"/>
                </a:solidFill>
                <a:effectLst/>
                <a:latin typeface="-apple-system"/>
              </a:rPr>
              <a:t>每个</a:t>
            </a:r>
            <a:r>
              <a:rPr lang="en-US" altLang="zh-CN" sz="1600" b="0" i="0" dirty="0">
                <a:solidFill>
                  <a:srgbClr val="4D4D4D"/>
                </a:solidFill>
                <a:effectLst/>
                <a:latin typeface="-apple-system"/>
              </a:rPr>
              <a:t>A</a:t>
            </a:r>
            <a:r>
              <a:rPr lang="zh-CN" altLang="en-US" sz="1600" b="0" i="0" dirty="0">
                <a:solidFill>
                  <a:srgbClr val="4D4D4D"/>
                </a:solidFill>
                <a:effectLst/>
                <a:latin typeface="-apple-system"/>
              </a:rPr>
              <a:t>类网络最多可以容纳</a:t>
            </a:r>
            <a:r>
              <a:rPr lang="en-US" altLang="zh-CN" sz="1600" b="0" i="0" dirty="0">
                <a:solidFill>
                  <a:srgbClr val="4D4D4D"/>
                </a:solidFill>
                <a:effectLst/>
                <a:latin typeface="-apple-system"/>
              </a:rPr>
              <a:t>1677214</a:t>
            </a:r>
            <a:r>
              <a:rPr lang="zh-CN" altLang="en-US" sz="1600" b="0" i="0" dirty="0">
                <a:solidFill>
                  <a:srgbClr val="4D4D4D"/>
                </a:solidFill>
                <a:effectLst/>
                <a:latin typeface="-apple-system"/>
              </a:rPr>
              <a:t>台主机</a:t>
            </a:r>
            <a:r>
              <a:rPr lang="zh-CN" altLang="en-US" sz="1600" b="1" i="0" dirty="0">
                <a:solidFill>
                  <a:srgbClr val="4D4D4D"/>
                </a:solidFill>
                <a:effectLst/>
                <a:latin typeface="-apple-system"/>
              </a:rPr>
              <a:t>（</a:t>
            </a:r>
            <a:r>
              <a:rPr lang="en-US" altLang="zh-CN" sz="1100" b="0" i="0" dirty="0">
                <a:solidFill>
                  <a:srgbClr val="4D4D4D"/>
                </a:solidFill>
                <a:effectLst/>
                <a:latin typeface="-apple-system"/>
              </a:rPr>
              <a:t> </a:t>
            </a:r>
            <a:r>
              <a:rPr lang="en-US" altLang="zh-CN" b="0" i="0" dirty="0">
                <a:solidFill>
                  <a:srgbClr val="4D4D4D"/>
                </a:solidFill>
                <a:effectLst/>
                <a:latin typeface="-apple-system"/>
              </a:rPr>
              <a:t>2^24 </a:t>
            </a:r>
            <a:r>
              <a:rPr lang="en-US" altLang="zh-CN" b="1" i="0" dirty="0">
                <a:solidFill>
                  <a:srgbClr val="4D4D4D"/>
                </a:solidFill>
                <a:effectLst/>
                <a:latin typeface="-apple-system"/>
              </a:rPr>
              <a:t>-2</a:t>
            </a:r>
            <a:r>
              <a:rPr lang="zh-CN" altLang="en-US" sz="1600" b="1" i="0" dirty="0">
                <a:solidFill>
                  <a:srgbClr val="4D4D4D"/>
                </a:solidFill>
                <a:effectLst/>
                <a:latin typeface="-apple-system"/>
              </a:rPr>
              <a:t>）</a:t>
            </a:r>
            <a:endParaRPr lang="zh-CN" altLang="en-US" sz="1600" b="1" dirty="0"/>
          </a:p>
        </p:txBody>
      </p:sp>
      <p:sp>
        <p:nvSpPr>
          <p:cNvPr id="9" name="文本框 8">
            <a:extLst>
              <a:ext uri="{FF2B5EF4-FFF2-40B4-BE49-F238E27FC236}">
                <a16:creationId xmlns:a16="http://schemas.microsoft.com/office/drawing/2014/main" id="{3AE995D5-4F15-4975-864C-E5CC224F5D16}"/>
              </a:ext>
            </a:extLst>
          </p:cNvPr>
          <p:cNvSpPr txBox="1"/>
          <p:nvPr/>
        </p:nvSpPr>
        <p:spPr>
          <a:xfrm>
            <a:off x="8445500" y="4150024"/>
            <a:ext cx="3683000" cy="615553"/>
          </a:xfrm>
          <a:prstGeom prst="rect">
            <a:avLst/>
          </a:prstGeom>
          <a:noFill/>
        </p:spPr>
        <p:txBody>
          <a:bodyPr wrap="square">
            <a:spAutoFit/>
          </a:bodyPr>
          <a:lstStyle/>
          <a:p>
            <a:r>
              <a:rPr lang="zh-CN" altLang="en-US" sz="1600" b="0" i="0" dirty="0">
                <a:solidFill>
                  <a:srgbClr val="4D4D4D"/>
                </a:solidFill>
                <a:effectLst/>
                <a:latin typeface="-apple-system"/>
              </a:rPr>
              <a:t>每个</a:t>
            </a:r>
            <a:r>
              <a:rPr lang="en-US" altLang="zh-CN" sz="1600" b="0" i="0" dirty="0">
                <a:solidFill>
                  <a:srgbClr val="4D4D4D"/>
                </a:solidFill>
                <a:effectLst/>
                <a:latin typeface="-apple-system"/>
              </a:rPr>
              <a:t>B</a:t>
            </a:r>
            <a:r>
              <a:rPr lang="zh-CN" altLang="en-US" sz="1600" b="0" i="0" dirty="0">
                <a:solidFill>
                  <a:srgbClr val="4D4D4D"/>
                </a:solidFill>
                <a:effectLst/>
                <a:latin typeface="-apple-system"/>
              </a:rPr>
              <a:t>类网络最多可以容纳</a:t>
            </a:r>
            <a:r>
              <a:rPr lang="en-US" altLang="zh-CN" sz="1600" b="0" i="0" dirty="0">
                <a:solidFill>
                  <a:srgbClr val="4D4D4D"/>
                </a:solidFill>
                <a:effectLst/>
                <a:latin typeface="-apple-system"/>
              </a:rPr>
              <a:t>65534</a:t>
            </a:r>
            <a:r>
              <a:rPr lang="zh-CN" altLang="en-US" sz="1600" b="0" i="0" dirty="0">
                <a:solidFill>
                  <a:srgbClr val="4D4D4D"/>
                </a:solidFill>
                <a:effectLst/>
                <a:latin typeface="-apple-system"/>
              </a:rPr>
              <a:t>台主机</a:t>
            </a:r>
            <a:r>
              <a:rPr lang="zh-CN" altLang="en-US" sz="1600" b="1" i="0" dirty="0">
                <a:solidFill>
                  <a:srgbClr val="4D4D4D"/>
                </a:solidFill>
                <a:effectLst/>
                <a:latin typeface="-apple-system"/>
              </a:rPr>
              <a:t>（</a:t>
            </a:r>
            <a:r>
              <a:rPr lang="en-US" altLang="zh-CN" sz="1100" b="0" i="0" dirty="0">
                <a:solidFill>
                  <a:srgbClr val="4D4D4D"/>
                </a:solidFill>
                <a:effectLst/>
                <a:latin typeface="-apple-system"/>
              </a:rPr>
              <a:t> </a:t>
            </a:r>
            <a:r>
              <a:rPr lang="en-US" altLang="zh-CN" b="0" i="0" dirty="0">
                <a:solidFill>
                  <a:srgbClr val="4D4D4D"/>
                </a:solidFill>
                <a:effectLst/>
                <a:latin typeface="-apple-system"/>
              </a:rPr>
              <a:t>2^16 </a:t>
            </a:r>
            <a:r>
              <a:rPr lang="en-US" altLang="zh-CN" b="1" i="0" dirty="0">
                <a:solidFill>
                  <a:srgbClr val="4D4D4D"/>
                </a:solidFill>
                <a:effectLst/>
                <a:latin typeface="-apple-system"/>
              </a:rPr>
              <a:t>-2</a:t>
            </a:r>
            <a:r>
              <a:rPr lang="zh-CN" altLang="en-US" sz="1600" b="1" i="0" dirty="0">
                <a:solidFill>
                  <a:srgbClr val="4D4D4D"/>
                </a:solidFill>
                <a:effectLst/>
                <a:latin typeface="-apple-system"/>
              </a:rPr>
              <a:t>）</a:t>
            </a:r>
            <a:endParaRPr lang="zh-CN" altLang="en-US" sz="1600" b="1" dirty="0"/>
          </a:p>
        </p:txBody>
      </p:sp>
      <p:sp>
        <p:nvSpPr>
          <p:cNvPr id="10" name="文本框 9">
            <a:extLst>
              <a:ext uri="{FF2B5EF4-FFF2-40B4-BE49-F238E27FC236}">
                <a16:creationId xmlns:a16="http://schemas.microsoft.com/office/drawing/2014/main" id="{43EFD494-023D-4A41-90A6-567B9763E537}"/>
              </a:ext>
            </a:extLst>
          </p:cNvPr>
          <p:cNvSpPr txBox="1"/>
          <p:nvPr/>
        </p:nvSpPr>
        <p:spPr>
          <a:xfrm>
            <a:off x="8445500" y="4728227"/>
            <a:ext cx="3683000" cy="615553"/>
          </a:xfrm>
          <a:prstGeom prst="rect">
            <a:avLst/>
          </a:prstGeom>
          <a:noFill/>
        </p:spPr>
        <p:txBody>
          <a:bodyPr wrap="square">
            <a:spAutoFit/>
          </a:bodyPr>
          <a:lstStyle/>
          <a:p>
            <a:r>
              <a:rPr lang="zh-CN" altLang="en-US" sz="1600" b="0" i="0" dirty="0">
                <a:solidFill>
                  <a:srgbClr val="4D4D4D"/>
                </a:solidFill>
                <a:effectLst/>
                <a:latin typeface="-apple-system"/>
              </a:rPr>
              <a:t>每个</a:t>
            </a:r>
            <a:r>
              <a:rPr lang="en-US" altLang="zh-CN" sz="1600" b="0" i="0" dirty="0">
                <a:solidFill>
                  <a:srgbClr val="4D4D4D"/>
                </a:solidFill>
                <a:effectLst/>
                <a:latin typeface="-apple-system"/>
              </a:rPr>
              <a:t>C</a:t>
            </a:r>
            <a:r>
              <a:rPr lang="zh-CN" altLang="en-US" sz="1600" b="0" i="0" dirty="0">
                <a:solidFill>
                  <a:srgbClr val="4D4D4D"/>
                </a:solidFill>
                <a:effectLst/>
                <a:latin typeface="-apple-system"/>
              </a:rPr>
              <a:t>类网络最多可以容纳</a:t>
            </a:r>
            <a:r>
              <a:rPr lang="en-US" altLang="zh-CN" sz="1600" b="0" i="0" dirty="0">
                <a:solidFill>
                  <a:srgbClr val="4D4D4D"/>
                </a:solidFill>
                <a:effectLst/>
                <a:latin typeface="-apple-system"/>
              </a:rPr>
              <a:t>254</a:t>
            </a:r>
            <a:r>
              <a:rPr lang="zh-CN" altLang="en-US" sz="1600" b="0" i="0" dirty="0">
                <a:solidFill>
                  <a:srgbClr val="4D4D4D"/>
                </a:solidFill>
                <a:effectLst/>
                <a:latin typeface="-apple-system"/>
              </a:rPr>
              <a:t>台主机</a:t>
            </a:r>
            <a:r>
              <a:rPr lang="zh-CN" altLang="en-US" sz="1600" b="1" i="0" dirty="0">
                <a:solidFill>
                  <a:srgbClr val="4D4D4D"/>
                </a:solidFill>
                <a:effectLst/>
                <a:latin typeface="-apple-system"/>
              </a:rPr>
              <a:t>（</a:t>
            </a:r>
            <a:r>
              <a:rPr lang="en-US" altLang="zh-CN" sz="1100" b="0" i="0" dirty="0">
                <a:solidFill>
                  <a:srgbClr val="4D4D4D"/>
                </a:solidFill>
                <a:effectLst/>
                <a:latin typeface="-apple-system"/>
              </a:rPr>
              <a:t> </a:t>
            </a:r>
            <a:r>
              <a:rPr lang="en-US" altLang="zh-CN" b="0" i="0" dirty="0">
                <a:solidFill>
                  <a:srgbClr val="4D4D4D"/>
                </a:solidFill>
                <a:effectLst/>
                <a:latin typeface="-apple-system"/>
              </a:rPr>
              <a:t>2^8 </a:t>
            </a:r>
            <a:r>
              <a:rPr lang="en-US" altLang="zh-CN" b="1" i="0" dirty="0">
                <a:solidFill>
                  <a:srgbClr val="4D4D4D"/>
                </a:solidFill>
                <a:effectLst/>
                <a:latin typeface="-apple-system"/>
              </a:rPr>
              <a:t>-2</a:t>
            </a:r>
            <a:r>
              <a:rPr lang="zh-CN" altLang="en-US" sz="1600" b="1" i="0" dirty="0">
                <a:solidFill>
                  <a:srgbClr val="4D4D4D"/>
                </a:solidFill>
                <a:effectLst/>
                <a:latin typeface="-apple-system"/>
              </a:rPr>
              <a:t>）</a:t>
            </a:r>
            <a:endParaRPr lang="zh-CN" altLang="en-US" sz="1600" b="1" dirty="0"/>
          </a:p>
        </p:txBody>
      </p:sp>
    </p:spTree>
    <p:extLst>
      <p:ext uri="{BB962C8B-B14F-4D97-AF65-F5344CB8AC3E}">
        <p14:creationId xmlns:p14="http://schemas.microsoft.com/office/powerpoint/2010/main" val="231120005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pic>
        <p:nvPicPr>
          <p:cNvPr id="177156" name="Picture 4" descr="5-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01" y="1677779"/>
            <a:ext cx="9791699" cy="350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3607964C-D166-4F3A-BAB9-C28E7F8E0562}"/>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Special IP addresses</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5028198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80227" name="Rectangle 2"/>
          <p:cNvSpPr>
            <a:spLocks noChangeArrowheads="1"/>
          </p:cNvSpPr>
          <p:nvPr/>
        </p:nvSpPr>
        <p:spPr bwMode="auto">
          <a:xfrm>
            <a:off x="1981200" y="1143001"/>
            <a:ext cx="8686800" cy="22272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a:latin typeface="Times New Roman" panose="02020603050405020304" pitchFamily="18" charset="0"/>
                <a:ea typeface="宋体" panose="02010600030101010101" pitchFamily="2" charset="-122"/>
              </a:rPr>
              <a:t>Find the class of each address.</a:t>
            </a:r>
          </a:p>
          <a:p>
            <a:pPr algn="just">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a.</a:t>
            </a:r>
            <a:r>
              <a:rPr lang="en-US" altLang="zh-CN" sz="2800" b="1" i="1">
                <a:latin typeface="Times New Roman" panose="02020603050405020304" pitchFamily="18" charset="0"/>
                <a:ea typeface="宋体" panose="02010600030101010101" pitchFamily="2" charset="-122"/>
              </a:rPr>
              <a:t>   </a:t>
            </a:r>
            <a:r>
              <a:rPr lang="en-US" altLang="zh-CN" sz="2800" b="1" u="sng">
                <a:solidFill>
                  <a:srgbClr val="009900"/>
                </a:solidFill>
                <a:latin typeface="Times New Roman" panose="02020603050405020304" pitchFamily="18" charset="0"/>
                <a:ea typeface="宋体" panose="02010600030101010101" pitchFamily="2" charset="-122"/>
              </a:rPr>
              <a:t>0</a:t>
            </a:r>
            <a:r>
              <a:rPr lang="en-US" altLang="zh-CN" sz="2800">
                <a:latin typeface="Times New Roman" panose="02020603050405020304" pitchFamily="18" charset="0"/>
                <a:ea typeface="宋体" panose="02010600030101010101" pitchFamily="2" charset="-122"/>
              </a:rPr>
              <a:t>0000001 00001011 00001011 11101111</a:t>
            </a:r>
          </a:p>
          <a:p>
            <a:pPr algn="just">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b.</a:t>
            </a:r>
            <a:r>
              <a:rPr lang="en-US" altLang="zh-CN" sz="2800" b="1" i="1">
                <a:latin typeface="Times New Roman" panose="02020603050405020304" pitchFamily="18" charset="0"/>
                <a:ea typeface="宋体" panose="02010600030101010101" pitchFamily="2" charset="-122"/>
              </a:rPr>
              <a:t>   </a:t>
            </a:r>
            <a:r>
              <a:rPr lang="en-US" altLang="zh-CN" sz="2800" b="1" u="sng">
                <a:solidFill>
                  <a:srgbClr val="009900"/>
                </a:solidFill>
                <a:latin typeface="Times New Roman" panose="02020603050405020304" pitchFamily="18" charset="0"/>
                <a:ea typeface="宋体" panose="02010600030101010101" pitchFamily="2" charset="-122"/>
              </a:rPr>
              <a:t>110</a:t>
            </a:r>
            <a:r>
              <a:rPr lang="en-US" altLang="zh-CN" sz="2800">
                <a:latin typeface="Times New Roman" panose="02020603050405020304" pitchFamily="18" charset="0"/>
                <a:ea typeface="宋体" panose="02010600030101010101" pitchFamily="2" charset="-122"/>
              </a:rPr>
              <a:t>00001 10000011 00011011 11111111</a:t>
            </a:r>
          </a:p>
          <a:p>
            <a:pPr algn="just">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c.</a:t>
            </a:r>
            <a:r>
              <a:rPr lang="en-US" altLang="zh-CN" sz="2800" b="1" i="1">
                <a:latin typeface="Times New Roman" panose="02020603050405020304" pitchFamily="18" charset="0"/>
                <a:ea typeface="宋体" panose="02010600030101010101" pitchFamily="2" charset="-122"/>
              </a:rPr>
              <a:t>   </a:t>
            </a:r>
            <a:r>
              <a:rPr lang="en-US" altLang="zh-CN" sz="2800" b="1" u="sng">
                <a:solidFill>
                  <a:srgbClr val="009900"/>
                </a:solidFill>
                <a:latin typeface="Times New Roman" panose="02020603050405020304" pitchFamily="18" charset="0"/>
                <a:ea typeface="宋体" panose="02010600030101010101" pitchFamily="2" charset="-122"/>
              </a:rPr>
              <a:t>14</a:t>
            </a:r>
            <a:r>
              <a:rPr lang="en-US" altLang="zh-CN" sz="2800">
                <a:latin typeface="Times New Roman" panose="02020603050405020304" pitchFamily="18" charset="0"/>
                <a:ea typeface="宋体" panose="02010600030101010101" pitchFamily="2" charset="-122"/>
              </a:rPr>
              <a:t>.23.120.8</a:t>
            </a:r>
          </a:p>
          <a:p>
            <a:pPr algn="just">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d.</a:t>
            </a:r>
            <a:r>
              <a:rPr lang="en-US" altLang="zh-CN" sz="2800" b="1" i="1">
                <a:latin typeface="Times New Roman" panose="02020603050405020304" pitchFamily="18" charset="0"/>
                <a:ea typeface="宋体" panose="02010600030101010101" pitchFamily="2" charset="-122"/>
              </a:rPr>
              <a:t>   </a:t>
            </a:r>
            <a:r>
              <a:rPr lang="en-US" altLang="zh-CN" sz="2800" b="1" u="sng">
                <a:solidFill>
                  <a:srgbClr val="009900"/>
                </a:solidFill>
                <a:latin typeface="Times New Roman" panose="02020603050405020304" pitchFamily="18" charset="0"/>
                <a:ea typeface="宋体" panose="02010600030101010101" pitchFamily="2" charset="-122"/>
              </a:rPr>
              <a:t>252</a:t>
            </a:r>
            <a:r>
              <a:rPr lang="en-US" altLang="zh-CN" sz="2800">
                <a:latin typeface="Times New Roman" panose="02020603050405020304" pitchFamily="18" charset="0"/>
                <a:ea typeface="宋体" panose="02010600030101010101" pitchFamily="2" charset="-122"/>
              </a:rPr>
              <a:t>.5.15.111</a:t>
            </a:r>
          </a:p>
        </p:txBody>
      </p:sp>
      <p:sp>
        <p:nvSpPr>
          <p:cNvPr id="825348" name="Rectangle 4"/>
          <p:cNvSpPr>
            <a:spLocks noChangeArrowheads="1"/>
          </p:cNvSpPr>
          <p:nvPr/>
        </p:nvSpPr>
        <p:spPr bwMode="auto">
          <a:xfrm>
            <a:off x="1981200" y="3657600"/>
            <a:ext cx="8686800" cy="26543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2800" b="1" i="1">
                <a:latin typeface="Times New Roman" panose="02020603050405020304" pitchFamily="18" charset="0"/>
                <a:ea typeface="宋体" panose="02010600030101010101" pitchFamily="2" charset="-122"/>
              </a:rPr>
              <a:t>Solution</a:t>
            </a:r>
          </a:p>
          <a:p>
            <a:pPr>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a.</a:t>
            </a:r>
            <a:r>
              <a:rPr lang="en-US" altLang="zh-CN" sz="2800" b="1" i="1">
                <a:latin typeface="Times New Roman" panose="02020603050405020304" pitchFamily="18" charset="0"/>
                <a:ea typeface="宋体" panose="02010600030101010101" pitchFamily="2" charset="-122"/>
              </a:rPr>
              <a:t> The first bit is 0. This is a class A address.</a:t>
            </a:r>
          </a:p>
          <a:p>
            <a:pPr>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b.</a:t>
            </a:r>
            <a:r>
              <a:rPr lang="en-US" altLang="zh-CN" sz="2800" b="1" i="1">
                <a:latin typeface="Times New Roman" panose="02020603050405020304" pitchFamily="18" charset="0"/>
                <a:ea typeface="宋体" panose="02010600030101010101" pitchFamily="2" charset="-122"/>
              </a:rPr>
              <a:t> The first 2 bits are 1; the third bit is 0. This is a class C</a:t>
            </a:r>
            <a:br>
              <a:rPr lang="en-US" altLang="zh-CN" sz="2800" b="1" i="1">
                <a:latin typeface="Times New Roman" panose="02020603050405020304" pitchFamily="18" charset="0"/>
                <a:ea typeface="宋体" panose="02010600030101010101" pitchFamily="2" charset="-122"/>
              </a:rPr>
            </a:br>
            <a:r>
              <a:rPr lang="en-US" altLang="zh-CN" sz="2800" b="1" i="1">
                <a:latin typeface="Times New Roman" panose="02020603050405020304" pitchFamily="18" charset="0"/>
                <a:ea typeface="宋体" panose="02010600030101010101" pitchFamily="2" charset="-122"/>
              </a:rPr>
              <a:t>     address.</a:t>
            </a:r>
          </a:p>
          <a:p>
            <a:pPr>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c.</a:t>
            </a:r>
            <a:r>
              <a:rPr lang="en-US" altLang="zh-CN" sz="2800" b="1" i="1">
                <a:latin typeface="Times New Roman" panose="02020603050405020304" pitchFamily="18" charset="0"/>
                <a:ea typeface="宋体" panose="02010600030101010101" pitchFamily="2" charset="-122"/>
              </a:rPr>
              <a:t> The first byte is 14; the class is A.</a:t>
            </a:r>
          </a:p>
          <a:p>
            <a:pPr>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d.</a:t>
            </a:r>
            <a:r>
              <a:rPr lang="en-US" altLang="zh-CN" sz="2800" b="1" i="1">
                <a:latin typeface="Times New Roman" panose="02020603050405020304" pitchFamily="18" charset="0"/>
                <a:ea typeface="宋体" panose="02010600030101010101" pitchFamily="2" charset="-122"/>
              </a:rPr>
              <a:t> The first byte is 252; the class is E.</a:t>
            </a:r>
          </a:p>
        </p:txBody>
      </p:sp>
      <p:sp>
        <p:nvSpPr>
          <p:cNvPr id="6" name="矩形 5">
            <a:extLst>
              <a:ext uri="{FF2B5EF4-FFF2-40B4-BE49-F238E27FC236}">
                <a16:creationId xmlns:a16="http://schemas.microsoft.com/office/drawing/2014/main" id="{D1153CE4-FB9F-48B7-877A-15F6B3B4C308}"/>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9356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5348"/>
                                        </p:tgtEl>
                                        <p:attrNameLst>
                                          <p:attrName>style.visibility</p:attrName>
                                        </p:attrNameLst>
                                      </p:cBhvr>
                                      <p:to>
                                        <p:strVal val="visible"/>
                                      </p:to>
                                    </p:set>
                                    <p:animEffect transition="in" filter="blinds(horizontal)">
                                      <p:cBhvr>
                                        <p:cTn id="7" dur="500"/>
                                        <p:tgtEl>
                                          <p:spTgt spid="825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5348"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82275" name="Text Box 2"/>
          <p:cNvSpPr txBox="1">
            <a:spLocks noChangeArrowheads="1"/>
          </p:cNvSpPr>
          <p:nvPr/>
        </p:nvSpPr>
        <p:spPr bwMode="auto">
          <a:xfrm>
            <a:off x="1919288" y="980638"/>
            <a:ext cx="79588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b="1" i="1" dirty="0">
                <a:latin typeface="Calibri" panose="020F0502020204030204" pitchFamily="34" charset="0"/>
                <a:ea typeface="宋体" panose="02010600030101010101" pitchFamily="2" charset="-122"/>
                <a:cs typeface="Calibri" panose="020F0502020204030204" pitchFamily="34" charset="0"/>
              </a:rPr>
              <a:t>Number of blocks and block size in classful IPv4 addressing</a:t>
            </a:r>
          </a:p>
        </p:txBody>
      </p:sp>
      <p:pic>
        <p:nvPicPr>
          <p:cNvPr id="18227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8" y="1442600"/>
            <a:ext cx="8465355" cy="2483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2"/>
          <p:cNvSpPr txBox="1">
            <a:spLocks noChangeArrowheads="1"/>
          </p:cNvSpPr>
          <p:nvPr/>
        </p:nvSpPr>
        <p:spPr bwMode="auto">
          <a:xfrm>
            <a:off x="2057400" y="4386263"/>
            <a:ext cx="8001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b="1" i="1">
                <a:latin typeface="Calibri" panose="020F0502020204030204" pitchFamily="34" charset="0"/>
                <a:ea typeface="宋体" panose="02010600030101010101" pitchFamily="2" charset="-122"/>
                <a:cs typeface="Calibri" panose="020F0502020204030204" pitchFamily="34" charset="0"/>
              </a:rPr>
              <a:t>Default masks for classful addressing</a:t>
            </a:r>
          </a:p>
        </p:txBody>
      </p:sp>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288" y="4849813"/>
            <a:ext cx="8291512" cy="162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284479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44388" name="Rectangle 3"/>
          <p:cNvSpPr>
            <a:spLocks noGrp="1" noChangeArrowheads="1"/>
          </p:cNvSpPr>
          <p:nvPr>
            <p:ph idx="1"/>
          </p:nvPr>
        </p:nvSpPr>
        <p:spPr>
          <a:xfrm>
            <a:off x="1200151" y="1041403"/>
            <a:ext cx="10382250" cy="1352547"/>
          </a:xfrm>
        </p:spPr>
        <p:txBody>
          <a:bodyPr>
            <a:normAutofit/>
          </a:bodyPr>
          <a:lstStyle/>
          <a:p>
            <a:r>
              <a:rPr lang="en-US" altLang="zh-CN" sz="3200" dirty="0">
                <a:ea typeface="宋体" panose="02010600030101010101" pitchFamily="2" charset="-122"/>
              </a:rPr>
              <a:t>Subnetting splits up IP prefix to help with management</a:t>
            </a:r>
          </a:p>
          <a:p>
            <a:pPr lvl="1"/>
            <a:r>
              <a:rPr lang="en-US" altLang="zh-CN" sz="2800" dirty="0">
                <a:ea typeface="宋体" panose="02010600030101010101" pitchFamily="2" charset="-122"/>
              </a:rPr>
              <a:t>Looks like a single prefix outside the network</a:t>
            </a:r>
          </a:p>
        </p:txBody>
      </p:sp>
      <p:pic>
        <p:nvPicPr>
          <p:cNvPr id="14438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8350" y="2258221"/>
            <a:ext cx="8115300"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90" name="TextBox 8"/>
          <p:cNvSpPr txBox="1">
            <a:spLocks noChangeArrowheads="1"/>
          </p:cNvSpPr>
          <p:nvPr/>
        </p:nvSpPr>
        <p:spPr bwMode="auto">
          <a:xfrm>
            <a:off x="2566988" y="5938839"/>
            <a:ext cx="4699000" cy="276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solidFill>
                  <a:srgbClr val="FF2BD8"/>
                </a:solidFill>
                <a:ea typeface="宋体" panose="02010600030101010101" pitchFamily="2" charset="-122"/>
              </a:rPr>
              <a:t> Network divides it into subnets internally</a:t>
            </a:r>
          </a:p>
        </p:txBody>
      </p:sp>
      <p:sp>
        <p:nvSpPr>
          <p:cNvPr id="144391" name="TextBox 9"/>
          <p:cNvSpPr txBox="1">
            <a:spLocks noChangeArrowheads="1"/>
          </p:cNvSpPr>
          <p:nvPr/>
        </p:nvSpPr>
        <p:spPr bwMode="auto">
          <a:xfrm>
            <a:off x="7723189" y="4743450"/>
            <a:ext cx="2541587" cy="5540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solidFill>
                  <a:srgbClr val="FF2BD8"/>
                </a:solidFill>
                <a:ea typeface="宋体" panose="02010600030101010101" pitchFamily="2" charset="-122"/>
              </a:rPr>
              <a:t> ISP gives network</a:t>
            </a:r>
          </a:p>
          <a:p>
            <a:pPr algn="ctr" eaLnBrk="1" hangingPunct="1">
              <a:spcBef>
                <a:spcPct val="0"/>
              </a:spcBef>
              <a:buClrTx/>
              <a:buFontTx/>
              <a:buNone/>
            </a:pPr>
            <a:r>
              <a:rPr lang="en-US" altLang="zh-CN" sz="1800" dirty="0">
                <a:solidFill>
                  <a:srgbClr val="FF2BD8"/>
                </a:solidFill>
                <a:ea typeface="宋体" panose="02010600030101010101" pitchFamily="2" charset="-122"/>
              </a:rPr>
              <a:t>a single prefix</a:t>
            </a:r>
          </a:p>
        </p:txBody>
      </p:sp>
      <p:sp>
        <p:nvSpPr>
          <p:cNvPr id="8" name="矩形 7">
            <a:extLst>
              <a:ext uri="{FF2B5EF4-FFF2-40B4-BE49-F238E27FC236}">
                <a16:creationId xmlns:a16="http://schemas.microsoft.com/office/drawing/2014/main" id="{F21946D4-15C0-47A6-A71E-942337389A8B}"/>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Subnets </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7001625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页脚占位符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46436" name="Rectangle 3"/>
          <p:cNvSpPr>
            <a:spLocks noGrp="1" noChangeArrowheads="1"/>
          </p:cNvSpPr>
          <p:nvPr>
            <p:ph type="body" sz="half" idx="1"/>
          </p:nvPr>
        </p:nvSpPr>
        <p:spPr>
          <a:xfrm>
            <a:off x="1619250" y="1051725"/>
            <a:ext cx="9994899" cy="1881975"/>
          </a:xfrm>
          <a:noFill/>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0488" tIns="44450" rIns="90488" bIns="44450" rtlCol="0">
            <a:normAutofit/>
          </a:bodyPr>
          <a:lstStyle/>
          <a:p>
            <a:pPr marL="342900" indent="-342900">
              <a:spcBef>
                <a:spcPts val="600"/>
              </a:spcBef>
            </a:pPr>
            <a:r>
              <a:rPr lang="en-US" altLang="zh-CN" sz="2600" dirty="0">
                <a:ea typeface="宋体" panose="02010600030101010101" pitchFamily="2" charset="-122"/>
              </a:rPr>
              <a:t>Subnet addressing introduces another hierarchical level</a:t>
            </a:r>
          </a:p>
          <a:p>
            <a:pPr marL="342900" indent="-342900">
              <a:spcBef>
                <a:spcPts val="600"/>
              </a:spcBef>
            </a:pPr>
            <a:r>
              <a:rPr lang="en-US" altLang="zh-CN" sz="2600" dirty="0">
                <a:ea typeface="宋体" panose="02010600030101010101" pitchFamily="2" charset="-122"/>
              </a:rPr>
              <a:t>Transparent to remote networks</a:t>
            </a:r>
          </a:p>
          <a:p>
            <a:pPr marL="342900" indent="-342900">
              <a:spcBef>
                <a:spcPts val="600"/>
              </a:spcBef>
            </a:pPr>
            <a:r>
              <a:rPr lang="en-US" altLang="zh-CN" sz="2600" dirty="0">
                <a:ea typeface="宋体" panose="02010600030101010101" pitchFamily="2" charset="-122"/>
              </a:rPr>
              <a:t>Simplifies management of multiplicity of LANs</a:t>
            </a:r>
          </a:p>
          <a:p>
            <a:pPr marL="342900" indent="-342900">
              <a:spcBef>
                <a:spcPts val="600"/>
              </a:spcBef>
            </a:pPr>
            <a:r>
              <a:rPr lang="en-US" altLang="zh-CN" sz="2600" dirty="0">
                <a:ea typeface="宋体" panose="02010600030101010101" pitchFamily="2" charset="-122"/>
              </a:rPr>
              <a:t>Masking used to find subnet number</a:t>
            </a:r>
          </a:p>
        </p:txBody>
      </p:sp>
      <p:graphicFrame>
        <p:nvGraphicFramePr>
          <p:cNvPr id="146437" name="Object 4">
            <a:hlinkClick r:id="" action="ppaction://ole?verb=0"/>
          </p:cNvPr>
          <p:cNvGraphicFramePr>
            <a:graphicFrameLocks noGrp="1"/>
          </p:cNvGraphicFramePr>
          <p:nvPr>
            <p:ph sz="half" idx="2"/>
            <p:extLst>
              <p:ext uri="{D42A27DB-BD31-4B8C-83A1-F6EECF244321}">
                <p14:modId xmlns:p14="http://schemas.microsoft.com/office/powerpoint/2010/main" val="3728036714"/>
              </p:ext>
            </p:extLst>
          </p:nvPr>
        </p:nvGraphicFramePr>
        <p:xfrm>
          <a:off x="2278063" y="3019426"/>
          <a:ext cx="6896100" cy="1357313"/>
        </p:xfrm>
        <a:graphic>
          <a:graphicData uri="http://schemas.openxmlformats.org/presentationml/2006/ole">
            <mc:AlternateContent xmlns:mc="http://schemas.openxmlformats.org/markup-compatibility/2006">
              <mc:Choice xmlns:v="urn:schemas-microsoft-com:vml" Requires="v">
                <p:oleObj spid="_x0000_s1144" name="文档" r:id="rId4" imgW="8089900" imgH="1752600" progId="Word.Document.8">
                  <p:embed/>
                </p:oleObj>
              </mc:Choice>
              <mc:Fallback>
                <p:oleObj name="文档" r:id="rId4" imgW="8089900" imgH="1752600" progId="Word.Document.8">
                  <p:embed/>
                  <p:pic>
                    <p:nvPicPr>
                      <p:cNvPr id="146437" name="Object 4">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8063" y="3019426"/>
                        <a:ext cx="6896100" cy="135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46438" name="Picture 7" descr="5-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7951" y="4629149"/>
            <a:ext cx="647541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39" name="Rectangle 8"/>
          <p:cNvSpPr>
            <a:spLocks noChangeArrowheads="1"/>
          </p:cNvSpPr>
          <p:nvPr/>
        </p:nvSpPr>
        <p:spPr bwMode="auto">
          <a:xfrm>
            <a:off x="2439988" y="5946774"/>
            <a:ext cx="7397750"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08585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42875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177165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22885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68605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14325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60045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35000"/>
              </a:spcBef>
              <a:buClr>
                <a:srgbClr val="993300"/>
              </a:buClr>
              <a:buSzPct val="90000"/>
              <a:buFontTx/>
              <a:buNone/>
            </a:pPr>
            <a:r>
              <a:rPr kumimoji="1" lang="en-US" altLang="zh-CN" sz="1800">
                <a:solidFill>
                  <a:srgbClr val="000099"/>
                </a:solidFill>
                <a:latin typeface="Helvetica" panose="020B0604020202020204" pitchFamily="34" charset="0"/>
                <a:ea typeface="宋体" panose="02010600030101010101" pitchFamily="2" charset="-122"/>
              </a:rPr>
              <a:t>A class B network subnetted into 64 subnets.</a:t>
            </a:r>
          </a:p>
        </p:txBody>
      </p:sp>
      <p:sp>
        <p:nvSpPr>
          <p:cNvPr id="8" name="矩形 7">
            <a:extLst>
              <a:ext uri="{FF2B5EF4-FFF2-40B4-BE49-F238E27FC236}">
                <a16:creationId xmlns:a16="http://schemas.microsoft.com/office/drawing/2014/main" id="{3D9C5B02-7DE7-4024-8D8E-ADAC79EBB37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Subnet Addressing </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84935176"/>
      </p:ext>
    </p:extLst>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150532" name="Rectangle 3"/>
          <p:cNvSpPr>
            <a:spLocks noGrp="1" noChangeArrowheads="1"/>
          </p:cNvSpPr>
          <p:nvPr>
            <p:ph type="body" idx="1"/>
          </p:nvPr>
        </p:nvSpPr>
        <p:spPr>
          <a:xfrm>
            <a:off x="908050" y="992188"/>
            <a:ext cx="10915650" cy="5207000"/>
          </a:xfrm>
        </p:spPr>
        <p:txBody>
          <a:bodyPr/>
          <a:lstStyle/>
          <a:p>
            <a:pPr>
              <a:lnSpc>
                <a:spcPct val="90000"/>
              </a:lnSpc>
            </a:pPr>
            <a:r>
              <a:rPr lang="en-US" altLang="zh-CN" dirty="0">
                <a:ea typeface="宋体" panose="02010600030101010101" pitchFamily="2" charset="-122"/>
              </a:rPr>
              <a:t>Organization has Class B address (16 host ID bits) with network ID: 150.100.0.0</a:t>
            </a:r>
          </a:p>
          <a:p>
            <a:pPr>
              <a:lnSpc>
                <a:spcPct val="90000"/>
              </a:lnSpc>
            </a:pPr>
            <a:r>
              <a:rPr lang="en-US" altLang="zh-CN" dirty="0">
                <a:ea typeface="宋体" panose="02010600030101010101" pitchFamily="2" charset="-122"/>
              </a:rPr>
              <a:t>Create subnets with up to </a:t>
            </a:r>
            <a:r>
              <a:rPr lang="en-US" altLang="zh-CN" b="1" i="1" dirty="0">
                <a:solidFill>
                  <a:srgbClr val="0000FF"/>
                </a:solidFill>
                <a:ea typeface="宋体" panose="02010600030101010101" pitchFamily="2" charset="-122"/>
              </a:rPr>
              <a:t>100 hosts </a:t>
            </a:r>
            <a:r>
              <a:rPr lang="en-US" altLang="zh-CN" dirty="0">
                <a:ea typeface="宋体" panose="02010600030101010101" pitchFamily="2" charset="-122"/>
              </a:rPr>
              <a:t>each</a:t>
            </a:r>
          </a:p>
          <a:p>
            <a:pPr lvl="1">
              <a:lnSpc>
                <a:spcPct val="90000"/>
              </a:lnSpc>
            </a:pPr>
            <a:r>
              <a:rPr lang="en-US" altLang="zh-CN" dirty="0">
                <a:ea typeface="宋体" panose="02010600030101010101" pitchFamily="2" charset="-122"/>
              </a:rPr>
              <a:t>7 bits sufficient for each subnet</a:t>
            </a:r>
          </a:p>
          <a:p>
            <a:pPr lvl="1">
              <a:lnSpc>
                <a:spcPct val="90000"/>
              </a:lnSpc>
            </a:pPr>
            <a:r>
              <a:rPr lang="en-US" altLang="zh-CN" dirty="0">
                <a:ea typeface="宋体" panose="02010600030101010101" pitchFamily="2" charset="-122"/>
              </a:rPr>
              <a:t>16-7=9 bits for subnet ID</a:t>
            </a:r>
          </a:p>
          <a:p>
            <a:pPr>
              <a:lnSpc>
                <a:spcPct val="90000"/>
              </a:lnSpc>
            </a:pPr>
            <a:r>
              <a:rPr lang="en-US" altLang="zh-CN" dirty="0">
                <a:ea typeface="宋体" panose="02010600030101010101" pitchFamily="2" charset="-122"/>
              </a:rPr>
              <a:t>Apply subnet mask to IP addresses to find corresponding subnet</a:t>
            </a:r>
          </a:p>
          <a:p>
            <a:pPr lvl="1">
              <a:lnSpc>
                <a:spcPct val="90000"/>
              </a:lnSpc>
            </a:pPr>
            <a:r>
              <a:rPr lang="en-US" altLang="zh-CN" sz="2000" dirty="0">
                <a:ea typeface="宋体" panose="02010600030101010101" pitchFamily="2" charset="-122"/>
              </a:rPr>
              <a:t>Example:  Find subnet for 150.100.12.176</a:t>
            </a:r>
          </a:p>
          <a:p>
            <a:pPr lvl="1">
              <a:lnSpc>
                <a:spcPct val="90000"/>
              </a:lnSpc>
            </a:pPr>
            <a:r>
              <a:rPr lang="en-US" altLang="zh-CN" sz="2000" dirty="0">
                <a:ea typeface="宋体" panose="02010600030101010101" pitchFamily="2" charset="-122"/>
              </a:rPr>
              <a:t>IP add = 10010110 01100100 00001100 10110000</a:t>
            </a:r>
          </a:p>
          <a:p>
            <a:pPr lvl="1">
              <a:lnSpc>
                <a:spcPct val="90000"/>
              </a:lnSpc>
            </a:pPr>
            <a:r>
              <a:rPr lang="en-US" altLang="zh-CN" sz="2000" dirty="0">
                <a:ea typeface="宋体" panose="02010600030101010101" pitchFamily="2" charset="-122"/>
              </a:rPr>
              <a:t>Mask   = 11111111 11111111 11111111 10000000</a:t>
            </a:r>
          </a:p>
          <a:p>
            <a:pPr lvl="1">
              <a:lnSpc>
                <a:spcPct val="90000"/>
              </a:lnSpc>
            </a:pPr>
            <a:r>
              <a:rPr lang="en-US" altLang="zh-CN" sz="2000" dirty="0">
                <a:ea typeface="宋体" panose="02010600030101010101" pitchFamily="2" charset="-122"/>
              </a:rPr>
              <a:t>AND    = 10010110 01100100 00001100 10000000</a:t>
            </a:r>
          </a:p>
          <a:p>
            <a:pPr lvl="1">
              <a:lnSpc>
                <a:spcPct val="90000"/>
              </a:lnSpc>
            </a:pPr>
            <a:r>
              <a:rPr lang="en-US" altLang="zh-CN" sz="2000" dirty="0">
                <a:ea typeface="宋体" panose="02010600030101010101" pitchFamily="2" charset="-122"/>
              </a:rPr>
              <a:t>Subnet = 150.100.12.128</a:t>
            </a:r>
          </a:p>
          <a:p>
            <a:pPr lvl="1">
              <a:lnSpc>
                <a:spcPct val="90000"/>
              </a:lnSpc>
            </a:pPr>
            <a:r>
              <a:rPr lang="en-US" altLang="zh-CN" sz="2000" dirty="0">
                <a:ea typeface="宋体" panose="02010600030101010101" pitchFamily="2" charset="-122"/>
              </a:rPr>
              <a:t>Subnet address used by routers within organization</a:t>
            </a:r>
          </a:p>
        </p:txBody>
      </p:sp>
      <p:sp>
        <p:nvSpPr>
          <p:cNvPr id="5" name="矩形 4">
            <a:extLst>
              <a:ext uri="{FF2B5EF4-FFF2-40B4-BE49-F238E27FC236}">
                <a16:creationId xmlns:a16="http://schemas.microsoft.com/office/drawing/2014/main" id="{4FA20065-8745-4F2D-B33A-8A4978F279AA}"/>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Subnetting Example</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4356695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15155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1" y="1506538"/>
            <a:ext cx="5438775" cy="451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1557" name="Text Box 4"/>
          <p:cNvSpPr txBox="1">
            <a:spLocks noChangeArrowheads="1"/>
          </p:cNvSpPr>
          <p:nvPr/>
        </p:nvSpPr>
        <p:spPr bwMode="auto">
          <a:xfrm>
            <a:off x="2057400" y="2819401"/>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FontTx/>
              <a:buNone/>
            </a:pPr>
            <a:r>
              <a:rPr lang="en-US" altLang="zh-CN" sz="1800" b="1">
                <a:ea typeface="宋体" panose="02010600030101010101" pitchFamily="2" charset="-122"/>
              </a:rPr>
              <a:t>32</a:t>
            </a:r>
          </a:p>
        </p:txBody>
      </p:sp>
      <p:sp>
        <p:nvSpPr>
          <p:cNvPr id="151558" name="Text Box 5"/>
          <p:cNvSpPr txBox="1">
            <a:spLocks noChangeArrowheads="1"/>
          </p:cNvSpPr>
          <p:nvPr/>
        </p:nvSpPr>
        <p:spPr bwMode="auto">
          <a:xfrm>
            <a:off x="8915400" y="2057401"/>
            <a:ext cx="685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FontTx/>
              <a:buNone/>
            </a:pPr>
            <a:r>
              <a:rPr lang="en-US" altLang="zh-CN" sz="1800" b="1">
                <a:ea typeface="宋体" panose="02010600030101010101" pitchFamily="2" charset="-122"/>
              </a:rPr>
              <a:t>16</a:t>
            </a:r>
          </a:p>
        </p:txBody>
      </p:sp>
      <p:sp>
        <p:nvSpPr>
          <p:cNvPr id="151559" name="Text Box 6"/>
          <p:cNvSpPr txBox="1">
            <a:spLocks noChangeArrowheads="1"/>
          </p:cNvSpPr>
          <p:nvPr/>
        </p:nvSpPr>
        <p:spPr bwMode="auto">
          <a:xfrm>
            <a:off x="8991600" y="4205288"/>
            <a:ext cx="685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FontTx/>
              <a:buNone/>
            </a:pPr>
            <a:r>
              <a:rPr lang="en-US" altLang="zh-CN" sz="1800" b="1">
                <a:ea typeface="宋体" panose="02010600030101010101" pitchFamily="2" charset="-122"/>
              </a:rPr>
              <a:t>16</a:t>
            </a:r>
          </a:p>
        </p:txBody>
      </p:sp>
      <p:sp>
        <p:nvSpPr>
          <p:cNvPr id="8" name="矩形 7">
            <a:extLst>
              <a:ext uri="{FF2B5EF4-FFF2-40B4-BE49-F238E27FC236}">
                <a16:creationId xmlns:a16="http://schemas.microsoft.com/office/drawing/2014/main" id="{789C6015-4C76-4C07-B622-5C71DE4AA4D3}"/>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Configuration and Addresses in a </a:t>
            </a:r>
            <a:r>
              <a:rPr lang="en-US" altLang="zh-CN" sz="2800" b="1" kern="0" dirty="0" err="1">
                <a:solidFill>
                  <a:srgbClr val="C00000"/>
                </a:solidFill>
                <a:latin typeface="微软雅黑" panose="020B0503020204020204" pitchFamily="34" charset="-122"/>
                <a:ea typeface="微软雅黑" panose="020B0503020204020204" pitchFamily="34" charset="-122"/>
              </a:rPr>
              <a:t>Subnetted</a:t>
            </a:r>
            <a:r>
              <a:rPr lang="en-US" altLang="zh-CN" sz="2800" b="1" kern="0" dirty="0">
                <a:solidFill>
                  <a:srgbClr val="C00000"/>
                </a:solidFill>
                <a:latin typeface="微软雅黑" panose="020B0503020204020204" pitchFamily="34" charset="-122"/>
                <a:ea typeface="微软雅黑" panose="020B0503020204020204" pitchFamily="34" charset="-122"/>
              </a:rPr>
              <a:t> Network</a:t>
            </a:r>
          </a:p>
        </p:txBody>
      </p:sp>
    </p:spTree>
    <p:extLst>
      <p:ext uri="{BB962C8B-B14F-4D97-AF65-F5344CB8AC3E}">
        <p14:creationId xmlns:p14="http://schemas.microsoft.com/office/powerpoint/2010/main" val="224356959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15360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2600325"/>
            <a:ext cx="8299450" cy="167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1274DD6A-5145-4BE1-8594-94DBA9AEBE25}"/>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Three-level hierarchy in an IPv4 address</a:t>
            </a:r>
          </a:p>
        </p:txBody>
      </p:sp>
    </p:spTree>
    <p:extLst>
      <p:ext uri="{BB962C8B-B14F-4D97-AF65-F5344CB8AC3E}">
        <p14:creationId xmlns:p14="http://schemas.microsoft.com/office/powerpoint/2010/main" val="271144296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155652" name="Rectangle 3"/>
          <p:cNvSpPr>
            <a:spLocks noGrp="1" noChangeArrowheads="1"/>
          </p:cNvSpPr>
          <p:nvPr>
            <p:ph type="body" idx="1"/>
          </p:nvPr>
        </p:nvSpPr>
        <p:spPr>
          <a:xfrm>
            <a:off x="838200" y="1820863"/>
            <a:ext cx="10515600" cy="427038"/>
          </a:xfrm>
        </p:spPr>
        <p:txBody>
          <a:bodyPr/>
          <a:lstStyle/>
          <a:p>
            <a:pPr algn="ctr">
              <a:buFontTx/>
              <a:buNone/>
            </a:pPr>
            <a:r>
              <a:rPr lang="en-US" altLang="zh-CN" sz="2000">
                <a:solidFill>
                  <a:srgbClr val="000099"/>
                </a:solidFill>
                <a:ea typeface="宋体" panose="02010600030101010101" pitchFamily="2" charset="-122"/>
              </a:rPr>
              <a:t>A set of IP address assignments.</a:t>
            </a:r>
          </a:p>
        </p:txBody>
      </p:sp>
      <p:sp>
        <p:nvSpPr>
          <p:cNvPr id="155653" name="Text Box 4"/>
          <p:cNvSpPr txBox="1">
            <a:spLocks noChangeArrowheads="1"/>
          </p:cNvSpPr>
          <p:nvPr/>
        </p:nvSpPr>
        <p:spPr bwMode="auto">
          <a:xfrm>
            <a:off x="4756151" y="2717800"/>
            <a:ext cx="1978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FontTx/>
              <a:buNone/>
            </a:pPr>
            <a:r>
              <a:rPr lang="en-US" altLang="zh-CN">
                <a:latin typeface="Times New Roman" panose="02020603050405020304" pitchFamily="18" charset="0"/>
                <a:ea typeface="宋体" panose="02010600030101010101" pitchFamily="2" charset="-122"/>
              </a:rPr>
              <a:t>5-59</a:t>
            </a:r>
          </a:p>
        </p:txBody>
      </p:sp>
      <p:pic>
        <p:nvPicPr>
          <p:cNvPr id="155654" name="Picture 5" descr="5-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176" y="2322514"/>
            <a:ext cx="8094663"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D88AB122-4C45-4506-A17C-52975283654A}"/>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CIDR – Classless </a:t>
            </a:r>
            <a:r>
              <a:rPr lang="en-US" altLang="zh-CN" sz="2800" b="1" kern="0" dirty="0" err="1">
                <a:solidFill>
                  <a:srgbClr val="C00000"/>
                </a:solidFill>
                <a:latin typeface="微软雅黑" panose="020B0503020204020204" pitchFamily="34" charset="-122"/>
                <a:ea typeface="微软雅黑" panose="020B0503020204020204" pitchFamily="34" charset="-122"/>
                <a:cs typeface="+mn-cs"/>
              </a:rPr>
              <a:t>InterDomain</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 Routing</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06674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62819" name="Rectangle 2"/>
          <p:cNvSpPr>
            <a:spLocks noChangeArrowheads="1"/>
          </p:cNvSpPr>
          <p:nvPr/>
        </p:nvSpPr>
        <p:spPr bwMode="auto">
          <a:xfrm>
            <a:off x="1752600" y="1351508"/>
            <a:ext cx="8686800" cy="415498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b="1" dirty="0">
                <a:latin typeface="Calibri" panose="020F0502020204030204" pitchFamily="34" charset="0"/>
                <a:ea typeface="宋体" panose="02010600030101010101" pitchFamily="2" charset="-122"/>
                <a:cs typeface="Calibri" panose="020F0502020204030204" pitchFamily="34" charset="0"/>
              </a:rPr>
              <a:t>An ISP is granted a block of addresses starting with 190.100.0.0/16 (65,536 addresses). The ISP needs to distribute these addresses to three groups of customers as follows:</a:t>
            </a:r>
          </a:p>
          <a:p>
            <a:pPr algn="just">
              <a:spcBef>
                <a:spcPct val="0"/>
              </a:spcBef>
              <a:buClrTx/>
              <a:buFontTx/>
              <a:buNone/>
            </a:pPr>
            <a:r>
              <a:rPr lang="en-US" altLang="zh-CN" b="1" dirty="0">
                <a:solidFill>
                  <a:schemeClr val="hlink"/>
                </a:solidFill>
                <a:latin typeface="Calibri" panose="020F0502020204030204" pitchFamily="34" charset="0"/>
                <a:ea typeface="宋体" panose="02010600030101010101" pitchFamily="2" charset="-122"/>
                <a:cs typeface="Calibri" panose="020F0502020204030204" pitchFamily="34" charset="0"/>
              </a:rPr>
              <a:t>a.</a:t>
            </a:r>
            <a:r>
              <a:rPr lang="en-US" altLang="zh-CN" b="1" dirty="0">
                <a:latin typeface="Calibri" panose="020F0502020204030204" pitchFamily="34" charset="0"/>
                <a:ea typeface="宋体" panose="02010600030101010101" pitchFamily="2" charset="-122"/>
                <a:cs typeface="Calibri" panose="020F0502020204030204" pitchFamily="34" charset="0"/>
              </a:rPr>
              <a:t> The first group has 64 customers; each needs 256</a:t>
            </a:r>
            <a:br>
              <a:rPr lang="en-US" altLang="zh-CN" b="1" dirty="0">
                <a:latin typeface="Calibri" panose="020F0502020204030204" pitchFamily="34" charset="0"/>
                <a:ea typeface="宋体" panose="02010600030101010101" pitchFamily="2" charset="-122"/>
                <a:cs typeface="Calibri" panose="020F0502020204030204" pitchFamily="34" charset="0"/>
              </a:rPr>
            </a:br>
            <a:r>
              <a:rPr lang="en-US" altLang="zh-CN" b="1" dirty="0">
                <a:latin typeface="Calibri" panose="020F0502020204030204" pitchFamily="34" charset="0"/>
                <a:ea typeface="宋体" panose="02010600030101010101" pitchFamily="2" charset="-122"/>
                <a:cs typeface="Calibri" panose="020F0502020204030204" pitchFamily="34" charset="0"/>
              </a:rPr>
              <a:t>     addresses.</a:t>
            </a:r>
          </a:p>
          <a:p>
            <a:pPr algn="just">
              <a:spcBef>
                <a:spcPct val="0"/>
              </a:spcBef>
              <a:buClrTx/>
              <a:buFontTx/>
              <a:buNone/>
            </a:pPr>
            <a:r>
              <a:rPr lang="en-US" altLang="zh-CN" b="1" dirty="0">
                <a:solidFill>
                  <a:schemeClr val="hlink"/>
                </a:solidFill>
                <a:latin typeface="Calibri" panose="020F0502020204030204" pitchFamily="34" charset="0"/>
                <a:ea typeface="宋体" panose="02010600030101010101" pitchFamily="2" charset="-122"/>
                <a:cs typeface="Calibri" panose="020F0502020204030204" pitchFamily="34" charset="0"/>
              </a:rPr>
              <a:t>b.</a:t>
            </a:r>
            <a:r>
              <a:rPr lang="en-US" altLang="zh-CN" b="1" dirty="0">
                <a:latin typeface="Calibri" panose="020F0502020204030204" pitchFamily="34" charset="0"/>
                <a:ea typeface="宋体" panose="02010600030101010101" pitchFamily="2" charset="-122"/>
                <a:cs typeface="Calibri" panose="020F0502020204030204" pitchFamily="34" charset="0"/>
              </a:rPr>
              <a:t> The second group has 128 customers; each needs 128</a:t>
            </a:r>
            <a:br>
              <a:rPr lang="en-US" altLang="zh-CN" b="1" dirty="0">
                <a:latin typeface="Calibri" panose="020F0502020204030204" pitchFamily="34" charset="0"/>
                <a:ea typeface="宋体" panose="02010600030101010101" pitchFamily="2" charset="-122"/>
                <a:cs typeface="Calibri" panose="020F0502020204030204" pitchFamily="34" charset="0"/>
              </a:rPr>
            </a:br>
            <a:r>
              <a:rPr lang="en-US" altLang="zh-CN" b="1" dirty="0">
                <a:latin typeface="Calibri" panose="020F0502020204030204" pitchFamily="34" charset="0"/>
                <a:ea typeface="宋体" panose="02010600030101010101" pitchFamily="2" charset="-122"/>
                <a:cs typeface="Calibri" panose="020F0502020204030204" pitchFamily="34" charset="0"/>
              </a:rPr>
              <a:t>     addresses.</a:t>
            </a:r>
          </a:p>
          <a:p>
            <a:pPr algn="just">
              <a:spcBef>
                <a:spcPct val="0"/>
              </a:spcBef>
              <a:buClrTx/>
              <a:buFontTx/>
              <a:buNone/>
            </a:pPr>
            <a:r>
              <a:rPr lang="en-US" altLang="zh-CN" b="1" dirty="0">
                <a:solidFill>
                  <a:schemeClr val="hlink"/>
                </a:solidFill>
                <a:latin typeface="Calibri" panose="020F0502020204030204" pitchFamily="34" charset="0"/>
                <a:ea typeface="宋体" panose="02010600030101010101" pitchFamily="2" charset="-122"/>
                <a:cs typeface="Calibri" panose="020F0502020204030204" pitchFamily="34" charset="0"/>
              </a:rPr>
              <a:t>c.</a:t>
            </a:r>
            <a:r>
              <a:rPr lang="en-US" altLang="zh-CN" b="1" dirty="0">
                <a:latin typeface="Calibri" panose="020F0502020204030204" pitchFamily="34" charset="0"/>
                <a:ea typeface="宋体" panose="02010600030101010101" pitchFamily="2" charset="-122"/>
                <a:cs typeface="Calibri" panose="020F0502020204030204" pitchFamily="34" charset="0"/>
              </a:rPr>
              <a:t> The third group has 128 customers; each needs 64</a:t>
            </a:r>
            <a:br>
              <a:rPr lang="en-US" altLang="zh-CN" b="1" dirty="0">
                <a:latin typeface="Calibri" panose="020F0502020204030204" pitchFamily="34" charset="0"/>
                <a:ea typeface="宋体" panose="02010600030101010101" pitchFamily="2" charset="-122"/>
                <a:cs typeface="Calibri" panose="020F0502020204030204" pitchFamily="34" charset="0"/>
              </a:rPr>
            </a:br>
            <a:r>
              <a:rPr lang="en-US" altLang="zh-CN" b="1" dirty="0">
                <a:latin typeface="Calibri" panose="020F0502020204030204" pitchFamily="34" charset="0"/>
                <a:ea typeface="宋体" panose="02010600030101010101" pitchFamily="2" charset="-122"/>
                <a:cs typeface="Calibri" panose="020F0502020204030204" pitchFamily="34" charset="0"/>
              </a:rPr>
              <a:t>     addresses.</a:t>
            </a:r>
          </a:p>
          <a:p>
            <a:pPr algn="just">
              <a:spcBef>
                <a:spcPct val="0"/>
              </a:spcBef>
              <a:buClrTx/>
              <a:buFontTx/>
              <a:buNone/>
            </a:pPr>
            <a:r>
              <a:rPr lang="en-US" altLang="zh-CN" b="1" dirty="0">
                <a:latin typeface="Calibri" panose="020F0502020204030204" pitchFamily="34" charset="0"/>
                <a:ea typeface="宋体" panose="02010600030101010101" pitchFamily="2" charset="-122"/>
                <a:cs typeface="Calibri" panose="020F0502020204030204" pitchFamily="34" charset="0"/>
              </a:rPr>
              <a:t>Design the subblocks and find out how many addresses are still available after these allocations.</a:t>
            </a:r>
          </a:p>
        </p:txBody>
      </p:sp>
      <p:sp>
        <p:nvSpPr>
          <p:cNvPr id="5" name="矩形 4">
            <a:extLst>
              <a:ext uri="{FF2B5EF4-FFF2-40B4-BE49-F238E27FC236}">
                <a16:creationId xmlns:a16="http://schemas.microsoft.com/office/drawing/2014/main" id="{44EFB053-78F6-4944-B2B8-6FADE3CA8434}"/>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4922957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64867" name="Rectangle 2"/>
          <p:cNvSpPr>
            <a:spLocks noChangeArrowheads="1"/>
          </p:cNvSpPr>
          <p:nvPr/>
        </p:nvSpPr>
        <p:spPr bwMode="auto">
          <a:xfrm>
            <a:off x="1752600" y="1143000"/>
            <a:ext cx="8686800" cy="946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a:solidFill>
                  <a:schemeClr val="hlink"/>
                </a:solidFill>
                <a:latin typeface="Times New Roman" panose="02020603050405020304" pitchFamily="18" charset="0"/>
                <a:ea typeface="宋体" panose="02010600030101010101" pitchFamily="2" charset="-122"/>
              </a:rPr>
              <a:t>Solution</a:t>
            </a:r>
          </a:p>
          <a:p>
            <a:pPr algn="just">
              <a:spcBef>
                <a:spcPct val="0"/>
              </a:spcBef>
              <a:buClrTx/>
              <a:buFontTx/>
              <a:buNone/>
            </a:pPr>
            <a:endParaRPr lang="zh-CN" altLang="en-US" sz="2800" b="1" i="1">
              <a:latin typeface="Times New Roman" panose="02020603050405020304" pitchFamily="18" charset="0"/>
              <a:ea typeface="宋体" panose="02010600030101010101" pitchFamily="2" charset="-122"/>
            </a:endParaRPr>
          </a:p>
        </p:txBody>
      </p:sp>
      <p:sp>
        <p:nvSpPr>
          <p:cNvPr id="164869" name="Rectangle 4"/>
          <p:cNvSpPr>
            <a:spLocks noChangeArrowheads="1"/>
          </p:cNvSpPr>
          <p:nvPr/>
        </p:nvSpPr>
        <p:spPr bwMode="auto">
          <a:xfrm>
            <a:off x="1752600" y="1785938"/>
            <a:ext cx="9042400" cy="181588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a:solidFill>
                  <a:schemeClr val="hlink"/>
                </a:solidFill>
                <a:latin typeface="Calibri" panose="020F0502020204030204" pitchFamily="34" charset="0"/>
                <a:ea typeface="宋体" panose="02010600030101010101" pitchFamily="2" charset="-122"/>
                <a:cs typeface="Calibri" panose="020F0502020204030204" pitchFamily="34" charset="0"/>
              </a:rPr>
              <a:t>Group 1</a:t>
            </a:r>
          </a:p>
          <a:p>
            <a:pPr algn="just">
              <a:spcBef>
                <a:spcPct val="0"/>
              </a:spcBef>
              <a:buClrTx/>
              <a:buFontTx/>
              <a:buNone/>
            </a:pPr>
            <a:r>
              <a:rPr lang="en-US" altLang="zh-CN" sz="2800" b="1" i="1">
                <a:latin typeface="Calibri" panose="020F0502020204030204" pitchFamily="34" charset="0"/>
                <a:ea typeface="宋体" panose="02010600030101010101" pitchFamily="2" charset="-122"/>
                <a:cs typeface="Calibri" panose="020F0502020204030204" pitchFamily="34" charset="0"/>
              </a:rPr>
              <a:t>For this group, each customer needs 256 addresses. This means that 8 (log2 256) bits are needed to define each host. The prefix length is then 32 − 8 = 24. The addresses are</a:t>
            </a:r>
          </a:p>
        </p:txBody>
      </p:sp>
      <p:pic>
        <p:nvPicPr>
          <p:cNvPr id="16487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760" y="4043253"/>
            <a:ext cx="6902450" cy="187166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a:extLst>
              <a:ext uri="{FF2B5EF4-FFF2-40B4-BE49-F238E27FC236}">
                <a16:creationId xmlns:a16="http://schemas.microsoft.com/office/drawing/2014/main" id="{62C2D788-AC34-40D2-AA04-AED86601B1E4}"/>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 </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Continued</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7601280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66916" name="Rectangle 3"/>
          <p:cNvSpPr>
            <a:spLocks noChangeArrowheads="1"/>
          </p:cNvSpPr>
          <p:nvPr/>
        </p:nvSpPr>
        <p:spPr bwMode="auto">
          <a:xfrm>
            <a:off x="1600199" y="1295401"/>
            <a:ext cx="8991600" cy="181588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dirty="0">
                <a:solidFill>
                  <a:schemeClr val="hlink"/>
                </a:solidFill>
                <a:latin typeface="Calibri" panose="020F0502020204030204" pitchFamily="34" charset="0"/>
                <a:ea typeface="宋体" panose="02010600030101010101" pitchFamily="2" charset="-122"/>
                <a:cs typeface="Calibri" panose="020F0502020204030204" pitchFamily="34" charset="0"/>
              </a:rPr>
              <a:t>Group 2</a:t>
            </a:r>
          </a:p>
          <a:p>
            <a:pPr algn="just">
              <a:spcBef>
                <a:spcPct val="0"/>
              </a:spcBef>
              <a:buClrTx/>
              <a:buFontTx/>
              <a:buNone/>
            </a:pPr>
            <a:r>
              <a:rPr lang="en-US" altLang="zh-CN" sz="2800" b="1" i="1" dirty="0">
                <a:latin typeface="Calibri" panose="020F0502020204030204" pitchFamily="34" charset="0"/>
                <a:ea typeface="宋体" panose="02010600030101010101" pitchFamily="2" charset="-122"/>
                <a:cs typeface="Calibri" panose="020F0502020204030204" pitchFamily="34" charset="0"/>
              </a:rPr>
              <a:t>For this group, each customer needs 128 addresses. This means that 7 (log2 128) bits are needed to define each host. The prefix length is then 32 − 7 = 25. The addresses are</a:t>
            </a:r>
          </a:p>
        </p:txBody>
      </p:sp>
      <p:pic>
        <p:nvPicPr>
          <p:cNvPr id="16691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4468" y="3607370"/>
            <a:ext cx="6723063" cy="19081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a:extLst>
              <a:ext uri="{FF2B5EF4-FFF2-40B4-BE49-F238E27FC236}">
                <a16:creationId xmlns:a16="http://schemas.microsoft.com/office/drawing/2014/main" id="{802624E6-7082-41C0-8AB9-2BB73E2AA23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 </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Continued</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527944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68964" name="Rectangle 3"/>
          <p:cNvSpPr>
            <a:spLocks noChangeArrowheads="1"/>
          </p:cNvSpPr>
          <p:nvPr/>
        </p:nvSpPr>
        <p:spPr bwMode="auto">
          <a:xfrm>
            <a:off x="1676400" y="890589"/>
            <a:ext cx="8686800" cy="18002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a:solidFill>
                  <a:schemeClr val="hlink"/>
                </a:solidFill>
                <a:latin typeface="Calibri" panose="020F0502020204030204" pitchFamily="34" charset="0"/>
                <a:ea typeface="宋体" panose="02010600030101010101" pitchFamily="2" charset="-122"/>
                <a:cs typeface="Calibri" panose="020F0502020204030204" pitchFamily="34" charset="0"/>
              </a:rPr>
              <a:t>Group 3</a:t>
            </a:r>
          </a:p>
          <a:p>
            <a:pPr algn="just">
              <a:spcBef>
                <a:spcPct val="0"/>
              </a:spcBef>
              <a:buClrTx/>
              <a:buFontTx/>
              <a:buNone/>
            </a:pPr>
            <a:r>
              <a:rPr lang="en-US" altLang="zh-CN" sz="2800" b="1" i="1">
                <a:latin typeface="Calibri" panose="020F0502020204030204" pitchFamily="34" charset="0"/>
                <a:ea typeface="宋体" panose="02010600030101010101" pitchFamily="2" charset="-122"/>
                <a:cs typeface="Calibri" panose="020F0502020204030204" pitchFamily="34" charset="0"/>
              </a:rPr>
              <a:t>For this group, each customer needs 64 addresses. This means that 6 (log</a:t>
            </a:r>
            <a:r>
              <a:rPr lang="en-US" altLang="zh-CN" sz="2800" b="1" i="1" baseline="-16000">
                <a:latin typeface="Calibri" panose="020F0502020204030204" pitchFamily="34" charset="0"/>
                <a:ea typeface="宋体" panose="02010600030101010101" pitchFamily="2" charset="-122"/>
                <a:cs typeface="Calibri" panose="020F0502020204030204" pitchFamily="34" charset="0"/>
              </a:rPr>
              <a:t>2</a:t>
            </a:r>
            <a:r>
              <a:rPr lang="en-US" altLang="zh-CN" sz="2800" b="1" i="1">
                <a:latin typeface="Calibri" panose="020F0502020204030204" pitchFamily="34" charset="0"/>
                <a:ea typeface="宋体" panose="02010600030101010101" pitchFamily="2" charset="-122"/>
                <a:cs typeface="Calibri" panose="020F0502020204030204" pitchFamily="34" charset="0"/>
              </a:rPr>
              <a:t>64) bits are needed to each host. The prefix length is then 32 − 6 = 26. The addresses are</a:t>
            </a:r>
          </a:p>
        </p:txBody>
      </p:sp>
      <p:pic>
        <p:nvPicPr>
          <p:cNvPr id="16896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9701" y="2843214"/>
            <a:ext cx="6831013" cy="188118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8966" name="Rectangle 5"/>
          <p:cNvSpPr>
            <a:spLocks noChangeArrowheads="1"/>
          </p:cNvSpPr>
          <p:nvPr/>
        </p:nvSpPr>
        <p:spPr bwMode="auto">
          <a:xfrm>
            <a:off x="1676400" y="4875214"/>
            <a:ext cx="8686800" cy="13731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just">
              <a:spcBef>
                <a:spcPct val="0"/>
              </a:spcBef>
              <a:buClrTx/>
              <a:buFontTx/>
              <a:buNone/>
            </a:pPr>
            <a:r>
              <a:rPr lang="en-US" altLang="zh-CN" sz="2800" b="1" i="1">
                <a:latin typeface="Calibri" panose="020F0502020204030204" pitchFamily="34" charset="0"/>
                <a:ea typeface="宋体" panose="02010600030101010101" pitchFamily="2" charset="-122"/>
                <a:cs typeface="Calibri" panose="020F0502020204030204" pitchFamily="34" charset="0"/>
              </a:rPr>
              <a:t>Number of granted addresses to the ISP: 65,536</a:t>
            </a:r>
          </a:p>
          <a:p>
            <a:pPr algn="just">
              <a:spcBef>
                <a:spcPct val="0"/>
              </a:spcBef>
              <a:buClrTx/>
              <a:buFontTx/>
              <a:buNone/>
            </a:pPr>
            <a:r>
              <a:rPr lang="en-US" altLang="zh-CN" sz="2800" b="1" i="1">
                <a:latin typeface="Calibri" panose="020F0502020204030204" pitchFamily="34" charset="0"/>
                <a:ea typeface="宋体" panose="02010600030101010101" pitchFamily="2" charset="-122"/>
                <a:cs typeface="Calibri" panose="020F0502020204030204" pitchFamily="34" charset="0"/>
              </a:rPr>
              <a:t>Number of allocated addresses by the ISP: 40,960</a:t>
            </a:r>
          </a:p>
          <a:p>
            <a:pPr algn="just">
              <a:spcBef>
                <a:spcPct val="0"/>
              </a:spcBef>
              <a:buClrTx/>
              <a:buFontTx/>
              <a:buNone/>
            </a:pPr>
            <a:r>
              <a:rPr lang="en-US" altLang="zh-CN" sz="2800" b="1" i="1">
                <a:latin typeface="Calibri" panose="020F0502020204030204" pitchFamily="34" charset="0"/>
                <a:ea typeface="宋体" panose="02010600030101010101" pitchFamily="2" charset="-122"/>
                <a:cs typeface="Calibri" panose="020F0502020204030204" pitchFamily="34" charset="0"/>
              </a:rPr>
              <a:t>Number of available addresses: 24,576</a:t>
            </a:r>
          </a:p>
        </p:txBody>
      </p:sp>
      <p:sp>
        <p:nvSpPr>
          <p:cNvPr id="7" name="矩形 6">
            <a:extLst>
              <a:ext uri="{FF2B5EF4-FFF2-40B4-BE49-F238E27FC236}">
                <a16:creationId xmlns:a16="http://schemas.microsoft.com/office/drawing/2014/main" id="{FFF24972-36D5-4928-9D9E-A172A692E525}"/>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 </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Continued</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195902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1710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488" y="1371601"/>
            <a:ext cx="8896625" cy="4340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04E769CD-BCF8-4EA9-9D97-B7BA519D6BEC}"/>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An example of address allocation and distribution by an ISP</a:t>
            </a:r>
          </a:p>
        </p:txBody>
      </p:sp>
    </p:spTree>
    <p:extLst>
      <p:ext uri="{BB962C8B-B14F-4D97-AF65-F5344CB8AC3E}">
        <p14:creationId xmlns:p14="http://schemas.microsoft.com/office/powerpoint/2010/main" val="160785325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57700" name="Rectangle 3"/>
          <p:cNvSpPr>
            <a:spLocks noGrp="1" noChangeArrowheads="1"/>
          </p:cNvSpPr>
          <p:nvPr>
            <p:ph idx="1"/>
          </p:nvPr>
        </p:nvSpPr>
        <p:spPr>
          <a:xfrm>
            <a:off x="1372085" y="1223170"/>
            <a:ext cx="9575799" cy="1048541"/>
          </a:xfrm>
        </p:spPr>
        <p:txBody>
          <a:bodyPr/>
          <a:lstStyle/>
          <a:p>
            <a:pPr>
              <a:lnSpc>
                <a:spcPct val="100000"/>
              </a:lnSpc>
            </a:pPr>
            <a:r>
              <a:rPr lang="en-US" altLang="zh-CN" dirty="0">
                <a:ea typeface="宋体" panose="02010600030101010101" pitchFamily="2" charset="-122"/>
              </a:rPr>
              <a:t>Aggregation joins multiple IP prefixes into a single  larger prefix to reduce routing table size</a:t>
            </a:r>
          </a:p>
        </p:txBody>
      </p:sp>
      <p:pic>
        <p:nvPicPr>
          <p:cNvPr id="157701"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68575" y="2136776"/>
            <a:ext cx="7153275"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2" name="TextBox 8"/>
          <p:cNvSpPr txBox="1">
            <a:spLocks noChangeArrowheads="1"/>
          </p:cNvSpPr>
          <p:nvPr/>
        </p:nvSpPr>
        <p:spPr bwMode="auto">
          <a:xfrm>
            <a:off x="6145213" y="5908676"/>
            <a:ext cx="4070350" cy="2778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 ISP customers have different prefixes</a:t>
            </a:r>
          </a:p>
        </p:txBody>
      </p:sp>
      <p:sp>
        <p:nvSpPr>
          <p:cNvPr id="157703" name="TextBox 9"/>
          <p:cNvSpPr txBox="1">
            <a:spLocks noChangeArrowheads="1"/>
          </p:cNvSpPr>
          <p:nvPr/>
        </p:nvSpPr>
        <p:spPr bwMode="auto">
          <a:xfrm>
            <a:off x="3535363" y="4662489"/>
            <a:ext cx="1949450" cy="5540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r>
              <a:rPr lang="en-US" altLang="zh-CN" sz="1800" dirty="0">
                <a:solidFill>
                  <a:srgbClr val="FF2BD8"/>
                </a:solidFill>
                <a:ea typeface="宋体" panose="02010600030101010101" pitchFamily="2" charset="-122"/>
              </a:rPr>
              <a:t> ISP advertises</a:t>
            </a:r>
          </a:p>
          <a:p>
            <a:pPr algn="ctr" eaLnBrk="1" hangingPunct="1">
              <a:spcBef>
                <a:spcPct val="0"/>
              </a:spcBef>
              <a:buClrTx/>
              <a:buFontTx/>
              <a:buNone/>
            </a:pPr>
            <a:r>
              <a:rPr lang="en-US" altLang="zh-CN" sz="1800" dirty="0">
                <a:solidFill>
                  <a:srgbClr val="FF2BD8"/>
                </a:solidFill>
                <a:ea typeface="宋体" panose="02010600030101010101" pitchFamily="2" charset="-122"/>
              </a:rPr>
              <a:t>a single prefix</a:t>
            </a:r>
          </a:p>
        </p:txBody>
      </p:sp>
      <p:sp>
        <p:nvSpPr>
          <p:cNvPr id="8" name="矩形 7">
            <a:extLst>
              <a:ext uri="{FF2B5EF4-FFF2-40B4-BE49-F238E27FC236}">
                <a16:creationId xmlns:a16="http://schemas.microsoft.com/office/drawing/2014/main" id="{761AB386-D739-4830-BE98-6448C07C3F91}"/>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IP Address Aggregation </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5757596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842755" name="Rectangle 3"/>
          <p:cNvSpPr>
            <a:spLocks noGrp="1" noChangeArrowheads="1"/>
          </p:cNvSpPr>
          <p:nvPr>
            <p:ph type="body" idx="1"/>
          </p:nvPr>
        </p:nvSpPr>
        <p:spPr>
          <a:xfrm>
            <a:off x="1962161" y="1966914"/>
            <a:ext cx="8550266" cy="4821237"/>
          </a:xfrm>
        </p:spPr>
        <p:txBody>
          <a:bodyPr/>
          <a:lstStyle/>
          <a:p>
            <a:pPr>
              <a:lnSpc>
                <a:spcPct val="110000"/>
              </a:lnSpc>
            </a:pPr>
            <a:r>
              <a:rPr lang="en-AU" altLang="zh-CN" dirty="0">
                <a:ea typeface="宋体" panose="02010600030101010101" pitchFamily="2" charset="-122"/>
              </a:rPr>
              <a:t>Four class C networks were put together to form the </a:t>
            </a:r>
            <a:r>
              <a:rPr lang="en-AU" altLang="zh-CN" dirty="0" err="1">
                <a:ea typeface="宋体" panose="02010600030101010101" pitchFamily="2" charset="-122"/>
              </a:rPr>
              <a:t>supernet</a:t>
            </a:r>
            <a:r>
              <a:rPr lang="en-AU" altLang="zh-CN" dirty="0">
                <a:ea typeface="宋体" panose="02010600030101010101" pitchFamily="2" charset="-122"/>
              </a:rPr>
              <a:t>:</a:t>
            </a:r>
          </a:p>
          <a:p>
            <a:pPr lvl="1">
              <a:lnSpc>
                <a:spcPct val="110000"/>
              </a:lnSpc>
            </a:pPr>
            <a:r>
              <a:rPr lang="en-US" altLang="zh-CN" dirty="0">
                <a:ea typeface="宋体" panose="02010600030101010101" pitchFamily="2" charset="-122"/>
              </a:rPr>
              <a:t>192.230.20. 0</a:t>
            </a:r>
          </a:p>
          <a:p>
            <a:pPr lvl="1">
              <a:lnSpc>
                <a:spcPct val="110000"/>
              </a:lnSpc>
            </a:pPr>
            <a:r>
              <a:rPr lang="en-US" altLang="zh-CN" dirty="0">
                <a:ea typeface="宋体" panose="02010600030101010101" pitchFamily="2" charset="-122"/>
              </a:rPr>
              <a:t>192.230.21. 0</a:t>
            </a:r>
          </a:p>
          <a:p>
            <a:pPr lvl="1">
              <a:lnSpc>
                <a:spcPct val="110000"/>
              </a:lnSpc>
            </a:pPr>
            <a:r>
              <a:rPr lang="en-US" altLang="zh-CN" dirty="0">
                <a:ea typeface="宋体" panose="02010600030101010101" pitchFamily="2" charset="-122"/>
              </a:rPr>
              <a:t>192.230.22. 0</a:t>
            </a:r>
          </a:p>
          <a:p>
            <a:pPr lvl="1">
              <a:lnSpc>
                <a:spcPct val="110000"/>
              </a:lnSpc>
            </a:pPr>
            <a:r>
              <a:rPr lang="en-US" altLang="zh-CN" dirty="0">
                <a:ea typeface="宋体" panose="02010600030101010101" pitchFamily="2" charset="-122"/>
              </a:rPr>
              <a:t>192.230.23. 0</a:t>
            </a:r>
          </a:p>
          <a:p>
            <a:pPr>
              <a:lnSpc>
                <a:spcPct val="110000"/>
              </a:lnSpc>
            </a:pPr>
            <a:r>
              <a:rPr lang="en-AU" altLang="zh-CN" dirty="0">
                <a:ea typeface="宋体" panose="02010600030101010101" pitchFamily="2" charset="-122"/>
              </a:rPr>
              <a:t>The address of lowest network together with the </a:t>
            </a:r>
            <a:r>
              <a:rPr lang="en-AU" altLang="zh-CN" dirty="0" err="1">
                <a:ea typeface="宋体" panose="02010600030101010101" pitchFamily="2" charset="-122"/>
              </a:rPr>
              <a:t>supernet</a:t>
            </a:r>
            <a:r>
              <a:rPr lang="en-AU" altLang="zh-CN" dirty="0">
                <a:ea typeface="宋体" panose="02010600030101010101" pitchFamily="2" charset="-122"/>
              </a:rPr>
              <a:t> mask is required in the global routers for routing :  </a:t>
            </a:r>
            <a:r>
              <a:rPr lang="en-US" altLang="zh-CN" b="1" i="1" dirty="0">
                <a:solidFill>
                  <a:srgbClr val="0000FF"/>
                </a:solidFill>
                <a:ea typeface="宋体" panose="02010600030101010101" pitchFamily="2" charset="-122"/>
              </a:rPr>
              <a:t>192.230.20.0 / 22</a:t>
            </a:r>
          </a:p>
        </p:txBody>
      </p:sp>
      <p:grpSp>
        <p:nvGrpSpPr>
          <p:cNvPr id="842756" name="Group 4"/>
          <p:cNvGrpSpPr>
            <a:grpSpLocks/>
          </p:cNvGrpSpPr>
          <p:nvPr/>
        </p:nvGrpSpPr>
        <p:grpSpPr bwMode="auto">
          <a:xfrm>
            <a:off x="5102226" y="2874965"/>
            <a:ext cx="4429125" cy="1882775"/>
            <a:chOff x="2506" y="1910"/>
            <a:chExt cx="2790" cy="1186"/>
          </a:xfrm>
        </p:grpSpPr>
        <p:sp>
          <p:nvSpPr>
            <p:cNvPr id="161810" name="Rectangle 5"/>
            <p:cNvSpPr>
              <a:spLocks noChangeArrowheads="1"/>
            </p:cNvSpPr>
            <p:nvPr/>
          </p:nvSpPr>
          <p:spPr bwMode="auto">
            <a:xfrm>
              <a:off x="2506" y="1910"/>
              <a:ext cx="2790" cy="23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b="1" dirty="0">
                  <a:ea typeface="宋体" panose="02010600030101010101" pitchFamily="2" charset="-122"/>
                </a:rPr>
                <a:t>11000000 11100110 000101</a:t>
              </a:r>
              <a:r>
                <a:rPr lang="en-US" altLang="zh-CN" sz="1800" b="1" u="sng" dirty="0">
                  <a:solidFill>
                    <a:srgbClr val="A50021"/>
                  </a:solidFill>
                  <a:ea typeface="宋体" panose="02010600030101010101" pitchFamily="2" charset="-122"/>
                </a:rPr>
                <a:t>00</a:t>
              </a:r>
              <a:r>
                <a:rPr lang="en-US" altLang="zh-CN" sz="1800" b="1" dirty="0">
                  <a:ea typeface="宋体" panose="02010600030101010101" pitchFamily="2" charset="-122"/>
                </a:rPr>
                <a:t> 00000000</a:t>
              </a:r>
            </a:p>
          </p:txBody>
        </p:sp>
        <p:sp>
          <p:nvSpPr>
            <p:cNvPr id="161811" name="Rectangle 6"/>
            <p:cNvSpPr>
              <a:spLocks noChangeArrowheads="1"/>
            </p:cNvSpPr>
            <p:nvPr/>
          </p:nvSpPr>
          <p:spPr bwMode="auto">
            <a:xfrm>
              <a:off x="2506" y="2228"/>
              <a:ext cx="2790" cy="23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b="1">
                  <a:ea typeface="宋体" panose="02010600030101010101" pitchFamily="2" charset="-122"/>
                </a:rPr>
                <a:t>11000000 11100110 000101</a:t>
              </a:r>
              <a:r>
                <a:rPr lang="en-US" altLang="zh-CN" sz="1800" b="1" u="sng">
                  <a:solidFill>
                    <a:srgbClr val="A50021"/>
                  </a:solidFill>
                  <a:ea typeface="宋体" panose="02010600030101010101" pitchFamily="2" charset="-122"/>
                </a:rPr>
                <a:t>01</a:t>
              </a:r>
              <a:r>
                <a:rPr lang="en-US" altLang="zh-CN" sz="1800" b="1">
                  <a:ea typeface="宋体" panose="02010600030101010101" pitchFamily="2" charset="-122"/>
                </a:rPr>
                <a:t> 00000000</a:t>
              </a:r>
            </a:p>
          </p:txBody>
        </p:sp>
        <p:sp>
          <p:nvSpPr>
            <p:cNvPr id="161812" name="Rectangle 7"/>
            <p:cNvSpPr>
              <a:spLocks noChangeArrowheads="1"/>
            </p:cNvSpPr>
            <p:nvPr/>
          </p:nvSpPr>
          <p:spPr bwMode="auto">
            <a:xfrm>
              <a:off x="2506" y="2545"/>
              <a:ext cx="2782" cy="23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b="1">
                  <a:ea typeface="宋体" panose="02010600030101010101" pitchFamily="2" charset="-122"/>
                </a:rPr>
                <a:t>11000000 11100110 000101</a:t>
              </a:r>
              <a:r>
                <a:rPr lang="en-US" altLang="zh-CN" sz="1800" b="1" u="sng">
                  <a:solidFill>
                    <a:srgbClr val="A50021"/>
                  </a:solidFill>
                  <a:ea typeface="宋体" panose="02010600030101010101" pitchFamily="2" charset="-122"/>
                </a:rPr>
                <a:t>10</a:t>
              </a:r>
              <a:r>
                <a:rPr lang="en-US" altLang="zh-CN" sz="1800" b="1">
                  <a:ea typeface="宋体" panose="02010600030101010101" pitchFamily="2" charset="-122"/>
                </a:rPr>
                <a:t> 00000000</a:t>
              </a:r>
            </a:p>
          </p:txBody>
        </p:sp>
        <p:sp>
          <p:nvSpPr>
            <p:cNvPr id="161813" name="Rectangle 8"/>
            <p:cNvSpPr>
              <a:spLocks noChangeArrowheads="1"/>
            </p:cNvSpPr>
            <p:nvPr/>
          </p:nvSpPr>
          <p:spPr bwMode="auto">
            <a:xfrm>
              <a:off x="2506" y="2863"/>
              <a:ext cx="2774" cy="23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b="1" dirty="0">
                  <a:ea typeface="宋体" panose="02010600030101010101" pitchFamily="2" charset="-122"/>
                </a:rPr>
                <a:t>11000000 11100110 000101</a:t>
              </a:r>
              <a:r>
                <a:rPr lang="en-US" altLang="zh-CN" sz="1800" b="1" u="sng" dirty="0">
                  <a:solidFill>
                    <a:srgbClr val="A50021"/>
                  </a:solidFill>
                  <a:ea typeface="宋体" panose="02010600030101010101" pitchFamily="2" charset="-122"/>
                </a:rPr>
                <a:t>11</a:t>
              </a:r>
              <a:r>
                <a:rPr lang="en-US" altLang="zh-CN" sz="1800" b="1" dirty="0">
                  <a:ea typeface="宋体" panose="02010600030101010101" pitchFamily="2" charset="-122"/>
                </a:rPr>
                <a:t> 00000000</a:t>
              </a:r>
            </a:p>
          </p:txBody>
        </p:sp>
      </p:grpSp>
      <p:sp>
        <p:nvSpPr>
          <p:cNvPr id="161798" name="Rectangle 2"/>
          <p:cNvSpPr>
            <a:spLocks noChangeArrowheads="1"/>
          </p:cNvSpPr>
          <p:nvPr/>
        </p:nvSpPr>
        <p:spPr bwMode="auto">
          <a:xfrm>
            <a:off x="7554913" y="1428750"/>
            <a:ext cx="2087562" cy="452438"/>
          </a:xfrm>
          <a:prstGeom prst="rect">
            <a:avLst/>
          </a:prstGeom>
          <a:solidFill>
            <a:srgbClr val="66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Helvetica" panose="020B0604020202020204" pitchFamily="34" charset="0"/>
              <a:ea typeface="宋体" panose="02010600030101010101" pitchFamily="2" charset="-122"/>
            </a:endParaRPr>
          </a:p>
        </p:txBody>
      </p:sp>
      <p:sp>
        <p:nvSpPr>
          <p:cNvPr id="161799" name="Rectangle 4"/>
          <p:cNvSpPr>
            <a:spLocks noChangeArrowheads="1"/>
          </p:cNvSpPr>
          <p:nvPr/>
        </p:nvSpPr>
        <p:spPr bwMode="auto">
          <a:xfrm>
            <a:off x="2082800" y="1390651"/>
            <a:ext cx="7543800" cy="47942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Helvetica" panose="020B0604020202020204" pitchFamily="34" charset="0"/>
              <a:ea typeface="宋体" panose="02010600030101010101" pitchFamily="2" charset="-122"/>
            </a:endParaRPr>
          </a:p>
        </p:txBody>
      </p:sp>
      <p:sp>
        <p:nvSpPr>
          <p:cNvPr id="161800" name="Text Box 5"/>
          <p:cNvSpPr txBox="1">
            <a:spLocks noChangeArrowheads="1"/>
          </p:cNvSpPr>
          <p:nvPr/>
        </p:nvSpPr>
        <p:spPr bwMode="auto">
          <a:xfrm>
            <a:off x="3883025" y="841375"/>
            <a:ext cx="22098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FontTx/>
              <a:buNone/>
            </a:pPr>
            <a:r>
              <a:rPr lang="en-US" altLang="zh-CN" sz="1800">
                <a:latin typeface="Tahoma" panose="020B0604030504040204" pitchFamily="34" charset="0"/>
                <a:ea typeface="宋体" panose="02010600030101010101" pitchFamily="2" charset="-122"/>
              </a:rPr>
              <a:t>Internet part</a:t>
            </a:r>
          </a:p>
        </p:txBody>
      </p:sp>
      <p:sp>
        <p:nvSpPr>
          <p:cNvPr id="161801" name="Line 6"/>
          <p:cNvSpPr>
            <a:spLocks noChangeShapeType="1"/>
          </p:cNvSpPr>
          <p:nvPr/>
        </p:nvSpPr>
        <p:spPr bwMode="auto">
          <a:xfrm>
            <a:off x="7554913" y="1390651"/>
            <a:ext cx="0" cy="4794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2" name="Text Box 7"/>
          <p:cNvSpPr txBox="1">
            <a:spLocks noChangeArrowheads="1"/>
          </p:cNvSpPr>
          <p:nvPr/>
        </p:nvSpPr>
        <p:spPr bwMode="auto">
          <a:xfrm>
            <a:off x="7915276" y="1500188"/>
            <a:ext cx="15843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FontTx/>
              <a:buNone/>
            </a:pPr>
            <a:r>
              <a:rPr lang="en-US" altLang="zh-CN" sz="1800">
                <a:latin typeface="Tahoma" panose="020B0604030504040204" pitchFamily="34" charset="0"/>
                <a:ea typeface="宋体" panose="02010600030101010101" pitchFamily="2" charset="-122"/>
              </a:rPr>
              <a:t>Host ID</a:t>
            </a:r>
          </a:p>
        </p:txBody>
      </p:sp>
      <p:sp>
        <p:nvSpPr>
          <p:cNvPr id="161803" name="Text Box 8"/>
          <p:cNvSpPr txBox="1">
            <a:spLocks noChangeArrowheads="1"/>
          </p:cNvSpPr>
          <p:nvPr/>
        </p:nvSpPr>
        <p:spPr bwMode="auto">
          <a:xfrm>
            <a:off x="7832725" y="841375"/>
            <a:ext cx="233203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FontTx/>
              <a:buNone/>
            </a:pPr>
            <a:r>
              <a:rPr lang="en-US" altLang="zh-CN" sz="1800">
                <a:latin typeface="Tahoma" panose="020B0604030504040204" pitchFamily="34" charset="0"/>
                <a:ea typeface="宋体" panose="02010600030101010101" pitchFamily="2" charset="-122"/>
              </a:rPr>
              <a:t>Local part</a:t>
            </a:r>
          </a:p>
        </p:txBody>
      </p:sp>
      <p:sp>
        <p:nvSpPr>
          <p:cNvPr id="161804" name="Line 9"/>
          <p:cNvSpPr>
            <a:spLocks noChangeShapeType="1"/>
          </p:cNvSpPr>
          <p:nvPr/>
        </p:nvSpPr>
        <p:spPr bwMode="auto">
          <a:xfrm flipV="1">
            <a:off x="7516814" y="1235075"/>
            <a:ext cx="2149475"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05" name="Line 10"/>
          <p:cNvSpPr>
            <a:spLocks noChangeShapeType="1"/>
          </p:cNvSpPr>
          <p:nvPr/>
        </p:nvSpPr>
        <p:spPr bwMode="auto">
          <a:xfrm>
            <a:off x="2082801" y="1219201"/>
            <a:ext cx="5472113" cy="11113"/>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 name="Group 16"/>
          <p:cNvGrpSpPr>
            <a:grpSpLocks/>
          </p:cNvGrpSpPr>
          <p:nvPr/>
        </p:nvGrpSpPr>
        <p:grpSpPr bwMode="auto">
          <a:xfrm>
            <a:off x="7050089" y="1390650"/>
            <a:ext cx="504825" cy="477838"/>
            <a:chOff x="3560" y="1728"/>
            <a:chExt cx="318" cy="477"/>
          </a:xfrm>
        </p:grpSpPr>
        <p:sp>
          <p:nvSpPr>
            <p:cNvPr id="161808" name="Rectangle 17"/>
            <p:cNvSpPr>
              <a:spLocks noChangeArrowheads="1"/>
            </p:cNvSpPr>
            <p:nvPr/>
          </p:nvSpPr>
          <p:spPr bwMode="auto">
            <a:xfrm>
              <a:off x="3560" y="1752"/>
              <a:ext cx="318" cy="45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endParaRPr lang="zh-CN" altLang="en-US" sz="1800">
                <a:latin typeface="Helvetica" panose="020B0604020202020204" pitchFamily="34" charset="0"/>
                <a:ea typeface="宋体" panose="02010600030101010101" pitchFamily="2" charset="-122"/>
              </a:endParaRPr>
            </a:p>
          </p:txBody>
        </p:sp>
        <p:sp>
          <p:nvSpPr>
            <p:cNvPr id="161809" name="Line 18"/>
            <p:cNvSpPr>
              <a:spLocks noChangeShapeType="1"/>
            </p:cNvSpPr>
            <p:nvPr/>
          </p:nvSpPr>
          <p:spPr bwMode="auto">
            <a:xfrm>
              <a:off x="3560" y="1728"/>
              <a:ext cx="0" cy="47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61807" name="Text Box 19"/>
          <p:cNvSpPr txBox="1">
            <a:spLocks noChangeArrowheads="1"/>
          </p:cNvSpPr>
          <p:nvPr/>
        </p:nvSpPr>
        <p:spPr bwMode="auto">
          <a:xfrm>
            <a:off x="3810000" y="1500188"/>
            <a:ext cx="19446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FontTx/>
              <a:buNone/>
            </a:pPr>
            <a:r>
              <a:rPr lang="en-US" altLang="zh-CN" sz="1800">
                <a:latin typeface="Tahoma" panose="020B0604030504040204" pitchFamily="34" charset="0"/>
                <a:ea typeface="宋体" panose="02010600030101010101" pitchFamily="2" charset="-122"/>
              </a:rPr>
              <a:t>Network ID</a:t>
            </a:r>
          </a:p>
        </p:txBody>
      </p:sp>
      <p:sp>
        <p:nvSpPr>
          <p:cNvPr id="22" name="矩形 21">
            <a:extLst>
              <a:ext uri="{FF2B5EF4-FFF2-40B4-BE49-F238E27FC236}">
                <a16:creationId xmlns:a16="http://schemas.microsoft.com/office/drawing/2014/main" id="{9E369C36-98A3-481D-8305-35952AA3DD38}"/>
              </a:ext>
            </a:extLst>
          </p:cNvPr>
          <p:cNvSpPr/>
          <p:nvPr/>
        </p:nvSpPr>
        <p:spPr>
          <a:xfrm>
            <a:off x="301659" y="276094"/>
            <a:ext cx="11716652" cy="523220"/>
          </a:xfrm>
          <a:prstGeom prst="rect">
            <a:avLst/>
          </a:prstGeom>
          <a:solidFill>
            <a:sysClr val="window" lastClr="FFFFFF"/>
          </a:solidFill>
        </p:spPr>
        <p:txBody>
          <a:bodyPr wrap="square">
            <a:spAutoFit/>
          </a:bodyPr>
          <a:lstStyle/>
          <a:p>
            <a:r>
              <a:rPr lang="en-AU" altLang="zh-CN" sz="2800" b="1" kern="0" dirty="0" err="1">
                <a:solidFill>
                  <a:srgbClr val="C00000"/>
                </a:solidFill>
                <a:latin typeface="微软雅黑" panose="020B0503020204020204" pitchFamily="34" charset="-122"/>
                <a:ea typeface="微软雅黑" panose="020B0503020204020204" pitchFamily="34" charset="-122"/>
                <a:cs typeface="+mn-cs"/>
              </a:rPr>
              <a:t>Supernet</a:t>
            </a:r>
            <a:r>
              <a:rPr lang="en-AU" altLang="zh-CN" sz="2800" b="1" kern="0" dirty="0">
                <a:solidFill>
                  <a:srgbClr val="C00000"/>
                </a:solidFill>
                <a:latin typeface="微软雅黑" panose="020B0503020204020204" pitchFamily="34" charset="-122"/>
                <a:ea typeface="微软雅黑" panose="020B0503020204020204" pitchFamily="34" charset="-122"/>
                <a:cs typeface="+mn-cs"/>
              </a:rPr>
              <a:t> </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 an example</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349135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27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2755">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edge">
                                      <p:cBhvr>
                                        <p:cTn id="15"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2755" grpId="0" build="p"/>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73060" name="Rectangle 3"/>
          <p:cNvSpPr>
            <a:spLocks noGrp="1" noChangeArrowheads="1"/>
          </p:cNvSpPr>
          <p:nvPr>
            <p:ph idx="1"/>
          </p:nvPr>
        </p:nvSpPr>
        <p:spPr>
          <a:xfrm>
            <a:off x="1549400" y="1377157"/>
            <a:ext cx="9615487" cy="1569244"/>
          </a:xfrm>
        </p:spPr>
        <p:txBody>
          <a:bodyPr/>
          <a:lstStyle/>
          <a:p>
            <a:pPr>
              <a:lnSpc>
                <a:spcPct val="100000"/>
              </a:lnSpc>
            </a:pPr>
            <a:r>
              <a:rPr lang="en-US" altLang="zh-CN" dirty="0">
                <a:ea typeface="宋体" panose="02010600030101010101" pitchFamily="2" charset="-122"/>
              </a:rPr>
              <a:t>Packets are forwarded to the entry with the </a:t>
            </a:r>
            <a:r>
              <a:rPr lang="en-US" altLang="zh-CN" u="sng" dirty="0">
                <a:ea typeface="宋体" panose="02010600030101010101" pitchFamily="2" charset="-122"/>
              </a:rPr>
              <a:t>longest matching prefix</a:t>
            </a:r>
            <a:r>
              <a:rPr lang="en-US" altLang="zh-CN" dirty="0">
                <a:ea typeface="宋体" panose="02010600030101010101" pitchFamily="2" charset="-122"/>
              </a:rPr>
              <a:t> or smallest address block</a:t>
            </a:r>
          </a:p>
          <a:p>
            <a:pPr lvl="1">
              <a:lnSpc>
                <a:spcPct val="100000"/>
              </a:lnSpc>
            </a:pPr>
            <a:r>
              <a:rPr lang="en-US" altLang="zh-CN" dirty="0">
                <a:ea typeface="宋体" panose="02010600030101010101" pitchFamily="2" charset="-122"/>
              </a:rPr>
              <a:t>Complicates forwarding but adds flexibility</a:t>
            </a:r>
          </a:p>
        </p:txBody>
      </p:sp>
      <p:pic>
        <p:nvPicPr>
          <p:cNvPr id="17306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4688" y="3222625"/>
            <a:ext cx="842010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a:extLst>
              <a:ext uri="{FF2B5EF4-FFF2-40B4-BE49-F238E27FC236}">
                <a16:creationId xmlns:a16="http://schemas.microsoft.com/office/drawing/2014/main" id="{FF416C0A-290F-45E6-B4A3-BD6E7AE521B2}"/>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Longest Matching Prefix</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FF8C2DE1-DF86-420C-949D-EFA9F3B1301C}"/>
              </a:ext>
            </a:extLst>
          </p:cNvPr>
          <p:cNvSpPr txBox="1"/>
          <p:nvPr/>
        </p:nvSpPr>
        <p:spPr>
          <a:xfrm>
            <a:off x="3687556" y="5638283"/>
            <a:ext cx="4934364" cy="369332"/>
          </a:xfrm>
          <a:prstGeom prst="rect">
            <a:avLst/>
          </a:prstGeom>
          <a:noFill/>
        </p:spPr>
        <p:txBody>
          <a:bodyPr wrap="none" rtlCol="0">
            <a:spAutoFit/>
          </a:bodyPr>
          <a:lstStyle/>
          <a:p>
            <a:r>
              <a:rPr lang="zh-CN" altLang="en-US" dirty="0">
                <a:solidFill>
                  <a:srgbClr val="FF0000"/>
                </a:solidFill>
              </a:rPr>
              <a:t>假如</a:t>
            </a:r>
            <a:r>
              <a:rPr lang="en-US" altLang="zh-CN" dirty="0" err="1">
                <a:solidFill>
                  <a:srgbClr val="FF0000"/>
                </a:solidFill>
              </a:rPr>
              <a:t>dest</a:t>
            </a:r>
            <a:r>
              <a:rPr lang="en-US" altLang="zh-CN" dirty="0">
                <a:solidFill>
                  <a:srgbClr val="FF0000"/>
                </a:solidFill>
              </a:rPr>
              <a:t> IP 192.24.12.11</a:t>
            </a:r>
            <a:r>
              <a:rPr lang="zh-CN" altLang="en-US" dirty="0">
                <a:solidFill>
                  <a:srgbClr val="FF0000"/>
                </a:solidFill>
              </a:rPr>
              <a:t>，该报文会如何转发？</a:t>
            </a:r>
          </a:p>
        </p:txBody>
      </p:sp>
    </p:spTree>
    <p:extLst>
      <p:ext uri="{BB962C8B-B14F-4D97-AF65-F5344CB8AC3E}">
        <p14:creationId xmlns:p14="http://schemas.microsoft.com/office/powerpoint/2010/main" val="98902352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9126" y="2101850"/>
            <a:ext cx="8397875"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8F39A985-3AE9-4B0C-A1ED-A777210A5154}"/>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Simplified forwarding module in classless address</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8312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46100" y="1005488"/>
            <a:ext cx="11226800" cy="1155156"/>
          </a:xfrm>
        </p:spPr>
        <p:txBody>
          <a:bodyPr>
            <a:normAutofit fontScale="92500"/>
          </a:bodyPr>
          <a:lstStyle/>
          <a:p>
            <a:pPr marL="342900" indent="-342900">
              <a:lnSpc>
                <a:spcPct val="110000"/>
              </a:lnSpc>
              <a:buFont typeface="Arial" panose="020B0604020202020204" pitchFamily="34" charset="0"/>
              <a:buChar char="•"/>
            </a:pPr>
            <a:r>
              <a:rPr lang="en-US" altLang="zh-CN" sz="2400" dirty="0">
                <a:ea typeface="宋体" panose="02010600030101010101" pitchFamily="2" charset="-122"/>
              </a:rPr>
              <a:t>Make a forwarding table for router R1 using the configuration in the figure. Show the forwarding process if a packet arrives at R1 with the destination address 180.70.65.140.</a:t>
            </a:r>
          </a:p>
          <a:p>
            <a:pPr marL="342900" indent="-342900">
              <a:lnSpc>
                <a:spcPct val="110000"/>
              </a:lnSpc>
              <a:buFont typeface="Arial" panose="020B0604020202020204" pitchFamily="34" charset="0"/>
              <a:buChar char="•"/>
            </a:pPr>
            <a:endParaRPr lang="zh-CN" altLang="en-US" sz="2400" dirty="0"/>
          </a:p>
        </p:txBody>
      </p:sp>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998" y="2160644"/>
            <a:ext cx="5693597"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
          <p:cNvGrpSpPr>
            <a:grpSpLocks/>
          </p:cNvGrpSpPr>
          <p:nvPr/>
        </p:nvGrpSpPr>
        <p:grpSpPr bwMode="auto">
          <a:xfrm>
            <a:off x="6634595" y="3127155"/>
            <a:ext cx="5437188" cy="1728952"/>
            <a:chOff x="547851" y="3505200"/>
            <a:chExt cx="8089203" cy="2553695"/>
          </a:xfrm>
        </p:grpSpPr>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851" y="3505200"/>
              <a:ext cx="8089203" cy="2553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0"/>
            <p:cNvSpPr>
              <a:spLocks noChangeArrowheads="1"/>
            </p:cNvSpPr>
            <p:nvPr/>
          </p:nvSpPr>
          <p:spPr bwMode="auto">
            <a:xfrm>
              <a:off x="651641" y="3505200"/>
              <a:ext cx="7806559" cy="2438400"/>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i="1">
                  <a:solidFill>
                    <a:schemeClr val="tx1"/>
                  </a:solidFill>
                  <a:latin typeface="Baby Kruffy"/>
                </a:defRPr>
              </a:lvl1pPr>
              <a:lvl2pPr marL="742950" indent="-285750">
                <a:defRPr sz="3200" b="1" i="1">
                  <a:solidFill>
                    <a:schemeClr val="tx1"/>
                  </a:solidFill>
                  <a:latin typeface="Baby Kruffy"/>
                </a:defRPr>
              </a:lvl2pPr>
              <a:lvl3pPr marL="1143000" indent="-228600">
                <a:defRPr sz="3200" b="1" i="1">
                  <a:solidFill>
                    <a:schemeClr val="tx1"/>
                  </a:solidFill>
                  <a:latin typeface="Baby Kruffy"/>
                </a:defRPr>
              </a:lvl3pPr>
              <a:lvl4pPr marL="1600200" indent="-228600">
                <a:defRPr sz="3200" b="1" i="1">
                  <a:solidFill>
                    <a:schemeClr val="tx1"/>
                  </a:solidFill>
                  <a:latin typeface="Baby Kruffy"/>
                </a:defRPr>
              </a:lvl4pPr>
              <a:lvl5pPr marL="2057400" indent="-22860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endParaRPr lang="zh-CN" altLang="zh-CN">
                <a:ea typeface="宋体" panose="02010600030101010101" pitchFamily="2" charset="-122"/>
              </a:endParaRPr>
            </a:p>
          </p:txBody>
        </p:sp>
      </p:grpSp>
      <p:sp>
        <p:nvSpPr>
          <p:cNvPr id="9" name="矩形 8">
            <a:extLst>
              <a:ext uri="{FF2B5EF4-FFF2-40B4-BE49-F238E27FC236}">
                <a16:creationId xmlns:a16="http://schemas.microsoft.com/office/drawing/2014/main" id="{C1A76F72-D997-4E53-B8A8-BF4915ED7AAF}"/>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Exercises</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040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1253331"/>
            <a:ext cx="10769600" cy="4351338"/>
          </a:xfrm>
        </p:spPr>
        <p:txBody>
          <a:bodyPr/>
          <a:lstStyle/>
          <a:p>
            <a:pPr algn="just"/>
            <a:r>
              <a:rPr lang="en-US" altLang="zh-CN" b="1" i="1" dirty="0">
                <a:latin typeface="Calibri" panose="020F0502020204030204" pitchFamily="34" charset="0"/>
                <a:ea typeface="宋体" panose="02010600030101010101" pitchFamily="2" charset="-122"/>
                <a:cs typeface="Calibri" panose="020F0502020204030204" pitchFamily="34" charset="0"/>
              </a:rPr>
              <a:t>The router performs the following steps:</a:t>
            </a:r>
          </a:p>
          <a:p>
            <a:pPr algn="just"/>
            <a:r>
              <a:rPr lang="en-US" altLang="zh-CN" b="1" i="1" dirty="0">
                <a:solidFill>
                  <a:srgbClr val="FF0000"/>
                </a:solidFill>
                <a:latin typeface="Calibri" panose="020F0502020204030204" pitchFamily="34" charset="0"/>
                <a:ea typeface="宋体" panose="02010600030101010101" pitchFamily="2" charset="-122"/>
                <a:cs typeface="Calibri" panose="020F0502020204030204" pitchFamily="34" charset="0"/>
              </a:rPr>
              <a:t>1. </a:t>
            </a:r>
            <a:r>
              <a:rPr lang="en-US" altLang="zh-CN" b="1" i="1" dirty="0">
                <a:latin typeface="Calibri" panose="020F0502020204030204" pitchFamily="34" charset="0"/>
                <a:ea typeface="宋体" panose="02010600030101010101" pitchFamily="2" charset="-122"/>
                <a:cs typeface="Calibri" panose="020F0502020204030204" pitchFamily="34" charset="0"/>
              </a:rPr>
              <a:t>The first mask (</a:t>
            </a:r>
            <a:r>
              <a:rPr lang="en-US" altLang="zh-CN" b="1" i="1" dirty="0">
                <a:solidFill>
                  <a:srgbClr val="FF0000"/>
                </a:solidFill>
                <a:latin typeface="Calibri" panose="020F0502020204030204" pitchFamily="34" charset="0"/>
                <a:ea typeface="宋体" panose="02010600030101010101" pitchFamily="2" charset="-122"/>
                <a:cs typeface="Calibri" panose="020F0502020204030204" pitchFamily="34" charset="0"/>
              </a:rPr>
              <a:t>/26</a:t>
            </a:r>
            <a:r>
              <a:rPr lang="en-US" altLang="zh-CN" b="1" i="1" dirty="0">
                <a:latin typeface="Calibri" panose="020F0502020204030204" pitchFamily="34" charset="0"/>
                <a:ea typeface="宋体" panose="02010600030101010101" pitchFamily="2" charset="-122"/>
                <a:cs typeface="Calibri" panose="020F0502020204030204" pitchFamily="34" charset="0"/>
              </a:rPr>
              <a:t>) is applied to the destination address. </a:t>
            </a:r>
            <a:br>
              <a:rPr lang="en-US" altLang="zh-CN" b="1" i="1" dirty="0">
                <a:latin typeface="Calibri" panose="020F0502020204030204" pitchFamily="34" charset="0"/>
                <a:ea typeface="宋体" panose="02010600030101010101" pitchFamily="2" charset="-122"/>
                <a:cs typeface="Calibri" panose="020F0502020204030204" pitchFamily="34" charset="0"/>
              </a:rPr>
            </a:br>
            <a:r>
              <a:rPr lang="en-US" altLang="zh-CN" b="1" i="1" dirty="0">
                <a:latin typeface="Calibri" panose="020F0502020204030204" pitchFamily="34" charset="0"/>
                <a:ea typeface="宋体" panose="02010600030101010101" pitchFamily="2" charset="-122"/>
                <a:cs typeface="Calibri" panose="020F0502020204030204" pitchFamily="34" charset="0"/>
              </a:rPr>
              <a:t>     The result is 180.70.65.128, which does not match the </a:t>
            </a:r>
            <a:br>
              <a:rPr lang="en-US" altLang="zh-CN" b="1" i="1" dirty="0">
                <a:latin typeface="Calibri" panose="020F0502020204030204" pitchFamily="34" charset="0"/>
                <a:ea typeface="宋体" panose="02010600030101010101" pitchFamily="2" charset="-122"/>
                <a:cs typeface="Calibri" panose="020F0502020204030204" pitchFamily="34" charset="0"/>
              </a:rPr>
            </a:br>
            <a:r>
              <a:rPr lang="en-US" altLang="zh-CN" b="1" i="1" dirty="0">
                <a:latin typeface="Calibri" panose="020F0502020204030204" pitchFamily="34" charset="0"/>
                <a:ea typeface="宋体" panose="02010600030101010101" pitchFamily="2" charset="-122"/>
                <a:cs typeface="Calibri" panose="020F0502020204030204" pitchFamily="34" charset="0"/>
              </a:rPr>
              <a:t>     corresponding network address.</a:t>
            </a:r>
          </a:p>
          <a:p>
            <a:pPr algn="just"/>
            <a:r>
              <a:rPr lang="en-US" altLang="zh-CN" b="1" i="1" dirty="0">
                <a:solidFill>
                  <a:srgbClr val="FF0000"/>
                </a:solidFill>
                <a:latin typeface="Calibri" panose="020F0502020204030204" pitchFamily="34" charset="0"/>
                <a:ea typeface="宋体" panose="02010600030101010101" pitchFamily="2" charset="-122"/>
                <a:cs typeface="Calibri" panose="020F0502020204030204" pitchFamily="34" charset="0"/>
              </a:rPr>
              <a:t>2. </a:t>
            </a:r>
            <a:r>
              <a:rPr lang="en-US" altLang="zh-CN" b="1" i="1" dirty="0">
                <a:latin typeface="Calibri" panose="020F0502020204030204" pitchFamily="34" charset="0"/>
                <a:ea typeface="宋体" panose="02010600030101010101" pitchFamily="2" charset="-122"/>
                <a:cs typeface="Calibri" panose="020F0502020204030204" pitchFamily="34" charset="0"/>
              </a:rPr>
              <a:t>The second mask (</a:t>
            </a:r>
            <a:r>
              <a:rPr lang="en-US" altLang="zh-CN" b="1" i="1" dirty="0">
                <a:solidFill>
                  <a:srgbClr val="FF0000"/>
                </a:solidFill>
                <a:latin typeface="Calibri" panose="020F0502020204030204" pitchFamily="34" charset="0"/>
                <a:ea typeface="宋体" panose="02010600030101010101" pitchFamily="2" charset="-122"/>
                <a:cs typeface="Calibri" panose="020F0502020204030204" pitchFamily="34" charset="0"/>
              </a:rPr>
              <a:t>/25</a:t>
            </a:r>
            <a:r>
              <a:rPr lang="en-US" altLang="zh-CN" b="1" i="1" dirty="0">
                <a:latin typeface="Calibri" panose="020F0502020204030204" pitchFamily="34" charset="0"/>
                <a:ea typeface="宋体" panose="02010600030101010101" pitchFamily="2" charset="-122"/>
                <a:cs typeface="Calibri" panose="020F0502020204030204" pitchFamily="34" charset="0"/>
              </a:rPr>
              <a:t>) is applied to the destination </a:t>
            </a:r>
            <a:br>
              <a:rPr lang="en-US" altLang="zh-CN" b="1" i="1" dirty="0">
                <a:latin typeface="Calibri" panose="020F0502020204030204" pitchFamily="34" charset="0"/>
                <a:ea typeface="宋体" panose="02010600030101010101" pitchFamily="2" charset="-122"/>
                <a:cs typeface="Calibri" panose="020F0502020204030204" pitchFamily="34" charset="0"/>
              </a:rPr>
            </a:br>
            <a:r>
              <a:rPr lang="en-US" altLang="zh-CN" b="1" i="1" dirty="0">
                <a:latin typeface="Calibri" panose="020F0502020204030204" pitchFamily="34" charset="0"/>
                <a:ea typeface="宋体" panose="02010600030101010101" pitchFamily="2" charset="-122"/>
                <a:cs typeface="Calibri" panose="020F0502020204030204" pitchFamily="34" charset="0"/>
              </a:rPr>
              <a:t>      address. The result is 180.70.65.128, which matches the </a:t>
            </a:r>
            <a:br>
              <a:rPr lang="en-US" altLang="zh-CN" b="1" i="1" dirty="0">
                <a:latin typeface="Calibri" panose="020F0502020204030204" pitchFamily="34" charset="0"/>
                <a:ea typeface="宋体" panose="02010600030101010101" pitchFamily="2" charset="-122"/>
                <a:cs typeface="Calibri" panose="020F0502020204030204" pitchFamily="34" charset="0"/>
              </a:rPr>
            </a:br>
            <a:r>
              <a:rPr lang="en-US" altLang="zh-CN" b="1" i="1" dirty="0">
                <a:latin typeface="Calibri" panose="020F0502020204030204" pitchFamily="34" charset="0"/>
                <a:ea typeface="宋体" panose="02010600030101010101" pitchFamily="2" charset="-122"/>
                <a:cs typeface="Calibri" panose="020F0502020204030204" pitchFamily="34" charset="0"/>
              </a:rPr>
              <a:t>      corresponding network address. The next-hop address </a:t>
            </a:r>
            <a:br>
              <a:rPr lang="en-US" altLang="zh-CN" b="1" i="1" dirty="0">
                <a:latin typeface="Calibri" panose="020F0502020204030204" pitchFamily="34" charset="0"/>
                <a:ea typeface="宋体" panose="02010600030101010101" pitchFamily="2" charset="-122"/>
                <a:cs typeface="Calibri" panose="020F0502020204030204" pitchFamily="34" charset="0"/>
              </a:rPr>
            </a:br>
            <a:r>
              <a:rPr lang="en-US" altLang="zh-CN" b="1" i="1" dirty="0">
                <a:latin typeface="Calibri" panose="020F0502020204030204" pitchFamily="34" charset="0"/>
                <a:ea typeface="宋体" panose="02010600030101010101" pitchFamily="2" charset="-122"/>
                <a:cs typeface="Calibri" panose="020F0502020204030204" pitchFamily="34" charset="0"/>
              </a:rPr>
              <a:t>      and the interface number m0 are extracted for </a:t>
            </a:r>
            <a:br>
              <a:rPr lang="en-US" altLang="zh-CN" b="1" i="1" dirty="0">
                <a:latin typeface="Calibri" panose="020F0502020204030204" pitchFamily="34" charset="0"/>
                <a:ea typeface="宋体" panose="02010600030101010101" pitchFamily="2" charset="-122"/>
                <a:cs typeface="Calibri" panose="020F0502020204030204" pitchFamily="34" charset="0"/>
              </a:rPr>
            </a:br>
            <a:r>
              <a:rPr lang="en-US" altLang="zh-CN" b="1" i="1" dirty="0">
                <a:latin typeface="Calibri" panose="020F0502020204030204" pitchFamily="34" charset="0"/>
                <a:ea typeface="宋体" panose="02010600030101010101" pitchFamily="2" charset="-122"/>
                <a:cs typeface="Calibri" panose="020F0502020204030204" pitchFamily="34" charset="0"/>
              </a:rPr>
              <a:t>      forwarding the packet.</a:t>
            </a:r>
          </a:p>
          <a:p>
            <a:endParaRPr lang="zh-CN" altLang="en-US" b="1" i="1" dirty="0"/>
          </a:p>
        </p:txBody>
      </p:sp>
      <p:sp>
        <p:nvSpPr>
          <p:cNvPr id="4" name="页脚占位符 3"/>
          <p:cNvSpPr>
            <a:spLocks noGrp="1"/>
          </p:cNvSpPr>
          <p:nvPr>
            <p:ph type="ftr" sz="quarter" idx="11"/>
          </p:nvPr>
        </p:nvSpPr>
        <p:spPr/>
        <p:txBody>
          <a:bodyPr/>
          <a:lstStyle/>
          <a:p>
            <a:pPr>
              <a:defRPr/>
            </a:pPr>
            <a:r>
              <a:rPr lang="en-US" altLang="zh-CN"/>
              <a:t>Computer Networks, Chapter 5 The Network Layer</a:t>
            </a:r>
            <a:endParaRPr lang="en-US" altLang="zh-CN" i="0"/>
          </a:p>
        </p:txBody>
      </p:sp>
      <p:sp>
        <p:nvSpPr>
          <p:cNvPr id="5" name="矩形 4">
            <a:extLst>
              <a:ext uri="{FF2B5EF4-FFF2-40B4-BE49-F238E27FC236}">
                <a16:creationId xmlns:a16="http://schemas.microsoft.com/office/drawing/2014/main" id="{5994F68B-E2FB-4856-A4B9-A9644727549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Exercises (cont.)</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7536684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188420" name="Rectangle 3"/>
          <p:cNvSpPr>
            <a:spLocks noGrp="1" noChangeArrowheads="1"/>
          </p:cNvSpPr>
          <p:nvPr>
            <p:ph idx="1"/>
          </p:nvPr>
        </p:nvSpPr>
        <p:spPr>
          <a:xfrm>
            <a:off x="831850" y="1049738"/>
            <a:ext cx="10976911" cy="2118912"/>
          </a:xfrm>
        </p:spPr>
        <p:txBody>
          <a:bodyPr>
            <a:normAutofit/>
          </a:bodyPr>
          <a:lstStyle/>
          <a:p>
            <a:r>
              <a:rPr lang="en-US" altLang="zh-CN" dirty="0">
                <a:ea typeface="宋体" panose="02010600030101010101" pitchFamily="2" charset="-122"/>
              </a:rPr>
              <a:t>NAT (Network Address Translation, RFC 3022) box maps one external IP address to many internal IP addresses</a:t>
            </a:r>
          </a:p>
          <a:p>
            <a:pPr lvl="1"/>
            <a:r>
              <a:rPr lang="en-US" altLang="zh-CN" dirty="0">
                <a:ea typeface="宋体" panose="02010600030101010101" pitchFamily="2" charset="-122"/>
              </a:rPr>
              <a:t>Uses TCP/UDP port to tell connections apart</a:t>
            </a:r>
          </a:p>
          <a:p>
            <a:pPr lvl="1"/>
            <a:r>
              <a:rPr lang="en-US" altLang="zh-CN" dirty="0">
                <a:ea typeface="宋体" panose="02010600030101010101" pitchFamily="2" charset="-122"/>
              </a:rPr>
              <a:t>Violates layering (routers should only process up to layer 3); address shortage should instead be solved by IPv6.</a:t>
            </a:r>
          </a:p>
        </p:txBody>
      </p:sp>
      <p:pic>
        <p:nvPicPr>
          <p:cNvPr id="18842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8780" y="3409375"/>
            <a:ext cx="7514440" cy="270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89793C40-D6B6-4DBA-A6C2-3998B8BC71F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NAT</a:t>
            </a:r>
            <a:r>
              <a:rPr lang="en-US" altLang="zh-CN" sz="2800" b="1" kern="0" dirty="0">
                <a:solidFill>
                  <a:srgbClr val="C00000"/>
                </a:solidFill>
                <a:latin typeface="微软雅黑" panose="020B0503020204020204" pitchFamily="34" charset="-122"/>
                <a:ea typeface="微软雅黑" panose="020B0503020204020204" pitchFamily="34" charset="-122"/>
              </a:rPr>
              <a:t>: Network Address Translation</a:t>
            </a:r>
          </a:p>
        </p:txBody>
      </p:sp>
    </p:spTree>
    <p:extLst>
      <p:ext uri="{BB962C8B-B14F-4D97-AF65-F5344CB8AC3E}">
        <p14:creationId xmlns:p14="http://schemas.microsoft.com/office/powerpoint/2010/main" val="24516203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190467" name="Text Box 2"/>
          <p:cNvSpPr txBox="1">
            <a:spLocks noChangeArrowheads="1"/>
          </p:cNvSpPr>
          <p:nvPr/>
        </p:nvSpPr>
        <p:spPr bwMode="auto">
          <a:xfrm>
            <a:off x="2978150" y="3001963"/>
            <a:ext cx="61150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2800" dirty="0">
                <a:latin typeface="Times New Roman" panose="02020603050405020304" pitchFamily="18" charset="0"/>
                <a:ea typeface="宋体" panose="02010600030101010101" pitchFamily="2" charset="-122"/>
              </a:rPr>
              <a:t>Addresses for private networks</a:t>
            </a:r>
          </a:p>
        </p:txBody>
      </p:sp>
      <p:pic>
        <p:nvPicPr>
          <p:cNvPr id="19046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7339" y="3727450"/>
            <a:ext cx="6434137"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a:extLst>
              <a:ext uri="{FF2B5EF4-FFF2-40B4-BE49-F238E27FC236}">
                <a16:creationId xmlns:a16="http://schemas.microsoft.com/office/drawing/2014/main" id="{22314A94-188E-4E07-BD8D-2B797B3E259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NAT – Network Address Translation</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E39C4E98-ECCC-4A50-932D-CE88B64F0F08}"/>
              </a:ext>
            </a:extLst>
          </p:cNvPr>
          <p:cNvSpPr txBox="1"/>
          <p:nvPr/>
        </p:nvSpPr>
        <p:spPr>
          <a:xfrm>
            <a:off x="791210" y="1294614"/>
            <a:ext cx="10998200" cy="1015663"/>
          </a:xfrm>
          <a:prstGeom prst="rect">
            <a:avLst/>
          </a:prstGeom>
          <a:noFill/>
        </p:spPr>
        <p:txBody>
          <a:bodyPr wrap="square">
            <a:spAutoFit/>
          </a:bodyPr>
          <a:lstStyle/>
          <a:p>
            <a:pPr marL="285750" indent="-285750">
              <a:buFont typeface="Arial" panose="020B0604020202020204" pitchFamily="34" charset="0"/>
              <a:buChar char="•"/>
            </a:pPr>
            <a:r>
              <a:rPr lang="en-US" altLang="zh-CN" sz="2000" b="0" i="0" u="none" strike="noStrike" dirty="0">
                <a:effectLst/>
                <a:latin typeface="微软雅黑" panose="020B0503020204020204" pitchFamily="34" charset="-122"/>
                <a:ea typeface="微软雅黑" panose="020B0503020204020204" pitchFamily="34" charset="-122"/>
              </a:rPr>
              <a:t>IP</a:t>
            </a:r>
            <a:r>
              <a:rPr lang="zh-CN" altLang="en-US" sz="2000" b="0" i="0" u="none" strike="noStrike" dirty="0">
                <a:effectLst/>
                <a:latin typeface="微软雅黑" panose="020B0503020204020204" pitchFamily="34" charset="-122"/>
                <a:ea typeface="微软雅黑" panose="020B0503020204020204" pitchFamily="34" charset="-122"/>
              </a:rPr>
              <a:t>地址</a:t>
            </a:r>
            <a:r>
              <a:rPr lang="zh-CN" altLang="en-US" sz="2000" b="0" i="0" dirty="0">
                <a:effectLst/>
                <a:latin typeface="微软雅黑" panose="020B0503020204020204" pitchFamily="34" charset="-122"/>
                <a:ea typeface="微软雅黑" panose="020B0503020204020204" pitchFamily="34" charset="-122"/>
              </a:rPr>
              <a:t>分为</a:t>
            </a:r>
            <a:r>
              <a:rPr lang="en-US" altLang="zh-CN" sz="2000" b="0" i="0" dirty="0">
                <a:effectLst/>
                <a:latin typeface="微软雅黑" panose="020B0503020204020204" pitchFamily="34" charset="-122"/>
                <a:ea typeface="微软雅黑" panose="020B0503020204020204" pitchFamily="34" charset="-122"/>
              </a:rPr>
              <a:t>5</a:t>
            </a:r>
            <a:r>
              <a:rPr lang="zh-CN" altLang="en-US" sz="2000" b="0" i="0" dirty="0">
                <a:effectLst/>
                <a:latin typeface="微软雅黑" panose="020B0503020204020204" pitchFamily="34" charset="-122"/>
                <a:ea typeface="微软雅黑" panose="020B0503020204020204" pitchFamily="34" charset="-122"/>
              </a:rPr>
              <a:t>类，其中</a:t>
            </a:r>
            <a:r>
              <a:rPr lang="en-US" altLang="zh-CN" sz="2000" b="0" i="0" dirty="0">
                <a:effectLst/>
                <a:latin typeface="微软雅黑" panose="020B0503020204020204" pitchFamily="34" charset="-122"/>
                <a:ea typeface="微软雅黑" panose="020B0503020204020204" pitchFamily="34" charset="-122"/>
              </a:rPr>
              <a:t>A</a:t>
            </a:r>
            <a:r>
              <a:rPr lang="zh-CN" altLang="en-US" sz="2000" b="0" i="0" dirty="0">
                <a:effectLst/>
                <a:latin typeface="微软雅黑" panose="020B0503020204020204" pitchFamily="34" charset="-122"/>
                <a:ea typeface="微软雅黑" panose="020B0503020204020204" pitchFamily="34" charset="-122"/>
              </a:rPr>
              <a:t>，</a:t>
            </a:r>
            <a:r>
              <a:rPr lang="en-US" altLang="zh-CN" sz="2000" b="0" i="0" dirty="0">
                <a:effectLst/>
                <a:latin typeface="微软雅黑" panose="020B0503020204020204" pitchFamily="34" charset="-122"/>
                <a:ea typeface="微软雅黑" panose="020B0503020204020204" pitchFamily="34" charset="-122"/>
              </a:rPr>
              <a:t>B</a:t>
            </a:r>
            <a:r>
              <a:rPr lang="zh-CN" altLang="en-US" sz="2000" b="0" i="0" dirty="0">
                <a:effectLst/>
                <a:latin typeface="微软雅黑" panose="020B0503020204020204" pitchFamily="34" charset="-122"/>
                <a:ea typeface="微软雅黑" panose="020B0503020204020204" pitchFamily="34" charset="-122"/>
              </a:rPr>
              <a:t>，</a:t>
            </a:r>
            <a:r>
              <a:rPr lang="en-US" altLang="zh-CN" sz="2000" b="0" i="0" dirty="0">
                <a:effectLst/>
                <a:latin typeface="微软雅黑" panose="020B0503020204020204" pitchFamily="34" charset="-122"/>
                <a:ea typeface="微软雅黑" panose="020B0503020204020204" pitchFamily="34" charset="-122"/>
              </a:rPr>
              <a:t>C</a:t>
            </a:r>
            <a:r>
              <a:rPr lang="zh-CN" altLang="en-US" sz="2000" b="0" i="0" dirty="0">
                <a:effectLst/>
                <a:latin typeface="微软雅黑" panose="020B0503020204020204" pitchFamily="34" charset="-122"/>
                <a:ea typeface="微软雅黑" panose="020B0503020204020204" pitchFamily="34" charset="-122"/>
              </a:rPr>
              <a:t>三类中各保留了</a:t>
            </a:r>
            <a:r>
              <a:rPr lang="en-US" altLang="zh-CN" sz="2000" b="0" i="0" dirty="0">
                <a:effectLst/>
                <a:latin typeface="微软雅黑" panose="020B0503020204020204" pitchFamily="34" charset="-122"/>
                <a:ea typeface="微软雅黑" panose="020B0503020204020204" pitchFamily="34" charset="-122"/>
              </a:rPr>
              <a:t>3</a:t>
            </a:r>
            <a:r>
              <a:rPr lang="zh-CN" altLang="en-US" sz="2000" b="0" i="0" dirty="0">
                <a:effectLst/>
                <a:latin typeface="微软雅黑" panose="020B0503020204020204" pitchFamily="34" charset="-122"/>
                <a:ea typeface="微软雅黑" panose="020B0503020204020204" pitchFamily="34" charset="-122"/>
              </a:rPr>
              <a:t>个区域作为私网地址，也就是</a:t>
            </a:r>
            <a:r>
              <a:rPr lang="zh-CN" altLang="en-US" sz="2000" b="0" i="0" u="none" strike="noStrike" dirty="0">
                <a:effectLst/>
                <a:latin typeface="微软雅黑" panose="020B0503020204020204" pitchFamily="34" charset="-122"/>
                <a:ea typeface="微软雅黑" panose="020B0503020204020204" pitchFamily="34" charset="-122"/>
              </a:rPr>
              <a:t>局域网</a:t>
            </a:r>
            <a:r>
              <a:rPr lang="zh-CN" altLang="en-US" sz="2000" b="0" i="0" dirty="0">
                <a:effectLst/>
                <a:latin typeface="微软雅黑" panose="020B0503020204020204" pitchFamily="34" charset="-122"/>
                <a:ea typeface="微软雅黑" panose="020B0503020204020204" pitchFamily="34" charset="-122"/>
              </a:rPr>
              <a:t>用的，私网地址不能在公网上出现，只能用在内部网路中，所有的</a:t>
            </a:r>
            <a:r>
              <a:rPr lang="zh-CN" altLang="en-US" sz="2000" b="0" i="0" u="none" strike="noStrike" dirty="0">
                <a:effectLst/>
                <a:latin typeface="微软雅黑" panose="020B0503020204020204" pitchFamily="34" charset="-122"/>
                <a:ea typeface="微软雅黑" panose="020B0503020204020204" pitchFamily="34" charset="-122"/>
              </a:rPr>
              <a:t>路由器</a:t>
            </a:r>
            <a:r>
              <a:rPr lang="zh-CN" altLang="en-US" sz="2000" b="0" i="0" dirty="0">
                <a:effectLst/>
                <a:latin typeface="微软雅黑" panose="020B0503020204020204" pitchFamily="34" charset="-122"/>
                <a:ea typeface="微软雅黑" panose="020B0503020204020204" pitchFamily="34" charset="-122"/>
              </a:rPr>
              <a:t>都不能发送目标地址为私网地址的数据报。</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5548121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89793C40-D6B6-4DBA-A6C2-3998B8BC71F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NAT</a:t>
            </a:r>
            <a:r>
              <a:rPr lang="en-US" altLang="zh-CN" sz="2800" b="1" kern="0" dirty="0">
                <a:solidFill>
                  <a:srgbClr val="C00000"/>
                </a:solidFill>
                <a:latin typeface="微软雅黑" panose="020B0503020204020204" pitchFamily="34" charset="-122"/>
                <a:ea typeface="微软雅黑" panose="020B0503020204020204" pitchFamily="34" charset="-122"/>
              </a:rPr>
              <a:t>: Network Address Translation</a:t>
            </a:r>
          </a:p>
        </p:txBody>
      </p:sp>
      <p:pic>
        <p:nvPicPr>
          <p:cNvPr id="4" name="图片 3">
            <a:extLst>
              <a:ext uri="{FF2B5EF4-FFF2-40B4-BE49-F238E27FC236}">
                <a16:creationId xmlns:a16="http://schemas.microsoft.com/office/drawing/2014/main" id="{9D44CED0-7C08-4DD0-98C0-C2097CD82831}"/>
              </a:ext>
            </a:extLst>
          </p:cNvPr>
          <p:cNvPicPr>
            <a:picLocks noChangeAspect="1"/>
          </p:cNvPicPr>
          <p:nvPr/>
        </p:nvPicPr>
        <p:blipFill>
          <a:blip r:embed="rId3"/>
          <a:stretch>
            <a:fillRect/>
          </a:stretch>
        </p:blipFill>
        <p:spPr>
          <a:xfrm>
            <a:off x="1188224" y="1107494"/>
            <a:ext cx="9201364" cy="5147255"/>
          </a:xfrm>
          <a:prstGeom prst="rect">
            <a:avLst/>
          </a:prstGeom>
        </p:spPr>
      </p:pic>
    </p:spTree>
    <p:extLst>
      <p:ext uri="{BB962C8B-B14F-4D97-AF65-F5344CB8AC3E}">
        <p14:creationId xmlns:p14="http://schemas.microsoft.com/office/powerpoint/2010/main" val="91668029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89793C40-D6B6-4DBA-A6C2-3998B8BC71F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NAT</a:t>
            </a:r>
            <a:r>
              <a:rPr lang="en-US" altLang="zh-CN" sz="2800" b="1" kern="0" dirty="0">
                <a:solidFill>
                  <a:srgbClr val="C00000"/>
                </a:solidFill>
                <a:latin typeface="微软雅黑" panose="020B0503020204020204" pitchFamily="34" charset="-122"/>
                <a:ea typeface="微软雅黑" panose="020B0503020204020204" pitchFamily="34" charset="-122"/>
              </a:rPr>
              <a:t>: Network Address Translation</a:t>
            </a:r>
          </a:p>
        </p:txBody>
      </p:sp>
      <p:pic>
        <p:nvPicPr>
          <p:cNvPr id="2" name="图片 1">
            <a:extLst>
              <a:ext uri="{FF2B5EF4-FFF2-40B4-BE49-F238E27FC236}">
                <a16:creationId xmlns:a16="http://schemas.microsoft.com/office/drawing/2014/main" id="{30CD321C-87A8-4B72-B042-60ABC7B62FF4}"/>
              </a:ext>
            </a:extLst>
          </p:cNvPr>
          <p:cNvPicPr>
            <a:picLocks noChangeAspect="1"/>
          </p:cNvPicPr>
          <p:nvPr/>
        </p:nvPicPr>
        <p:blipFill>
          <a:blip r:embed="rId3"/>
          <a:stretch>
            <a:fillRect/>
          </a:stretch>
        </p:blipFill>
        <p:spPr>
          <a:xfrm>
            <a:off x="1049319" y="1219190"/>
            <a:ext cx="9989931" cy="4946659"/>
          </a:xfrm>
          <a:prstGeom prst="rect">
            <a:avLst/>
          </a:prstGeom>
        </p:spPr>
      </p:pic>
    </p:spTree>
    <p:extLst>
      <p:ext uri="{BB962C8B-B14F-4D97-AF65-F5344CB8AC3E}">
        <p14:creationId xmlns:p14="http://schemas.microsoft.com/office/powerpoint/2010/main" val="4891054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89793C40-D6B6-4DBA-A6C2-3998B8BC71F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NAT</a:t>
            </a:r>
            <a:r>
              <a:rPr lang="en-US" altLang="zh-CN" sz="2800" b="1" kern="0" dirty="0">
                <a:solidFill>
                  <a:srgbClr val="C00000"/>
                </a:solidFill>
                <a:latin typeface="微软雅黑" panose="020B0503020204020204" pitchFamily="34" charset="-122"/>
                <a:ea typeface="微软雅黑" panose="020B0503020204020204" pitchFamily="34" charset="-122"/>
              </a:rPr>
              <a:t>: Network Address Translation</a:t>
            </a:r>
          </a:p>
        </p:txBody>
      </p:sp>
      <p:pic>
        <p:nvPicPr>
          <p:cNvPr id="3" name="图片 2">
            <a:extLst>
              <a:ext uri="{FF2B5EF4-FFF2-40B4-BE49-F238E27FC236}">
                <a16:creationId xmlns:a16="http://schemas.microsoft.com/office/drawing/2014/main" id="{0EA11EB1-D5C4-4B48-9097-D374F9BA9B3B}"/>
              </a:ext>
            </a:extLst>
          </p:cNvPr>
          <p:cNvPicPr>
            <a:picLocks noChangeAspect="1"/>
          </p:cNvPicPr>
          <p:nvPr/>
        </p:nvPicPr>
        <p:blipFill>
          <a:blip r:embed="rId3"/>
          <a:stretch>
            <a:fillRect/>
          </a:stretch>
        </p:blipFill>
        <p:spPr>
          <a:xfrm>
            <a:off x="1232348" y="1181884"/>
            <a:ext cx="9111801" cy="4832827"/>
          </a:xfrm>
          <a:prstGeom prst="rect">
            <a:avLst/>
          </a:prstGeom>
        </p:spPr>
      </p:pic>
    </p:spTree>
    <p:extLst>
      <p:ext uri="{BB962C8B-B14F-4D97-AF65-F5344CB8AC3E}">
        <p14:creationId xmlns:p14="http://schemas.microsoft.com/office/powerpoint/2010/main" val="226059526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89793C40-D6B6-4DBA-A6C2-3998B8BC71F6}"/>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cs typeface="+mn-cs"/>
              </a:rPr>
              <a:t>NAT</a:t>
            </a:r>
            <a:r>
              <a:rPr lang="en-US" altLang="zh-CN" sz="2800" b="1" kern="0" dirty="0">
                <a:solidFill>
                  <a:srgbClr val="C00000"/>
                </a:solidFill>
                <a:latin typeface="微软雅黑" panose="020B0503020204020204" pitchFamily="34" charset="-122"/>
                <a:ea typeface="微软雅黑" panose="020B0503020204020204" pitchFamily="34" charset="-122"/>
              </a:rPr>
              <a:t>: Network Address Translation</a:t>
            </a:r>
          </a:p>
        </p:txBody>
      </p:sp>
      <p:pic>
        <p:nvPicPr>
          <p:cNvPr id="2" name="图片 1">
            <a:extLst>
              <a:ext uri="{FF2B5EF4-FFF2-40B4-BE49-F238E27FC236}">
                <a16:creationId xmlns:a16="http://schemas.microsoft.com/office/drawing/2014/main" id="{F6C0659A-8A50-41AC-B6B7-48F13E09BA06}"/>
              </a:ext>
            </a:extLst>
          </p:cNvPr>
          <p:cNvPicPr>
            <a:picLocks noChangeAspect="1"/>
          </p:cNvPicPr>
          <p:nvPr/>
        </p:nvPicPr>
        <p:blipFill>
          <a:blip r:embed="rId3"/>
          <a:stretch>
            <a:fillRect/>
          </a:stretch>
        </p:blipFill>
        <p:spPr>
          <a:xfrm>
            <a:off x="700067" y="960426"/>
            <a:ext cx="10890488" cy="5761049"/>
          </a:xfrm>
          <a:prstGeom prst="rect">
            <a:avLst/>
          </a:prstGeom>
        </p:spPr>
      </p:pic>
    </p:spTree>
    <p:extLst>
      <p:ext uri="{BB962C8B-B14F-4D97-AF65-F5344CB8AC3E}">
        <p14:creationId xmlns:p14="http://schemas.microsoft.com/office/powerpoint/2010/main" val="351023093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76" y="2041526"/>
            <a:ext cx="7527925"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D47ED337-5FA8-46D3-B6AC-4AC22C2C5630}"/>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A NAT Implementation</a:t>
            </a:r>
          </a:p>
        </p:txBody>
      </p:sp>
    </p:spTree>
    <p:extLst>
      <p:ext uri="{BB962C8B-B14F-4D97-AF65-F5344CB8AC3E}">
        <p14:creationId xmlns:p14="http://schemas.microsoft.com/office/powerpoint/2010/main" val="285402204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726" y="2362201"/>
            <a:ext cx="8169275" cy="255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46638" y="2805113"/>
            <a:ext cx="1173162"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26300" y="2782889"/>
            <a:ext cx="1187450"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72301" y="3752850"/>
            <a:ext cx="17113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a:spLocks noChangeArrowheads="1"/>
          </p:cNvSpPr>
          <p:nvPr/>
        </p:nvSpPr>
        <p:spPr bwMode="auto">
          <a:xfrm>
            <a:off x="1905000" y="2209800"/>
            <a:ext cx="4419600" cy="297180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i="1">
                <a:solidFill>
                  <a:schemeClr val="tx1"/>
                </a:solidFill>
                <a:latin typeface="Baby Kruffy"/>
              </a:defRPr>
            </a:lvl1pPr>
            <a:lvl2pPr marL="742950" indent="-285750">
              <a:defRPr sz="3200" b="1" i="1">
                <a:solidFill>
                  <a:schemeClr val="tx1"/>
                </a:solidFill>
                <a:latin typeface="Baby Kruffy"/>
              </a:defRPr>
            </a:lvl2pPr>
            <a:lvl3pPr marL="1143000" indent="-228600">
              <a:defRPr sz="3200" b="1" i="1">
                <a:solidFill>
                  <a:schemeClr val="tx1"/>
                </a:solidFill>
                <a:latin typeface="Baby Kruffy"/>
              </a:defRPr>
            </a:lvl3pPr>
            <a:lvl4pPr marL="1600200" indent="-228600">
              <a:defRPr sz="3200" b="1" i="1">
                <a:solidFill>
                  <a:schemeClr val="tx1"/>
                </a:solidFill>
                <a:latin typeface="Baby Kruffy"/>
              </a:defRPr>
            </a:lvl4pPr>
            <a:lvl5pPr marL="2057400" indent="-22860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endParaRPr lang="zh-CN" altLang="zh-CN">
              <a:ea typeface="宋体" panose="02010600030101010101" pitchFamily="2" charset="-122"/>
            </a:endParaRPr>
          </a:p>
        </p:txBody>
      </p:sp>
      <p:pic>
        <p:nvPicPr>
          <p:cNvPr id="10"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29114" y="3905250"/>
            <a:ext cx="17113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2093354D-8C93-4851-880F-8EED8F82CFFE}"/>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Addresses in a NAT</a:t>
            </a:r>
          </a:p>
        </p:txBody>
      </p:sp>
    </p:spTree>
    <p:extLst>
      <p:ext uri="{BB962C8B-B14F-4D97-AF65-F5344CB8AC3E}">
        <p14:creationId xmlns:p14="http://schemas.microsoft.com/office/powerpoint/2010/main" val="334577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099" y="1100538"/>
            <a:ext cx="8482012" cy="495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47F5076D-BD00-48D7-8A11-FB88B18EA467}"/>
              </a:ext>
            </a:extLst>
          </p:cNvPr>
          <p:cNvSpPr/>
          <p:nvPr/>
        </p:nvSpPr>
        <p:spPr>
          <a:xfrm>
            <a:off x="301659" y="276094"/>
            <a:ext cx="11716652" cy="523220"/>
          </a:xfrm>
          <a:prstGeom prst="rect">
            <a:avLst/>
          </a:prstGeom>
          <a:solidFill>
            <a:sysClr val="window" lastClr="FFFFFF"/>
          </a:solidFill>
        </p:spPr>
        <p:txBody>
          <a:bodyPr wrap="square">
            <a:spAutoFit/>
          </a:bodyPr>
          <a:lstStyle/>
          <a:p>
            <a:r>
              <a:rPr lang="en-US" altLang="zh-CN" sz="2800" b="1" kern="0" dirty="0">
                <a:solidFill>
                  <a:srgbClr val="C00000"/>
                </a:solidFill>
                <a:latin typeface="微软雅黑" panose="020B0503020204020204" pitchFamily="34" charset="-122"/>
                <a:ea typeface="微软雅黑" panose="020B0503020204020204" pitchFamily="34" charset="-122"/>
              </a:rPr>
              <a:t>NAT Address Translation</a:t>
            </a:r>
          </a:p>
        </p:txBody>
      </p:sp>
      <p:sp>
        <p:nvSpPr>
          <p:cNvPr id="2" name="文本框 1">
            <a:extLst>
              <a:ext uri="{FF2B5EF4-FFF2-40B4-BE49-F238E27FC236}">
                <a16:creationId xmlns:a16="http://schemas.microsoft.com/office/drawing/2014/main" id="{E128A51F-6B6C-4D8D-AFA1-C06E73CCF900}"/>
              </a:ext>
            </a:extLst>
          </p:cNvPr>
          <p:cNvSpPr txBox="1"/>
          <p:nvPr/>
        </p:nvSpPr>
        <p:spPr>
          <a:xfrm>
            <a:off x="5283099" y="3391410"/>
            <a:ext cx="1029449" cy="307777"/>
          </a:xfrm>
          <a:prstGeom prst="rect">
            <a:avLst/>
          </a:prstGeom>
          <a:solidFill>
            <a:srgbClr val="E7E7E8"/>
          </a:solidFill>
        </p:spPr>
        <p:txBody>
          <a:bodyPr wrap="none" rtlCol="0">
            <a:spAutoFit/>
          </a:bodyPr>
          <a:lstStyle/>
          <a:p>
            <a:r>
              <a:rPr lang="en-US" altLang="zh-CN" sz="1400" dirty="0">
                <a:latin typeface="Arial" panose="020B0604020202020204" pitchFamily="34" charset="0"/>
                <a:cs typeface="Arial" panose="020B0604020202020204" pitchFamily="34" charset="0"/>
              </a:rPr>
              <a:t>200.24.5.8</a:t>
            </a:r>
            <a:endParaRPr lang="zh-CN" alt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2559336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198659" name="Text Box 2"/>
          <p:cNvSpPr txBox="1">
            <a:spLocks noChangeArrowheads="1"/>
          </p:cNvSpPr>
          <p:nvPr/>
        </p:nvSpPr>
        <p:spPr bwMode="auto">
          <a:xfrm>
            <a:off x="2551114" y="1566864"/>
            <a:ext cx="708818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a:spcBef>
                <a:spcPct val="0"/>
              </a:spcBef>
              <a:buClrTx/>
              <a:buFontTx/>
              <a:buNone/>
            </a:pPr>
            <a:r>
              <a:rPr lang="en-US" altLang="zh-CN" sz="2800" b="1">
                <a:latin typeface="Times New Roman" panose="02020603050405020304" pitchFamily="18" charset="0"/>
                <a:ea typeface="宋体" panose="02010600030101010101" pitchFamily="2" charset="-122"/>
              </a:rPr>
              <a:t>Five-column translation table</a:t>
            </a:r>
          </a:p>
        </p:txBody>
      </p:sp>
      <p:grpSp>
        <p:nvGrpSpPr>
          <p:cNvPr id="5" name="Group 2"/>
          <p:cNvGrpSpPr>
            <a:grpSpLocks/>
          </p:cNvGrpSpPr>
          <p:nvPr/>
        </p:nvGrpSpPr>
        <p:grpSpPr bwMode="auto">
          <a:xfrm>
            <a:off x="1770063" y="2667001"/>
            <a:ext cx="8596312" cy="2168525"/>
            <a:chOff x="245679" y="2667000"/>
            <a:chExt cx="8597319" cy="2167851"/>
          </a:xfrm>
        </p:grpSpPr>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679" y="2667000"/>
              <a:ext cx="8597319" cy="2167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
            <p:cNvSpPr>
              <a:spLocks noChangeArrowheads="1"/>
            </p:cNvSpPr>
            <p:nvPr/>
          </p:nvSpPr>
          <p:spPr bwMode="auto">
            <a:xfrm>
              <a:off x="346841" y="2743200"/>
              <a:ext cx="8339959" cy="2015451"/>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i="1">
                  <a:solidFill>
                    <a:schemeClr val="tx1"/>
                  </a:solidFill>
                  <a:latin typeface="Baby Kruffy"/>
                </a:defRPr>
              </a:lvl1pPr>
              <a:lvl2pPr marL="742950" indent="-285750">
                <a:defRPr sz="3200" b="1" i="1">
                  <a:solidFill>
                    <a:schemeClr val="tx1"/>
                  </a:solidFill>
                  <a:latin typeface="Baby Kruffy"/>
                </a:defRPr>
              </a:lvl2pPr>
              <a:lvl3pPr marL="1143000" indent="-228600">
                <a:defRPr sz="3200" b="1" i="1">
                  <a:solidFill>
                    <a:schemeClr val="tx1"/>
                  </a:solidFill>
                  <a:latin typeface="Baby Kruffy"/>
                </a:defRPr>
              </a:lvl3pPr>
              <a:lvl4pPr marL="1600200" indent="-228600">
                <a:defRPr sz="3200" b="1" i="1">
                  <a:solidFill>
                    <a:schemeClr val="tx1"/>
                  </a:solidFill>
                  <a:latin typeface="Baby Kruffy"/>
                </a:defRPr>
              </a:lvl4pPr>
              <a:lvl5pPr marL="2057400" indent="-22860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endParaRPr lang="zh-CN" altLang="zh-CN">
                <a:ea typeface="宋体" panose="02010600030101010101" pitchFamily="2" charset="-122"/>
              </a:endParaRPr>
            </a:p>
          </p:txBody>
        </p:sp>
      </p:grpSp>
    </p:spTree>
    <p:extLst>
      <p:ext uri="{BB962C8B-B14F-4D97-AF65-F5344CB8AC3E}">
        <p14:creationId xmlns:p14="http://schemas.microsoft.com/office/powerpoint/2010/main" val="514982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98308" name="Rectangle 3"/>
          <p:cNvSpPr>
            <a:spLocks noGrp="1" noChangeArrowheads="1"/>
          </p:cNvSpPr>
          <p:nvPr>
            <p:ph idx="1"/>
          </p:nvPr>
        </p:nvSpPr>
        <p:spPr>
          <a:xfrm>
            <a:off x="2905125" y="1695450"/>
            <a:ext cx="7315200" cy="4019550"/>
          </a:xfrm>
        </p:spPr>
        <p:txBody>
          <a:bodyPr/>
          <a:lstStyle/>
          <a:p>
            <a:pPr lvl="1"/>
            <a:r>
              <a:rPr lang="it-IT" altLang="zh-CN" dirty="0">
                <a:ea typeface="宋体" panose="02010600030101010101" pitchFamily="2" charset="-122"/>
              </a:rPr>
              <a:t>IP Version 4 </a:t>
            </a:r>
            <a:r>
              <a:rPr lang="en-US" altLang="zh-CN" dirty="0">
                <a:solidFill>
                  <a:srgbClr val="0000FF"/>
                </a:solidFill>
                <a:ea typeface="宋体" panose="02010600030101010101" pitchFamily="2" charset="-122"/>
              </a:rPr>
              <a:t>»</a:t>
            </a:r>
            <a:endParaRPr lang="it-IT" altLang="zh-CN" dirty="0">
              <a:ea typeface="宋体" panose="02010600030101010101" pitchFamily="2" charset="-122"/>
            </a:endParaRPr>
          </a:p>
          <a:p>
            <a:pPr lvl="1"/>
            <a:r>
              <a:rPr lang="en-US" altLang="zh-CN" dirty="0">
                <a:ea typeface="宋体" panose="02010600030101010101" pitchFamily="2" charset="-122"/>
              </a:rPr>
              <a:t>IP Addresses</a:t>
            </a:r>
            <a:r>
              <a:rPr lang="en-US" altLang="zh-CN" dirty="0">
                <a:solidFill>
                  <a:srgbClr val="0000FF"/>
                </a:solidFill>
                <a:ea typeface="宋体" panose="02010600030101010101" pitchFamily="2" charset="-122"/>
              </a:rPr>
              <a:t> »</a:t>
            </a:r>
            <a:endParaRPr lang="en-US" altLang="zh-CN" dirty="0">
              <a:ea typeface="宋体" panose="02010600030101010101" pitchFamily="2" charset="-122"/>
            </a:endParaRPr>
          </a:p>
          <a:p>
            <a:pPr lvl="1"/>
            <a:r>
              <a:rPr lang="en-US" altLang="zh-CN" b="1" dirty="0">
                <a:solidFill>
                  <a:srgbClr val="C00000"/>
                </a:solidFill>
                <a:ea typeface="宋体" panose="02010600030101010101" pitchFamily="2" charset="-122"/>
              </a:rPr>
              <a:t>IP Version 6 »</a:t>
            </a:r>
          </a:p>
          <a:p>
            <a:pPr lvl="1"/>
            <a:r>
              <a:rPr lang="en-US" altLang="zh-CN" dirty="0">
                <a:ea typeface="宋体" panose="02010600030101010101" pitchFamily="2" charset="-122"/>
              </a:rPr>
              <a:t>Internet Control Protocols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Label Switching and MPLS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OSPF—An Interior Gateway Routing Protocol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ea typeface="宋体" panose="02010600030101010101" pitchFamily="2" charset="-122"/>
              </a:rPr>
              <a:t>BGP—The Exterior Gateway Routing Protocol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solidFill>
                  <a:srgbClr val="7F7F7F"/>
                </a:solidFill>
                <a:ea typeface="宋体" panose="02010600030101010101" pitchFamily="2" charset="-122"/>
              </a:rPr>
              <a:t>Internet Multicasting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a:p>
            <a:pPr lvl="1"/>
            <a:r>
              <a:rPr lang="en-US" altLang="zh-CN" dirty="0">
                <a:solidFill>
                  <a:srgbClr val="7F7F7F"/>
                </a:solidFill>
                <a:ea typeface="宋体" panose="02010600030101010101" pitchFamily="2" charset="-122"/>
              </a:rPr>
              <a:t>Mobile IP </a:t>
            </a:r>
            <a:r>
              <a:rPr lang="en-US" altLang="zh-CN" dirty="0">
                <a:solidFill>
                  <a:srgbClr val="0000FF"/>
                </a:solidFill>
                <a:ea typeface="宋体" panose="02010600030101010101" pitchFamily="2" charset="-122"/>
              </a:rPr>
              <a:t>»</a:t>
            </a:r>
            <a:endParaRPr lang="en-US" altLang="zh-CN" dirty="0">
              <a:ea typeface="宋体" panose="02010600030101010101" pitchFamily="2" charset="-122"/>
            </a:endParaRPr>
          </a:p>
        </p:txBody>
      </p:sp>
      <p:sp>
        <p:nvSpPr>
          <p:cNvPr id="5" name="矩形 4">
            <a:extLst>
              <a:ext uri="{FF2B5EF4-FFF2-40B4-BE49-F238E27FC236}">
                <a16:creationId xmlns:a16="http://schemas.microsoft.com/office/drawing/2014/main" id="{C084B3E8-0E55-4A34-B091-653F1E3B00E9}"/>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Network Layer in the Internet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13508403"/>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5 The Network Layer</a:t>
            </a:r>
          </a:p>
        </p:txBody>
      </p:sp>
      <p:sp>
        <p:nvSpPr>
          <p:cNvPr id="202756" name="Rectangle 3"/>
          <p:cNvSpPr>
            <a:spLocks noGrp="1" noChangeArrowheads="1"/>
          </p:cNvSpPr>
          <p:nvPr>
            <p:ph idx="1"/>
          </p:nvPr>
        </p:nvSpPr>
        <p:spPr>
          <a:xfrm>
            <a:off x="876785" y="1116012"/>
            <a:ext cx="10566399" cy="5062538"/>
          </a:xfrm>
        </p:spPr>
        <p:txBody>
          <a:bodyPr>
            <a:normAutofit/>
          </a:bodyPr>
          <a:lstStyle/>
          <a:p>
            <a:r>
              <a:rPr lang="en-US" altLang="zh-CN" dirty="0">
                <a:ea typeface="宋体" panose="02010600030101010101" pitchFamily="2" charset="-122"/>
              </a:rPr>
              <a:t>Major upgrade in the 1990s due to impending address exhaustion, with various other goals:</a:t>
            </a:r>
          </a:p>
          <a:p>
            <a:pPr lvl="2"/>
            <a:r>
              <a:rPr lang="en-US" altLang="zh-CN" dirty="0">
                <a:ea typeface="宋体" panose="02010600030101010101" pitchFamily="2" charset="-122"/>
              </a:rPr>
              <a:t>Support billions of hosts</a:t>
            </a:r>
          </a:p>
          <a:p>
            <a:pPr lvl="2"/>
            <a:r>
              <a:rPr lang="en-US" altLang="zh-CN" dirty="0">
                <a:ea typeface="宋体" panose="02010600030101010101" pitchFamily="2" charset="-122"/>
              </a:rPr>
              <a:t>Reduce routing table size</a:t>
            </a:r>
          </a:p>
          <a:p>
            <a:pPr lvl="2"/>
            <a:r>
              <a:rPr lang="en-US" altLang="zh-CN" dirty="0">
                <a:ea typeface="宋体" panose="02010600030101010101" pitchFamily="2" charset="-122"/>
              </a:rPr>
              <a:t>Simplify protocol</a:t>
            </a:r>
          </a:p>
          <a:p>
            <a:pPr lvl="2"/>
            <a:r>
              <a:rPr lang="en-US" altLang="zh-CN" dirty="0">
                <a:ea typeface="宋体" panose="02010600030101010101" pitchFamily="2" charset="-122"/>
              </a:rPr>
              <a:t>Better security</a:t>
            </a:r>
          </a:p>
          <a:p>
            <a:pPr lvl="2"/>
            <a:r>
              <a:rPr lang="en-US" altLang="zh-CN" dirty="0">
                <a:ea typeface="宋体" panose="02010600030101010101" pitchFamily="2" charset="-122"/>
              </a:rPr>
              <a:t>Attention to type of service</a:t>
            </a:r>
          </a:p>
          <a:p>
            <a:pPr lvl="2"/>
            <a:r>
              <a:rPr lang="en-US" altLang="zh-CN" dirty="0">
                <a:ea typeface="宋体" panose="02010600030101010101" pitchFamily="2" charset="-122"/>
              </a:rPr>
              <a:t>Aid multicasting</a:t>
            </a:r>
          </a:p>
          <a:p>
            <a:pPr lvl="2"/>
            <a:r>
              <a:rPr lang="en-US" altLang="zh-CN" dirty="0">
                <a:ea typeface="宋体" panose="02010600030101010101" pitchFamily="2" charset="-122"/>
              </a:rPr>
              <a:t>Roaming host without changing address</a:t>
            </a:r>
          </a:p>
          <a:p>
            <a:pPr lvl="2"/>
            <a:r>
              <a:rPr lang="en-US" altLang="zh-CN" dirty="0">
                <a:ea typeface="宋体" panose="02010600030101010101" pitchFamily="2" charset="-122"/>
              </a:rPr>
              <a:t>Allow future protocol evolution</a:t>
            </a:r>
          </a:p>
          <a:p>
            <a:pPr lvl="2"/>
            <a:r>
              <a:rPr lang="en-US" altLang="zh-CN" dirty="0">
                <a:ea typeface="宋体" panose="02010600030101010101" pitchFamily="2" charset="-122"/>
              </a:rPr>
              <a:t>Permit coexistence of old, new protocols, …</a:t>
            </a:r>
          </a:p>
          <a:p>
            <a:r>
              <a:rPr lang="en-US" altLang="zh-CN" dirty="0">
                <a:ea typeface="宋体" panose="02010600030101010101" pitchFamily="2" charset="-122"/>
              </a:rPr>
              <a:t>Deployment has been slow &amp; painful, but may pick up pace now that addresses are all but exhausted</a:t>
            </a:r>
          </a:p>
        </p:txBody>
      </p:sp>
      <p:sp>
        <p:nvSpPr>
          <p:cNvPr id="5" name="矩形 4">
            <a:extLst>
              <a:ext uri="{FF2B5EF4-FFF2-40B4-BE49-F238E27FC236}">
                <a16:creationId xmlns:a16="http://schemas.microsoft.com/office/drawing/2014/main" id="{C4367F8C-6643-4617-87D0-05A8E0BD229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IP Version 6 </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463520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40030" y="1171731"/>
            <a:ext cx="10386952" cy="1355569"/>
          </a:xfrm>
        </p:spPr>
        <p:txBody>
          <a:bodyPr/>
          <a:lstStyle/>
          <a:p>
            <a:r>
              <a:rPr lang="en-US" altLang="zh-CN" dirty="0">
                <a:ea typeface="Arial Unicode MS" panose="020B0604020202020204" pitchFamily="34" charset="-122"/>
              </a:rPr>
              <a:t>The address space of IPv6 contains 2</a:t>
            </a:r>
            <a:r>
              <a:rPr lang="en-US" altLang="zh-CN" baseline="30000" dirty="0">
                <a:ea typeface="Arial Unicode MS" panose="020B0604020202020204" pitchFamily="34" charset="-122"/>
              </a:rPr>
              <a:t>128</a:t>
            </a:r>
            <a:r>
              <a:rPr lang="en-US" altLang="zh-CN" dirty="0">
                <a:ea typeface="Arial Unicode MS" panose="020B0604020202020204" pitchFamily="34" charset="-122"/>
              </a:rPr>
              <a:t> addresses. This address space is 2</a:t>
            </a:r>
            <a:r>
              <a:rPr lang="en-US" altLang="zh-CN" baseline="30000" dirty="0">
                <a:ea typeface="Arial Unicode MS" panose="020B0604020202020204" pitchFamily="34" charset="-122"/>
              </a:rPr>
              <a:t>96</a:t>
            </a:r>
            <a:r>
              <a:rPr lang="en-US" altLang="zh-CN" dirty="0">
                <a:ea typeface="Arial Unicode MS" panose="020B0604020202020204" pitchFamily="34" charset="-122"/>
              </a:rPr>
              <a:t> times the IPv4 address—definitely no address depletion—as shown, the size of the space is</a:t>
            </a:r>
          </a:p>
          <a:p>
            <a:endParaRPr lang="zh-CN" altLang="en-US" dirty="0">
              <a:ea typeface="Arial Unicode MS" panose="020B0604020202020204" pitchFamily="34" charset="-122"/>
            </a:endParaRPr>
          </a:p>
        </p:txBody>
      </p:sp>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grpSp>
        <p:nvGrpSpPr>
          <p:cNvPr id="6" name="Group 1"/>
          <p:cNvGrpSpPr>
            <a:grpSpLocks/>
          </p:cNvGrpSpPr>
          <p:nvPr/>
        </p:nvGrpSpPr>
        <p:grpSpPr bwMode="auto">
          <a:xfrm>
            <a:off x="1872147" y="3012715"/>
            <a:ext cx="8575675" cy="1946275"/>
            <a:chOff x="339090" y="2286000"/>
            <a:chExt cx="8576310" cy="1946910"/>
          </a:xfrm>
        </p:grpSpPr>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090" y="2286000"/>
              <a:ext cx="8576310" cy="1946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7"/>
            <p:cNvSpPr>
              <a:spLocks noChangeArrowheads="1"/>
            </p:cNvSpPr>
            <p:nvPr/>
          </p:nvSpPr>
          <p:spPr bwMode="auto">
            <a:xfrm>
              <a:off x="461141" y="2362201"/>
              <a:ext cx="8149459" cy="1737360"/>
            </a:xfrm>
            <a:prstGeom prst="rect">
              <a:avLst/>
            </a:prstGeom>
            <a:noFill/>
            <a:ln w="101600" algn="ctr">
              <a:solidFill>
                <a:srgbClr val="0000CC"/>
              </a:solidFill>
              <a:round/>
              <a:headEnd/>
              <a:tailEnd/>
            </a:ln>
            <a:extLst>
              <a:ext uri="{909E8E84-426E-40DD-AFC4-6F175D3DCCD1}">
                <a14:hiddenFill xmlns:a14="http://schemas.microsoft.com/office/drawing/2010/main">
                  <a:solidFill>
                    <a:srgbClr val="FFFFFF"/>
                  </a:solidFill>
                </a14:hiddenFill>
              </a:ext>
            </a:extLst>
          </p:spPr>
          <p:txBody>
            <a:bodyPr/>
            <a:lstStyle>
              <a:lvl1pPr>
                <a:defRPr sz="3200" b="1" i="1">
                  <a:solidFill>
                    <a:schemeClr val="tx1"/>
                  </a:solidFill>
                  <a:latin typeface="Baby Kruffy"/>
                </a:defRPr>
              </a:lvl1pPr>
              <a:lvl2pPr marL="742950" indent="-285750">
                <a:defRPr sz="3200" b="1" i="1">
                  <a:solidFill>
                    <a:schemeClr val="tx1"/>
                  </a:solidFill>
                  <a:latin typeface="Baby Kruffy"/>
                </a:defRPr>
              </a:lvl2pPr>
              <a:lvl3pPr marL="1143000" indent="-228600">
                <a:defRPr sz="3200" b="1" i="1">
                  <a:solidFill>
                    <a:schemeClr val="tx1"/>
                  </a:solidFill>
                  <a:latin typeface="Baby Kruffy"/>
                </a:defRPr>
              </a:lvl3pPr>
              <a:lvl4pPr marL="1600200" indent="-228600">
                <a:defRPr sz="3200" b="1" i="1">
                  <a:solidFill>
                    <a:schemeClr val="tx1"/>
                  </a:solidFill>
                  <a:latin typeface="Baby Kruffy"/>
                </a:defRPr>
              </a:lvl4pPr>
              <a:lvl5pPr marL="2057400" indent="-228600">
                <a:defRPr sz="3200" b="1" i="1">
                  <a:solidFill>
                    <a:schemeClr val="tx1"/>
                  </a:solidFill>
                  <a:latin typeface="Baby Kruffy"/>
                </a:defRPr>
              </a:lvl5pPr>
              <a:lvl6pPr marL="2514600" indent="-228600" eaLnBrk="0" fontAlgn="base" hangingPunct="0">
                <a:spcBef>
                  <a:spcPct val="0"/>
                </a:spcBef>
                <a:spcAft>
                  <a:spcPct val="0"/>
                </a:spcAft>
                <a:defRPr sz="3200" b="1" i="1">
                  <a:solidFill>
                    <a:schemeClr val="tx1"/>
                  </a:solidFill>
                  <a:latin typeface="Baby Kruffy"/>
                </a:defRPr>
              </a:lvl6pPr>
              <a:lvl7pPr marL="2971800" indent="-228600" eaLnBrk="0" fontAlgn="base" hangingPunct="0">
                <a:spcBef>
                  <a:spcPct val="0"/>
                </a:spcBef>
                <a:spcAft>
                  <a:spcPct val="0"/>
                </a:spcAft>
                <a:defRPr sz="3200" b="1" i="1">
                  <a:solidFill>
                    <a:schemeClr val="tx1"/>
                  </a:solidFill>
                  <a:latin typeface="Baby Kruffy"/>
                </a:defRPr>
              </a:lvl7pPr>
              <a:lvl8pPr marL="3429000" indent="-228600" eaLnBrk="0" fontAlgn="base" hangingPunct="0">
                <a:spcBef>
                  <a:spcPct val="0"/>
                </a:spcBef>
                <a:spcAft>
                  <a:spcPct val="0"/>
                </a:spcAft>
                <a:defRPr sz="3200" b="1" i="1">
                  <a:solidFill>
                    <a:schemeClr val="tx1"/>
                  </a:solidFill>
                  <a:latin typeface="Baby Kruffy"/>
                </a:defRPr>
              </a:lvl8pPr>
              <a:lvl9pPr marL="3886200" indent="-228600" eaLnBrk="0" fontAlgn="base" hangingPunct="0">
                <a:spcBef>
                  <a:spcPct val="0"/>
                </a:spcBef>
                <a:spcAft>
                  <a:spcPct val="0"/>
                </a:spcAft>
                <a:defRPr sz="3200" b="1" i="1">
                  <a:solidFill>
                    <a:schemeClr val="tx1"/>
                  </a:solidFill>
                  <a:latin typeface="Baby Kruffy"/>
                </a:defRPr>
              </a:lvl9pPr>
            </a:lstStyle>
            <a:p>
              <a:endParaRPr lang="zh-CN" altLang="zh-CN">
                <a:ea typeface="宋体" panose="02010600030101010101" pitchFamily="2" charset="-122"/>
              </a:endParaRPr>
            </a:p>
          </p:txBody>
        </p:sp>
      </p:grpSp>
      <p:sp>
        <p:nvSpPr>
          <p:cNvPr id="9" name="矩形 8">
            <a:extLst>
              <a:ext uri="{FF2B5EF4-FFF2-40B4-BE49-F238E27FC236}">
                <a16:creationId xmlns:a16="http://schemas.microsoft.com/office/drawing/2014/main" id="{D63A6A34-AC42-4531-BD1D-2BE7858A2A5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Address Space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E95756EA-A741-49C5-9F45-32068CD710FB}"/>
              </a:ext>
            </a:extLst>
          </p:cNvPr>
          <p:cNvSpPr txBox="1"/>
          <p:nvPr/>
        </p:nvSpPr>
        <p:spPr>
          <a:xfrm>
            <a:off x="1043132" y="5501603"/>
            <a:ext cx="10483850" cy="369332"/>
          </a:xfrm>
          <a:prstGeom prst="rect">
            <a:avLst/>
          </a:prstGeom>
          <a:noFill/>
        </p:spPr>
        <p:txBody>
          <a:bodyPr wrap="square">
            <a:spAutoFit/>
          </a:bodyPr>
          <a:lstStyle/>
          <a:p>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冒分十六进制表示法：格式为</a:t>
            </a:r>
            <a:r>
              <a:rPr lang="en-US" altLang="zh-CN" b="0" i="0" dirty="0">
                <a:solidFill>
                  <a:srgbClr val="333333"/>
                </a:solidFill>
                <a:effectLst/>
                <a:latin typeface="微软雅黑" panose="020B0503020204020204" pitchFamily="34" charset="-122"/>
                <a:ea typeface="微软雅黑" panose="020B0503020204020204" pitchFamily="34" charset="-122"/>
              </a:rPr>
              <a:t>X:X:X:X:X:X:X:X</a:t>
            </a:r>
            <a:r>
              <a:rPr lang="zh-CN" altLang="en-US" b="0" i="0" dirty="0">
                <a:solidFill>
                  <a:srgbClr val="333333"/>
                </a:solidFill>
                <a:effectLst/>
                <a:latin typeface="微软雅黑" panose="020B0503020204020204" pitchFamily="34" charset="-122"/>
                <a:ea typeface="微软雅黑" panose="020B0503020204020204" pitchFamily="34" charset="-122"/>
              </a:rPr>
              <a:t>，其中每个</a:t>
            </a:r>
            <a:r>
              <a:rPr lang="en-US" altLang="zh-CN" b="0" i="0" dirty="0">
                <a:solidFill>
                  <a:srgbClr val="333333"/>
                </a:solidFill>
                <a:effectLst/>
                <a:latin typeface="微软雅黑" panose="020B0503020204020204" pitchFamily="34" charset="-122"/>
                <a:ea typeface="微软雅黑" panose="020B0503020204020204" pitchFamily="34" charset="-122"/>
              </a:rPr>
              <a:t>X</a:t>
            </a:r>
            <a:r>
              <a:rPr lang="zh-CN" altLang="en-US" b="0" i="0" dirty="0">
                <a:solidFill>
                  <a:srgbClr val="333333"/>
                </a:solidFill>
                <a:effectLst/>
                <a:latin typeface="微软雅黑" panose="020B0503020204020204" pitchFamily="34" charset="-122"/>
                <a:ea typeface="微软雅黑" panose="020B0503020204020204" pitchFamily="34" charset="-122"/>
              </a:rPr>
              <a:t>表示地址中的</a:t>
            </a:r>
            <a:r>
              <a:rPr lang="en-US" altLang="zh-CN" b="0" i="0" dirty="0">
                <a:solidFill>
                  <a:srgbClr val="333333"/>
                </a:solidFill>
                <a:effectLst/>
                <a:latin typeface="微软雅黑" panose="020B0503020204020204" pitchFamily="34" charset="-122"/>
                <a:ea typeface="微软雅黑" panose="020B0503020204020204" pitchFamily="34" charset="-122"/>
              </a:rPr>
              <a:t>16bit</a:t>
            </a:r>
            <a:r>
              <a:rPr lang="zh-CN" altLang="en-US" b="0" i="0" dirty="0">
                <a:solidFill>
                  <a:srgbClr val="333333"/>
                </a:solidFill>
                <a:effectLst/>
                <a:latin typeface="微软雅黑" panose="020B0503020204020204" pitchFamily="34" charset="-122"/>
                <a:ea typeface="微软雅黑" panose="020B0503020204020204" pitchFamily="34" charset="-122"/>
              </a:rPr>
              <a:t>，以十六进制表示</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565734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sp>
        <p:nvSpPr>
          <p:cNvPr id="9" name="矩形 8">
            <a:extLst>
              <a:ext uri="{FF2B5EF4-FFF2-40B4-BE49-F238E27FC236}">
                <a16:creationId xmlns:a16="http://schemas.microsoft.com/office/drawing/2014/main" id="{D63A6A34-AC42-4531-BD1D-2BE7858A2A5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IPv6 Address Format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2" name="Rectangle 1">
            <a:extLst>
              <a:ext uri="{FF2B5EF4-FFF2-40B4-BE49-F238E27FC236}">
                <a16:creationId xmlns:a16="http://schemas.microsoft.com/office/drawing/2014/main" id="{8CB557EA-2C5E-40ED-9280-E3CE7682A06D}"/>
              </a:ext>
            </a:extLst>
          </p:cNvPr>
          <p:cNvSpPr>
            <a:spLocks noChangeArrowheads="1"/>
          </p:cNvSpPr>
          <p:nvPr/>
        </p:nvSpPr>
        <p:spPr bwMode="auto">
          <a:xfrm>
            <a:off x="723014" y="1077932"/>
            <a:ext cx="11295297" cy="4708981"/>
          </a:xfrm>
          <a:prstGeom prst="rect">
            <a:avLst/>
          </a:prstGeom>
          <a:no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b="0" i="0" dirty="0">
                <a:solidFill>
                  <a:srgbClr val="333333"/>
                </a:solidFill>
                <a:effectLst/>
                <a:latin typeface="微软雅黑" panose="020B0503020204020204" pitchFamily="34" charset="-122"/>
                <a:ea typeface="微软雅黑" panose="020B0503020204020204" pitchFamily="34" charset="-122"/>
              </a:rPr>
              <a:t>IPv6</a:t>
            </a:r>
            <a:r>
              <a:rPr lang="zh-CN" altLang="en-US" b="0" i="0" dirty="0">
                <a:solidFill>
                  <a:srgbClr val="333333"/>
                </a:solidFill>
                <a:effectLst/>
                <a:latin typeface="微软雅黑" panose="020B0503020204020204" pitchFamily="34" charset="-122"/>
                <a:ea typeface="微软雅黑" panose="020B0503020204020204" pitchFamily="34" charset="-122"/>
              </a:rPr>
              <a:t>冒分十六进制表示法：格式为</a:t>
            </a:r>
            <a:r>
              <a:rPr lang="en-US" altLang="zh-CN" b="0" i="0" dirty="0">
                <a:solidFill>
                  <a:srgbClr val="333333"/>
                </a:solidFill>
                <a:effectLst/>
                <a:latin typeface="微软雅黑" panose="020B0503020204020204" pitchFamily="34" charset="-122"/>
                <a:ea typeface="微软雅黑" panose="020B0503020204020204" pitchFamily="34" charset="-122"/>
              </a:rPr>
              <a:t>X:X:X:X:X:X:X:X</a:t>
            </a:r>
            <a:r>
              <a:rPr lang="zh-CN" altLang="en-US" b="0" i="0" dirty="0">
                <a:solidFill>
                  <a:srgbClr val="333333"/>
                </a:solidFill>
                <a:effectLst/>
                <a:latin typeface="微软雅黑" panose="020B0503020204020204" pitchFamily="34" charset="-122"/>
                <a:ea typeface="微软雅黑" panose="020B0503020204020204" pitchFamily="34" charset="-122"/>
              </a:rPr>
              <a:t>，其中每个</a:t>
            </a:r>
            <a:r>
              <a:rPr lang="en-US" altLang="zh-CN" b="0" i="0" dirty="0">
                <a:solidFill>
                  <a:srgbClr val="333333"/>
                </a:solidFill>
                <a:effectLst/>
                <a:latin typeface="微软雅黑" panose="020B0503020204020204" pitchFamily="34" charset="-122"/>
                <a:ea typeface="微软雅黑" panose="020B0503020204020204" pitchFamily="34" charset="-122"/>
              </a:rPr>
              <a:t>X</a:t>
            </a:r>
            <a:r>
              <a:rPr lang="zh-CN" altLang="en-US" b="0" i="0" dirty="0">
                <a:solidFill>
                  <a:srgbClr val="333333"/>
                </a:solidFill>
                <a:effectLst/>
                <a:latin typeface="微软雅黑" panose="020B0503020204020204" pitchFamily="34" charset="-122"/>
                <a:ea typeface="微软雅黑" panose="020B0503020204020204" pitchFamily="34" charset="-122"/>
              </a:rPr>
              <a:t>表示地址中的</a:t>
            </a:r>
            <a:r>
              <a:rPr lang="en-US" altLang="zh-CN" b="0" i="0" dirty="0">
                <a:solidFill>
                  <a:srgbClr val="333333"/>
                </a:solidFill>
                <a:effectLst/>
                <a:latin typeface="微软雅黑" panose="020B0503020204020204" pitchFamily="34" charset="-122"/>
                <a:ea typeface="微软雅黑" panose="020B0503020204020204" pitchFamily="34" charset="-122"/>
              </a:rPr>
              <a:t>16bit</a:t>
            </a:r>
            <a:r>
              <a:rPr lang="zh-CN" altLang="en-US" b="0" i="0" dirty="0">
                <a:solidFill>
                  <a:srgbClr val="333333"/>
                </a:solidFill>
                <a:effectLst/>
                <a:latin typeface="微软雅黑" panose="020B0503020204020204" pitchFamily="34" charset="-122"/>
                <a:ea typeface="微软雅黑" panose="020B0503020204020204" pitchFamily="34" charset="-122"/>
              </a:rPr>
              <a:t>，以十六进制表示</a:t>
            </a:r>
            <a:endParaRPr lang="zh-CN" altLang="en-US" dirty="0">
              <a:latin typeface="微软雅黑" panose="020B0503020204020204" pitchFamily="34" charset="-122"/>
              <a:ea typeface="微软雅黑" panose="020B0503020204020204" pitchFamily="34" charset="-122"/>
            </a:endParaRPr>
          </a:p>
          <a:p>
            <a:endParaRPr lang="en-US" altLang="zh-CN" b="1" dirty="0">
              <a:solidFill>
                <a:srgbClr val="333333"/>
              </a:solidFill>
              <a:latin typeface="微软雅黑" panose="020B0503020204020204" pitchFamily="34" charset="-122"/>
              <a:ea typeface="微软雅黑" panose="020B0503020204020204" pitchFamily="34" charset="-122"/>
            </a:endParaRPr>
          </a:p>
          <a:p>
            <a:r>
              <a:rPr lang="zh-CN" altLang="zh-CN" b="1" dirty="0">
                <a:solidFill>
                  <a:srgbClr val="333333"/>
                </a:solidFill>
                <a:latin typeface="微软雅黑" panose="020B0503020204020204" pitchFamily="34" charset="-122"/>
                <a:ea typeface="微软雅黑" panose="020B0503020204020204" pitchFamily="34" charset="-122"/>
              </a:rPr>
              <a:t>如果四个数字都是零，可以被省略。</a:t>
            </a:r>
            <a:r>
              <a:rPr lang="zh-CN" altLang="zh-CN" dirty="0">
                <a:solidFill>
                  <a:srgbClr val="333333"/>
                </a:solidFill>
                <a:latin typeface="微软雅黑" panose="020B0503020204020204" pitchFamily="34" charset="-122"/>
                <a:ea typeface="微软雅黑" panose="020B0503020204020204" pitchFamily="34" charset="-122"/>
              </a:rPr>
              <a:t>例如：</a:t>
            </a:r>
            <a:endParaRPr lang="en-US" altLang="zh-CN" dirty="0">
              <a:solidFill>
                <a:srgbClr val="333333"/>
              </a:solidFill>
              <a:latin typeface="微软雅黑" panose="020B0503020204020204" pitchFamily="34" charset="-122"/>
              <a:ea typeface="微软雅黑" panose="020B0503020204020204" pitchFamily="34" charset="-122"/>
            </a:endParaRPr>
          </a:p>
          <a:p>
            <a:pPr lvl="1"/>
            <a:r>
              <a:rPr lang="zh-CN" altLang="zh-CN" dirty="0">
                <a:solidFill>
                  <a:srgbClr val="333333"/>
                </a:solidFill>
                <a:latin typeface="微软雅黑" panose="020B0503020204020204" pitchFamily="34" charset="-122"/>
                <a:ea typeface="微软雅黑" panose="020B0503020204020204" pitchFamily="34" charset="-122"/>
              </a:rPr>
              <a:t>2001</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0db8</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85a3</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0000</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1319</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8a2e</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0370</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a:t>
            </a:r>
            <a:r>
              <a:rPr lang="en-US" altLang="zh-CN" dirty="0">
                <a:solidFill>
                  <a:srgbClr val="333333"/>
                </a:solidFill>
                <a:latin typeface="微软雅黑" panose="020B0503020204020204" pitchFamily="34" charset="-122"/>
                <a:ea typeface="微软雅黑" panose="020B0503020204020204" pitchFamily="34" charset="-122"/>
              </a:rPr>
              <a:t> </a:t>
            </a:r>
            <a:r>
              <a:rPr lang="zh-CN" altLang="zh-CN" dirty="0">
                <a:solidFill>
                  <a:srgbClr val="333333"/>
                </a:solidFill>
                <a:latin typeface="微软雅黑" panose="020B0503020204020204" pitchFamily="34" charset="-122"/>
                <a:ea typeface="微软雅黑" panose="020B0503020204020204" pitchFamily="34" charset="-122"/>
              </a:rPr>
              <a:t>7344</a:t>
            </a:r>
            <a:endParaRPr lang="en-US" altLang="zh-CN" dirty="0">
              <a:solidFill>
                <a:srgbClr val="333333"/>
              </a:solidFill>
              <a:latin typeface="微软雅黑" panose="020B0503020204020204" pitchFamily="34" charset="-122"/>
              <a:ea typeface="微软雅黑" panose="020B0503020204020204" pitchFamily="34" charset="-122"/>
            </a:endParaRPr>
          </a:p>
          <a:p>
            <a:pPr lvl="1"/>
            <a:r>
              <a:rPr lang="zh-CN" altLang="zh-CN" dirty="0">
                <a:solidFill>
                  <a:srgbClr val="333333"/>
                </a:solidFill>
                <a:latin typeface="微软雅黑" panose="020B0503020204020204" pitchFamily="34" charset="-122"/>
                <a:ea typeface="微软雅黑" panose="020B0503020204020204" pitchFamily="34" charset="-122"/>
              </a:rPr>
              <a:t>等价于</a:t>
            </a:r>
          </a:p>
          <a:p>
            <a:pPr lvl="1"/>
            <a:r>
              <a:rPr lang="zh-CN" altLang="zh-CN" dirty="0">
                <a:solidFill>
                  <a:srgbClr val="333333"/>
                </a:solidFill>
                <a:latin typeface="微软雅黑" panose="020B0503020204020204" pitchFamily="34" charset="-122"/>
                <a:ea typeface="微软雅黑" panose="020B0503020204020204" pitchFamily="34" charset="-122"/>
              </a:rPr>
              <a:t>2001:0db8:85a3::1319:8a2e:0370:7344</a:t>
            </a:r>
            <a:endParaRPr lang="en-US" altLang="zh-CN" dirty="0">
              <a:solidFill>
                <a:srgbClr val="333333"/>
              </a:solidFill>
              <a:latin typeface="微软雅黑" panose="020B0503020204020204" pitchFamily="34" charset="-122"/>
              <a:ea typeface="微软雅黑" panose="020B0503020204020204" pitchFamily="34" charset="-122"/>
            </a:endParaRPr>
          </a:p>
          <a:p>
            <a:endParaRPr lang="zh-CN" altLang="zh-CN" dirty="0">
              <a:solidFill>
                <a:srgbClr val="333333"/>
              </a:solidFill>
              <a:latin typeface="微软雅黑" panose="020B0503020204020204" pitchFamily="34" charset="-122"/>
              <a:ea typeface="微软雅黑" panose="020B0503020204020204" pitchFamily="34" charset="-122"/>
            </a:endParaRPr>
          </a:p>
          <a:p>
            <a:r>
              <a:rPr lang="zh-CN" altLang="zh-CN" b="1" dirty="0">
                <a:solidFill>
                  <a:srgbClr val="333333"/>
                </a:solidFill>
                <a:latin typeface="微软雅黑" panose="020B0503020204020204" pitchFamily="34" charset="-122"/>
                <a:ea typeface="微软雅黑" panose="020B0503020204020204" pitchFamily="34" charset="-122"/>
              </a:rPr>
              <a:t>如果因为省略而出现了两个以上的冒号的话，可以压缩为一个，但这种零压缩在地址中只能出现一次。</a:t>
            </a:r>
            <a:r>
              <a:rPr lang="zh-CN" altLang="zh-CN" dirty="0">
                <a:solidFill>
                  <a:srgbClr val="333333"/>
                </a:solidFill>
                <a:latin typeface="微软雅黑" panose="020B0503020204020204" pitchFamily="34" charset="-122"/>
                <a:ea typeface="微软雅黑" panose="020B0503020204020204" pitchFamily="34" charset="-122"/>
              </a:rPr>
              <a:t>因此：</a:t>
            </a:r>
          </a:p>
          <a:p>
            <a:r>
              <a:rPr lang="zh-CN" altLang="zh-CN" dirty="0">
                <a:solidFill>
                  <a:srgbClr val="333333"/>
                </a:solidFill>
                <a:latin typeface="微软雅黑" panose="020B0503020204020204" pitchFamily="34" charset="-122"/>
                <a:ea typeface="微软雅黑" panose="020B0503020204020204" pitchFamily="34" charset="-122"/>
              </a:rPr>
              <a:t>2001:0DB8:0000:0000:0000:0000:1428:57ab </a:t>
            </a:r>
            <a:endParaRPr lang="en-US" altLang="zh-CN" dirty="0">
              <a:solidFill>
                <a:srgbClr val="333333"/>
              </a:solidFill>
              <a:latin typeface="微软雅黑" panose="020B0503020204020204" pitchFamily="34" charset="-122"/>
              <a:ea typeface="微软雅黑" panose="020B0503020204020204" pitchFamily="34" charset="-122"/>
            </a:endParaRPr>
          </a:p>
          <a:p>
            <a:r>
              <a:rPr lang="zh-CN" altLang="zh-CN" dirty="0">
                <a:solidFill>
                  <a:srgbClr val="333333"/>
                </a:solidFill>
                <a:latin typeface="微软雅黑" panose="020B0503020204020204" pitchFamily="34" charset="-122"/>
                <a:ea typeface="微软雅黑" panose="020B0503020204020204" pitchFamily="34" charset="-122"/>
              </a:rPr>
              <a:t>2001:0DB8:0000:0000:0000::1428:57ab </a:t>
            </a:r>
            <a:endParaRPr lang="en-US" altLang="zh-CN" dirty="0">
              <a:solidFill>
                <a:srgbClr val="333333"/>
              </a:solidFill>
              <a:latin typeface="微软雅黑" panose="020B0503020204020204" pitchFamily="34" charset="-122"/>
              <a:ea typeface="微软雅黑" panose="020B0503020204020204" pitchFamily="34" charset="-122"/>
            </a:endParaRPr>
          </a:p>
          <a:p>
            <a:r>
              <a:rPr lang="zh-CN" altLang="zh-CN" dirty="0">
                <a:solidFill>
                  <a:srgbClr val="333333"/>
                </a:solidFill>
                <a:latin typeface="微软雅黑" panose="020B0503020204020204" pitchFamily="34" charset="-122"/>
                <a:ea typeface="微软雅黑" panose="020B0503020204020204" pitchFamily="34" charset="-122"/>
              </a:rPr>
              <a:t>2001:0DB8:0:0:0:0:1428:57ab </a:t>
            </a:r>
            <a:endParaRPr lang="en-US" altLang="zh-CN" dirty="0">
              <a:solidFill>
                <a:srgbClr val="333333"/>
              </a:solidFill>
              <a:latin typeface="微软雅黑" panose="020B0503020204020204" pitchFamily="34" charset="-122"/>
              <a:ea typeface="微软雅黑" panose="020B0503020204020204" pitchFamily="34" charset="-122"/>
            </a:endParaRPr>
          </a:p>
          <a:p>
            <a:r>
              <a:rPr lang="zh-CN" altLang="zh-CN" dirty="0">
                <a:solidFill>
                  <a:srgbClr val="333333"/>
                </a:solidFill>
                <a:latin typeface="微软雅黑" panose="020B0503020204020204" pitchFamily="34" charset="-122"/>
                <a:ea typeface="微软雅黑" panose="020B0503020204020204" pitchFamily="34" charset="-122"/>
              </a:rPr>
              <a:t>2001:0DB8:0::0:1428:57ab </a:t>
            </a:r>
            <a:endParaRPr lang="en-US" altLang="zh-CN" dirty="0">
              <a:solidFill>
                <a:srgbClr val="333333"/>
              </a:solidFill>
              <a:latin typeface="微软雅黑" panose="020B0503020204020204" pitchFamily="34" charset="-122"/>
              <a:ea typeface="微软雅黑" panose="020B0503020204020204" pitchFamily="34" charset="-122"/>
            </a:endParaRPr>
          </a:p>
          <a:p>
            <a:r>
              <a:rPr lang="zh-CN" altLang="zh-CN" dirty="0">
                <a:solidFill>
                  <a:srgbClr val="333333"/>
                </a:solidFill>
                <a:latin typeface="微软雅黑" panose="020B0503020204020204" pitchFamily="34" charset="-122"/>
                <a:ea typeface="微软雅黑" panose="020B0503020204020204" pitchFamily="34" charset="-122"/>
              </a:rPr>
              <a:t>2001:0DB8::1428:57ab</a:t>
            </a:r>
          </a:p>
          <a:p>
            <a:r>
              <a:rPr lang="zh-CN" altLang="zh-CN" dirty="0">
                <a:solidFill>
                  <a:srgbClr val="333333"/>
                </a:solidFill>
                <a:latin typeface="微软雅黑" panose="020B0503020204020204" pitchFamily="34" charset="-122"/>
                <a:ea typeface="微软雅黑" panose="020B0503020204020204" pitchFamily="34" charset="-122"/>
              </a:rPr>
              <a:t>都使合法的地址，并且他们是等价的。</a:t>
            </a:r>
            <a:endParaRPr lang="en-US" altLang="zh-CN" dirty="0">
              <a:solidFill>
                <a:srgbClr val="333333"/>
              </a:solidFill>
              <a:latin typeface="微软雅黑" panose="020B0503020204020204" pitchFamily="34" charset="-122"/>
              <a:ea typeface="微软雅黑" panose="020B0503020204020204" pitchFamily="34" charset="-122"/>
            </a:endParaRPr>
          </a:p>
          <a:p>
            <a:r>
              <a:rPr lang="zh-CN" altLang="zh-CN" dirty="0">
                <a:solidFill>
                  <a:srgbClr val="333333"/>
                </a:solidFill>
                <a:latin typeface="微软雅黑" panose="020B0503020204020204" pitchFamily="34" charset="-122"/>
                <a:ea typeface="微软雅黑" panose="020B0503020204020204" pitchFamily="34" charset="-122"/>
              </a:rPr>
              <a:t>但2001::25de::cade是非法的。(因为这样会使得搞不清楚每个压缩中有几个全零的分组)</a:t>
            </a:r>
          </a:p>
          <a:p>
            <a:endParaRPr lang="en-US" altLang="zh-CN" dirty="0">
              <a:solidFill>
                <a:srgbClr val="333333"/>
              </a:solidFill>
              <a:latin typeface="微软雅黑" panose="020B0503020204020204" pitchFamily="34" charset="-122"/>
              <a:ea typeface="微软雅黑" panose="020B0503020204020204" pitchFamily="34" charset="-122"/>
            </a:endParaRPr>
          </a:p>
          <a:p>
            <a:r>
              <a:rPr lang="zh-CN" altLang="zh-CN" dirty="0">
                <a:solidFill>
                  <a:srgbClr val="333333"/>
                </a:solidFill>
                <a:latin typeface="微软雅黑" panose="020B0503020204020204" pitchFamily="34" charset="-122"/>
                <a:ea typeface="微软雅黑" panose="020B0503020204020204" pitchFamily="34" charset="-122"/>
              </a:rPr>
              <a:t>同时</a:t>
            </a:r>
            <a:r>
              <a:rPr lang="zh-CN" altLang="zh-CN" b="1" dirty="0">
                <a:solidFill>
                  <a:srgbClr val="333333"/>
                </a:solidFill>
                <a:latin typeface="微软雅黑" panose="020B0503020204020204" pitchFamily="34" charset="-122"/>
                <a:ea typeface="微软雅黑" panose="020B0503020204020204" pitchFamily="34" charset="-122"/>
              </a:rPr>
              <a:t>前导的零可以省略</a:t>
            </a:r>
            <a:r>
              <a:rPr lang="zh-CN" altLang="zh-CN" dirty="0">
                <a:solidFill>
                  <a:srgbClr val="333333"/>
                </a:solidFill>
                <a:latin typeface="微软雅黑" panose="020B0503020204020204" pitchFamily="34" charset="-122"/>
                <a:ea typeface="微软雅黑" panose="020B0503020204020204" pitchFamily="34" charset="-122"/>
              </a:rPr>
              <a:t>，因此：2001:0DB8:02de::0e13等价于2001:DB8:2de::e13 </a:t>
            </a:r>
          </a:p>
        </p:txBody>
      </p:sp>
    </p:spTree>
    <p:extLst>
      <p:ext uri="{BB962C8B-B14F-4D97-AF65-F5344CB8AC3E}">
        <p14:creationId xmlns:p14="http://schemas.microsoft.com/office/powerpoint/2010/main" val="128842673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sp>
        <p:nvSpPr>
          <p:cNvPr id="9" name="矩形 8">
            <a:extLst>
              <a:ext uri="{FF2B5EF4-FFF2-40B4-BE49-F238E27FC236}">
                <a16:creationId xmlns:a16="http://schemas.microsoft.com/office/drawing/2014/main" id="{D63A6A34-AC42-4531-BD1D-2BE7858A2A57}"/>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Exercise</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8B05EEE0-1AA9-4825-8DCB-C3CABF5EBCC0}"/>
              </a:ext>
            </a:extLst>
          </p:cNvPr>
          <p:cNvSpPr txBox="1"/>
          <p:nvPr/>
        </p:nvSpPr>
        <p:spPr>
          <a:xfrm>
            <a:off x="1258186" y="1403795"/>
            <a:ext cx="7651898" cy="2120902"/>
          </a:xfrm>
          <a:prstGeom prst="rect">
            <a:avLst/>
          </a:prstGeom>
          <a:noFill/>
        </p:spPr>
        <p:txBody>
          <a:bodyPr wrap="square">
            <a:spAutoFit/>
          </a:bodyPr>
          <a:lstStyle/>
          <a:p>
            <a:pPr algn="l">
              <a:lnSpc>
                <a:spcPct val="150000"/>
              </a:lnSpc>
            </a:pPr>
            <a:r>
              <a:rPr lang="zh-CN" altLang="en-US" b="1" i="0" dirty="0">
                <a:solidFill>
                  <a:srgbClr val="000000"/>
                </a:solidFill>
                <a:effectLst/>
                <a:latin typeface="微软雅黑" panose="020B0503020204020204" pitchFamily="34" charset="-122"/>
                <a:ea typeface="微软雅黑" panose="020B0503020204020204" pitchFamily="34" charset="-122"/>
              </a:rPr>
              <a:t>关于</a:t>
            </a:r>
            <a:r>
              <a:rPr lang="en-US" altLang="zh-CN" b="1" i="0" dirty="0">
                <a:solidFill>
                  <a:srgbClr val="000000"/>
                </a:solidFill>
                <a:effectLst/>
                <a:latin typeface="微软雅黑" panose="020B0503020204020204" pitchFamily="34" charset="-122"/>
                <a:ea typeface="微软雅黑" panose="020B0503020204020204" pitchFamily="34" charset="-122"/>
              </a:rPr>
              <a:t>IPv6</a:t>
            </a:r>
            <a:r>
              <a:rPr lang="zh-CN" altLang="en-US" b="1" i="0" dirty="0">
                <a:solidFill>
                  <a:srgbClr val="000000"/>
                </a:solidFill>
                <a:effectLst/>
                <a:latin typeface="微软雅黑" panose="020B0503020204020204" pitchFamily="34" charset="-122"/>
                <a:ea typeface="微软雅黑" panose="020B0503020204020204" pitchFamily="34" charset="-122"/>
              </a:rPr>
              <a:t>地址书写正确的是（    ）。</a:t>
            </a:r>
          </a:p>
          <a:p>
            <a:pPr algn="l">
              <a:lnSpc>
                <a:spcPct val="150000"/>
              </a:lnSpc>
            </a:pPr>
            <a:r>
              <a:rPr lang="en-US" altLang="zh-CN" b="0" i="0" dirty="0">
                <a:solidFill>
                  <a:srgbClr val="000000"/>
                </a:solidFill>
                <a:effectLst/>
                <a:latin typeface="微软雅黑" panose="020B0503020204020204" pitchFamily="34" charset="-122"/>
                <a:ea typeface="微软雅黑" panose="020B0503020204020204" pitchFamily="34" charset="-122"/>
              </a:rPr>
              <a:t>A . 123A</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BC00</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0000</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1111</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2222</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0000</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G125</a:t>
            </a:r>
            <a:br>
              <a:rPr lang="en-US" altLang="zh-CN" b="0" i="0" dirty="0">
                <a:solidFill>
                  <a:srgbClr val="000000"/>
                </a:solidFill>
                <a:effectLst/>
                <a:latin typeface="微软雅黑" panose="020B0503020204020204" pitchFamily="34" charset="-122"/>
                <a:ea typeface="微软雅黑" panose="020B0503020204020204" pitchFamily="34" charset="-122"/>
              </a:rPr>
            </a:br>
            <a:r>
              <a:rPr lang="en-US" altLang="zh-CN" b="0" i="0" dirty="0">
                <a:solidFill>
                  <a:srgbClr val="000000"/>
                </a:solidFill>
                <a:effectLst/>
                <a:latin typeface="微软雅黑" panose="020B0503020204020204" pitchFamily="34" charset="-122"/>
                <a:ea typeface="微软雅黑" panose="020B0503020204020204" pitchFamily="34" charset="-122"/>
              </a:rPr>
              <a:t>B . 123A</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BC00</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1111</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2222</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0</a:t>
            </a:r>
            <a:br>
              <a:rPr lang="en-US" altLang="zh-CN" b="0" i="0" dirty="0">
                <a:solidFill>
                  <a:srgbClr val="000000"/>
                </a:solidFill>
                <a:effectLst/>
                <a:latin typeface="微软雅黑" panose="020B0503020204020204" pitchFamily="34" charset="-122"/>
                <a:ea typeface="微软雅黑" panose="020B0503020204020204" pitchFamily="34" charset="-122"/>
              </a:rPr>
            </a:br>
            <a:r>
              <a:rPr lang="en-US" altLang="zh-CN" b="0" i="0" dirty="0">
                <a:solidFill>
                  <a:srgbClr val="000000"/>
                </a:solidFill>
                <a:effectLst/>
                <a:latin typeface="微软雅黑" panose="020B0503020204020204" pitchFamily="34" charset="-122"/>
                <a:ea typeface="微软雅黑" panose="020B0503020204020204" pitchFamily="34" charset="-122"/>
              </a:rPr>
              <a:t>C . 123A</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1111.2222.3211</a:t>
            </a:r>
            <a:br>
              <a:rPr lang="en-US" altLang="zh-CN" b="0" i="0" dirty="0">
                <a:solidFill>
                  <a:srgbClr val="000000"/>
                </a:solidFill>
                <a:effectLst/>
                <a:latin typeface="微软雅黑" panose="020B0503020204020204" pitchFamily="34" charset="-122"/>
                <a:ea typeface="微软雅黑" panose="020B0503020204020204" pitchFamily="34" charset="-122"/>
              </a:rPr>
            </a:br>
            <a:r>
              <a:rPr lang="en-US" altLang="zh-CN" b="0" i="0" dirty="0">
                <a:solidFill>
                  <a:srgbClr val="000000"/>
                </a:solidFill>
                <a:effectLst/>
                <a:latin typeface="微软雅黑" panose="020B0503020204020204" pitchFamily="34" charset="-122"/>
                <a:ea typeface="微软雅黑" panose="020B0503020204020204" pitchFamily="34" charset="-122"/>
              </a:rPr>
              <a:t>D . 123A</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BC00</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1111</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2222</a:t>
            </a:r>
            <a:r>
              <a:rPr lang="zh-CN" altLang="en-US" b="0" i="0" dirty="0">
                <a:solidFill>
                  <a:srgbClr val="000000"/>
                </a:solidFill>
                <a:effectLst/>
                <a:latin typeface="微软雅黑" panose="020B0503020204020204" pitchFamily="34" charset="-122"/>
                <a:ea typeface="微软雅黑" panose="020B0503020204020204" pitchFamily="34" charset="-122"/>
              </a:rPr>
              <a:t>：：</a:t>
            </a:r>
          </a:p>
        </p:txBody>
      </p:sp>
      <p:sp>
        <p:nvSpPr>
          <p:cNvPr id="13" name="文本框 12">
            <a:extLst>
              <a:ext uri="{FF2B5EF4-FFF2-40B4-BE49-F238E27FC236}">
                <a16:creationId xmlns:a16="http://schemas.microsoft.com/office/drawing/2014/main" id="{AF378610-AD9D-4381-A8C2-03612363F7BB}"/>
              </a:ext>
            </a:extLst>
          </p:cNvPr>
          <p:cNvSpPr txBox="1"/>
          <p:nvPr/>
        </p:nvSpPr>
        <p:spPr>
          <a:xfrm>
            <a:off x="1258186" y="4129178"/>
            <a:ext cx="1034257" cy="369332"/>
          </a:xfrm>
          <a:prstGeom prst="rect">
            <a:avLst/>
          </a:prstGeom>
          <a:noFill/>
        </p:spPr>
        <p:txBody>
          <a:bodyPr wrap="none" rtlCol="0">
            <a:spAutoFit/>
          </a:bodyPr>
          <a:lstStyle/>
          <a:p>
            <a:r>
              <a:rPr lang="zh-CN" altLang="en-US" b="1" dirty="0">
                <a:latin typeface="微软雅黑" panose="020B0503020204020204" pitchFamily="34" charset="-122"/>
                <a:ea typeface="微软雅黑" panose="020B0503020204020204" pitchFamily="34" charset="-122"/>
              </a:rPr>
              <a:t>答案：</a:t>
            </a:r>
            <a:r>
              <a:rPr lang="en-US" altLang="zh-CN" b="1" dirty="0">
                <a:latin typeface="微软雅黑" panose="020B0503020204020204" pitchFamily="34" charset="-122"/>
                <a:ea typeface="微软雅黑" panose="020B0503020204020204" pitchFamily="34" charset="-122"/>
              </a:rPr>
              <a:t>B</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8823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2790" y="1142581"/>
            <a:ext cx="81216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2790" y="2585619"/>
            <a:ext cx="81216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0727" y="3807994"/>
            <a:ext cx="810418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13577" y="5028781"/>
            <a:ext cx="82184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2777" y="5762207"/>
            <a:ext cx="69865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171AA493-5F84-4E7A-ACFA-55951883C26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Special Addresses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774279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592" y="3319462"/>
            <a:ext cx="5980113" cy="321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8077" y="1123951"/>
            <a:ext cx="8110537" cy="141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8238" y="2668588"/>
            <a:ext cx="10922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1614" y="2665414"/>
            <a:ext cx="1508125" cy="112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47013" y="2668588"/>
            <a:ext cx="3227388"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4ED0EE9A-5936-4F4A-969A-7DAE586DE396}"/>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Global Unicast Address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5422180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03780" name="Rectangle 3"/>
          <p:cNvSpPr>
            <a:spLocks noGrp="1" noChangeArrowheads="1"/>
          </p:cNvSpPr>
          <p:nvPr>
            <p:ph idx="1"/>
          </p:nvPr>
        </p:nvSpPr>
        <p:spPr>
          <a:xfrm>
            <a:off x="679449" y="1025926"/>
            <a:ext cx="10833099" cy="1041401"/>
          </a:xfrm>
        </p:spPr>
        <p:txBody>
          <a:bodyPr/>
          <a:lstStyle/>
          <a:p>
            <a:r>
              <a:rPr lang="en-US" altLang="zh-CN" dirty="0">
                <a:ea typeface="宋体" panose="02010600030101010101" pitchFamily="2" charset="-122"/>
              </a:rPr>
              <a:t>IPv6 protocol header has much longer addresses (128 vs. 32 bits) and is simpler (by using extension headers)</a:t>
            </a:r>
          </a:p>
        </p:txBody>
      </p:sp>
      <p:pic>
        <p:nvPicPr>
          <p:cNvPr id="2037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4012" y="1959115"/>
            <a:ext cx="5472077" cy="4238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C16B718C-47B7-414D-AC41-2E57AE2CEFA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IPv6 protocol header</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6A9D0F6B-4F7A-415B-A208-47E0E93EF7A7}"/>
              </a:ext>
            </a:extLst>
          </p:cNvPr>
          <p:cNvSpPr txBox="1"/>
          <p:nvPr/>
        </p:nvSpPr>
        <p:spPr>
          <a:xfrm>
            <a:off x="679449" y="3465300"/>
            <a:ext cx="4233851" cy="461665"/>
          </a:xfrm>
          <a:prstGeom prst="rect">
            <a:avLst/>
          </a:prstGeom>
          <a:noFill/>
        </p:spPr>
        <p:txBody>
          <a:bodyPr wrap="none" rtlCol="0">
            <a:spAutoFit/>
          </a:bodyPr>
          <a:lstStyle/>
          <a:p>
            <a:pPr marL="285750" indent="-285750">
              <a:buFont typeface="Arial" panose="020B0604020202020204" pitchFamily="34" charset="0"/>
              <a:buChar char="•"/>
            </a:pPr>
            <a:r>
              <a:rPr lang="en-US" altLang="zh-CN" sz="2400" dirty="0"/>
              <a:t>Fixed-length 40 byte header</a:t>
            </a:r>
          </a:p>
        </p:txBody>
      </p:sp>
    </p:spTree>
    <p:extLst>
      <p:ext uri="{BB962C8B-B14F-4D97-AF65-F5344CB8AC3E}">
        <p14:creationId xmlns:p14="http://schemas.microsoft.com/office/powerpoint/2010/main" val="78482093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C16B718C-47B7-414D-AC41-2E57AE2CEFA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Other changes from IPv4</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8033B3E8-2A27-477D-95CF-59E779996BB5}"/>
              </a:ext>
            </a:extLst>
          </p:cNvPr>
          <p:cNvPicPr>
            <a:picLocks noChangeAspect="1"/>
          </p:cNvPicPr>
          <p:nvPr/>
        </p:nvPicPr>
        <p:blipFill>
          <a:blip r:embed="rId3"/>
          <a:stretch>
            <a:fillRect/>
          </a:stretch>
        </p:blipFill>
        <p:spPr>
          <a:xfrm>
            <a:off x="976295" y="1439062"/>
            <a:ext cx="9864036" cy="3767938"/>
          </a:xfrm>
          <a:prstGeom prst="rect">
            <a:avLst/>
          </a:prstGeom>
        </p:spPr>
      </p:pic>
    </p:spTree>
    <p:extLst>
      <p:ext uri="{BB962C8B-B14F-4D97-AF65-F5344CB8AC3E}">
        <p14:creationId xmlns:p14="http://schemas.microsoft.com/office/powerpoint/2010/main" val="64497508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5139" y="1546223"/>
            <a:ext cx="5697537" cy="376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3500" y="2268537"/>
            <a:ext cx="2592388" cy="232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1D5F9E35-4D73-49D1-9B6D-0CC2438357E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Payload in an IPv6 datagram</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7506950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04804" name="Rectangle 3"/>
          <p:cNvSpPr>
            <a:spLocks noGrp="1" noChangeArrowheads="1"/>
          </p:cNvSpPr>
          <p:nvPr>
            <p:ph idx="1"/>
          </p:nvPr>
        </p:nvSpPr>
        <p:spPr>
          <a:xfrm>
            <a:off x="1663701" y="1326498"/>
            <a:ext cx="9347199" cy="523220"/>
          </a:xfrm>
        </p:spPr>
        <p:txBody>
          <a:bodyPr/>
          <a:lstStyle/>
          <a:p>
            <a:r>
              <a:rPr lang="en-US" altLang="zh-CN" dirty="0">
                <a:ea typeface="宋体" panose="02010600030101010101" pitchFamily="2" charset="-122"/>
              </a:rPr>
              <a:t>IPv6 extension headers handles other functionality </a:t>
            </a:r>
          </a:p>
        </p:txBody>
      </p:sp>
      <p:pic>
        <p:nvPicPr>
          <p:cNvPr id="20480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2764" y="2108993"/>
            <a:ext cx="7762875"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FF695E59-4F40-4293-9B6C-B37BEF84FE2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IPv6 extension headers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3642366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ea typeface="宋体" panose="02010600030101010101" pitchFamily="2" charset="-122"/>
              </a:rPr>
              <a:t>Three strategies have been devised for transition:</a:t>
            </a:r>
          </a:p>
          <a:p>
            <a:pPr marL="342900" indent="-342900">
              <a:buFont typeface="Arial" panose="020B0604020202020204" pitchFamily="34" charset="0"/>
              <a:buChar char="•"/>
            </a:pPr>
            <a:r>
              <a:rPr lang="en-US" altLang="zh-CN" dirty="0">
                <a:ea typeface="宋体" panose="02010600030101010101" pitchFamily="2" charset="-122"/>
              </a:rPr>
              <a:t>dual stack</a:t>
            </a:r>
          </a:p>
          <a:p>
            <a:pPr marL="342900" indent="-342900">
              <a:buFont typeface="Arial" panose="020B0604020202020204" pitchFamily="34" charset="0"/>
              <a:buChar char="•"/>
            </a:pPr>
            <a:r>
              <a:rPr lang="en-US" altLang="zh-CN" dirty="0">
                <a:ea typeface="宋体" panose="02010600030101010101" pitchFamily="2" charset="-122"/>
              </a:rPr>
              <a:t>tunneling</a:t>
            </a:r>
          </a:p>
          <a:p>
            <a:pPr marL="342900" indent="-342900">
              <a:buFont typeface="Arial" panose="020B0604020202020204" pitchFamily="34" charset="0"/>
              <a:buChar char="•"/>
            </a:pPr>
            <a:r>
              <a:rPr lang="en-US" altLang="zh-CN" dirty="0">
                <a:ea typeface="宋体" panose="02010600030101010101" pitchFamily="2" charset="-122"/>
              </a:rPr>
              <a:t>header translation</a:t>
            </a:r>
            <a:endParaRPr lang="zh-CN" altLang="en-US" dirty="0"/>
          </a:p>
        </p:txBody>
      </p:sp>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sp>
        <p:nvSpPr>
          <p:cNvPr id="5" name="矩形 4">
            <a:extLst>
              <a:ext uri="{FF2B5EF4-FFF2-40B4-BE49-F238E27FC236}">
                <a16:creationId xmlns:a16="http://schemas.microsoft.com/office/drawing/2014/main" id="{754EC68F-C32E-413A-84C0-740BAE40BC0D}"/>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Transition from IPv4 to IPv6</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2214843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0"/>
          </p:nvPr>
        </p:nvSpPr>
        <p:spPr/>
        <p:txBody>
          <a:bodyPr/>
          <a:lstStyle/>
          <a:p>
            <a:pPr>
              <a:defRPr/>
            </a:pPr>
            <a:r>
              <a:rPr lang="en-US" altLang="zh-CN"/>
              <a:t>Computer Networks, Chapter 5 The Network Layer</a:t>
            </a:r>
            <a:endParaRPr lang="en-US" altLang="zh-CN" i="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2350" y="1620839"/>
            <a:ext cx="7258050"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1714" y="1925638"/>
            <a:ext cx="2173287"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7114" y="1925638"/>
            <a:ext cx="2173287"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3800" y="4532314"/>
            <a:ext cx="160813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89864" y="4508501"/>
            <a:ext cx="1608137"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a:extLst>
              <a:ext uri="{FF2B5EF4-FFF2-40B4-BE49-F238E27FC236}">
                <a16:creationId xmlns:a16="http://schemas.microsoft.com/office/drawing/2014/main" id="{CDF38C53-0F45-49C8-9E70-ED039DC4D6A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Dual Stack</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925859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4214" y="2414884"/>
            <a:ext cx="8180387"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151359"/>
            <a:ext cx="121285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2151359"/>
            <a:ext cx="121285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0226" y="987721"/>
            <a:ext cx="3408363"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B4D0A671-166B-4BF1-8DBF-F396911551D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Tunneling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ACFD9CDC-DEBF-44FD-B6C6-C15E6FF975E6}"/>
              </a:ext>
            </a:extLst>
          </p:cNvPr>
          <p:cNvPicPr>
            <a:picLocks noChangeAspect="1"/>
          </p:cNvPicPr>
          <p:nvPr/>
        </p:nvPicPr>
        <p:blipFill>
          <a:blip r:embed="rId5"/>
          <a:stretch>
            <a:fillRect/>
          </a:stretch>
        </p:blipFill>
        <p:spPr>
          <a:xfrm>
            <a:off x="2586023" y="4477067"/>
            <a:ext cx="6780227" cy="2304283"/>
          </a:xfrm>
          <a:prstGeom prst="rect">
            <a:avLst/>
          </a:prstGeom>
        </p:spPr>
      </p:pic>
      <p:sp>
        <p:nvSpPr>
          <p:cNvPr id="12" name="文本框 11">
            <a:extLst>
              <a:ext uri="{FF2B5EF4-FFF2-40B4-BE49-F238E27FC236}">
                <a16:creationId xmlns:a16="http://schemas.microsoft.com/office/drawing/2014/main" id="{30191BF7-C3C2-4FA0-868F-3A81269A37A6}"/>
              </a:ext>
            </a:extLst>
          </p:cNvPr>
          <p:cNvSpPr txBox="1"/>
          <p:nvPr/>
        </p:nvSpPr>
        <p:spPr>
          <a:xfrm>
            <a:off x="539750" y="3955821"/>
            <a:ext cx="10782300" cy="369332"/>
          </a:xfrm>
          <a:prstGeom prst="rect">
            <a:avLst/>
          </a:prstGeom>
          <a:noFill/>
        </p:spPr>
        <p:txBody>
          <a:bodyPr wrap="square">
            <a:spAutoFit/>
          </a:bodyPr>
          <a:lstStyle/>
          <a:p>
            <a:pPr marL="285750" indent="-285750">
              <a:buFont typeface="Arial" panose="020B0604020202020204" pitchFamily="34" charset="0"/>
              <a:buChar char="•"/>
            </a:pPr>
            <a:r>
              <a:rPr lang="zh-CN" altLang="en-US" b="1" dirty="0">
                <a:latin typeface="Arial" panose="020B0604020202020204" pitchFamily="34" charset="0"/>
                <a:cs typeface="Arial" panose="020B0604020202020204" pitchFamily="34" charset="0"/>
              </a:rPr>
              <a:t>tunneling: </a:t>
            </a:r>
            <a:r>
              <a:rPr lang="zh-CN" altLang="en-US" dirty="0">
                <a:latin typeface="Arial" panose="020B0604020202020204" pitchFamily="34" charset="0"/>
                <a:cs typeface="Arial" panose="020B0604020202020204" pitchFamily="34" charset="0"/>
              </a:rPr>
              <a:t>IPv6 datagram carried as payload in IPv4 datagram among IPv4 routers</a:t>
            </a:r>
          </a:p>
        </p:txBody>
      </p:sp>
    </p:spTree>
    <p:extLst>
      <p:ext uri="{BB962C8B-B14F-4D97-AF65-F5344CB8AC3E}">
        <p14:creationId xmlns:p14="http://schemas.microsoft.com/office/powerpoint/2010/main" val="16219284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sp>
        <p:nvSpPr>
          <p:cNvPr id="11" name="矩形 10">
            <a:extLst>
              <a:ext uri="{FF2B5EF4-FFF2-40B4-BE49-F238E27FC236}">
                <a16:creationId xmlns:a16="http://schemas.microsoft.com/office/drawing/2014/main" id="{B4D0A671-166B-4BF1-8DBF-F396911551D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Tunneling</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47354851-9061-42FF-A6D9-12E222BCD64E}"/>
              </a:ext>
            </a:extLst>
          </p:cNvPr>
          <p:cNvGrpSpPr/>
          <p:nvPr/>
        </p:nvGrpSpPr>
        <p:grpSpPr>
          <a:xfrm>
            <a:off x="1639870" y="979195"/>
            <a:ext cx="7993079" cy="5809394"/>
            <a:chOff x="1284270" y="985545"/>
            <a:chExt cx="7993079" cy="5809394"/>
          </a:xfrm>
        </p:grpSpPr>
        <p:pic>
          <p:nvPicPr>
            <p:cNvPr id="13" name="图片 12">
              <a:extLst>
                <a:ext uri="{FF2B5EF4-FFF2-40B4-BE49-F238E27FC236}">
                  <a16:creationId xmlns:a16="http://schemas.microsoft.com/office/drawing/2014/main" id="{FACA2F0C-C294-41BF-878A-B459EF3727C1}"/>
                </a:ext>
              </a:extLst>
            </p:cNvPr>
            <p:cNvPicPr>
              <a:picLocks noChangeAspect="1"/>
            </p:cNvPicPr>
            <p:nvPr/>
          </p:nvPicPr>
          <p:blipFill>
            <a:blip r:embed="rId2"/>
            <a:stretch>
              <a:fillRect/>
            </a:stretch>
          </p:blipFill>
          <p:spPr>
            <a:xfrm>
              <a:off x="1284270" y="985545"/>
              <a:ext cx="7919069" cy="5735930"/>
            </a:xfrm>
            <a:prstGeom prst="rect">
              <a:avLst/>
            </a:prstGeom>
          </p:spPr>
        </p:pic>
        <p:pic>
          <p:nvPicPr>
            <p:cNvPr id="14" name="图片 13">
              <a:extLst>
                <a:ext uri="{FF2B5EF4-FFF2-40B4-BE49-F238E27FC236}">
                  <a16:creationId xmlns:a16="http://schemas.microsoft.com/office/drawing/2014/main" id="{0D84198C-7AAC-4851-9209-49B88E7C6B6D}"/>
                </a:ext>
              </a:extLst>
            </p:cNvPr>
            <p:cNvPicPr>
              <a:picLocks noChangeAspect="1"/>
            </p:cNvPicPr>
            <p:nvPr/>
          </p:nvPicPr>
          <p:blipFill>
            <a:blip r:embed="rId3"/>
            <a:stretch>
              <a:fillRect/>
            </a:stretch>
          </p:blipFill>
          <p:spPr>
            <a:xfrm>
              <a:off x="8601072" y="6488110"/>
              <a:ext cx="676277" cy="306829"/>
            </a:xfrm>
            <a:prstGeom prst="rect">
              <a:avLst/>
            </a:prstGeom>
          </p:spPr>
        </p:pic>
      </p:grpSp>
    </p:spTree>
    <p:extLst>
      <p:ext uri="{BB962C8B-B14F-4D97-AF65-F5344CB8AC3E}">
        <p14:creationId xmlns:p14="http://schemas.microsoft.com/office/powerpoint/2010/main" val="92805126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964" y="2524126"/>
            <a:ext cx="8148637"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8988" y="2733675"/>
            <a:ext cx="1212850"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0388" y="2749551"/>
            <a:ext cx="1236662"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2251BFEC-2864-4C8A-A9CC-5BC06CB4C1A0}"/>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Header Translation</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930495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05828" name="Content Placeholder 3"/>
          <p:cNvSpPr>
            <a:spLocks noGrp="1"/>
          </p:cNvSpPr>
          <p:nvPr>
            <p:ph idx="1"/>
          </p:nvPr>
        </p:nvSpPr>
        <p:spPr>
          <a:xfrm>
            <a:off x="1587501" y="1230314"/>
            <a:ext cx="9620249" cy="4656136"/>
          </a:xfrm>
        </p:spPr>
        <p:txBody>
          <a:bodyPr>
            <a:normAutofit/>
          </a:bodyPr>
          <a:lstStyle/>
          <a:p>
            <a:pPr>
              <a:lnSpc>
                <a:spcPct val="100000"/>
              </a:lnSpc>
            </a:pPr>
            <a:r>
              <a:rPr lang="en-US" altLang="zh-CN" sz="3200" dirty="0">
                <a:ea typeface="宋体" panose="02010600030101010101" pitchFamily="2" charset="-122"/>
              </a:rPr>
              <a:t>IP works with the help of several control protocols:</a:t>
            </a:r>
          </a:p>
          <a:p>
            <a:pPr lvl="1">
              <a:lnSpc>
                <a:spcPct val="100000"/>
              </a:lnSpc>
            </a:pPr>
            <a:r>
              <a:rPr lang="en-US" altLang="zh-CN" sz="2800" u="sng" dirty="0">
                <a:ea typeface="宋体" panose="02010600030101010101" pitchFamily="2" charset="-122"/>
              </a:rPr>
              <a:t>ICMP</a:t>
            </a:r>
            <a:r>
              <a:rPr lang="en-US" altLang="zh-CN" sz="2800" dirty="0">
                <a:ea typeface="宋体" panose="02010600030101010101" pitchFamily="2" charset="-122"/>
              </a:rPr>
              <a:t> is a companion to IP that returns error info</a:t>
            </a:r>
          </a:p>
          <a:p>
            <a:pPr lvl="2">
              <a:lnSpc>
                <a:spcPct val="100000"/>
              </a:lnSpc>
            </a:pPr>
            <a:r>
              <a:rPr lang="en-US" altLang="zh-CN" sz="2400" dirty="0">
                <a:ea typeface="宋体" panose="02010600030101010101" pitchFamily="2" charset="-122"/>
              </a:rPr>
              <a:t>Required, and used in many ways, e.g., for traceroute</a:t>
            </a:r>
          </a:p>
          <a:p>
            <a:pPr lvl="1">
              <a:lnSpc>
                <a:spcPct val="100000"/>
              </a:lnSpc>
            </a:pPr>
            <a:r>
              <a:rPr lang="en-US" altLang="zh-CN" sz="2800" u="sng" dirty="0">
                <a:ea typeface="宋体" panose="02010600030101010101" pitchFamily="2" charset="-122"/>
              </a:rPr>
              <a:t>ARP</a:t>
            </a:r>
            <a:r>
              <a:rPr lang="en-US" altLang="zh-CN" sz="2800" dirty="0">
                <a:ea typeface="宋体" panose="02010600030101010101" pitchFamily="2" charset="-122"/>
              </a:rPr>
              <a:t> finds Ethernet address of a local IP address</a:t>
            </a:r>
          </a:p>
          <a:p>
            <a:pPr lvl="2">
              <a:lnSpc>
                <a:spcPct val="100000"/>
              </a:lnSpc>
            </a:pPr>
            <a:r>
              <a:rPr lang="en-US" altLang="zh-CN" sz="2400" dirty="0">
                <a:ea typeface="宋体" panose="02010600030101010101" pitchFamily="2" charset="-122"/>
              </a:rPr>
              <a:t>Glue that is needed to send any IP packets</a:t>
            </a:r>
          </a:p>
          <a:p>
            <a:pPr lvl="2">
              <a:lnSpc>
                <a:spcPct val="100000"/>
              </a:lnSpc>
            </a:pPr>
            <a:r>
              <a:rPr lang="en-US" altLang="zh-CN" sz="2400" dirty="0">
                <a:ea typeface="宋体" panose="02010600030101010101" pitchFamily="2" charset="-122"/>
              </a:rPr>
              <a:t>Host queries an address and the owner replies </a:t>
            </a:r>
          </a:p>
          <a:p>
            <a:pPr lvl="1">
              <a:lnSpc>
                <a:spcPct val="100000"/>
              </a:lnSpc>
            </a:pPr>
            <a:r>
              <a:rPr lang="en-US" altLang="zh-CN" sz="2800" u="sng" dirty="0">
                <a:ea typeface="宋体" panose="02010600030101010101" pitchFamily="2" charset="-122"/>
              </a:rPr>
              <a:t>DHCP</a:t>
            </a:r>
            <a:r>
              <a:rPr lang="en-US" altLang="zh-CN" sz="2800" dirty="0">
                <a:ea typeface="宋体" panose="02010600030101010101" pitchFamily="2" charset="-122"/>
              </a:rPr>
              <a:t> assigns a local IP address to a host</a:t>
            </a:r>
          </a:p>
          <a:p>
            <a:pPr lvl="2">
              <a:lnSpc>
                <a:spcPct val="100000"/>
              </a:lnSpc>
            </a:pPr>
            <a:r>
              <a:rPr lang="en-US" altLang="zh-CN" sz="2400" dirty="0">
                <a:ea typeface="宋体" panose="02010600030101010101" pitchFamily="2" charset="-122"/>
              </a:rPr>
              <a:t>Gets host started by automatically configuring it</a:t>
            </a:r>
          </a:p>
          <a:p>
            <a:pPr lvl="2">
              <a:lnSpc>
                <a:spcPct val="100000"/>
              </a:lnSpc>
            </a:pPr>
            <a:r>
              <a:rPr lang="en-US" altLang="zh-CN" sz="2400" dirty="0">
                <a:ea typeface="宋体" panose="02010600030101010101" pitchFamily="2" charset="-122"/>
              </a:rPr>
              <a:t>Host sends request to server, which grants a lease</a:t>
            </a:r>
          </a:p>
        </p:txBody>
      </p:sp>
      <p:sp>
        <p:nvSpPr>
          <p:cNvPr id="5" name="矩形 4">
            <a:extLst>
              <a:ext uri="{FF2B5EF4-FFF2-40B4-BE49-F238E27FC236}">
                <a16:creationId xmlns:a16="http://schemas.microsoft.com/office/drawing/2014/main" id="{B03B9281-4C54-4B73-A449-67B6C8186CCE}"/>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Control Protocols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949313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207876" name="Rectangle 3"/>
          <p:cNvSpPr>
            <a:spLocks noGrp="1" noChangeArrowheads="1"/>
          </p:cNvSpPr>
          <p:nvPr>
            <p:ph type="body" idx="1"/>
          </p:nvPr>
        </p:nvSpPr>
        <p:spPr>
          <a:xfrm>
            <a:off x="641350" y="1031874"/>
            <a:ext cx="11195050" cy="5280026"/>
          </a:xfrm>
        </p:spPr>
        <p:txBody>
          <a:bodyPr>
            <a:normAutofit lnSpcReduction="10000"/>
          </a:bodyPr>
          <a:lstStyle/>
          <a:p>
            <a:pPr>
              <a:lnSpc>
                <a:spcPct val="110000"/>
              </a:lnSpc>
            </a:pPr>
            <a:r>
              <a:rPr lang="en-AU" altLang="zh-CN" sz="2400" dirty="0">
                <a:latin typeface="Arial" panose="020B0604020202020204" pitchFamily="34" charset="0"/>
                <a:ea typeface="宋体" panose="02010600030101010101" pitchFamily="2" charset="-122"/>
                <a:cs typeface="Arial" panose="020B0604020202020204" pitchFamily="34" charset="0"/>
              </a:rPr>
              <a:t>IP protocol is a best-effort delivery service, however it has two deficiencies</a:t>
            </a:r>
          </a:p>
          <a:p>
            <a:pPr lvl="1">
              <a:lnSpc>
                <a:spcPct val="110000"/>
              </a:lnSpc>
            </a:pPr>
            <a:r>
              <a:rPr lang="en-AU" altLang="zh-CN" dirty="0">
                <a:latin typeface="Arial" panose="020B0604020202020204" pitchFamily="34" charset="0"/>
                <a:ea typeface="宋体" panose="02010600030101010101" pitchFamily="2" charset="-122"/>
                <a:cs typeface="Arial" panose="020B0604020202020204" pitchFamily="34" charset="0"/>
              </a:rPr>
              <a:t>Lack of error control</a:t>
            </a:r>
          </a:p>
          <a:p>
            <a:pPr lvl="1">
              <a:lnSpc>
                <a:spcPct val="110000"/>
              </a:lnSpc>
            </a:pPr>
            <a:r>
              <a:rPr lang="en-AU" altLang="zh-CN" dirty="0">
                <a:latin typeface="Arial" panose="020B0604020202020204" pitchFamily="34" charset="0"/>
                <a:ea typeface="宋体" panose="02010600030101010101" pitchFamily="2" charset="-122"/>
                <a:cs typeface="Arial" panose="020B0604020202020204" pitchFamily="34" charset="0"/>
              </a:rPr>
              <a:t>Lack of assistance mechanisms</a:t>
            </a:r>
          </a:p>
          <a:p>
            <a:pPr>
              <a:lnSpc>
                <a:spcPct val="110000"/>
              </a:lnSpc>
            </a:pPr>
            <a:r>
              <a:rPr lang="en-AU" altLang="zh-CN" sz="2400" dirty="0">
                <a:latin typeface="Arial" panose="020B0604020202020204" pitchFamily="34" charset="0"/>
                <a:ea typeface="宋体" panose="02010600030101010101" pitchFamily="2" charset="-122"/>
                <a:cs typeface="Arial" panose="020B0604020202020204" pitchFamily="34" charset="0"/>
              </a:rPr>
              <a:t>IP protocol has no error-reporting or error-correction mechanism</a:t>
            </a:r>
          </a:p>
          <a:p>
            <a:pPr lvl="1">
              <a:lnSpc>
                <a:spcPct val="110000"/>
              </a:lnSpc>
            </a:pPr>
            <a:r>
              <a:rPr lang="en-AU" altLang="zh-CN" dirty="0">
                <a:latin typeface="Arial" panose="020B0604020202020204" pitchFamily="34" charset="0"/>
                <a:ea typeface="宋体" panose="02010600030101010101" pitchFamily="2" charset="-122"/>
                <a:cs typeface="Arial" panose="020B0604020202020204" pitchFamily="34" charset="0"/>
              </a:rPr>
              <a:t>What happens when something goes wrong?</a:t>
            </a:r>
          </a:p>
          <a:p>
            <a:pPr lvl="1">
              <a:lnSpc>
                <a:spcPct val="110000"/>
              </a:lnSpc>
            </a:pPr>
            <a:r>
              <a:rPr lang="en-AU" altLang="zh-CN" dirty="0">
                <a:latin typeface="Arial" panose="020B0604020202020204" pitchFamily="34" charset="0"/>
                <a:ea typeface="宋体" panose="02010600030101010101" pitchFamily="2" charset="-122"/>
                <a:cs typeface="Arial" panose="020B0604020202020204" pitchFamily="34" charset="0"/>
              </a:rPr>
              <a:t>What happens if a router must discard a datagram because it cannot find a route to the final destination?</a:t>
            </a:r>
          </a:p>
          <a:p>
            <a:pPr lvl="1">
              <a:lnSpc>
                <a:spcPct val="110000"/>
              </a:lnSpc>
            </a:pPr>
            <a:r>
              <a:rPr lang="en-AU" altLang="zh-CN" dirty="0">
                <a:latin typeface="Arial" panose="020B0604020202020204" pitchFamily="34" charset="0"/>
                <a:ea typeface="宋体" panose="02010600030101010101" pitchFamily="2" charset="-122"/>
                <a:cs typeface="Arial" panose="020B0604020202020204" pitchFamily="34" charset="0"/>
              </a:rPr>
              <a:t>What if the time-to-live field has a zero value?</a:t>
            </a:r>
          </a:p>
          <a:p>
            <a:pPr lvl="1">
              <a:lnSpc>
                <a:spcPct val="110000"/>
              </a:lnSpc>
            </a:pPr>
            <a:r>
              <a:rPr lang="en-AU" altLang="zh-CN" dirty="0">
                <a:latin typeface="Arial" panose="020B0604020202020204" pitchFamily="34" charset="0"/>
                <a:ea typeface="宋体" panose="02010600030101010101" pitchFamily="2" charset="-122"/>
                <a:cs typeface="Arial" panose="020B0604020202020204" pitchFamily="34" charset="0"/>
              </a:rPr>
              <a:t>What if it has to discard all fragments because not all were received in a predetermined time limit?</a:t>
            </a:r>
          </a:p>
          <a:p>
            <a:pPr>
              <a:lnSpc>
                <a:spcPct val="110000"/>
              </a:lnSpc>
            </a:pPr>
            <a:r>
              <a:rPr lang="en-AU" altLang="zh-CN" sz="2400" dirty="0">
                <a:latin typeface="Arial" panose="020B0604020202020204" pitchFamily="34" charset="0"/>
                <a:ea typeface="宋体" panose="02010600030101010101" pitchFamily="2" charset="-122"/>
                <a:cs typeface="Arial" panose="020B0604020202020204" pitchFamily="34" charset="0"/>
              </a:rPr>
              <a:t>IP protocol also lacks a mechanism for host and management queries.</a:t>
            </a:r>
          </a:p>
          <a:p>
            <a:pPr>
              <a:lnSpc>
                <a:spcPct val="110000"/>
              </a:lnSpc>
            </a:pPr>
            <a:r>
              <a:rPr lang="en-AU" altLang="zh-CN" sz="2400" dirty="0">
                <a:latin typeface="Arial" panose="020B0604020202020204" pitchFamily="34" charset="0"/>
                <a:ea typeface="宋体" panose="02010600030101010101" pitchFamily="2" charset="-122"/>
                <a:cs typeface="Arial" panose="020B0604020202020204" pitchFamily="34" charset="0"/>
              </a:rPr>
              <a:t>ICMP was designed to compensate for these deficiencies.</a:t>
            </a:r>
          </a:p>
        </p:txBody>
      </p:sp>
      <p:sp>
        <p:nvSpPr>
          <p:cNvPr id="5" name="矩形 4">
            <a:extLst>
              <a:ext uri="{FF2B5EF4-FFF2-40B4-BE49-F238E27FC236}">
                <a16:creationId xmlns:a16="http://schemas.microsoft.com/office/drawing/2014/main" id="{31A8D93D-9E04-4AFE-AAB0-A78980311742}"/>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Control Message Protocol</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032456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208900" name="Rectangle 3"/>
          <p:cNvSpPr>
            <a:spLocks noGrp="1" noChangeArrowheads="1"/>
          </p:cNvSpPr>
          <p:nvPr>
            <p:ph type="body" idx="1"/>
          </p:nvPr>
        </p:nvSpPr>
        <p:spPr>
          <a:xfrm>
            <a:off x="800100" y="1060057"/>
            <a:ext cx="10833100" cy="5035550"/>
          </a:xfrm>
        </p:spPr>
        <p:txBody>
          <a:bodyPr>
            <a:normAutofit fontScale="92500"/>
          </a:bodyPr>
          <a:lstStyle/>
          <a:p>
            <a:pPr marL="342900" indent="-342900">
              <a:lnSpc>
                <a:spcPct val="110000"/>
              </a:lnSpc>
              <a:spcBef>
                <a:spcPts val="600"/>
              </a:spcBef>
            </a:pPr>
            <a:r>
              <a:rPr lang="en-US" altLang="zh-CN" dirty="0">
                <a:latin typeface="Arial" panose="020B0604020202020204" pitchFamily="34" charset="0"/>
                <a:ea typeface="宋体" panose="02010600030101010101" pitchFamily="2" charset="-122"/>
                <a:cs typeface="Arial" panose="020B0604020202020204" pitchFamily="34" charset="0"/>
              </a:rPr>
              <a:t>Encapsulated in IP packet </a:t>
            </a:r>
          </a:p>
          <a:p>
            <a:pPr marL="342900" indent="-342900">
              <a:lnSpc>
                <a:spcPct val="110000"/>
              </a:lnSpc>
              <a:spcBef>
                <a:spcPts val="600"/>
              </a:spcBef>
            </a:pPr>
            <a:r>
              <a:rPr lang="en-US" altLang="zh-CN" dirty="0">
                <a:latin typeface="Arial" panose="020B0604020202020204" pitchFamily="34" charset="0"/>
                <a:ea typeface="宋体" panose="02010600030101010101" pitchFamily="2" charset="-122"/>
                <a:cs typeface="Arial" panose="020B0604020202020204" pitchFamily="34" charset="0"/>
              </a:rPr>
              <a:t>Handles error and control messages</a:t>
            </a:r>
          </a:p>
          <a:p>
            <a:pPr marL="342900" indent="-342900">
              <a:lnSpc>
                <a:spcPct val="110000"/>
              </a:lnSpc>
              <a:spcBef>
                <a:spcPts val="600"/>
              </a:spcBef>
            </a:pPr>
            <a:r>
              <a:rPr lang="en-US" altLang="zh-CN" dirty="0">
                <a:latin typeface="Arial" panose="020B0604020202020204" pitchFamily="34" charset="0"/>
                <a:ea typeface="宋体" panose="02010600030101010101" pitchFamily="2" charset="-122"/>
                <a:cs typeface="Arial" panose="020B0604020202020204" pitchFamily="34" charset="0"/>
              </a:rPr>
              <a:t>If router cannot deliver or forward a packet, it sends an ICMP “host unreachable” message to the source</a:t>
            </a:r>
          </a:p>
          <a:p>
            <a:pPr marL="342900" indent="-342900">
              <a:lnSpc>
                <a:spcPct val="110000"/>
              </a:lnSpc>
              <a:spcBef>
                <a:spcPts val="600"/>
              </a:spcBef>
            </a:pPr>
            <a:r>
              <a:rPr lang="en-US" altLang="zh-CN" dirty="0">
                <a:latin typeface="Arial" panose="020B0604020202020204" pitchFamily="34" charset="0"/>
                <a:ea typeface="宋体" panose="02010600030101010101" pitchFamily="2" charset="-122"/>
                <a:cs typeface="Arial" panose="020B0604020202020204" pitchFamily="34" charset="0"/>
              </a:rPr>
              <a:t>If router receives packet that should have been sent to another router, it sends an ICMP “redirect” message to the sender;  Sender modifies its routing table</a:t>
            </a:r>
          </a:p>
          <a:p>
            <a:pPr marL="342900" indent="-342900">
              <a:lnSpc>
                <a:spcPct val="110000"/>
              </a:lnSpc>
              <a:spcBef>
                <a:spcPts val="600"/>
              </a:spcBef>
            </a:pPr>
            <a:r>
              <a:rPr lang="en-US" altLang="zh-CN" dirty="0">
                <a:latin typeface="Arial" panose="020B0604020202020204" pitchFamily="34" charset="0"/>
                <a:ea typeface="宋体" panose="02010600030101010101" pitchFamily="2" charset="-122"/>
                <a:cs typeface="Arial" panose="020B0604020202020204" pitchFamily="34" charset="0"/>
              </a:rPr>
              <a:t>ICMP “router discovery” messages allow host to learn about routers in its network and to initialize and update its routing tables</a:t>
            </a:r>
          </a:p>
          <a:p>
            <a:pPr marL="342900" indent="-342900">
              <a:lnSpc>
                <a:spcPct val="110000"/>
              </a:lnSpc>
              <a:spcBef>
                <a:spcPts val="600"/>
              </a:spcBef>
            </a:pPr>
            <a:r>
              <a:rPr lang="en-US" altLang="zh-CN" dirty="0">
                <a:latin typeface="Arial" panose="020B0604020202020204" pitchFamily="34" charset="0"/>
                <a:ea typeface="宋体" panose="02010600030101010101" pitchFamily="2" charset="-122"/>
                <a:cs typeface="Arial" panose="020B0604020202020204" pitchFamily="34" charset="0"/>
              </a:rPr>
              <a:t>ICMP echo request and reply facilitate diagnostic and used in “ping”</a:t>
            </a:r>
          </a:p>
          <a:p>
            <a:pPr lvl="1">
              <a:lnSpc>
                <a:spcPct val="110000"/>
              </a:lnSpc>
            </a:pPr>
            <a:endParaRPr lang="zh-CN" altLang="en-US" sz="2500" dirty="0">
              <a:latin typeface="Arial" panose="020B0604020202020204" pitchFamily="34" charset="0"/>
              <a:ea typeface="宋体" panose="02010600030101010101" pitchFamily="2" charset="-122"/>
              <a:cs typeface="Arial" panose="020B0604020202020204" pitchFamily="34" charset="0"/>
            </a:endParaRPr>
          </a:p>
        </p:txBody>
      </p:sp>
      <p:sp>
        <p:nvSpPr>
          <p:cNvPr id="5" name="矩形 4">
            <a:extLst>
              <a:ext uri="{FF2B5EF4-FFF2-40B4-BE49-F238E27FC236}">
                <a16:creationId xmlns:a16="http://schemas.microsoft.com/office/drawing/2014/main" id="{A79A8039-95A0-448C-ADB8-B205349C6A88}"/>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Control Message Protocol (cont.)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2383325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6" name="矩形 5">
            <a:extLst>
              <a:ext uri="{FF2B5EF4-FFF2-40B4-BE49-F238E27FC236}">
                <a16:creationId xmlns:a16="http://schemas.microsoft.com/office/drawing/2014/main" id="{EDD0BB90-1C2D-49C4-91D6-D12EC23721E5}"/>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ICMP Message Types</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486E4867-9125-4CD5-851C-42A12A9006CA}"/>
              </a:ext>
            </a:extLst>
          </p:cNvPr>
          <p:cNvPicPr>
            <a:picLocks noChangeAspect="1"/>
          </p:cNvPicPr>
          <p:nvPr/>
        </p:nvPicPr>
        <p:blipFill>
          <a:blip r:embed="rId2"/>
          <a:stretch>
            <a:fillRect/>
          </a:stretch>
        </p:blipFill>
        <p:spPr>
          <a:xfrm>
            <a:off x="1299350" y="1103303"/>
            <a:ext cx="9616300" cy="5076532"/>
          </a:xfrm>
          <a:prstGeom prst="rect">
            <a:avLst/>
          </a:prstGeom>
        </p:spPr>
      </p:pic>
    </p:spTree>
    <p:extLst>
      <p:ext uri="{BB962C8B-B14F-4D97-AF65-F5344CB8AC3E}">
        <p14:creationId xmlns:p14="http://schemas.microsoft.com/office/powerpoint/2010/main" val="256314282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20992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0212" y="1097619"/>
            <a:ext cx="8791575" cy="516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F621632D-786D-4633-8667-9758724A1C9F}"/>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 – Echo request</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1166052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页脚占位符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21094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6250" y="1127235"/>
            <a:ext cx="8699500" cy="514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EFEB41B8-2DAB-4CEB-9CEC-D1CDDB6FD674}"/>
              </a:ext>
            </a:extLst>
          </p:cNvPr>
          <p:cNvSpPr/>
          <p:nvPr/>
        </p:nvSpPr>
        <p:spPr>
          <a:xfrm>
            <a:off x="301659" y="276094"/>
            <a:ext cx="11716652" cy="523220"/>
          </a:xfrm>
          <a:prstGeom prst="rect">
            <a:avLst/>
          </a:prstGeom>
          <a:solidFill>
            <a:sysClr val="window" lastClr="FFFFFF"/>
          </a:solidFill>
        </p:spPr>
        <p:txBody>
          <a:bodyPr wrap="square">
            <a:spAutoFit/>
          </a:bodyPr>
          <a:lstStyle/>
          <a:p>
            <a:pPr defTabSz="914400">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Example – Echo Reply</a:t>
            </a:r>
            <a:endParaRPr lang="zh-CN" altLang="en-US"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7038151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sp>
        <p:nvSpPr>
          <p:cNvPr id="211971" name="Text Box 2"/>
          <p:cNvSpPr txBox="1">
            <a:spLocks noChangeArrowheads="1"/>
          </p:cNvSpPr>
          <p:nvPr/>
        </p:nvSpPr>
        <p:spPr bwMode="auto">
          <a:xfrm>
            <a:off x="131764" y="1182689"/>
            <a:ext cx="6341801" cy="523220"/>
          </a:xfrm>
          <a:prstGeom prst="rect">
            <a:avLst/>
          </a:prstGeom>
          <a:solidFill>
            <a:sysClr val="window" lastClr="FFFFFF"/>
          </a:solidFill>
        </p:spPr>
        <p:txBody>
          <a:bodyPr wrap="square">
            <a:spAutoFit/>
          </a:bodyPr>
          <a:lstStyle>
            <a:defPPr>
              <a:defRPr lang="zh-CN"/>
            </a:defPPr>
            <a:lvl1pPr>
              <a:defRPr sz="2800" b="1" kern="0">
                <a:solidFill>
                  <a:srgbClr val="C00000"/>
                </a:solidFill>
                <a:latin typeface="微软雅黑" panose="020B0503020204020204" pitchFamily="34" charset="-122"/>
                <a:ea typeface="微软雅黑" panose="020B0503020204020204" pitchFamily="34" charset="-122"/>
              </a:defRPr>
            </a:lvl1pPr>
          </a:lstStyle>
          <a:p>
            <a:endParaRPr lang="en-US" altLang="zh-CN" dirty="0"/>
          </a:p>
        </p:txBody>
      </p:sp>
      <p:pic>
        <p:nvPicPr>
          <p:cNvPr id="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5087" y="1385889"/>
            <a:ext cx="4199044" cy="22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1385889"/>
            <a:ext cx="4178300" cy="2269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8800" y="3858099"/>
            <a:ext cx="9809530" cy="2332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771AFC58-32BD-41D0-82F4-533E6ED5A49C}"/>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rPr>
              <a:t>General format of ICMP messages</a:t>
            </a:r>
          </a:p>
        </p:txBody>
      </p:sp>
    </p:spTree>
    <p:extLst>
      <p:ext uri="{BB962C8B-B14F-4D97-AF65-F5344CB8AC3E}">
        <p14:creationId xmlns:p14="http://schemas.microsoft.com/office/powerpoint/2010/main" val="35789293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gimg2.baidu.com/image_search/src=http%3A%2F%2Fwww.51wendang.com%2Fpic%2F3b37010eeabb314e9fb71f17%2F6-810-jpg_6-1080-0-0-1080.jpg&amp;refer=http%3A%2F%2Fwww.51wendang.com&amp;app=2002&amp;size=f9999,10000&amp;q=a80&amp;n=0&amp;g=0n&amp;fmt=jpeg?sec=1641481353&amp;t=90258b35a5e28e96ad7c71d83d2942ad">
            <a:extLst>
              <a:ext uri="{FF2B5EF4-FFF2-40B4-BE49-F238E27FC236}">
                <a16:creationId xmlns:a16="http://schemas.microsoft.com/office/drawing/2014/main" id="{34A4E22A-BC5A-4FD0-BCAA-01A0127D21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1001"/>
          <a:stretch/>
        </p:blipFill>
        <p:spPr bwMode="auto">
          <a:xfrm>
            <a:off x="1757547" y="1042059"/>
            <a:ext cx="9191502" cy="5445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15898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CEEA0772-A012-49AA-950B-8F47A0E2F0BB}"/>
              </a:ext>
            </a:extLst>
          </p:cNvPr>
          <p:cNvGrpSpPr/>
          <p:nvPr/>
        </p:nvGrpSpPr>
        <p:grpSpPr>
          <a:xfrm>
            <a:off x="1397822" y="355610"/>
            <a:ext cx="9171217" cy="6502390"/>
            <a:chOff x="1813459" y="442726"/>
            <a:chExt cx="8403277" cy="5827445"/>
          </a:xfrm>
        </p:grpSpPr>
        <p:pic>
          <p:nvPicPr>
            <p:cNvPr id="3074" name="Picture 2" descr="https://images2018.cnblogs.com/blog/806469/201803/806469-20180306123940403-1730998630.png">
              <a:extLst>
                <a:ext uri="{FF2B5EF4-FFF2-40B4-BE49-F238E27FC236}">
                  <a16:creationId xmlns:a16="http://schemas.microsoft.com/office/drawing/2014/main" id="{8D1F193C-7E96-4B3E-8065-585426A59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537"/>
            <a:stretch/>
          </p:blipFill>
          <p:spPr bwMode="auto">
            <a:xfrm>
              <a:off x="1813459" y="442726"/>
              <a:ext cx="8403277" cy="582744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18C22BC6-C94F-4764-9845-A2A298B2516A}"/>
                </a:ext>
              </a:extLst>
            </p:cNvPr>
            <p:cNvSpPr/>
            <p:nvPr/>
          </p:nvSpPr>
          <p:spPr>
            <a:xfrm>
              <a:off x="1975264" y="2982376"/>
              <a:ext cx="1516081" cy="9008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54293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9" name="Rectangle 3"/>
          <p:cNvSpPr>
            <a:spLocks noGrp="1" noChangeArrowheads="1"/>
          </p:cNvSpPr>
          <p:nvPr>
            <p:ph idx="1"/>
          </p:nvPr>
        </p:nvSpPr>
        <p:spPr>
          <a:xfrm>
            <a:off x="838200" y="990600"/>
            <a:ext cx="10515600" cy="928688"/>
          </a:xfrm>
        </p:spPr>
        <p:txBody>
          <a:bodyPr/>
          <a:lstStyle/>
          <a:p>
            <a:r>
              <a:rPr lang="en-US" altLang="zh-CN" dirty="0">
                <a:ea typeface="宋体" panose="02010600030101010101" pitchFamily="2" charset="-122"/>
              </a:rPr>
              <a:t>ARP (Address Resolution Protocol) lets nodes find target Ethernet addresses [pink] from their IP addresses</a:t>
            </a:r>
          </a:p>
        </p:txBody>
      </p:sp>
      <p:sp>
        <p:nvSpPr>
          <p:cNvPr id="2140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21402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073276"/>
            <a:ext cx="7742238"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4022" name="Rectangle 8"/>
          <p:cNvSpPr>
            <a:spLocks noChangeArrowheads="1"/>
          </p:cNvSpPr>
          <p:nvPr/>
        </p:nvSpPr>
        <p:spPr bwMode="auto">
          <a:xfrm>
            <a:off x="7835900" y="5495926"/>
            <a:ext cx="1022350" cy="796925"/>
          </a:xfrm>
          <a:prstGeom prst="rect">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7" name="矩形 6">
            <a:extLst>
              <a:ext uri="{FF2B5EF4-FFF2-40B4-BE49-F238E27FC236}">
                <a16:creationId xmlns:a16="http://schemas.microsoft.com/office/drawing/2014/main" id="{5A598634-AF1A-4F09-A872-D954C24C7517}"/>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Address Resolution Protocol</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6606067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1350" y="1868488"/>
            <a:ext cx="7694930" cy="276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20969FB0-6C5D-414A-AB6D-809F45F0ADBA}"/>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Position of ARP in TCP/IP protocol suite</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5124213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3019" y="2092257"/>
            <a:ext cx="7065962" cy="400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3713" y="1141606"/>
            <a:ext cx="38496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25F1F145-9207-497A-931E-6844B5A115C4}"/>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ARP Packet</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75462364"/>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latin typeface="Times New Roman" panose="02020603050405020304" pitchFamily="18" charset="0"/>
              </a:rPr>
              <a:t>Computer Networks, Chapter 5 The Network Layer</a:t>
            </a:r>
          </a:p>
        </p:txBody>
      </p:sp>
      <p:pic>
        <p:nvPicPr>
          <p:cNvPr id="21914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1" y="1219200"/>
            <a:ext cx="5667375"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846B74CF-E337-41FB-B6FF-0DE7CC0D3072}"/>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ARP </a:t>
            </a:r>
            <a:r>
              <a:rPr lang="en-US" altLang="zh-CN" sz="2800" b="1" kern="0" dirty="0">
                <a:solidFill>
                  <a:srgbClr val="C00000"/>
                </a:solidFill>
                <a:latin typeface="微软雅黑" panose="020B0503020204020204" pitchFamily="34" charset="-122"/>
                <a:ea typeface="微软雅黑" panose="020B0503020204020204" pitchFamily="34" charset="-122"/>
              </a:rPr>
              <a:t>operation</a:t>
            </a:r>
          </a:p>
        </p:txBody>
      </p:sp>
    </p:spTree>
    <p:extLst>
      <p:ext uri="{BB962C8B-B14F-4D97-AF65-F5344CB8AC3E}">
        <p14:creationId xmlns:p14="http://schemas.microsoft.com/office/powerpoint/2010/main" val="175830540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pic>
        <p:nvPicPr>
          <p:cNvPr id="22118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1376" y="1446613"/>
            <a:ext cx="7743824" cy="4414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2BCA7335-9134-4B27-B330-0E080FE654F7}"/>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ARP Request &amp; Reply</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0903554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pic>
        <p:nvPicPr>
          <p:cNvPr id="2222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936" y="1550987"/>
            <a:ext cx="8039002" cy="3756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A9F27A80-74EE-4DCF-9BB1-04409C73B5CB}"/>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Proxy ARP</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1742193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224260" name="Rectangle 3"/>
          <p:cNvSpPr>
            <a:spLocks noGrp="1" noChangeArrowheads="1"/>
          </p:cNvSpPr>
          <p:nvPr>
            <p:ph type="body" idx="1"/>
          </p:nvPr>
        </p:nvSpPr>
        <p:spPr>
          <a:xfrm>
            <a:off x="1616336" y="1513288"/>
            <a:ext cx="9302675" cy="4129088"/>
          </a:xfrm>
        </p:spPr>
        <p:txBody>
          <a:bodyPr/>
          <a:lstStyle/>
          <a:p>
            <a:pPr>
              <a:lnSpc>
                <a:spcPct val="110000"/>
              </a:lnSpc>
            </a:pPr>
            <a:r>
              <a:rPr lang="en-AU" altLang="zh-CN" dirty="0">
                <a:ea typeface="宋体" panose="02010600030101010101" pitchFamily="2" charset="-122"/>
              </a:rPr>
              <a:t>A sender usually has more than one IP datagram to send to the same destination</a:t>
            </a:r>
          </a:p>
          <a:p>
            <a:pPr>
              <a:lnSpc>
                <a:spcPct val="110000"/>
              </a:lnSpc>
            </a:pPr>
            <a:r>
              <a:rPr lang="en-AU" altLang="zh-CN" dirty="0">
                <a:ea typeface="宋体" panose="02010600030101010101" pitchFamily="2" charset="-122"/>
              </a:rPr>
              <a:t>It is inefficient to use ARP for each datagram</a:t>
            </a:r>
          </a:p>
          <a:p>
            <a:pPr>
              <a:lnSpc>
                <a:spcPct val="110000"/>
              </a:lnSpc>
            </a:pPr>
            <a:r>
              <a:rPr lang="en-AU" altLang="zh-CN" dirty="0">
                <a:ea typeface="宋体" panose="02010600030101010101" pitchFamily="2" charset="-122"/>
              </a:rPr>
              <a:t>A cache table is used</a:t>
            </a:r>
          </a:p>
          <a:p>
            <a:pPr lvl="1">
              <a:lnSpc>
                <a:spcPct val="110000"/>
              </a:lnSpc>
            </a:pPr>
            <a:r>
              <a:rPr lang="en-AU" altLang="zh-CN" sz="2800" dirty="0">
                <a:ea typeface="宋体" panose="02010600030101010101" pitchFamily="2" charset="-122"/>
              </a:rPr>
              <a:t>limited size</a:t>
            </a:r>
          </a:p>
          <a:p>
            <a:pPr lvl="1">
              <a:lnSpc>
                <a:spcPct val="110000"/>
              </a:lnSpc>
            </a:pPr>
            <a:r>
              <a:rPr lang="en-AU" altLang="zh-CN" sz="2800" dirty="0">
                <a:ea typeface="宋体" panose="02010600030101010101" pitchFamily="2" charset="-122"/>
              </a:rPr>
              <a:t>mappings retained only for a limited time</a:t>
            </a:r>
          </a:p>
        </p:txBody>
      </p:sp>
      <p:sp>
        <p:nvSpPr>
          <p:cNvPr id="5" name="矩形 4">
            <a:extLst>
              <a:ext uri="{FF2B5EF4-FFF2-40B4-BE49-F238E27FC236}">
                <a16:creationId xmlns:a16="http://schemas.microsoft.com/office/drawing/2014/main" id="{D93C77AA-41B6-4D62-A270-BD3CEE85AFFB}"/>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AU" altLang="zh-CN" sz="2800" b="1" kern="0" dirty="0">
                <a:solidFill>
                  <a:srgbClr val="C00000"/>
                </a:solidFill>
                <a:latin typeface="微软雅黑" panose="020B0503020204020204" pitchFamily="34" charset="-122"/>
                <a:ea typeface="微软雅黑" panose="020B0503020204020204" pitchFamily="34" charset="-122"/>
                <a:cs typeface="+mn-cs"/>
              </a:rPr>
              <a:t>Cache Table</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3727764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sp>
        <p:nvSpPr>
          <p:cNvPr id="225284" name="Rectangle 3"/>
          <p:cNvSpPr>
            <a:spLocks noGrp="1" noChangeArrowheads="1"/>
          </p:cNvSpPr>
          <p:nvPr>
            <p:ph type="body" idx="1"/>
          </p:nvPr>
        </p:nvSpPr>
        <p:spPr>
          <a:xfrm>
            <a:off x="838200" y="1402163"/>
            <a:ext cx="10515600" cy="3373037"/>
          </a:xfrm>
        </p:spPr>
        <p:txBody>
          <a:bodyPr/>
          <a:lstStyle/>
          <a:p>
            <a:pPr marL="342900" indent="-342900">
              <a:lnSpc>
                <a:spcPct val="130000"/>
              </a:lnSpc>
            </a:pPr>
            <a:r>
              <a:rPr lang="en-AU" altLang="zh-CN" dirty="0">
                <a:ea typeface="宋体" panose="02010600030101010101" pitchFamily="2" charset="-122"/>
              </a:rPr>
              <a:t>Finds the logical address for a host that only knows its physical address</a:t>
            </a:r>
          </a:p>
          <a:p>
            <a:pPr marL="342900" indent="-342900">
              <a:lnSpc>
                <a:spcPct val="130000"/>
              </a:lnSpc>
            </a:pPr>
            <a:r>
              <a:rPr lang="en-AU" altLang="zh-CN" dirty="0">
                <a:ea typeface="宋体" panose="02010600030101010101" pitchFamily="2" charset="-122"/>
              </a:rPr>
              <a:t>RARP request packets are broadcast; RARP reply packets are unicast</a:t>
            </a:r>
          </a:p>
          <a:p>
            <a:pPr marL="342900" indent="-342900">
              <a:lnSpc>
                <a:spcPct val="130000"/>
              </a:lnSpc>
            </a:pPr>
            <a:r>
              <a:rPr lang="en-AU" altLang="zh-CN" dirty="0">
                <a:ea typeface="宋体" panose="02010600030101010101" pitchFamily="2" charset="-122"/>
              </a:rPr>
              <a:t>Used by diskless machines to obtain their IP addresses</a:t>
            </a:r>
          </a:p>
        </p:txBody>
      </p:sp>
      <p:sp>
        <p:nvSpPr>
          <p:cNvPr id="5" name="矩形 4">
            <a:extLst>
              <a:ext uri="{FF2B5EF4-FFF2-40B4-BE49-F238E27FC236}">
                <a16:creationId xmlns:a16="http://schemas.microsoft.com/office/drawing/2014/main" id="{4AE038EE-3895-4821-9F87-6FB6F733287C}"/>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AU" altLang="zh-CN" sz="2800" b="1" kern="0" dirty="0">
                <a:solidFill>
                  <a:srgbClr val="C00000"/>
                </a:solidFill>
                <a:latin typeface="微软雅黑" panose="020B0503020204020204" pitchFamily="34" charset="-122"/>
                <a:ea typeface="微软雅黑" panose="020B0503020204020204" pitchFamily="34" charset="-122"/>
                <a:cs typeface="+mn-cs"/>
              </a:rPr>
              <a:t>RARP</a:t>
            </a:r>
            <a:r>
              <a:rPr lang="zh-CN" altLang="en-US" sz="2800" b="1" kern="0" dirty="0">
                <a:solidFill>
                  <a:srgbClr val="C00000"/>
                </a:solidFill>
                <a:latin typeface="微软雅黑" panose="020B0503020204020204" pitchFamily="34" charset="-122"/>
                <a:ea typeface="微软雅黑" panose="020B0503020204020204" pitchFamily="34" charset="-122"/>
                <a:cs typeface="+mn-cs"/>
              </a:rPr>
              <a:t>：</a:t>
            </a:r>
            <a:r>
              <a:rPr lang="en-US" altLang="zh-CN" sz="2800" b="1" kern="0" dirty="0">
                <a:solidFill>
                  <a:srgbClr val="C00000"/>
                </a:solidFill>
                <a:latin typeface="微软雅黑" panose="020B0503020204020204" pitchFamily="34" charset="-122"/>
                <a:ea typeface="微软雅黑" panose="020B0503020204020204" pitchFamily="34" charset="-122"/>
              </a:rPr>
              <a:t>Reverse Address Resolution Protocol </a:t>
            </a:r>
            <a:r>
              <a:rPr lang="zh-CN" altLang="en-US" sz="2800" b="1" kern="0" dirty="0">
                <a:solidFill>
                  <a:srgbClr val="C00000"/>
                </a:solidFill>
                <a:latin typeface="微软雅黑" panose="020B0503020204020204" pitchFamily="34" charset="-122"/>
                <a:ea typeface="微软雅黑" panose="020B0503020204020204" pitchFamily="34" charset="-122"/>
              </a:rPr>
              <a:t>反向</a:t>
            </a:r>
            <a:r>
              <a:rPr lang="en-US" altLang="zh-CN" sz="2800" b="1" kern="0" dirty="0">
                <a:solidFill>
                  <a:srgbClr val="C00000"/>
                </a:solidFill>
                <a:latin typeface="微软雅黑" panose="020B0503020204020204" pitchFamily="34" charset="-122"/>
                <a:ea typeface="微软雅黑" panose="020B0503020204020204" pitchFamily="34" charset="-122"/>
              </a:rPr>
              <a:t>/</a:t>
            </a:r>
            <a:r>
              <a:rPr lang="zh-CN" altLang="en-US" sz="2800" b="1" kern="0" dirty="0">
                <a:solidFill>
                  <a:srgbClr val="C00000"/>
                </a:solidFill>
                <a:latin typeface="微软雅黑" panose="020B0503020204020204" pitchFamily="34" charset="-122"/>
                <a:ea typeface="微软雅黑" panose="020B0503020204020204" pitchFamily="34" charset="-122"/>
              </a:rPr>
              <a:t>逆地址解析协议</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624268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pic>
        <p:nvPicPr>
          <p:cNvPr id="217092" name="Picture 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444751" y="1638300"/>
            <a:ext cx="6943725" cy="3244850"/>
          </a:xfrm>
          <a:noFill/>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0941AC83-B336-4D8A-A116-A69B823F8E8C}"/>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ARP and RARP</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7200606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页脚占位符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latin typeface="Times New Roman" panose="02020603050405020304" pitchFamily="18" charset="0"/>
                <a:ea typeface="宋体" panose="02010600030101010101" pitchFamily="2" charset="-122"/>
              </a:rPr>
              <a:t>Computer Networks, Chapter 5 The Network Layer</a:t>
            </a:r>
          </a:p>
        </p:txBody>
      </p:sp>
      <p:pic>
        <p:nvPicPr>
          <p:cNvPr id="226308"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2717800" y="1003300"/>
            <a:ext cx="6115649" cy="5219699"/>
          </a:xfrm>
          <a:noFill/>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a:extLst>
              <a:ext uri="{FF2B5EF4-FFF2-40B4-BE49-F238E27FC236}">
                <a16:creationId xmlns:a16="http://schemas.microsoft.com/office/drawing/2014/main" id="{63BFA84A-14A6-4323-BCAB-91127777159B}"/>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AU" altLang="zh-CN" sz="2800" b="1" kern="0" dirty="0">
                <a:solidFill>
                  <a:srgbClr val="C00000"/>
                </a:solidFill>
                <a:latin typeface="微软雅黑" panose="020B0503020204020204" pitchFamily="34" charset="-122"/>
                <a:ea typeface="微软雅黑" panose="020B0503020204020204" pitchFamily="34" charset="-122"/>
                <a:cs typeface="+mn-cs"/>
              </a:rPr>
              <a:t>Operation </a:t>
            </a:r>
            <a:r>
              <a:rPr lang="en-US" altLang="zh-CN" sz="2800" b="1" kern="0" dirty="0">
                <a:solidFill>
                  <a:srgbClr val="C00000"/>
                </a:solidFill>
                <a:latin typeface="微软雅黑" panose="020B0503020204020204" pitchFamily="34" charset="-122"/>
                <a:ea typeface="微软雅黑" panose="020B0503020204020204" pitchFamily="34" charset="-122"/>
                <a:cs typeface="+mn-cs"/>
              </a:rPr>
              <a:t>of RARP</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5198034"/>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003166"/>
            <a:ext cx="10515600" cy="933450"/>
          </a:xfrm>
        </p:spPr>
        <p:txBody>
          <a:bodyPr/>
          <a:lstStyle/>
          <a:p>
            <a:r>
              <a:rPr lang="en-US" altLang="zh-CN" dirty="0">
                <a:ea typeface="宋体" panose="02010600030101010101" pitchFamily="2" charset="-122"/>
              </a:rPr>
              <a:t>DHCP is an application-layer program, using the client-server paradigm, that actually helps TCP/IP at the network layer.</a:t>
            </a:r>
            <a:endParaRPr lang="zh-CN" altLang="en-US" dirty="0"/>
          </a:p>
        </p:txBody>
      </p:sp>
      <p:sp>
        <p:nvSpPr>
          <p:cNvPr id="4" name="页脚占位符 3"/>
          <p:cNvSpPr>
            <a:spLocks noGrp="1"/>
          </p:cNvSpPr>
          <p:nvPr>
            <p:ph type="ftr" sz="quarter" idx="11"/>
          </p:nvPr>
        </p:nvSpPr>
        <p:spPr/>
        <p:txBody>
          <a:bodyPr/>
          <a:lstStyle/>
          <a:p>
            <a:pPr>
              <a:defRPr/>
            </a:pPr>
            <a:r>
              <a:rPr lang="en-US"/>
              <a:t>Computer Networks, Chapter 5 The Network Layer</a:t>
            </a:r>
            <a:endParaRPr lang="en-US" dirty="0"/>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49305" y="2046739"/>
            <a:ext cx="3146695" cy="419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7971" y="2482510"/>
            <a:ext cx="4821237"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a:extLst>
              <a:ext uri="{FF2B5EF4-FFF2-40B4-BE49-F238E27FC236}">
                <a16:creationId xmlns:a16="http://schemas.microsoft.com/office/drawing/2014/main" id="{CAC199BE-482A-4A44-979D-049C9DBD4A15}"/>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Dynamic Host Configuration Protocol</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35FD6641-77EB-4162-89AD-B19B5C12943D}"/>
              </a:ext>
            </a:extLst>
          </p:cNvPr>
          <p:cNvSpPr txBox="1"/>
          <p:nvPr/>
        </p:nvSpPr>
        <p:spPr>
          <a:xfrm>
            <a:off x="76580" y="2582071"/>
            <a:ext cx="2876912" cy="738664"/>
          </a:xfrm>
          <a:prstGeom prst="rect">
            <a:avLst/>
          </a:prstGeom>
          <a:noFill/>
        </p:spPr>
        <p:txBody>
          <a:bodyPr wrap="square">
            <a:spAutoFit/>
          </a:bodyPr>
          <a:lstStyle/>
          <a:p>
            <a:r>
              <a:rPr lang="en-US" altLang="zh-CN" sz="1400" b="0" i="0" dirty="0">
                <a:solidFill>
                  <a:srgbClr val="333333"/>
                </a:solidFill>
                <a:effectLst/>
                <a:latin typeface="微软雅黑" panose="020B0503020204020204" pitchFamily="34" charset="-122"/>
                <a:ea typeface="微软雅黑" panose="020B0503020204020204" pitchFamily="34" charset="-122"/>
              </a:rPr>
              <a:t>Client IP</a:t>
            </a:r>
            <a:r>
              <a:rPr lang="zh-CN" altLang="en-US" sz="1400" b="0" i="0" dirty="0">
                <a:solidFill>
                  <a:srgbClr val="333333"/>
                </a:solidFill>
                <a:effectLst/>
                <a:latin typeface="微软雅黑" panose="020B0503020204020204" pitchFamily="34" charset="-122"/>
                <a:ea typeface="微软雅黑" panose="020B0503020204020204" pitchFamily="34" charset="-122"/>
              </a:rPr>
              <a:t>：要是 </a:t>
            </a:r>
            <a:r>
              <a:rPr lang="en-US" altLang="zh-CN" sz="1400" b="0" i="0" dirty="0">
                <a:solidFill>
                  <a:srgbClr val="333333"/>
                </a:solidFill>
                <a:effectLst/>
                <a:latin typeface="微软雅黑" panose="020B0503020204020204" pitchFamily="34" charset="-122"/>
                <a:ea typeface="微软雅黑" panose="020B0503020204020204" pitchFamily="34" charset="-122"/>
              </a:rPr>
              <a:t>client </a:t>
            </a:r>
            <a:r>
              <a:rPr lang="zh-CN" altLang="en-US" sz="1400" b="0" i="0" dirty="0">
                <a:solidFill>
                  <a:srgbClr val="333333"/>
                </a:solidFill>
                <a:effectLst/>
                <a:latin typeface="微软雅黑" panose="020B0503020204020204" pitchFamily="34" charset="-122"/>
                <a:ea typeface="微软雅黑" panose="020B0503020204020204" pitchFamily="34" charset="-122"/>
              </a:rPr>
              <a:t>端想继续使用之前取得之 </a:t>
            </a:r>
            <a:r>
              <a:rPr lang="en-US" altLang="zh-CN" sz="1400" b="0" i="0" dirty="0">
                <a:solidFill>
                  <a:srgbClr val="333333"/>
                </a:solidFill>
                <a:effectLst/>
                <a:latin typeface="微软雅黑" panose="020B0503020204020204" pitchFamily="34" charset="-122"/>
                <a:ea typeface="微软雅黑" panose="020B0503020204020204" pitchFamily="34" charset="-122"/>
              </a:rPr>
              <a:t>IP </a:t>
            </a:r>
            <a:r>
              <a:rPr lang="zh-CN" altLang="en-US" sz="1400" b="0" i="0" dirty="0">
                <a:solidFill>
                  <a:srgbClr val="333333"/>
                </a:solidFill>
                <a:effectLst/>
                <a:latin typeface="微软雅黑" panose="020B0503020204020204" pitchFamily="34" charset="-122"/>
                <a:ea typeface="微软雅黑" panose="020B0503020204020204" pitchFamily="34" charset="-122"/>
              </a:rPr>
              <a:t>地址，则列于这里。如果没有或不知道，则</a:t>
            </a:r>
            <a:r>
              <a:rPr lang="en-US" altLang="zh-CN" sz="1400" b="0" i="0" dirty="0">
                <a:solidFill>
                  <a:srgbClr val="333333"/>
                </a:solidFill>
                <a:effectLst/>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06CFE040-F7E8-4AA3-81DF-5F906E89654C}"/>
              </a:ext>
            </a:extLst>
          </p:cNvPr>
          <p:cNvSpPr txBox="1"/>
          <p:nvPr/>
        </p:nvSpPr>
        <p:spPr>
          <a:xfrm>
            <a:off x="72393" y="3429000"/>
            <a:ext cx="2876912" cy="523220"/>
          </a:xfrm>
          <a:prstGeom prst="rect">
            <a:avLst/>
          </a:prstGeom>
          <a:noFill/>
        </p:spPr>
        <p:txBody>
          <a:bodyPr wrap="square">
            <a:spAutoFit/>
          </a:bodyPr>
          <a:lstStyle>
            <a:defPPr>
              <a:defRPr lang="zh-CN"/>
            </a:defPPr>
            <a:lvl1pPr>
              <a:defRPr sz="1400" b="0" i="0">
                <a:solidFill>
                  <a:srgbClr val="333333"/>
                </a:solidFill>
                <a:effectLst/>
                <a:latin typeface="微软雅黑" panose="020B0503020204020204" pitchFamily="34" charset="-122"/>
                <a:ea typeface="微软雅黑" panose="020B0503020204020204" pitchFamily="34" charset="-122"/>
              </a:defRPr>
            </a:lvl1pPr>
          </a:lstStyle>
          <a:p>
            <a:r>
              <a:rPr lang="en-US" altLang="zh-CN" dirty="0"/>
              <a:t>Your IP</a:t>
            </a:r>
            <a:r>
              <a:rPr lang="zh-CN" altLang="en-US" dirty="0"/>
              <a:t>：此栏填写分配给 </a:t>
            </a:r>
            <a:r>
              <a:rPr lang="en-US" altLang="zh-CN" dirty="0"/>
              <a:t>client </a:t>
            </a:r>
            <a:r>
              <a:rPr lang="zh-CN" altLang="en-US" dirty="0"/>
              <a:t>的 </a:t>
            </a:r>
            <a:r>
              <a:rPr lang="en-US" altLang="zh-CN" dirty="0"/>
              <a:t>IP </a:t>
            </a:r>
            <a:r>
              <a:rPr lang="zh-CN" altLang="en-US" dirty="0"/>
              <a:t>地址</a:t>
            </a:r>
          </a:p>
        </p:txBody>
      </p:sp>
      <p:sp>
        <p:nvSpPr>
          <p:cNvPr id="12" name="文本框 11">
            <a:extLst>
              <a:ext uri="{FF2B5EF4-FFF2-40B4-BE49-F238E27FC236}">
                <a16:creationId xmlns:a16="http://schemas.microsoft.com/office/drawing/2014/main" id="{FDF4EC68-0A86-4180-839F-BD840D63860D}"/>
              </a:ext>
            </a:extLst>
          </p:cNvPr>
          <p:cNvSpPr txBox="1"/>
          <p:nvPr/>
        </p:nvSpPr>
        <p:spPr>
          <a:xfrm>
            <a:off x="72393" y="4060485"/>
            <a:ext cx="2680855" cy="954107"/>
          </a:xfrm>
          <a:prstGeom prst="rect">
            <a:avLst/>
          </a:prstGeom>
          <a:noFill/>
        </p:spPr>
        <p:txBody>
          <a:bodyPr wrap="square">
            <a:spAutoFit/>
          </a:bodyPr>
          <a:lstStyle>
            <a:defPPr>
              <a:defRPr lang="zh-CN"/>
            </a:defPPr>
            <a:lvl1pPr>
              <a:defRPr sz="1400" b="0" i="0">
                <a:solidFill>
                  <a:srgbClr val="333333"/>
                </a:solidFill>
                <a:effectLst/>
                <a:latin typeface="微软雅黑" panose="020B0503020204020204" pitchFamily="34" charset="-122"/>
                <a:ea typeface="微软雅黑" panose="020B0503020204020204" pitchFamily="34" charset="-122"/>
              </a:defRPr>
            </a:lvl1pPr>
          </a:lstStyle>
          <a:p>
            <a:r>
              <a:rPr lang="en-US" altLang="zh-CN" dirty="0"/>
              <a:t>Gateway IP</a:t>
            </a:r>
            <a:r>
              <a:rPr lang="zh-CN" altLang="en-US" dirty="0"/>
              <a:t>：若需跨网域进行 </a:t>
            </a:r>
            <a:r>
              <a:rPr lang="en-US" altLang="zh-CN" dirty="0"/>
              <a:t>DHCP </a:t>
            </a:r>
            <a:r>
              <a:rPr lang="zh-CN" altLang="en-US" dirty="0"/>
              <a:t>发放，此栏为 </a:t>
            </a:r>
            <a:r>
              <a:rPr lang="en-US" altLang="zh-CN" dirty="0"/>
              <a:t>relay agent/default router</a:t>
            </a:r>
            <a:r>
              <a:rPr lang="zh-CN" altLang="en-US" dirty="0"/>
              <a:t>的地址，否则为 </a:t>
            </a:r>
            <a:r>
              <a:rPr lang="en-US" altLang="zh-CN" dirty="0"/>
              <a:t>0</a:t>
            </a:r>
            <a:endParaRPr lang="zh-CN" altLang="en-US" dirty="0"/>
          </a:p>
        </p:txBody>
      </p:sp>
    </p:spTree>
    <p:extLst>
      <p:ext uri="{BB962C8B-B14F-4D97-AF65-F5344CB8AC3E}">
        <p14:creationId xmlns:p14="http://schemas.microsoft.com/office/powerpoint/2010/main" val="280055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7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74038" y="1019176"/>
            <a:ext cx="471487" cy="581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14312" y="917576"/>
            <a:ext cx="455612"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8074" y="1368425"/>
            <a:ext cx="1004888"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8188" y="1385889"/>
            <a:ext cx="2014537"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740738" y="1755776"/>
            <a:ext cx="466407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740738" y="3051176"/>
            <a:ext cx="467042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740737" y="4346576"/>
            <a:ext cx="46482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7"/>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708988" y="5641976"/>
            <a:ext cx="467042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1124" y="1912939"/>
            <a:ext cx="1295400"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08124" y="3868739"/>
            <a:ext cx="10414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p:cNvSpPr>
            <a:spLocks noGrp="1"/>
          </p:cNvSpPr>
          <p:nvPr>
            <p:ph type="ftr" sz="quarter" idx="11"/>
          </p:nvPr>
        </p:nvSpPr>
        <p:spPr/>
        <p:txBody>
          <a:bodyPr/>
          <a:lstStyle/>
          <a:p>
            <a:pPr>
              <a:defRPr/>
            </a:pPr>
            <a:r>
              <a:rPr lang="en-US"/>
              <a:t>Computer Networks, Chapter 5 The Network Layer</a:t>
            </a:r>
            <a:endParaRPr lang="en-US" dirty="0"/>
          </a:p>
        </p:txBody>
      </p:sp>
      <p:sp>
        <p:nvSpPr>
          <p:cNvPr id="24" name="矩形 23">
            <a:extLst>
              <a:ext uri="{FF2B5EF4-FFF2-40B4-BE49-F238E27FC236}">
                <a16:creationId xmlns:a16="http://schemas.microsoft.com/office/drawing/2014/main" id="{6E106851-3828-439B-B220-25BB0D07EA33}"/>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Operation of DHCP</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
        <p:nvSpPr>
          <p:cNvPr id="25" name="矩形 24">
            <a:extLst>
              <a:ext uri="{FF2B5EF4-FFF2-40B4-BE49-F238E27FC236}">
                <a16:creationId xmlns:a16="http://schemas.microsoft.com/office/drawing/2014/main" id="{1D318D15-A748-4CEC-BCE0-744B715FA2FD}"/>
              </a:ext>
            </a:extLst>
          </p:cNvPr>
          <p:cNvSpPr/>
          <p:nvPr/>
        </p:nvSpPr>
        <p:spPr>
          <a:xfrm>
            <a:off x="152401" y="2199586"/>
            <a:ext cx="2104862" cy="1815882"/>
          </a:xfrm>
          <a:prstGeom prst="rect">
            <a:avLst/>
          </a:prstGeom>
        </p:spPr>
        <p:txBody>
          <a:bodyPr wrap="square">
            <a:spAutoFit/>
          </a:bodyPr>
          <a:lstStyle/>
          <a:p>
            <a:r>
              <a:rPr lang="en-US" altLang="zh-CN" sz="1400" dirty="0">
                <a:solidFill>
                  <a:srgbClr val="333333"/>
                </a:solidFill>
                <a:latin typeface="微软雅黑" panose="020B0503020204020204" pitchFamily="34" charset="-122"/>
                <a:ea typeface="微软雅黑" panose="020B0503020204020204" pitchFamily="34" charset="-122"/>
              </a:rPr>
              <a:t>DHCP</a:t>
            </a:r>
            <a:r>
              <a:rPr lang="zh-CN" altLang="en-US" sz="1400" dirty="0">
                <a:solidFill>
                  <a:srgbClr val="333333"/>
                </a:solidFill>
                <a:latin typeface="微软雅黑" panose="020B0503020204020204" pitchFamily="34" charset="-122"/>
                <a:ea typeface="微软雅黑" panose="020B0503020204020204" pitchFamily="34" charset="-122"/>
              </a:rPr>
              <a:t>封包在传输层</a:t>
            </a:r>
            <a:r>
              <a:rPr lang="en-US" altLang="zh-CN" sz="1400" dirty="0">
                <a:solidFill>
                  <a:srgbClr val="333333"/>
                </a:solidFill>
                <a:latin typeface="微软雅黑" panose="020B0503020204020204" pitchFamily="34" charset="-122"/>
                <a:ea typeface="微软雅黑" panose="020B0503020204020204" pitchFamily="34" charset="-122"/>
              </a:rPr>
              <a:t>( Transport Layer</a:t>
            </a:r>
            <a:r>
              <a:rPr lang="zh-CN" altLang="en-US" sz="1400" dirty="0">
                <a:solidFill>
                  <a:srgbClr val="333333"/>
                </a:solidFill>
                <a:latin typeface="微软雅黑" panose="020B0503020204020204" pitchFamily="34" charset="-122"/>
                <a:ea typeface="微软雅黑" panose="020B0503020204020204" pitchFamily="34" charset="-122"/>
              </a:rPr>
              <a:t>）是采用</a:t>
            </a:r>
            <a:r>
              <a:rPr lang="en-US" altLang="zh-CN" sz="1400" dirty="0">
                <a:solidFill>
                  <a:srgbClr val="333333"/>
                </a:solidFill>
                <a:latin typeface="微软雅黑" panose="020B0503020204020204" pitchFamily="34" charset="-122"/>
                <a:ea typeface="微软雅黑" panose="020B0503020204020204" pitchFamily="34" charset="-122"/>
              </a:rPr>
              <a:t>UDP</a:t>
            </a:r>
            <a:r>
              <a:rPr lang="zh-CN" altLang="en-US" sz="1400" dirty="0">
                <a:solidFill>
                  <a:srgbClr val="333333"/>
                </a:solidFill>
                <a:latin typeface="微软雅黑" panose="020B0503020204020204" pitchFamily="34" charset="-122"/>
                <a:ea typeface="微软雅黑" panose="020B0503020204020204" pitchFamily="34" charset="-122"/>
              </a:rPr>
              <a:t>协议，而当 </a:t>
            </a:r>
            <a:r>
              <a:rPr lang="en-US" altLang="zh-CN" sz="1400" dirty="0">
                <a:solidFill>
                  <a:srgbClr val="333333"/>
                </a:solidFill>
                <a:latin typeface="微软雅黑" panose="020B0503020204020204" pitchFamily="34" charset="-122"/>
                <a:ea typeface="微软雅黑" panose="020B0503020204020204" pitchFamily="34" charset="-122"/>
              </a:rPr>
              <a:t>Client</a:t>
            </a:r>
            <a:r>
              <a:rPr lang="zh-CN" altLang="en-US" sz="1400" dirty="0">
                <a:solidFill>
                  <a:srgbClr val="333333"/>
                </a:solidFill>
                <a:latin typeface="微软雅黑" panose="020B0503020204020204" pitchFamily="34" charset="-122"/>
                <a:ea typeface="微软雅黑" panose="020B0503020204020204" pitchFamily="34" charset="-122"/>
              </a:rPr>
              <a:t>传送给封包给 </a:t>
            </a:r>
            <a:r>
              <a:rPr lang="en-US" altLang="zh-CN" sz="1400" dirty="0">
                <a:solidFill>
                  <a:srgbClr val="333333"/>
                </a:solidFill>
                <a:latin typeface="微软雅黑" panose="020B0503020204020204" pitchFamily="34" charset="-122"/>
                <a:ea typeface="微软雅黑" panose="020B0503020204020204" pitchFamily="34" charset="-122"/>
              </a:rPr>
              <a:t>Server</a:t>
            </a:r>
            <a:r>
              <a:rPr lang="zh-CN" altLang="en-US" sz="1400" dirty="0">
                <a:solidFill>
                  <a:srgbClr val="333333"/>
                </a:solidFill>
                <a:latin typeface="微软雅黑" panose="020B0503020204020204" pitchFamily="34" charset="-122"/>
                <a:ea typeface="微软雅黑" panose="020B0503020204020204" pitchFamily="34" charset="-122"/>
              </a:rPr>
              <a:t>时，采用的是</a:t>
            </a:r>
            <a:r>
              <a:rPr lang="en-US" altLang="zh-CN" sz="1400" dirty="0">
                <a:solidFill>
                  <a:srgbClr val="333333"/>
                </a:solidFill>
                <a:latin typeface="微软雅黑" panose="020B0503020204020204" pitchFamily="34" charset="-122"/>
                <a:ea typeface="微软雅黑" panose="020B0503020204020204" pitchFamily="34" charset="-122"/>
              </a:rPr>
              <a:t>UDP 68 Port</a:t>
            </a:r>
            <a:r>
              <a:rPr lang="zh-CN" altLang="en-US" sz="1400" dirty="0">
                <a:solidFill>
                  <a:srgbClr val="333333"/>
                </a:solidFill>
                <a:latin typeface="微软雅黑" panose="020B0503020204020204" pitchFamily="34" charset="-122"/>
                <a:ea typeface="微软雅黑" panose="020B0503020204020204" pitchFamily="34" charset="-122"/>
              </a:rPr>
              <a:t>，从 </a:t>
            </a:r>
            <a:r>
              <a:rPr lang="en-US" altLang="zh-CN" sz="1400" dirty="0">
                <a:solidFill>
                  <a:srgbClr val="333333"/>
                </a:solidFill>
                <a:latin typeface="微软雅黑" panose="020B0503020204020204" pitchFamily="34" charset="-122"/>
                <a:ea typeface="微软雅黑" panose="020B0503020204020204" pitchFamily="34" charset="-122"/>
              </a:rPr>
              <a:t>Server</a:t>
            </a:r>
            <a:r>
              <a:rPr lang="zh-CN" altLang="en-US" sz="1400" dirty="0">
                <a:solidFill>
                  <a:srgbClr val="333333"/>
                </a:solidFill>
                <a:latin typeface="微软雅黑" panose="020B0503020204020204" pitchFamily="34" charset="-122"/>
                <a:ea typeface="微软雅黑" panose="020B0503020204020204" pitchFamily="34" charset="-122"/>
              </a:rPr>
              <a:t>传送给 </a:t>
            </a:r>
            <a:r>
              <a:rPr lang="en-US" altLang="zh-CN" sz="1400" dirty="0">
                <a:solidFill>
                  <a:srgbClr val="333333"/>
                </a:solidFill>
                <a:latin typeface="微软雅黑" panose="020B0503020204020204" pitchFamily="34" charset="-122"/>
                <a:ea typeface="微软雅黑" panose="020B0503020204020204" pitchFamily="34" charset="-122"/>
              </a:rPr>
              <a:t>Client</a:t>
            </a:r>
            <a:r>
              <a:rPr lang="zh-CN" altLang="en-US" sz="1400" dirty="0">
                <a:solidFill>
                  <a:srgbClr val="333333"/>
                </a:solidFill>
                <a:latin typeface="微软雅黑" panose="020B0503020204020204" pitchFamily="34" charset="-122"/>
                <a:ea typeface="微软雅黑" panose="020B0503020204020204" pitchFamily="34" charset="-122"/>
              </a:rPr>
              <a:t>则是使用</a:t>
            </a:r>
            <a:r>
              <a:rPr lang="en-US" altLang="zh-CN" sz="1400" dirty="0">
                <a:solidFill>
                  <a:srgbClr val="333333"/>
                </a:solidFill>
                <a:latin typeface="微软雅黑" panose="020B0503020204020204" pitchFamily="34" charset="-122"/>
                <a:ea typeface="微软雅黑" panose="020B0503020204020204" pitchFamily="34" charset="-122"/>
              </a:rPr>
              <a:t>UDP 67 Port</a:t>
            </a:r>
            <a:r>
              <a:rPr lang="zh-CN" altLang="en-US" sz="1400" dirty="0">
                <a:solidFill>
                  <a:srgbClr val="333333"/>
                </a:solidFill>
                <a:latin typeface="微软雅黑" panose="020B0503020204020204" pitchFamily="34" charset="-122"/>
                <a:ea typeface="微软雅黑" panose="020B0503020204020204" pitchFamily="34" charset="-122"/>
              </a:rPr>
              <a:t>。</a:t>
            </a:r>
            <a:endParaRPr lang="en-US" altLang="zh-CN" sz="1400" dirty="0">
              <a:solidFill>
                <a:srgbClr val="33333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7180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subTnLst>
                                    <p:audio>
                                      <p:cMediaNode>
                                        <p:cTn display="0" masterRel="sameClick">
                                          <p:stCondLst>
                                            <p:cond evt="begin" delay="0">
                                              <p:tn val="19"/>
                                            </p:cond>
                                          </p:stCondLst>
                                          <p:endCondLst>
                                            <p:cond evt="onStopAudio" delay="0">
                                              <p:tgtEl>
                                                <p:sldTgt/>
                                              </p:tgtEl>
                                            </p:cond>
                                          </p:endCondLst>
                                        </p:cTn>
                                        <p:tgtEl>
                                          <p:sndTgt r:embed="rId3" name="arrow.wav"/>
                                        </p:tgtEl>
                                      </p:cMediaNode>
                                    </p:audio>
                                  </p:subTnLst>
                                </p:cTn>
                              </p:par>
                              <p:par>
                                <p:cTn id="22" presetID="1" presetClass="entr" presetSubtype="0" fill="hold" grpId="0" nodeType="withEffect">
                                  <p:stCondLst>
                                    <p:cond delay="0"/>
                                  </p:stCondLst>
                                  <p:childTnLst>
                                    <p:set>
                                      <p:cBhvr>
                                        <p:cTn id="23" dur="1" fill="hold">
                                          <p:stCondLst>
                                            <p:cond delay="0"/>
                                          </p:stCondLst>
                                        </p:cTn>
                                        <p:tgtEl>
                                          <p:spTgt spid="2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right)">
                                      <p:cBhvr>
                                        <p:cTn id="28" dur="500"/>
                                        <p:tgtEl>
                                          <p:spTgt spid="19"/>
                                        </p:tgtEl>
                                      </p:cBhvr>
                                    </p:animEffect>
                                  </p:childTnLst>
                                  <p:subTnLst>
                                    <p:audio>
                                      <p:cMediaNode>
                                        <p:cTn display="0" masterRel="sameClick">
                                          <p:stCondLst>
                                            <p:cond evt="begin" delay="0">
                                              <p:tn val="26"/>
                                            </p:cond>
                                          </p:stCondLst>
                                          <p:endCondLst>
                                            <p:cond evt="onStopAudio" delay="0">
                                              <p:tgtEl>
                                                <p:sldTgt/>
                                              </p:tgtEl>
                                            </p:cond>
                                          </p:endCondLst>
                                        </p:cTn>
                                        <p:tgtEl>
                                          <p:sndTgt r:embed="rId3" name="arrow.wav"/>
                                        </p:tgtEl>
                                      </p:cMediaNode>
                                    </p:audio>
                                  </p:sub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subTnLst>
                                    <p:audio>
                                      <p:cMediaNode>
                                        <p:cTn display="0" masterRel="sameClick">
                                          <p:stCondLst>
                                            <p:cond evt="begin" delay="0">
                                              <p:tn val="31"/>
                                            </p:cond>
                                          </p:stCondLst>
                                          <p:endCondLst>
                                            <p:cond evt="onStopAudio" delay="0">
                                              <p:tgtEl>
                                                <p:sldTgt/>
                                              </p:tgtEl>
                                            </p:cond>
                                          </p:endCondLst>
                                        </p:cTn>
                                        <p:tgtEl>
                                          <p:sndTgt r:embed="rId3" name="arrow.wav"/>
                                        </p:tgtEl>
                                      </p:cMediaNode>
                                    </p:audio>
                                  </p:sub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right)">
                                      <p:cBhvr>
                                        <p:cTn id="38" dur="500"/>
                                        <p:tgtEl>
                                          <p:spTgt spid="21"/>
                                        </p:tgtEl>
                                      </p:cBhvr>
                                    </p:animEffect>
                                  </p:childTnLst>
                                  <p:subTnLst>
                                    <p:audio>
                                      <p:cMediaNode>
                                        <p:cTn display="0" masterRel="sameClick">
                                          <p:stCondLst>
                                            <p:cond evt="begin" delay="0">
                                              <p:tn val="36"/>
                                            </p:cond>
                                          </p:stCondLst>
                                          <p:endCondLst>
                                            <p:cond evt="onStopAudio" delay="0">
                                              <p:tgtEl>
                                                <p:sldTgt/>
                                              </p:tgtEl>
                                            </p:cond>
                                          </p:endCondLst>
                                        </p:cTn>
                                        <p:tgtEl>
                                          <p:sndTgt r:embed="rId3" name="arrow.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29380" name="Rectangle 3"/>
          <p:cNvSpPr>
            <a:spLocks noGrp="1" noChangeArrowheads="1"/>
          </p:cNvSpPr>
          <p:nvPr>
            <p:ph idx="1"/>
          </p:nvPr>
        </p:nvSpPr>
        <p:spPr>
          <a:xfrm>
            <a:off x="619432" y="1129507"/>
            <a:ext cx="11013769" cy="1413670"/>
          </a:xfrm>
        </p:spPr>
        <p:txBody>
          <a:bodyPr/>
          <a:lstStyle/>
          <a:p>
            <a:r>
              <a:rPr lang="en-US" altLang="zh-CN" dirty="0">
                <a:ea typeface="宋体" panose="02010600030101010101" pitchFamily="2" charset="-122"/>
              </a:rPr>
              <a:t>MPLS (Multi-Protocol Label Switching) sends packets along established paths; ISPs can use for QoS</a:t>
            </a:r>
          </a:p>
          <a:p>
            <a:pPr lvl="1"/>
            <a:r>
              <a:rPr lang="en-US" altLang="zh-CN" dirty="0">
                <a:ea typeface="宋体" panose="02010600030101010101" pitchFamily="2" charset="-122"/>
              </a:rPr>
              <a:t>Path indicated with label below the IP layer</a:t>
            </a:r>
          </a:p>
        </p:txBody>
      </p:sp>
      <p:pic>
        <p:nvPicPr>
          <p:cNvPr id="22938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4063" y="2707524"/>
            <a:ext cx="5878512" cy="288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2" name="Rectangle 8"/>
          <p:cNvSpPr>
            <a:spLocks noChangeArrowheads="1"/>
          </p:cNvSpPr>
          <p:nvPr/>
        </p:nvSpPr>
        <p:spPr bwMode="auto">
          <a:xfrm>
            <a:off x="3114675" y="3190124"/>
            <a:ext cx="844550" cy="539750"/>
          </a:xfrm>
          <a:prstGeom prst="rect">
            <a:avLst/>
          </a:prstGeom>
          <a:solidFill>
            <a:srgbClr val="FF2BD8">
              <a:alpha val="50195"/>
            </a:srgbClr>
          </a:solidFill>
          <a:ln w="9525" algn="ctr">
            <a:solidFill>
              <a:schemeClr val="tx1"/>
            </a:solidFill>
            <a:round/>
            <a:headEnd/>
            <a:tailEnd/>
          </a:ln>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FontTx/>
              <a:buNone/>
            </a:pPr>
            <a:endParaRPr lang="en-US" altLang="zh-CN" sz="1800">
              <a:ea typeface="宋体" panose="02010600030101010101" pitchFamily="2" charset="-122"/>
            </a:endParaRPr>
          </a:p>
        </p:txBody>
      </p:sp>
      <p:sp>
        <p:nvSpPr>
          <p:cNvPr id="7" name="矩形 6">
            <a:extLst>
              <a:ext uri="{FF2B5EF4-FFF2-40B4-BE49-F238E27FC236}">
                <a16:creationId xmlns:a16="http://schemas.microsoft.com/office/drawing/2014/main" id="{9E18712D-B6F7-4279-8435-E0F9C83F5B9C}"/>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Label Switching and MPLS (1)</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7525AF65-2D7D-4BDE-9406-8E0FB9DC1CDC}"/>
              </a:ext>
            </a:extLst>
          </p:cNvPr>
          <p:cNvSpPr txBox="1"/>
          <p:nvPr/>
        </p:nvSpPr>
        <p:spPr>
          <a:xfrm>
            <a:off x="2301240" y="3290722"/>
            <a:ext cx="746760" cy="338554"/>
          </a:xfrm>
          <a:prstGeom prst="rect">
            <a:avLst/>
          </a:prstGeom>
          <a:solidFill>
            <a:schemeClr val="bg1"/>
          </a:solidFill>
        </p:spPr>
        <p:txBody>
          <a:bodyPr wrap="square" lIns="0" rIns="0" rtlCol="0">
            <a:spAutoFit/>
          </a:bodyPr>
          <a:lstStyle/>
          <a:p>
            <a:r>
              <a:rPr lang="en-US" altLang="zh-CN" sz="1600" dirty="0"/>
              <a:t>2</a:t>
            </a:r>
            <a:r>
              <a:rPr lang="zh-CN" altLang="en-US" sz="1600" dirty="0"/>
              <a:t>层头部</a:t>
            </a:r>
          </a:p>
        </p:txBody>
      </p:sp>
      <p:sp>
        <p:nvSpPr>
          <p:cNvPr id="3" name="文本框 2">
            <a:extLst>
              <a:ext uri="{FF2B5EF4-FFF2-40B4-BE49-F238E27FC236}">
                <a16:creationId xmlns:a16="http://schemas.microsoft.com/office/drawing/2014/main" id="{2994474A-24E5-4FAC-BECC-9B59CA7EC9DA}"/>
              </a:ext>
            </a:extLst>
          </p:cNvPr>
          <p:cNvSpPr txBox="1"/>
          <p:nvPr/>
        </p:nvSpPr>
        <p:spPr>
          <a:xfrm>
            <a:off x="8153400" y="3145273"/>
            <a:ext cx="4015105" cy="2339102"/>
          </a:xfrm>
          <a:prstGeom prst="rect">
            <a:avLst/>
          </a:prstGeom>
          <a:noFill/>
        </p:spPr>
        <p:txBody>
          <a:bodyPr wrap="square" rtlCol="0">
            <a:spAutoFit/>
          </a:bodyPr>
          <a:lstStyle/>
          <a:p>
            <a:pPr>
              <a:spcBef>
                <a:spcPts val="600"/>
              </a:spcBef>
            </a:pPr>
            <a:r>
              <a:rPr lang="en-US" altLang="zh-CN" dirty="0">
                <a:latin typeface="微软雅黑" panose="020B0503020204020204" pitchFamily="34" charset="-122"/>
                <a:ea typeface="微软雅黑" panose="020B0503020204020204" pitchFamily="34" charset="-122"/>
              </a:rPr>
              <a:t>MPLS</a:t>
            </a:r>
            <a:r>
              <a:rPr lang="zh-CN" altLang="en-US" dirty="0">
                <a:latin typeface="微软雅黑" panose="020B0503020204020204" pitchFamily="34" charset="-122"/>
                <a:ea typeface="微软雅黑" panose="020B0503020204020204" pitchFamily="34" charset="-122"/>
              </a:rPr>
              <a:t>包头有</a:t>
            </a:r>
            <a:r>
              <a:rPr lang="en-US" altLang="zh-CN" dirty="0">
                <a:latin typeface="微软雅黑" panose="020B0503020204020204" pitchFamily="34" charset="-122"/>
                <a:ea typeface="微软雅黑" panose="020B0503020204020204" pitchFamily="34" charset="-122"/>
              </a:rPr>
              <a:t>32 bits</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spcBef>
                <a:spcPts val="600"/>
              </a:spcBef>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bits</a:t>
            </a:r>
            <a:r>
              <a:rPr lang="zh-CN" altLang="en-US" dirty="0">
                <a:latin typeface="微软雅黑" panose="020B0503020204020204" pitchFamily="34" charset="-122"/>
                <a:ea typeface="微软雅黑" panose="020B0503020204020204" pitchFamily="34" charset="-122"/>
              </a:rPr>
              <a:t>用做标签</a:t>
            </a:r>
            <a:endParaRPr lang="en-US" altLang="zh-CN" dirty="0">
              <a:latin typeface="微软雅黑" panose="020B0503020204020204" pitchFamily="34" charset="-122"/>
              <a:ea typeface="微软雅黑" panose="020B0503020204020204" pitchFamily="34" charset="-122"/>
            </a:endParaRPr>
          </a:p>
          <a:p>
            <a:pPr marL="285750" indent="-285750">
              <a:spcBef>
                <a:spcPts val="600"/>
              </a:spcBef>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bits</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exp</a:t>
            </a:r>
            <a:r>
              <a:rPr lang="zh-CN" altLang="en-US" dirty="0">
                <a:latin typeface="微软雅黑" panose="020B0503020204020204" pitchFamily="34" charset="-122"/>
                <a:ea typeface="微软雅黑" panose="020B0503020204020204" pitchFamily="34" charset="-122"/>
              </a:rPr>
              <a:t>，协议中没有明确，通常用作</a:t>
            </a:r>
            <a:r>
              <a:rPr lang="en-US" altLang="zh-CN" dirty="0">
                <a:latin typeface="微软雅黑" panose="020B0503020204020204" pitchFamily="34" charset="-122"/>
                <a:ea typeface="微软雅黑" panose="020B0503020204020204" pitchFamily="34" charset="-122"/>
              </a:rPr>
              <a:t>QoS</a:t>
            </a:r>
          </a:p>
          <a:p>
            <a:pPr marL="285750" indent="-285750">
              <a:spcBef>
                <a:spcPts val="600"/>
              </a:spcBef>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bit</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，用于标识是否是栈底，表明</a:t>
            </a:r>
            <a:r>
              <a:rPr lang="en-US" altLang="zh-CN" dirty="0">
                <a:latin typeface="微软雅黑" panose="020B0503020204020204" pitchFamily="34" charset="-122"/>
                <a:ea typeface="微软雅黑" panose="020B0503020204020204" pitchFamily="34" charset="-122"/>
              </a:rPr>
              <a:t>MPLS</a:t>
            </a:r>
            <a:r>
              <a:rPr lang="zh-CN" altLang="en-US" dirty="0">
                <a:latin typeface="微软雅黑" panose="020B0503020204020204" pitchFamily="34" charset="-122"/>
                <a:ea typeface="微软雅黑" panose="020B0503020204020204" pitchFamily="34" charset="-122"/>
              </a:rPr>
              <a:t>的标签可以嵌套</a:t>
            </a:r>
            <a:endParaRPr lang="en-US" altLang="zh-CN" dirty="0">
              <a:latin typeface="微软雅黑" panose="020B0503020204020204" pitchFamily="34" charset="-122"/>
              <a:ea typeface="微软雅黑" panose="020B0503020204020204" pitchFamily="34" charset="-122"/>
            </a:endParaRPr>
          </a:p>
          <a:p>
            <a:pPr marL="285750" indent="-285750">
              <a:spcBef>
                <a:spcPts val="600"/>
              </a:spcBef>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bits</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TTL</a:t>
            </a:r>
          </a:p>
        </p:txBody>
      </p:sp>
    </p:spTree>
    <p:extLst>
      <p:ext uri="{BB962C8B-B14F-4D97-AF65-F5344CB8AC3E}">
        <p14:creationId xmlns:p14="http://schemas.microsoft.com/office/powerpoint/2010/main" val="22670490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3"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30404" name="Rectangle 3"/>
          <p:cNvSpPr>
            <a:spLocks noGrp="1" noChangeArrowheads="1"/>
          </p:cNvSpPr>
          <p:nvPr>
            <p:ph idx="1"/>
          </p:nvPr>
        </p:nvSpPr>
        <p:spPr>
          <a:xfrm>
            <a:off x="1066800" y="1180307"/>
            <a:ext cx="10439399" cy="1474786"/>
          </a:xfrm>
        </p:spPr>
        <p:txBody>
          <a:bodyPr/>
          <a:lstStyle/>
          <a:p>
            <a:r>
              <a:rPr lang="en-US" altLang="zh-CN" dirty="0">
                <a:ea typeface="宋体" panose="02010600030101010101" pitchFamily="2" charset="-122"/>
              </a:rPr>
              <a:t>Label added based on IP address on entering an MPLS network (e.g., ISP) and removed when leaving it</a:t>
            </a:r>
          </a:p>
          <a:p>
            <a:pPr lvl="1"/>
            <a:r>
              <a:rPr lang="en-US" altLang="zh-CN" dirty="0">
                <a:ea typeface="宋体" panose="02010600030101010101" pitchFamily="2" charset="-122"/>
              </a:rPr>
              <a:t>Forwarding only uses label inside MPLS network</a:t>
            </a:r>
          </a:p>
        </p:txBody>
      </p:sp>
      <p:pic>
        <p:nvPicPr>
          <p:cNvPr id="23040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0237" y="2828925"/>
            <a:ext cx="83915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18BFC08D-9B41-4CFC-A882-AEA1F04B1863}"/>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Label Switching and MPLS (2)</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370466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7"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31428" name="Rectangle 3"/>
          <p:cNvSpPr>
            <a:spLocks noGrp="1" noChangeArrowheads="1"/>
          </p:cNvSpPr>
          <p:nvPr>
            <p:ph idx="1"/>
          </p:nvPr>
        </p:nvSpPr>
        <p:spPr>
          <a:xfrm>
            <a:off x="1074656" y="930276"/>
            <a:ext cx="10438918" cy="1403349"/>
          </a:xfrm>
        </p:spPr>
        <p:txBody>
          <a:bodyPr>
            <a:normAutofit fontScale="85000" lnSpcReduction="10000"/>
          </a:bodyPr>
          <a:lstStyle/>
          <a:p>
            <a:r>
              <a:rPr lang="en-US" altLang="zh-CN" dirty="0">
                <a:ea typeface="宋体" panose="02010600030101010101" pitchFamily="2" charset="-122"/>
              </a:rPr>
              <a:t>OSPF computes routes for a single network (e.g., ISP)</a:t>
            </a:r>
          </a:p>
          <a:p>
            <a:pPr lvl="1"/>
            <a:r>
              <a:rPr lang="en-US" altLang="zh-CN" dirty="0">
                <a:ea typeface="宋体" panose="02010600030101010101" pitchFamily="2" charset="-122"/>
              </a:rPr>
              <a:t>Interior Gateway Protocol (IGP) </a:t>
            </a:r>
            <a:r>
              <a:rPr lang="zh-CN" altLang="en-US" dirty="0">
                <a:ea typeface="宋体" panose="02010600030101010101" pitchFamily="2" charset="-122"/>
              </a:rPr>
              <a:t>内部网关协议，用于单一自制系统（</a:t>
            </a:r>
            <a:r>
              <a:rPr lang="en-US" altLang="zh-CN" dirty="0">
                <a:ea typeface="宋体" panose="02010600030101010101" pitchFamily="2" charset="-122"/>
              </a:rPr>
              <a:t>AS</a:t>
            </a:r>
            <a:r>
              <a:rPr lang="zh-CN" altLang="en-US" dirty="0">
                <a:ea typeface="宋体" panose="02010600030101010101" pitchFamily="2" charset="-122"/>
              </a:rPr>
              <a:t>）内决策路由</a:t>
            </a:r>
            <a:endParaRPr lang="en-US" altLang="zh-CN" dirty="0">
              <a:ea typeface="宋体" panose="02010600030101010101" pitchFamily="2" charset="-122"/>
            </a:endParaRPr>
          </a:p>
          <a:p>
            <a:pPr lvl="1"/>
            <a:r>
              <a:rPr lang="en-US" altLang="zh-CN" dirty="0">
                <a:ea typeface="宋体" panose="02010600030101010101" pitchFamily="2" charset="-122"/>
              </a:rPr>
              <a:t>Models network as a graph of weighted edges</a:t>
            </a:r>
          </a:p>
          <a:p>
            <a:pPr lvl="1"/>
            <a:r>
              <a:rPr lang="en-US" altLang="zh-CN" dirty="0">
                <a:ea typeface="宋体" panose="02010600030101010101" pitchFamily="2" charset="-122"/>
              </a:rPr>
              <a:t>Link state routing algorithm, Dijkstra algorithm to compute shortest path.</a:t>
            </a:r>
          </a:p>
        </p:txBody>
      </p:sp>
      <p:pic>
        <p:nvPicPr>
          <p:cNvPr id="231429"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28950" y="2425354"/>
            <a:ext cx="6808788" cy="207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1430" name="Picture 2"/>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46426" y="4273203"/>
            <a:ext cx="6697663"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31" name="TextBox 12"/>
          <p:cNvSpPr txBox="1">
            <a:spLocks noChangeArrowheads="1"/>
          </p:cNvSpPr>
          <p:nvPr/>
        </p:nvSpPr>
        <p:spPr bwMode="auto">
          <a:xfrm>
            <a:off x="2163763" y="2592041"/>
            <a:ext cx="12192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Network:</a:t>
            </a:r>
          </a:p>
        </p:txBody>
      </p:sp>
      <p:sp>
        <p:nvSpPr>
          <p:cNvPr id="231432" name="TextBox 13"/>
          <p:cNvSpPr txBox="1">
            <a:spLocks noChangeArrowheads="1"/>
          </p:cNvSpPr>
          <p:nvPr/>
        </p:nvSpPr>
        <p:spPr bwMode="auto">
          <a:xfrm>
            <a:off x="2157413" y="4573241"/>
            <a:ext cx="13128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a:solidFill>
                  <a:srgbClr val="FF2BD8"/>
                </a:solidFill>
                <a:ea typeface="宋体" panose="02010600030101010101" pitchFamily="2" charset="-122"/>
              </a:rPr>
              <a:t>Graph:</a:t>
            </a:r>
          </a:p>
        </p:txBody>
      </p:sp>
      <p:sp>
        <p:nvSpPr>
          <p:cNvPr id="15" name="Freeform 14"/>
          <p:cNvSpPr/>
          <p:nvPr/>
        </p:nvSpPr>
        <p:spPr bwMode="auto">
          <a:xfrm flipV="1">
            <a:off x="7404101" y="5568604"/>
            <a:ext cx="441325" cy="333375"/>
          </a:xfrm>
          <a:custGeom>
            <a:avLst/>
            <a:gdLst>
              <a:gd name="connsiteX0" fmla="*/ 442452 w 442452"/>
              <a:gd name="connsiteY0" fmla="*/ 0 h 334297"/>
              <a:gd name="connsiteX1" fmla="*/ 147484 w 442452"/>
              <a:gd name="connsiteY1" fmla="*/ 78658 h 334297"/>
              <a:gd name="connsiteX2" fmla="*/ 0 w 442452"/>
              <a:gd name="connsiteY2" fmla="*/ 334297 h 334297"/>
            </a:gdLst>
            <a:ahLst/>
            <a:cxnLst>
              <a:cxn ang="0">
                <a:pos x="connsiteX0" y="connsiteY0"/>
              </a:cxn>
              <a:cxn ang="0">
                <a:pos x="connsiteX1" y="connsiteY1"/>
              </a:cxn>
              <a:cxn ang="0">
                <a:pos x="connsiteX2" y="connsiteY2"/>
              </a:cxn>
            </a:cxnLst>
            <a:rect l="l" t="t" r="r" b="b"/>
            <a:pathLst>
              <a:path w="442452" h="334297">
                <a:moveTo>
                  <a:pt x="442452" y="0"/>
                </a:moveTo>
                <a:cubicBezTo>
                  <a:pt x="331839" y="11471"/>
                  <a:pt x="221226" y="22942"/>
                  <a:pt x="147484" y="78658"/>
                </a:cubicBezTo>
                <a:cubicBezTo>
                  <a:pt x="73742" y="134374"/>
                  <a:pt x="36871" y="234335"/>
                  <a:pt x="0" y="334297"/>
                </a:cubicBezTo>
              </a:path>
            </a:pathLst>
          </a:custGeom>
          <a:noFill/>
          <a:ln w="19050" cap="flat" cmpd="sng" algn="ctr">
            <a:solidFill>
              <a:schemeClr val="accent3">
                <a:lumMod val="60000"/>
                <a:lumOff val="40000"/>
              </a:schemeClr>
            </a:solidFill>
            <a:prstDash val="solid"/>
            <a:round/>
            <a:headEnd type="none" w="med" len="med"/>
            <a:tailEnd type="arrow" w="med" len="med"/>
          </a:ln>
          <a:effectLst/>
        </p:spPr>
        <p:txBody>
          <a:bodyPr/>
          <a:lstStyle/>
          <a:p>
            <a:pPr algn="ctr" eaLnBrk="1" hangingPunct="1">
              <a:defRPr/>
            </a:pPr>
            <a:endParaRPr lang="en-US">
              <a:latin typeface="Arial" charset="0"/>
              <a:cs typeface="Arial" charset="0"/>
            </a:endParaRPr>
          </a:p>
        </p:txBody>
      </p:sp>
      <p:sp>
        <p:nvSpPr>
          <p:cNvPr id="231434" name="TextBox 15"/>
          <p:cNvSpPr txBox="1">
            <a:spLocks noChangeArrowheads="1"/>
          </p:cNvSpPr>
          <p:nvPr/>
        </p:nvSpPr>
        <p:spPr bwMode="auto">
          <a:xfrm>
            <a:off x="7767639" y="5655916"/>
            <a:ext cx="2347322" cy="923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800" dirty="0">
                <a:ea typeface="宋体" panose="02010600030101010101" pitchFamily="2" charset="-122"/>
              </a:rPr>
              <a:t>Broadcast LAN modeled as a well-connected node</a:t>
            </a:r>
          </a:p>
        </p:txBody>
      </p:sp>
      <p:sp>
        <p:nvSpPr>
          <p:cNvPr id="231435" name="TextBox 16"/>
          <p:cNvSpPr txBox="1">
            <a:spLocks noChangeArrowheads="1"/>
          </p:cNvSpPr>
          <p:nvPr/>
        </p:nvSpPr>
        <p:spPr bwMode="auto">
          <a:xfrm>
            <a:off x="7600951" y="5301903"/>
            <a:ext cx="98425" cy="215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FontTx/>
              <a:buNone/>
            </a:pPr>
            <a:r>
              <a:rPr lang="en-US" altLang="zh-CN" sz="1400">
                <a:ea typeface="宋体" panose="02010600030101010101" pitchFamily="2" charset="-122"/>
              </a:rPr>
              <a:t>3</a:t>
            </a:r>
          </a:p>
        </p:txBody>
      </p:sp>
      <p:sp>
        <p:nvSpPr>
          <p:cNvPr id="12" name="矩形 11">
            <a:extLst>
              <a:ext uri="{FF2B5EF4-FFF2-40B4-BE49-F238E27FC236}">
                <a16:creationId xmlns:a16="http://schemas.microsoft.com/office/drawing/2014/main" id="{51035E39-C05A-49A5-8B9E-ADE3FE6DE7FE}"/>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OSPF— Interior Routing Protocol (1) </a:t>
            </a:r>
            <a:r>
              <a:rPr lang="zh-CN" altLang="en-US" sz="2800" b="1" kern="0" dirty="0">
                <a:solidFill>
                  <a:srgbClr val="C00000"/>
                </a:solidFill>
                <a:latin typeface="微软雅黑" panose="020B0503020204020204" pitchFamily="34" charset="-122"/>
                <a:ea typeface="微软雅黑" panose="020B0503020204020204" pitchFamily="34" charset="-122"/>
              </a:rPr>
              <a:t>内部网关协议</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097352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5"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33476" name="Rectangle 3"/>
          <p:cNvSpPr>
            <a:spLocks noGrp="1" noChangeArrowheads="1"/>
          </p:cNvSpPr>
          <p:nvPr>
            <p:ph idx="1"/>
          </p:nvPr>
        </p:nvSpPr>
        <p:spPr>
          <a:xfrm>
            <a:off x="977900" y="1088095"/>
            <a:ext cx="10604500" cy="1490662"/>
          </a:xfrm>
        </p:spPr>
        <p:txBody>
          <a:bodyPr/>
          <a:lstStyle/>
          <a:p>
            <a:r>
              <a:rPr lang="en-US" altLang="zh-CN" dirty="0">
                <a:ea typeface="宋体" panose="02010600030101010101" pitchFamily="2" charset="-122"/>
              </a:rPr>
              <a:t>OSPF divides one large network (Autonomous System) into areas connected to a backbone area</a:t>
            </a:r>
          </a:p>
          <a:p>
            <a:pPr lvl="1"/>
            <a:r>
              <a:rPr lang="en-US" altLang="zh-CN" dirty="0">
                <a:ea typeface="宋体" panose="02010600030101010101" pitchFamily="2" charset="-122"/>
              </a:rPr>
              <a:t>Helps to scale; summaries go over area borders</a:t>
            </a:r>
          </a:p>
          <a:p>
            <a:pPr lvl="1"/>
            <a:endParaRPr lang="en-US" altLang="zh-CN" dirty="0">
              <a:ea typeface="宋体" panose="02010600030101010101" pitchFamily="2" charset="-122"/>
            </a:endParaRPr>
          </a:p>
        </p:txBody>
      </p:sp>
      <p:pic>
        <p:nvPicPr>
          <p:cNvPr id="23347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0276" y="2867538"/>
            <a:ext cx="7496175"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2E53DA1C-6AA5-46BA-AB86-6698A07D27B6}"/>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OSPF— Interior Routing Protocol (2)</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2201626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34500" name="Rectangle 3"/>
          <p:cNvSpPr>
            <a:spLocks noGrp="1" noChangeArrowheads="1"/>
          </p:cNvSpPr>
          <p:nvPr>
            <p:ph idx="1"/>
          </p:nvPr>
        </p:nvSpPr>
        <p:spPr>
          <a:xfrm>
            <a:off x="1403835" y="1025523"/>
            <a:ext cx="9512299" cy="1327151"/>
          </a:xfrm>
        </p:spPr>
        <p:txBody>
          <a:bodyPr/>
          <a:lstStyle/>
          <a:p>
            <a:r>
              <a:rPr lang="en-US" altLang="zh-CN" dirty="0">
                <a:ea typeface="宋体" panose="02010600030101010101" pitchFamily="2" charset="-122"/>
              </a:rPr>
              <a:t>OSPF (Open Shortest Path First) is link-state routing:</a:t>
            </a:r>
          </a:p>
          <a:p>
            <a:pPr lvl="1"/>
            <a:r>
              <a:rPr lang="en-US" altLang="zh-CN" dirty="0">
                <a:ea typeface="宋体" panose="02010600030101010101" pitchFamily="2" charset="-122"/>
              </a:rPr>
              <a:t>Uses messages below to reliably flood topology</a:t>
            </a:r>
          </a:p>
          <a:p>
            <a:pPr lvl="1"/>
            <a:r>
              <a:rPr lang="en-US" altLang="zh-CN" dirty="0">
                <a:ea typeface="宋体" panose="02010600030101010101" pitchFamily="2" charset="-122"/>
              </a:rPr>
              <a:t>Then runs Dijkstra to compute routes</a:t>
            </a:r>
          </a:p>
        </p:txBody>
      </p:sp>
      <p:pic>
        <p:nvPicPr>
          <p:cNvPr id="23450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1063" y="2817814"/>
            <a:ext cx="7632700" cy="235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DF7CE0BC-83D8-4ABA-BA24-379329146FFB}"/>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OSPF— Interior Routing Protocol (3)</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3750804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3"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35524" name="Rectangle 3"/>
          <p:cNvSpPr>
            <a:spLocks noGrp="1" noChangeArrowheads="1"/>
          </p:cNvSpPr>
          <p:nvPr>
            <p:ph idx="1"/>
          </p:nvPr>
        </p:nvSpPr>
        <p:spPr>
          <a:xfrm>
            <a:off x="1133061" y="1203811"/>
            <a:ext cx="10316817" cy="3916830"/>
          </a:xfrm>
        </p:spPr>
        <p:txBody>
          <a:bodyPr/>
          <a:lstStyle/>
          <a:p>
            <a:r>
              <a:rPr lang="en-US" altLang="zh-CN" dirty="0">
                <a:ea typeface="宋体" panose="02010600030101010101" pitchFamily="2" charset="-122"/>
              </a:rPr>
              <a:t>BGP (Border Gateway Protocol</a:t>
            </a:r>
            <a:r>
              <a:rPr lang="zh-CN" altLang="en-US" dirty="0">
                <a:ea typeface="宋体" panose="02010600030101010101" pitchFamily="2" charset="-122"/>
              </a:rPr>
              <a:t>边界网关协议</a:t>
            </a:r>
            <a:r>
              <a:rPr lang="en-US" altLang="zh-CN" dirty="0">
                <a:ea typeface="宋体" panose="02010600030101010101" pitchFamily="2" charset="-122"/>
              </a:rPr>
              <a:t>) computes routes across interconnected, autonomous networks</a:t>
            </a:r>
          </a:p>
          <a:p>
            <a:pPr lvl="1"/>
            <a:r>
              <a:rPr lang="en-US" altLang="zh-CN" dirty="0">
                <a:ea typeface="宋体" panose="02010600030101010101" pitchFamily="2" charset="-122"/>
              </a:rPr>
              <a:t>Key role is to respect networks’ policy constraints</a:t>
            </a:r>
          </a:p>
          <a:p>
            <a:r>
              <a:rPr lang="en-US" altLang="zh-CN" dirty="0">
                <a:ea typeface="宋体" panose="02010600030101010101" pitchFamily="2" charset="-122"/>
              </a:rPr>
              <a:t>Example policy constraints:</a:t>
            </a:r>
          </a:p>
          <a:p>
            <a:pPr lvl="2"/>
            <a:r>
              <a:rPr lang="en-US" altLang="zh-CN" dirty="0">
                <a:ea typeface="宋体" panose="02010600030101010101" pitchFamily="2" charset="-122"/>
              </a:rPr>
              <a:t>No commercial traffic for educational network</a:t>
            </a:r>
          </a:p>
          <a:p>
            <a:pPr lvl="2"/>
            <a:r>
              <a:rPr lang="en-US" altLang="zh-CN" dirty="0">
                <a:ea typeface="宋体" panose="02010600030101010101" pitchFamily="2" charset="-122"/>
              </a:rPr>
              <a:t>Never put Iraq on route starting at Pentagon</a:t>
            </a:r>
          </a:p>
          <a:p>
            <a:pPr lvl="2"/>
            <a:r>
              <a:rPr lang="en-US" altLang="zh-CN" dirty="0">
                <a:ea typeface="宋体" panose="02010600030101010101" pitchFamily="2" charset="-122"/>
              </a:rPr>
              <a:t>Choose cheaper network</a:t>
            </a:r>
          </a:p>
          <a:p>
            <a:pPr lvl="2"/>
            <a:r>
              <a:rPr lang="en-US" altLang="zh-CN" dirty="0">
                <a:ea typeface="宋体" panose="02010600030101010101" pitchFamily="2" charset="-122"/>
              </a:rPr>
              <a:t>Choose better performing network</a:t>
            </a:r>
          </a:p>
          <a:p>
            <a:pPr lvl="2"/>
            <a:r>
              <a:rPr lang="en-US" altLang="zh-CN" dirty="0">
                <a:ea typeface="宋体" panose="02010600030101010101" pitchFamily="2" charset="-122"/>
              </a:rPr>
              <a:t>Don’t go from Apple to Google to Apple</a:t>
            </a:r>
          </a:p>
        </p:txBody>
      </p:sp>
      <p:sp>
        <p:nvSpPr>
          <p:cNvPr id="5" name="矩形 4">
            <a:extLst>
              <a:ext uri="{FF2B5EF4-FFF2-40B4-BE49-F238E27FC236}">
                <a16:creationId xmlns:a16="http://schemas.microsoft.com/office/drawing/2014/main" id="{CD64AA77-DBF4-45D6-8AE0-F15B151F384E}"/>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BGP— Exterior Routing Protocol (1)</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0722353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1" name="Footer Placeholder 4"/>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a:t>Computer Networks, Chapter 5 The Network Layer</a:t>
            </a:r>
          </a:p>
        </p:txBody>
      </p:sp>
      <p:sp>
        <p:nvSpPr>
          <p:cNvPr id="237572" name="Rectangle 3"/>
          <p:cNvSpPr>
            <a:spLocks noGrp="1" noChangeArrowheads="1"/>
          </p:cNvSpPr>
          <p:nvPr>
            <p:ph idx="1"/>
          </p:nvPr>
        </p:nvSpPr>
        <p:spPr>
          <a:xfrm>
            <a:off x="1397000" y="1158875"/>
            <a:ext cx="9728199" cy="1504951"/>
          </a:xfrm>
        </p:spPr>
        <p:txBody>
          <a:bodyPr/>
          <a:lstStyle/>
          <a:p>
            <a:r>
              <a:rPr lang="en-US" altLang="zh-CN" dirty="0">
                <a:ea typeface="宋体" panose="02010600030101010101" pitchFamily="2" charset="-122"/>
              </a:rPr>
              <a:t>Common policy distinction is transit vs. peering:</a:t>
            </a:r>
          </a:p>
          <a:p>
            <a:pPr lvl="1"/>
            <a:r>
              <a:rPr lang="en-US" altLang="zh-CN" dirty="0">
                <a:ea typeface="宋体" panose="02010600030101010101" pitchFamily="2" charset="-122"/>
              </a:rPr>
              <a:t>Transit carries traffic for pay; peers for mutual benefit</a:t>
            </a:r>
          </a:p>
          <a:p>
            <a:pPr lvl="1"/>
            <a:r>
              <a:rPr lang="en-US" altLang="zh-CN" dirty="0">
                <a:ea typeface="宋体" panose="02010600030101010101" pitchFamily="2" charset="-122"/>
              </a:rPr>
              <a:t>AS1 carries AS2</a:t>
            </a:r>
            <a:r>
              <a:rPr lang="en-US" altLang="zh-CN" dirty="0">
                <a:ea typeface="宋体" panose="02010600030101010101" pitchFamily="2" charset="-122"/>
                <a:sym typeface="Wingdings" panose="05000000000000000000" pitchFamily="2" charset="2"/>
              </a:rPr>
              <a:t>↔AS4 (Transit) but not AS3 (Peer)</a:t>
            </a:r>
            <a:endParaRPr lang="en-US" altLang="zh-CN" dirty="0">
              <a:ea typeface="宋体" panose="02010600030101010101" pitchFamily="2" charset="-122"/>
            </a:endParaRPr>
          </a:p>
        </p:txBody>
      </p:sp>
      <p:pic>
        <p:nvPicPr>
          <p:cNvPr id="23757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2663826"/>
            <a:ext cx="8191500" cy="334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319A000C-5777-45C0-A65B-ADEE9993110B}"/>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BGP— Exterior Routing Protocol (2)</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9190893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5" name="Rectangle 3"/>
          <p:cNvSpPr>
            <a:spLocks noGrp="1" noChangeArrowheads="1"/>
          </p:cNvSpPr>
          <p:nvPr>
            <p:ph idx="1"/>
          </p:nvPr>
        </p:nvSpPr>
        <p:spPr>
          <a:xfrm>
            <a:off x="902185" y="987425"/>
            <a:ext cx="10515600" cy="1304927"/>
          </a:xfrm>
        </p:spPr>
        <p:txBody>
          <a:bodyPr/>
          <a:lstStyle/>
          <a:p>
            <a:r>
              <a:rPr lang="en-US" altLang="zh-CN" dirty="0">
                <a:ea typeface="宋体" panose="02010600030101010101" pitchFamily="2" charset="-122"/>
              </a:rPr>
              <a:t>BGP propagates messages along policy-compliant routes</a:t>
            </a:r>
          </a:p>
          <a:p>
            <a:pPr lvl="1"/>
            <a:r>
              <a:rPr lang="en-US" altLang="zh-CN" dirty="0">
                <a:ea typeface="宋体" panose="02010600030101010101" pitchFamily="2" charset="-122"/>
              </a:rPr>
              <a:t>Message has prefix, AS path (to detect loops) and next-hop IP (to send over the local network)</a:t>
            </a:r>
          </a:p>
        </p:txBody>
      </p:sp>
      <p:sp>
        <p:nvSpPr>
          <p:cNvPr id="2385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ClrTx/>
              <a:buFontTx/>
              <a:buNone/>
            </a:pPr>
            <a:r>
              <a:rPr lang="en-US" altLang="zh-CN" sz="800">
                <a:ea typeface="宋体" panose="02010600030101010101" pitchFamily="2" charset="-122"/>
              </a:rPr>
              <a:t>Computer Networks, Chapter 5 The Network Layer</a:t>
            </a:r>
          </a:p>
        </p:txBody>
      </p:sp>
      <p:pic>
        <p:nvPicPr>
          <p:cNvPr id="23859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6953" y="2238375"/>
            <a:ext cx="7866063" cy="411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3D127C88-9ABF-4E10-BD6D-47B51B4967CB}"/>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BGP— Exterior Routing Protocol (3)</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627892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800"/>
              </a:spcBef>
              <a:buClr>
                <a:srgbClr val="0000FF"/>
              </a:buClr>
              <a:buFont typeface="Arial" panose="020B0604020202020204" pitchFamily="34" charset="0"/>
              <a:defRPr sz="2400">
                <a:solidFill>
                  <a:schemeClr val="tx1"/>
                </a:solidFill>
                <a:latin typeface="Arial" panose="020B0604020202020204" pitchFamily="34" charset="0"/>
                <a:cs typeface="Arial" panose="020B0604020202020204" pitchFamily="34" charset="0"/>
              </a:defRPr>
            </a:lvl1pPr>
            <a:lvl2pPr marL="742950" indent="-285750">
              <a:spcBef>
                <a:spcPts val="600"/>
              </a:spcBef>
              <a:buClr>
                <a:srgbClr val="0000FF"/>
              </a:buClr>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0000FF"/>
              </a:buClr>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FF"/>
              </a:buClr>
              <a:buFont typeface="Arial" panose="020B0604020202020204" pitchFamily="34" charset="0"/>
              <a:buChar char="»"/>
              <a:defRPr>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0000FF"/>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a:spcBef>
                <a:spcPct val="0"/>
              </a:spcBef>
              <a:buClrTx/>
              <a:buFontTx/>
              <a:buNone/>
            </a:pPr>
            <a:r>
              <a:rPr lang="en-US" altLang="zh-CN" sz="800" dirty="0"/>
              <a:t>Computer Networks, Chapter 5 The Network Layer</a:t>
            </a:r>
          </a:p>
        </p:txBody>
      </p:sp>
      <p:sp>
        <p:nvSpPr>
          <p:cNvPr id="239620" name="Content Placeholder 4"/>
          <p:cNvSpPr>
            <a:spLocks noGrp="1"/>
          </p:cNvSpPr>
          <p:nvPr>
            <p:ph idx="1"/>
          </p:nvPr>
        </p:nvSpPr>
        <p:spPr>
          <a:xfrm>
            <a:off x="848139" y="1278338"/>
            <a:ext cx="10495722" cy="4598987"/>
          </a:xfrm>
        </p:spPr>
        <p:txBody>
          <a:bodyPr/>
          <a:lstStyle/>
          <a:p>
            <a:r>
              <a:rPr lang="en-US" altLang="zh-CN" dirty="0">
                <a:ea typeface="宋体" panose="02010600030101010101" pitchFamily="2" charset="-122"/>
              </a:rPr>
              <a:t>Groups have a reserved IP address range (class D)</a:t>
            </a:r>
          </a:p>
          <a:p>
            <a:pPr lvl="1"/>
            <a:r>
              <a:rPr lang="en-US" altLang="zh-CN" dirty="0">
                <a:ea typeface="宋体" panose="02010600030101010101" pitchFamily="2" charset="-122"/>
              </a:rPr>
              <a:t>Membership in a group handled by IGMP (Internet Group Management Protocol) that runs at routers</a:t>
            </a:r>
          </a:p>
          <a:p>
            <a:pPr lvl="1"/>
            <a:endParaRPr lang="en-US" altLang="zh-CN" dirty="0">
              <a:ea typeface="宋体" panose="02010600030101010101" pitchFamily="2" charset="-122"/>
            </a:endParaRPr>
          </a:p>
          <a:p>
            <a:r>
              <a:rPr lang="en-US" altLang="zh-CN" dirty="0">
                <a:ea typeface="宋体" panose="02010600030101010101" pitchFamily="2" charset="-122"/>
              </a:rPr>
              <a:t>Routes computed by protocols such as PIM (Protocol Independent Multicast):</a:t>
            </a:r>
          </a:p>
          <a:p>
            <a:pPr lvl="1"/>
            <a:r>
              <a:rPr lang="en-US" altLang="zh-CN" dirty="0">
                <a:ea typeface="宋体" panose="02010600030101010101" pitchFamily="2" charset="-122"/>
              </a:rPr>
              <a:t>Dense mode uses RPF(Reverse Path Forwarding) with pruning</a:t>
            </a:r>
          </a:p>
          <a:p>
            <a:pPr lvl="1"/>
            <a:r>
              <a:rPr lang="en-US" altLang="zh-CN" dirty="0">
                <a:ea typeface="宋体" panose="02010600030101010101" pitchFamily="2" charset="-122"/>
              </a:rPr>
              <a:t>Sparse mode uses core-based trees</a:t>
            </a:r>
          </a:p>
          <a:p>
            <a:pPr lvl="1"/>
            <a:endParaRPr lang="en-US" altLang="zh-CN" dirty="0">
              <a:ea typeface="宋体" panose="02010600030101010101" pitchFamily="2" charset="-122"/>
            </a:endParaRPr>
          </a:p>
          <a:p>
            <a:r>
              <a:rPr lang="en-US" altLang="zh-CN" dirty="0">
                <a:ea typeface="宋体" panose="02010600030101010101" pitchFamily="2" charset="-122"/>
              </a:rPr>
              <a:t>IP multicasting is not widely used except within a single network, e.g., datacenter, cable TV network. </a:t>
            </a:r>
          </a:p>
        </p:txBody>
      </p:sp>
      <p:sp>
        <p:nvSpPr>
          <p:cNvPr id="5" name="矩形 4">
            <a:extLst>
              <a:ext uri="{FF2B5EF4-FFF2-40B4-BE49-F238E27FC236}">
                <a16:creationId xmlns:a16="http://schemas.microsoft.com/office/drawing/2014/main" id="{495E8133-DA27-49D3-B154-0C9414DEAE91}"/>
              </a:ext>
            </a:extLst>
          </p:cNvPr>
          <p:cNvSpPr/>
          <p:nvPr/>
        </p:nvSpPr>
        <p:spPr>
          <a:xfrm>
            <a:off x="301659" y="276094"/>
            <a:ext cx="11716652" cy="523220"/>
          </a:xfrm>
          <a:prstGeom prst="rect">
            <a:avLst/>
          </a:prstGeom>
          <a:solidFill>
            <a:sysClr val="window" lastClr="FFFFFF"/>
          </a:solidFill>
        </p:spPr>
        <p:txBody>
          <a:bodyPr wrap="square">
            <a:spAutoFit/>
          </a:bodyPr>
          <a:lstStyle/>
          <a:p>
            <a:pPr>
              <a:defRPr/>
            </a:pPr>
            <a:r>
              <a:rPr lang="en-US" altLang="zh-CN" sz="2800" b="1" kern="0" dirty="0">
                <a:solidFill>
                  <a:srgbClr val="C00000"/>
                </a:solidFill>
                <a:latin typeface="微软雅黑" panose="020B0503020204020204" pitchFamily="34" charset="-122"/>
                <a:ea typeface="微软雅黑" panose="020B0503020204020204" pitchFamily="34" charset="-122"/>
                <a:cs typeface="+mn-cs"/>
              </a:rPr>
              <a:t>Internet Multicasting</a:t>
            </a:r>
            <a:endParaRPr lang="en-US" altLang="zh-CN" sz="2800" b="1" kern="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0978649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itle 1"/>
          <p:cNvSpPr>
            <a:spLocks noGrp="1"/>
          </p:cNvSpPr>
          <p:nvPr>
            <p:ph type="ctrTitle"/>
          </p:nvPr>
        </p:nvSpPr>
        <p:spPr/>
        <p:txBody>
          <a:bodyPr/>
          <a:lstStyle/>
          <a:p>
            <a:pPr eaLnBrk="1" hangingPunct="1"/>
            <a:r>
              <a:rPr lang="en-US" altLang="zh-CN">
                <a:ea typeface="宋体" panose="02010600030101010101" pitchFamily="2" charset="-122"/>
              </a:rPr>
              <a:t>End</a:t>
            </a:r>
          </a:p>
        </p:txBody>
      </p:sp>
      <p:sp>
        <p:nvSpPr>
          <p:cNvPr id="74755" name="Subtitle 2"/>
          <p:cNvSpPr>
            <a:spLocks noGrp="1"/>
          </p:cNvSpPr>
          <p:nvPr>
            <p:ph type="subTitle" idx="1"/>
          </p:nvPr>
        </p:nvSpPr>
        <p:spPr/>
        <p:txBody>
          <a:bodyPr/>
          <a:lstStyle/>
          <a:p>
            <a:pPr eaLnBrk="1" hangingPunct="1">
              <a:defRPr/>
            </a:pPr>
            <a:r>
              <a:rPr lang="en-US" dirty="0">
                <a:solidFill>
                  <a:schemeClr val="tx1">
                    <a:lumMod val="50000"/>
                    <a:lumOff val="50000"/>
                  </a:schemeClr>
                </a:solidFill>
                <a:latin typeface="Arial" charset="0"/>
                <a:cs typeface="Arial" charset="0"/>
              </a:rPr>
              <a:t>Chapter 5</a:t>
            </a:r>
          </a:p>
        </p:txBody>
      </p:sp>
      <p:sp>
        <p:nvSpPr>
          <p:cNvPr id="5" name="Footer Placeholder 3">
            <a:extLst>
              <a:ext uri="{FF2B5EF4-FFF2-40B4-BE49-F238E27FC236}">
                <a16:creationId xmlns:a16="http://schemas.microsoft.com/office/drawing/2014/main" id="{D52DB99D-C252-4346-B0A5-3AA8B3CC6735}"/>
              </a:ext>
            </a:extLst>
          </p:cNvPr>
          <p:cNvSpPr txBox="1">
            <a:spLocks/>
          </p:cNvSpPr>
          <p:nvPr/>
        </p:nvSpPr>
        <p:spPr>
          <a:xfrm>
            <a:off x="4038600" y="6356350"/>
            <a:ext cx="41148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zh-CN"/>
            </a:defPPr>
            <a:lvl1pPr marL="0" algn="l" defTabSz="914400" rtl="0" eaLnBrk="1" latinLnBrk="0" hangingPunct="1">
              <a:spcBef>
                <a:spcPts val="1800"/>
              </a:spcBef>
              <a:buClr>
                <a:srgbClr val="0000FF"/>
              </a:buClr>
              <a:buFont typeface="Arial" panose="020B0604020202020204" pitchFamily="34" charset="0"/>
              <a:defRPr sz="24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ts val="600"/>
              </a:spcBef>
              <a:buClr>
                <a:srgbClr val="0000FF"/>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rgbClr val="0000FF"/>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rgbClr val="0000FF"/>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0" fontAlgn="base" latinLnBrk="0" hangingPunct="0">
              <a:spcBef>
                <a:spcPct val="20000"/>
              </a:spcBef>
              <a:spcAft>
                <a:spcPct val="0"/>
              </a:spcAft>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0" fontAlgn="base" latinLnBrk="0" hangingPunct="0">
              <a:spcBef>
                <a:spcPct val="20000"/>
              </a:spcBef>
              <a:spcAft>
                <a:spcPct val="0"/>
              </a:spcAft>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7pPr>
            <a:lvl8pPr marL="3429000" indent="-228600" algn="l" defTabSz="914400" rtl="0" eaLnBrk="0" fontAlgn="base" latinLnBrk="0" hangingPunct="0">
              <a:spcBef>
                <a:spcPct val="20000"/>
              </a:spcBef>
              <a:spcAft>
                <a:spcPct val="0"/>
              </a:spcAft>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8pPr>
            <a:lvl9pPr marL="3886200" indent="-228600" algn="l" defTabSz="914400" rtl="0" eaLnBrk="0" fontAlgn="base" latinLnBrk="0" hangingPunct="0">
              <a:spcBef>
                <a:spcPct val="20000"/>
              </a:spcBef>
              <a:spcAft>
                <a:spcPct val="0"/>
              </a:spcAft>
              <a:buClr>
                <a:srgbClr val="0000FF"/>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9pPr>
          </a:lstStyle>
          <a:p>
            <a:pPr>
              <a:spcBef>
                <a:spcPct val="0"/>
              </a:spcBef>
              <a:buClrTx/>
              <a:buFontTx/>
              <a:buNone/>
            </a:pPr>
            <a:r>
              <a:rPr lang="en-US" altLang="zh-CN" sz="800"/>
              <a:t>Computer Networks, Chapter 5 The Network Layer</a:t>
            </a:r>
            <a:endParaRPr lang="en-US" altLang="zh-CN" sz="800" dirty="0"/>
          </a:p>
        </p:txBody>
      </p:sp>
    </p:spTree>
    <p:extLst>
      <p:ext uri="{BB962C8B-B14F-4D97-AF65-F5344CB8AC3E}">
        <p14:creationId xmlns:p14="http://schemas.microsoft.com/office/powerpoint/2010/main" val="230006803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8FFDC80-2AC2-4EF1-920A-D0EA20D35232}"/>
              </a:ext>
            </a:extLst>
          </p:cNvPr>
          <p:cNvSpPr txBox="1"/>
          <p:nvPr/>
        </p:nvSpPr>
        <p:spPr>
          <a:xfrm>
            <a:off x="0" y="1491615"/>
            <a:ext cx="12192000" cy="3676186"/>
          </a:xfrm>
          <a:prstGeom prst="rect">
            <a:avLst/>
          </a:prstGeom>
          <a:solidFill>
            <a:schemeClr val="bg2">
              <a:lumMod val="20000"/>
              <a:lumOff val="80000"/>
            </a:schemeClr>
          </a:solidFill>
        </p:spPr>
        <p:txBody>
          <a:bodyPr wrap="square" rtlCol="0" anchor="ctr">
            <a:noAutofit/>
          </a:bodyPr>
          <a:lstStyle/>
          <a:p>
            <a:pPr algn="ctr" defTabSz="1097280" fontAlgn="base">
              <a:spcBef>
                <a:spcPts val="1440"/>
              </a:spcBef>
              <a:spcAft>
                <a:spcPts val="1440"/>
              </a:spcAft>
            </a:pPr>
            <a:r>
              <a:rPr lang="en-US" altLang="zh-CN" sz="5280" b="1" dirty="0">
                <a:solidFill>
                  <a:srgbClr val="C00000"/>
                </a:solidFill>
                <a:latin typeface="微软雅黑" panose="020B0503020204020204" pitchFamily="34" charset="-122"/>
                <a:ea typeface="微软雅黑" panose="020B0503020204020204" pitchFamily="34" charset="-122"/>
              </a:rPr>
              <a:t>Q &amp; A</a:t>
            </a:r>
          </a:p>
        </p:txBody>
      </p:sp>
      <p:pic>
        <p:nvPicPr>
          <p:cNvPr id="5" name="Picture 2">
            <a:extLst>
              <a:ext uri="{FF2B5EF4-FFF2-40B4-BE49-F238E27FC236}">
                <a16:creationId xmlns:a16="http://schemas.microsoft.com/office/drawing/2014/main" id="{C5359447-7FF0-47D1-A892-FF658CBED8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72"/>
          <a:stretch/>
        </p:blipFill>
        <p:spPr bwMode="auto">
          <a:xfrm>
            <a:off x="263843" y="1"/>
            <a:ext cx="2388870" cy="8111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79200" tIns="39600" rIns="79200" bIns="39600" numCol="1" anchor="t" anchorCtr="0" compatLnSpc="1">
        <a:prstTxWarp prst="textNoShape">
          <a:avLst/>
        </a:prstTxWarp>
        <a:spAutoFit/>
      </a:bodyPr>
      <a:lstStyle>
        <a:defPPr marL="0" marR="0" indent="0" algn="l" defTabSz="801688"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bg1"/>
            </a:solidFill>
            <a:effectLst/>
            <a:latin typeface="FrutigerNext LT Regular" pitchFamily="34" charset="0"/>
            <a:ea typeface="ＭＳ Ｐゴシック" pitchFamily="34" charset="-128"/>
          </a:defRPr>
        </a:defPPr>
      </a:lstStyle>
    </a:lnDef>
  </a:objectDefaults>
  <a:extraClrSchemeLst>
    <a:extraClrScheme>
      <a:clrScheme name="1_自定义设计方案 1">
        <a:dk1>
          <a:srgbClr val="000000"/>
        </a:dk1>
        <a:lt1>
          <a:srgbClr val="FFFFFF"/>
        </a:lt1>
        <a:dk2>
          <a:srgbClr val="990000"/>
        </a:dk2>
        <a:lt2>
          <a:srgbClr val="777777"/>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42461</TotalTime>
  <Words>13982</Words>
  <Application>Microsoft Office PowerPoint</Application>
  <PresentationFormat>宽屏</PresentationFormat>
  <Paragraphs>1536</Paragraphs>
  <Slides>220</Slides>
  <Notes>134</Notes>
  <HiddenSlides>0</HiddenSlides>
  <MMClips>1</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1</vt:i4>
      </vt:variant>
      <vt:variant>
        <vt:lpstr>幻灯片标题</vt:lpstr>
      </vt:variant>
      <vt:variant>
        <vt:i4>220</vt:i4>
      </vt:variant>
    </vt:vector>
  </HeadingPairs>
  <TitlesOfParts>
    <vt:vector size="238" baseType="lpstr">
      <vt:lpstr>-apple-system</vt:lpstr>
      <vt:lpstr>Baby Kruffy</vt:lpstr>
      <vt:lpstr>Monotype Sorts</vt:lpstr>
      <vt:lpstr>等线</vt:lpstr>
      <vt:lpstr>等线 Light</vt:lpstr>
      <vt:lpstr>宋体</vt:lpstr>
      <vt:lpstr>微软雅黑</vt:lpstr>
      <vt:lpstr>Arial</vt:lpstr>
      <vt:lpstr>Arial</vt:lpstr>
      <vt:lpstr>Calibri</vt:lpstr>
      <vt:lpstr>Garamond</vt:lpstr>
      <vt:lpstr>Helvetica</vt:lpstr>
      <vt:lpstr>Tahoma</vt:lpstr>
      <vt:lpstr>Times New Roman</vt:lpstr>
      <vt:lpstr>Wingdings</vt:lpstr>
      <vt:lpstr>Office 主题​​</vt:lpstr>
      <vt:lpstr>2_自定义设计方案</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End</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工业互联网创新中心筹备进展及项目情况</dc:title>
  <dc:creator>tingw</dc:creator>
  <cp:lastModifiedBy>tingwang1122@gmail.com</cp:lastModifiedBy>
  <cp:revision>1113</cp:revision>
  <dcterms:created xsi:type="dcterms:W3CDTF">2016-09-26T01:53:00Z</dcterms:created>
  <dcterms:modified xsi:type="dcterms:W3CDTF">2025-12-08T15:15:43Z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2052-11.1.0.8888</vt:lpwstr>
  </property>
</Properties>
</file>