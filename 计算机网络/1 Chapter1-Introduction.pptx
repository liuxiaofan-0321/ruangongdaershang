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1" r:id="rId1"/>
    <p:sldMasterId id="2147483695" r:id="rId2"/>
  </p:sldMasterIdLst>
  <p:notesMasterIdLst>
    <p:notesMasterId r:id="rId107"/>
  </p:notesMasterIdLst>
  <p:sldIdLst>
    <p:sldId id="371" r:id="rId3"/>
    <p:sldId id="318" r:id="rId4"/>
    <p:sldId id="403" r:id="rId5"/>
    <p:sldId id="404" r:id="rId6"/>
    <p:sldId id="1431" r:id="rId7"/>
    <p:sldId id="1432" r:id="rId8"/>
    <p:sldId id="1433" r:id="rId9"/>
    <p:sldId id="319" r:id="rId10"/>
    <p:sldId id="327" r:id="rId11"/>
    <p:sldId id="258" r:id="rId12"/>
    <p:sldId id="377" r:id="rId13"/>
    <p:sldId id="260" r:id="rId14"/>
    <p:sldId id="259" r:id="rId15"/>
    <p:sldId id="1390" r:id="rId16"/>
    <p:sldId id="263" r:id="rId17"/>
    <p:sldId id="1391" r:id="rId18"/>
    <p:sldId id="1392" r:id="rId19"/>
    <p:sldId id="1393" r:id="rId20"/>
    <p:sldId id="1394" r:id="rId21"/>
    <p:sldId id="1395" r:id="rId22"/>
    <p:sldId id="264" r:id="rId23"/>
    <p:sldId id="1396" r:id="rId24"/>
    <p:sldId id="1434" r:id="rId25"/>
    <p:sldId id="1435" r:id="rId26"/>
    <p:sldId id="1397" r:id="rId27"/>
    <p:sldId id="1399" r:id="rId28"/>
    <p:sldId id="1400" r:id="rId29"/>
    <p:sldId id="1437" r:id="rId30"/>
    <p:sldId id="1386" r:id="rId31"/>
    <p:sldId id="326" r:id="rId32"/>
    <p:sldId id="325" r:id="rId33"/>
    <p:sldId id="334" r:id="rId34"/>
    <p:sldId id="328" r:id="rId35"/>
    <p:sldId id="329" r:id="rId36"/>
    <p:sldId id="330" r:id="rId37"/>
    <p:sldId id="331" r:id="rId38"/>
    <p:sldId id="1405" r:id="rId39"/>
    <p:sldId id="1406" r:id="rId40"/>
    <p:sldId id="1407" r:id="rId41"/>
    <p:sldId id="1408" r:id="rId42"/>
    <p:sldId id="1409" r:id="rId43"/>
    <p:sldId id="1401" r:id="rId44"/>
    <p:sldId id="332" r:id="rId45"/>
    <p:sldId id="265" r:id="rId46"/>
    <p:sldId id="268" r:id="rId47"/>
    <p:sldId id="269" r:id="rId48"/>
    <p:sldId id="270" r:id="rId49"/>
    <p:sldId id="271" r:id="rId50"/>
    <p:sldId id="273" r:id="rId51"/>
    <p:sldId id="272" r:id="rId52"/>
    <p:sldId id="1387" r:id="rId53"/>
    <p:sldId id="336" r:id="rId54"/>
    <p:sldId id="337" r:id="rId55"/>
    <p:sldId id="1411" r:id="rId56"/>
    <p:sldId id="338" r:id="rId57"/>
    <p:sldId id="1410" r:id="rId58"/>
    <p:sldId id="339" r:id="rId59"/>
    <p:sldId id="1412" r:id="rId60"/>
    <p:sldId id="1388" r:id="rId61"/>
    <p:sldId id="1402" r:id="rId62"/>
    <p:sldId id="340" r:id="rId63"/>
    <p:sldId id="341" r:id="rId64"/>
    <p:sldId id="1414" r:id="rId65"/>
    <p:sldId id="1415" r:id="rId66"/>
    <p:sldId id="1416" r:id="rId67"/>
    <p:sldId id="1417" r:id="rId68"/>
    <p:sldId id="1418" r:id="rId69"/>
    <p:sldId id="1419" r:id="rId70"/>
    <p:sldId id="342" r:id="rId71"/>
    <p:sldId id="343" r:id="rId72"/>
    <p:sldId id="344" r:id="rId73"/>
    <p:sldId id="1420" r:id="rId74"/>
    <p:sldId id="345" r:id="rId75"/>
    <p:sldId id="1403" r:id="rId76"/>
    <p:sldId id="347" r:id="rId77"/>
    <p:sldId id="1389" r:id="rId78"/>
    <p:sldId id="348" r:id="rId79"/>
    <p:sldId id="1421" r:id="rId80"/>
    <p:sldId id="1422" r:id="rId81"/>
    <p:sldId id="1423" r:id="rId82"/>
    <p:sldId id="1424" r:id="rId83"/>
    <p:sldId id="1425" r:id="rId84"/>
    <p:sldId id="1426" r:id="rId85"/>
    <p:sldId id="1427" r:id="rId86"/>
    <p:sldId id="349" r:id="rId87"/>
    <p:sldId id="350" r:id="rId88"/>
    <p:sldId id="351" r:id="rId89"/>
    <p:sldId id="352" r:id="rId90"/>
    <p:sldId id="353" r:id="rId91"/>
    <p:sldId id="354" r:id="rId92"/>
    <p:sldId id="355" r:id="rId93"/>
    <p:sldId id="356" r:id="rId94"/>
    <p:sldId id="357" r:id="rId95"/>
    <p:sldId id="358" r:id="rId96"/>
    <p:sldId id="359" r:id="rId97"/>
    <p:sldId id="360" r:id="rId98"/>
    <p:sldId id="361" r:id="rId99"/>
    <p:sldId id="362" r:id="rId100"/>
    <p:sldId id="363" r:id="rId101"/>
    <p:sldId id="1404" r:id="rId102"/>
    <p:sldId id="364" r:id="rId103"/>
    <p:sldId id="1429" r:id="rId104"/>
    <p:sldId id="1430" r:id="rId105"/>
    <p:sldId id="1385" r:id="rId10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8">
          <p15:clr>
            <a:srgbClr val="A4A3A4"/>
          </p15:clr>
        </p15:guide>
        <p15:guide id="2" pos="3840">
          <p15:clr>
            <a:srgbClr val="A4A3A4"/>
          </p15:clr>
        </p15:guide>
        <p15:guide id="3" pos="1044">
          <p15:clr>
            <a:srgbClr val="A4A3A4"/>
          </p15:clr>
        </p15:guide>
        <p15:guide id="4" pos="207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5DB4"/>
    <a:srgbClr val="005AAD"/>
    <a:srgbClr val="008487"/>
    <a:srgbClr val="DDE9EA"/>
    <a:srgbClr val="FF9B36"/>
    <a:srgbClr val="00467A"/>
    <a:srgbClr val="FF9933"/>
    <a:srgbClr val="E06B6B"/>
    <a:srgbClr val="ED69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18" autoAdjust="0"/>
    <p:restoredTop sz="92551" autoAdjust="0"/>
  </p:normalViewPr>
  <p:slideViewPr>
    <p:cSldViewPr snapToGrid="0" showGuides="1">
      <p:cViewPr varScale="1">
        <p:scale>
          <a:sx n="98" d="100"/>
          <a:sy n="98" d="100"/>
        </p:scale>
        <p:origin x="81" y="57"/>
      </p:cViewPr>
      <p:guideLst>
        <p:guide orient="horz" pos="2128"/>
        <p:guide pos="3840"/>
        <p:guide pos="1044"/>
        <p:guide pos="2074"/>
      </p:guideLst>
    </p:cSldViewPr>
  </p:slideViewPr>
  <p:notesTextViewPr>
    <p:cViewPr>
      <p:scale>
        <a:sx n="1" d="1"/>
        <a:sy n="1" d="1"/>
      </p:scale>
      <p:origin x="0" y="0"/>
    </p:cViewPr>
  </p:notesTextViewPr>
  <p:sorterViewPr>
    <p:cViewPr>
      <p:scale>
        <a:sx n="33" d="100"/>
        <a:sy n="33" d="100"/>
      </p:scale>
      <p:origin x="0" y="0"/>
    </p:cViewPr>
  </p:sorterViewPr>
  <p:notesViewPr>
    <p:cSldViewPr snapToGrid="0">
      <p:cViewPr varScale="1">
        <p:scale>
          <a:sx n="54" d="100"/>
          <a:sy n="54" d="100"/>
        </p:scale>
        <p:origin x="2880" y="6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notesMaster" Target="notesMasters/notesMaster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presProps" Target="presProp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viewProps" Target="viewProp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theme" Target="theme/theme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68"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769"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C6BA0-5341-43DF-84CE-1998201C61E9}" type="datetimeFigureOut">
              <a:rPr lang="zh-CN" altLang="en-US" smtClean="0"/>
              <a:t>2026/9/20</a:t>
            </a:fld>
            <a:endParaRPr lang="zh-CN" altLang="en-US"/>
          </a:p>
        </p:txBody>
      </p:sp>
      <p:sp>
        <p:nvSpPr>
          <p:cNvPr id="1048770"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771"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72"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773"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E3F630-34ED-4C5D-9674-D926440E8CF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6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CF63FE-E426-4835-94C0-2EF63A88FD09}" type="slidenum">
              <a:rPr lang="en-US" altLang="zh-CN" smtClean="0"/>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4</a:t>
            </a:fld>
            <a:endParaRPr lang="zh-CN" altLang="en-US"/>
          </a:p>
        </p:txBody>
      </p:sp>
    </p:spTree>
    <p:extLst>
      <p:ext uri="{BB962C8B-B14F-4D97-AF65-F5344CB8AC3E}">
        <p14:creationId xmlns:p14="http://schemas.microsoft.com/office/powerpoint/2010/main" val="3505994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
        <p:nvSpPr>
          <p:cNvPr id="92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FAAD098-3927-48E8-A75A-8471059201A9}" type="slidenum">
              <a:rPr lang="en-US" altLang="zh-CN" smtClean="0"/>
              <a:pPr/>
              <a:t>9</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5A71066-B35F-4D5B-86CC-4CD9190A4A5A}" type="slidenum">
              <a:rPr lang="en-US" altLang="zh-CN" smtClean="0"/>
              <a:pPr/>
              <a:t>10</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33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FA657AD-9C8A-447C-A6C5-99FA6B1B6879}" type="slidenum">
              <a:rPr lang="en-US" altLang="zh-CN" smtClean="0"/>
              <a:pPr/>
              <a:t>12</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sz="1200" b="0" i="0" kern="1200" dirty="0">
              <a:solidFill>
                <a:schemeClr val="tx1"/>
              </a:solidFill>
              <a:effectLst/>
              <a:latin typeface="+mn-lt"/>
              <a:ea typeface="+mn-ea"/>
              <a:cs typeface="+mn-cs"/>
            </a:endParaRPr>
          </a:p>
        </p:txBody>
      </p:sp>
      <p:sp>
        <p:nvSpPr>
          <p:cNvPr id="153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75F4ED5-1BF2-4999-80EF-C8E0B6C5A02B}" type="slidenum">
              <a:rPr lang="en-US" altLang="zh-CN" smtClean="0"/>
              <a:pPr/>
              <a:t>13</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53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75F4ED5-1BF2-4999-80EF-C8E0B6C5A02B}" type="slidenum">
              <a:rPr lang="en-US" altLang="zh-CN" smtClean="0"/>
              <a:pPr/>
              <a:t>14</a:t>
            </a:fld>
            <a:endParaRPr lang="en-US" altLang="zh-CN"/>
          </a:p>
        </p:txBody>
      </p:sp>
    </p:spTree>
    <p:extLst>
      <p:ext uri="{BB962C8B-B14F-4D97-AF65-F5344CB8AC3E}">
        <p14:creationId xmlns:p14="http://schemas.microsoft.com/office/powerpoint/2010/main" val="778769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3266908-E278-4AD1-8AB8-8F5FFFD8E958}" type="slidenum">
              <a:rPr lang="en-US" altLang="zh-CN" smtClean="0"/>
              <a:pPr/>
              <a:t>15</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3266908-E278-4AD1-8AB8-8F5FFFD8E958}" type="slidenum">
              <a:rPr lang="en-US" altLang="zh-CN" smtClean="0"/>
              <a:pPr/>
              <a:t>16</a:t>
            </a:fld>
            <a:endParaRPr lang="en-US" altLang="zh-CN"/>
          </a:p>
        </p:txBody>
      </p:sp>
    </p:spTree>
    <p:extLst>
      <p:ext uri="{BB962C8B-B14F-4D97-AF65-F5344CB8AC3E}">
        <p14:creationId xmlns:p14="http://schemas.microsoft.com/office/powerpoint/2010/main" val="475600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3266908-E278-4AD1-8AB8-8F5FFFD8E958}" type="slidenum">
              <a:rPr lang="en-US" altLang="zh-CN" smtClean="0"/>
              <a:pPr/>
              <a:t>17</a:t>
            </a:fld>
            <a:endParaRPr lang="en-US" altLang="zh-CN"/>
          </a:p>
        </p:txBody>
      </p:sp>
    </p:spTree>
    <p:extLst>
      <p:ext uri="{BB962C8B-B14F-4D97-AF65-F5344CB8AC3E}">
        <p14:creationId xmlns:p14="http://schemas.microsoft.com/office/powerpoint/2010/main" val="2252854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3266908-E278-4AD1-8AB8-8F5FFFD8E958}" type="slidenum">
              <a:rPr lang="en-US" altLang="zh-CN" smtClean="0"/>
              <a:pPr/>
              <a:t>18</a:t>
            </a:fld>
            <a:endParaRPr lang="en-US" altLang="zh-CN"/>
          </a:p>
        </p:txBody>
      </p:sp>
    </p:spTree>
    <p:extLst>
      <p:ext uri="{BB962C8B-B14F-4D97-AF65-F5344CB8AC3E}">
        <p14:creationId xmlns:p14="http://schemas.microsoft.com/office/powerpoint/2010/main" val="21604797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3266908-E278-4AD1-8AB8-8F5FFFD8E958}" type="slidenum">
              <a:rPr lang="en-US" altLang="zh-CN" smtClean="0"/>
              <a:pPr/>
              <a:t>19</a:t>
            </a:fld>
            <a:endParaRPr lang="en-US" altLang="zh-CN"/>
          </a:p>
        </p:txBody>
      </p:sp>
    </p:spTree>
    <p:extLst>
      <p:ext uri="{BB962C8B-B14F-4D97-AF65-F5344CB8AC3E}">
        <p14:creationId xmlns:p14="http://schemas.microsoft.com/office/powerpoint/2010/main" val="23978399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3266908-E278-4AD1-8AB8-8F5FFFD8E958}" type="slidenum">
              <a:rPr lang="en-US" altLang="zh-CN" smtClean="0"/>
              <a:pPr/>
              <a:t>20</a:t>
            </a:fld>
            <a:endParaRPr lang="en-US" altLang="zh-CN"/>
          </a:p>
        </p:txBody>
      </p:sp>
    </p:spTree>
    <p:extLst>
      <p:ext uri="{BB962C8B-B14F-4D97-AF65-F5344CB8AC3E}">
        <p14:creationId xmlns:p14="http://schemas.microsoft.com/office/powerpoint/2010/main" val="1508446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7C3BA3-D6A9-4863-8771-80430F8D7200}" type="slidenum">
              <a:rPr lang="en-US" altLang="zh-CN" smtClean="0"/>
              <a:pPr/>
              <a:t>21</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7C3BA3-D6A9-4863-8771-80430F8D7200}" type="slidenum">
              <a:rPr lang="en-US" altLang="zh-CN" smtClean="0"/>
              <a:pPr/>
              <a:t>22</a:t>
            </a:fld>
            <a:endParaRPr lang="en-US" altLang="zh-CN"/>
          </a:p>
        </p:txBody>
      </p:sp>
    </p:spTree>
    <p:extLst>
      <p:ext uri="{BB962C8B-B14F-4D97-AF65-F5344CB8AC3E}">
        <p14:creationId xmlns:p14="http://schemas.microsoft.com/office/powerpoint/2010/main" val="31669189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7C3BA3-D6A9-4863-8771-80430F8D7200}" type="slidenum">
              <a:rPr lang="en-US" altLang="zh-CN" smtClean="0"/>
              <a:pPr/>
              <a:t>23</a:t>
            </a:fld>
            <a:endParaRPr lang="en-US" altLang="zh-CN"/>
          </a:p>
        </p:txBody>
      </p:sp>
    </p:spTree>
    <p:extLst>
      <p:ext uri="{BB962C8B-B14F-4D97-AF65-F5344CB8AC3E}">
        <p14:creationId xmlns:p14="http://schemas.microsoft.com/office/powerpoint/2010/main" val="3241436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lang="zh-CN" altLang="en-US" sz="1200" dirty="0">
              <a:latin typeface="微软雅黑" panose="020B0503020204020204" pitchFamily="34" charset="-122"/>
              <a:ea typeface="微软雅黑" panose="020B0503020204020204" pitchFamily="34" charset="-122"/>
            </a:endParaRPr>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7C3BA3-D6A9-4863-8771-80430F8D7200}" type="slidenum">
              <a:rPr lang="en-US" altLang="zh-CN" smtClean="0"/>
              <a:pPr/>
              <a:t>25</a:t>
            </a:fld>
            <a:endParaRPr lang="en-US" altLang="zh-CN"/>
          </a:p>
        </p:txBody>
      </p:sp>
    </p:spTree>
    <p:extLst>
      <p:ext uri="{BB962C8B-B14F-4D97-AF65-F5344CB8AC3E}">
        <p14:creationId xmlns:p14="http://schemas.microsoft.com/office/powerpoint/2010/main" val="39216860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7C3BA3-D6A9-4863-8771-80430F8D7200}" type="slidenum">
              <a:rPr lang="en-US" altLang="zh-CN" smtClean="0"/>
              <a:pPr/>
              <a:t>26</a:t>
            </a:fld>
            <a:endParaRPr lang="en-US" altLang="zh-CN"/>
          </a:p>
        </p:txBody>
      </p:sp>
    </p:spTree>
    <p:extLst>
      <p:ext uri="{BB962C8B-B14F-4D97-AF65-F5344CB8AC3E}">
        <p14:creationId xmlns:p14="http://schemas.microsoft.com/office/powerpoint/2010/main" val="1414881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7C3BA3-D6A9-4863-8771-80430F8D7200}" type="slidenum">
              <a:rPr lang="en-US" altLang="zh-CN" smtClean="0"/>
              <a:pPr/>
              <a:t>27</a:t>
            </a:fld>
            <a:endParaRPr lang="en-US" altLang="zh-CN"/>
          </a:p>
        </p:txBody>
      </p:sp>
    </p:spTree>
    <p:extLst>
      <p:ext uri="{BB962C8B-B14F-4D97-AF65-F5344CB8AC3E}">
        <p14:creationId xmlns:p14="http://schemas.microsoft.com/office/powerpoint/2010/main" val="40865701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7C3BA3-D6A9-4863-8771-80430F8D7200}" type="slidenum">
              <a:rPr lang="en-US" altLang="zh-CN" smtClean="0"/>
              <a:pPr/>
              <a:t>28</a:t>
            </a:fld>
            <a:endParaRPr lang="en-US" altLang="zh-CN"/>
          </a:p>
        </p:txBody>
      </p:sp>
    </p:spTree>
    <p:extLst>
      <p:ext uri="{BB962C8B-B14F-4D97-AF65-F5344CB8AC3E}">
        <p14:creationId xmlns:p14="http://schemas.microsoft.com/office/powerpoint/2010/main" val="93213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6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CF63FE-E426-4835-94C0-2EF63A88FD09}" type="slidenum">
              <a:rPr lang="en-US" altLang="zh-CN" smtClean="0"/>
              <a:pPr/>
              <a:t>29</a:t>
            </a:fld>
            <a:endParaRPr lang="en-US" altLang="zh-CN"/>
          </a:p>
        </p:txBody>
      </p:sp>
    </p:spTree>
    <p:extLst>
      <p:ext uri="{BB962C8B-B14F-4D97-AF65-F5344CB8AC3E}">
        <p14:creationId xmlns:p14="http://schemas.microsoft.com/office/powerpoint/2010/main" val="1776435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31</a:t>
            </a:fld>
            <a:endParaRPr lang="zh-CN" altLang="en-US"/>
          </a:p>
        </p:txBody>
      </p:sp>
    </p:spTree>
    <p:extLst>
      <p:ext uri="{BB962C8B-B14F-4D97-AF65-F5344CB8AC3E}">
        <p14:creationId xmlns:p14="http://schemas.microsoft.com/office/powerpoint/2010/main" val="41922653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32</a:t>
            </a:fld>
            <a:endParaRPr lang="zh-CN" altLang="en-US"/>
          </a:p>
        </p:txBody>
      </p:sp>
    </p:spTree>
    <p:extLst>
      <p:ext uri="{BB962C8B-B14F-4D97-AF65-F5344CB8AC3E}">
        <p14:creationId xmlns:p14="http://schemas.microsoft.com/office/powerpoint/2010/main" val="26651190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35</a:t>
            </a:fld>
            <a:endParaRPr lang="zh-CN" altLang="en-US"/>
          </a:p>
        </p:txBody>
      </p:sp>
    </p:spTree>
    <p:extLst>
      <p:ext uri="{BB962C8B-B14F-4D97-AF65-F5344CB8AC3E}">
        <p14:creationId xmlns:p14="http://schemas.microsoft.com/office/powerpoint/2010/main" val="38350454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37</a:t>
            </a:fld>
            <a:endParaRPr lang="zh-CN" altLang="en-US"/>
          </a:p>
        </p:txBody>
      </p:sp>
    </p:spTree>
    <p:extLst>
      <p:ext uri="{BB962C8B-B14F-4D97-AF65-F5344CB8AC3E}">
        <p14:creationId xmlns:p14="http://schemas.microsoft.com/office/powerpoint/2010/main" val="17793689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39</a:t>
            </a:fld>
            <a:endParaRPr lang="zh-CN" altLang="en-US"/>
          </a:p>
        </p:txBody>
      </p:sp>
    </p:spTree>
    <p:extLst>
      <p:ext uri="{BB962C8B-B14F-4D97-AF65-F5344CB8AC3E}">
        <p14:creationId xmlns:p14="http://schemas.microsoft.com/office/powerpoint/2010/main" val="1387487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pPr>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43</a:t>
            </a:fld>
            <a:endParaRPr lang="zh-CN" altLang="en-US"/>
          </a:p>
        </p:txBody>
      </p:sp>
    </p:spTree>
    <p:extLst>
      <p:ext uri="{BB962C8B-B14F-4D97-AF65-F5344CB8AC3E}">
        <p14:creationId xmlns:p14="http://schemas.microsoft.com/office/powerpoint/2010/main" val="13622250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7E7836F-4B5C-49B8-AA4E-77E4E637A799}" type="slidenum">
              <a:rPr lang="en-US" altLang="zh-CN" smtClean="0"/>
              <a:pPr/>
              <a:t>44</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45</a:t>
            </a:fld>
            <a:endParaRPr lang="zh-CN" altLang="en-US"/>
          </a:p>
        </p:txBody>
      </p:sp>
    </p:spTree>
    <p:extLst>
      <p:ext uri="{BB962C8B-B14F-4D97-AF65-F5344CB8AC3E}">
        <p14:creationId xmlns:p14="http://schemas.microsoft.com/office/powerpoint/2010/main" val="19261843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327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84FF2B4-1146-49D4-B2E9-1E50E298AA1F}" type="slidenum">
              <a:rPr lang="en-US" altLang="zh-CN" smtClean="0"/>
              <a:pPr/>
              <a:t>46</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348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8BF571-757E-4CC8-8F39-D0AAE56A31DA}" type="slidenum">
              <a:rPr lang="en-US" altLang="zh-CN" smtClean="0"/>
              <a:pPr/>
              <a:t>47</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7EF9403-23CF-4469-90D8-6BA63334CF75}" type="slidenum">
              <a:rPr lang="en-US" altLang="zh-CN" smtClean="0"/>
              <a:pPr/>
              <a:t>48</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389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32EC3B-7C3F-41E0-9FEF-66783CDAB946}" type="slidenum">
              <a:rPr lang="en-US" altLang="zh-CN" smtClean="0"/>
              <a:pPr/>
              <a:t>49</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09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575A21C-62A6-4DE9-8C25-47A9AE6345AB}" type="slidenum">
              <a:rPr lang="en-US" altLang="zh-CN" smtClean="0"/>
              <a:pPr/>
              <a:t>50</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6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CF63FE-E426-4835-94C0-2EF63A88FD09}" type="slidenum">
              <a:rPr lang="en-US" altLang="zh-CN" smtClean="0"/>
              <a:pPr/>
              <a:t>51</a:t>
            </a:fld>
            <a:endParaRPr lang="en-US" altLang="zh-CN"/>
          </a:p>
        </p:txBody>
      </p:sp>
    </p:spTree>
    <p:extLst>
      <p:ext uri="{BB962C8B-B14F-4D97-AF65-F5344CB8AC3E}">
        <p14:creationId xmlns:p14="http://schemas.microsoft.com/office/powerpoint/2010/main" val="39586269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a:defRPr/>
            </a:pPr>
            <a:endParaRPr lang="zh-CN" altLang="en-US" dirty="0"/>
          </a:p>
        </p:txBody>
      </p:sp>
      <p:sp>
        <p:nvSpPr>
          <p:cNvPr id="81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63BC36C-6B9C-4917-BAE7-F48D87809046}" type="slidenum">
              <a:rPr lang="en-US" altLang="zh-CN" smtClean="0"/>
              <a:pPr/>
              <a:t>52</a:t>
            </a:fld>
            <a:endParaRPr lang="en-US" altLang="zh-CN"/>
          </a:p>
        </p:txBody>
      </p:sp>
    </p:spTree>
    <p:extLst>
      <p:ext uri="{BB962C8B-B14F-4D97-AF65-F5344CB8AC3E}">
        <p14:creationId xmlns:p14="http://schemas.microsoft.com/office/powerpoint/2010/main" val="16369070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9AD11BA-88F1-4FB8-A919-6AD8870A2547}" type="slidenum">
              <a:rPr lang="en-US" altLang="zh-CN" smtClean="0"/>
              <a:pPr/>
              <a:t>53</a:t>
            </a:fld>
            <a:endParaRPr lang="en-US" altLang="zh-CN"/>
          </a:p>
        </p:txBody>
      </p:sp>
    </p:spTree>
    <p:extLst>
      <p:ext uri="{BB962C8B-B14F-4D97-AF65-F5344CB8AC3E}">
        <p14:creationId xmlns:p14="http://schemas.microsoft.com/office/powerpoint/2010/main" val="4346049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9AD11BA-88F1-4FB8-A919-6AD8870A2547}" type="slidenum">
              <a:rPr lang="en-US" altLang="zh-CN" smtClean="0"/>
              <a:pPr/>
              <a:t>54</a:t>
            </a:fld>
            <a:endParaRPr lang="en-US" altLang="zh-CN"/>
          </a:p>
        </p:txBody>
      </p:sp>
    </p:spTree>
    <p:extLst>
      <p:ext uri="{BB962C8B-B14F-4D97-AF65-F5344CB8AC3E}">
        <p14:creationId xmlns:p14="http://schemas.microsoft.com/office/powerpoint/2010/main" val="32822337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3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787777E-A803-475F-A938-A2158B2C4BB2}" type="slidenum">
              <a:rPr lang="en-US" altLang="zh-CN" smtClean="0"/>
              <a:pPr/>
              <a:t>57</a:t>
            </a:fld>
            <a:endParaRPr lang="en-US" altLang="zh-CN"/>
          </a:p>
        </p:txBody>
      </p:sp>
    </p:spTree>
    <p:extLst>
      <p:ext uri="{BB962C8B-B14F-4D97-AF65-F5344CB8AC3E}">
        <p14:creationId xmlns:p14="http://schemas.microsoft.com/office/powerpoint/2010/main" val="4708219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3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787777E-A803-475F-A938-A2158B2C4BB2}" type="slidenum">
              <a:rPr lang="en-US" altLang="zh-CN" smtClean="0"/>
              <a:pPr/>
              <a:t>58</a:t>
            </a:fld>
            <a:endParaRPr lang="en-US" altLang="zh-CN"/>
          </a:p>
        </p:txBody>
      </p:sp>
    </p:spTree>
    <p:extLst>
      <p:ext uri="{BB962C8B-B14F-4D97-AF65-F5344CB8AC3E}">
        <p14:creationId xmlns:p14="http://schemas.microsoft.com/office/powerpoint/2010/main" val="26067364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3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787777E-A803-475F-A938-A2158B2C4BB2}" type="slidenum">
              <a:rPr lang="en-US" altLang="zh-CN" smtClean="0"/>
              <a:pPr/>
              <a:t>59</a:t>
            </a:fld>
            <a:endParaRPr lang="en-US" altLang="zh-CN"/>
          </a:p>
        </p:txBody>
      </p:sp>
    </p:spTree>
    <p:extLst>
      <p:ext uri="{BB962C8B-B14F-4D97-AF65-F5344CB8AC3E}">
        <p14:creationId xmlns:p14="http://schemas.microsoft.com/office/powerpoint/2010/main" val="9122319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3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787777E-A803-475F-A938-A2158B2C4BB2}" type="slidenum">
              <a:rPr lang="en-US" altLang="zh-CN" smtClean="0"/>
              <a:pPr/>
              <a:t>60</a:t>
            </a:fld>
            <a:endParaRPr lang="en-US" altLang="zh-CN"/>
          </a:p>
        </p:txBody>
      </p:sp>
    </p:spTree>
    <p:extLst>
      <p:ext uri="{BB962C8B-B14F-4D97-AF65-F5344CB8AC3E}">
        <p14:creationId xmlns:p14="http://schemas.microsoft.com/office/powerpoint/2010/main" val="1876595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53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4647226-5D62-4434-BDC4-61F2EE44EC39}" type="slidenum">
              <a:rPr lang="en-US" altLang="zh-CN" smtClean="0"/>
              <a:pPr/>
              <a:t>61</a:t>
            </a:fld>
            <a:endParaRPr lang="en-US" altLang="zh-CN"/>
          </a:p>
        </p:txBody>
      </p:sp>
    </p:spTree>
    <p:extLst>
      <p:ext uri="{BB962C8B-B14F-4D97-AF65-F5344CB8AC3E}">
        <p14:creationId xmlns:p14="http://schemas.microsoft.com/office/powerpoint/2010/main" val="7910818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74B942F-20A4-4226-87DB-C1E6E0E98608}" type="slidenum">
              <a:rPr lang="en-US" altLang="zh-CN" smtClean="0"/>
              <a:pPr/>
              <a:t>62</a:t>
            </a:fld>
            <a:endParaRPr lang="en-US" altLang="zh-CN"/>
          </a:p>
        </p:txBody>
      </p:sp>
    </p:spTree>
    <p:extLst>
      <p:ext uri="{BB962C8B-B14F-4D97-AF65-F5344CB8AC3E}">
        <p14:creationId xmlns:p14="http://schemas.microsoft.com/office/powerpoint/2010/main" val="37713727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3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787777E-A803-475F-A938-A2158B2C4BB2}" type="slidenum">
              <a:rPr lang="en-US" altLang="zh-CN" smtClean="0"/>
              <a:pPr/>
              <a:t>63</a:t>
            </a:fld>
            <a:endParaRPr lang="en-US" altLang="zh-CN"/>
          </a:p>
        </p:txBody>
      </p:sp>
    </p:spTree>
    <p:extLst>
      <p:ext uri="{BB962C8B-B14F-4D97-AF65-F5344CB8AC3E}">
        <p14:creationId xmlns:p14="http://schemas.microsoft.com/office/powerpoint/2010/main" val="25417395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3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787777E-A803-475F-A938-A2158B2C4BB2}" type="slidenum">
              <a:rPr lang="en-US" altLang="zh-CN" smtClean="0"/>
              <a:pPr/>
              <a:t>64</a:t>
            </a:fld>
            <a:endParaRPr lang="en-US" altLang="zh-CN"/>
          </a:p>
        </p:txBody>
      </p:sp>
    </p:spTree>
    <p:extLst>
      <p:ext uri="{BB962C8B-B14F-4D97-AF65-F5344CB8AC3E}">
        <p14:creationId xmlns:p14="http://schemas.microsoft.com/office/powerpoint/2010/main" val="1166498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3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787777E-A803-475F-A938-A2158B2C4BB2}" type="slidenum">
              <a:rPr lang="en-US" altLang="zh-CN" smtClean="0"/>
              <a:pPr/>
              <a:t>65</a:t>
            </a:fld>
            <a:endParaRPr lang="en-US" altLang="zh-CN"/>
          </a:p>
        </p:txBody>
      </p:sp>
    </p:spTree>
    <p:extLst>
      <p:ext uri="{BB962C8B-B14F-4D97-AF65-F5344CB8AC3E}">
        <p14:creationId xmlns:p14="http://schemas.microsoft.com/office/powerpoint/2010/main" val="19508476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3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787777E-A803-475F-A938-A2158B2C4BB2}" type="slidenum">
              <a:rPr lang="en-US" altLang="zh-CN" smtClean="0"/>
              <a:pPr/>
              <a:t>66</a:t>
            </a:fld>
            <a:endParaRPr lang="en-US" altLang="zh-CN"/>
          </a:p>
        </p:txBody>
      </p:sp>
    </p:spTree>
    <p:extLst>
      <p:ext uri="{BB962C8B-B14F-4D97-AF65-F5344CB8AC3E}">
        <p14:creationId xmlns:p14="http://schemas.microsoft.com/office/powerpoint/2010/main" val="10319119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3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787777E-A803-475F-A938-A2158B2C4BB2}" type="slidenum">
              <a:rPr lang="en-US" altLang="zh-CN" smtClean="0"/>
              <a:pPr/>
              <a:t>67</a:t>
            </a:fld>
            <a:endParaRPr lang="en-US" altLang="zh-CN"/>
          </a:p>
        </p:txBody>
      </p:sp>
    </p:spTree>
    <p:extLst>
      <p:ext uri="{BB962C8B-B14F-4D97-AF65-F5344CB8AC3E}">
        <p14:creationId xmlns:p14="http://schemas.microsoft.com/office/powerpoint/2010/main" val="32676262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3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787777E-A803-475F-A938-A2158B2C4BB2}" type="slidenum">
              <a:rPr lang="en-US" altLang="zh-CN" smtClean="0"/>
              <a:pPr/>
              <a:t>68</a:t>
            </a:fld>
            <a:endParaRPr lang="en-US" altLang="zh-CN"/>
          </a:p>
        </p:txBody>
      </p:sp>
    </p:spTree>
    <p:extLst>
      <p:ext uri="{BB962C8B-B14F-4D97-AF65-F5344CB8AC3E}">
        <p14:creationId xmlns:p14="http://schemas.microsoft.com/office/powerpoint/2010/main" val="32357775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69</a:t>
            </a:fld>
            <a:endParaRPr lang="zh-CN" altLang="en-US"/>
          </a:p>
        </p:txBody>
      </p:sp>
    </p:spTree>
    <p:extLst>
      <p:ext uri="{BB962C8B-B14F-4D97-AF65-F5344CB8AC3E}">
        <p14:creationId xmlns:p14="http://schemas.microsoft.com/office/powerpoint/2010/main" val="33247434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4F79344-E1CC-47DB-8F6E-64BFD58269FB}" type="slidenum">
              <a:rPr lang="en-US" altLang="zh-CN" smtClean="0"/>
              <a:pPr/>
              <a:t>70</a:t>
            </a:fld>
            <a:endParaRPr lang="en-US" altLang="zh-CN"/>
          </a:p>
        </p:txBody>
      </p:sp>
    </p:spTree>
    <p:extLst>
      <p:ext uri="{BB962C8B-B14F-4D97-AF65-F5344CB8AC3E}">
        <p14:creationId xmlns:p14="http://schemas.microsoft.com/office/powerpoint/2010/main" val="26829980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225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A46EAF1-6F77-4FE8-8016-D9D263184355}" type="slidenum">
              <a:rPr lang="en-US" altLang="zh-CN" smtClean="0"/>
              <a:pPr/>
              <a:t>71</a:t>
            </a:fld>
            <a:endParaRPr lang="en-US" altLang="zh-CN"/>
          </a:p>
        </p:txBody>
      </p:sp>
    </p:spTree>
    <p:extLst>
      <p:ext uri="{BB962C8B-B14F-4D97-AF65-F5344CB8AC3E}">
        <p14:creationId xmlns:p14="http://schemas.microsoft.com/office/powerpoint/2010/main" val="22944328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a:p>
            <a:pPr eaLnBrk="1" hangingPunct="1">
              <a:spcBef>
                <a:spcPct val="0"/>
              </a:spcBef>
            </a:pPr>
            <a:endParaRPr lang="zh-CN" altLang="en-US" dirty="0"/>
          </a:p>
        </p:txBody>
      </p:sp>
      <p:sp>
        <p:nvSpPr>
          <p:cNvPr id="225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A46EAF1-6F77-4FE8-8016-D9D263184355}" type="slidenum">
              <a:rPr lang="en-US" altLang="zh-CN" smtClean="0"/>
              <a:pPr/>
              <a:t>72</a:t>
            </a:fld>
            <a:endParaRPr lang="en-US" altLang="zh-CN"/>
          </a:p>
        </p:txBody>
      </p:sp>
    </p:spTree>
    <p:extLst>
      <p:ext uri="{BB962C8B-B14F-4D97-AF65-F5344CB8AC3E}">
        <p14:creationId xmlns:p14="http://schemas.microsoft.com/office/powerpoint/2010/main" val="419643884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74</a:t>
            </a:fld>
            <a:endParaRPr lang="zh-CN" altLang="en-US"/>
          </a:p>
        </p:txBody>
      </p:sp>
    </p:spTree>
    <p:extLst>
      <p:ext uri="{BB962C8B-B14F-4D97-AF65-F5344CB8AC3E}">
        <p14:creationId xmlns:p14="http://schemas.microsoft.com/office/powerpoint/2010/main" val="65256676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595B42B-3A3A-42B2-A913-6AFD4362F7AD}" type="slidenum">
              <a:rPr lang="en-US" altLang="zh-CN" smtClean="0"/>
              <a:pPr/>
              <a:t>75</a:t>
            </a:fld>
            <a:endParaRPr lang="en-US" altLang="zh-CN"/>
          </a:p>
        </p:txBody>
      </p:sp>
    </p:spTree>
    <p:extLst>
      <p:ext uri="{BB962C8B-B14F-4D97-AF65-F5344CB8AC3E}">
        <p14:creationId xmlns:p14="http://schemas.microsoft.com/office/powerpoint/2010/main" val="331450344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79</a:t>
            </a:fld>
            <a:endParaRPr lang="zh-CN" altLang="en-US"/>
          </a:p>
        </p:txBody>
      </p:sp>
    </p:spTree>
    <p:extLst>
      <p:ext uri="{BB962C8B-B14F-4D97-AF65-F5344CB8AC3E}">
        <p14:creationId xmlns:p14="http://schemas.microsoft.com/office/powerpoint/2010/main" val="16477701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80</a:t>
            </a:fld>
            <a:endParaRPr lang="zh-CN" altLang="en-US"/>
          </a:p>
        </p:txBody>
      </p:sp>
    </p:spTree>
    <p:extLst>
      <p:ext uri="{BB962C8B-B14F-4D97-AF65-F5344CB8AC3E}">
        <p14:creationId xmlns:p14="http://schemas.microsoft.com/office/powerpoint/2010/main" val="304335180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81</a:t>
            </a:fld>
            <a:endParaRPr lang="zh-CN" altLang="en-US"/>
          </a:p>
        </p:txBody>
      </p:sp>
    </p:spTree>
    <p:extLst>
      <p:ext uri="{BB962C8B-B14F-4D97-AF65-F5344CB8AC3E}">
        <p14:creationId xmlns:p14="http://schemas.microsoft.com/office/powerpoint/2010/main" val="24762199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82</a:t>
            </a:fld>
            <a:endParaRPr lang="zh-CN" altLang="en-US"/>
          </a:p>
        </p:txBody>
      </p:sp>
    </p:spTree>
    <p:extLst>
      <p:ext uri="{BB962C8B-B14F-4D97-AF65-F5344CB8AC3E}">
        <p14:creationId xmlns:p14="http://schemas.microsoft.com/office/powerpoint/2010/main" val="41219690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83</a:t>
            </a:fld>
            <a:endParaRPr lang="zh-CN" altLang="en-US"/>
          </a:p>
        </p:txBody>
      </p:sp>
    </p:spTree>
    <p:extLst>
      <p:ext uri="{BB962C8B-B14F-4D97-AF65-F5344CB8AC3E}">
        <p14:creationId xmlns:p14="http://schemas.microsoft.com/office/powerpoint/2010/main" val="41796025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84</a:t>
            </a:fld>
            <a:endParaRPr lang="zh-CN" altLang="en-US"/>
          </a:p>
        </p:txBody>
      </p:sp>
    </p:spTree>
    <p:extLst>
      <p:ext uri="{BB962C8B-B14F-4D97-AF65-F5344CB8AC3E}">
        <p14:creationId xmlns:p14="http://schemas.microsoft.com/office/powerpoint/2010/main" val="287170784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297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A65D30E-A170-4CA5-AECC-EC8026753E93}" type="slidenum">
              <a:rPr lang="en-US" altLang="zh-CN" smtClean="0"/>
              <a:pPr/>
              <a:t>85</a:t>
            </a:fld>
            <a:endParaRPr lang="en-US" altLang="zh-CN"/>
          </a:p>
        </p:txBody>
      </p:sp>
    </p:spTree>
    <p:extLst>
      <p:ext uri="{BB962C8B-B14F-4D97-AF65-F5344CB8AC3E}">
        <p14:creationId xmlns:p14="http://schemas.microsoft.com/office/powerpoint/2010/main" val="99669006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327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5C095C4-683A-449C-A20B-F608533481B0}" type="slidenum">
              <a:rPr lang="en-US" altLang="zh-CN" smtClean="0"/>
              <a:pPr/>
              <a:t>87</a:t>
            </a:fld>
            <a:endParaRPr lang="en-US" altLang="zh-CN"/>
          </a:p>
        </p:txBody>
      </p:sp>
    </p:spTree>
    <p:extLst>
      <p:ext uri="{BB962C8B-B14F-4D97-AF65-F5344CB8AC3E}">
        <p14:creationId xmlns:p14="http://schemas.microsoft.com/office/powerpoint/2010/main" val="23428750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348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222F0B1-923C-4A60-99E9-41D93ECEB6E8}" type="slidenum">
              <a:rPr lang="en-US" altLang="zh-CN" smtClean="0"/>
              <a:pPr/>
              <a:t>88</a:t>
            </a:fld>
            <a:endParaRPr lang="en-US" altLang="zh-CN"/>
          </a:p>
        </p:txBody>
      </p:sp>
    </p:spTree>
    <p:extLst>
      <p:ext uri="{BB962C8B-B14F-4D97-AF65-F5344CB8AC3E}">
        <p14:creationId xmlns:p14="http://schemas.microsoft.com/office/powerpoint/2010/main" val="122941563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E7072C6-9C8C-47CD-A9C6-7D7ACF5881AA}" type="slidenum">
              <a:rPr lang="en-US" altLang="zh-CN" smtClean="0"/>
              <a:pPr/>
              <a:t>89</a:t>
            </a:fld>
            <a:endParaRPr lang="en-US" altLang="zh-CN"/>
          </a:p>
        </p:txBody>
      </p:sp>
    </p:spTree>
    <p:extLst>
      <p:ext uri="{BB962C8B-B14F-4D97-AF65-F5344CB8AC3E}">
        <p14:creationId xmlns:p14="http://schemas.microsoft.com/office/powerpoint/2010/main" val="10595602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91</a:t>
            </a:fld>
            <a:endParaRPr lang="zh-CN" altLang="en-US"/>
          </a:p>
        </p:txBody>
      </p:sp>
    </p:spTree>
    <p:extLst>
      <p:ext uri="{BB962C8B-B14F-4D97-AF65-F5344CB8AC3E}">
        <p14:creationId xmlns:p14="http://schemas.microsoft.com/office/powerpoint/2010/main" val="91881999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92</a:t>
            </a:fld>
            <a:endParaRPr lang="zh-CN" altLang="en-US"/>
          </a:p>
        </p:txBody>
      </p:sp>
    </p:spTree>
    <p:extLst>
      <p:ext uri="{BB962C8B-B14F-4D97-AF65-F5344CB8AC3E}">
        <p14:creationId xmlns:p14="http://schemas.microsoft.com/office/powerpoint/2010/main" val="210723853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93</a:t>
            </a:fld>
            <a:endParaRPr lang="zh-CN" altLang="en-US"/>
          </a:p>
        </p:txBody>
      </p:sp>
    </p:spTree>
    <p:extLst>
      <p:ext uri="{BB962C8B-B14F-4D97-AF65-F5344CB8AC3E}">
        <p14:creationId xmlns:p14="http://schemas.microsoft.com/office/powerpoint/2010/main" val="229743131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95</a:t>
            </a:fld>
            <a:endParaRPr lang="zh-CN" altLang="en-US"/>
          </a:p>
        </p:txBody>
      </p:sp>
    </p:spTree>
    <p:extLst>
      <p:ext uri="{BB962C8B-B14F-4D97-AF65-F5344CB8AC3E}">
        <p14:creationId xmlns:p14="http://schemas.microsoft.com/office/powerpoint/2010/main" val="114558303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5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109E3C8-62C4-4CB0-B7E7-8B1B1ED4B8E6}" type="slidenum">
              <a:rPr lang="en-US" altLang="zh-CN" smtClean="0"/>
              <a:pPr/>
              <a:t>96</a:t>
            </a:fld>
            <a:endParaRPr lang="en-US" altLang="zh-CN"/>
          </a:p>
        </p:txBody>
      </p:sp>
    </p:spTree>
    <p:extLst>
      <p:ext uri="{BB962C8B-B14F-4D97-AF65-F5344CB8AC3E}">
        <p14:creationId xmlns:p14="http://schemas.microsoft.com/office/powerpoint/2010/main" val="272675261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97</a:t>
            </a:fld>
            <a:endParaRPr lang="zh-CN" altLang="en-US"/>
          </a:p>
        </p:txBody>
      </p:sp>
    </p:spTree>
    <p:extLst>
      <p:ext uri="{BB962C8B-B14F-4D97-AF65-F5344CB8AC3E}">
        <p14:creationId xmlns:p14="http://schemas.microsoft.com/office/powerpoint/2010/main" val="428134106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98</a:t>
            </a:fld>
            <a:endParaRPr lang="zh-CN" altLang="en-US"/>
          </a:p>
        </p:txBody>
      </p:sp>
    </p:spTree>
    <p:extLst>
      <p:ext uri="{BB962C8B-B14F-4D97-AF65-F5344CB8AC3E}">
        <p14:creationId xmlns:p14="http://schemas.microsoft.com/office/powerpoint/2010/main" val="7480785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b="0" i="0" dirty="0">
              <a:solidFill>
                <a:srgbClr val="242424"/>
              </a:solidFill>
              <a:effectLst/>
              <a:latin typeface="source-serif-pro"/>
            </a:endParaRPr>
          </a:p>
        </p:txBody>
      </p:sp>
      <p:sp>
        <p:nvSpPr>
          <p:cNvPr id="491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CB38414-5992-49BF-A283-4D8B340C25E3}" type="slidenum">
              <a:rPr lang="en-US" altLang="zh-CN" smtClean="0"/>
              <a:pPr/>
              <a:t>99</a:t>
            </a:fld>
            <a:endParaRPr lang="en-US" altLang="zh-CN"/>
          </a:p>
        </p:txBody>
      </p:sp>
    </p:spTree>
    <p:extLst>
      <p:ext uri="{BB962C8B-B14F-4D97-AF65-F5344CB8AC3E}">
        <p14:creationId xmlns:p14="http://schemas.microsoft.com/office/powerpoint/2010/main" val="31947992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491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CB38414-5992-49BF-A283-4D8B340C25E3}" type="slidenum">
              <a:rPr lang="en-US" altLang="zh-CN" smtClean="0"/>
              <a:pPr/>
              <a:t>100</a:t>
            </a:fld>
            <a:endParaRPr lang="en-US" altLang="zh-CN"/>
          </a:p>
        </p:txBody>
      </p:sp>
    </p:spTree>
    <p:extLst>
      <p:ext uri="{BB962C8B-B14F-4D97-AF65-F5344CB8AC3E}">
        <p14:creationId xmlns:p14="http://schemas.microsoft.com/office/powerpoint/2010/main" val="158641398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5154FA5-F265-419C-A643-D09201C5B082}" type="slidenum">
              <a:rPr lang="en-US" altLang="zh-CN" smtClean="0"/>
              <a:pPr/>
              <a:t>101</a:t>
            </a:fld>
            <a:endParaRPr lang="en-US" altLang="zh-CN"/>
          </a:p>
        </p:txBody>
      </p:sp>
    </p:spTree>
    <p:extLst>
      <p:ext uri="{BB962C8B-B14F-4D97-AF65-F5344CB8AC3E}">
        <p14:creationId xmlns:p14="http://schemas.microsoft.com/office/powerpoint/2010/main" val="86896160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5154FA5-F265-419C-A643-D09201C5B082}" type="slidenum">
              <a:rPr lang="en-US" altLang="zh-CN" smtClean="0"/>
              <a:pPr/>
              <a:t>102</a:t>
            </a:fld>
            <a:endParaRPr lang="en-US" altLang="zh-CN"/>
          </a:p>
        </p:txBody>
      </p:sp>
    </p:spTree>
    <p:extLst>
      <p:ext uri="{BB962C8B-B14F-4D97-AF65-F5344CB8AC3E}">
        <p14:creationId xmlns:p14="http://schemas.microsoft.com/office/powerpoint/2010/main" val="134432592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5154FA5-F265-419C-A643-D09201C5B082}" type="slidenum">
              <a:rPr lang="en-US" altLang="zh-CN" smtClean="0"/>
              <a:pPr/>
              <a:t>103</a:t>
            </a:fld>
            <a:endParaRPr lang="en-US" altLang="zh-CN"/>
          </a:p>
        </p:txBody>
      </p:sp>
    </p:spTree>
    <p:extLst>
      <p:ext uri="{BB962C8B-B14F-4D97-AF65-F5344CB8AC3E}">
        <p14:creationId xmlns:p14="http://schemas.microsoft.com/office/powerpoint/2010/main" val="1661286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0CBF4C-D735-E941-A17B-741EBCE309C2}"/>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D7B5A4A-9F19-BA42-849A-6026928D73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39644E7-87AB-8849-948B-15EB8793B60A}"/>
              </a:ext>
            </a:extLst>
          </p:cNvPr>
          <p:cNvSpPr>
            <a:spLocks noGrp="1"/>
          </p:cNvSpPr>
          <p:nvPr>
            <p:ph type="dt" sz="half" idx="10"/>
          </p:nvPr>
        </p:nvSpPr>
        <p:spPr/>
        <p:txBody>
          <a:bodyPr/>
          <a:lstStyle/>
          <a:p>
            <a:fld id="{5B838D7F-C601-A04E-9991-AEFB0E3EB3A7}" type="datetimeFigureOut">
              <a:rPr kumimoji="1" lang="zh-CN" altLang="en-US" smtClean="0"/>
              <a:t>2026/9/20</a:t>
            </a:fld>
            <a:endParaRPr kumimoji="1" lang="zh-CN" altLang="en-US"/>
          </a:p>
        </p:txBody>
      </p:sp>
      <p:sp>
        <p:nvSpPr>
          <p:cNvPr id="5" name="页脚占位符 4">
            <a:extLst>
              <a:ext uri="{FF2B5EF4-FFF2-40B4-BE49-F238E27FC236}">
                <a16:creationId xmlns:a16="http://schemas.microsoft.com/office/drawing/2014/main" id="{0E1FDA20-3861-C044-A46B-2A9E163FDA9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E217B70-F626-F949-8FA5-A76C5D971EF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902147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565803-2FF9-F74D-AFBB-30C0C5FEE9B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E576164-02C0-A940-B772-F52C020E4B90}"/>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AD28B46-89FD-1844-984E-0AC8E374E55E}"/>
              </a:ext>
            </a:extLst>
          </p:cNvPr>
          <p:cNvSpPr>
            <a:spLocks noGrp="1"/>
          </p:cNvSpPr>
          <p:nvPr>
            <p:ph type="dt" sz="half" idx="10"/>
          </p:nvPr>
        </p:nvSpPr>
        <p:spPr/>
        <p:txBody>
          <a:bodyPr/>
          <a:lstStyle/>
          <a:p>
            <a:fld id="{5B838D7F-C601-A04E-9991-AEFB0E3EB3A7}" type="datetimeFigureOut">
              <a:rPr kumimoji="1" lang="zh-CN" altLang="en-US" smtClean="0"/>
              <a:t>2026/9/20</a:t>
            </a:fld>
            <a:endParaRPr kumimoji="1" lang="zh-CN" altLang="en-US"/>
          </a:p>
        </p:txBody>
      </p:sp>
      <p:sp>
        <p:nvSpPr>
          <p:cNvPr id="5" name="页脚占位符 4">
            <a:extLst>
              <a:ext uri="{FF2B5EF4-FFF2-40B4-BE49-F238E27FC236}">
                <a16:creationId xmlns:a16="http://schemas.microsoft.com/office/drawing/2014/main" id="{90302324-14E0-E445-9F49-D6C6761D004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2572F2F-5AB3-4D43-85C4-243A6DCCC4D5}"/>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780330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8DBAE4-D610-B540-ABDE-D44D4AE457CF}"/>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8467FCBF-E176-1541-A09A-4238A8BE59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D98E8CDB-44EB-414F-B63E-DA1E14B1E77F}"/>
              </a:ext>
            </a:extLst>
          </p:cNvPr>
          <p:cNvSpPr>
            <a:spLocks noGrp="1"/>
          </p:cNvSpPr>
          <p:nvPr>
            <p:ph type="dt" sz="half" idx="10"/>
          </p:nvPr>
        </p:nvSpPr>
        <p:spPr/>
        <p:txBody>
          <a:bodyPr/>
          <a:lstStyle/>
          <a:p>
            <a:fld id="{5B838D7F-C601-A04E-9991-AEFB0E3EB3A7}" type="datetimeFigureOut">
              <a:rPr kumimoji="1" lang="zh-CN" altLang="en-US" smtClean="0"/>
              <a:t>2026/9/20</a:t>
            </a:fld>
            <a:endParaRPr kumimoji="1" lang="zh-CN" altLang="en-US"/>
          </a:p>
        </p:txBody>
      </p:sp>
      <p:sp>
        <p:nvSpPr>
          <p:cNvPr id="5" name="页脚占位符 4">
            <a:extLst>
              <a:ext uri="{FF2B5EF4-FFF2-40B4-BE49-F238E27FC236}">
                <a16:creationId xmlns:a16="http://schemas.microsoft.com/office/drawing/2014/main" id="{9A5C5244-77E3-2043-AF56-264E96CFE1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68B8585-0792-614C-A697-2989A0E1BB9D}"/>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4029258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872290-43A4-3648-AC80-18422BF89033}"/>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41E57C1-7EE7-C843-90A3-78DB927BE98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A7D2E616-3C99-5A46-9335-00FB157EA3A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65F55B77-B9E8-6549-9FC1-065E393B2E56}"/>
              </a:ext>
            </a:extLst>
          </p:cNvPr>
          <p:cNvSpPr>
            <a:spLocks noGrp="1"/>
          </p:cNvSpPr>
          <p:nvPr>
            <p:ph type="dt" sz="half" idx="10"/>
          </p:nvPr>
        </p:nvSpPr>
        <p:spPr/>
        <p:txBody>
          <a:bodyPr/>
          <a:lstStyle/>
          <a:p>
            <a:fld id="{5B838D7F-C601-A04E-9991-AEFB0E3EB3A7}" type="datetimeFigureOut">
              <a:rPr kumimoji="1" lang="zh-CN" altLang="en-US" smtClean="0"/>
              <a:t>2026/9/20</a:t>
            </a:fld>
            <a:endParaRPr kumimoji="1" lang="zh-CN" altLang="en-US"/>
          </a:p>
        </p:txBody>
      </p:sp>
      <p:sp>
        <p:nvSpPr>
          <p:cNvPr id="6" name="页脚占位符 5">
            <a:extLst>
              <a:ext uri="{FF2B5EF4-FFF2-40B4-BE49-F238E27FC236}">
                <a16:creationId xmlns:a16="http://schemas.microsoft.com/office/drawing/2014/main" id="{A7D839E9-7E15-DE43-BEE5-B6BE1F695A1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3A19A144-0A60-A745-8C9B-B087006ADF84}"/>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3033806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B2707F-7D47-2644-9B65-EF249EA00C48}"/>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77F1D95-C617-C244-8DA6-1390B4226F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B710303A-3F2B-3A49-A82A-89B83A504BA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4A65F01F-59CC-754E-BF58-C41163CB19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8F4AD7A-9F7F-984B-8E76-252F5C5F8EB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A2E15E9-520F-1348-8894-028648AEAA80}"/>
              </a:ext>
            </a:extLst>
          </p:cNvPr>
          <p:cNvSpPr>
            <a:spLocks noGrp="1"/>
          </p:cNvSpPr>
          <p:nvPr>
            <p:ph type="dt" sz="half" idx="10"/>
          </p:nvPr>
        </p:nvSpPr>
        <p:spPr/>
        <p:txBody>
          <a:bodyPr/>
          <a:lstStyle/>
          <a:p>
            <a:fld id="{5B838D7F-C601-A04E-9991-AEFB0E3EB3A7}" type="datetimeFigureOut">
              <a:rPr kumimoji="1" lang="zh-CN" altLang="en-US" smtClean="0"/>
              <a:t>2026/9/20</a:t>
            </a:fld>
            <a:endParaRPr kumimoji="1" lang="zh-CN" altLang="en-US"/>
          </a:p>
        </p:txBody>
      </p:sp>
      <p:sp>
        <p:nvSpPr>
          <p:cNvPr id="8" name="页脚占位符 7">
            <a:extLst>
              <a:ext uri="{FF2B5EF4-FFF2-40B4-BE49-F238E27FC236}">
                <a16:creationId xmlns:a16="http://schemas.microsoft.com/office/drawing/2014/main" id="{85DF0A15-0D35-0345-B123-F093E260D816}"/>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F0D7BE0-1CFE-9341-8E4D-EF84392181B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018702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6548A7-789D-8544-84AE-A78D499D3C94}"/>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50081A3-22A1-924C-8933-2E70E194ADF3}"/>
              </a:ext>
            </a:extLst>
          </p:cNvPr>
          <p:cNvSpPr>
            <a:spLocks noGrp="1"/>
          </p:cNvSpPr>
          <p:nvPr>
            <p:ph type="dt" sz="half" idx="10"/>
          </p:nvPr>
        </p:nvSpPr>
        <p:spPr/>
        <p:txBody>
          <a:bodyPr/>
          <a:lstStyle/>
          <a:p>
            <a:fld id="{530820CF-B880-4189-942D-D702A7CBA730}" type="datetimeFigureOut">
              <a:rPr lang="zh-CN" altLang="en-US" smtClean="0"/>
              <a:t>2026/9/20</a:t>
            </a:fld>
            <a:endParaRPr lang="zh-CN" altLang="en-US"/>
          </a:p>
        </p:txBody>
      </p:sp>
      <p:sp>
        <p:nvSpPr>
          <p:cNvPr id="4" name="页脚占位符 3">
            <a:extLst>
              <a:ext uri="{FF2B5EF4-FFF2-40B4-BE49-F238E27FC236}">
                <a16:creationId xmlns:a16="http://schemas.microsoft.com/office/drawing/2014/main" id="{6AF810A1-4B83-FA4B-9399-EE573CBD8A7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D5E9EB4-37A0-D541-BF98-2D94FF8967E6}"/>
              </a:ext>
            </a:extLst>
          </p:cNvPr>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964930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6D80BE1-CEAD-8942-94F6-E79BDB072CD5}"/>
              </a:ext>
            </a:extLst>
          </p:cNvPr>
          <p:cNvSpPr>
            <a:spLocks noGrp="1"/>
          </p:cNvSpPr>
          <p:nvPr>
            <p:ph type="dt" sz="half" idx="10"/>
          </p:nvPr>
        </p:nvSpPr>
        <p:spPr/>
        <p:txBody>
          <a:bodyPr/>
          <a:lstStyle/>
          <a:p>
            <a:fld id="{530820CF-B880-4189-942D-D702A7CBA730}" type="datetimeFigureOut">
              <a:rPr lang="zh-CN" altLang="en-US" smtClean="0"/>
              <a:t>2026/9/20</a:t>
            </a:fld>
            <a:endParaRPr lang="zh-CN" altLang="en-US"/>
          </a:p>
        </p:txBody>
      </p:sp>
      <p:sp>
        <p:nvSpPr>
          <p:cNvPr id="3" name="页脚占位符 2">
            <a:extLst>
              <a:ext uri="{FF2B5EF4-FFF2-40B4-BE49-F238E27FC236}">
                <a16:creationId xmlns:a16="http://schemas.microsoft.com/office/drawing/2014/main" id="{5EBDFB2A-3BB3-804D-8646-A2A0D2C83E1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A11A5F4-AA57-1144-A623-3A0F48C6FAF4}"/>
              </a:ext>
            </a:extLst>
          </p:cNvPr>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399893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5CD430-48C7-D347-A4F8-BC502101CFD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5058B230-2E26-A540-9267-69132C3786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06CCB6C8-AAD8-2B46-9F30-B09E6EFB35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0FCEDB8-AFE5-A345-A665-E1E7981598C6}"/>
              </a:ext>
            </a:extLst>
          </p:cNvPr>
          <p:cNvSpPr>
            <a:spLocks noGrp="1"/>
          </p:cNvSpPr>
          <p:nvPr>
            <p:ph type="dt" sz="half" idx="10"/>
          </p:nvPr>
        </p:nvSpPr>
        <p:spPr/>
        <p:txBody>
          <a:bodyPr/>
          <a:lstStyle/>
          <a:p>
            <a:fld id="{5B838D7F-C601-A04E-9991-AEFB0E3EB3A7}" type="datetimeFigureOut">
              <a:rPr kumimoji="1" lang="zh-CN" altLang="en-US" smtClean="0"/>
              <a:t>2026/9/20</a:t>
            </a:fld>
            <a:endParaRPr kumimoji="1" lang="zh-CN" altLang="en-US"/>
          </a:p>
        </p:txBody>
      </p:sp>
      <p:sp>
        <p:nvSpPr>
          <p:cNvPr id="6" name="页脚占位符 5">
            <a:extLst>
              <a:ext uri="{FF2B5EF4-FFF2-40B4-BE49-F238E27FC236}">
                <a16:creationId xmlns:a16="http://schemas.microsoft.com/office/drawing/2014/main" id="{F0E3ABEF-10D0-374C-93EB-2235F7AFF32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3AE97A9-5F0E-6546-B484-887F216EA6FB}"/>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761568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19DDF1-6528-5547-9552-E2CE95B6744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A0C3C6A0-63C8-D24B-BA6B-8B5936B4E0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4DBBD2D2-0875-7040-85B6-752DC5A1CC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2ED047DE-5649-7C4A-A46F-83D8DFC46804}"/>
              </a:ext>
            </a:extLst>
          </p:cNvPr>
          <p:cNvSpPr>
            <a:spLocks noGrp="1"/>
          </p:cNvSpPr>
          <p:nvPr>
            <p:ph type="dt" sz="half" idx="10"/>
          </p:nvPr>
        </p:nvSpPr>
        <p:spPr/>
        <p:txBody>
          <a:bodyPr/>
          <a:lstStyle/>
          <a:p>
            <a:fld id="{5B838D7F-C601-A04E-9991-AEFB0E3EB3A7}" type="datetimeFigureOut">
              <a:rPr kumimoji="1" lang="zh-CN" altLang="en-US" smtClean="0"/>
              <a:t>2026/9/20</a:t>
            </a:fld>
            <a:endParaRPr kumimoji="1" lang="zh-CN" altLang="en-US"/>
          </a:p>
        </p:txBody>
      </p:sp>
      <p:sp>
        <p:nvSpPr>
          <p:cNvPr id="6" name="页脚占位符 5">
            <a:extLst>
              <a:ext uri="{FF2B5EF4-FFF2-40B4-BE49-F238E27FC236}">
                <a16:creationId xmlns:a16="http://schemas.microsoft.com/office/drawing/2014/main" id="{AF84E58D-D5D4-EC46-8805-6FDDCB0BEC2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4F931D1-B2B5-8F47-9ED7-53BA9E928CA5}"/>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4187134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C91E90-FC3B-034A-B437-D9FFBD143627}"/>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574E6FE-CC0E-0042-A822-094F072E55F3}"/>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E5AAFD1-1432-6D4B-BE5F-06F9963DBEA2}"/>
              </a:ext>
            </a:extLst>
          </p:cNvPr>
          <p:cNvSpPr>
            <a:spLocks noGrp="1"/>
          </p:cNvSpPr>
          <p:nvPr>
            <p:ph type="dt" sz="half" idx="10"/>
          </p:nvPr>
        </p:nvSpPr>
        <p:spPr/>
        <p:txBody>
          <a:bodyPr/>
          <a:lstStyle/>
          <a:p>
            <a:fld id="{5B838D7F-C601-A04E-9991-AEFB0E3EB3A7}" type="datetimeFigureOut">
              <a:rPr kumimoji="1" lang="zh-CN" altLang="en-US" smtClean="0"/>
              <a:t>2026/9/20</a:t>
            </a:fld>
            <a:endParaRPr kumimoji="1" lang="zh-CN" altLang="en-US"/>
          </a:p>
        </p:txBody>
      </p:sp>
      <p:sp>
        <p:nvSpPr>
          <p:cNvPr id="5" name="页脚占位符 4">
            <a:extLst>
              <a:ext uri="{FF2B5EF4-FFF2-40B4-BE49-F238E27FC236}">
                <a16:creationId xmlns:a16="http://schemas.microsoft.com/office/drawing/2014/main" id="{32E1A01D-0D9D-DC43-90B4-1485A8A59DD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3E9B493-09AA-2549-9E9F-5C118F03B84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3668009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286FB75-5429-C74A-B2CC-2A90216190D7}"/>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6CDCBF5-4968-1B40-9AF0-DE28C90ABFC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BEF470C-E74E-DC4B-9B62-1A0DA608F7B3}"/>
              </a:ext>
            </a:extLst>
          </p:cNvPr>
          <p:cNvSpPr>
            <a:spLocks noGrp="1"/>
          </p:cNvSpPr>
          <p:nvPr>
            <p:ph type="dt" sz="half" idx="10"/>
          </p:nvPr>
        </p:nvSpPr>
        <p:spPr/>
        <p:txBody>
          <a:bodyPr/>
          <a:lstStyle/>
          <a:p>
            <a:fld id="{5B838D7F-C601-A04E-9991-AEFB0E3EB3A7}" type="datetimeFigureOut">
              <a:rPr kumimoji="1" lang="zh-CN" altLang="en-US" smtClean="0"/>
              <a:t>2026/9/20</a:t>
            </a:fld>
            <a:endParaRPr kumimoji="1" lang="zh-CN" altLang="en-US"/>
          </a:p>
        </p:txBody>
      </p:sp>
      <p:sp>
        <p:nvSpPr>
          <p:cNvPr id="5" name="页脚占位符 4">
            <a:extLst>
              <a:ext uri="{FF2B5EF4-FFF2-40B4-BE49-F238E27FC236}">
                <a16:creationId xmlns:a16="http://schemas.microsoft.com/office/drawing/2014/main" id="{F7CB4314-821B-2043-97D6-5E931699E77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691BE01-ED78-E140-91C8-BB0C23841700}"/>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127452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41160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p:nvPr>
        </p:nvSpPr>
        <p:spPr>
          <a:xfrm>
            <a:off x="1841500" y="1990725"/>
            <a:ext cx="9753601" cy="4019550"/>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0"/>
          </p:nvPr>
        </p:nvSpPr>
        <p:spPr>
          <a:ln/>
        </p:spPr>
        <p:txBody>
          <a:bodyPr/>
          <a:lstStyle>
            <a:lvl1pPr>
              <a:defRPr/>
            </a:lvl1pPr>
          </a:lstStyle>
          <a:p>
            <a:r>
              <a:rPr lang="en-US" altLang="zh-CN"/>
              <a:t>Computer Networks, Chapter 1 Introduction</a:t>
            </a:r>
            <a:endParaRPr lang="en-US" altLang="zh-CN" dirty="0"/>
          </a:p>
        </p:txBody>
      </p:sp>
    </p:spTree>
    <p:extLst>
      <p:ext uri="{BB962C8B-B14F-4D97-AF65-F5344CB8AC3E}">
        <p14:creationId xmlns:p14="http://schemas.microsoft.com/office/powerpoint/2010/main" val="31389245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p:nvPr>
        </p:nvSpPr>
        <p:spPr>
          <a:xfrm>
            <a:off x="1219199" y="1610714"/>
            <a:ext cx="10386952" cy="4600081"/>
          </a:xfrm>
        </p:spPr>
        <p:txBody>
          <a:bodyPr/>
          <a:lstStyle>
            <a:lvl1pP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0"/>
          </p:nvPr>
        </p:nvSpPr>
        <p:spPr>
          <a:ln/>
        </p:spPr>
        <p:txBody>
          <a:bodyPr/>
          <a:lstStyle>
            <a:lvl1pPr>
              <a:defRPr/>
            </a:lvl1pPr>
          </a:lstStyle>
          <a:p>
            <a:r>
              <a:rPr lang="en-US" altLang="zh-CN"/>
              <a:t>Computer Networks, Chapter 1 Introduction</a:t>
            </a:r>
            <a:endParaRPr lang="en-US" altLang="zh-CN" dirty="0"/>
          </a:p>
        </p:txBody>
      </p:sp>
    </p:spTree>
    <p:extLst>
      <p:ext uri="{BB962C8B-B14F-4D97-AF65-F5344CB8AC3E}">
        <p14:creationId xmlns:p14="http://schemas.microsoft.com/office/powerpoint/2010/main" val="31827136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p:nvPr>
        </p:nvSpPr>
        <p:spPr>
          <a:xfrm>
            <a:off x="609600" y="1143001"/>
            <a:ext cx="10972800" cy="1123950"/>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p:cNvSpPr>
            <a:spLocks noGrp="1"/>
          </p:cNvSpPr>
          <p:nvPr>
            <p:ph idx="11"/>
          </p:nvPr>
        </p:nvSpPr>
        <p:spPr>
          <a:xfrm>
            <a:off x="609600" y="2266950"/>
            <a:ext cx="5486400" cy="3743325"/>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2"/>
          </p:nvPr>
        </p:nvSpPr>
        <p:spPr>
          <a:ln/>
        </p:spPr>
        <p:txBody>
          <a:bodyPr/>
          <a:lstStyle>
            <a:lvl1pPr>
              <a:defRPr/>
            </a:lvl1pPr>
          </a:lstStyle>
          <a:p>
            <a:r>
              <a:rPr lang="en-US" altLang="zh-CN"/>
              <a:t>Computer Networks, Chapter 1 Introduction</a:t>
            </a:r>
            <a:endParaRPr lang="en-US" altLang="zh-CN" dirty="0"/>
          </a:p>
        </p:txBody>
      </p:sp>
    </p:spTree>
    <p:extLst>
      <p:ext uri="{BB962C8B-B14F-4D97-AF65-F5344CB8AC3E}">
        <p14:creationId xmlns:p14="http://schemas.microsoft.com/office/powerpoint/2010/main" val="2982913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08000" y="152400"/>
            <a:ext cx="11176000" cy="5715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262">
            <a:extLst>
              <a:ext uri="{FF2B5EF4-FFF2-40B4-BE49-F238E27FC236}">
                <a16:creationId xmlns:a16="http://schemas.microsoft.com/office/drawing/2014/main" id="{F7E57D52-5E09-45A4-B21F-E0D63B62520C}"/>
              </a:ext>
            </a:extLst>
          </p:cNvPr>
          <p:cNvSpPr>
            <a:spLocks noGrp="1" noChangeArrowheads="1"/>
          </p:cNvSpPr>
          <p:nvPr>
            <p:ph type="sldNum" sz="quarter" idx="10"/>
          </p:nvPr>
        </p:nvSpPr>
        <p:spPr/>
        <p:txBody>
          <a:bodyPr/>
          <a:lstStyle>
            <a:lvl1pPr>
              <a:defRPr/>
            </a:lvl1pPr>
          </a:lstStyle>
          <a:p>
            <a:fld id="{56B93561-A260-49BF-B4DC-7283F4E1702F}" type="slidenum">
              <a:rPr lang="zh-CN" altLang="en-US"/>
              <a:pPr/>
              <a:t>‹#›</a:t>
            </a:fld>
            <a:endParaRPr lang="zh-CN" altLang="en-US"/>
          </a:p>
        </p:txBody>
      </p:sp>
    </p:spTree>
    <p:extLst>
      <p:ext uri="{BB962C8B-B14F-4D97-AF65-F5344CB8AC3E}">
        <p14:creationId xmlns:p14="http://schemas.microsoft.com/office/powerpoint/2010/main" val="2508945996"/>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59176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0D41A14-93F9-024E-A2F5-F0C0D22D36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437A724-FAC4-FD4B-8C86-BD116A2878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47E5E95-9484-8647-B6C3-239FCFDC4F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838D7F-C601-A04E-9991-AEFB0E3EB3A7}" type="datetimeFigureOut">
              <a:rPr kumimoji="1" lang="zh-CN" altLang="en-US" smtClean="0"/>
              <a:t>2026/9/20</a:t>
            </a:fld>
            <a:endParaRPr kumimoji="1" lang="zh-CN" altLang="en-US"/>
          </a:p>
        </p:txBody>
      </p:sp>
      <p:sp>
        <p:nvSpPr>
          <p:cNvPr id="5" name="页脚占位符 4">
            <a:extLst>
              <a:ext uri="{FF2B5EF4-FFF2-40B4-BE49-F238E27FC236}">
                <a16:creationId xmlns:a16="http://schemas.microsoft.com/office/drawing/2014/main" id="{0EE61DC8-15CA-FE4A-BBD8-2B73EA1B78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36121EA1-4A25-F44F-B5A6-D295DA0AF7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EE85A6-C9FF-3B43-91E6-FBF0C10872E9}" type="slidenum">
              <a:rPr kumimoji="1" lang="zh-CN" altLang="en-US" smtClean="0"/>
              <a:t>‹#›</a:t>
            </a:fld>
            <a:endParaRPr kumimoji="1" lang="zh-CN" altLang="en-US"/>
          </a:p>
        </p:txBody>
      </p:sp>
      <p:cxnSp>
        <p:nvCxnSpPr>
          <p:cNvPr id="11" name="直接连接符 30">
            <a:extLst>
              <a:ext uri="{FF2B5EF4-FFF2-40B4-BE49-F238E27FC236}">
                <a16:creationId xmlns:a16="http://schemas.microsoft.com/office/drawing/2014/main" id="{81181929-B1D0-F547-819B-515184CA37AC}"/>
              </a:ext>
            </a:extLst>
          </p:cNvPr>
          <p:cNvCxnSpPr>
            <a:cxnSpLocks/>
          </p:cNvCxnSpPr>
          <p:nvPr userDrawn="1"/>
        </p:nvCxnSpPr>
        <p:spPr>
          <a:xfrm>
            <a:off x="335360" y="836712"/>
            <a:ext cx="1149145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31519"/>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7" r:id="rId13"/>
    <p:sldLayoutId id="2147483698" r:id="rId14"/>
    <p:sldLayoutId id="2147483699" r:id="rId15"/>
    <p:sldLayoutId id="2147483700"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0"/>
          </a:schemeClr>
        </a:solidFill>
        <a:effectLst/>
      </p:bgPr>
    </p:bg>
    <p:spTree>
      <p:nvGrpSpPr>
        <p:cNvPr id="1" name=""/>
        <p:cNvGrpSpPr/>
        <p:nvPr/>
      </p:nvGrpSpPr>
      <p:grpSpPr>
        <a:xfrm>
          <a:off x="0" y="0"/>
          <a:ext cx="0" cy="0"/>
          <a:chOff x="0" y="0"/>
          <a:chExt cx="0" cy="0"/>
        </a:xfrm>
      </p:grpSpPr>
      <p:sp>
        <p:nvSpPr>
          <p:cNvPr id="6" name="矩形 5"/>
          <p:cNvSpPr/>
          <p:nvPr userDrawn="1"/>
        </p:nvSpPr>
        <p:spPr bwMode="auto">
          <a:xfrm>
            <a:off x="2" y="0"/>
            <a:ext cx="12192000" cy="6858000"/>
          </a:xfrm>
          <a:prstGeom prst="rect">
            <a:avLst/>
          </a:prstGeom>
          <a:solidFill>
            <a:schemeClr val="bg1">
              <a:lumMod val="95000"/>
            </a:scheme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9728" tIns="54864" rIns="109728" bIns="54864" numCol="1" rtlCol="0" anchor="t" anchorCtr="0" compatLnSpc="1">
            <a:prstTxWarp prst="textNoShape">
              <a:avLst/>
            </a:prstTxWarp>
          </a:bodyPr>
          <a:lstStyle/>
          <a:p>
            <a:pPr>
              <a:buClr>
                <a:srgbClr val="CC9900"/>
              </a:buClr>
              <a:buFont typeface="Wingdings" pitchFamily="2" charset="2"/>
              <a:buChar char="n"/>
            </a:pPr>
            <a:endParaRPr lang="zh-CN" altLang="en-US" sz="2160" b="0">
              <a:solidFill>
                <a:srgbClr val="000000"/>
              </a:solidFill>
              <a:latin typeface="Arial" charset="0"/>
              <a:ea typeface="宋体" charset="-122"/>
            </a:endParaRPr>
          </a:p>
        </p:txBody>
      </p:sp>
    </p:spTree>
    <p:extLst>
      <p:ext uri="{BB962C8B-B14F-4D97-AF65-F5344CB8AC3E}">
        <p14:creationId xmlns:p14="http://schemas.microsoft.com/office/powerpoint/2010/main" val="928677723"/>
      </p:ext>
    </p:extLst>
  </p:cSld>
  <p:clrMap bg1="lt1" tx1="dk1" bg2="lt2" tx2="dk2" accent1="accent1" accent2="accent2" accent3="accent3" accent4="accent4" accent5="accent5" accent6="accent6" hlink="hlink" folHlink="folHlink"/>
  <p:sldLayoutIdLst>
    <p:sldLayoutId id="2147483696" r:id="rId1"/>
  </p:sldLayoutIdLst>
  <p:transition>
    <p:fade/>
  </p:transition>
  <p:txStyles>
    <p:titleStyle>
      <a:lvl1pPr algn="ctr" defTabSz="961961" rtl="0" eaLnBrk="0" fontAlgn="base" hangingPunct="0">
        <a:spcBef>
          <a:spcPct val="0"/>
        </a:spcBef>
        <a:spcAft>
          <a:spcPct val="0"/>
        </a:spcAft>
        <a:defRPr sz="4560">
          <a:solidFill>
            <a:schemeClr val="tx2"/>
          </a:solidFill>
          <a:latin typeface="+mj-lt"/>
          <a:ea typeface="+mj-ea"/>
          <a:cs typeface="+mj-cs"/>
        </a:defRPr>
      </a:lvl1pPr>
      <a:lvl2pPr algn="ctr" defTabSz="961961" rtl="0" eaLnBrk="0" fontAlgn="base" hangingPunct="0">
        <a:spcBef>
          <a:spcPct val="0"/>
        </a:spcBef>
        <a:spcAft>
          <a:spcPct val="0"/>
        </a:spcAft>
        <a:defRPr sz="4560">
          <a:solidFill>
            <a:schemeClr val="tx2"/>
          </a:solidFill>
          <a:latin typeface="Arial" charset="0"/>
          <a:ea typeface="宋体" pitchFamily="2" charset="-122"/>
        </a:defRPr>
      </a:lvl2pPr>
      <a:lvl3pPr algn="ctr" defTabSz="961961" rtl="0" eaLnBrk="0" fontAlgn="base" hangingPunct="0">
        <a:spcBef>
          <a:spcPct val="0"/>
        </a:spcBef>
        <a:spcAft>
          <a:spcPct val="0"/>
        </a:spcAft>
        <a:defRPr sz="4560">
          <a:solidFill>
            <a:schemeClr val="tx2"/>
          </a:solidFill>
          <a:latin typeface="Arial" charset="0"/>
          <a:ea typeface="宋体" pitchFamily="2" charset="-122"/>
        </a:defRPr>
      </a:lvl3pPr>
      <a:lvl4pPr algn="ctr" defTabSz="961961" rtl="0" eaLnBrk="0" fontAlgn="base" hangingPunct="0">
        <a:spcBef>
          <a:spcPct val="0"/>
        </a:spcBef>
        <a:spcAft>
          <a:spcPct val="0"/>
        </a:spcAft>
        <a:defRPr sz="4560">
          <a:solidFill>
            <a:schemeClr val="tx2"/>
          </a:solidFill>
          <a:latin typeface="Arial" charset="0"/>
          <a:ea typeface="宋体" pitchFamily="2" charset="-122"/>
        </a:defRPr>
      </a:lvl4pPr>
      <a:lvl5pPr algn="ctr" defTabSz="961961" rtl="0" eaLnBrk="0" fontAlgn="base" hangingPunct="0">
        <a:spcBef>
          <a:spcPct val="0"/>
        </a:spcBef>
        <a:spcAft>
          <a:spcPct val="0"/>
        </a:spcAft>
        <a:defRPr sz="4560">
          <a:solidFill>
            <a:schemeClr val="tx2"/>
          </a:solidFill>
          <a:latin typeface="Arial" charset="0"/>
          <a:ea typeface="宋体" pitchFamily="2" charset="-122"/>
        </a:defRPr>
      </a:lvl5pPr>
      <a:lvl6pPr marL="548604" algn="ctr" defTabSz="961961" rtl="0" fontAlgn="base">
        <a:spcBef>
          <a:spcPct val="0"/>
        </a:spcBef>
        <a:spcAft>
          <a:spcPct val="0"/>
        </a:spcAft>
        <a:defRPr sz="4560">
          <a:solidFill>
            <a:schemeClr val="tx2"/>
          </a:solidFill>
          <a:latin typeface="Arial" charset="0"/>
          <a:ea typeface="宋体" pitchFamily="2" charset="-122"/>
        </a:defRPr>
      </a:lvl6pPr>
      <a:lvl7pPr marL="1097206" algn="ctr" defTabSz="961961" rtl="0" fontAlgn="base">
        <a:spcBef>
          <a:spcPct val="0"/>
        </a:spcBef>
        <a:spcAft>
          <a:spcPct val="0"/>
        </a:spcAft>
        <a:defRPr sz="4560">
          <a:solidFill>
            <a:schemeClr val="tx2"/>
          </a:solidFill>
          <a:latin typeface="Arial" charset="0"/>
          <a:ea typeface="宋体" pitchFamily="2" charset="-122"/>
        </a:defRPr>
      </a:lvl7pPr>
      <a:lvl8pPr marL="1645811" algn="ctr" defTabSz="961961" rtl="0" fontAlgn="base">
        <a:spcBef>
          <a:spcPct val="0"/>
        </a:spcBef>
        <a:spcAft>
          <a:spcPct val="0"/>
        </a:spcAft>
        <a:defRPr sz="4560">
          <a:solidFill>
            <a:schemeClr val="tx2"/>
          </a:solidFill>
          <a:latin typeface="Arial" charset="0"/>
          <a:ea typeface="宋体" pitchFamily="2" charset="-122"/>
        </a:defRPr>
      </a:lvl8pPr>
      <a:lvl9pPr marL="2194414" algn="ctr" defTabSz="961961" rtl="0" fontAlgn="base">
        <a:spcBef>
          <a:spcPct val="0"/>
        </a:spcBef>
        <a:spcAft>
          <a:spcPct val="0"/>
        </a:spcAft>
        <a:defRPr sz="4560">
          <a:solidFill>
            <a:schemeClr val="tx2"/>
          </a:solidFill>
          <a:latin typeface="Arial" charset="0"/>
          <a:ea typeface="宋体" pitchFamily="2" charset="-122"/>
        </a:defRPr>
      </a:lvl9pPr>
    </p:titleStyle>
    <p:bodyStyle>
      <a:lvl1pPr marL="360022" indent="-360022" algn="l" defTabSz="961961" rtl="0" eaLnBrk="0" fontAlgn="base" hangingPunct="0">
        <a:spcBef>
          <a:spcPct val="20000"/>
        </a:spcBef>
        <a:spcAft>
          <a:spcPct val="0"/>
        </a:spcAft>
        <a:buChar char="•"/>
        <a:defRPr sz="3360">
          <a:solidFill>
            <a:schemeClr val="tx1"/>
          </a:solidFill>
          <a:latin typeface="+mn-lt"/>
          <a:ea typeface="+mn-ea"/>
          <a:cs typeface="+mn-cs"/>
        </a:defRPr>
      </a:lvl1pPr>
      <a:lvl2pPr marL="782904" indent="-300970" algn="l" defTabSz="961961" rtl="0" eaLnBrk="0" fontAlgn="base" hangingPunct="0">
        <a:spcBef>
          <a:spcPct val="20000"/>
        </a:spcBef>
        <a:spcAft>
          <a:spcPct val="0"/>
        </a:spcAft>
        <a:buChar char="–"/>
        <a:defRPr sz="3000">
          <a:solidFill>
            <a:schemeClr val="tx1"/>
          </a:solidFill>
          <a:latin typeface="+mn-lt"/>
          <a:ea typeface="+mn-ea"/>
        </a:defRPr>
      </a:lvl2pPr>
      <a:lvl3pPr marL="1203880" indent="-241920" algn="l" defTabSz="961961" rtl="0" eaLnBrk="0" fontAlgn="base" hangingPunct="0">
        <a:spcBef>
          <a:spcPct val="20000"/>
        </a:spcBef>
        <a:spcAft>
          <a:spcPct val="0"/>
        </a:spcAft>
        <a:buChar char="•"/>
        <a:defRPr sz="2639">
          <a:solidFill>
            <a:schemeClr val="tx1"/>
          </a:solidFill>
          <a:latin typeface="+mn-lt"/>
          <a:ea typeface="+mn-ea"/>
        </a:defRPr>
      </a:lvl3pPr>
      <a:lvl4pPr marL="1682003" indent="-240014" algn="l" defTabSz="961961" rtl="0" eaLnBrk="0" fontAlgn="base" hangingPunct="0">
        <a:spcBef>
          <a:spcPct val="20000"/>
        </a:spcBef>
        <a:spcAft>
          <a:spcPct val="0"/>
        </a:spcAft>
        <a:buChar char="–"/>
        <a:defRPr sz="2040">
          <a:solidFill>
            <a:schemeClr val="tx1"/>
          </a:solidFill>
          <a:latin typeface="+mn-lt"/>
          <a:ea typeface="+mn-ea"/>
        </a:defRPr>
      </a:lvl4pPr>
      <a:lvl5pPr marL="2163935" indent="-241920" algn="l" defTabSz="961961" rtl="0" eaLnBrk="0" fontAlgn="base" hangingPunct="0">
        <a:spcBef>
          <a:spcPct val="20000"/>
        </a:spcBef>
        <a:spcAft>
          <a:spcPct val="0"/>
        </a:spcAft>
        <a:buChar char="»"/>
        <a:defRPr sz="2040">
          <a:solidFill>
            <a:schemeClr val="tx1"/>
          </a:solidFill>
          <a:latin typeface="+mn-lt"/>
          <a:ea typeface="+mn-ea"/>
        </a:defRPr>
      </a:lvl5pPr>
      <a:lvl6pPr marL="2712539" indent="-241920" algn="l" defTabSz="961961" rtl="0" fontAlgn="base">
        <a:spcBef>
          <a:spcPct val="20000"/>
        </a:spcBef>
        <a:spcAft>
          <a:spcPct val="0"/>
        </a:spcAft>
        <a:buChar char="»"/>
        <a:defRPr sz="2040">
          <a:solidFill>
            <a:schemeClr val="tx1"/>
          </a:solidFill>
          <a:latin typeface="+mn-lt"/>
          <a:ea typeface="+mn-ea"/>
        </a:defRPr>
      </a:lvl6pPr>
      <a:lvl7pPr marL="3261140" indent="-241920" algn="l" defTabSz="961961" rtl="0" fontAlgn="base">
        <a:spcBef>
          <a:spcPct val="20000"/>
        </a:spcBef>
        <a:spcAft>
          <a:spcPct val="0"/>
        </a:spcAft>
        <a:buChar char="»"/>
        <a:defRPr sz="2040">
          <a:solidFill>
            <a:schemeClr val="tx1"/>
          </a:solidFill>
          <a:latin typeface="+mn-lt"/>
          <a:ea typeface="+mn-ea"/>
        </a:defRPr>
      </a:lvl7pPr>
      <a:lvl8pPr marL="3809746" indent="-241920" algn="l" defTabSz="961961" rtl="0" fontAlgn="base">
        <a:spcBef>
          <a:spcPct val="20000"/>
        </a:spcBef>
        <a:spcAft>
          <a:spcPct val="0"/>
        </a:spcAft>
        <a:buChar char="»"/>
        <a:defRPr sz="2040">
          <a:solidFill>
            <a:schemeClr val="tx1"/>
          </a:solidFill>
          <a:latin typeface="+mn-lt"/>
          <a:ea typeface="+mn-ea"/>
        </a:defRPr>
      </a:lvl8pPr>
      <a:lvl9pPr marL="4358347" indent="-241920" algn="l" defTabSz="961961" rtl="0" fontAlgn="base">
        <a:spcBef>
          <a:spcPct val="20000"/>
        </a:spcBef>
        <a:spcAft>
          <a:spcPct val="0"/>
        </a:spcAft>
        <a:buChar char="»"/>
        <a:defRPr sz="2040">
          <a:solidFill>
            <a:schemeClr val="tx1"/>
          </a:solidFill>
          <a:latin typeface="+mn-lt"/>
          <a:ea typeface="+mn-ea"/>
        </a:defRPr>
      </a:lvl9pPr>
    </p:bodyStyle>
    <p:otherStyle>
      <a:defPPr>
        <a:defRPr lang="zh-CN"/>
      </a:defPPr>
      <a:lvl1pPr marL="0" algn="l" defTabSz="1097206" rtl="0" eaLnBrk="1" latinLnBrk="0" hangingPunct="1">
        <a:defRPr sz="2160" kern="1200">
          <a:solidFill>
            <a:schemeClr val="tx1"/>
          </a:solidFill>
          <a:latin typeface="+mn-lt"/>
          <a:ea typeface="+mn-ea"/>
          <a:cs typeface="+mn-cs"/>
        </a:defRPr>
      </a:lvl1pPr>
      <a:lvl2pPr marL="548604" algn="l" defTabSz="1097206" rtl="0" eaLnBrk="1" latinLnBrk="0" hangingPunct="1">
        <a:defRPr sz="2160" kern="1200">
          <a:solidFill>
            <a:schemeClr val="tx1"/>
          </a:solidFill>
          <a:latin typeface="+mn-lt"/>
          <a:ea typeface="+mn-ea"/>
          <a:cs typeface="+mn-cs"/>
        </a:defRPr>
      </a:lvl2pPr>
      <a:lvl3pPr marL="1097206" algn="l" defTabSz="1097206" rtl="0" eaLnBrk="1" latinLnBrk="0" hangingPunct="1">
        <a:defRPr sz="2160" kern="1200">
          <a:solidFill>
            <a:schemeClr val="tx1"/>
          </a:solidFill>
          <a:latin typeface="+mn-lt"/>
          <a:ea typeface="+mn-ea"/>
          <a:cs typeface="+mn-cs"/>
        </a:defRPr>
      </a:lvl3pPr>
      <a:lvl4pPr marL="1645811" algn="l" defTabSz="1097206" rtl="0" eaLnBrk="1" latinLnBrk="0" hangingPunct="1">
        <a:defRPr sz="2160" kern="1200">
          <a:solidFill>
            <a:schemeClr val="tx1"/>
          </a:solidFill>
          <a:latin typeface="+mn-lt"/>
          <a:ea typeface="+mn-ea"/>
          <a:cs typeface="+mn-cs"/>
        </a:defRPr>
      </a:lvl4pPr>
      <a:lvl5pPr marL="2194414" algn="l" defTabSz="1097206" rtl="0" eaLnBrk="1" latinLnBrk="0" hangingPunct="1">
        <a:defRPr sz="2160" kern="1200">
          <a:solidFill>
            <a:schemeClr val="tx1"/>
          </a:solidFill>
          <a:latin typeface="+mn-lt"/>
          <a:ea typeface="+mn-ea"/>
          <a:cs typeface="+mn-cs"/>
        </a:defRPr>
      </a:lvl5pPr>
      <a:lvl6pPr marL="2743016" algn="l" defTabSz="1097206" rtl="0" eaLnBrk="1" latinLnBrk="0" hangingPunct="1">
        <a:defRPr sz="2160" kern="1200">
          <a:solidFill>
            <a:schemeClr val="tx1"/>
          </a:solidFill>
          <a:latin typeface="+mn-lt"/>
          <a:ea typeface="+mn-ea"/>
          <a:cs typeface="+mn-cs"/>
        </a:defRPr>
      </a:lvl6pPr>
      <a:lvl7pPr marL="3291619" algn="l" defTabSz="1097206" rtl="0" eaLnBrk="1" latinLnBrk="0" hangingPunct="1">
        <a:defRPr sz="2160" kern="1200">
          <a:solidFill>
            <a:schemeClr val="tx1"/>
          </a:solidFill>
          <a:latin typeface="+mn-lt"/>
          <a:ea typeface="+mn-ea"/>
          <a:cs typeface="+mn-cs"/>
        </a:defRPr>
      </a:lvl7pPr>
      <a:lvl8pPr marL="3840222" algn="l" defTabSz="1097206" rtl="0" eaLnBrk="1" latinLnBrk="0" hangingPunct="1">
        <a:defRPr sz="2160" kern="1200">
          <a:solidFill>
            <a:schemeClr val="tx1"/>
          </a:solidFill>
          <a:latin typeface="+mn-lt"/>
          <a:ea typeface="+mn-ea"/>
          <a:cs typeface="+mn-cs"/>
        </a:defRPr>
      </a:lvl8pPr>
      <a:lvl9pPr marL="4388825" algn="l" defTabSz="1097206"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wang@sei.ecnu.edu.cn"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6.xml"/><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gif"/><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slideLayout" Target="../slideLayouts/slideLayout2.xml"/><Relationship Id="rId4" Type="http://schemas.openxmlformats.org/officeDocument/2006/relationships/image" Target="../media/image42.wmf"/></Relationships>
</file>

<file path=ppt/slides/_rels/slide4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14.xml"/><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14.xml"/><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2.xml"/><Relationship Id="rId1" Type="http://schemas.openxmlformats.org/officeDocument/2006/relationships/slideLayout" Target="../slideLayouts/slideLayout14.xml"/><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6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54.xml"/><Relationship Id="rId1" Type="http://schemas.openxmlformats.org/officeDocument/2006/relationships/slideLayout" Target="../slideLayouts/slideLayout14.xml"/><Relationship Id="rId4" Type="http://schemas.openxmlformats.org/officeDocument/2006/relationships/image" Target="../media/image74.png"/></Relationships>
</file>

<file path=ppt/slides/_rels/slide7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5.xml"/><Relationship Id="rId1" Type="http://schemas.openxmlformats.org/officeDocument/2006/relationships/slideLayout" Target="../slideLayouts/slideLayout14.xml"/><Relationship Id="rId5" Type="http://schemas.openxmlformats.org/officeDocument/2006/relationships/image" Target="../media/image77.png"/><Relationship Id="rId4" Type="http://schemas.openxmlformats.org/officeDocument/2006/relationships/image" Target="../media/image7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8.xml"/><Relationship Id="rId1" Type="http://schemas.openxmlformats.org/officeDocument/2006/relationships/slideLayout" Target="../slideLayouts/slideLayout13.xml"/><Relationship Id="rId4" Type="http://schemas.openxmlformats.org/officeDocument/2006/relationships/image" Target="../media/image85.png"/></Relationships>
</file>

<file path=ppt/slides/_rels/slide8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9.xml"/><Relationship Id="rId1" Type="http://schemas.openxmlformats.org/officeDocument/2006/relationships/slideLayout" Target="../slideLayouts/slideLayout13.xml"/><Relationship Id="rId5" Type="http://schemas.openxmlformats.org/officeDocument/2006/relationships/image" Target="../media/image88.png"/><Relationship Id="rId4" Type="http://schemas.openxmlformats.org/officeDocument/2006/relationships/image" Target="../media/image87.png"/></Relationships>
</file>

<file path=ppt/slides/_rels/slide8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0.xml"/><Relationship Id="rId1" Type="http://schemas.openxmlformats.org/officeDocument/2006/relationships/slideLayout" Target="../slideLayouts/slideLayout13.xml"/><Relationship Id="rId5" Type="http://schemas.openxmlformats.org/officeDocument/2006/relationships/image" Target="../media/image91.png"/><Relationship Id="rId4" Type="http://schemas.openxmlformats.org/officeDocument/2006/relationships/image" Target="../media/image90.png"/></Relationships>
</file>

<file path=ppt/slides/_rels/slide8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5.xml"/><Relationship Id="rId1" Type="http://schemas.openxmlformats.org/officeDocument/2006/relationships/slideLayout" Target="../slideLayouts/slideLayout14.xml"/><Relationship Id="rId5" Type="http://schemas.openxmlformats.org/officeDocument/2006/relationships/image" Target="../media/image97.png"/><Relationship Id="rId4" Type="http://schemas.openxmlformats.org/officeDocument/2006/relationships/image" Target="../media/image96.png"/></Relationships>
</file>

<file path=ppt/slides/_rels/slide8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6.xml"/><Relationship Id="rId1" Type="http://schemas.openxmlformats.org/officeDocument/2006/relationships/slideLayout" Target="../slideLayouts/slideLayout1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4.xml"/></Relationships>
</file>

<file path=ppt/slides/_rels/slide9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68.xml"/><Relationship Id="rId1" Type="http://schemas.openxmlformats.org/officeDocument/2006/relationships/slideLayout" Target="../slideLayouts/slideLayout14.xml"/></Relationships>
</file>

<file path=ppt/slides/_rels/slide9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70.xml"/><Relationship Id="rId1"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71.xml"/><Relationship Id="rId1" Type="http://schemas.openxmlformats.org/officeDocument/2006/relationships/slideLayout" Target="../slideLayouts/slideLayout14.xml"/></Relationships>
</file>

<file path=ppt/slides/_rels/slide9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72.xml"/><Relationship Id="rId1"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73.xml"/><Relationship Id="rId1" Type="http://schemas.openxmlformats.org/officeDocument/2006/relationships/slideLayout" Target="../slideLayouts/slideLayout14.xml"/></Relationships>
</file>

<file path=ppt/slides/_rels/slide9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74.xml"/><Relationship Id="rId1" Type="http://schemas.openxmlformats.org/officeDocument/2006/relationships/slideLayout" Target="../slideLayouts/slideLayout1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4.xml"/></Relationships>
</file>

<file path=ppt/slides/_rels/slide100.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76.xml"/><Relationship Id="rId1" Type="http://schemas.openxmlformats.org/officeDocument/2006/relationships/slideLayout" Target="../slideLayouts/slideLayout14.xml"/></Relationships>
</file>

<file path=ppt/slides/_rels/slide10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77.xml"/><Relationship Id="rId1" Type="http://schemas.openxmlformats.org/officeDocument/2006/relationships/slideLayout" Target="../slideLayouts/slideLayout1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4.xml"/></Relationships>
</file>

<file path=ppt/slides/_rels/slide10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a:xfrm>
            <a:off x="1269896" y="1809945"/>
            <a:ext cx="9664803" cy="3930455"/>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4800"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Computer Networks</a:t>
            </a:r>
            <a:endParaRPr lang="en-US" altLang="zh-CN" sz="4000"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800" dirty="0">
              <a:latin typeface="Arial" panose="020B0604020202020204" pitchFamily="34" charset="0"/>
              <a:ea typeface="微软雅黑" pitchFamily="34" charset="-122"/>
              <a:cs typeface="Arial" panose="020B0604020202020204" pitchFamily="34" charset="0"/>
            </a:endParaRPr>
          </a:p>
          <a:p>
            <a:endParaRPr lang="en-US" altLang="zh-CN" sz="2800" dirty="0">
              <a:latin typeface="Arial" panose="020B0604020202020204" pitchFamily="34" charset="0"/>
              <a:ea typeface="微软雅黑" pitchFamily="34" charset="-122"/>
              <a:cs typeface="Arial" panose="020B0604020202020204" pitchFamily="34" charset="0"/>
            </a:endParaRPr>
          </a:p>
          <a:p>
            <a:endParaRPr lang="en-US" altLang="zh-CN" sz="2800" dirty="0">
              <a:latin typeface="Arial" panose="020B0604020202020204" pitchFamily="34" charset="0"/>
              <a:ea typeface="微软雅黑" pitchFamily="34" charset="-122"/>
              <a:cs typeface="Arial" panose="020B0604020202020204" pitchFamily="34" charset="0"/>
            </a:endParaRPr>
          </a:p>
          <a:p>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王廷</a:t>
            </a:r>
            <a:endParaRPr lang="en-US" altLang="zh-CN" sz="2400" dirty="0">
              <a:solidFill>
                <a:schemeClr val="accent1">
                  <a:lumMod val="75000"/>
                </a:schemeClr>
              </a:solidFill>
              <a:latin typeface="微软雅黑" panose="020B0503020204020204" pitchFamily="34" charset="-122"/>
              <a:ea typeface="微软雅黑" panose="020B0503020204020204" pitchFamily="34" charset="-122"/>
            </a:endParaRPr>
          </a:p>
          <a:p>
            <a:endParaRPr lang="en-US" altLang="zh-CN" sz="2000" dirty="0">
              <a:solidFill>
                <a:schemeClr val="accent1">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华东师范大学 软件工程学院</a:t>
            </a:r>
            <a:br>
              <a:rPr lang="en-US" altLang="zh-CN" sz="2000" dirty="0">
                <a:solidFill>
                  <a:schemeClr val="accent1">
                    <a:lumMod val="75000"/>
                  </a:schemeClr>
                </a:solidFill>
                <a:latin typeface="微软雅黑" panose="020B0503020204020204" pitchFamily="34" charset="-122"/>
                <a:ea typeface="微软雅黑" panose="020B0503020204020204" pitchFamily="34" charset="-122"/>
              </a:rPr>
            </a:b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Email: </a:t>
            </a:r>
            <a:r>
              <a:rPr lang="en-US" altLang="zh-CN" sz="2000" dirty="0">
                <a:solidFill>
                  <a:schemeClr val="accent1">
                    <a:lumMod val="75000"/>
                  </a:schemeClr>
                </a:solidFill>
                <a:latin typeface="微软雅黑" panose="020B0503020204020204" pitchFamily="34" charset="-122"/>
                <a:ea typeface="微软雅黑" panose="020B0503020204020204" pitchFamily="34" charset="-122"/>
                <a:hlinkClick r:id="rId3"/>
              </a:rPr>
              <a:t>twang@sei.ecnu.edu.cn</a:t>
            </a:r>
            <a:endParaRPr lang="en-US" altLang="zh-CN" sz="2000" dirty="0">
              <a:solidFill>
                <a:schemeClr val="accent1">
                  <a:lumMod val="75000"/>
                </a:schemeClr>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Office: </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理科大楼</a:t>
            </a: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B1116</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室</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4099" name="Subtitle 2"/>
          <p:cNvSpPr>
            <a:spLocks noGrp="1"/>
          </p:cNvSpPr>
          <p:nvPr>
            <p:ph idx="1"/>
          </p:nvPr>
        </p:nvSpPr>
        <p:spPr>
          <a:xfrm>
            <a:off x="1594525" y="1224144"/>
            <a:ext cx="7170095" cy="4145524"/>
          </a:xfrm>
        </p:spPr>
        <p:txBody>
          <a:bodyPr>
            <a:normAutofit fontScale="92500" lnSpcReduction="20000"/>
          </a:bodyPr>
          <a:lstStyle/>
          <a:p>
            <a:pPr lvl="1">
              <a:lnSpc>
                <a:spcPct val="150000"/>
              </a:lnSpc>
              <a:defRPr/>
            </a:pPr>
            <a:r>
              <a:rPr lang="en-US" sz="2800" b="1" dirty="0"/>
              <a:t>Uses of Computer Networks</a:t>
            </a:r>
          </a:p>
          <a:p>
            <a:pPr lvl="1">
              <a:lnSpc>
                <a:spcPct val="150000"/>
              </a:lnSpc>
              <a:defRPr/>
            </a:pPr>
            <a:r>
              <a:rPr lang="en-US" sz="2800" dirty="0"/>
              <a:t>Network Hardware</a:t>
            </a:r>
          </a:p>
          <a:p>
            <a:pPr lvl="1">
              <a:lnSpc>
                <a:spcPct val="150000"/>
              </a:lnSpc>
              <a:defRPr/>
            </a:pPr>
            <a:r>
              <a:rPr lang="en-US" sz="2800" dirty="0"/>
              <a:t>Network Software</a:t>
            </a:r>
          </a:p>
          <a:p>
            <a:pPr lvl="1">
              <a:lnSpc>
                <a:spcPct val="150000"/>
              </a:lnSpc>
              <a:defRPr/>
            </a:pPr>
            <a:r>
              <a:rPr lang="en-US" sz="2800" dirty="0"/>
              <a:t>Reference Models</a:t>
            </a:r>
          </a:p>
          <a:p>
            <a:pPr lvl="1">
              <a:lnSpc>
                <a:spcPct val="150000"/>
              </a:lnSpc>
              <a:defRPr/>
            </a:pPr>
            <a:r>
              <a:rPr lang="en-US" sz="2800" dirty="0"/>
              <a:t>Example Networks</a:t>
            </a:r>
          </a:p>
          <a:p>
            <a:pPr lvl="1">
              <a:lnSpc>
                <a:spcPct val="150000"/>
              </a:lnSpc>
              <a:defRPr/>
            </a:pPr>
            <a:r>
              <a:rPr lang="en-US" sz="2800" dirty="0"/>
              <a:t>Network Standardization</a:t>
            </a:r>
          </a:p>
          <a:p>
            <a:pPr lvl="1">
              <a:lnSpc>
                <a:spcPct val="150000"/>
              </a:lnSpc>
              <a:defRPr/>
            </a:pPr>
            <a:r>
              <a:rPr lang="en-US" sz="2800" dirty="0"/>
              <a:t>Metric Units</a:t>
            </a:r>
          </a:p>
        </p:txBody>
      </p:sp>
      <p:sp>
        <p:nvSpPr>
          <p:cNvPr id="2" name="矩形 1">
            <a:extLst>
              <a:ext uri="{FF2B5EF4-FFF2-40B4-BE49-F238E27FC236}">
                <a16:creationId xmlns:a16="http://schemas.microsoft.com/office/drawing/2014/main" id="{7410C969-53CB-4556-84C5-40C49330329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Chapter1</a:t>
            </a:r>
            <a:r>
              <a:rPr lang="zh-CN" altLang="en-US" sz="2800" b="1" kern="0" dirty="0">
                <a:solidFill>
                  <a:srgbClr val="C00000"/>
                </a:solidFill>
                <a:latin typeface="微软雅黑" panose="020B0503020204020204" pitchFamily="34" charset="-122"/>
                <a:ea typeface="微软雅黑" panose="020B0503020204020204" pitchFamily="34" charset="-122"/>
              </a:rPr>
              <a:t>：</a:t>
            </a:r>
            <a:r>
              <a:rPr lang="en-US" altLang="zh-CN" sz="2800" b="1" kern="0" dirty="0">
                <a:solidFill>
                  <a:srgbClr val="C00000"/>
                </a:solidFill>
                <a:latin typeface="微软雅黑" panose="020B0503020204020204" pitchFamily="34" charset="-122"/>
                <a:ea typeface="微软雅黑" panose="020B0503020204020204" pitchFamily="34" charset="-122"/>
              </a:rPr>
              <a:t>Introduction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14A9DAF-DA22-4BFD-A948-0EA2ABA850B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Network Example</a:t>
            </a:r>
            <a:r>
              <a:rPr lang="zh-CN" altLang="en-US" sz="2800" b="1" kern="0" dirty="0">
                <a:solidFill>
                  <a:srgbClr val="C00000"/>
                </a:solidFill>
                <a:latin typeface="微软雅黑" panose="020B0503020204020204" pitchFamily="34" charset="-122"/>
                <a:ea typeface="微软雅黑" panose="020B0503020204020204" pitchFamily="34" charset="-122"/>
              </a:rPr>
              <a:t>：</a:t>
            </a:r>
            <a:r>
              <a:rPr lang="en-US" altLang="zh-CN" sz="2800" b="1" kern="0" dirty="0">
                <a:solidFill>
                  <a:srgbClr val="C00000"/>
                </a:solidFill>
                <a:latin typeface="微软雅黑" panose="020B0503020204020204" pitchFamily="34" charset="-122"/>
                <a:ea typeface="微软雅黑" panose="020B0503020204020204" pitchFamily="34" charset="-122"/>
              </a:rPr>
              <a:t>A Typical Simple Scenario</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F9607EB1-89D7-4883-8F75-70199968D724}"/>
              </a:ext>
            </a:extLst>
          </p:cNvPr>
          <p:cNvPicPr>
            <a:picLocks noChangeAspect="1"/>
          </p:cNvPicPr>
          <p:nvPr/>
        </p:nvPicPr>
        <p:blipFill rotWithShape="1">
          <a:blip r:embed="rId2">
            <a:extLst>
              <a:ext uri="{28A0092B-C50C-407E-A947-70E740481C1C}">
                <a14:useLocalDpi xmlns:a14="http://schemas.microsoft.com/office/drawing/2010/main" val="0"/>
              </a:ext>
            </a:extLst>
          </a:blip>
          <a:srcRect t="12874"/>
          <a:stretch/>
        </p:blipFill>
        <p:spPr>
          <a:xfrm>
            <a:off x="3239" y="882868"/>
            <a:ext cx="12185522" cy="5975131"/>
          </a:xfrm>
          <a:prstGeom prst="rect">
            <a:avLst/>
          </a:prstGeom>
        </p:spPr>
      </p:pic>
      <p:pic>
        <p:nvPicPr>
          <p:cNvPr id="6" name="图片 5">
            <a:extLst>
              <a:ext uri="{FF2B5EF4-FFF2-40B4-BE49-F238E27FC236}">
                <a16:creationId xmlns:a16="http://schemas.microsoft.com/office/drawing/2014/main" id="{BA561690-CE92-42C4-919A-04E34E2F0394}"/>
              </a:ext>
            </a:extLst>
          </p:cNvPr>
          <p:cNvPicPr>
            <a:picLocks noChangeAspect="1"/>
          </p:cNvPicPr>
          <p:nvPr/>
        </p:nvPicPr>
        <p:blipFill>
          <a:blip r:embed="rId3"/>
          <a:stretch>
            <a:fillRect/>
          </a:stretch>
        </p:blipFill>
        <p:spPr>
          <a:xfrm>
            <a:off x="7022306" y="3036975"/>
            <a:ext cx="347663" cy="278989"/>
          </a:xfrm>
          <a:prstGeom prst="rect">
            <a:avLst/>
          </a:prstGeom>
        </p:spPr>
      </p:pic>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5" descr="E:\00CNet\WirelessLab.jpg">
            <a:extLst>
              <a:ext uri="{FF2B5EF4-FFF2-40B4-BE49-F238E27FC236}">
                <a16:creationId xmlns:a16="http://schemas.microsoft.com/office/drawing/2014/main" id="{96F7E972-9EB5-444D-8A2A-94E1E71729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5455" y="874192"/>
            <a:ext cx="6381045" cy="5910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B4744F42-9B0F-4CFD-A4DE-30AF8D18650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Network Example</a:t>
            </a:r>
            <a:r>
              <a:rPr lang="zh-CN" altLang="en-US" sz="2800" b="1" kern="0" dirty="0">
                <a:solidFill>
                  <a:srgbClr val="C00000"/>
                </a:solidFill>
                <a:latin typeface="微软雅黑" panose="020B0503020204020204" pitchFamily="34" charset="-122"/>
                <a:ea typeface="微软雅黑" panose="020B0503020204020204" pitchFamily="34" charset="-122"/>
              </a:rPr>
              <a:t>：</a:t>
            </a:r>
            <a:r>
              <a:rPr lang="en-US" altLang="zh-CN" sz="2800" b="1" kern="0" dirty="0">
                <a:solidFill>
                  <a:srgbClr val="C00000"/>
                </a:solidFill>
                <a:latin typeface="微软雅黑" panose="020B0503020204020204" pitchFamily="34" charset="-122"/>
                <a:ea typeface="微软雅黑" panose="020B0503020204020204" pitchFamily="34" charset="-122"/>
              </a:rPr>
              <a:t>Complex Scenario in Real World</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4" name="矩形: 圆角 3">
            <a:extLst>
              <a:ext uri="{FF2B5EF4-FFF2-40B4-BE49-F238E27FC236}">
                <a16:creationId xmlns:a16="http://schemas.microsoft.com/office/drawing/2014/main" id="{D4B94F03-A937-4010-90B8-F1B29D2F719C}"/>
              </a:ext>
            </a:extLst>
          </p:cNvPr>
          <p:cNvSpPr/>
          <p:nvPr/>
        </p:nvSpPr>
        <p:spPr>
          <a:xfrm>
            <a:off x="8648249" y="3110248"/>
            <a:ext cx="2266682" cy="505495"/>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不同网络类型</a:t>
            </a:r>
          </a:p>
        </p:txBody>
      </p:sp>
      <p:sp>
        <p:nvSpPr>
          <p:cNvPr id="6" name="矩形: 圆角 5">
            <a:extLst>
              <a:ext uri="{FF2B5EF4-FFF2-40B4-BE49-F238E27FC236}">
                <a16:creationId xmlns:a16="http://schemas.microsoft.com/office/drawing/2014/main" id="{E1E83414-118F-438C-8511-F96739313BE6}"/>
              </a:ext>
            </a:extLst>
          </p:cNvPr>
          <p:cNvSpPr/>
          <p:nvPr/>
        </p:nvSpPr>
        <p:spPr>
          <a:xfrm>
            <a:off x="8648249" y="3941781"/>
            <a:ext cx="2266682" cy="505495"/>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多样化接入技术</a:t>
            </a:r>
          </a:p>
        </p:txBody>
      </p:sp>
      <p:sp>
        <p:nvSpPr>
          <p:cNvPr id="7" name="矩形: 圆角 6">
            <a:extLst>
              <a:ext uri="{FF2B5EF4-FFF2-40B4-BE49-F238E27FC236}">
                <a16:creationId xmlns:a16="http://schemas.microsoft.com/office/drawing/2014/main" id="{7AA56FE1-3E0E-4548-B78C-2C8D248FDCA5}"/>
              </a:ext>
            </a:extLst>
          </p:cNvPr>
          <p:cNvSpPr/>
          <p:nvPr/>
        </p:nvSpPr>
        <p:spPr>
          <a:xfrm>
            <a:off x="8648249" y="4861727"/>
            <a:ext cx="2266682" cy="505495"/>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网络基础设施</a:t>
            </a:r>
          </a:p>
        </p:txBody>
      </p:sp>
      <p:sp>
        <p:nvSpPr>
          <p:cNvPr id="8" name="矩形: 圆角 7">
            <a:extLst>
              <a:ext uri="{FF2B5EF4-FFF2-40B4-BE49-F238E27FC236}">
                <a16:creationId xmlns:a16="http://schemas.microsoft.com/office/drawing/2014/main" id="{25864B35-ADDD-4425-A4AA-8C4EB066D7DF}"/>
              </a:ext>
            </a:extLst>
          </p:cNvPr>
          <p:cNvSpPr/>
          <p:nvPr/>
        </p:nvSpPr>
        <p:spPr>
          <a:xfrm>
            <a:off x="8648248" y="5781673"/>
            <a:ext cx="2266682" cy="505495"/>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网络通信协议</a:t>
            </a:r>
          </a:p>
        </p:txBody>
      </p:sp>
      <p:sp>
        <p:nvSpPr>
          <p:cNvPr id="5" name="Rectangle 1">
            <a:extLst>
              <a:ext uri="{FF2B5EF4-FFF2-40B4-BE49-F238E27FC236}">
                <a16:creationId xmlns:a16="http://schemas.microsoft.com/office/drawing/2014/main" id="{2D9E5C45-9677-4E06-B3E9-6AC0E57BBB71}"/>
              </a:ext>
            </a:extLst>
          </p:cNvPr>
          <p:cNvSpPr>
            <a:spLocks noChangeArrowheads="1"/>
          </p:cNvSpPr>
          <p:nvPr/>
        </p:nvSpPr>
        <p:spPr bwMode="auto">
          <a:xfrm>
            <a:off x="8315006" y="1091692"/>
            <a:ext cx="2933165" cy="1726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20000"/>
              </a:lnSpc>
              <a:spcBef>
                <a:spcPct val="0"/>
              </a:spcBef>
              <a:spcAft>
                <a:spcPct val="0"/>
              </a:spcAft>
              <a:buClrTx/>
              <a:buSzTx/>
              <a:buFontTx/>
              <a:buNone/>
              <a:tabLst/>
            </a:pPr>
            <a:r>
              <a:rPr kumimoji="0" lang="zh-CN" altLang="zh-CN"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现代网络环境不再是简单的点对点连接，而是</a:t>
            </a:r>
            <a:r>
              <a:rPr kumimoji="0" lang="zh-CN" altLang="zh-CN"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一个集多种网络类型、接入技术和设备于一体的复杂系统</a:t>
            </a:r>
            <a:r>
              <a:rPr kumimoji="0" lang="zh-CN" altLang="zh-CN"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zh-CN" altLang="en-US"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而且在</a:t>
            </a:r>
            <a:r>
              <a:rPr kumimoji="0" lang="zh-CN" altLang="en-US"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持续演进</a:t>
            </a:r>
            <a:r>
              <a:rPr kumimoji="0" lang="zh-CN" altLang="en-US"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zh-CN" altLang="zh-CN" sz="4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7BC4D84-B332-49DF-8602-20F39E8602F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Network Example</a:t>
            </a:r>
            <a:r>
              <a:rPr lang="zh-CN" altLang="en-US" sz="2800" b="1" kern="0" dirty="0">
                <a:solidFill>
                  <a:srgbClr val="C00000"/>
                </a:solidFill>
                <a:latin typeface="微软雅黑" panose="020B0503020204020204" pitchFamily="34" charset="-122"/>
                <a:ea typeface="微软雅黑" panose="020B0503020204020204" pitchFamily="34" charset="-122"/>
              </a:rPr>
              <a:t>：</a:t>
            </a:r>
            <a:r>
              <a:rPr lang="en-US" altLang="zh-CN" sz="2800" b="1" kern="0" dirty="0">
                <a:solidFill>
                  <a:srgbClr val="C00000"/>
                </a:solidFill>
                <a:latin typeface="微软雅黑" panose="020B0503020204020204" pitchFamily="34" charset="-122"/>
                <a:ea typeface="微软雅黑" panose="020B0503020204020204" pitchFamily="34" charset="-122"/>
              </a:rPr>
              <a:t>Space Computing Network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995F6072-99F0-4ADF-B312-3EE56DF3EE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1062" y="1520966"/>
            <a:ext cx="5061332" cy="4468969"/>
          </a:xfrm>
          <a:prstGeom prst="rect">
            <a:avLst/>
          </a:prstGeom>
        </p:spPr>
      </p:pic>
      <p:sp>
        <p:nvSpPr>
          <p:cNvPr id="8" name="矩形 7">
            <a:extLst>
              <a:ext uri="{FF2B5EF4-FFF2-40B4-BE49-F238E27FC236}">
                <a16:creationId xmlns:a16="http://schemas.microsoft.com/office/drawing/2014/main" id="{6774DD5B-64B3-4C6B-9082-2D8BF7A8FAA5}"/>
              </a:ext>
            </a:extLst>
          </p:cNvPr>
          <p:cNvSpPr/>
          <p:nvPr/>
        </p:nvSpPr>
        <p:spPr>
          <a:xfrm>
            <a:off x="5443521" y="1113397"/>
            <a:ext cx="6574790" cy="2704456"/>
          </a:xfrm>
          <a:prstGeom prst="rect">
            <a:avLst/>
          </a:prstGeom>
          <a:solidFill>
            <a:schemeClr val="bg2">
              <a:lumMod val="20000"/>
              <a:lumOff val="80000"/>
              <a:alpha val="35000"/>
            </a:schemeClr>
          </a:solidFill>
          <a:ln w="25400" cap="flat" cmpd="sng">
            <a:solidFill>
              <a:schemeClr val="bg2"/>
            </a:solidFill>
            <a:prstDash val="solid"/>
            <a:round/>
          </a:ln>
        </p:spPr>
        <p:txBody>
          <a:bodyPr vert="horz" wrap="square" lIns="63500" tIns="63500" rIns="63500" bIns="63500"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9" name="AutoShape 15">
            <a:extLst>
              <a:ext uri="{FF2B5EF4-FFF2-40B4-BE49-F238E27FC236}">
                <a16:creationId xmlns:a16="http://schemas.microsoft.com/office/drawing/2014/main" id="{87F678DD-D7ED-4B97-B700-2EC2A8D2A80B}"/>
              </a:ext>
            </a:extLst>
          </p:cNvPr>
          <p:cNvSpPr/>
          <p:nvPr/>
        </p:nvSpPr>
        <p:spPr>
          <a:xfrm>
            <a:off x="5657284" y="1093466"/>
            <a:ext cx="5334000" cy="489762"/>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400" b="1" i="0" u="none" strike="noStrike" dirty="0">
                <a:solidFill>
                  <a:srgbClr val="C00000"/>
                </a:solidFill>
                <a:latin typeface="微软雅黑" panose="020B0503020204020204" pitchFamily="34" charset="-122"/>
                <a:ea typeface="微软雅黑" panose="020B0503020204020204" pitchFamily="34" charset="-122"/>
                <a:cs typeface="Noto Sans SC"/>
                <a:sym typeface="Noto Sans SC"/>
              </a:rPr>
              <a:t>中国国家政策</a:t>
            </a:r>
            <a:endParaRPr lang="en-US" sz="1000" dirty="0">
              <a:solidFill>
                <a:srgbClr val="C00000"/>
              </a:solidFill>
              <a:latin typeface="微软雅黑" panose="020B0503020204020204" pitchFamily="34" charset="-122"/>
              <a:ea typeface="微软雅黑" panose="020B0503020204020204" pitchFamily="34" charset="-122"/>
            </a:endParaRPr>
          </a:p>
        </p:txBody>
      </p:sp>
      <p:sp>
        <p:nvSpPr>
          <p:cNvPr id="10" name="AutoShape 16">
            <a:extLst>
              <a:ext uri="{FF2B5EF4-FFF2-40B4-BE49-F238E27FC236}">
                <a16:creationId xmlns:a16="http://schemas.microsoft.com/office/drawing/2014/main" id="{10C5C02A-0245-4323-95AE-A742486B80DB}"/>
              </a:ext>
            </a:extLst>
          </p:cNvPr>
          <p:cNvSpPr/>
          <p:nvPr/>
        </p:nvSpPr>
        <p:spPr>
          <a:xfrm>
            <a:off x="5631988" y="1520966"/>
            <a:ext cx="5334000" cy="1224404"/>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sz="1600"/>
          </a:p>
        </p:txBody>
      </p:sp>
      <p:sp>
        <p:nvSpPr>
          <p:cNvPr id="11" name="AutoShape 17">
            <a:extLst>
              <a:ext uri="{FF2B5EF4-FFF2-40B4-BE49-F238E27FC236}">
                <a16:creationId xmlns:a16="http://schemas.microsoft.com/office/drawing/2014/main" id="{1F7F3AA2-91ED-4BAD-951A-29C7722F9454}"/>
              </a:ext>
            </a:extLst>
          </p:cNvPr>
          <p:cNvSpPr/>
          <p:nvPr/>
        </p:nvSpPr>
        <p:spPr>
          <a:xfrm>
            <a:off x="5631988" y="1660548"/>
            <a:ext cx="50800" cy="867688"/>
          </a:xfrm>
          <a:prstGeom prst="roundRect">
            <a:avLst>
              <a:gd name="adj" fmla="val 0"/>
            </a:avLst>
          </a:prstGeom>
          <a:solidFill>
            <a:srgbClr val="C1282D"/>
          </a:solidFill>
          <a:ln w="25400" cap="flat" cmpd="sng">
            <a:solidFill>
              <a:srgbClr val="C00000"/>
            </a:solidFill>
            <a:prstDash val="solid"/>
            <a:round/>
          </a:ln>
        </p:spPr>
        <p:txBody>
          <a:bodyPr vert="horz" wrap="square" lIns="63500" tIns="63500" rIns="63500" bIns="63500" rtlCol="0" anchor="ctr"/>
          <a:lstStyle/>
          <a:p>
            <a:pPr algn="ctr">
              <a:defRPr/>
            </a:pPr>
            <a:endParaRPr sz="1600"/>
          </a:p>
        </p:txBody>
      </p:sp>
      <p:sp>
        <p:nvSpPr>
          <p:cNvPr id="12" name="AutoShape 18">
            <a:extLst>
              <a:ext uri="{FF2B5EF4-FFF2-40B4-BE49-F238E27FC236}">
                <a16:creationId xmlns:a16="http://schemas.microsoft.com/office/drawing/2014/main" id="{26D47EE4-2975-4789-8D1A-03392A98D5C2}"/>
              </a:ext>
            </a:extLst>
          </p:cNvPr>
          <p:cNvSpPr/>
          <p:nvPr/>
        </p:nvSpPr>
        <p:spPr>
          <a:xfrm>
            <a:off x="5822487" y="1611077"/>
            <a:ext cx="6120893" cy="982118"/>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b="1" dirty="0">
                <a:latin typeface="微软雅黑" panose="020B0503020204020204" pitchFamily="34" charset="-122"/>
                <a:ea typeface="微软雅黑" panose="020B0503020204020204" pitchFamily="34" charset="-122"/>
                <a:sym typeface="Noto Sans SC"/>
              </a:rPr>
              <a:t>战略升级：“十五五”定位为航天强国核心引擎</a:t>
            </a:r>
            <a:endParaRPr lang="en-US" sz="1200" dirty="0">
              <a:latin typeface="微软雅黑" panose="020B0503020204020204" pitchFamily="34" charset="-122"/>
              <a:ea typeface="微软雅黑" panose="020B0503020204020204" pitchFamily="34" charset="-122"/>
            </a:endParaRPr>
          </a:p>
          <a:p>
            <a:pPr>
              <a:lnSpc>
                <a:spcPct val="116666"/>
              </a:lnSpc>
              <a:spcBef>
                <a:spcPts val="600"/>
              </a:spcBef>
            </a:pPr>
            <a:r>
              <a:rPr lang="zh-CN" altLang="en-US" sz="1200" dirty="0">
                <a:latin typeface="微软雅黑" panose="020B0503020204020204" pitchFamily="34" charset="-122"/>
                <a:ea typeface="微软雅黑" panose="020B0503020204020204" pitchFamily="34" charset="-122"/>
              </a:rPr>
              <a:t>“十四五”首次鼓励社会资本全面参与，“十五五”规划进一步将商业航天定位为建设航天强国的核心引擎</a:t>
            </a:r>
            <a:r>
              <a:rPr lang="zh-CN" altLang="en-US" sz="1200" dirty="0">
                <a:latin typeface="微软雅黑" panose="020B0503020204020204" pitchFamily="34" charset="-122"/>
                <a:ea typeface="微软雅黑" panose="020B0503020204020204" pitchFamily="34" charset="-122"/>
                <a:sym typeface="Noto Sans SC"/>
              </a:rPr>
              <a:t>。</a:t>
            </a:r>
            <a:endParaRPr lang="en-US" sz="1200" dirty="0">
              <a:latin typeface="微软雅黑" panose="020B0503020204020204" pitchFamily="34" charset="-122"/>
              <a:ea typeface="微软雅黑" panose="020B0503020204020204" pitchFamily="34" charset="-122"/>
              <a:sym typeface="Noto Sans SC"/>
            </a:endParaRPr>
          </a:p>
        </p:txBody>
      </p:sp>
      <p:sp>
        <p:nvSpPr>
          <p:cNvPr id="13" name="AutoShape 19">
            <a:extLst>
              <a:ext uri="{FF2B5EF4-FFF2-40B4-BE49-F238E27FC236}">
                <a16:creationId xmlns:a16="http://schemas.microsoft.com/office/drawing/2014/main" id="{528F49B8-B438-4681-92C4-42A682EBE1B1}"/>
              </a:ext>
            </a:extLst>
          </p:cNvPr>
          <p:cNvSpPr/>
          <p:nvPr/>
        </p:nvSpPr>
        <p:spPr>
          <a:xfrm>
            <a:off x="5626389" y="2662417"/>
            <a:ext cx="5334000" cy="1163184"/>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sz="1600"/>
          </a:p>
        </p:txBody>
      </p:sp>
      <p:sp>
        <p:nvSpPr>
          <p:cNvPr id="14" name="AutoShape 20">
            <a:extLst>
              <a:ext uri="{FF2B5EF4-FFF2-40B4-BE49-F238E27FC236}">
                <a16:creationId xmlns:a16="http://schemas.microsoft.com/office/drawing/2014/main" id="{F174E063-20A2-424B-BD68-F55BE8967585}"/>
              </a:ext>
            </a:extLst>
          </p:cNvPr>
          <p:cNvSpPr/>
          <p:nvPr/>
        </p:nvSpPr>
        <p:spPr>
          <a:xfrm>
            <a:off x="5626389" y="2818902"/>
            <a:ext cx="50800" cy="867688"/>
          </a:xfrm>
          <a:prstGeom prst="roundRect">
            <a:avLst>
              <a:gd name="adj" fmla="val 0"/>
            </a:avLst>
          </a:prstGeom>
          <a:solidFill>
            <a:srgbClr val="C1282D"/>
          </a:solidFill>
          <a:ln w="25400" cap="flat" cmpd="sng">
            <a:solidFill>
              <a:srgbClr val="C00000"/>
            </a:solidFill>
            <a:prstDash val="solid"/>
            <a:round/>
          </a:ln>
        </p:spPr>
        <p:txBody>
          <a:bodyPr vert="horz" wrap="square" lIns="63500" tIns="63500" rIns="63500" bIns="63500" rtlCol="0" anchor="ctr"/>
          <a:lstStyle/>
          <a:p>
            <a:pPr algn="ctr">
              <a:defRPr/>
            </a:pPr>
            <a:endParaRPr sz="1600"/>
          </a:p>
        </p:txBody>
      </p:sp>
      <p:sp>
        <p:nvSpPr>
          <p:cNvPr id="15" name="AutoShape 21">
            <a:extLst>
              <a:ext uri="{FF2B5EF4-FFF2-40B4-BE49-F238E27FC236}">
                <a16:creationId xmlns:a16="http://schemas.microsoft.com/office/drawing/2014/main" id="{B42106E0-7AD2-40C3-BDA7-9B5D20938D4B}"/>
              </a:ext>
            </a:extLst>
          </p:cNvPr>
          <p:cNvSpPr/>
          <p:nvPr/>
        </p:nvSpPr>
        <p:spPr>
          <a:xfrm>
            <a:off x="5818316" y="2732787"/>
            <a:ext cx="6120893" cy="1037623"/>
          </a:xfrm>
          <a:prstGeom prst="rect">
            <a:avLst/>
          </a:prstGeom>
          <a:noFill/>
          <a:ln w="12700" cap="flat" cmpd="sng">
            <a:noFill/>
            <a:prstDash val="solid"/>
            <a:round/>
          </a:ln>
        </p:spPr>
        <p:txBody>
          <a:bodyPr vert="horz" wrap="square" lIns="0" tIns="0" rIns="0" bIns="0" rtlCol="0" anchor="ctr" anchorCtr="0"/>
          <a:lstStyle/>
          <a:p>
            <a:pPr>
              <a:defRPr/>
            </a:pPr>
            <a:r>
              <a:rPr lang="zh-CN" altLang="en-US" b="1" dirty="0">
                <a:latin typeface="微软雅黑" panose="020B0503020204020204" pitchFamily="34" charset="-122"/>
                <a:ea typeface="微软雅黑" panose="020B0503020204020204" pitchFamily="34" charset="-122"/>
                <a:sym typeface="Noto Sans SC"/>
              </a:rPr>
              <a:t>政策落地</a:t>
            </a:r>
            <a:r>
              <a:rPr lang="en-US" b="1" dirty="0">
                <a:latin typeface="微软雅黑" panose="020B0503020204020204" pitchFamily="34" charset="-122"/>
                <a:ea typeface="微软雅黑" panose="020B0503020204020204" pitchFamily="34" charset="-122"/>
                <a:sym typeface="Noto Sans SC"/>
              </a:rPr>
              <a:t>：《</a:t>
            </a:r>
            <a:r>
              <a:rPr lang="en-US" b="1" dirty="0" err="1">
                <a:latin typeface="微软雅黑" panose="020B0503020204020204" pitchFamily="34" charset="-122"/>
                <a:ea typeface="微软雅黑" panose="020B0503020204020204" pitchFamily="34" charset="-122"/>
                <a:sym typeface="Noto Sans SC"/>
              </a:rPr>
              <a:t>行动计划</a:t>
            </a:r>
            <a:r>
              <a:rPr lang="en-US" b="1" dirty="0">
                <a:latin typeface="微软雅黑" panose="020B0503020204020204" pitchFamily="34" charset="-122"/>
                <a:ea typeface="微软雅黑" panose="020B0503020204020204" pitchFamily="34" charset="-122"/>
                <a:sym typeface="Noto Sans SC"/>
              </a:rPr>
              <a:t>》</a:t>
            </a:r>
            <a:r>
              <a:rPr lang="zh-CN" altLang="en-US" b="1" dirty="0">
                <a:latin typeface="微软雅黑" panose="020B0503020204020204" pitchFamily="34" charset="-122"/>
                <a:ea typeface="微软雅黑" panose="020B0503020204020204" pitchFamily="34" charset="-122"/>
                <a:sym typeface="Noto Sans SC"/>
              </a:rPr>
              <a:t>为航天发展</a:t>
            </a:r>
            <a:r>
              <a:rPr lang="en-US" b="1" dirty="0" err="1">
                <a:latin typeface="微软雅黑" panose="020B0503020204020204" pitchFamily="34" charset="-122"/>
                <a:ea typeface="微软雅黑" panose="020B0503020204020204" pitchFamily="34" charset="-122"/>
                <a:sym typeface="Noto Sans SC"/>
              </a:rPr>
              <a:t>指明发展路径</a:t>
            </a:r>
            <a:endParaRPr lang="en-US" b="1" dirty="0">
              <a:latin typeface="微软雅黑" panose="020B0503020204020204" pitchFamily="34" charset="-122"/>
              <a:ea typeface="微软雅黑" panose="020B0503020204020204" pitchFamily="34" charset="-122"/>
            </a:endParaRPr>
          </a:p>
          <a:p>
            <a:pPr>
              <a:lnSpc>
                <a:spcPct val="116666"/>
              </a:lnSpc>
              <a:spcBef>
                <a:spcPts val="600"/>
              </a:spcBef>
            </a:pPr>
            <a:r>
              <a:rPr lang="en-US" sz="1200" dirty="0">
                <a:latin typeface="微软雅黑" panose="020B0503020204020204" pitchFamily="34" charset="-122"/>
                <a:ea typeface="微软雅黑" panose="020B0503020204020204" pitchFamily="34" charset="-122"/>
                <a:sym typeface="Noto Sans SC"/>
              </a:rPr>
              <a:t>2025年发布《推进商业航天高质量安全发展行动计划》提出五大方向22项举措，构建了全链条政策支撑体系。</a:t>
            </a:r>
          </a:p>
        </p:txBody>
      </p:sp>
      <p:sp>
        <p:nvSpPr>
          <p:cNvPr id="16" name="矩形 15">
            <a:extLst>
              <a:ext uri="{FF2B5EF4-FFF2-40B4-BE49-F238E27FC236}">
                <a16:creationId xmlns:a16="http://schemas.microsoft.com/office/drawing/2014/main" id="{FA35D639-26BF-4FBA-B19E-679D56C507FB}"/>
              </a:ext>
            </a:extLst>
          </p:cNvPr>
          <p:cNvSpPr/>
          <p:nvPr/>
        </p:nvSpPr>
        <p:spPr>
          <a:xfrm>
            <a:off x="5443521" y="4064125"/>
            <a:ext cx="6574790" cy="2605998"/>
          </a:xfrm>
          <a:prstGeom prst="rect">
            <a:avLst/>
          </a:prstGeom>
          <a:solidFill>
            <a:schemeClr val="bg2">
              <a:lumMod val="20000"/>
              <a:lumOff val="80000"/>
              <a:alpha val="35000"/>
            </a:schemeClr>
          </a:solidFill>
          <a:ln w="25400" cap="flat" cmpd="sng">
            <a:solidFill>
              <a:schemeClr val="bg2"/>
            </a:solidFill>
            <a:prstDash val="solid"/>
            <a:round/>
          </a:ln>
        </p:spPr>
        <p:txBody>
          <a:bodyPr vert="horz" wrap="square" lIns="63500" tIns="63500" rIns="63500" bIns="63500"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7" name="AutoShape 5">
            <a:extLst>
              <a:ext uri="{FF2B5EF4-FFF2-40B4-BE49-F238E27FC236}">
                <a16:creationId xmlns:a16="http://schemas.microsoft.com/office/drawing/2014/main" id="{67DBE940-649D-40A5-A48E-EB56023A7086}"/>
              </a:ext>
            </a:extLst>
          </p:cNvPr>
          <p:cNvSpPr/>
          <p:nvPr/>
        </p:nvSpPr>
        <p:spPr>
          <a:xfrm>
            <a:off x="5625469" y="4057410"/>
            <a:ext cx="5080000" cy="490215"/>
          </a:xfrm>
          <a:prstGeom prst="rect">
            <a:avLst/>
          </a:prstGeom>
          <a:noFill/>
          <a:ln w="12700" cap="flat" cmpd="sng">
            <a:noFill/>
            <a:prstDash val="solid"/>
            <a:round/>
          </a:ln>
        </p:spPr>
        <p:txBody>
          <a:bodyPr vert="horz" wrap="square" lIns="0" tIns="0" rIns="0" bIns="0" rtlCol="0" anchor="ctr" anchorCtr="0"/>
          <a:lstStyle/>
          <a:p>
            <a:pPr>
              <a:lnSpc>
                <a:spcPct val="125000"/>
              </a:lnSpc>
            </a:pPr>
            <a:r>
              <a:rPr lang="zh-CN" altLang="en-US" sz="2400" b="1" dirty="0">
                <a:solidFill>
                  <a:srgbClr val="C00000"/>
                </a:solidFill>
                <a:latin typeface="微软雅黑" panose="020B0503020204020204" pitchFamily="34" charset="-122"/>
                <a:ea typeface="微软雅黑" panose="020B0503020204020204" pitchFamily="34" charset="-122"/>
                <a:sym typeface="Noto Sans SC"/>
              </a:rPr>
              <a:t>全球战略布局</a:t>
            </a:r>
            <a:endParaRPr lang="en-US" sz="2400" b="1" dirty="0">
              <a:solidFill>
                <a:srgbClr val="C00000"/>
              </a:solidFill>
              <a:latin typeface="微软雅黑" panose="020B0503020204020204" pitchFamily="34" charset="-122"/>
              <a:ea typeface="微软雅黑" panose="020B0503020204020204" pitchFamily="34" charset="-122"/>
            </a:endParaRPr>
          </a:p>
        </p:txBody>
      </p:sp>
      <p:sp>
        <p:nvSpPr>
          <p:cNvPr id="18" name="AutoShape 6">
            <a:extLst>
              <a:ext uri="{FF2B5EF4-FFF2-40B4-BE49-F238E27FC236}">
                <a16:creationId xmlns:a16="http://schemas.microsoft.com/office/drawing/2014/main" id="{3BB8E623-0EBC-4C8C-9157-0EA267C085B7}"/>
              </a:ext>
            </a:extLst>
          </p:cNvPr>
          <p:cNvSpPr/>
          <p:nvPr/>
        </p:nvSpPr>
        <p:spPr>
          <a:xfrm>
            <a:off x="5626389" y="4441035"/>
            <a:ext cx="5080000" cy="1225538"/>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sz="1600"/>
          </a:p>
        </p:txBody>
      </p:sp>
      <p:sp>
        <p:nvSpPr>
          <p:cNvPr id="19" name="AutoShape 8">
            <a:extLst>
              <a:ext uri="{FF2B5EF4-FFF2-40B4-BE49-F238E27FC236}">
                <a16:creationId xmlns:a16="http://schemas.microsoft.com/office/drawing/2014/main" id="{B3290943-B811-4508-8128-135337DBF3FB}"/>
              </a:ext>
            </a:extLst>
          </p:cNvPr>
          <p:cNvSpPr/>
          <p:nvPr/>
        </p:nvSpPr>
        <p:spPr>
          <a:xfrm>
            <a:off x="5816889" y="4502312"/>
            <a:ext cx="6120892" cy="1102985"/>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b="1" dirty="0">
                <a:latin typeface="微软雅黑" panose="020B0503020204020204" pitchFamily="34" charset="-122"/>
                <a:ea typeface="微软雅黑" panose="020B0503020204020204" pitchFamily="34" charset="-122"/>
                <a:sym typeface="Noto Sans SC"/>
              </a:rPr>
              <a:t>美国：市场主导 </a:t>
            </a:r>
            <a:r>
              <a:rPr lang="en-US" altLang="zh-CN" b="1" dirty="0">
                <a:latin typeface="微软雅黑" panose="020B0503020204020204" pitchFamily="34" charset="-122"/>
                <a:ea typeface="微软雅黑" panose="020B0503020204020204" pitchFamily="34" charset="-122"/>
                <a:sym typeface="Noto Sans SC"/>
              </a:rPr>
              <a:t>+ </a:t>
            </a:r>
            <a:r>
              <a:rPr lang="zh-CN" altLang="en-US" b="1" dirty="0">
                <a:latin typeface="微软雅黑" panose="020B0503020204020204" pitchFamily="34" charset="-122"/>
                <a:ea typeface="微软雅黑" panose="020B0503020204020204" pitchFamily="34" charset="-122"/>
                <a:sym typeface="Noto Sans SC"/>
              </a:rPr>
              <a:t>政府采购双轮驱动</a:t>
            </a:r>
            <a:endParaRPr lang="en-US" b="1" dirty="0">
              <a:latin typeface="微软雅黑" panose="020B0503020204020204" pitchFamily="34" charset="-122"/>
              <a:ea typeface="微软雅黑" panose="020B0503020204020204" pitchFamily="34" charset="-122"/>
            </a:endParaRPr>
          </a:p>
          <a:p>
            <a:pPr>
              <a:lnSpc>
                <a:spcPct val="116666"/>
              </a:lnSpc>
              <a:spcBef>
                <a:spcPts val="600"/>
              </a:spcBef>
            </a:pPr>
            <a:r>
              <a:rPr lang="en-US" altLang="zh-CN" sz="1200" dirty="0">
                <a:latin typeface="微软雅黑" panose="020B0503020204020204" pitchFamily="34" charset="-122"/>
                <a:ea typeface="微软雅黑" panose="020B0503020204020204" pitchFamily="34" charset="-122"/>
              </a:rPr>
              <a:t>2015</a:t>
            </a:r>
            <a:r>
              <a:rPr lang="zh-CN" altLang="en-US" sz="1200" dirty="0">
                <a:latin typeface="微软雅黑" panose="020B0503020204020204" pitchFamily="34" charset="-122"/>
                <a:ea typeface="微软雅黑" panose="020B0503020204020204" pitchFamily="34" charset="-122"/>
              </a:rPr>
              <a:t>年</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商业航天促进法</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确立私营企业准入；</a:t>
            </a:r>
            <a:r>
              <a:rPr lang="en-US" altLang="zh-CN" sz="1200" dirty="0">
                <a:latin typeface="微软雅黑" panose="020B0503020204020204" pitchFamily="34" charset="-122"/>
                <a:ea typeface="微软雅黑" panose="020B0503020204020204" pitchFamily="34" charset="-122"/>
              </a:rPr>
              <a:t>2024 </a:t>
            </a:r>
            <a:r>
              <a:rPr lang="zh-CN" altLang="en-US" sz="1200" dirty="0">
                <a:latin typeface="微软雅黑" panose="020B0503020204020204" pitchFamily="34" charset="-122"/>
                <a:ea typeface="微软雅黑" panose="020B0503020204020204" pitchFamily="34" charset="-122"/>
              </a:rPr>
              <a:t>年国防部发布</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国防部商业航天整合战略</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NASA</a:t>
            </a:r>
            <a:r>
              <a:rPr lang="zh-CN" altLang="en-US" sz="1200" dirty="0">
                <a:latin typeface="微软雅黑" panose="020B0503020204020204" pitchFamily="34" charset="-122"/>
                <a:ea typeface="微软雅黑" panose="020B0503020204020204" pitchFamily="34" charset="-122"/>
              </a:rPr>
              <a:t>向民营企业开放航天试验设施和技术专利；以</a:t>
            </a:r>
            <a:r>
              <a:rPr lang="en-US" altLang="zh-CN" sz="1200" dirty="0">
                <a:latin typeface="微软雅黑" panose="020B0503020204020204" pitchFamily="34" charset="-122"/>
                <a:ea typeface="微软雅黑" panose="020B0503020204020204" pitchFamily="34" charset="-122"/>
              </a:rPr>
              <a:t>NASA</a:t>
            </a:r>
            <a:r>
              <a:rPr lang="zh-CN" altLang="en-US" sz="1200" dirty="0">
                <a:latin typeface="微软雅黑" panose="020B0503020204020204" pitchFamily="34" charset="-122"/>
                <a:ea typeface="微软雅黑" panose="020B0503020204020204" pitchFamily="34" charset="-122"/>
              </a:rPr>
              <a:t>与军方订单培育</a:t>
            </a:r>
            <a:r>
              <a:rPr lang="en-US" altLang="zh-CN" sz="1200" dirty="0">
                <a:latin typeface="微软雅黑" panose="020B0503020204020204" pitchFamily="34" charset="-122"/>
                <a:ea typeface="微软雅黑" panose="020B0503020204020204" pitchFamily="34" charset="-122"/>
              </a:rPr>
              <a:t>SpaceX</a:t>
            </a:r>
            <a:r>
              <a:rPr lang="zh-CN" altLang="en-US" sz="1200" dirty="0">
                <a:latin typeface="微软雅黑" panose="020B0503020204020204" pitchFamily="34" charset="-122"/>
                <a:ea typeface="微软雅黑" panose="020B0503020204020204" pitchFamily="34" charset="-122"/>
              </a:rPr>
              <a:t>等龙头企业，抢先布局低轨星座频轨资源，确立全球市场主导地位。 </a:t>
            </a:r>
          </a:p>
        </p:txBody>
      </p:sp>
      <p:sp>
        <p:nvSpPr>
          <p:cNvPr id="20" name="AutoShape 11">
            <a:extLst>
              <a:ext uri="{FF2B5EF4-FFF2-40B4-BE49-F238E27FC236}">
                <a16:creationId xmlns:a16="http://schemas.microsoft.com/office/drawing/2014/main" id="{114AA112-6330-475A-8F89-920A9A28BB8C}"/>
              </a:ext>
            </a:extLst>
          </p:cNvPr>
          <p:cNvSpPr/>
          <p:nvPr/>
        </p:nvSpPr>
        <p:spPr>
          <a:xfrm>
            <a:off x="5816889" y="5628415"/>
            <a:ext cx="6120892" cy="1041708"/>
          </a:xfrm>
          <a:prstGeom prst="rect">
            <a:avLst/>
          </a:prstGeom>
          <a:noFill/>
          <a:ln w="12700" cap="flat" cmpd="sng">
            <a:noFill/>
            <a:prstDash val="solid"/>
            <a:round/>
          </a:ln>
        </p:spPr>
        <p:txBody>
          <a:bodyPr vert="horz" wrap="square" lIns="0" tIns="0" rIns="0" bIns="0" rtlCol="0" anchor="ctr" anchorCtr="0"/>
          <a:lstStyle/>
          <a:p>
            <a:pPr>
              <a:defRPr/>
            </a:pPr>
            <a:r>
              <a:rPr lang="zh-CN" altLang="en-US" b="1" dirty="0">
                <a:latin typeface="微软雅黑" panose="020B0503020204020204" pitchFamily="34" charset="-122"/>
                <a:ea typeface="微软雅黑" panose="020B0503020204020204" pitchFamily="34" charset="-122"/>
                <a:sym typeface="Noto Sans SC"/>
              </a:rPr>
              <a:t>欧盟：规则先行，构建自主空天体系</a:t>
            </a:r>
            <a:endParaRPr lang="en-US" b="1" dirty="0">
              <a:latin typeface="微软雅黑" panose="020B0503020204020204" pitchFamily="34" charset="-122"/>
              <a:ea typeface="微软雅黑" panose="020B0503020204020204" pitchFamily="34" charset="-122"/>
            </a:endParaRPr>
          </a:p>
          <a:p>
            <a:pPr>
              <a:lnSpc>
                <a:spcPct val="116666"/>
              </a:lnSpc>
              <a:spcBef>
                <a:spcPts val="600"/>
              </a:spcBef>
            </a:pPr>
            <a:r>
              <a:rPr lang="en-US" altLang="zh-CN" sz="1200" dirty="0">
                <a:latin typeface="微软雅黑" panose="020B0503020204020204" pitchFamily="34" charset="-122"/>
                <a:ea typeface="微软雅黑" panose="020B0503020204020204" pitchFamily="34" charset="-122"/>
              </a:rPr>
              <a:t>2025</a:t>
            </a:r>
            <a:r>
              <a:rPr lang="zh-CN" altLang="en-US" sz="1200" dirty="0">
                <a:latin typeface="微软雅黑" panose="020B0503020204020204" pitchFamily="34" charset="-122"/>
                <a:ea typeface="微软雅黑" panose="020B0503020204020204" pitchFamily="34" charset="-122"/>
              </a:rPr>
              <a:t>年出台</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太空法案</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商业航天统一监管框架，旨在统一欧盟</a:t>
            </a:r>
            <a:r>
              <a:rPr lang="en-US" altLang="zh-CN" sz="1200" dirty="0">
                <a:latin typeface="微软雅黑" panose="020B0503020204020204" pitchFamily="34" charset="-122"/>
                <a:ea typeface="微软雅黑" panose="020B0503020204020204" pitchFamily="34" charset="-122"/>
              </a:rPr>
              <a:t>27</a:t>
            </a:r>
            <a:r>
              <a:rPr lang="zh-CN" altLang="en-US" sz="1200" dirty="0">
                <a:latin typeface="微软雅黑" panose="020B0503020204020204" pitchFamily="34" charset="-122"/>
                <a:ea typeface="微软雅黑" panose="020B0503020204020204" pitchFamily="34" charset="-122"/>
              </a:rPr>
              <a:t>国碎片化航天规则，打造欧盟单一太空市场，降低对 </a:t>
            </a:r>
            <a:r>
              <a:rPr lang="en-US" altLang="zh-CN" sz="1200" dirty="0" err="1">
                <a:latin typeface="微软雅黑" panose="020B0503020204020204" pitchFamily="34" charset="-122"/>
                <a:ea typeface="微软雅黑" panose="020B0503020204020204" pitchFamily="34" charset="-122"/>
              </a:rPr>
              <a:t>Starlink</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等境外巨型星座的依赖。典型代表：</a:t>
            </a:r>
            <a:r>
              <a:rPr lang="en-US" altLang="zh-CN" sz="1200" dirty="0" err="1">
                <a:latin typeface="微软雅黑" panose="020B0503020204020204" pitchFamily="34" charset="-122"/>
                <a:ea typeface="微软雅黑" panose="020B0503020204020204" pitchFamily="34" charset="-122"/>
              </a:rPr>
              <a:t>OneWeb</a:t>
            </a:r>
            <a:r>
              <a:rPr lang="zh-CN" altLang="en-US" sz="1200" dirty="0">
                <a:latin typeface="微软雅黑" panose="020B0503020204020204" pitchFamily="34" charset="-122"/>
                <a:ea typeface="微软雅黑" panose="020B0503020204020204" pitchFamily="34" charset="-122"/>
              </a:rPr>
              <a:t>。 </a:t>
            </a:r>
          </a:p>
        </p:txBody>
      </p:sp>
      <p:sp>
        <p:nvSpPr>
          <p:cNvPr id="21" name="AutoShape 17">
            <a:extLst>
              <a:ext uri="{FF2B5EF4-FFF2-40B4-BE49-F238E27FC236}">
                <a16:creationId xmlns:a16="http://schemas.microsoft.com/office/drawing/2014/main" id="{F8E5B708-695E-4ECF-BC85-FAB8F9728898}"/>
              </a:ext>
            </a:extLst>
          </p:cNvPr>
          <p:cNvSpPr/>
          <p:nvPr/>
        </p:nvSpPr>
        <p:spPr>
          <a:xfrm>
            <a:off x="5637483" y="4623735"/>
            <a:ext cx="50800" cy="833752"/>
          </a:xfrm>
          <a:prstGeom prst="roundRect">
            <a:avLst>
              <a:gd name="adj" fmla="val 0"/>
            </a:avLst>
          </a:prstGeom>
          <a:solidFill>
            <a:srgbClr val="C1282D"/>
          </a:solidFill>
          <a:ln w="25400" cap="flat" cmpd="sng">
            <a:solidFill>
              <a:srgbClr val="C00000"/>
            </a:solidFill>
            <a:prstDash val="solid"/>
            <a:round/>
          </a:ln>
        </p:spPr>
        <p:txBody>
          <a:bodyPr vert="horz" wrap="square" lIns="63500" tIns="63500" rIns="63500" bIns="63500" rtlCol="0" anchor="ctr"/>
          <a:lstStyle/>
          <a:p>
            <a:pPr algn="ctr">
              <a:defRPr/>
            </a:pPr>
            <a:endParaRPr sz="1600"/>
          </a:p>
        </p:txBody>
      </p:sp>
      <p:sp>
        <p:nvSpPr>
          <p:cNvPr id="22" name="AutoShape 20">
            <a:extLst>
              <a:ext uri="{FF2B5EF4-FFF2-40B4-BE49-F238E27FC236}">
                <a16:creationId xmlns:a16="http://schemas.microsoft.com/office/drawing/2014/main" id="{95D4CACD-6E0C-4616-8ADD-6AFAEF55053C}"/>
              </a:ext>
            </a:extLst>
          </p:cNvPr>
          <p:cNvSpPr/>
          <p:nvPr/>
        </p:nvSpPr>
        <p:spPr>
          <a:xfrm>
            <a:off x="5631988" y="5757924"/>
            <a:ext cx="50800" cy="833752"/>
          </a:xfrm>
          <a:prstGeom prst="roundRect">
            <a:avLst>
              <a:gd name="adj" fmla="val 0"/>
            </a:avLst>
          </a:prstGeom>
          <a:solidFill>
            <a:srgbClr val="C1282D"/>
          </a:solidFill>
          <a:ln w="25400" cap="flat" cmpd="sng">
            <a:solidFill>
              <a:srgbClr val="C00000"/>
            </a:solidFill>
            <a:prstDash val="solid"/>
            <a:round/>
          </a:ln>
        </p:spPr>
        <p:txBody>
          <a:bodyPr vert="horz" wrap="square" lIns="63500" tIns="63500" rIns="63500" bIns="63500" rtlCol="0" anchor="ctr"/>
          <a:lstStyle/>
          <a:p>
            <a:pPr algn="ctr">
              <a:defRPr/>
            </a:pPr>
            <a:endParaRPr sz="1600"/>
          </a:p>
        </p:txBody>
      </p:sp>
    </p:spTree>
    <p:extLst>
      <p:ext uri="{BB962C8B-B14F-4D97-AF65-F5344CB8AC3E}">
        <p14:creationId xmlns:p14="http://schemas.microsoft.com/office/powerpoint/2010/main" val="3131903899"/>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7BC4D84-B332-49DF-8602-20F39E8602F5}"/>
              </a:ext>
            </a:extLst>
          </p:cNvPr>
          <p:cNvSpPr/>
          <p:nvPr/>
        </p:nvSpPr>
        <p:spPr>
          <a:xfrm>
            <a:off x="301659" y="282088"/>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Network Example</a:t>
            </a:r>
            <a:r>
              <a:rPr lang="zh-CN" altLang="en-US" sz="2800" b="1" kern="0" dirty="0">
                <a:solidFill>
                  <a:srgbClr val="C00000"/>
                </a:solidFill>
                <a:latin typeface="微软雅黑" panose="020B0503020204020204" pitchFamily="34" charset="-122"/>
                <a:ea typeface="微软雅黑" panose="020B0503020204020204" pitchFamily="34" charset="-122"/>
              </a:rPr>
              <a:t>：</a:t>
            </a:r>
            <a:r>
              <a:rPr lang="en-US" altLang="zh-CN" sz="2800" b="1" kern="0" dirty="0">
                <a:solidFill>
                  <a:srgbClr val="C00000"/>
                </a:solidFill>
                <a:latin typeface="微软雅黑" panose="020B0503020204020204" pitchFamily="34" charset="-122"/>
                <a:ea typeface="微软雅黑" panose="020B0503020204020204" pitchFamily="34" charset="-122"/>
              </a:rPr>
              <a:t>Space Computing Network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48" name="AutoShape 27">
            <a:extLst>
              <a:ext uri="{FF2B5EF4-FFF2-40B4-BE49-F238E27FC236}">
                <a16:creationId xmlns:a16="http://schemas.microsoft.com/office/drawing/2014/main" id="{EF77C968-BC1E-4049-8068-D29DF9D30752}"/>
              </a:ext>
            </a:extLst>
          </p:cNvPr>
          <p:cNvSpPr/>
          <p:nvPr/>
        </p:nvSpPr>
        <p:spPr>
          <a:xfrm>
            <a:off x="241299" y="5152167"/>
            <a:ext cx="11696701" cy="1662802"/>
          </a:xfrm>
          <a:prstGeom prst="roundRect">
            <a:avLst>
              <a:gd name="adj" fmla="val 0"/>
            </a:avLst>
          </a:prstGeom>
          <a:solidFill>
            <a:schemeClr val="tx2">
              <a:lumMod val="10000"/>
              <a:lumOff val="90000"/>
              <a:alpha val="35000"/>
            </a:schemeClr>
          </a:solidFill>
          <a:ln w="25400" cap="flat" cmpd="sng">
            <a:solidFill>
              <a:schemeClr val="bg2"/>
            </a:solidFill>
            <a:prstDash val="solid"/>
            <a:round/>
          </a:ln>
        </p:spPr>
        <p:txBody>
          <a:bodyPr vert="horz" wrap="square" lIns="63500" tIns="63500" rIns="63500" bIns="63500" rtlCol="0" anchor="ctr"/>
          <a:lstStyle/>
          <a:p>
            <a:pPr algn="ctr">
              <a:defRPr/>
            </a:pPr>
            <a:endParaRPr sz="2000">
              <a:latin typeface="微软雅黑" panose="020B0503020204020204" pitchFamily="34" charset="-122"/>
              <a:ea typeface="微软雅黑" panose="020B0503020204020204" pitchFamily="34" charset="-122"/>
            </a:endParaRPr>
          </a:p>
        </p:txBody>
      </p:sp>
      <p:pic>
        <p:nvPicPr>
          <p:cNvPr id="49" name="Picture 19">
            <a:extLst>
              <a:ext uri="{FF2B5EF4-FFF2-40B4-BE49-F238E27FC236}">
                <a16:creationId xmlns:a16="http://schemas.microsoft.com/office/drawing/2014/main" id="{50EC2C6B-602C-4B8A-9C47-0F126707E14F}"/>
              </a:ext>
            </a:extLst>
          </p:cNvPr>
          <p:cNvPicPr>
            <a:picLocks noChangeAspect="1"/>
          </p:cNvPicPr>
          <p:nvPr/>
        </p:nvPicPr>
        <p:blipFill>
          <a:blip r:embed="rId2"/>
          <a:srcRect t="1684" b="1684"/>
          <a:stretch>
            <a:fillRect/>
          </a:stretch>
        </p:blipFill>
        <p:spPr>
          <a:xfrm>
            <a:off x="421517" y="5822578"/>
            <a:ext cx="802696" cy="753334"/>
          </a:xfrm>
          <a:prstGeom prst="rect">
            <a:avLst/>
          </a:prstGeom>
          <a:noFill/>
          <a:ln w="25400" cap="flat" cmpd="sng">
            <a:noFill/>
            <a:prstDash val="solid"/>
            <a:round/>
          </a:ln>
        </p:spPr>
      </p:pic>
      <p:sp>
        <p:nvSpPr>
          <p:cNvPr id="50" name="AutoShape 20">
            <a:extLst>
              <a:ext uri="{FF2B5EF4-FFF2-40B4-BE49-F238E27FC236}">
                <a16:creationId xmlns:a16="http://schemas.microsoft.com/office/drawing/2014/main" id="{2FEF537E-0A01-4E21-B29A-4BF152739868}"/>
              </a:ext>
            </a:extLst>
          </p:cNvPr>
          <p:cNvSpPr/>
          <p:nvPr/>
        </p:nvSpPr>
        <p:spPr>
          <a:xfrm>
            <a:off x="1499473" y="5691245"/>
            <a:ext cx="4871578" cy="1016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defRPr/>
            </a:pPr>
            <a:r>
              <a:rPr lang="en-US" sz="1600" b="1" kern="0" dirty="0" err="1">
                <a:solidFill>
                  <a:srgbClr val="D81E06"/>
                </a:solidFill>
                <a:latin typeface="Noto Sans SC"/>
                <a:ea typeface="Noto Sans SC"/>
                <a:sym typeface="Noto Sans SC"/>
              </a:rPr>
              <a:t>国际规则：ITU“先登先占</a:t>
            </a:r>
            <a:r>
              <a:rPr lang="en-US" sz="1600" b="1" kern="0" dirty="0">
                <a:solidFill>
                  <a:srgbClr val="D81E06"/>
                </a:solidFill>
                <a:latin typeface="Noto Sans SC"/>
                <a:ea typeface="Noto Sans SC"/>
                <a:sym typeface="Noto Sans SC"/>
              </a:rPr>
              <a:t>”</a:t>
            </a:r>
            <a:r>
              <a:rPr lang="zh-CN" altLang="en-US" sz="1600" b="1" kern="0" dirty="0">
                <a:solidFill>
                  <a:srgbClr val="D81E06"/>
                </a:solidFill>
                <a:latin typeface="Noto Sans SC"/>
                <a:ea typeface="Noto Sans SC"/>
                <a:sym typeface="Noto Sans SC"/>
              </a:rPr>
              <a:t>原则</a:t>
            </a:r>
            <a:endParaRPr lang="en-US" sz="1600" b="1" kern="0" dirty="0">
              <a:solidFill>
                <a:srgbClr val="D81E06"/>
              </a:solidFill>
              <a:latin typeface="Noto Sans SC"/>
              <a:ea typeface="Noto Sans SC"/>
              <a:sym typeface="Arial"/>
            </a:endParaRPr>
          </a:p>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374151"/>
                </a:solidFill>
                <a:effectLst/>
                <a:uLnTx/>
                <a:uFillTx/>
                <a:latin typeface="微软雅黑" panose="020B0503020204020204" pitchFamily="34" charset="-122"/>
                <a:ea typeface="微软雅黑" panose="020B0503020204020204" pitchFamily="34" charset="-122"/>
                <a:cs typeface="Noto Sans SC"/>
                <a:sym typeface="Noto Sans SC"/>
              </a:rPr>
              <a:t>频轨资源是不可再生的战略稀缺资源，申报窗口期竞争激烈，谁先完成部署，谁就掌握主动权。</a:t>
            </a:r>
            <a:r>
              <a:rPr kumimoji="0" 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Noto Sans SC"/>
                <a:sym typeface="Noto Sans SC"/>
              </a:rPr>
              <a:t>7-9-12-14</a:t>
            </a:r>
            <a:r>
              <a:rPr kumimoji="0" lang="en-US"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Noto Sans SC"/>
                <a:sym typeface="Noto Sans SC"/>
              </a:rPr>
              <a:t> </a:t>
            </a:r>
            <a:r>
              <a:rPr kumimoji="0" lang="zh-CN" altLang="en-US" sz="1400" b="0" i="0" u="none" strike="noStrike" kern="0" cap="none" spc="0" normalizeH="0" baseline="0" noProof="0" dirty="0">
                <a:ln>
                  <a:noFill/>
                </a:ln>
                <a:solidFill>
                  <a:srgbClr val="374151"/>
                </a:solidFill>
                <a:effectLst/>
                <a:uLnTx/>
                <a:uFillTx/>
                <a:latin typeface="微软雅黑" panose="020B0503020204020204" pitchFamily="34" charset="-122"/>
                <a:ea typeface="微软雅黑" panose="020B0503020204020204" pitchFamily="34" charset="-122"/>
                <a:cs typeface="Noto Sans SC"/>
                <a:sym typeface="Noto Sans SC"/>
              </a:rPr>
              <a:t>刚性履约规则。</a:t>
            </a:r>
            <a:endParaRPr kumimoji="0" lang="en-US" sz="1400" b="0" i="0" u="none" strike="noStrike" kern="0" cap="none" spc="0" normalizeH="0" baseline="0" noProof="0" dirty="0">
              <a:ln>
                <a:noFill/>
              </a:ln>
              <a:solidFill>
                <a:srgbClr val="374151"/>
              </a:solidFill>
              <a:effectLst/>
              <a:uLnTx/>
              <a:uFillTx/>
              <a:latin typeface="微软雅黑" panose="020B0503020204020204" pitchFamily="34" charset="-122"/>
              <a:ea typeface="微软雅黑" panose="020B0503020204020204" pitchFamily="34" charset="-122"/>
              <a:cs typeface="Noto Sans SC"/>
              <a:sym typeface="Noto Sans SC"/>
            </a:endParaRPr>
          </a:p>
        </p:txBody>
      </p:sp>
      <p:sp>
        <p:nvSpPr>
          <p:cNvPr id="51" name="AutoShape 21">
            <a:extLst>
              <a:ext uri="{FF2B5EF4-FFF2-40B4-BE49-F238E27FC236}">
                <a16:creationId xmlns:a16="http://schemas.microsoft.com/office/drawing/2014/main" id="{253F8B5E-E6BA-4CC0-8C52-FA76E85CDFEC}"/>
              </a:ext>
            </a:extLst>
          </p:cNvPr>
          <p:cNvSpPr/>
          <p:nvPr/>
        </p:nvSpPr>
        <p:spPr>
          <a:xfrm>
            <a:off x="6893000" y="5691245"/>
            <a:ext cx="4871578" cy="1016000"/>
          </a:xfrm>
          <a:prstGeom prst="rect">
            <a:avLst/>
          </a:prstGeom>
          <a:noFill/>
          <a:ln w="12700" cap="flat" cmpd="sng">
            <a:noFill/>
            <a:prstDash val="solid"/>
            <a:round/>
          </a:ln>
        </p:spPr>
        <p:txBody>
          <a:bodyPr vert="horz" wrap="square" lIns="0" tIns="0" rIns="0" bIns="0" rtlCol="0" anchor="ctr" anchorCtr="0"/>
          <a:lstStyle/>
          <a:p>
            <a:pPr marR="0" lvl="0" indent="0" fontAlgn="auto">
              <a:lnSpc>
                <a:spcPct val="125000"/>
              </a:lnSpc>
              <a:spcBef>
                <a:spcPts val="0"/>
              </a:spcBef>
              <a:spcAft>
                <a:spcPts val="0"/>
              </a:spcAft>
              <a:buClr>
                <a:srgbClr val="000000"/>
              </a:buClr>
              <a:buSzTx/>
              <a:buFont typeface="Arial"/>
              <a:buNone/>
              <a:tabLst/>
              <a:defRPr/>
            </a:pPr>
            <a:r>
              <a:rPr lang="en-US" sz="1600" b="1" kern="0" dirty="0">
                <a:solidFill>
                  <a:srgbClr val="D81E06"/>
                </a:solidFill>
                <a:latin typeface="Noto Sans SC"/>
                <a:ea typeface="Noto Sans SC"/>
                <a:sym typeface="Noto Sans SC"/>
              </a:rPr>
              <a:t>中国行动：20万+资源申报，60+机构集结</a:t>
            </a:r>
            <a:endParaRPr lang="en-US" sz="1600" b="1" kern="0" dirty="0">
              <a:solidFill>
                <a:srgbClr val="D81E06"/>
              </a:solidFill>
              <a:latin typeface="Noto Sans SC"/>
              <a:ea typeface="Noto Sans SC"/>
              <a:sym typeface="Arial"/>
            </a:endParaRPr>
          </a:p>
          <a:p>
            <a:pPr>
              <a:lnSpc>
                <a:spcPct val="108333"/>
              </a:lnSpc>
              <a:buClr>
                <a:srgbClr val="000000"/>
              </a:buClr>
            </a:pPr>
            <a:r>
              <a:rPr lang="en-US" sz="1400" kern="0" dirty="0">
                <a:solidFill>
                  <a:srgbClr val="374151"/>
                </a:solidFill>
                <a:latin typeface="微软雅黑" panose="020B0503020204020204" pitchFamily="34" charset="-122"/>
                <a:ea typeface="微软雅黑" panose="020B0503020204020204" pitchFamily="34" charset="-122"/>
                <a:sym typeface="Noto Sans SC"/>
              </a:rPr>
              <a:t>2025</a:t>
            </a:r>
            <a:r>
              <a:rPr lang="zh-CN" altLang="en-US" sz="1400" kern="0" dirty="0">
                <a:solidFill>
                  <a:srgbClr val="374151"/>
                </a:solidFill>
                <a:latin typeface="微软雅黑" panose="020B0503020204020204" pitchFamily="34" charset="-122"/>
                <a:ea typeface="微软雅黑" panose="020B0503020204020204" pitchFamily="34" charset="-122"/>
                <a:sym typeface="Noto Sans SC"/>
              </a:rPr>
              <a:t>年</a:t>
            </a:r>
            <a:r>
              <a:rPr lang="en-US" altLang="zh-CN" sz="1400" kern="0" dirty="0">
                <a:solidFill>
                  <a:srgbClr val="374151"/>
                </a:solidFill>
                <a:latin typeface="微软雅黑" panose="020B0503020204020204" pitchFamily="34" charset="-122"/>
                <a:ea typeface="微软雅黑" panose="020B0503020204020204" pitchFamily="34" charset="-122"/>
                <a:sym typeface="Noto Sans SC"/>
              </a:rPr>
              <a:t>12</a:t>
            </a:r>
            <a:r>
              <a:rPr lang="zh-CN" altLang="en-US" sz="1400" kern="0" dirty="0">
                <a:solidFill>
                  <a:srgbClr val="374151"/>
                </a:solidFill>
                <a:latin typeface="微软雅黑" panose="020B0503020204020204" pitchFamily="34" charset="-122"/>
                <a:ea typeface="微软雅黑" panose="020B0503020204020204" pitchFamily="34" charset="-122"/>
                <a:sym typeface="Noto Sans SC"/>
              </a:rPr>
              <a:t>月</a:t>
            </a:r>
            <a:r>
              <a:rPr lang="en-US" sz="1400" kern="0" dirty="0">
                <a:solidFill>
                  <a:srgbClr val="374151"/>
                </a:solidFill>
                <a:latin typeface="微软雅黑" panose="020B0503020204020204" pitchFamily="34" charset="-122"/>
                <a:ea typeface="微软雅黑" panose="020B0503020204020204" pitchFamily="34" charset="-122"/>
                <a:sym typeface="Noto Sans SC"/>
              </a:rPr>
              <a:t>我国已向ITU申报20.3万颗卫星频轨资源，凝聚央国企、科研院校与商业航天合力，筑牢太空战略根基。</a:t>
            </a:r>
          </a:p>
        </p:txBody>
      </p:sp>
      <p:sp>
        <p:nvSpPr>
          <p:cNvPr id="52" name="文本框 51">
            <a:extLst>
              <a:ext uri="{FF2B5EF4-FFF2-40B4-BE49-F238E27FC236}">
                <a16:creationId xmlns:a16="http://schemas.microsoft.com/office/drawing/2014/main" id="{7855AE1C-CFDF-49EA-ACE5-2FEAC59600F2}"/>
              </a:ext>
            </a:extLst>
          </p:cNvPr>
          <p:cNvSpPr txBox="1"/>
          <p:nvPr/>
        </p:nvSpPr>
        <p:spPr>
          <a:xfrm>
            <a:off x="3742032" y="5185625"/>
            <a:ext cx="4817245" cy="442109"/>
          </a:xfrm>
          <a:prstGeom prst="rect">
            <a:avLst/>
          </a:prstGeom>
          <a:noFill/>
        </p:spPr>
        <p:txBody>
          <a:bodyPr wrap="square">
            <a:spAutoFit/>
          </a:bodyPr>
          <a:lstStyle/>
          <a:p>
            <a:pPr algn="ctr">
              <a:lnSpc>
                <a:spcPct val="125000"/>
              </a:lnSpc>
              <a:defRPr/>
            </a:pPr>
            <a:r>
              <a:rPr lang="en-US" altLang="zh-CN" sz="2000" b="1" kern="0" dirty="0">
                <a:solidFill>
                  <a:srgbClr val="D81E06"/>
                </a:solidFill>
                <a:latin typeface="Noto Sans SC"/>
                <a:ea typeface="Noto Sans SC"/>
                <a:sym typeface="Noto Sans SC"/>
              </a:rPr>
              <a:t>02. </a:t>
            </a:r>
            <a:r>
              <a:rPr lang="zh-CN" altLang="en-US" sz="2000" b="1" kern="0" dirty="0">
                <a:solidFill>
                  <a:srgbClr val="D81E06"/>
                </a:solidFill>
                <a:latin typeface="Noto Sans SC"/>
                <a:ea typeface="Noto Sans SC"/>
                <a:sym typeface="Noto Sans SC"/>
              </a:rPr>
              <a:t>核心博弈：频轨资源的战略争夺</a:t>
            </a:r>
            <a:endParaRPr lang="en-US" altLang="zh-CN" sz="2000" b="1" kern="0" dirty="0">
              <a:solidFill>
                <a:srgbClr val="D81E06"/>
              </a:solidFill>
              <a:latin typeface="Noto Sans SC"/>
              <a:ea typeface="Noto Sans SC"/>
            </a:endParaRPr>
          </a:p>
        </p:txBody>
      </p:sp>
      <p:cxnSp>
        <p:nvCxnSpPr>
          <p:cNvPr id="53" name="Connector 7">
            <a:extLst>
              <a:ext uri="{FF2B5EF4-FFF2-40B4-BE49-F238E27FC236}">
                <a16:creationId xmlns:a16="http://schemas.microsoft.com/office/drawing/2014/main" id="{3B14E6C9-B3FA-4D1F-B04E-B0861BB7479B}"/>
              </a:ext>
            </a:extLst>
          </p:cNvPr>
          <p:cNvCxnSpPr>
            <a:cxnSpLocks/>
          </p:cNvCxnSpPr>
          <p:nvPr/>
        </p:nvCxnSpPr>
        <p:spPr>
          <a:xfrm>
            <a:off x="3563161" y="5652992"/>
            <a:ext cx="5004000" cy="1"/>
          </a:xfrm>
          <a:prstGeom prst="straightConnector1">
            <a:avLst/>
          </a:prstGeom>
          <a:solidFill>
            <a:srgbClr val="DEE0E3">
              <a:alpha val="100000"/>
            </a:srgbClr>
          </a:solidFill>
          <a:ln w="12700" cap="flat" cmpd="sng">
            <a:solidFill>
              <a:srgbClr val="D81E06">
                <a:alpha val="60000"/>
              </a:srgbClr>
            </a:solidFill>
            <a:prstDash val="solid"/>
            <a:round/>
            <a:headEnd type="none" w="med" len="med"/>
            <a:tailEnd type="none" w="med" len="med"/>
          </a:ln>
        </p:spPr>
      </p:cxnSp>
      <p:sp>
        <p:nvSpPr>
          <p:cNvPr id="54" name="AutoShape 27">
            <a:extLst>
              <a:ext uri="{FF2B5EF4-FFF2-40B4-BE49-F238E27FC236}">
                <a16:creationId xmlns:a16="http://schemas.microsoft.com/office/drawing/2014/main" id="{C20AF899-13FF-4C4C-B3BF-83053DF61C56}"/>
              </a:ext>
            </a:extLst>
          </p:cNvPr>
          <p:cNvSpPr/>
          <p:nvPr/>
        </p:nvSpPr>
        <p:spPr>
          <a:xfrm>
            <a:off x="241299" y="1100468"/>
            <a:ext cx="11696701" cy="3943976"/>
          </a:xfrm>
          <a:prstGeom prst="roundRect">
            <a:avLst>
              <a:gd name="adj" fmla="val 0"/>
            </a:avLst>
          </a:prstGeom>
          <a:solidFill>
            <a:schemeClr val="bg2">
              <a:lumMod val="20000"/>
              <a:lumOff val="80000"/>
              <a:alpha val="35000"/>
            </a:schemeClr>
          </a:solidFill>
          <a:ln w="25400" cap="flat" cmpd="sng">
            <a:solidFill>
              <a:schemeClr val="bg2"/>
            </a:solidFill>
            <a:prstDash val="solid"/>
            <a:round/>
          </a:ln>
        </p:spPr>
        <p:txBody>
          <a:bodyPr vert="horz" wrap="square" lIns="63500" tIns="63500" rIns="63500" bIns="63500" rtlCol="0" anchor="ctr"/>
          <a:lstStyle/>
          <a:p>
            <a:pPr algn="ctr">
              <a:defRPr/>
            </a:pPr>
            <a:endParaRPr sz="2000">
              <a:latin typeface="微软雅黑" panose="020B0503020204020204" pitchFamily="34" charset="-122"/>
              <a:ea typeface="微软雅黑" panose="020B0503020204020204" pitchFamily="34" charset="-122"/>
            </a:endParaRPr>
          </a:p>
        </p:txBody>
      </p:sp>
      <p:sp>
        <p:nvSpPr>
          <p:cNvPr id="55" name="AutoShape 4">
            <a:extLst>
              <a:ext uri="{FF2B5EF4-FFF2-40B4-BE49-F238E27FC236}">
                <a16:creationId xmlns:a16="http://schemas.microsoft.com/office/drawing/2014/main" id="{50DA8A41-32D1-4121-B08F-1B59D7ABAB41}"/>
              </a:ext>
            </a:extLst>
          </p:cNvPr>
          <p:cNvSpPr/>
          <p:nvPr/>
        </p:nvSpPr>
        <p:spPr>
          <a:xfrm>
            <a:off x="430787" y="1744608"/>
            <a:ext cx="3415383" cy="3198007"/>
          </a:xfrm>
          <a:prstGeom prst="roundRect">
            <a:avLst>
              <a:gd name="adj" fmla="val 0"/>
            </a:avLst>
          </a:prstGeom>
          <a:solidFill>
            <a:srgbClr val="FFFFFF">
              <a:alpha val="0"/>
            </a:srgbClr>
          </a:solidFill>
          <a:ln w="12700" cap="flat" cmpd="sng">
            <a:solidFill>
              <a:schemeClr val="bg1">
                <a:lumMod val="75000"/>
              </a:schemeClr>
            </a:solid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56" name="Picture 5">
            <a:extLst>
              <a:ext uri="{FF2B5EF4-FFF2-40B4-BE49-F238E27FC236}">
                <a16:creationId xmlns:a16="http://schemas.microsoft.com/office/drawing/2014/main" id="{BCADFADA-381E-46D5-88E5-EDD6FE447E33}"/>
              </a:ext>
            </a:extLst>
          </p:cNvPr>
          <p:cNvPicPr>
            <a:picLocks noChangeAspect="1"/>
          </p:cNvPicPr>
          <p:nvPr/>
        </p:nvPicPr>
        <p:blipFill>
          <a:blip r:embed="rId3"/>
          <a:srcRect l="1919" r="1919"/>
          <a:stretch>
            <a:fillRect/>
          </a:stretch>
        </p:blipFill>
        <p:spPr>
          <a:xfrm>
            <a:off x="562148" y="1867231"/>
            <a:ext cx="3152661" cy="1591126"/>
          </a:xfrm>
          <a:prstGeom prst="rect">
            <a:avLst/>
          </a:prstGeom>
          <a:noFill/>
          <a:ln w="25400" cap="flat" cmpd="sng">
            <a:noFill/>
            <a:prstDash val="solid"/>
            <a:round/>
          </a:ln>
        </p:spPr>
      </p:pic>
      <p:sp>
        <p:nvSpPr>
          <p:cNvPr id="57" name="AutoShape 6">
            <a:extLst>
              <a:ext uri="{FF2B5EF4-FFF2-40B4-BE49-F238E27FC236}">
                <a16:creationId xmlns:a16="http://schemas.microsoft.com/office/drawing/2014/main" id="{D62E3FE7-B1A7-4879-9F86-8F4D793247FA}"/>
              </a:ext>
            </a:extLst>
          </p:cNvPr>
          <p:cNvSpPr/>
          <p:nvPr/>
        </p:nvSpPr>
        <p:spPr>
          <a:xfrm>
            <a:off x="562148" y="3477785"/>
            <a:ext cx="3152661" cy="381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D81E06"/>
                </a:solidFill>
                <a:effectLst/>
                <a:uLnTx/>
                <a:uFillTx/>
                <a:latin typeface="Noto Sans SC"/>
                <a:ea typeface="Noto Sans SC"/>
                <a:cs typeface="Noto Sans SC"/>
                <a:sym typeface="Noto Sans SC"/>
              </a:rPr>
              <a:t>SpaceX </a:t>
            </a:r>
            <a:r>
              <a:rPr kumimoji="0" lang="en-US" sz="1600" b="1" i="0" u="none" strike="noStrike" kern="0" cap="none" spc="0" normalizeH="0" baseline="0" noProof="0" dirty="0" err="1">
                <a:ln>
                  <a:noFill/>
                </a:ln>
                <a:solidFill>
                  <a:srgbClr val="D81E06"/>
                </a:solidFill>
                <a:effectLst/>
                <a:uLnTx/>
                <a:uFillTx/>
                <a:latin typeface="Noto Sans SC"/>
                <a:ea typeface="Noto Sans SC"/>
                <a:cs typeface="Noto Sans SC"/>
                <a:sym typeface="Noto Sans SC"/>
              </a:rPr>
              <a:t>星链</a:t>
            </a:r>
            <a:endParaRPr kumimoji="0" lang="en-US" sz="11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58" name="Connector 7">
            <a:extLst>
              <a:ext uri="{FF2B5EF4-FFF2-40B4-BE49-F238E27FC236}">
                <a16:creationId xmlns:a16="http://schemas.microsoft.com/office/drawing/2014/main" id="{4AF1C745-CD3B-4FBE-A148-C2BD1BAB7224}"/>
              </a:ext>
            </a:extLst>
          </p:cNvPr>
          <p:cNvCxnSpPr/>
          <p:nvPr/>
        </p:nvCxnSpPr>
        <p:spPr>
          <a:xfrm rot="21585677">
            <a:off x="562161" y="3915935"/>
            <a:ext cx="3152661" cy="12700"/>
          </a:xfrm>
          <a:prstGeom prst="straightConnector1">
            <a:avLst/>
          </a:prstGeom>
          <a:solidFill>
            <a:srgbClr val="DEE0E3">
              <a:alpha val="100000"/>
            </a:srgbClr>
          </a:solidFill>
          <a:ln w="12700" cap="flat" cmpd="sng">
            <a:solidFill>
              <a:srgbClr val="D81E06">
                <a:alpha val="60000"/>
              </a:srgbClr>
            </a:solidFill>
            <a:prstDash val="solid"/>
            <a:round/>
            <a:headEnd type="none" w="med" len="med"/>
            <a:tailEnd type="none" w="med" len="med"/>
          </a:ln>
        </p:spPr>
      </p:cxnSp>
      <p:sp>
        <p:nvSpPr>
          <p:cNvPr id="59" name="AutoShape 8">
            <a:extLst>
              <a:ext uri="{FF2B5EF4-FFF2-40B4-BE49-F238E27FC236}">
                <a16:creationId xmlns:a16="http://schemas.microsoft.com/office/drawing/2014/main" id="{CC3D5C52-4A29-47F0-B85A-6D88EFDB3B09}"/>
              </a:ext>
            </a:extLst>
          </p:cNvPr>
          <p:cNvSpPr/>
          <p:nvPr/>
        </p:nvSpPr>
        <p:spPr>
          <a:xfrm>
            <a:off x="562148" y="3990116"/>
            <a:ext cx="3152661" cy="889000"/>
          </a:xfrm>
          <a:prstGeom prst="rect">
            <a:avLst/>
          </a:prstGeom>
          <a:noFill/>
          <a:ln w="12700" cap="flat" cmpd="sng">
            <a:noFill/>
            <a:prstDash val="solid"/>
            <a:round/>
          </a:ln>
        </p:spPr>
        <p:txBody>
          <a:bodyPr vert="horz" wrap="square" lIns="0" tIns="0" rIns="0" bIns="0" rtlCol="0" anchor="ctr" anchorCtr="0"/>
          <a:lstStyle/>
          <a:p>
            <a:pPr marL="0" marR="0" lvl="0" indent="0" algn="just" defTabSz="914400" rtl="0" eaLnBrk="1" fontAlgn="auto" latinLnBrk="0" hangingPunct="1">
              <a:lnSpc>
                <a:spcPct val="108333"/>
              </a:lnSpc>
              <a:spcBef>
                <a:spcPts val="0"/>
              </a:spcBef>
              <a:spcAft>
                <a:spcPts val="0"/>
              </a:spcAft>
              <a:buClr>
                <a:srgbClr val="000000"/>
              </a:buClr>
              <a:buSzTx/>
              <a:buFont typeface="Arial"/>
              <a:buNone/>
              <a:tabLst/>
              <a:defRPr/>
            </a:pPr>
            <a:r>
              <a:rPr kumimoji="0" lang="zh-CN" altLang="en-US" sz="1400" b="0" i="0" u="none" strike="noStrike" kern="0" cap="none" spc="0" normalizeH="0" baseline="0" noProof="0" dirty="0">
                <a:ln>
                  <a:noFill/>
                </a:ln>
                <a:solidFill>
                  <a:srgbClr val="374151"/>
                </a:solidFill>
                <a:effectLst/>
                <a:uLnTx/>
                <a:uFillTx/>
                <a:latin typeface="微软雅黑" panose="020B0503020204020204" pitchFamily="34" charset="-122"/>
                <a:ea typeface="微软雅黑" panose="020B0503020204020204" pitchFamily="34" charset="-122"/>
                <a:cs typeface="Noto Sans SC"/>
                <a:sym typeface="Noto Sans SC"/>
              </a:rPr>
              <a:t>已部署卫星超 </a:t>
            </a:r>
            <a:r>
              <a:rPr lang="en-US" sz="1600" b="1" kern="0" dirty="0">
                <a:solidFill>
                  <a:schemeClr val="accent1"/>
                </a:solidFill>
                <a:latin typeface="微软雅黑" panose="020B0503020204020204" pitchFamily="34" charset="-122"/>
                <a:ea typeface="微软雅黑" panose="020B0503020204020204" pitchFamily="34" charset="-122"/>
                <a:sym typeface="Noto Sans SC"/>
              </a:rPr>
              <a:t>11,000</a:t>
            </a:r>
            <a:r>
              <a:rPr kumimoji="0" lang="en-US" sz="1400" b="1" i="0" u="none" strike="noStrike" kern="0" cap="none" spc="0" normalizeH="0" baseline="0" noProof="0" dirty="0">
                <a:ln>
                  <a:noFill/>
                </a:ln>
                <a:solidFill>
                  <a:srgbClr val="374151"/>
                </a:solidFill>
                <a:effectLst/>
                <a:uLnTx/>
                <a:uFillTx/>
                <a:latin typeface="微软雅黑" panose="020B0503020204020204" pitchFamily="34" charset="-122"/>
                <a:ea typeface="微软雅黑" panose="020B0503020204020204" pitchFamily="34" charset="-122"/>
                <a:cs typeface="Noto Sans SC"/>
                <a:sym typeface="Noto Sans SC"/>
              </a:rPr>
              <a:t> </a:t>
            </a:r>
            <a:r>
              <a:rPr kumimoji="0" lang="en-US" sz="1400" b="0" i="0" u="none" strike="noStrike" kern="0" cap="none" spc="0" normalizeH="0" baseline="0" noProof="0" dirty="0">
                <a:ln>
                  <a:noFill/>
                </a:ln>
                <a:solidFill>
                  <a:srgbClr val="374151"/>
                </a:solidFill>
                <a:effectLst/>
                <a:uLnTx/>
                <a:uFillTx/>
                <a:latin typeface="微软雅黑" panose="020B0503020204020204" pitchFamily="34" charset="-122"/>
                <a:ea typeface="微软雅黑" panose="020B0503020204020204" pitchFamily="34" charset="-122"/>
                <a:cs typeface="Noto Sans SC"/>
                <a:sym typeface="Noto Sans SC"/>
              </a:rPr>
              <a:t>颗，</a:t>
            </a:r>
            <a:r>
              <a:rPr kumimoji="0" lang="zh-CN" altLang="en-US" sz="1400" b="0" i="0" u="none" strike="noStrike" kern="0" cap="none" spc="0" normalizeH="0" baseline="0" noProof="0" dirty="0">
                <a:ln>
                  <a:noFill/>
                </a:ln>
                <a:solidFill>
                  <a:srgbClr val="374151"/>
                </a:solidFill>
                <a:effectLst/>
                <a:uLnTx/>
                <a:uFillTx/>
                <a:latin typeface="微软雅黑" panose="020B0503020204020204" pitchFamily="34" charset="-122"/>
                <a:ea typeface="微软雅黑" panose="020B0503020204020204" pitchFamily="34" charset="-122"/>
                <a:cs typeface="Noto Sans SC"/>
                <a:sym typeface="Noto Sans SC"/>
              </a:rPr>
              <a:t>覆盖全球</a:t>
            </a:r>
            <a:r>
              <a:rPr kumimoji="0" lang="en-US" sz="1400" b="0" i="0" u="none" strike="noStrike" kern="0" cap="none" spc="0" normalizeH="0" baseline="0" noProof="0" dirty="0">
                <a:ln>
                  <a:noFill/>
                </a:ln>
                <a:solidFill>
                  <a:srgbClr val="374151"/>
                </a:solidFill>
                <a:effectLst/>
                <a:uLnTx/>
                <a:uFillTx/>
                <a:latin typeface="微软雅黑" panose="020B0503020204020204" pitchFamily="34" charset="-122"/>
                <a:ea typeface="微软雅黑" panose="020B0503020204020204" pitchFamily="34" charset="-122"/>
                <a:cs typeface="Noto Sans SC"/>
                <a:sym typeface="Noto Sans SC"/>
              </a:rPr>
              <a:t>150+国家，用户规模</a:t>
            </a:r>
            <a:r>
              <a:rPr kumimoji="0" lang="zh-CN" altLang="en-US" sz="1400" b="0" i="0" u="none" strike="noStrike" kern="0" cap="none" spc="0" normalizeH="0" baseline="0" noProof="0" dirty="0">
                <a:ln>
                  <a:noFill/>
                </a:ln>
                <a:solidFill>
                  <a:srgbClr val="374151"/>
                </a:solidFill>
                <a:effectLst/>
                <a:uLnTx/>
                <a:uFillTx/>
                <a:latin typeface="微软雅黑" panose="020B0503020204020204" pitchFamily="34" charset="-122"/>
                <a:ea typeface="微软雅黑" panose="020B0503020204020204" pitchFamily="34" charset="-122"/>
                <a:cs typeface="Noto Sans SC"/>
                <a:sym typeface="Noto Sans SC"/>
              </a:rPr>
              <a:t>突破</a:t>
            </a:r>
            <a:r>
              <a:rPr kumimoji="0" lang="en-US" altLang="zh-CN" sz="1400" b="0" i="0" u="none" strike="noStrike" kern="0" cap="none" spc="0" normalizeH="0" baseline="0" noProof="0" dirty="0">
                <a:ln>
                  <a:noFill/>
                </a:ln>
                <a:solidFill>
                  <a:srgbClr val="374151"/>
                </a:solidFill>
                <a:effectLst/>
                <a:uLnTx/>
                <a:uFillTx/>
                <a:latin typeface="微软雅黑" panose="020B0503020204020204" pitchFamily="34" charset="-122"/>
                <a:ea typeface="微软雅黑" panose="020B0503020204020204" pitchFamily="34" charset="-122"/>
                <a:cs typeface="Noto Sans SC"/>
                <a:sym typeface="Noto Sans SC"/>
              </a:rPr>
              <a:t>1200</a:t>
            </a:r>
            <a:r>
              <a:rPr kumimoji="0" lang="en-US" sz="1400" b="0" i="0" u="none" strike="noStrike" kern="0" cap="none" spc="0" normalizeH="0" baseline="0" noProof="0" dirty="0">
                <a:ln>
                  <a:noFill/>
                </a:ln>
                <a:solidFill>
                  <a:srgbClr val="374151"/>
                </a:solidFill>
                <a:effectLst/>
                <a:uLnTx/>
                <a:uFillTx/>
                <a:latin typeface="微软雅黑" panose="020B0503020204020204" pitchFamily="34" charset="-122"/>
                <a:ea typeface="微软雅黑" panose="020B0503020204020204" pitchFamily="34" charset="-122"/>
                <a:cs typeface="Noto Sans SC"/>
                <a:sym typeface="Noto Sans SC"/>
              </a:rPr>
              <a:t>万，构建了成熟的低轨通信生态。</a:t>
            </a:r>
            <a:endParaRPr kumimoji="0" 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a:sym typeface="Arial"/>
            </a:endParaRPr>
          </a:p>
        </p:txBody>
      </p:sp>
      <p:sp>
        <p:nvSpPr>
          <p:cNvPr id="60" name="AutoShape 9">
            <a:extLst>
              <a:ext uri="{FF2B5EF4-FFF2-40B4-BE49-F238E27FC236}">
                <a16:creationId xmlns:a16="http://schemas.microsoft.com/office/drawing/2014/main" id="{B85F455E-0D1D-48C5-8E79-C96954B916E9}"/>
              </a:ext>
            </a:extLst>
          </p:cNvPr>
          <p:cNvSpPr/>
          <p:nvPr/>
        </p:nvSpPr>
        <p:spPr>
          <a:xfrm>
            <a:off x="4390469" y="1744608"/>
            <a:ext cx="3415383" cy="3198007"/>
          </a:xfrm>
          <a:prstGeom prst="roundRect">
            <a:avLst>
              <a:gd name="adj" fmla="val 0"/>
            </a:avLst>
          </a:prstGeom>
          <a:solidFill>
            <a:srgbClr val="FFFFFF">
              <a:alpha val="0"/>
            </a:srgbClr>
          </a:solidFill>
          <a:ln w="12700" cap="flat" cmpd="sng">
            <a:solidFill>
              <a:schemeClr val="bg1">
                <a:lumMod val="75000"/>
              </a:schemeClr>
            </a:solid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61" name="Picture 10">
            <a:extLst>
              <a:ext uri="{FF2B5EF4-FFF2-40B4-BE49-F238E27FC236}">
                <a16:creationId xmlns:a16="http://schemas.microsoft.com/office/drawing/2014/main" id="{13D35065-7864-4784-94C4-EB9D67B886B7}"/>
              </a:ext>
            </a:extLst>
          </p:cNvPr>
          <p:cNvPicPr>
            <a:picLocks noChangeAspect="1"/>
          </p:cNvPicPr>
          <p:nvPr/>
        </p:nvPicPr>
        <p:blipFill>
          <a:blip r:embed="rId4"/>
          <a:srcRect l="1777" r="1777"/>
          <a:stretch>
            <a:fillRect/>
          </a:stretch>
        </p:blipFill>
        <p:spPr>
          <a:xfrm>
            <a:off x="4521830" y="1867231"/>
            <a:ext cx="3152661" cy="1591126"/>
          </a:xfrm>
          <a:prstGeom prst="rect">
            <a:avLst/>
          </a:prstGeom>
          <a:noFill/>
          <a:ln w="25400" cap="flat" cmpd="sng">
            <a:noFill/>
            <a:prstDash val="solid"/>
            <a:round/>
          </a:ln>
        </p:spPr>
      </p:pic>
      <p:sp>
        <p:nvSpPr>
          <p:cNvPr id="62" name="AutoShape 11">
            <a:extLst>
              <a:ext uri="{FF2B5EF4-FFF2-40B4-BE49-F238E27FC236}">
                <a16:creationId xmlns:a16="http://schemas.microsoft.com/office/drawing/2014/main" id="{649FEF56-32E9-4CE4-A856-CE5793C9ADEE}"/>
              </a:ext>
            </a:extLst>
          </p:cNvPr>
          <p:cNvSpPr/>
          <p:nvPr/>
        </p:nvSpPr>
        <p:spPr>
          <a:xfrm>
            <a:off x="4521830" y="3477785"/>
            <a:ext cx="3152661" cy="381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D81E06"/>
                </a:solidFill>
                <a:effectLst/>
                <a:uLnTx/>
                <a:uFillTx/>
                <a:latin typeface="Noto Sans SC"/>
                <a:ea typeface="Noto Sans SC"/>
                <a:cs typeface="Noto Sans SC"/>
                <a:sym typeface="Noto Sans SC"/>
              </a:rPr>
              <a:t>中国星网 GW星座</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63" name="Connector 12">
            <a:extLst>
              <a:ext uri="{FF2B5EF4-FFF2-40B4-BE49-F238E27FC236}">
                <a16:creationId xmlns:a16="http://schemas.microsoft.com/office/drawing/2014/main" id="{223FE042-67C9-4553-BF94-7BA1848470BA}"/>
              </a:ext>
            </a:extLst>
          </p:cNvPr>
          <p:cNvCxnSpPr/>
          <p:nvPr/>
        </p:nvCxnSpPr>
        <p:spPr>
          <a:xfrm rot="21585677">
            <a:off x="4521843" y="3915935"/>
            <a:ext cx="3152661" cy="12700"/>
          </a:xfrm>
          <a:prstGeom prst="straightConnector1">
            <a:avLst/>
          </a:prstGeom>
          <a:solidFill>
            <a:srgbClr val="DEE0E3">
              <a:alpha val="100000"/>
            </a:srgbClr>
          </a:solidFill>
          <a:ln w="12700" cap="flat" cmpd="sng">
            <a:solidFill>
              <a:srgbClr val="D81E06">
                <a:alpha val="60000"/>
              </a:srgbClr>
            </a:solidFill>
            <a:prstDash val="solid"/>
            <a:round/>
            <a:headEnd type="none" w="med" len="med"/>
            <a:tailEnd type="none" w="med" len="med"/>
          </a:ln>
        </p:spPr>
      </p:cxnSp>
      <p:sp>
        <p:nvSpPr>
          <p:cNvPr id="64" name="AutoShape 13">
            <a:extLst>
              <a:ext uri="{FF2B5EF4-FFF2-40B4-BE49-F238E27FC236}">
                <a16:creationId xmlns:a16="http://schemas.microsoft.com/office/drawing/2014/main" id="{3456DB48-727D-4E14-8A5C-44FA669D4D9B}"/>
              </a:ext>
            </a:extLst>
          </p:cNvPr>
          <p:cNvSpPr/>
          <p:nvPr/>
        </p:nvSpPr>
        <p:spPr>
          <a:xfrm>
            <a:off x="4521830" y="3990116"/>
            <a:ext cx="3204587" cy="889000"/>
          </a:xfrm>
          <a:prstGeom prst="rect">
            <a:avLst/>
          </a:prstGeom>
          <a:noFill/>
          <a:ln w="12700" cap="flat" cmpd="sng">
            <a:noFill/>
            <a:prstDash val="solid"/>
            <a:round/>
          </a:ln>
        </p:spPr>
        <p:txBody>
          <a:bodyPr vert="horz" wrap="square" lIns="0" tIns="0" rIns="0" bIns="0" rtlCol="0" anchor="ctr" anchorCtr="0"/>
          <a:lstStyle/>
          <a:p>
            <a:pPr algn="just">
              <a:lnSpc>
                <a:spcPct val="108333"/>
              </a:lnSpc>
              <a:buClr>
                <a:srgbClr val="000000"/>
              </a:buClr>
            </a:pPr>
            <a:r>
              <a:rPr lang="zh-CN" altLang="en-US" sz="1400" kern="0" dirty="0">
                <a:solidFill>
                  <a:srgbClr val="374151"/>
                </a:solidFill>
                <a:latin typeface="微软雅黑" panose="020B0503020204020204" pitchFamily="34" charset="-122"/>
                <a:ea typeface="微软雅黑" panose="020B0503020204020204" pitchFamily="34" charset="-122"/>
                <a:sym typeface="Noto Sans SC"/>
              </a:rPr>
              <a:t>国家级旗舰工程，规划规模达 </a:t>
            </a:r>
            <a:r>
              <a:rPr lang="en-US" sz="1600" b="1" kern="0" dirty="0">
                <a:solidFill>
                  <a:schemeClr val="accent1"/>
                </a:solidFill>
                <a:latin typeface="微软雅黑" panose="020B0503020204020204" pitchFamily="34" charset="-122"/>
                <a:ea typeface="微软雅黑" panose="020B0503020204020204" pitchFamily="34" charset="-122"/>
                <a:sym typeface="Noto Sans SC"/>
              </a:rPr>
              <a:t>12,992 </a:t>
            </a:r>
            <a:r>
              <a:rPr lang="zh-CN" altLang="en-US" sz="1400" kern="0" dirty="0">
                <a:solidFill>
                  <a:srgbClr val="374151"/>
                </a:solidFill>
                <a:latin typeface="微软雅黑" panose="020B0503020204020204" pitchFamily="34" charset="-122"/>
                <a:ea typeface="微软雅黑" panose="020B0503020204020204" pitchFamily="34" charset="-122"/>
                <a:sym typeface="Noto Sans SC"/>
              </a:rPr>
              <a:t>颗。截止</a:t>
            </a:r>
            <a:r>
              <a:rPr lang="en-US" altLang="zh-CN" sz="1400" kern="0" dirty="0">
                <a:solidFill>
                  <a:srgbClr val="374151"/>
                </a:solidFill>
                <a:latin typeface="微软雅黑" panose="020B0503020204020204" pitchFamily="34" charset="-122"/>
                <a:ea typeface="微软雅黑" panose="020B0503020204020204" pitchFamily="34" charset="-122"/>
                <a:sym typeface="Noto Sans SC"/>
              </a:rPr>
              <a:t>2026</a:t>
            </a:r>
            <a:r>
              <a:rPr lang="zh-CN" altLang="en-US" sz="1400" kern="0" dirty="0">
                <a:solidFill>
                  <a:srgbClr val="374151"/>
                </a:solidFill>
                <a:latin typeface="微软雅黑" panose="020B0503020204020204" pitchFamily="34" charset="-122"/>
                <a:ea typeface="微软雅黑" panose="020B0503020204020204" pitchFamily="34" charset="-122"/>
                <a:sym typeface="Noto Sans SC"/>
              </a:rPr>
              <a:t>年</a:t>
            </a:r>
            <a:r>
              <a:rPr lang="en-US" altLang="zh-CN" sz="1400" kern="0" dirty="0">
                <a:solidFill>
                  <a:srgbClr val="374151"/>
                </a:solidFill>
                <a:latin typeface="微软雅黑" panose="020B0503020204020204" pitchFamily="34" charset="-122"/>
                <a:ea typeface="微软雅黑" panose="020B0503020204020204" pitchFamily="34" charset="-122"/>
                <a:sym typeface="Noto Sans SC"/>
              </a:rPr>
              <a:t>9</a:t>
            </a:r>
            <a:r>
              <a:rPr lang="zh-CN" altLang="en-US" sz="1400" kern="0" dirty="0">
                <a:solidFill>
                  <a:srgbClr val="374151"/>
                </a:solidFill>
                <a:latin typeface="微软雅黑" panose="020B0503020204020204" pitchFamily="34" charset="-122"/>
                <a:ea typeface="微软雅黑" panose="020B0503020204020204" pitchFamily="34" charset="-122"/>
                <a:sym typeface="Noto Sans SC"/>
              </a:rPr>
              <a:t>月，在轨卫星</a:t>
            </a:r>
            <a:r>
              <a:rPr lang="en-US" altLang="zh-CN" sz="1400" kern="0" dirty="0">
                <a:solidFill>
                  <a:srgbClr val="374151"/>
                </a:solidFill>
                <a:latin typeface="微软雅黑" panose="020B0503020204020204" pitchFamily="34" charset="-122"/>
                <a:ea typeface="微软雅黑" panose="020B0503020204020204" pitchFamily="34" charset="-122"/>
                <a:sym typeface="Noto Sans SC"/>
              </a:rPr>
              <a:t>195</a:t>
            </a:r>
            <a:r>
              <a:rPr lang="zh-CN" altLang="en-US" sz="1400" kern="0" dirty="0">
                <a:solidFill>
                  <a:srgbClr val="374151"/>
                </a:solidFill>
                <a:latin typeface="微软雅黑" panose="020B0503020204020204" pitchFamily="34" charset="-122"/>
                <a:ea typeface="微软雅黑" panose="020B0503020204020204" pitchFamily="34" charset="-122"/>
                <a:sym typeface="Noto Sans SC"/>
              </a:rPr>
              <a:t>颗</a:t>
            </a:r>
            <a:r>
              <a:rPr lang="en-US" sz="1400" kern="0" dirty="0">
                <a:solidFill>
                  <a:srgbClr val="374151"/>
                </a:solidFill>
                <a:latin typeface="微软雅黑" panose="020B0503020204020204" pitchFamily="34" charset="-122"/>
                <a:ea typeface="微软雅黑" panose="020B0503020204020204" pitchFamily="34" charset="-122"/>
                <a:sym typeface="Noto Sans SC"/>
              </a:rPr>
              <a:t>，</a:t>
            </a:r>
            <a:r>
              <a:rPr lang="zh-CN" altLang="en-US" sz="1400" kern="0" dirty="0">
                <a:solidFill>
                  <a:srgbClr val="374151"/>
                </a:solidFill>
                <a:latin typeface="微软雅黑" panose="020B0503020204020204" pitchFamily="34" charset="-122"/>
                <a:ea typeface="微软雅黑" panose="020B0503020204020204" pitchFamily="34" charset="-122"/>
                <a:sym typeface="Noto Sans SC"/>
              </a:rPr>
              <a:t>稳步推进全球组网与基础设施建设。</a:t>
            </a:r>
            <a:endParaRPr lang="en-US" sz="1400" kern="0" dirty="0">
              <a:solidFill>
                <a:srgbClr val="374151"/>
              </a:solidFill>
              <a:latin typeface="微软雅黑" panose="020B0503020204020204" pitchFamily="34" charset="-122"/>
              <a:ea typeface="微软雅黑" panose="020B0503020204020204" pitchFamily="34" charset="-122"/>
              <a:sym typeface="Arial"/>
            </a:endParaRPr>
          </a:p>
        </p:txBody>
      </p:sp>
      <p:sp>
        <p:nvSpPr>
          <p:cNvPr id="65" name="AutoShape 14">
            <a:extLst>
              <a:ext uri="{FF2B5EF4-FFF2-40B4-BE49-F238E27FC236}">
                <a16:creationId xmlns:a16="http://schemas.microsoft.com/office/drawing/2014/main" id="{DBB7A3E8-613E-4AFE-84B2-6C3A57A3796F}"/>
              </a:ext>
            </a:extLst>
          </p:cNvPr>
          <p:cNvSpPr/>
          <p:nvPr/>
        </p:nvSpPr>
        <p:spPr>
          <a:xfrm>
            <a:off x="8327895" y="1744608"/>
            <a:ext cx="3415383" cy="3198007"/>
          </a:xfrm>
          <a:prstGeom prst="roundRect">
            <a:avLst>
              <a:gd name="adj" fmla="val 0"/>
            </a:avLst>
          </a:prstGeom>
          <a:solidFill>
            <a:srgbClr val="FFFFFF">
              <a:alpha val="0"/>
            </a:srgbClr>
          </a:solidFill>
          <a:ln w="12700" cap="flat" cmpd="sng">
            <a:solidFill>
              <a:schemeClr val="bg1">
                <a:lumMod val="75000"/>
              </a:schemeClr>
            </a:solid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66" name="Picture 15">
            <a:extLst>
              <a:ext uri="{FF2B5EF4-FFF2-40B4-BE49-F238E27FC236}">
                <a16:creationId xmlns:a16="http://schemas.microsoft.com/office/drawing/2014/main" id="{1C83BF1D-6ADC-4ACC-ACC6-10C7F9174EF3}"/>
              </a:ext>
            </a:extLst>
          </p:cNvPr>
          <p:cNvPicPr>
            <a:picLocks noChangeAspect="1"/>
          </p:cNvPicPr>
          <p:nvPr/>
        </p:nvPicPr>
        <p:blipFill>
          <a:blip r:embed="rId5"/>
          <a:srcRect t="12408" b="12408"/>
          <a:stretch>
            <a:fillRect/>
          </a:stretch>
        </p:blipFill>
        <p:spPr>
          <a:xfrm>
            <a:off x="8459256" y="1867231"/>
            <a:ext cx="3152661" cy="1591126"/>
          </a:xfrm>
          <a:prstGeom prst="rect">
            <a:avLst/>
          </a:prstGeom>
          <a:noFill/>
          <a:ln w="25400" cap="flat" cmpd="sng">
            <a:noFill/>
            <a:prstDash val="solid"/>
            <a:round/>
          </a:ln>
        </p:spPr>
      </p:pic>
      <p:sp>
        <p:nvSpPr>
          <p:cNvPr id="67" name="AutoShape 16">
            <a:extLst>
              <a:ext uri="{FF2B5EF4-FFF2-40B4-BE49-F238E27FC236}">
                <a16:creationId xmlns:a16="http://schemas.microsoft.com/office/drawing/2014/main" id="{1BBD488B-D5D6-4F02-B1F8-49CC6E3DBBD8}"/>
              </a:ext>
            </a:extLst>
          </p:cNvPr>
          <p:cNvSpPr/>
          <p:nvPr/>
        </p:nvSpPr>
        <p:spPr>
          <a:xfrm>
            <a:off x="8459256" y="3477785"/>
            <a:ext cx="3152661" cy="381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D81E06"/>
                </a:solidFill>
                <a:effectLst/>
                <a:uLnTx/>
                <a:uFillTx/>
                <a:latin typeface="Noto Sans SC"/>
                <a:ea typeface="Noto Sans SC"/>
                <a:cs typeface="Noto Sans SC"/>
                <a:sym typeface="Noto Sans SC"/>
              </a:rPr>
              <a:t>垣信卫星 千帆星座</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68" name="Connector 17">
            <a:extLst>
              <a:ext uri="{FF2B5EF4-FFF2-40B4-BE49-F238E27FC236}">
                <a16:creationId xmlns:a16="http://schemas.microsoft.com/office/drawing/2014/main" id="{EB3F3789-0FF8-4FB6-B132-625B542A6730}"/>
              </a:ext>
            </a:extLst>
          </p:cNvPr>
          <p:cNvCxnSpPr/>
          <p:nvPr/>
        </p:nvCxnSpPr>
        <p:spPr>
          <a:xfrm rot="21585677">
            <a:off x="8459269" y="3915935"/>
            <a:ext cx="3152661" cy="12700"/>
          </a:xfrm>
          <a:prstGeom prst="straightConnector1">
            <a:avLst/>
          </a:prstGeom>
          <a:solidFill>
            <a:srgbClr val="DEE0E3">
              <a:alpha val="100000"/>
            </a:srgbClr>
          </a:solidFill>
          <a:ln w="12700" cap="flat" cmpd="sng">
            <a:solidFill>
              <a:srgbClr val="D81E06">
                <a:alpha val="60000"/>
              </a:srgbClr>
            </a:solidFill>
            <a:prstDash val="solid"/>
            <a:round/>
            <a:headEnd type="none" w="med" len="med"/>
            <a:tailEnd type="none" w="med" len="med"/>
          </a:ln>
        </p:spPr>
      </p:cxnSp>
      <p:sp>
        <p:nvSpPr>
          <p:cNvPr id="69" name="AutoShape 18">
            <a:extLst>
              <a:ext uri="{FF2B5EF4-FFF2-40B4-BE49-F238E27FC236}">
                <a16:creationId xmlns:a16="http://schemas.microsoft.com/office/drawing/2014/main" id="{940EEE03-16D3-429A-8D91-042C0FB23BA3}"/>
              </a:ext>
            </a:extLst>
          </p:cNvPr>
          <p:cNvSpPr/>
          <p:nvPr/>
        </p:nvSpPr>
        <p:spPr>
          <a:xfrm>
            <a:off x="8459256" y="3990116"/>
            <a:ext cx="3152661" cy="889000"/>
          </a:xfrm>
          <a:prstGeom prst="rect">
            <a:avLst/>
          </a:prstGeom>
          <a:noFill/>
          <a:ln w="12700" cap="flat" cmpd="sng">
            <a:noFill/>
            <a:prstDash val="solid"/>
            <a:round/>
          </a:ln>
        </p:spPr>
        <p:txBody>
          <a:bodyPr vert="horz" wrap="square" lIns="0" tIns="0" rIns="0" bIns="0" rtlCol="0" anchor="ctr" anchorCtr="0"/>
          <a:lstStyle/>
          <a:p>
            <a:pPr algn="just">
              <a:lnSpc>
                <a:spcPct val="108333"/>
              </a:lnSpc>
              <a:buClr>
                <a:srgbClr val="000000"/>
              </a:buClr>
            </a:pPr>
            <a:r>
              <a:rPr lang="zh-CN" altLang="en-US" sz="1400" kern="0" dirty="0">
                <a:solidFill>
                  <a:srgbClr val="374151"/>
                </a:solidFill>
                <a:latin typeface="微软雅黑" panose="020B0503020204020204" pitchFamily="34" charset="-122"/>
                <a:ea typeface="微软雅黑" panose="020B0503020204020204" pitchFamily="34" charset="-122"/>
                <a:sym typeface="Noto Sans SC"/>
              </a:rPr>
              <a:t>商业航天新势力</a:t>
            </a:r>
            <a:r>
              <a:rPr lang="en-US" sz="1400" kern="0" dirty="0">
                <a:solidFill>
                  <a:srgbClr val="374151"/>
                </a:solidFill>
                <a:latin typeface="微软雅黑" panose="020B0503020204020204" pitchFamily="34" charset="-122"/>
                <a:ea typeface="微软雅黑" panose="020B0503020204020204" pitchFamily="34" charset="-122"/>
                <a:sym typeface="Noto Sans SC"/>
              </a:rPr>
              <a:t>，</a:t>
            </a:r>
            <a:r>
              <a:rPr lang="zh-CN" altLang="en-US" sz="1400" kern="0" dirty="0">
                <a:solidFill>
                  <a:srgbClr val="374151"/>
                </a:solidFill>
                <a:latin typeface="微软雅黑" panose="020B0503020204020204" pitchFamily="34" charset="-122"/>
                <a:ea typeface="微软雅黑" panose="020B0503020204020204" pitchFamily="34" charset="-122"/>
                <a:sym typeface="Noto Sans SC"/>
              </a:rPr>
              <a:t>规划</a:t>
            </a:r>
            <a:r>
              <a:rPr lang="en-US" sz="1400" kern="0" dirty="0">
                <a:solidFill>
                  <a:srgbClr val="374151"/>
                </a:solidFill>
                <a:latin typeface="微软雅黑" panose="020B0503020204020204" pitchFamily="34" charset="-122"/>
                <a:ea typeface="微软雅黑" panose="020B0503020204020204" pitchFamily="34" charset="-122"/>
                <a:sym typeface="Noto Sans SC"/>
              </a:rPr>
              <a:t> </a:t>
            </a:r>
            <a:r>
              <a:rPr lang="en-US" sz="1600" b="1" kern="0" dirty="0">
                <a:solidFill>
                  <a:schemeClr val="accent1"/>
                </a:solidFill>
                <a:latin typeface="微软雅黑" panose="020B0503020204020204" pitchFamily="34" charset="-122"/>
                <a:ea typeface="微软雅黑" panose="020B0503020204020204" pitchFamily="34" charset="-122"/>
                <a:sym typeface="Noto Sans SC"/>
              </a:rPr>
              <a:t>&gt;15,000</a:t>
            </a:r>
            <a:r>
              <a:rPr lang="en-US" sz="1400" kern="0" dirty="0">
                <a:solidFill>
                  <a:srgbClr val="374151"/>
                </a:solidFill>
                <a:latin typeface="微软雅黑" panose="020B0503020204020204" pitchFamily="34" charset="-122"/>
                <a:ea typeface="微软雅黑" panose="020B0503020204020204" pitchFamily="34" charset="-122"/>
                <a:sym typeface="Noto Sans SC"/>
              </a:rPr>
              <a:t> 颗卫星布局。在轨数量已达238颗，</a:t>
            </a:r>
            <a:r>
              <a:rPr lang="zh-CN" altLang="en-US" sz="1400" kern="0" dirty="0">
                <a:solidFill>
                  <a:srgbClr val="374151"/>
                </a:solidFill>
                <a:latin typeface="微软雅黑" panose="020B0503020204020204" pitchFamily="34" charset="-122"/>
                <a:ea typeface="微软雅黑" panose="020B0503020204020204" pitchFamily="34" charset="-122"/>
                <a:sym typeface="Noto Sans SC"/>
              </a:rPr>
              <a:t>加速商业化应用场景的落地与验证</a:t>
            </a:r>
            <a:r>
              <a:rPr lang="en-US" sz="1400" kern="0" dirty="0">
                <a:solidFill>
                  <a:srgbClr val="374151"/>
                </a:solidFill>
                <a:latin typeface="微软雅黑" panose="020B0503020204020204" pitchFamily="34" charset="-122"/>
                <a:ea typeface="微软雅黑" panose="020B0503020204020204" pitchFamily="34" charset="-122"/>
                <a:sym typeface="Noto Sans SC"/>
              </a:rPr>
              <a:t>。</a:t>
            </a:r>
            <a:endParaRPr lang="en-US" sz="1400" kern="0" dirty="0">
              <a:solidFill>
                <a:srgbClr val="374151"/>
              </a:solidFill>
              <a:latin typeface="微软雅黑" panose="020B0503020204020204" pitchFamily="34" charset="-122"/>
              <a:ea typeface="微软雅黑" panose="020B0503020204020204" pitchFamily="34" charset="-122"/>
              <a:sym typeface="Arial"/>
            </a:endParaRPr>
          </a:p>
        </p:txBody>
      </p:sp>
      <p:sp>
        <p:nvSpPr>
          <p:cNvPr id="70" name="AutoShape 5">
            <a:extLst>
              <a:ext uri="{FF2B5EF4-FFF2-40B4-BE49-F238E27FC236}">
                <a16:creationId xmlns:a16="http://schemas.microsoft.com/office/drawing/2014/main" id="{43AFBA60-69F1-45F2-B21D-03D527C7FA43}"/>
              </a:ext>
            </a:extLst>
          </p:cNvPr>
          <p:cNvSpPr/>
          <p:nvPr/>
        </p:nvSpPr>
        <p:spPr>
          <a:xfrm>
            <a:off x="3983200" y="1152814"/>
            <a:ext cx="4334909" cy="442109"/>
          </a:xfrm>
          <a:prstGeom prst="rect">
            <a:avLst/>
          </a:prstGeom>
          <a:noFill/>
        </p:spPr>
        <p:txBody>
          <a:bodyPr wrap="square">
            <a:spAutoFit/>
          </a:bodyPr>
          <a:lstStyle/>
          <a:p>
            <a:pPr algn="ctr">
              <a:lnSpc>
                <a:spcPct val="125000"/>
              </a:lnSpc>
            </a:pPr>
            <a:r>
              <a:rPr lang="en-US" sz="2000" b="1" kern="0" dirty="0">
                <a:solidFill>
                  <a:srgbClr val="D81E06"/>
                </a:solidFill>
                <a:latin typeface="Noto Sans SC"/>
                <a:ea typeface="Noto Sans SC"/>
                <a:sym typeface="Noto Sans SC"/>
              </a:rPr>
              <a:t>01. </a:t>
            </a:r>
            <a:r>
              <a:rPr lang="zh-CN" altLang="en-US" sz="2000" b="1" kern="0" dirty="0">
                <a:solidFill>
                  <a:srgbClr val="D81E06"/>
                </a:solidFill>
                <a:latin typeface="Noto Sans SC"/>
                <a:ea typeface="Noto Sans SC"/>
                <a:sym typeface="Noto Sans SC"/>
              </a:rPr>
              <a:t>赛道格局：美国领跑与中国追赶</a:t>
            </a:r>
            <a:endParaRPr lang="en-US" sz="2000" b="1" kern="0" dirty="0">
              <a:solidFill>
                <a:srgbClr val="D81E06"/>
              </a:solidFill>
              <a:latin typeface="Noto Sans SC"/>
              <a:ea typeface="Noto Sans SC"/>
            </a:endParaRPr>
          </a:p>
        </p:txBody>
      </p:sp>
      <p:cxnSp>
        <p:nvCxnSpPr>
          <p:cNvPr id="71" name="Connector 7">
            <a:extLst>
              <a:ext uri="{FF2B5EF4-FFF2-40B4-BE49-F238E27FC236}">
                <a16:creationId xmlns:a16="http://schemas.microsoft.com/office/drawing/2014/main" id="{25D95F00-EF91-4C14-87D9-CAE79CE4DBB4}"/>
              </a:ext>
            </a:extLst>
          </p:cNvPr>
          <p:cNvCxnSpPr>
            <a:cxnSpLocks/>
          </p:cNvCxnSpPr>
          <p:nvPr/>
        </p:nvCxnSpPr>
        <p:spPr>
          <a:xfrm>
            <a:off x="3639017" y="1616175"/>
            <a:ext cx="5004000" cy="1"/>
          </a:xfrm>
          <a:prstGeom prst="straightConnector1">
            <a:avLst/>
          </a:prstGeom>
          <a:solidFill>
            <a:srgbClr val="DEE0E3">
              <a:alpha val="100000"/>
            </a:srgbClr>
          </a:solidFill>
          <a:ln w="12700" cap="flat" cmpd="sng">
            <a:solidFill>
              <a:srgbClr val="D81E06">
                <a:alpha val="60000"/>
              </a:srgbClr>
            </a:solidFill>
            <a:prstDash val="solid"/>
            <a:round/>
            <a:headEnd type="none" w="med" len="med"/>
            <a:tailEnd type="none" w="med" len="med"/>
          </a:ln>
        </p:spPr>
      </p:cxnSp>
    </p:spTree>
    <p:extLst>
      <p:ext uri="{BB962C8B-B14F-4D97-AF65-F5344CB8AC3E}">
        <p14:creationId xmlns:p14="http://schemas.microsoft.com/office/powerpoint/2010/main" val="535915103"/>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7BC4D84-B332-49DF-8602-20F39E8602F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Network Example</a:t>
            </a:r>
            <a:r>
              <a:rPr lang="zh-CN" altLang="en-US" sz="2800" b="1" kern="0" dirty="0">
                <a:solidFill>
                  <a:srgbClr val="C00000"/>
                </a:solidFill>
                <a:latin typeface="微软雅黑" panose="020B0503020204020204" pitchFamily="34" charset="-122"/>
                <a:ea typeface="微软雅黑" panose="020B0503020204020204" pitchFamily="34" charset="-122"/>
              </a:rPr>
              <a:t>：</a:t>
            </a:r>
            <a:r>
              <a:rPr lang="en-US" altLang="zh-CN" sz="2800" b="1" kern="0" dirty="0">
                <a:solidFill>
                  <a:srgbClr val="C00000"/>
                </a:solidFill>
                <a:latin typeface="微软雅黑" panose="020B0503020204020204" pitchFamily="34" charset="-122"/>
                <a:ea typeface="微软雅黑" panose="020B0503020204020204" pitchFamily="34" charset="-122"/>
              </a:rPr>
              <a:t>Space Computing Network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48" name="Rectangle 1">
            <a:extLst>
              <a:ext uri="{FF2B5EF4-FFF2-40B4-BE49-F238E27FC236}">
                <a16:creationId xmlns:a16="http://schemas.microsoft.com/office/drawing/2014/main" id="{B3E30B90-4C54-4F38-805C-9BD29391A79A}"/>
              </a:ext>
            </a:extLst>
          </p:cNvPr>
          <p:cNvSpPr>
            <a:spLocks noChangeArrowheads="1"/>
          </p:cNvSpPr>
          <p:nvPr/>
        </p:nvSpPr>
        <p:spPr bwMode="auto">
          <a:xfrm>
            <a:off x="401044" y="1438736"/>
            <a:ext cx="11589033" cy="954107"/>
          </a:xfrm>
          <a:prstGeom prst="rect">
            <a:avLst/>
          </a:prstGeom>
          <a:noFill/>
        </p:spPr>
        <p:txBody>
          <a:bodyPr wrap="square">
            <a:spAutoFit/>
          </a:bodyPr>
          <a:lstStyle/>
          <a:p>
            <a:pPr algn="ctr"/>
            <a:r>
              <a:rPr lang="en-US" altLang="zh-CN" sz="2800" b="1" dirty="0">
                <a:solidFill>
                  <a:srgbClr val="B60031"/>
                </a:solidFill>
                <a:latin typeface="微软雅黑" panose="020B0503020204020204" charset="-122"/>
                <a:ea typeface="微软雅黑" panose="020B0503020204020204" charset="-122"/>
              </a:rPr>
              <a:t>2026</a:t>
            </a:r>
            <a:r>
              <a:rPr lang="zh-CN" altLang="en-US" sz="2800" b="1" dirty="0">
                <a:solidFill>
                  <a:srgbClr val="B60031"/>
                </a:solidFill>
                <a:latin typeface="微软雅黑" panose="020B0503020204020204" charset="-122"/>
                <a:ea typeface="微软雅黑" panose="020B0503020204020204" charset="-122"/>
              </a:rPr>
              <a:t>年</a:t>
            </a:r>
            <a:r>
              <a:rPr lang="en-US" altLang="zh-CN" sz="2800" b="1" dirty="0">
                <a:solidFill>
                  <a:srgbClr val="B60031"/>
                </a:solidFill>
                <a:latin typeface="微软雅黑" panose="020B0503020204020204" charset="-122"/>
                <a:ea typeface="微软雅黑" panose="020B0503020204020204" charset="-122"/>
              </a:rPr>
              <a:t>8</a:t>
            </a:r>
            <a:r>
              <a:rPr lang="zh-CN" altLang="en-US" sz="2800" b="1" dirty="0">
                <a:solidFill>
                  <a:srgbClr val="B60031"/>
                </a:solidFill>
                <a:latin typeface="微软雅黑" panose="020B0503020204020204" charset="-122"/>
                <a:ea typeface="微软雅黑" panose="020B0503020204020204" charset="-122"/>
              </a:rPr>
              <a:t>月</a:t>
            </a:r>
            <a:r>
              <a:rPr lang="en-US" altLang="zh-CN" sz="2800" b="1" dirty="0">
                <a:solidFill>
                  <a:srgbClr val="B60031"/>
                </a:solidFill>
                <a:latin typeface="微软雅黑" panose="020B0503020204020204" charset="-122"/>
                <a:ea typeface="微软雅黑" panose="020B0503020204020204" charset="-122"/>
              </a:rPr>
              <a:t>4</a:t>
            </a:r>
            <a:r>
              <a:rPr lang="zh-CN" altLang="en-US" sz="2800" b="1" dirty="0">
                <a:solidFill>
                  <a:srgbClr val="B60031"/>
                </a:solidFill>
                <a:latin typeface="微软雅黑" panose="020B0503020204020204" charset="-122"/>
                <a:ea typeface="微软雅黑" panose="020B0503020204020204" charset="-122"/>
              </a:rPr>
              <a:t>日，</a:t>
            </a:r>
            <a:r>
              <a:rPr lang="zh-CN" altLang="zh-CN" sz="2800" b="1" dirty="0">
                <a:solidFill>
                  <a:srgbClr val="B60031"/>
                </a:solidFill>
                <a:latin typeface="微软雅黑" panose="020B0503020204020204" charset="-122"/>
                <a:ea typeface="微软雅黑" panose="020B0503020204020204" charset="-122"/>
              </a:rPr>
              <a:t>SpaceX正式宣布</a:t>
            </a:r>
            <a:r>
              <a:rPr lang="zh-CN" altLang="en-US" sz="2800" b="1" dirty="0">
                <a:solidFill>
                  <a:srgbClr val="B60031"/>
                </a:solidFill>
                <a:latin typeface="微软雅黑" panose="020B0503020204020204" charset="-122"/>
                <a:ea typeface="微软雅黑" panose="020B0503020204020204" charset="-122"/>
              </a:rPr>
              <a:t>：</a:t>
            </a:r>
            <a:endParaRPr lang="en-US" altLang="zh-CN" sz="2800" b="1" dirty="0">
              <a:solidFill>
                <a:srgbClr val="B60031"/>
              </a:solidFill>
              <a:latin typeface="微软雅黑" panose="020B0503020204020204" charset="-122"/>
              <a:ea typeface="微软雅黑" panose="020B0503020204020204" charset="-122"/>
            </a:endParaRPr>
          </a:p>
          <a:p>
            <a:pPr algn="ctr"/>
            <a:r>
              <a:rPr lang="zh-CN" altLang="zh-CN" sz="2800" b="1" dirty="0">
                <a:solidFill>
                  <a:srgbClr val="B60031"/>
                </a:solidFill>
                <a:latin typeface="微软雅黑" panose="020B0503020204020204" charset="-122"/>
                <a:ea typeface="微软雅黑" panose="020B0503020204020204" charset="-122"/>
              </a:rPr>
              <a:t>携手英伟达推出轨道AI计算网络——Starmind（星际大脑）</a:t>
            </a:r>
          </a:p>
        </p:txBody>
      </p:sp>
      <p:pic>
        <p:nvPicPr>
          <p:cNvPr id="49" name="Picture 3">
            <a:extLst>
              <a:ext uri="{FF2B5EF4-FFF2-40B4-BE49-F238E27FC236}">
                <a16:creationId xmlns:a16="http://schemas.microsoft.com/office/drawing/2014/main" id="{5B709C7B-9D03-4AC8-B1D6-78807EE1EE5A}"/>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542201" y="2780723"/>
            <a:ext cx="5447876" cy="2891598"/>
          </a:xfrm>
          <a:prstGeom prst="rect">
            <a:avLst/>
          </a:prstGeom>
          <a:noFill/>
          <a:extLst>
            <a:ext uri="{909E8E84-426E-40DD-AFC4-6F175D3DCCD1}">
              <a14:hiddenFill xmlns:a14="http://schemas.microsoft.com/office/drawing/2010/main">
                <a:solidFill>
                  <a:srgbClr val="FFFFFF"/>
                </a:solidFill>
              </a14:hiddenFill>
            </a:ext>
          </a:extLst>
        </p:spPr>
      </p:pic>
      <p:sp>
        <p:nvSpPr>
          <p:cNvPr id="50" name="Rectangle 5">
            <a:extLst>
              <a:ext uri="{FF2B5EF4-FFF2-40B4-BE49-F238E27FC236}">
                <a16:creationId xmlns:a16="http://schemas.microsoft.com/office/drawing/2014/main" id="{7E6F6CE5-D5B9-4707-993C-69B0E292BE37}"/>
              </a:ext>
            </a:extLst>
          </p:cNvPr>
          <p:cNvSpPr>
            <a:spLocks noChangeArrowheads="1"/>
          </p:cNvSpPr>
          <p:nvPr/>
        </p:nvSpPr>
        <p:spPr bwMode="auto">
          <a:xfrm>
            <a:off x="6697981" y="5916409"/>
            <a:ext cx="5216683" cy="584775"/>
          </a:xfrm>
          <a:prstGeom prst="rect">
            <a:avLst/>
          </a:prstGeom>
          <a:noFill/>
        </p:spPr>
        <p:txBody>
          <a:bodyPr wrap="square">
            <a:spAutoFit/>
          </a:bodyPr>
          <a:lstStyle/>
          <a:p>
            <a:pPr algn="ctr"/>
            <a:r>
              <a:rPr lang="zh-CN" altLang="zh-CN" sz="1600" b="1" dirty="0">
                <a:latin typeface="微软雅黑" panose="020B0503020204020204" pitchFamily="34" charset="-122"/>
                <a:ea typeface="微软雅黑" panose="020B0503020204020204" pitchFamily="34" charset="-122"/>
              </a:rPr>
              <a:t>Starmind AI1</a:t>
            </a:r>
            <a:r>
              <a:rPr lang="zh-CN" altLang="en-US" sz="1600" b="1" dirty="0">
                <a:latin typeface="微软雅黑" panose="020B0503020204020204" pitchFamily="34" charset="-122"/>
                <a:ea typeface="微软雅黑" panose="020B0503020204020204" pitchFamily="34" charset="-122"/>
              </a:rPr>
              <a:t>卫星</a:t>
            </a:r>
            <a:r>
              <a:rPr lang="zh-CN"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高约</a:t>
            </a:r>
            <a:r>
              <a:rPr lang="en-US" altLang="zh-CN" sz="1600" b="1" dirty="0">
                <a:latin typeface="微软雅黑" panose="020B0503020204020204" pitchFamily="34" charset="-122"/>
                <a:ea typeface="微软雅黑" panose="020B0503020204020204" pitchFamily="34" charset="-122"/>
              </a:rPr>
              <a:t>30</a:t>
            </a:r>
            <a:r>
              <a:rPr lang="zh-CN" altLang="en-US" sz="1600" b="1" dirty="0">
                <a:latin typeface="微软雅黑" panose="020B0503020204020204" pitchFamily="34" charset="-122"/>
                <a:ea typeface="微软雅黑" panose="020B0503020204020204" pitchFamily="34" charset="-122"/>
              </a:rPr>
              <a:t>米、</a:t>
            </a:r>
            <a:r>
              <a:rPr lang="zh-CN" altLang="zh-CN" sz="1600" b="1" dirty="0">
                <a:latin typeface="微软雅黑" panose="020B0503020204020204" pitchFamily="34" charset="-122"/>
                <a:ea typeface="微软雅黑" panose="020B0503020204020204" pitchFamily="34" charset="-122"/>
              </a:rPr>
              <a:t>翼展75米</a:t>
            </a:r>
            <a:endParaRPr lang="en-US" altLang="zh-CN" sz="1600" b="1" dirty="0">
              <a:latin typeface="微软雅黑" panose="020B0503020204020204" pitchFamily="34" charset="-122"/>
              <a:ea typeface="微软雅黑" panose="020B0503020204020204" pitchFamily="34" charset="-122"/>
            </a:endParaRPr>
          </a:p>
          <a:p>
            <a:pPr algn="ctr"/>
            <a:r>
              <a:rPr lang="zh-CN" altLang="en-US" sz="1600" b="1" dirty="0">
                <a:latin typeface="微软雅黑" panose="020B0503020204020204" pitchFamily="34" charset="-122"/>
                <a:ea typeface="微软雅黑" panose="020B0503020204020204" pitchFamily="34" charset="-122"/>
              </a:rPr>
              <a:t>计算载荷峰值功率达</a:t>
            </a:r>
            <a:r>
              <a:rPr lang="en-US" altLang="zh-CN" sz="1600" b="1" dirty="0">
                <a:latin typeface="微软雅黑" panose="020B0503020204020204" pitchFamily="34" charset="-122"/>
                <a:ea typeface="微软雅黑" panose="020B0503020204020204" pitchFamily="34" charset="-122"/>
              </a:rPr>
              <a:t>250</a:t>
            </a:r>
            <a:r>
              <a:rPr lang="zh-CN" altLang="en-US" sz="1600" b="1" dirty="0">
                <a:latin typeface="微软雅黑" panose="020B0503020204020204" pitchFamily="34" charset="-122"/>
                <a:ea typeface="微软雅黑" panose="020B0503020204020204" pitchFamily="34" charset="-122"/>
              </a:rPr>
              <a:t>千瓦，平均功率约</a:t>
            </a:r>
            <a:r>
              <a:rPr lang="en-US" altLang="zh-CN" sz="1600" b="1" dirty="0">
                <a:latin typeface="微软雅黑" panose="020B0503020204020204" pitchFamily="34" charset="-122"/>
                <a:ea typeface="微软雅黑" panose="020B0503020204020204" pitchFamily="34" charset="-122"/>
              </a:rPr>
              <a:t>175</a:t>
            </a:r>
            <a:r>
              <a:rPr lang="zh-CN" altLang="en-US" sz="1600" b="1" dirty="0">
                <a:latin typeface="微软雅黑" panose="020B0503020204020204" pitchFamily="34" charset="-122"/>
                <a:ea typeface="微软雅黑" panose="020B0503020204020204" pitchFamily="34" charset="-122"/>
              </a:rPr>
              <a:t>千瓦</a:t>
            </a:r>
            <a:endParaRPr lang="zh-CN" altLang="zh-CN" sz="1600" b="1" dirty="0">
              <a:latin typeface="微软雅黑" panose="020B0503020204020204" pitchFamily="34" charset="-122"/>
              <a:ea typeface="微软雅黑" panose="020B0503020204020204" pitchFamily="34" charset="-122"/>
            </a:endParaRPr>
          </a:p>
        </p:txBody>
      </p:sp>
      <p:pic>
        <p:nvPicPr>
          <p:cNvPr id="51" name="图片 50">
            <a:extLst>
              <a:ext uri="{FF2B5EF4-FFF2-40B4-BE49-F238E27FC236}">
                <a16:creationId xmlns:a16="http://schemas.microsoft.com/office/drawing/2014/main" id="{9680BC3A-B789-4306-8AD4-25884AE0FE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8534" y="2780723"/>
            <a:ext cx="6193410" cy="2891598"/>
          </a:xfrm>
          <a:prstGeom prst="rect">
            <a:avLst/>
          </a:prstGeom>
        </p:spPr>
      </p:pic>
      <p:sp>
        <p:nvSpPr>
          <p:cNvPr id="52" name="Rectangle 6">
            <a:extLst>
              <a:ext uri="{FF2B5EF4-FFF2-40B4-BE49-F238E27FC236}">
                <a16:creationId xmlns:a16="http://schemas.microsoft.com/office/drawing/2014/main" id="{F6906CFC-3473-470D-AFDB-2934B1B44E1F}"/>
              </a:ext>
            </a:extLst>
          </p:cNvPr>
          <p:cNvSpPr>
            <a:spLocks noChangeArrowheads="1"/>
          </p:cNvSpPr>
          <p:nvPr/>
        </p:nvSpPr>
        <p:spPr bwMode="auto">
          <a:xfrm>
            <a:off x="303635" y="5916409"/>
            <a:ext cx="5963208" cy="584775"/>
          </a:xfrm>
          <a:prstGeom prst="rect">
            <a:avLst/>
          </a:prstGeom>
          <a:noFill/>
        </p:spPr>
        <p:txBody>
          <a:bodyPr wrap="square">
            <a:spAutoFit/>
          </a:bodyPr>
          <a:lstStyle/>
          <a:p>
            <a:pPr algn="ctr"/>
            <a:r>
              <a:rPr lang="en-US" altLang="zh-CN" sz="1600" b="1" dirty="0">
                <a:latin typeface="微软雅黑" panose="020B0503020204020204" pitchFamily="34" charset="-122"/>
                <a:ea typeface="微软雅黑" panose="020B0503020204020204" pitchFamily="34" charset="-122"/>
              </a:rPr>
              <a:t>SpaceX</a:t>
            </a:r>
            <a:r>
              <a:rPr lang="zh-CN" altLang="en-US" sz="1600" b="1" dirty="0">
                <a:latin typeface="微软雅黑" panose="020B0503020204020204" pitchFamily="34" charset="-122"/>
                <a:ea typeface="微软雅黑" panose="020B0503020204020204" pitchFamily="34" charset="-122"/>
              </a:rPr>
              <a:t>将完全基于</a:t>
            </a:r>
            <a:r>
              <a:rPr lang="en-US" altLang="zh-CN" sz="1600" b="1" dirty="0">
                <a:latin typeface="微软雅黑" panose="020B0503020204020204" pitchFamily="34" charset="-122"/>
                <a:ea typeface="微软雅黑" panose="020B0503020204020204" pitchFamily="34" charset="-122"/>
              </a:rPr>
              <a:t>NVIDIA</a:t>
            </a:r>
            <a:r>
              <a:rPr lang="zh-CN" altLang="en-US" sz="1600" b="1" dirty="0">
                <a:latin typeface="微软雅黑" panose="020B0503020204020204" pitchFamily="34" charset="-122"/>
                <a:ea typeface="微软雅黑" panose="020B0503020204020204" pitchFamily="34" charset="-122"/>
              </a:rPr>
              <a:t>的系统构建“数据中心级太空算力”</a:t>
            </a:r>
            <a:endParaRPr lang="en-US" altLang="zh-CN" sz="1600" b="1" dirty="0">
              <a:latin typeface="微软雅黑" panose="020B0503020204020204" pitchFamily="34" charset="-122"/>
              <a:ea typeface="微软雅黑" panose="020B0503020204020204" pitchFamily="34" charset="-122"/>
            </a:endParaRPr>
          </a:p>
          <a:p>
            <a:pPr algn="ctr"/>
            <a:r>
              <a:rPr lang="zh-CN" altLang="en-US" sz="1600" b="1" dirty="0">
                <a:latin typeface="微软雅黑" panose="020B0503020204020204" pitchFamily="34" charset="-122"/>
                <a:ea typeface="微软雅黑" panose="020B0503020204020204" pitchFamily="34" charset="-122"/>
              </a:rPr>
              <a:t>搭载</a:t>
            </a:r>
            <a:r>
              <a:rPr lang="en-US" altLang="zh-CN" sz="1600" b="1" dirty="0">
                <a:latin typeface="微软雅黑" panose="020B0503020204020204" pitchFamily="34" charset="-122"/>
                <a:ea typeface="微软雅黑" panose="020B0503020204020204" pitchFamily="34" charset="-122"/>
              </a:rPr>
              <a:t>NVIDIA Rubin GPUs &amp; Vera CPUs</a:t>
            </a:r>
            <a:endParaRPr lang="zh-CN" altLang="zh-CN"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26445856"/>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4"/>
          <p:cNvSpPr>
            <a:spLocks noGrp="1"/>
          </p:cNvSpPr>
          <p:nvPr>
            <p:ph type="ctrTitle"/>
          </p:nvPr>
        </p:nvSpPr>
        <p:spPr>
          <a:xfrm>
            <a:off x="774970" y="1128105"/>
            <a:ext cx="10642060" cy="1655762"/>
          </a:xfrm>
        </p:spPr>
        <p:txBody>
          <a:bodyPr>
            <a:normAutofit/>
          </a:bodyPr>
          <a:lstStyle/>
          <a:p>
            <a:r>
              <a:rPr lang="en-US" altLang="zh-CN" sz="4400" dirty="0">
                <a:ea typeface="宋体" panose="02010600030101010101" pitchFamily="2" charset="-122"/>
              </a:rPr>
              <a:t>Question: What are the differences between various communication networks?</a:t>
            </a:r>
            <a:endParaRPr lang="zh-CN" altLang="en-US" sz="4400" dirty="0">
              <a:ea typeface="宋体" panose="02010600030101010101" pitchFamily="2" charset="-122"/>
            </a:endParaRPr>
          </a:p>
        </p:txBody>
      </p:sp>
      <p:sp>
        <p:nvSpPr>
          <p:cNvPr id="6" name="副标题 5"/>
          <p:cNvSpPr>
            <a:spLocks noGrp="1"/>
          </p:cNvSpPr>
          <p:nvPr>
            <p:ph type="subTitle" idx="1"/>
          </p:nvPr>
        </p:nvSpPr>
        <p:spPr>
          <a:xfrm>
            <a:off x="1436451" y="3726986"/>
            <a:ext cx="9144000" cy="1248711"/>
          </a:xfrm>
        </p:spPr>
        <p:txBody>
          <a:bodyPr>
            <a:noAutofit/>
          </a:bodyPr>
          <a:lstStyle/>
          <a:p>
            <a:r>
              <a:rPr lang="en-US" altLang="zh-CN" sz="3200" dirty="0">
                <a:ea typeface="宋体" panose="02010600030101010101" pitchFamily="2" charset="-122"/>
              </a:rPr>
              <a:t>At first glance: </a:t>
            </a:r>
            <a:r>
              <a:rPr lang="en-US" altLang="zh-CN" sz="3200" b="1" i="1" dirty="0">
                <a:solidFill>
                  <a:srgbClr val="0000FF"/>
                </a:solidFill>
                <a:ea typeface="宋体" panose="02010600030101010101" pitchFamily="2" charset="-122"/>
              </a:rPr>
              <a:t>Terminals</a:t>
            </a:r>
            <a:r>
              <a:rPr lang="en-US" altLang="zh-CN" sz="3200" dirty="0">
                <a:solidFill>
                  <a:srgbClr val="0000FF"/>
                </a:solidFill>
                <a:ea typeface="宋体" panose="02010600030101010101" pitchFamily="2" charset="-122"/>
              </a:rPr>
              <a:t> </a:t>
            </a:r>
            <a:r>
              <a:rPr lang="en-US" altLang="zh-CN" sz="3200" dirty="0">
                <a:ea typeface="宋体" panose="02010600030101010101" pitchFamily="2" charset="-122"/>
              </a:rPr>
              <a:t>in the network.</a:t>
            </a:r>
          </a:p>
          <a:p>
            <a:r>
              <a:rPr lang="en-US" altLang="zh-CN" sz="3200" dirty="0">
                <a:ea typeface="宋体" panose="02010600030101010101" pitchFamily="2" charset="-122"/>
              </a:rPr>
              <a:t>More technically: </a:t>
            </a:r>
            <a:r>
              <a:rPr lang="en-US" altLang="zh-CN" sz="3200" b="1" i="1" dirty="0">
                <a:solidFill>
                  <a:srgbClr val="0000FF"/>
                </a:solidFill>
                <a:ea typeface="宋体" panose="02010600030101010101" pitchFamily="2" charset="-122"/>
              </a:rPr>
              <a:t>Services</a:t>
            </a:r>
            <a:r>
              <a:rPr lang="en-US" altLang="zh-CN" sz="3200" dirty="0">
                <a:ea typeface="宋体" panose="02010600030101010101" pitchFamily="2" charset="-122"/>
              </a:rPr>
              <a:t> they provide.</a:t>
            </a:r>
            <a:endParaRPr lang="zh-CN" altLang="en-US" sz="3200" dirty="0">
              <a:ea typeface="宋体" panose="02010600030101010101" pitchFamily="2" charset="-122"/>
            </a:endParaRPr>
          </a:p>
        </p:txBody>
      </p:sp>
      <p:sp>
        <p:nvSpPr>
          <p:cNvPr id="7172" name="页脚占位符 3"/>
          <p:cNvSpPr>
            <a:spLocks noGrp="1"/>
          </p:cNvSpPr>
          <p:nvPr>
            <p:ph type="ftr" sz="quarter" idx="3"/>
          </p:nvPr>
        </p:nvSpPr>
        <p:spPr bwMode="auto">
          <a:xfrm>
            <a:off x="0" y="6553200"/>
            <a:ext cx="91440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eaLnBrk="1" fontAlgn="base" hangingPunct="1">
              <a:spcBef>
                <a:spcPct val="0"/>
              </a:spcBef>
              <a:spcAft>
                <a:spcPct val="0"/>
              </a:spcAft>
              <a:defRPr sz="800" i="1" kern="1200">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fontAlgn="base">
              <a:spcBef>
                <a:spcPct val="0"/>
              </a:spcBef>
              <a:spcAft>
                <a:spcPct val="0"/>
              </a:spcAft>
              <a:buClrTx/>
              <a:buFontTx/>
              <a:buNone/>
            </a:pPr>
            <a:r>
              <a:rPr lang="en-US" altLang="zh-CN"/>
              <a:t>Computer Networks, Chapter 1 Introduction</a:t>
            </a:r>
            <a:endParaRPr lang="en-US" altLang="zh-CN" sz="800">
              <a:ea typeface="宋体" panose="02010600030101010101" pitchFamily="2" charset="-122"/>
            </a:endParaRPr>
          </a:p>
        </p:txBody>
      </p:sp>
      <p:sp>
        <p:nvSpPr>
          <p:cNvPr id="2" name="矩形 1">
            <a:extLst>
              <a:ext uri="{FF2B5EF4-FFF2-40B4-BE49-F238E27FC236}">
                <a16:creationId xmlns:a16="http://schemas.microsoft.com/office/drawing/2014/main" id="{51C4B355-9EEC-4FA0-BD87-291DB2A7DEC7}"/>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Question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D5B4F397-FC5F-4664-9D10-8D59EA035019}"/>
              </a:ext>
            </a:extLst>
          </p:cNvPr>
          <p:cNvPicPr>
            <a:picLocks noChangeAspect="1"/>
          </p:cNvPicPr>
          <p:nvPr/>
        </p:nvPicPr>
        <p:blipFill rotWithShape="1">
          <a:blip r:embed="rId2">
            <a:extLst>
              <a:ext uri="{28A0092B-C50C-407E-A947-70E740481C1C}">
                <a14:useLocalDpi xmlns:a14="http://schemas.microsoft.com/office/drawing/2010/main" val="0"/>
              </a:ext>
            </a:extLst>
          </a:blip>
          <a:srcRect t="10805" b="3065"/>
          <a:stretch/>
        </p:blipFill>
        <p:spPr>
          <a:xfrm>
            <a:off x="3239" y="919652"/>
            <a:ext cx="12185522" cy="59068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内容占位符 2"/>
          <p:cNvSpPr>
            <a:spLocks noGrp="1"/>
          </p:cNvSpPr>
          <p:nvPr>
            <p:ph idx="1"/>
          </p:nvPr>
        </p:nvSpPr>
        <p:spPr>
          <a:xfrm>
            <a:off x="688987" y="1253331"/>
            <a:ext cx="10941996" cy="3721792"/>
          </a:xfrm>
        </p:spPr>
        <p:txBody>
          <a:bodyPr>
            <a:normAutofit/>
          </a:bodyPr>
          <a:lstStyle/>
          <a:p>
            <a:pPr marL="342900" indent="-342900">
              <a:lnSpc>
                <a:spcPct val="100000"/>
              </a:lnSpc>
              <a:spcBef>
                <a:spcPct val="0"/>
              </a:spcBef>
            </a:pPr>
            <a:r>
              <a:rPr lang="en-US" altLang="zh-CN" sz="3200" dirty="0">
                <a:ea typeface="宋体" panose="02010600030101010101" pitchFamily="2" charset="-122"/>
              </a:rPr>
              <a:t>Computer Network: a collection of </a:t>
            </a:r>
            <a:r>
              <a:rPr lang="en-US" altLang="zh-CN" sz="3200" b="1" i="1" dirty="0">
                <a:solidFill>
                  <a:srgbClr val="0000FF"/>
                </a:solidFill>
                <a:ea typeface="宋体" panose="02010600030101010101" pitchFamily="2" charset="-122"/>
              </a:rPr>
              <a:t>autonomous</a:t>
            </a:r>
            <a:r>
              <a:rPr lang="en-US" altLang="zh-CN" sz="3200" dirty="0">
                <a:ea typeface="宋体" panose="02010600030101010101" pitchFamily="2" charset="-122"/>
              </a:rPr>
              <a:t> computers </a:t>
            </a:r>
            <a:r>
              <a:rPr lang="en-US" altLang="zh-CN" sz="3200" b="1" i="1" dirty="0">
                <a:solidFill>
                  <a:srgbClr val="0000FF"/>
                </a:solidFill>
                <a:ea typeface="宋体" panose="02010600030101010101" pitchFamily="2" charset="-122"/>
              </a:rPr>
              <a:t>interconnected</a:t>
            </a:r>
            <a:r>
              <a:rPr lang="en-US" altLang="zh-CN" sz="3200" dirty="0">
                <a:ea typeface="宋体" panose="02010600030101010101" pitchFamily="2" charset="-122"/>
              </a:rPr>
              <a:t> by a single technology</a:t>
            </a:r>
          </a:p>
          <a:p>
            <a:pPr marL="800100" lvl="1" indent="-342900">
              <a:lnSpc>
                <a:spcPct val="100000"/>
              </a:lnSpc>
              <a:spcBef>
                <a:spcPct val="0"/>
              </a:spcBef>
            </a:pPr>
            <a:r>
              <a:rPr lang="en-US" altLang="zh-CN" sz="2800" dirty="0">
                <a:ea typeface="宋体" panose="02010600030101010101" pitchFamily="2" charset="-122"/>
              </a:rPr>
              <a:t>autonomous: be able to compute independently</a:t>
            </a:r>
          </a:p>
          <a:p>
            <a:pPr marL="800100" lvl="1" indent="-342900">
              <a:lnSpc>
                <a:spcPct val="100000"/>
              </a:lnSpc>
              <a:spcBef>
                <a:spcPct val="0"/>
              </a:spcBef>
            </a:pPr>
            <a:r>
              <a:rPr lang="en-US" altLang="zh-CN" sz="2800" dirty="0">
                <a:ea typeface="宋体" panose="02010600030101010101" pitchFamily="2" charset="-122"/>
              </a:rPr>
              <a:t>interconnected: be able to exchange information</a:t>
            </a:r>
          </a:p>
          <a:p>
            <a:pPr marL="342900" indent="-342900">
              <a:lnSpc>
                <a:spcPct val="100000"/>
              </a:lnSpc>
              <a:spcBef>
                <a:spcPct val="0"/>
              </a:spcBef>
            </a:pPr>
            <a:endParaRPr lang="en-US" altLang="zh-CN" sz="3200" b="1" i="1" dirty="0">
              <a:solidFill>
                <a:srgbClr val="0000FF"/>
              </a:solidFill>
              <a:ea typeface="宋体" panose="02010600030101010101" pitchFamily="2" charset="-122"/>
            </a:endParaRPr>
          </a:p>
          <a:p>
            <a:pPr marL="342900" indent="-342900">
              <a:lnSpc>
                <a:spcPct val="100000"/>
              </a:lnSpc>
              <a:spcBef>
                <a:spcPct val="0"/>
              </a:spcBef>
            </a:pPr>
            <a:r>
              <a:rPr lang="en-US" altLang="zh-CN" sz="3200" dirty="0">
                <a:ea typeface="宋体" panose="02010600030101010101" pitchFamily="2" charset="-122"/>
              </a:rPr>
              <a:t>Information today comes in different forms such as </a:t>
            </a:r>
            <a:r>
              <a:rPr lang="en-US" altLang="zh-CN" sz="3200" b="1" i="1" dirty="0">
                <a:solidFill>
                  <a:srgbClr val="0000FF"/>
                </a:solidFill>
                <a:ea typeface="宋体" panose="02010600030101010101" pitchFamily="2" charset="-122"/>
              </a:rPr>
              <a:t>text</a:t>
            </a:r>
            <a:r>
              <a:rPr lang="en-US" altLang="zh-CN" sz="3200" dirty="0">
                <a:ea typeface="宋体" panose="02010600030101010101" pitchFamily="2" charset="-122"/>
              </a:rPr>
              <a:t>, </a:t>
            </a:r>
            <a:r>
              <a:rPr lang="en-US" altLang="zh-CN" sz="3200" b="1" i="1" dirty="0">
                <a:solidFill>
                  <a:srgbClr val="0000FF"/>
                </a:solidFill>
                <a:ea typeface="宋体" panose="02010600030101010101" pitchFamily="2" charset="-122"/>
              </a:rPr>
              <a:t>numbers</a:t>
            </a:r>
            <a:r>
              <a:rPr lang="en-US" altLang="zh-CN" sz="3200" dirty="0">
                <a:ea typeface="宋体" panose="02010600030101010101" pitchFamily="2" charset="-122"/>
              </a:rPr>
              <a:t>, </a:t>
            </a:r>
            <a:r>
              <a:rPr lang="en-US" altLang="zh-CN" sz="3200" b="1" i="1" dirty="0">
                <a:solidFill>
                  <a:srgbClr val="0000FF"/>
                </a:solidFill>
                <a:ea typeface="宋体" panose="02010600030101010101" pitchFamily="2" charset="-122"/>
              </a:rPr>
              <a:t>images</a:t>
            </a:r>
            <a:r>
              <a:rPr lang="en-US" altLang="zh-CN" sz="3200" dirty="0">
                <a:ea typeface="宋体" panose="02010600030101010101" pitchFamily="2" charset="-122"/>
              </a:rPr>
              <a:t>, </a:t>
            </a:r>
            <a:r>
              <a:rPr lang="en-US" altLang="zh-CN" sz="3200" b="1" i="1" dirty="0">
                <a:solidFill>
                  <a:srgbClr val="0000FF"/>
                </a:solidFill>
                <a:ea typeface="宋体" panose="02010600030101010101" pitchFamily="2" charset="-122"/>
              </a:rPr>
              <a:t>audio</a:t>
            </a:r>
            <a:r>
              <a:rPr lang="en-US" altLang="zh-CN" sz="3200" dirty="0">
                <a:ea typeface="宋体" panose="02010600030101010101" pitchFamily="2" charset="-122"/>
              </a:rPr>
              <a:t>, and </a:t>
            </a:r>
            <a:r>
              <a:rPr lang="en-US" altLang="zh-CN" sz="3200" b="1" i="1" dirty="0">
                <a:solidFill>
                  <a:srgbClr val="0000FF"/>
                </a:solidFill>
                <a:ea typeface="宋体" panose="02010600030101010101" pitchFamily="2" charset="-122"/>
              </a:rPr>
              <a:t>video</a:t>
            </a:r>
            <a:r>
              <a:rPr lang="en-US" altLang="zh-CN" sz="3200" dirty="0">
                <a:ea typeface="宋体" panose="02010600030101010101" pitchFamily="2" charset="-122"/>
              </a:rPr>
              <a:t>.</a:t>
            </a:r>
          </a:p>
          <a:p>
            <a:pPr marL="342900" indent="-342900">
              <a:lnSpc>
                <a:spcPct val="100000"/>
              </a:lnSpc>
              <a:spcBef>
                <a:spcPct val="0"/>
              </a:spcBef>
            </a:pPr>
            <a:endParaRPr lang="en-US" altLang="zh-CN" sz="3200" dirty="0">
              <a:ea typeface="宋体" panose="02010600030101010101" pitchFamily="2" charset="-122"/>
            </a:endParaRPr>
          </a:p>
          <a:p>
            <a:pPr marL="342900" indent="-342900">
              <a:lnSpc>
                <a:spcPct val="100000"/>
              </a:lnSpc>
              <a:spcBef>
                <a:spcPct val="0"/>
              </a:spcBef>
            </a:pPr>
            <a:endParaRPr lang="en-US" altLang="zh-CN" sz="3200" dirty="0">
              <a:ea typeface="宋体" panose="02010600030101010101" pitchFamily="2" charset="-122"/>
            </a:endParaRPr>
          </a:p>
        </p:txBody>
      </p:sp>
      <p:sp>
        <p:nvSpPr>
          <p:cNvPr id="8196"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sp>
        <p:nvSpPr>
          <p:cNvPr id="2" name="矩形 1">
            <a:extLst>
              <a:ext uri="{FF2B5EF4-FFF2-40B4-BE49-F238E27FC236}">
                <a16:creationId xmlns:a16="http://schemas.microsoft.com/office/drawing/2014/main" id="{A6CEA5E6-C89F-49D1-9153-9942C7A02F99}"/>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What is a Computer Network?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77A65C27-63E2-4FA0-87C2-C7F5D6E10E79}"/>
              </a:ext>
            </a:extLst>
          </p:cNvPr>
          <p:cNvPicPr>
            <a:picLocks noChangeAspect="1"/>
          </p:cNvPicPr>
          <p:nvPr/>
        </p:nvPicPr>
        <p:blipFill rotWithShape="1">
          <a:blip r:embed="rId3">
            <a:extLst>
              <a:ext uri="{28A0092B-C50C-407E-A947-70E740481C1C}">
                <a14:useLocalDpi xmlns:a14="http://schemas.microsoft.com/office/drawing/2010/main" val="0"/>
              </a:ext>
            </a:extLst>
          </a:blip>
          <a:srcRect t="11036" b="2682"/>
          <a:stretch/>
        </p:blipFill>
        <p:spPr>
          <a:xfrm>
            <a:off x="3239" y="882870"/>
            <a:ext cx="12185522" cy="59173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838955" y="1278338"/>
            <a:ext cx="10642060" cy="4596945"/>
          </a:xfrm>
        </p:spPr>
        <p:txBody>
          <a:bodyPr/>
          <a:lstStyle/>
          <a:p>
            <a:pPr marL="457200" indent="-457200">
              <a:lnSpc>
                <a:spcPct val="100000"/>
              </a:lnSpc>
              <a:buFont typeface="Arial" panose="020B0604020202020204" pitchFamily="34" charset="0"/>
              <a:buChar char="•"/>
            </a:pPr>
            <a:r>
              <a:rPr lang="en-US" altLang="zh-CN" u="sng" dirty="0">
                <a:ea typeface="宋体" panose="02010600030101010101" pitchFamily="2" charset="-122"/>
              </a:rPr>
              <a:t>Computer networks</a:t>
            </a:r>
            <a:r>
              <a:rPr lang="en-US" altLang="zh-CN" dirty="0">
                <a:ea typeface="宋体" panose="02010600030101010101" pitchFamily="2" charset="-122"/>
              </a:rPr>
              <a:t> are collections of autonomous computers, e.g., the Internet</a:t>
            </a:r>
          </a:p>
          <a:p>
            <a:pPr marL="457200" indent="-457200">
              <a:lnSpc>
                <a:spcPct val="100000"/>
              </a:lnSpc>
              <a:buFont typeface="Arial" panose="020B0604020202020204" pitchFamily="34" charset="0"/>
              <a:buChar char="•"/>
            </a:pPr>
            <a:r>
              <a:rPr lang="en-US" altLang="zh-CN" dirty="0">
                <a:ea typeface="宋体" panose="02010600030101010101" pitchFamily="2" charset="-122"/>
              </a:rPr>
              <a:t>They have many uses:</a:t>
            </a:r>
          </a:p>
          <a:p>
            <a:pPr lvl="1">
              <a:lnSpc>
                <a:spcPct val="100000"/>
              </a:lnSpc>
            </a:pPr>
            <a:r>
              <a:rPr lang="en-US" altLang="zh-CN" dirty="0">
                <a:ea typeface="宋体" panose="02010600030101010101" pitchFamily="2" charset="-122"/>
              </a:rPr>
              <a:t>Business Applications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100000"/>
              </a:lnSpc>
            </a:pPr>
            <a:r>
              <a:rPr lang="en-US" altLang="zh-CN" dirty="0">
                <a:ea typeface="宋体" panose="02010600030101010101" pitchFamily="2" charset="-122"/>
              </a:rPr>
              <a:t>Home Applications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100000"/>
              </a:lnSpc>
            </a:pPr>
            <a:r>
              <a:rPr lang="en-US" altLang="zh-CN" dirty="0">
                <a:ea typeface="宋体" panose="02010600030101010101" pitchFamily="2" charset="-122"/>
              </a:rPr>
              <a:t>Mobile Applications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marL="457200" indent="-457200">
              <a:lnSpc>
                <a:spcPct val="100000"/>
              </a:lnSpc>
              <a:buFont typeface="Arial" panose="020B0604020202020204" pitchFamily="34" charset="0"/>
              <a:buChar char="•"/>
            </a:pPr>
            <a:r>
              <a:rPr lang="en-US" altLang="zh-CN" dirty="0">
                <a:ea typeface="宋体" panose="02010600030101010101" pitchFamily="2" charset="-122"/>
              </a:rPr>
              <a:t>These uses raise:</a:t>
            </a:r>
          </a:p>
          <a:p>
            <a:pPr lvl="1">
              <a:lnSpc>
                <a:spcPct val="100000"/>
              </a:lnSpc>
            </a:pPr>
            <a:r>
              <a:rPr lang="en-US" altLang="zh-CN" dirty="0">
                <a:ea typeface="宋体" panose="02010600030101010101" pitchFamily="2" charset="-122"/>
              </a:rPr>
              <a:t>Social Issues </a:t>
            </a:r>
            <a:r>
              <a:rPr lang="en-US" altLang="zh-CN" dirty="0">
                <a:solidFill>
                  <a:srgbClr val="0000FF"/>
                </a:solidFill>
                <a:ea typeface="宋体" panose="02010600030101010101" pitchFamily="2" charset="-122"/>
              </a:rPr>
              <a:t>»</a:t>
            </a:r>
          </a:p>
          <a:p>
            <a:pPr marL="457200" indent="-457200">
              <a:lnSpc>
                <a:spcPct val="100000"/>
              </a:lnSpc>
              <a:buFont typeface="Arial" panose="020B0604020202020204" pitchFamily="34" charset="0"/>
              <a:buChar char="•"/>
            </a:pPr>
            <a:r>
              <a:rPr lang="en-US" altLang="zh-CN" dirty="0">
                <a:ea typeface="宋体" panose="02010600030101010101" pitchFamily="2" charset="-122"/>
              </a:rPr>
              <a:t>This text covers networks for all of these uses</a:t>
            </a:r>
          </a:p>
        </p:txBody>
      </p:sp>
      <p:sp>
        <p:nvSpPr>
          <p:cNvPr id="10244" name="Footer Placeholder 20"/>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dirty="0"/>
              <a:t>Computer Networks, Chapter 1 Introduction</a:t>
            </a:r>
          </a:p>
        </p:txBody>
      </p:sp>
      <p:sp>
        <p:nvSpPr>
          <p:cNvPr id="2" name="矩形 1">
            <a:extLst>
              <a:ext uri="{FF2B5EF4-FFF2-40B4-BE49-F238E27FC236}">
                <a16:creationId xmlns:a16="http://schemas.microsoft.com/office/drawing/2014/main" id="{3F5D98F5-B83F-4DCC-B83A-E2C561E40D0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Uses of Computer Networks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1C63624-DEF7-4EF3-9B3F-B4382C69A76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Example Uses of Networks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5" name="Footer Placeholder 20">
            <a:extLst>
              <a:ext uri="{FF2B5EF4-FFF2-40B4-BE49-F238E27FC236}">
                <a16:creationId xmlns:a16="http://schemas.microsoft.com/office/drawing/2014/main" id="{370FFEA3-2DD0-4FF6-871F-E3D49508AB4D}"/>
              </a:ext>
            </a:extLst>
          </p:cNvPr>
          <p:cNvSpPr txBox="1">
            <a:spLocks/>
          </p:cNvSpPr>
          <p:nvPr/>
        </p:nvSpPr>
        <p:spPr>
          <a:xfrm>
            <a:off x="4038600" y="6356350"/>
            <a:ext cx="41148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l" defTabSz="914400" rtl="0" eaLnBrk="1" latinLnBrk="0" hangingPunct="1">
              <a:spcBef>
                <a:spcPts val="1800"/>
              </a:spcBef>
              <a:buClr>
                <a:srgbClr val="0000FF"/>
              </a:buClr>
              <a:buFont typeface="Arial" panose="020B0604020202020204" pitchFamily="34" charset="0"/>
              <a:defRPr sz="24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ts val="600"/>
              </a:spcBef>
              <a:buClr>
                <a:srgbClr val="0000FF"/>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rgbClr val="0000FF"/>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rgbClr val="0000FF"/>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rgbClr val="0000FF"/>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0" fontAlgn="base" latinLnBrk="0" hangingPunct="0">
              <a:spcBef>
                <a:spcPct val="20000"/>
              </a:spcBef>
              <a:spcAft>
                <a:spcPct val="0"/>
              </a:spcAft>
              <a:buClr>
                <a:srgbClr val="0000FF"/>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0" fontAlgn="base" latinLnBrk="0" hangingPunct="0">
              <a:spcBef>
                <a:spcPct val="20000"/>
              </a:spcBef>
              <a:spcAft>
                <a:spcPct val="0"/>
              </a:spcAft>
              <a:buClr>
                <a:srgbClr val="0000FF"/>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7pPr>
            <a:lvl8pPr marL="3429000" indent="-228600" algn="l" defTabSz="914400" rtl="0" eaLnBrk="0" fontAlgn="base" latinLnBrk="0" hangingPunct="0">
              <a:spcBef>
                <a:spcPct val="20000"/>
              </a:spcBef>
              <a:spcAft>
                <a:spcPct val="0"/>
              </a:spcAft>
              <a:buClr>
                <a:srgbClr val="0000FF"/>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8pPr>
            <a:lvl9pPr marL="3886200" indent="-228600" algn="l" defTabSz="914400" rtl="0" eaLnBrk="0" fontAlgn="base" latinLnBrk="0" hangingPunct="0">
              <a:spcBef>
                <a:spcPct val="20000"/>
              </a:spcBef>
              <a:spcAft>
                <a:spcPct val="0"/>
              </a:spcAft>
              <a:buClr>
                <a:srgbClr val="0000FF"/>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9pPr>
          </a:lstStyle>
          <a:p>
            <a:pPr>
              <a:spcBef>
                <a:spcPct val="0"/>
              </a:spcBef>
              <a:buClrTx/>
              <a:buFontTx/>
              <a:buNone/>
            </a:pPr>
            <a:r>
              <a:rPr lang="en-US" altLang="zh-CN" sz="800"/>
              <a:t>Computer Networks, Chapter 1 Introduction</a:t>
            </a:r>
            <a:endParaRPr lang="en-US" altLang="zh-CN" sz="800" dirty="0"/>
          </a:p>
        </p:txBody>
      </p:sp>
      <p:pic>
        <p:nvPicPr>
          <p:cNvPr id="4" name="图片 3">
            <a:extLst>
              <a:ext uri="{FF2B5EF4-FFF2-40B4-BE49-F238E27FC236}">
                <a16:creationId xmlns:a16="http://schemas.microsoft.com/office/drawing/2014/main" id="{E97D6DC5-455C-4A12-88C0-1857131E2C51}"/>
              </a:ext>
            </a:extLst>
          </p:cNvPr>
          <p:cNvPicPr>
            <a:picLocks noChangeAspect="1"/>
          </p:cNvPicPr>
          <p:nvPr/>
        </p:nvPicPr>
        <p:blipFill rotWithShape="1">
          <a:blip r:embed="rId2">
            <a:extLst>
              <a:ext uri="{28A0092B-C50C-407E-A947-70E740481C1C}">
                <a14:useLocalDpi xmlns:a14="http://schemas.microsoft.com/office/drawing/2010/main" val="0"/>
              </a:ext>
            </a:extLst>
          </a:blip>
          <a:srcRect t="9333"/>
          <a:stretch/>
        </p:blipFill>
        <p:spPr>
          <a:xfrm>
            <a:off x="83304" y="844474"/>
            <a:ext cx="12015072" cy="60135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Footer Placeholder 1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sp>
        <p:nvSpPr>
          <p:cNvPr id="2" name="矩形 1">
            <a:extLst>
              <a:ext uri="{FF2B5EF4-FFF2-40B4-BE49-F238E27FC236}">
                <a16:creationId xmlns:a16="http://schemas.microsoft.com/office/drawing/2014/main" id="{8A0DAFC4-42AB-42BF-BFEF-812348EF0A4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Business Applications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42BAAC03-CEFB-4315-A29D-40DBDAB568E9}"/>
              </a:ext>
            </a:extLst>
          </p:cNvPr>
          <p:cNvPicPr>
            <a:picLocks noChangeAspect="1"/>
          </p:cNvPicPr>
          <p:nvPr/>
        </p:nvPicPr>
        <p:blipFill rotWithShape="1">
          <a:blip r:embed="rId3">
            <a:extLst>
              <a:ext uri="{28A0092B-C50C-407E-A947-70E740481C1C}">
                <a14:useLocalDpi xmlns:a14="http://schemas.microsoft.com/office/drawing/2010/main" val="0"/>
              </a:ext>
            </a:extLst>
          </a:blip>
          <a:srcRect t="12644"/>
          <a:stretch/>
        </p:blipFill>
        <p:spPr>
          <a:xfrm>
            <a:off x="0" y="867102"/>
            <a:ext cx="12185522" cy="599089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sp>
        <p:nvSpPr>
          <p:cNvPr id="2" name="矩形 1">
            <a:extLst>
              <a:ext uri="{FF2B5EF4-FFF2-40B4-BE49-F238E27FC236}">
                <a16:creationId xmlns:a16="http://schemas.microsoft.com/office/drawing/2014/main" id="{8B7E8140-AF3C-4BFD-8A75-CE33ED32614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Home Applications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F3A1CF61-5E26-47FE-A4F5-97320AA0D8AA}"/>
              </a:ext>
            </a:extLst>
          </p:cNvPr>
          <p:cNvPicPr>
            <a:picLocks noChangeAspect="1"/>
          </p:cNvPicPr>
          <p:nvPr/>
        </p:nvPicPr>
        <p:blipFill rotWithShape="1">
          <a:blip r:embed="rId3">
            <a:extLst>
              <a:ext uri="{28A0092B-C50C-407E-A947-70E740481C1C}">
                <a14:useLocalDpi xmlns:a14="http://schemas.microsoft.com/office/drawing/2010/main" val="0"/>
              </a:ext>
            </a:extLst>
          </a:blip>
          <a:srcRect t="10422" b="4179"/>
          <a:stretch/>
        </p:blipFill>
        <p:spPr>
          <a:xfrm>
            <a:off x="3239" y="935420"/>
            <a:ext cx="12185522" cy="585669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sp>
        <p:nvSpPr>
          <p:cNvPr id="2" name="矩形 1">
            <a:extLst>
              <a:ext uri="{FF2B5EF4-FFF2-40B4-BE49-F238E27FC236}">
                <a16:creationId xmlns:a16="http://schemas.microsoft.com/office/drawing/2014/main" id="{8B7E8140-AF3C-4BFD-8A75-CE33ED32614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Home Applications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8" name="Rectangle 3">
            <a:extLst>
              <a:ext uri="{FF2B5EF4-FFF2-40B4-BE49-F238E27FC236}">
                <a16:creationId xmlns:a16="http://schemas.microsoft.com/office/drawing/2014/main" id="{222D8865-17D4-4148-82A8-3ABC75E89C81}"/>
              </a:ext>
            </a:extLst>
          </p:cNvPr>
          <p:cNvSpPr txBox="1">
            <a:spLocks noChangeArrowheads="1"/>
          </p:cNvSpPr>
          <p:nvPr/>
        </p:nvSpPr>
        <p:spPr>
          <a:xfrm>
            <a:off x="851622" y="1236644"/>
            <a:ext cx="7716837" cy="23411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altLang="zh-CN" sz="2400" dirty="0">
                <a:latin typeface="Arial" panose="020B0604020202020204" pitchFamily="34" charset="0"/>
                <a:ea typeface="宋体" panose="02010600030101010101" pitchFamily="2" charset="-122"/>
                <a:cs typeface="Arial" panose="020B0604020202020204" pitchFamily="34" charset="0"/>
              </a:rPr>
              <a:t>Access to remote information</a:t>
            </a:r>
          </a:p>
          <a:p>
            <a:pPr>
              <a:buFontTx/>
              <a:buChar char="•"/>
            </a:pPr>
            <a:r>
              <a:rPr lang="en-US" altLang="zh-CN" sz="2400" dirty="0">
                <a:latin typeface="Arial" panose="020B0604020202020204" pitchFamily="34" charset="0"/>
                <a:ea typeface="宋体" panose="02010600030101010101" pitchFamily="2" charset="-122"/>
                <a:cs typeface="Arial" panose="020B0604020202020204" pitchFamily="34" charset="0"/>
              </a:rPr>
              <a:t>Person-to-person communication</a:t>
            </a:r>
          </a:p>
          <a:p>
            <a:pPr>
              <a:buFontTx/>
              <a:buChar char="•"/>
            </a:pPr>
            <a:r>
              <a:rPr lang="en-US" altLang="zh-CN" sz="2400" dirty="0">
                <a:latin typeface="Arial" panose="020B0604020202020204" pitchFamily="34" charset="0"/>
                <a:ea typeface="宋体" panose="02010600030101010101" pitchFamily="2" charset="-122"/>
                <a:cs typeface="Arial" panose="020B0604020202020204" pitchFamily="34" charset="0"/>
              </a:rPr>
              <a:t>Interactive entertainment</a:t>
            </a:r>
          </a:p>
          <a:p>
            <a:pPr>
              <a:buFontTx/>
              <a:buChar char="•"/>
            </a:pPr>
            <a:r>
              <a:rPr lang="en-US" altLang="zh-CN" sz="2400" dirty="0">
                <a:latin typeface="Arial" panose="020B0604020202020204" pitchFamily="34" charset="0"/>
                <a:ea typeface="宋体" panose="02010600030101010101" pitchFamily="2" charset="-122"/>
                <a:cs typeface="Arial" panose="020B0604020202020204" pitchFamily="34" charset="0"/>
              </a:rPr>
              <a:t>Electronic commerce</a:t>
            </a:r>
          </a:p>
        </p:txBody>
      </p:sp>
      <p:pic>
        <p:nvPicPr>
          <p:cNvPr id="5" name="Picture 4" descr="1-4">
            <a:extLst>
              <a:ext uri="{FF2B5EF4-FFF2-40B4-BE49-F238E27FC236}">
                <a16:creationId xmlns:a16="http://schemas.microsoft.com/office/drawing/2014/main" id="{1EBE4704-B486-403C-91B6-6B0396BE1B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327" y="3429000"/>
            <a:ext cx="9442654" cy="2254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E384D754-3849-409A-9BBA-D10160F2B926}"/>
              </a:ext>
            </a:extLst>
          </p:cNvPr>
          <p:cNvPicPr>
            <a:picLocks noChangeAspect="1"/>
          </p:cNvPicPr>
          <p:nvPr/>
        </p:nvPicPr>
        <p:blipFill rotWithShape="1">
          <a:blip r:embed="rId4">
            <a:extLst>
              <a:ext uri="{28A0092B-C50C-407E-A947-70E740481C1C}">
                <a14:useLocalDpi xmlns:a14="http://schemas.microsoft.com/office/drawing/2010/main" val="0"/>
              </a:ext>
            </a:extLst>
          </a:blip>
          <a:srcRect t="12567" b="3141"/>
          <a:stretch/>
        </p:blipFill>
        <p:spPr>
          <a:xfrm>
            <a:off x="3239" y="945930"/>
            <a:ext cx="12185522" cy="5780690"/>
          </a:xfrm>
          <a:prstGeom prst="rect">
            <a:avLst/>
          </a:prstGeom>
        </p:spPr>
      </p:pic>
    </p:spTree>
    <p:extLst>
      <p:ext uri="{BB962C8B-B14F-4D97-AF65-F5344CB8AC3E}">
        <p14:creationId xmlns:p14="http://schemas.microsoft.com/office/powerpoint/2010/main" val="1177632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612843" y="1143001"/>
            <a:ext cx="11138170" cy="4867275"/>
          </a:xfrm>
        </p:spPr>
        <p:txBody>
          <a:bodyPr>
            <a:normAutofit/>
          </a:bodyPr>
          <a:lstStyle/>
          <a:p>
            <a:r>
              <a:rPr lang="en-US" altLang="zh-CN" sz="2400" dirty="0">
                <a:ea typeface="宋体" panose="02010600030101010101" pitchFamily="2" charset="-122"/>
              </a:rPr>
              <a:t>Tablets, laptops, and smart phones are popular devices; </a:t>
            </a:r>
            <a:r>
              <a:rPr lang="en-US" altLang="zh-CN" sz="2400" dirty="0" err="1">
                <a:ea typeface="宋体" panose="02010600030101010101" pitchFamily="2" charset="-122"/>
              </a:rPr>
              <a:t>WiFi</a:t>
            </a:r>
            <a:r>
              <a:rPr lang="en-US" altLang="zh-CN" sz="2400" dirty="0">
                <a:ea typeface="宋体" panose="02010600030101010101" pitchFamily="2" charset="-122"/>
              </a:rPr>
              <a:t> hotspots and 4G/5G cellular provide wireless connectivity.</a:t>
            </a:r>
          </a:p>
          <a:p>
            <a:r>
              <a:rPr lang="en-US" altLang="zh-CN" sz="2400" dirty="0">
                <a:ea typeface="宋体" panose="02010600030101010101" pitchFamily="2" charset="-122"/>
              </a:rPr>
              <a:t>Mobile users communicate, e.g., voice and texts, consume content, e.g., video and Web, and use sensors, e.g., GPS. </a:t>
            </a:r>
          </a:p>
          <a:p>
            <a:r>
              <a:rPr lang="en-US" altLang="zh-CN" sz="2400" dirty="0">
                <a:ea typeface="宋体" panose="02010600030101010101" pitchFamily="2" charset="-122"/>
              </a:rPr>
              <a:t>Wireless and mobile are related but different:</a:t>
            </a:r>
          </a:p>
        </p:txBody>
      </p:sp>
      <p:pic>
        <p:nvPicPr>
          <p:cNvPr id="1638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2504" y="3576638"/>
            <a:ext cx="7786065" cy="221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sp>
        <p:nvSpPr>
          <p:cNvPr id="2" name="矩形 1">
            <a:extLst>
              <a:ext uri="{FF2B5EF4-FFF2-40B4-BE49-F238E27FC236}">
                <a16:creationId xmlns:a16="http://schemas.microsoft.com/office/drawing/2014/main" id="{A8DB6719-D7F2-4466-89EE-6E9041E44FE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Mobile Users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E5B13A6A-C9B3-4CB6-8D83-8FD337853F8F}"/>
              </a:ext>
            </a:extLst>
          </p:cNvPr>
          <p:cNvPicPr>
            <a:picLocks noChangeAspect="1"/>
          </p:cNvPicPr>
          <p:nvPr/>
        </p:nvPicPr>
        <p:blipFill rotWithShape="1">
          <a:blip r:embed="rId4">
            <a:extLst>
              <a:ext uri="{28A0092B-C50C-407E-A947-70E740481C1C}">
                <a14:useLocalDpi xmlns:a14="http://schemas.microsoft.com/office/drawing/2010/main" val="0"/>
              </a:ext>
            </a:extLst>
          </a:blip>
          <a:srcRect t="11035" b="3448"/>
          <a:stretch/>
        </p:blipFill>
        <p:spPr>
          <a:xfrm>
            <a:off x="3239" y="930166"/>
            <a:ext cx="12185522" cy="586477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612843" y="1143001"/>
            <a:ext cx="11138170" cy="4444999"/>
          </a:xfrm>
        </p:spPr>
        <p:txBody>
          <a:bodyPr>
            <a:normAutofit/>
          </a:bodyPr>
          <a:lstStyle/>
          <a:p>
            <a:pPr>
              <a:lnSpc>
                <a:spcPct val="125000"/>
              </a:lnSpc>
            </a:pPr>
            <a:r>
              <a:rPr lang="en-US" altLang="zh-CN" b="1" dirty="0">
                <a:ea typeface="宋体" panose="02010600030101010101" pitchFamily="2" charset="-122"/>
              </a:rPr>
              <a:t>From the telephone onwards:</a:t>
            </a:r>
          </a:p>
          <a:p>
            <a:pPr lvl="1">
              <a:lnSpc>
                <a:spcPct val="125000"/>
              </a:lnSpc>
              <a:buFont typeface="等线" panose="02010600030101010101" pitchFamily="2" charset="-122"/>
              <a:buChar char="–"/>
            </a:pPr>
            <a:r>
              <a:rPr lang="en-US" altLang="zh-CN" dirty="0">
                <a:ea typeface="宋体" panose="02010600030101010101" pitchFamily="2" charset="-122"/>
              </a:rPr>
              <a:t>VoIP (voice-over-IP)</a:t>
            </a:r>
          </a:p>
          <a:p>
            <a:pPr lvl="1">
              <a:lnSpc>
                <a:spcPct val="125000"/>
              </a:lnSpc>
              <a:buFont typeface="等线" panose="02010600030101010101" pitchFamily="2" charset="-122"/>
              <a:buChar char="–"/>
            </a:pPr>
            <a:r>
              <a:rPr lang="en-US" altLang="zh-CN" dirty="0">
                <a:ea typeface="宋体" panose="02010600030101010101" pitchFamily="2" charset="-122"/>
              </a:rPr>
              <a:t>Video conferencing</a:t>
            </a:r>
          </a:p>
          <a:p>
            <a:pPr lvl="1">
              <a:lnSpc>
                <a:spcPct val="125000"/>
              </a:lnSpc>
              <a:buFont typeface="等线" panose="02010600030101010101" pitchFamily="2" charset="-122"/>
              <a:buChar char="–"/>
            </a:pPr>
            <a:r>
              <a:rPr lang="en-US" altLang="zh-CN" dirty="0">
                <a:ea typeface="宋体" panose="02010600030101010101" pitchFamily="2" charset="-122"/>
              </a:rPr>
              <a:t>Instant messaging</a:t>
            </a:r>
          </a:p>
          <a:p>
            <a:pPr lvl="1">
              <a:lnSpc>
                <a:spcPct val="125000"/>
              </a:lnSpc>
              <a:buFont typeface="等线" panose="02010600030101010101" pitchFamily="2" charset="-122"/>
              <a:buChar char="–"/>
            </a:pPr>
            <a:r>
              <a:rPr lang="en-US" altLang="zh-CN" dirty="0">
                <a:ea typeface="宋体" panose="02010600030101010101" pitchFamily="2" charset="-122"/>
              </a:rPr>
              <a:t>Social networking</a:t>
            </a:r>
          </a:p>
          <a:p>
            <a:pPr>
              <a:lnSpc>
                <a:spcPct val="125000"/>
              </a:lnSpc>
            </a:pPr>
            <a:r>
              <a:rPr lang="en-US" altLang="zh-CN" b="1" dirty="0">
                <a:ea typeface="宋体" panose="02010600030101010101" pitchFamily="2" charset="-122"/>
              </a:rPr>
              <a:t>Enables remote communication</a:t>
            </a:r>
          </a:p>
          <a:p>
            <a:pPr lvl="1">
              <a:lnSpc>
                <a:spcPct val="125000"/>
              </a:lnSpc>
              <a:buFont typeface="等线" panose="02010600030101010101" pitchFamily="2" charset="-122"/>
              <a:buChar char="–"/>
            </a:pPr>
            <a:r>
              <a:rPr lang="en-US" altLang="zh-CN" dirty="0">
                <a:ea typeface="宋体" panose="02010600030101010101" pitchFamily="2" charset="-122"/>
              </a:rPr>
              <a:t>Need low latency for interactivity</a:t>
            </a:r>
          </a:p>
        </p:txBody>
      </p:sp>
      <p:sp>
        <p:nvSpPr>
          <p:cNvPr id="16389"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dirty="0">
                <a:ea typeface="宋体" panose="02010600030101010101" pitchFamily="2" charset="-122"/>
              </a:rPr>
              <a:t>Computer Networks, Chapter 1 Introduction</a:t>
            </a:r>
          </a:p>
        </p:txBody>
      </p:sp>
      <p:sp>
        <p:nvSpPr>
          <p:cNvPr id="2" name="矩形 1">
            <a:extLst>
              <a:ext uri="{FF2B5EF4-FFF2-40B4-BE49-F238E27FC236}">
                <a16:creationId xmlns:a16="http://schemas.microsoft.com/office/drawing/2014/main" id="{A8DB6719-D7F2-4466-89EE-6E9041E44FE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For User Communication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EA50A92B-7FDF-46E9-AF8A-495C18C435F1}"/>
              </a:ext>
            </a:extLst>
          </p:cNvPr>
          <p:cNvPicPr>
            <a:picLocks noChangeAspect="1"/>
          </p:cNvPicPr>
          <p:nvPr/>
        </p:nvPicPr>
        <p:blipFill rotWithShape="1">
          <a:blip r:embed="rId3">
            <a:extLst>
              <a:ext uri="{28A0092B-C50C-407E-A947-70E740481C1C}">
                <a14:useLocalDpi xmlns:a14="http://schemas.microsoft.com/office/drawing/2010/main" val="0"/>
              </a:ext>
            </a:extLst>
          </a:blip>
          <a:srcRect t="13103" b="1991"/>
          <a:stretch/>
        </p:blipFill>
        <p:spPr>
          <a:xfrm>
            <a:off x="3239" y="898634"/>
            <a:ext cx="12185522" cy="5822841"/>
          </a:xfrm>
          <a:prstGeom prst="rect">
            <a:avLst/>
          </a:prstGeom>
        </p:spPr>
      </p:pic>
    </p:spTree>
    <p:extLst>
      <p:ext uri="{BB962C8B-B14F-4D97-AF65-F5344CB8AC3E}">
        <p14:creationId xmlns:p14="http://schemas.microsoft.com/office/powerpoint/2010/main" val="4245314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612843" y="1143001"/>
            <a:ext cx="11138170" cy="3041649"/>
          </a:xfrm>
        </p:spPr>
        <p:txBody>
          <a:bodyPr>
            <a:normAutofit/>
          </a:bodyPr>
          <a:lstStyle/>
          <a:p>
            <a:pPr>
              <a:lnSpc>
                <a:spcPct val="125000"/>
              </a:lnSpc>
            </a:pPr>
            <a:r>
              <a:rPr lang="en-US" altLang="zh-CN" b="1" dirty="0">
                <a:ea typeface="宋体" panose="02010600030101010101" pitchFamily="2" charset="-122"/>
              </a:rPr>
              <a:t>Many users may access the same underlying resource:</a:t>
            </a:r>
          </a:p>
          <a:p>
            <a:pPr lvl="1">
              <a:lnSpc>
                <a:spcPct val="125000"/>
              </a:lnSpc>
              <a:buFont typeface="等线" panose="02010600030101010101" pitchFamily="2" charset="-122"/>
              <a:buChar char="–"/>
            </a:pPr>
            <a:r>
              <a:rPr lang="en-US" altLang="zh-CN" dirty="0">
                <a:ea typeface="宋体" panose="02010600030101010101" pitchFamily="2" charset="-122"/>
              </a:rPr>
              <a:t>E.g., 3D printer, machines in the cloud</a:t>
            </a:r>
          </a:p>
          <a:p>
            <a:pPr>
              <a:lnSpc>
                <a:spcPct val="125000"/>
              </a:lnSpc>
            </a:pPr>
            <a:endParaRPr lang="en-US" altLang="zh-CN" b="1" dirty="0">
              <a:ea typeface="宋体" panose="02010600030101010101" pitchFamily="2" charset="-122"/>
            </a:endParaRPr>
          </a:p>
          <a:p>
            <a:pPr>
              <a:lnSpc>
                <a:spcPct val="125000"/>
              </a:lnSpc>
            </a:pPr>
            <a:r>
              <a:rPr lang="en-US" altLang="zh-CN" b="1" dirty="0">
                <a:ea typeface="宋体" panose="02010600030101010101" pitchFamily="2" charset="-122"/>
              </a:rPr>
              <a:t>More cost effective than dedicated resources per user</a:t>
            </a:r>
          </a:p>
          <a:p>
            <a:pPr lvl="1">
              <a:lnSpc>
                <a:spcPct val="125000"/>
              </a:lnSpc>
              <a:buFont typeface="等线" panose="02010600030101010101" pitchFamily="2" charset="-122"/>
              <a:buChar char="–"/>
            </a:pPr>
            <a:r>
              <a:rPr lang="en-US" altLang="zh-CN" dirty="0">
                <a:ea typeface="宋体" panose="02010600030101010101" pitchFamily="2" charset="-122"/>
              </a:rPr>
              <a:t>Even network links are shared via statistical multiplexing</a:t>
            </a:r>
          </a:p>
        </p:txBody>
      </p:sp>
      <p:sp>
        <p:nvSpPr>
          <p:cNvPr id="16389"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dirty="0">
                <a:ea typeface="宋体" panose="02010600030101010101" pitchFamily="2" charset="-122"/>
              </a:rPr>
              <a:t>Computer Networks, Chapter 1 Introduction</a:t>
            </a:r>
          </a:p>
        </p:txBody>
      </p:sp>
      <p:sp>
        <p:nvSpPr>
          <p:cNvPr id="2" name="矩形 1">
            <a:extLst>
              <a:ext uri="{FF2B5EF4-FFF2-40B4-BE49-F238E27FC236}">
                <a16:creationId xmlns:a16="http://schemas.microsoft.com/office/drawing/2014/main" id="{A8DB6719-D7F2-4466-89EE-6E9041E44FE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For Resource Sharing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94FBF00D-5344-40BC-83C7-274F4BDFEAB8}"/>
              </a:ext>
            </a:extLst>
          </p:cNvPr>
          <p:cNvPicPr>
            <a:picLocks noChangeAspect="1"/>
          </p:cNvPicPr>
          <p:nvPr/>
        </p:nvPicPr>
        <p:blipFill rotWithShape="1">
          <a:blip r:embed="rId3">
            <a:extLst>
              <a:ext uri="{28A0092B-C50C-407E-A947-70E740481C1C}">
                <a14:useLocalDpi xmlns:a14="http://schemas.microsoft.com/office/drawing/2010/main" val="0"/>
              </a:ext>
            </a:extLst>
          </a:blip>
          <a:srcRect t="10881" b="3142"/>
          <a:stretch/>
        </p:blipFill>
        <p:spPr>
          <a:xfrm>
            <a:off x="3239" y="909148"/>
            <a:ext cx="12185522" cy="5896304"/>
          </a:xfrm>
          <a:prstGeom prst="rect">
            <a:avLst/>
          </a:prstGeom>
        </p:spPr>
      </p:pic>
    </p:spTree>
    <p:extLst>
      <p:ext uri="{BB962C8B-B14F-4D97-AF65-F5344CB8AC3E}">
        <p14:creationId xmlns:p14="http://schemas.microsoft.com/office/powerpoint/2010/main" val="3790469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612843" y="1143001"/>
            <a:ext cx="11138170" cy="4984749"/>
          </a:xfrm>
        </p:spPr>
        <p:txBody>
          <a:bodyPr>
            <a:normAutofit fontScale="92500" lnSpcReduction="10000"/>
          </a:bodyPr>
          <a:lstStyle/>
          <a:p>
            <a:pPr>
              <a:lnSpc>
                <a:spcPct val="125000"/>
              </a:lnSpc>
            </a:pPr>
            <a:r>
              <a:rPr lang="en-US" altLang="zh-CN" b="1" dirty="0">
                <a:ea typeface="宋体" panose="02010600030101010101" pitchFamily="2" charset="-122"/>
              </a:rPr>
              <a:t>Statistical Multiplexing</a:t>
            </a:r>
          </a:p>
          <a:p>
            <a:pPr lvl="1">
              <a:lnSpc>
                <a:spcPct val="125000"/>
              </a:lnSpc>
              <a:buFont typeface="等线" panose="02010600030101010101" pitchFamily="2" charset="-122"/>
              <a:buChar char="–"/>
            </a:pPr>
            <a:r>
              <a:rPr lang="zh-CN" altLang="en-US" dirty="0">
                <a:latin typeface="微软雅黑" panose="020B0503020204020204" pitchFamily="34" charset="-122"/>
                <a:ea typeface="微软雅黑" panose="020B0503020204020204" pitchFamily="34" charset="-122"/>
              </a:rPr>
              <a:t>统计复用，是指能在同一传输媒质中同时传输多路信号的技术，用以提高通信线路的利用率。常用的方式有频分复用、时分复用、码分复用等。主要应用于</a:t>
            </a:r>
            <a:r>
              <a:rPr lang="zh-CN" altLang="en-US" b="1" dirty="0">
                <a:latin typeface="微软雅黑" panose="020B0503020204020204" pitchFamily="34" charset="-122"/>
                <a:ea typeface="微软雅黑" panose="020B0503020204020204" pitchFamily="34" charset="-122"/>
              </a:rPr>
              <a:t>分组交换网</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25000"/>
              </a:lnSpc>
            </a:pPr>
            <a:r>
              <a:rPr lang="en-US" altLang="zh-CN" b="1" dirty="0">
                <a:ea typeface="宋体" panose="02010600030101010101" pitchFamily="2" charset="-122"/>
              </a:rPr>
              <a:t>Sharing of network bandwidth between users according to the statistics of their demand:</a:t>
            </a:r>
          </a:p>
          <a:p>
            <a:pPr lvl="1">
              <a:lnSpc>
                <a:spcPct val="125000"/>
              </a:lnSpc>
              <a:buFont typeface="等线" panose="02010600030101010101" pitchFamily="2" charset="-122"/>
              <a:buChar char="–"/>
            </a:pPr>
            <a:r>
              <a:rPr lang="en-US" altLang="zh-CN" dirty="0">
                <a:ea typeface="宋体" panose="02010600030101010101" pitchFamily="2" charset="-122"/>
              </a:rPr>
              <a:t>Multiplexing just means sharing</a:t>
            </a:r>
          </a:p>
          <a:p>
            <a:pPr lvl="1">
              <a:lnSpc>
                <a:spcPct val="125000"/>
              </a:lnSpc>
              <a:buFont typeface="等线" panose="02010600030101010101" pitchFamily="2" charset="-122"/>
              <a:buChar char="–"/>
            </a:pPr>
            <a:r>
              <a:rPr lang="en-US" altLang="zh-CN" dirty="0">
                <a:ea typeface="宋体" panose="02010600030101010101" pitchFamily="2" charset="-122"/>
              </a:rPr>
              <a:t>Useful because users are mostly idle and their traffic is </a:t>
            </a:r>
            <a:r>
              <a:rPr lang="en-US" altLang="zh-CN" dirty="0" err="1">
                <a:ea typeface="宋体" panose="02010600030101010101" pitchFamily="2" charset="-122"/>
              </a:rPr>
              <a:t>bursty</a:t>
            </a:r>
            <a:r>
              <a:rPr lang="en-US" altLang="zh-CN" dirty="0">
                <a:ea typeface="宋体" panose="02010600030101010101" pitchFamily="2" charset="-122"/>
              </a:rPr>
              <a:t>.</a:t>
            </a:r>
          </a:p>
          <a:p>
            <a:pPr>
              <a:lnSpc>
                <a:spcPct val="125000"/>
              </a:lnSpc>
            </a:pPr>
            <a:r>
              <a:rPr lang="en-US" altLang="zh-CN" b="1" dirty="0">
                <a:ea typeface="宋体" panose="02010600030101010101" pitchFamily="2" charset="-122"/>
              </a:rPr>
              <a:t>Key questions:</a:t>
            </a:r>
          </a:p>
          <a:p>
            <a:pPr lvl="1">
              <a:lnSpc>
                <a:spcPct val="125000"/>
              </a:lnSpc>
              <a:buFont typeface="等线" panose="02010600030101010101" pitchFamily="2" charset="-122"/>
              <a:buChar char="–"/>
            </a:pPr>
            <a:r>
              <a:rPr lang="en-US" altLang="zh-CN" dirty="0">
                <a:ea typeface="宋体" panose="02010600030101010101" pitchFamily="2" charset="-122"/>
              </a:rPr>
              <a:t>How much does it help?</a:t>
            </a:r>
          </a:p>
        </p:txBody>
      </p:sp>
      <p:sp>
        <p:nvSpPr>
          <p:cNvPr id="16389"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dirty="0">
                <a:ea typeface="宋体" panose="02010600030101010101" pitchFamily="2" charset="-122"/>
              </a:rPr>
              <a:t>Computer Networks, Chapter 1 Introduction</a:t>
            </a:r>
          </a:p>
        </p:txBody>
      </p:sp>
      <p:sp>
        <p:nvSpPr>
          <p:cNvPr id="2" name="矩形 1">
            <a:extLst>
              <a:ext uri="{FF2B5EF4-FFF2-40B4-BE49-F238E27FC236}">
                <a16:creationId xmlns:a16="http://schemas.microsoft.com/office/drawing/2014/main" id="{A8DB6719-D7F2-4466-89EE-6E9041E44FE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Statistical Multiplexing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C189EC2F-BB94-4BF9-8C90-9665E16164DC}"/>
              </a:ext>
            </a:extLst>
          </p:cNvPr>
          <p:cNvPicPr>
            <a:picLocks noChangeAspect="1"/>
          </p:cNvPicPr>
          <p:nvPr/>
        </p:nvPicPr>
        <p:blipFill rotWithShape="1">
          <a:blip r:embed="rId3">
            <a:extLst>
              <a:ext uri="{28A0092B-C50C-407E-A947-70E740481C1C}">
                <a14:useLocalDpi xmlns:a14="http://schemas.microsoft.com/office/drawing/2010/main" val="0"/>
              </a:ext>
            </a:extLst>
          </a:blip>
          <a:srcRect t="11655" b="4026"/>
          <a:stretch/>
        </p:blipFill>
        <p:spPr>
          <a:xfrm>
            <a:off x="3239" y="951717"/>
            <a:ext cx="12185522" cy="5782592"/>
          </a:xfrm>
          <a:prstGeom prst="rect">
            <a:avLst/>
          </a:prstGeom>
        </p:spPr>
      </p:pic>
    </p:spTree>
    <p:extLst>
      <p:ext uri="{BB962C8B-B14F-4D97-AF65-F5344CB8AC3E}">
        <p14:creationId xmlns:p14="http://schemas.microsoft.com/office/powerpoint/2010/main" val="4081940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612843" y="1143001"/>
            <a:ext cx="11138170" cy="3371849"/>
          </a:xfrm>
        </p:spPr>
        <p:txBody>
          <a:bodyPr>
            <a:normAutofit/>
          </a:bodyPr>
          <a:lstStyle/>
          <a:p>
            <a:pPr>
              <a:lnSpc>
                <a:spcPct val="125000"/>
              </a:lnSpc>
            </a:pPr>
            <a:r>
              <a:rPr lang="en-US" altLang="zh-CN" b="1" dirty="0">
                <a:ea typeface="宋体" panose="02010600030101010101" pitchFamily="2" charset="-122"/>
              </a:rPr>
              <a:t>Same content is delivered to many users</a:t>
            </a:r>
          </a:p>
          <a:p>
            <a:pPr lvl="1">
              <a:lnSpc>
                <a:spcPct val="125000"/>
              </a:lnSpc>
              <a:buFont typeface="等线" panose="02010600030101010101" pitchFamily="2" charset="-122"/>
              <a:buChar char="–"/>
            </a:pPr>
            <a:r>
              <a:rPr lang="en-US" altLang="zh-CN" dirty="0">
                <a:latin typeface="微软雅黑" panose="020B0503020204020204" pitchFamily="34" charset="-122"/>
                <a:ea typeface="微软雅黑" panose="020B0503020204020204" pitchFamily="34" charset="-122"/>
              </a:rPr>
              <a:t>Videos (large), songs, apps and upgrades, web pages…</a:t>
            </a:r>
          </a:p>
          <a:p>
            <a:pPr>
              <a:lnSpc>
                <a:spcPct val="125000"/>
              </a:lnSpc>
            </a:pPr>
            <a:endParaRPr lang="en-US" altLang="zh-CN" b="1" dirty="0">
              <a:ea typeface="宋体" panose="02010600030101010101" pitchFamily="2" charset="-122"/>
            </a:endParaRPr>
          </a:p>
          <a:p>
            <a:pPr>
              <a:lnSpc>
                <a:spcPct val="125000"/>
              </a:lnSpc>
            </a:pPr>
            <a:r>
              <a:rPr lang="en-US" altLang="zh-CN" b="1" dirty="0">
                <a:ea typeface="宋体" panose="02010600030101010101" pitchFamily="2" charset="-122"/>
              </a:rPr>
              <a:t>More efficient than sending a copy all the way to each user:</a:t>
            </a:r>
          </a:p>
          <a:p>
            <a:pPr lvl="1">
              <a:lnSpc>
                <a:spcPct val="125000"/>
              </a:lnSpc>
              <a:buFont typeface="等线" panose="02010600030101010101" pitchFamily="2" charset="-122"/>
              <a:buChar char="–"/>
            </a:pPr>
            <a:r>
              <a:rPr lang="en-US" altLang="zh-CN" dirty="0">
                <a:ea typeface="宋体" panose="02010600030101010101" pitchFamily="2" charset="-122"/>
              </a:rPr>
              <a:t>Uses replicas in the network</a:t>
            </a:r>
          </a:p>
        </p:txBody>
      </p:sp>
      <p:sp>
        <p:nvSpPr>
          <p:cNvPr id="16389"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dirty="0">
                <a:ea typeface="宋体" panose="02010600030101010101" pitchFamily="2" charset="-122"/>
              </a:rPr>
              <a:t>Computer Networks, Chapter 1 Introduction</a:t>
            </a:r>
          </a:p>
        </p:txBody>
      </p:sp>
      <p:sp>
        <p:nvSpPr>
          <p:cNvPr id="2" name="矩形 1">
            <a:extLst>
              <a:ext uri="{FF2B5EF4-FFF2-40B4-BE49-F238E27FC236}">
                <a16:creationId xmlns:a16="http://schemas.microsoft.com/office/drawing/2014/main" id="{A8DB6719-D7F2-4466-89EE-6E9041E44FE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For Content Delivery</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CAE73015-3957-4215-B43B-71BA63CA2B0F}"/>
              </a:ext>
            </a:extLst>
          </p:cNvPr>
          <p:cNvPicPr>
            <a:picLocks noChangeAspect="1"/>
          </p:cNvPicPr>
          <p:nvPr/>
        </p:nvPicPr>
        <p:blipFill rotWithShape="1">
          <a:blip r:embed="rId3">
            <a:extLst>
              <a:ext uri="{28A0092B-C50C-407E-A947-70E740481C1C}">
                <a14:useLocalDpi xmlns:a14="http://schemas.microsoft.com/office/drawing/2010/main" val="0"/>
              </a:ext>
            </a:extLst>
          </a:blip>
          <a:srcRect l="965" t="11654" r="1094" b="1991"/>
          <a:stretch/>
        </p:blipFill>
        <p:spPr>
          <a:xfrm>
            <a:off x="215460" y="925436"/>
            <a:ext cx="11769472" cy="5885265"/>
          </a:xfrm>
          <a:prstGeom prst="rect">
            <a:avLst/>
          </a:prstGeom>
        </p:spPr>
      </p:pic>
    </p:spTree>
    <p:extLst>
      <p:ext uri="{BB962C8B-B14F-4D97-AF65-F5344CB8AC3E}">
        <p14:creationId xmlns:p14="http://schemas.microsoft.com/office/powerpoint/2010/main" val="1522131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612843" y="1143001"/>
            <a:ext cx="11138170" cy="3371849"/>
          </a:xfrm>
        </p:spPr>
        <p:txBody>
          <a:bodyPr>
            <a:normAutofit/>
          </a:bodyPr>
          <a:lstStyle/>
          <a:p>
            <a:pPr>
              <a:lnSpc>
                <a:spcPct val="125000"/>
              </a:lnSpc>
            </a:pPr>
            <a:r>
              <a:rPr lang="en-US" altLang="zh-CN" b="1" dirty="0">
                <a:ea typeface="宋体" panose="02010600030101010101" pitchFamily="2" charset="-122"/>
              </a:rPr>
              <a:t>To let computers interact with other computers</a:t>
            </a:r>
          </a:p>
          <a:p>
            <a:pPr lvl="1">
              <a:lnSpc>
                <a:spcPct val="125000"/>
              </a:lnSpc>
              <a:buFont typeface="等线" panose="02010600030101010101" pitchFamily="2" charset="-122"/>
              <a:buChar char="–"/>
            </a:pPr>
            <a:r>
              <a:rPr lang="en-US" altLang="zh-CN" dirty="0">
                <a:latin typeface="微软雅黑" panose="020B0503020204020204" pitchFamily="34" charset="-122"/>
                <a:ea typeface="微软雅黑" panose="020B0503020204020204" pitchFamily="34" charset="-122"/>
              </a:rPr>
              <a:t>E.g., e-commerce, distributed computing, M2M, …</a:t>
            </a:r>
          </a:p>
          <a:p>
            <a:pPr>
              <a:lnSpc>
                <a:spcPct val="125000"/>
              </a:lnSpc>
            </a:pPr>
            <a:endParaRPr lang="en-US" altLang="zh-CN" b="1" dirty="0">
              <a:ea typeface="宋体" panose="02010600030101010101" pitchFamily="2" charset="-122"/>
            </a:endParaRPr>
          </a:p>
          <a:p>
            <a:pPr>
              <a:lnSpc>
                <a:spcPct val="125000"/>
              </a:lnSpc>
            </a:pPr>
            <a:r>
              <a:rPr lang="en-US" altLang="zh-CN" b="1" dirty="0">
                <a:ea typeface="宋体" panose="02010600030101010101" pitchFamily="2" charset="-122"/>
              </a:rPr>
              <a:t>Enables automated information processing across different parties</a:t>
            </a:r>
          </a:p>
        </p:txBody>
      </p:sp>
      <p:sp>
        <p:nvSpPr>
          <p:cNvPr id="16389"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dirty="0">
                <a:ea typeface="宋体" panose="02010600030101010101" pitchFamily="2" charset="-122"/>
              </a:rPr>
              <a:t>Computer Networks, Chapter 1 Introduction</a:t>
            </a:r>
          </a:p>
        </p:txBody>
      </p:sp>
      <p:sp>
        <p:nvSpPr>
          <p:cNvPr id="2" name="矩形 1">
            <a:extLst>
              <a:ext uri="{FF2B5EF4-FFF2-40B4-BE49-F238E27FC236}">
                <a16:creationId xmlns:a16="http://schemas.microsoft.com/office/drawing/2014/main" id="{A8DB6719-D7F2-4466-89EE-6E9041E44FE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For Computer Communication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EC4F7E09-96B8-4651-97AD-25A934B916D6}"/>
              </a:ext>
            </a:extLst>
          </p:cNvPr>
          <p:cNvPicPr>
            <a:picLocks noChangeAspect="1"/>
          </p:cNvPicPr>
          <p:nvPr/>
        </p:nvPicPr>
        <p:blipFill rotWithShape="1">
          <a:blip r:embed="rId3">
            <a:extLst>
              <a:ext uri="{28A0092B-C50C-407E-A947-70E740481C1C}">
                <a14:useLocalDpi xmlns:a14="http://schemas.microsoft.com/office/drawing/2010/main" val="0"/>
              </a:ext>
            </a:extLst>
          </a:blip>
          <a:srcRect l="923" t="10958" r="879"/>
          <a:stretch/>
        </p:blipFill>
        <p:spPr>
          <a:xfrm>
            <a:off x="189186" y="982716"/>
            <a:ext cx="11755821" cy="5875283"/>
          </a:xfrm>
          <a:prstGeom prst="rect">
            <a:avLst/>
          </a:prstGeom>
        </p:spPr>
      </p:pic>
    </p:spTree>
    <p:extLst>
      <p:ext uri="{BB962C8B-B14F-4D97-AF65-F5344CB8AC3E}">
        <p14:creationId xmlns:p14="http://schemas.microsoft.com/office/powerpoint/2010/main" val="921972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Footer Placeholder 7"/>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18436" name="Content Placeholder 2"/>
          <p:cNvSpPr>
            <a:spLocks noGrp="1"/>
          </p:cNvSpPr>
          <p:nvPr>
            <p:ph idx="1"/>
          </p:nvPr>
        </p:nvSpPr>
        <p:spPr>
          <a:xfrm>
            <a:off x="579454" y="1491863"/>
            <a:ext cx="11033092" cy="4171938"/>
          </a:xfrm>
        </p:spPr>
        <p:txBody>
          <a:bodyPr>
            <a:normAutofit/>
          </a:bodyPr>
          <a:lstStyle/>
          <a:p>
            <a:pPr lvl="1">
              <a:lnSpc>
                <a:spcPct val="120000"/>
              </a:lnSpc>
            </a:pPr>
            <a:r>
              <a:rPr lang="en-US" altLang="zh-CN" sz="2800" dirty="0">
                <a:latin typeface="Arial" panose="020B0604020202020204" pitchFamily="34" charset="0"/>
                <a:ea typeface="微软雅黑" panose="020B0503020204020204" pitchFamily="34" charset="-122"/>
              </a:rPr>
              <a:t>Network neutrality – no network restrictions</a:t>
            </a:r>
          </a:p>
          <a:p>
            <a:pPr lvl="1">
              <a:lnSpc>
                <a:spcPct val="120000"/>
              </a:lnSpc>
            </a:pPr>
            <a:r>
              <a:rPr lang="en-US" altLang="zh-CN" sz="2800" dirty="0">
                <a:latin typeface="Arial" panose="020B0604020202020204" pitchFamily="34" charset="0"/>
                <a:ea typeface="微软雅黑" panose="020B0503020204020204" pitchFamily="34" charset="-122"/>
              </a:rPr>
              <a:t>Content ownership, e.g., DMCA (Digital Millennium Copyright Act</a:t>
            </a:r>
            <a:r>
              <a:rPr lang="zh-CN" altLang="en-US" sz="2800" dirty="0">
                <a:latin typeface="Arial" panose="020B0604020202020204" pitchFamily="34" charset="0"/>
                <a:ea typeface="微软雅黑" panose="020B0503020204020204" pitchFamily="34" charset="-122"/>
              </a:rPr>
              <a:t>数字千年版权法案</a:t>
            </a:r>
            <a:r>
              <a:rPr lang="en-US" altLang="zh-CN" sz="2800" dirty="0">
                <a:latin typeface="Arial" panose="020B0604020202020204" pitchFamily="34" charset="0"/>
                <a:ea typeface="微软雅黑" panose="020B0503020204020204" pitchFamily="34" charset="-122"/>
              </a:rPr>
              <a:t>, 1998) notice-and-takedown</a:t>
            </a:r>
          </a:p>
          <a:p>
            <a:pPr lvl="1">
              <a:lnSpc>
                <a:spcPct val="120000"/>
              </a:lnSpc>
            </a:pPr>
            <a:r>
              <a:rPr lang="en-US" altLang="zh-CN" sz="2800" dirty="0">
                <a:latin typeface="Arial" panose="020B0604020202020204" pitchFamily="34" charset="0"/>
                <a:ea typeface="微软雅黑" panose="020B0503020204020204" pitchFamily="34" charset="-122"/>
              </a:rPr>
              <a:t>Anonymity and censorship </a:t>
            </a:r>
            <a:r>
              <a:rPr lang="zh-CN" altLang="en-US" sz="2800" dirty="0">
                <a:latin typeface="Arial" panose="020B0604020202020204" pitchFamily="34" charset="0"/>
                <a:ea typeface="微软雅黑" panose="020B0503020204020204" pitchFamily="34" charset="-122"/>
              </a:rPr>
              <a:t>匿名和审查</a:t>
            </a:r>
            <a:endParaRPr lang="en-US" altLang="zh-CN" sz="2800" dirty="0">
              <a:latin typeface="Arial" panose="020B0604020202020204" pitchFamily="34" charset="0"/>
              <a:ea typeface="微软雅黑" panose="020B0503020204020204" pitchFamily="34" charset="-122"/>
            </a:endParaRPr>
          </a:p>
          <a:p>
            <a:pPr lvl="1">
              <a:lnSpc>
                <a:spcPct val="120000"/>
              </a:lnSpc>
            </a:pPr>
            <a:r>
              <a:rPr lang="en-US" altLang="zh-CN" sz="2800" dirty="0">
                <a:latin typeface="Arial" panose="020B0604020202020204" pitchFamily="34" charset="0"/>
                <a:ea typeface="微软雅黑" panose="020B0503020204020204" pitchFamily="34" charset="-122"/>
              </a:rPr>
              <a:t>Privacy, e.g., Web tracking and profiling</a:t>
            </a:r>
            <a:r>
              <a:rPr lang="zh-CN" altLang="en-US" sz="2800" dirty="0">
                <a:latin typeface="Arial" panose="020B0604020202020204" pitchFamily="34" charset="0"/>
                <a:ea typeface="微软雅黑" panose="020B0503020204020204" pitchFamily="34" charset="-122"/>
              </a:rPr>
              <a:t>网络跟踪和资料收集</a:t>
            </a:r>
            <a:endParaRPr lang="en-US" altLang="zh-CN" sz="2800" dirty="0">
              <a:latin typeface="Arial" panose="020B0604020202020204" pitchFamily="34" charset="0"/>
              <a:ea typeface="微软雅黑" panose="020B0503020204020204" pitchFamily="34" charset="-122"/>
            </a:endParaRPr>
          </a:p>
          <a:p>
            <a:pPr lvl="1">
              <a:lnSpc>
                <a:spcPct val="120000"/>
              </a:lnSpc>
            </a:pPr>
            <a:r>
              <a:rPr lang="en-US" altLang="zh-CN" sz="2800" dirty="0">
                <a:latin typeface="Arial" panose="020B0604020202020204" pitchFamily="34" charset="0"/>
                <a:ea typeface="微软雅黑" panose="020B0503020204020204" pitchFamily="34" charset="-122"/>
              </a:rPr>
              <a:t>Theft, e.g., botnets and phishing </a:t>
            </a:r>
            <a:r>
              <a:rPr lang="zh-CN" altLang="en-US" sz="2800" dirty="0">
                <a:latin typeface="Arial" panose="020B0604020202020204" pitchFamily="34" charset="0"/>
                <a:ea typeface="微软雅黑" panose="020B0503020204020204" pitchFamily="34" charset="-122"/>
              </a:rPr>
              <a:t>僵尸网络和网络钓鱼</a:t>
            </a:r>
            <a:endParaRPr lang="en-US" altLang="zh-CN" sz="2800" dirty="0">
              <a:latin typeface="Arial" panose="020B0604020202020204" pitchFamily="34" charset="0"/>
              <a:ea typeface="微软雅黑" panose="020B0503020204020204" pitchFamily="34" charset="-122"/>
            </a:endParaRPr>
          </a:p>
          <a:p>
            <a:pPr lvl="1">
              <a:lnSpc>
                <a:spcPct val="120000"/>
              </a:lnSpc>
            </a:pPr>
            <a:endParaRPr lang="en-US" altLang="zh-CN" sz="2800" dirty="0">
              <a:latin typeface="Arial" panose="020B0604020202020204" pitchFamily="34" charset="0"/>
              <a:ea typeface="微软雅黑" panose="020B0503020204020204" pitchFamily="34" charset="-122"/>
            </a:endParaRPr>
          </a:p>
        </p:txBody>
      </p:sp>
      <p:sp>
        <p:nvSpPr>
          <p:cNvPr id="2" name="矩形 1">
            <a:extLst>
              <a:ext uri="{FF2B5EF4-FFF2-40B4-BE49-F238E27FC236}">
                <a16:creationId xmlns:a16="http://schemas.microsoft.com/office/drawing/2014/main" id="{B933964B-C984-4074-8C01-AD2D2453AC3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Social Issues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0DE6CC9F-C075-468A-99D6-33D6F8B03B29}"/>
              </a:ext>
            </a:extLst>
          </p:cNvPr>
          <p:cNvSpPr/>
          <p:nvPr/>
        </p:nvSpPr>
        <p:spPr>
          <a:xfrm>
            <a:off x="699608" y="5340635"/>
            <a:ext cx="11089401" cy="707886"/>
          </a:xfrm>
          <a:prstGeom prst="rect">
            <a:avLst/>
          </a:prstGeom>
        </p:spPr>
        <p:txBody>
          <a:bodyPr wrap="square">
            <a:spAutoFit/>
          </a:bodyPr>
          <a:lstStyle/>
          <a:p>
            <a:pPr lvl="0" algn="ctr">
              <a:spcBef>
                <a:spcPct val="0"/>
              </a:spcBef>
              <a:defRPr/>
            </a:pPr>
            <a:r>
              <a:rPr lang="zh-CN" altLang="en-US" sz="2000" b="1" dirty="0">
                <a:solidFill>
                  <a:srgbClr val="FF0000"/>
                </a:solidFill>
                <a:latin typeface="微软雅黑" panose="020B0503020204020204" pitchFamily="34" charset="-122"/>
                <a:ea typeface="微软雅黑" panose="020B0503020204020204" pitchFamily="34" charset="-122"/>
              </a:rPr>
              <a:t>随着全球各国</a:t>
            </a:r>
            <a:r>
              <a:rPr lang="en-US" altLang="zh-CN" sz="2000" b="1" dirty="0">
                <a:solidFill>
                  <a:srgbClr val="FF0000"/>
                </a:solidFill>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个人数据保护法</a:t>
            </a:r>
            <a:r>
              <a:rPr lang="en-US" altLang="zh-CN" sz="2000" b="1" dirty="0">
                <a:solidFill>
                  <a:srgbClr val="FF0000"/>
                </a:solidFill>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的陆续实施，欧盟</a:t>
            </a:r>
            <a:r>
              <a:rPr lang="en-US" altLang="zh-CN" sz="2000" b="1" dirty="0">
                <a:solidFill>
                  <a:srgbClr val="FF0000"/>
                </a:solidFill>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一般数据保护法案</a:t>
            </a:r>
            <a:r>
              <a:rPr lang="en-US" altLang="zh-CN" sz="2000" b="1" dirty="0">
                <a:solidFill>
                  <a:srgbClr val="FF0000"/>
                </a:solidFill>
                <a:latin typeface="微软雅黑" panose="020B0503020204020204" pitchFamily="34" charset="-122"/>
                <a:ea typeface="微软雅黑" panose="020B0503020204020204" pitchFamily="34" charset="-122"/>
              </a:rPr>
              <a:t>(General Data Protection Regulation, 679/2016, GDPR )》</a:t>
            </a:r>
            <a:r>
              <a:rPr lang="zh-CN" altLang="en-US" sz="2000" b="1" dirty="0">
                <a:solidFill>
                  <a:srgbClr val="FF0000"/>
                </a:solidFill>
                <a:latin typeface="微软雅黑" panose="020B0503020204020204" pitchFamily="34" charset="-122"/>
                <a:ea typeface="微软雅黑" panose="020B0503020204020204" pitchFamily="34" charset="-122"/>
              </a:rPr>
              <a:t>（简称</a:t>
            </a:r>
            <a:r>
              <a:rPr lang="en-US" altLang="zh-CN" sz="2000" b="1" dirty="0">
                <a:solidFill>
                  <a:srgbClr val="FF0000"/>
                </a:solidFill>
                <a:latin typeface="微软雅黑" panose="020B0503020204020204" pitchFamily="34" charset="-122"/>
                <a:ea typeface="微软雅黑" panose="020B0503020204020204" pitchFamily="34" charset="-122"/>
              </a:rPr>
              <a:t>GDPR</a:t>
            </a:r>
            <a:r>
              <a:rPr lang="zh-CN" altLang="en-US" sz="2000" b="1" dirty="0">
                <a:solidFill>
                  <a:srgbClr val="FF0000"/>
                </a:solidFill>
                <a:latin typeface="微软雅黑" panose="020B0503020204020204" pitchFamily="34" charset="-122"/>
                <a:ea typeface="微软雅黑" panose="020B0503020204020204" pitchFamily="34" charset="-122"/>
              </a:rPr>
              <a:t>）于 </a:t>
            </a:r>
            <a:r>
              <a:rPr lang="en-US" altLang="zh-CN" sz="2000" b="1" dirty="0">
                <a:solidFill>
                  <a:srgbClr val="FF0000"/>
                </a:solidFill>
                <a:latin typeface="微软雅黑" panose="020B0503020204020204" pitchFamily="34" charset="-122"/>
                <a:ea typeface="微软雅黑" panose="020B0503020204020204" pitchFamily="34" charset="-122"/>
              </a:rPr>
              <a:t>2018 </a:t>
            </a:r>
            <a:r>
              <a:rPr lang="zh-CN" altLang="en-US" sz="2000" b="1" dirty="0">
                <a:solidFill>
                  <a:srgbClr val="FF0000"/>
                </a:solidFill>
                <a:latin typeface="微软雅黑" panose="020B0503020204020204" pitchFamily="34" charset="-122"/>
                <a:ea typeface="微软雅黑" panose="020B0503020204020204" pitchFamily="34" charset="-122"/>
              </a:rPr>
              <a:t>年 </a:t>
            </a:r>
            <a:r>
              <a:rPr lang="en-US" altLang="zh-CN" sz="2000" b="1" dirty="0">
                <a:solidFill>
                  <a:srgbClr val="FF0000"/>
                </a:solidFill>
                <a:latin typeface="微软雅黑" panose="020B0503020204020204" pitchFamily="34" charset="-122"/>
                <a:ea typeface="微软雅黑" panose="020B0503020204020204" pitchFamily="34" charset="-122"/>
              </a:rPr>
              <a:t>5 </a:t>
            </a:r>
            <a:r>
              <a:rPr lang="zh-CN" altLang="en-US" sz="2000" b="1" dirty="0">
                <a:solidFill>
                  <a:srgbClr val="FF0000"/>
                </a:solidFill>
                <a:latin typeface="微软雅黑" panose="020B0503020204020204" pitchFamily="34" charset="-122"/>
                <a:ea typeface="微软雅黑" panose="020B0503020204020204" pitchFamily="34" charset="-122"/>
              </a:rPr>
              <a:t>月 </a:t>
            </a:r>
            <a:r>
              <a:rPr lang="en-US" altLang="zh-CN" sz="2000" b="1" dirty="0">
                <a:solidFill>
                  <a:srgbClr val="FF0000"/>
                </a:solidFill>
                <a:latin typeface="微软雅黑" panose="020B0503020204020204" pitchFamily="34" charset="-122"/>
                <a:ea typeface="微软雅黑" panose="020B0503020204020204" pitchFamily="34" charset="-122"/>
              </a:rPr>
              <a:t>25 </a:t>
            </a:r>
            <a:r>
              <a:rPr lang="zh-CN" altLang="en-US" sz="2000" b="1" dirty="0">
                <a:solidFill>
                  <a:srgbClr val="FF0000"/>
                </a:solidFill>
                <a:latin typeface="微软雅黑" panose="020B0503020204020204" pitchFamily="34" charset="-122"/>
                <a:ea typeface="微软雅黑" panose="020B0503020204020204" pitchFamily="34" charset="-122"/>
              </a:rPr>
              <a:t>日全面实施。</a:t>
            </a:r>
            <a:endParaRPr lang="en-US" altLang="zh-CN" sz="2000" b="1" dirty="0">
              <a:solidFill>
                <a:srgbClr val="FF000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1E82CFF6-1DD4-4DFF-B9C3-97EB95DF642C}"/>
              </a:ext>
            </a:extLst>
          </p:cNvPr>
          <p:cNvPicPr>
            <a:picLocks noChangeAspect="1"/>
          </p:cNvPicPr>
          <p:nvPr/>
        </p:nvPicPr>
        <p:blipFill rotWithShape="1">
          <a:blip r:embed="rId3">
            <a:extLst>
              <a:ext uri="{28A0092B-C50C-407E-A947-70E740481C1C}">
                <a14:useLocalDpi xmlns:a14="http://schemas.microsoft.com/office/drawing/2010/main" val="0"/>
              </a:ext>
            </a:extLst>
          </a:blip>
          <a:srcRect l="1094" t="9656" r="1008" b="1991"/>
          <a:stretch/>
        </p:blipFill>
        <p:spPr>
          <a:xfrm>
            <a:off x="259619" y="940676"/>
            <a:ext cx="11716652" cy="591732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Footer Placeholder 7"/>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 name="矩形 1">
            <a:extLst>
              <a:ext uri="{FF2B5EF4-FFF2-40B4-BE49-F238E27FC236}">
                <a16:creationId xmlns:a16="http://schemas.microsoft.com/office/drawing/2014/main" id="{B933964B-C984-4074-8C01-AD2D2453AC3E}"/>
              </a:ext>
            </a:extLst>
          </p:cNvPr>
          <p:cNvSpPr/>
          <p:nvPr/>
        </p:nvSpPr>
        <p:spPr>
          <a:xfrm>
            <a:off x="283779" y="276094"/>
            <a:ext cx="1173453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 Societal Impact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36E6A896-F0B4-488B-A89C-47658C4537C8}"/>
              </a:ext>
            </a:extLst>
          </p:cNvPr>
          <p:cNvPicPr>
            <a:picLocks noChangeAspect="1"/>
          </p:cNvPicPr>
          <p:nvPr/>
        </p:nvPicPr>
        <p:blipFill rotWithShape="1">
          <a:blip r:embed="rId3">
            <a:extLst>
              <a:ext uri="{28A0092B-C50C-407E-A947-70E740481C1C}">
                <a14:useLocalDpi xmlns:a14="http://schemas.microsoft.com/office/drawing/2010/main" val="0"/>
              </a:ext>
            </a:extLst>
          </a:blip>
          <a:srcRect t="14483"/>
          <a:stretch/>
        </p:blipFill>
        <p:spPr>
          <a:xfrm>
            <a:off x="105103" y="993228"/>
            <a:ext cx="11913208" cy="5864772"/>
          </a:xfrm>
          <a:prstGeom prst="rect">
            <a:avLst/>
          </a:prstGeom>
        </p:spPr>
      </p:pic>
    </p:spTree>
    <p:extLst>
      <p:ext uri="{BB962C8B-B14F-4D97-AF65-F5344CB8AC3E}">
        <p14:creationId xmlns:p14="http://schemas.microsoft.com/office/powerpoint/2010/main" val="14954652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Footer Placeholder 7"/>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 name="矩形 1">
            <a:extLst>
              <a:ext uri="{FF2B5EF4-FFF2-40B4-BE49-F238E27FC236}">
                <a16:creationId xmlns:a16="http://schemas.microsoft.com/office/drawing/2014/main" id="{B933964B-C984-4074-8C01-AD2D2453AC3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 Societal Impact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59947C6F-910D-40C4-AB93-FB7E8FB954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4024" y="1221246"/>
            <a:ext cx="11603952" cy="5092146"/>
          </a:xfrm>
          <a:prstGeom prst="rect">
            <a:avLst/>
          </a:prstGeom>
        </p:spPr>
      </p:pic>
    </p:spTree>
    <p:extLst>
      <p:ext uri="{BB962C8B-B14F-4D97-AF65-F5344CB8AC3E}">
        <p14:creationId xmlns:p14="http://schemas.microsoft.com/office/powerpoint/2010/main" val="2283940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F08F503-226D-48FC-9061-1DE38BCA14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7778" y="853768"/>
            <a:ext cx="7930056" cy="5947542"/>
          </a:xfrm>
          <a:prstGeom prst="rect">
            <a:avLst/>
          </a:prstGeom>
        </p:spPr>
      </p:pic>
      <p:sp>
        <p:nvSpPr>
          <p:cNvPr id="7" name="矩形 6">
            <a:extLst>
              <a:ext uri="{FF2B5EF4-FFF2-40B4-BE49-F238E27FC236}">
                <a16:creationId xmlns:a16="http://schemas.microsoft.com/office/drawing/2014/main" id="{41612658-19A0-4A16-8084-DAE7BF16DB4F}"/>
              </a:ext>
            </a:extLst>
          </p:cNvPr>
          <p:cNvSpPr/>
          <p:nvPr/>
        </p:nvSpPr>
        <p:spPr>
          <a:xfrm>
            <a:off x="283779" y="276094"/>
            <a:ext cx="1173453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 Societal Impact</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TOR (The Onion Routing)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371431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Footer Placeholder 7"/>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 name="矩形 1">
            <a:extLst>
              <a:ext uri="{FF2B5EF4-FFF2-40B4-BE49-F238E27FC236}">
                <a16:creationId xmlns:a16="http://schemas.microsoft.com/office/drawing/2014/main" id="{B933964B-C984-4074-8C01-AD2D2453AC3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 Economic Impact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99958AC5-5DAF-456A-AB60-6CEF1D6544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659" y="882869"/>
            <a:ext cx="11580286" cy="5975131"/>
          </a:xfrm>
          <a:prstGeom prst="rect">
            <a:avLst/>
          </a:prstGeom>
        </p:spPr>
      </p:pic>
    </p:spTree>
    <p:extLst>
      <p:ext uri="{BB962C8B-B14F-4D97-AF65-F5344CB8AC3E}">
        <p14:creationId xmlns:p14="http://schemas.microsoft.com/office/powerpoint/2010/main" val="20137729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Footer Placeholder 7"/>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 name="矩形 1">
            <a:extLst>
              <a:ext uri="{FF2B5EF4-FFF2-40B4-BE49-F238E27FC236}">
                <a16:creationId xmlns:a16="http://schemas.microsoft.com/office/drawing/2014/main" id="{B933964B-C984-4074-8C01-AD2D2453AC3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Focus of the course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Picture 4" descr="1-01">
            <a:extLst>
              <a:ext uri="{FF2B5EF4-FFF2-40B4-BE49-F238E27FC236}">
                <a16:creationId xmlns:a16="http://schemas.microsoft.com/office/drawing/2014/main" id="{4468B28B-4731-4B19-82BB-A827221679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651" y="1769669"/>
            <a:ext cx="65278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椭圆 4">
            <a:extLst>
              <a:ext uri="{FF2B5EF4-FFF2-40B4-BE49-F238E27FC236}">
                <a16:creationId xmlns:a16="http://schemas.microsoft.com/office/drawing/2014/main" id="{EF4C7479-EEA3-4515-AA23-BB3A496023F0}"/>
              </a:ext>
            </a:extLst>
          </p:cNvPr>
          <p:cNvSpPr/>
          <p:nvPr/>
        </p:nvSpPr>
        <p:spPr>
          <a:xfrm>
            <a:off x="2870200" y="2628506"/>
            <a:ext cx="3130550" cy="1984375"/>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5400" dirty="0">
                <a:solidFill>
                  <a:schemeClr val="tx1"/>
                </a:solidFill>
              </a:rPr>
              <a:t>? ? ?</a:t>
            </a:r>
            <a:endParaRPr lang="zh-CN" altLang="en-US" sz="5400" dirty="0">
              <a:solidFill>
                <a:schemeClr val="tx1"/>
              </a:solidFill>
            </a:endParaRPr>
          </a:p>
        </p:txBody>
      </p:sp>
      <p:sp>
        <p:nvSpPr>
          <p:cNvPr id="7" name="文本框 6">
            <a:extLst>
              <a:ext uri="{FF2B5EF4-FFF2-40B4-BE49-F238E27FC236}">
                <a16:creationId xmlns:a16="http://schemas.microsoft.com/office/drawing/2014/main" id="{86DA58A2-6094-488D-9D83-77FFA56A18FC}"/>
              </a:ext>
            </a:extLst>
          </p:cNvPr>
          <p:cNvSpPr txBox="1"/>
          <p:nvPr/>
        </p:nvSpPr>
        <p:spPr>
          <a:xfrm>
            <a:off x="7524750" y="1769669"/>
            <a:ext cx="4256293" cy="461665"/>
          </a:xfrm>
          <a:prstGeom prst="rect">
            <a:avLst/>
          </a:prstGeom>
          <a:noFill/>
        </p:spPr>
        <p:txBody>
          <a:bodyPr wrap="none" rtlCol="0">
            <a:spAutoFit/>
          </a:bodyPr>
          <a:lstStyle/>
          <a:p>
            <a:pPr marL="285750" indent="-285750">
              <a:buFont typeface="Arial" panose="020B0604020202020204" pitchFamily="34" charset="0"/>
              <a:buChar char="•"/>
            </a:pPr>
            <a:r>
              <a:rPr lang="en-US" altLang="zh-CN" sz="2400" b="1" dirty="0"/>
              <a:t>Three “Networking” topics:</a:t>
            </a:r>
          </a:p>
        </p:txBody>
      </p:sp>
      <p:graphicFrame>
        <p:nvGraphicFramePr>
          <p:cNvPr id="9" name="表格 9">
            <a:extLst>
              <a:ext uri="{FF2B5EF4-FFF2-40B4-BE49-F238E27FC236}">
                <a16:creationId xmlns:a16="http://schemas.microsoft.com/office/drawing/2014/main" id="{4891DFB7-F03B-4182-8A0C-144DE39ACED9}"/>
              </a:ext>
            </a:extLst>
          </p:cNvPr>
          <p:cNvGraphicFramePr>
            <a:graphicFrameLocks noGrp="1"/>
          </p:cNvGraphicFramePr>
          <p:nvPr>
            <p:extLst>
              <p:ext uri="{D42A27DB-BD31-4B8C-83A1-F6EECF244321}">
                <p14:modId xmlns:p14="http://schemas.microsoft.com/office/powerpoint/2010/main" val="933126458"/>
              </p:ext>
            </p:extLst>
          </p:nvPr>
        </p:nvGraphicFramePr>
        <p:xfrm>
          <a:off x="8153400" y="2641206"/>
          <a:ext cx="3054350" cy="1371600"/>
        </p:xfrm>
        <a:graphic>
          <a:graphicData uri="http://schemas.openxmlformats.org/drawingml/2006/table">
            <a:tbl>
              <a:tblPr firstRow="1" bandRow="1">
                <a:tableStyleId>{5940675A-B579-460E-94D1-54222C63F5DA}</a:tableStyleId>
              </a:tblPr>
              <a:tblGrid>
                <a:gridCol w="3054350">
                  <a:extLst>
                    <a:ext uri="{9D8B030D-6E8A-4147-A177-3AD203B41FA5}">
                      <a16:colId xmlns:a16="http://schemas.microsoft.com/office/drawing/2014/main" val="434298719"/>
                    </a:ext>
                  </a:extLst>
                </a:gridCol>
              </a:tblGrid>
              <a:tr h="370840">
                <a:tc>
                  <a:txBody>
                    <a:bodyPr/>
                    <a:lstStyle/>
                    <a:p>
                      <a:pPr algn="ctr"/>
                      <a:r>
                        <a:rPr lang="en-US" altLang="zh-CN" sz="2400" b="1" dirty="0"/>
                        <a:t>Distributed Systems</a:t>
                      </a:r>
                      <a:endParaRPr lang="zh-CN" altLang="en-US" sz="2400" b="1" dirty="0"/>
                    </a:p>
                  </a:txBody>
                  <a:tcPr/>
                </a:tc>
                <a:extLst>
                  <a:ext uri="{0D108BD9-81ED-4DB2-BD59-A6C34878D82A}">
                    <a16:rowId xmlns:a16="http://schemas.microsoft.com/office/drawing/2014/main" val="2838274653"/>
                  </a:ext>
                </a:extLst>
              </a:tr>
              <a:tr h="370840">
                <a:tc>
                  <a:txBody>
                    <a:bodyPr/>
                    <a:lstStyle/>
                    <a:p>
                      <a:pPr algn="ctr"/>
                      <a:r>
                        <a:rPr lang="en-US" altLang="zh-CN" sz="2400" b="1" dirty="0"/>
                        <a:t>Networking</a:t>
                      </a:r>
                      <a:endParaRPr lang="zh-CN" altLang="en-US" sz="2400" b="1" dirty="0"/>
                    </a:p>
                  </a:txBody>
                  <a:tcPr>
                    <a:solidFill>
                      <a:schemeClr val="accent2">
                        <a:lumMod val="60000"/>
                        <a:lumOff val="40000"/>
                      </a:schemeClr>
                    </a:solidFill>
                  </a:tcPr>
                </a:tc>
                <a:extLst>
                  <a:ext uri="{0D108BD9-81ED-4DB2-BD59-A6C34878D82A}">
                    <a16:rowId xmlns:a16="http://schemas.microsoft.com/office/drawing/2014/main" val="2293048600"/>
                  </a:ext>
                </a:extLst>
              </a:tr>
              <a:tr h="370840">
                <a:tc>
                  <a:txBody>
                    <a:bodyPr/>
                    <a:lstStyle/>
                    <a:p>
                      <a:pPr algn="ctr"/>
                      <a:r>
                        <a:rPr lang="en-US" altLang="zh-CN" sz="2400" b="1" dirty="0"/>
                        <a:t>Communications</a:t>
                      </a:r>
                      <a:endParaRPr lang="zh-CN" altLang="en-US" sz="2400" b="1" dirty="0"/>
                    </a:p>
                  </a:txBody>
                  <a:tcPr/>
                </a:tc>
                <a:extLst>
                  <a:ext uri="{0D108BD9-81ED-4DB2-BD59-A6C34878D82A}">
                    <a16:rowId xmlns:a16="http://schemas.microsoft.com/office/drawing/2014/main" val="8724259"/>
                  </a:ext>
                </a:extLst>
              </a:tr>
            </a:tbl>
          </a:graphicData>
        </a:graphic>
      </p:graphicFrame>
      <p:sp>
        <p:nvSpPr>
          <p:cNvPr id="11" name="文本框 10">
            <a:extLst>
              <a:ext uri="{FF2B5EF4-FFF2-40B4-BE49-F238E27FC236}">
                <a16:creationId xmlns:a16="http://schemas.microsoft.com/office/drawing/2014/main" id="{4BFDCB37-94BD-47A0-B8F5-783701F8B2DE}"/>
              </a:ext>
            </a:extLst>
          </p:cNvPr>
          <p:cNvSpPr txBox="1"/>
          <p:nvPr/>
        </p:nvSpPr>
        <p:spPr>
          <a:xfrm>
            <a:off x="7524749" y="4397278"/>
            <a:ext cx="3225563" cy="461665"/>
          </a:xfrm>
          <a:prstGeom prst="rect">
            <a:avLst/>
          </a:prstGeom>
          <a:noFill/>
        </p:spPr>
        <p:txBody>
          <a:bodyPr wrap="none" rtlCol="0">
            <a:spAutoFit/>
          </a:bodyPr>
          <a:lstStyle/>
          <a:p>
            <a:pPr marL="285750" indent="-285750">
              <a:buFont typeface="Arial" panose="020B0604020202020204" pitchFamily="34" charset="0"/>
              <a:buChar char="•"/>
            </a:pPr>
            <a:r>
              <a:rPr lang="en-US" altLang="zh-CN" sz="2400" b="1" dirty="0"/>
              <a:t>We’re in the middle</a:t>
            </a:r>
          </a:p>
        </p:txBody>
      </p:sp>
    </p:spTree>
    <p:extLst>
      <p:ext uri="{BB962C8B-B14F-4D97-AF65-F5344CB8AC3E}">
        <p14:creationId xmlns:p14="http://schemas.microsoft.com/office/powerpoint/2010/main" val="78162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933964B-C984-4074-8C01-AD2D2453AC3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The main point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0" name="Content Placeholder 2">
            <a:extLst>
              <a:ext uri="{FF2B5EF4-FFF2-40B4-BE49-F238E27FC236}">
                <a16:creationId xmlns:a16="http://schemas.microsoft.com/office/drawing/2014/main" id="{04191EA0-7E0B-47F9-B0D6-13F17AD08932}"/>
              </a:ext>
            </a:extLst>
          </p:cNvPr>
          <p:cNvSpPr>
            <a:spLocks noGrp="1"/>
          </p:cNvSpPr>
          <p:nvPr>
            <p:ph idx="1"/>
          </p:nvPr>
        </p:nvSpPr>
        <p:spPr>
          <a:xfrm>
            <a:off x="612843" y="1104902"/>
            <a:ext cx="10537757" cy="2628898"/>
          </a:xfrm>
        </p:spPr>
        <p:txBody>
          <a:bodyPr>
            <a:normAutofit fontScale="85000" lnSpcReduction="20000"/>
          </a:bodyPr>
          <a:lstStyle/>
          <a:p>
            <a:pPr marL="514350" indent="-514350">
              <a:lnSpc>
                <a:spcPct val="125000"/>
              </a:lnSpc>
              <a:buFont typeface="+mj-lt"/>
              <a:buAutoNum type="arabicPeriod"/>
            </a:pPr>
            <a:r>
              <a:rPr lang="en-US" altLang="zh-CN" b="1" dirty="0">
                <a:ea typeface="宋体" panose="02010600030101010101" pitchFamily="2" charset="-122"/>
              </a:rPr>
              <a:t>To learn how the Internet works</a:t>
            </a:r>
          </a:p>
          <a:p>
            <a:pPr lvl="1">
              <a:lnSpc>
                <a:spcPct val="125000"/>
              </a:lnSpc>
              <a:buFont typeface="等线" panose="02010600030101010101" pitchFamily="2" charset="-122"/>
              <a:buChar char="–"/>
            </a:pPr>
            <a:r>
              <a:rPr lang="en-US" altLang="zh-CN" dirty="0">
                <a:latin typeface="微软雅黑" panose="020B0503020204020204" pitchFamily="34" charset="-122"/>
                <a:ea typeface="微软雅黑" panose="020B0503020204020204" pitchFamily="34" charset="-122"/>
              </a:rPr>
              <a:t>What really happens when you “browse the web”?</a:t>
            </a:r>
          </a:p>
          <a:p>
            <a:pPr lvl="1">
              <a:lnSpc>
                <a:spcPct val="125000"/>
              </a:lnSpc>
              <a:buFont typeface="等线" panose="02010600030101010101" pitchFamily="2" charset="-122"/>
              <a:buChar char="–"/>
            </a:pPr>
            <a:r>
              <a:rPr lang="en-US" altLang="zh-CN" dirty="0">
                <a:latin typeface="微软雅黑" panose="020B0503020204020204" pitchFamily="34" charset="-122"/>
                <a:ea typeface="微软雅黑" panose="020B0503020204020204" pitchFamily="34" charset="-122"/>
              </a:rPr>
              <a:t>What are TCP/IP, DNS, HTTP, NAT, VPNs, 802.11 </a:t>
            </a:r>
            <a:r>
              <a:rPr lang="en-US" altLang="zh-CN" dirty="0" err="1">
                <a:latin typeface="微软雅黑" panose="020B0503020204020204" pitchFamily="34" charset="-122"/>
                <a:ea typeface="微软雅黑" panose="020B0503020204020204" pitchFamily="34" charset="-122"/>
              </a:rPr>
              <a:t>etc</a:t>
            </a:r>
            <a:r>
              <a:rPr lang="en-US" altLang="zh-CN" dirty="0">
                <a:latin typeface="微软雅黑" panose="020B0503020204020204" pitchFamily="34" charset="-122"/>
                <a:ea typeface="微软雅黑" panose="020B0503020204020204" pitchFamily="34" charset="-122"/>
              </a:rPr>
              <a:t>…</a:t>
            </a:r>
          </a:p>
          <a:p>
            <a:pPr marL="514350" indent="-514350">
              <a:lnSpc>
                <a:spcPct val="135000"/>
              </a:lnSpc>
              <a:buFont typeface="+mj-lt"/>
              <a:buAutoNum type="arabicPeriod" startAt="2"/>
            </a:pPr>
            <a:r>
              <a:rPr lang="en-US" altLang="zh-CN" b="1" dirty="0">
                <a:ea typeface="宋体" panose="02010600030101010101" pitchFamily="2" charset="-122"/>
              </a:rPr>
              <a:t>To learn the fundamental of computer networks:</a:t>
            </a:r>
          </a:p>
          <a:p>
            <a:pPr lvl="1">
              <a:lnSpc>
                <a:spcPct val="125000"/>
              </a:lnSpc>
              <a:buFont typeface="等线" panose="02010600030101010101" pitchFamily="2" charset="-122"/>
              <a:buChar char="–"/>
            </a:pPr>
            <a:r>
              <a:rPr lang="en-US" altLang="zh-CN" dirty="0">
                <a:ea typeface="宋体" panose="02010600030101010101" pitchFamily="2" charset="-122"/>
              </a:rPr>
              <a:t>What hard problems must they solve?</a:t>
            </a:r>
          </a:p>
          <a:p>
            <a:pPr lvl="1">
              <a:lnSpc>
                <a:spcPct val="125000"/>
              </a:lnSpc>
              <a:buFont typeface="等线" panose="02010600030101010101" pitchFamily="2" charset="-122"/>
              <a:buChar char="–"/>
            </a:pPr>
            <a:r>
              <a:rPr lang="en-US" altLang="zh-CN" dirty="0">
                <a:ea typeface="宋体" panose="02010600030101010101" pitchFamily="2" charset="-122"/>
              </a:rPr>
              <a:t>What design strategies have proven valuable?</a:t>
            </a:r>
          </a:p>
        </p:txBody>
      </p:sp>
      <p:graphicFrame>
        <p:nvGraphicFramePr>
          <p:cNvPr id="6" name="Table 4">
            <a:extLst>
              <a:ext uri="{FF2B5EF4-FFF2-40B4-BE49-F238E27FC236}">
                <a16:creationId xmlns:a16="http://schemas.microsoft.com/office/drawing/2014/main" id="{8C84B3CC-BDE3-406E-B6DE-706CEEAA55D9}"/>
              </a:ext>
            </a:extLst>
          </p:cNvPr>
          <p:cNvGraphicFramePr>
            <a:graphicFrameLocks noGrp="1"/>
          </p:cNvGraphicFramePr>
          <p:nvPr>
            <p:extLst>
              <p:ext uri="{D42A27DB-BD31-4B8C-83A1-F6EECF244321}">
                <p14:modId xmlns:p14="http://schemas.microsoft.com/office/powerpoint/2010/main" val="2386654535"/>
              </p:ext>
            </p:extLst>
          </p:nvPr>
        </p:nvGraphicFramePr>
        <p:xfrm>
          <a:off x="1101725" y="3803650"/>
          <a:ext cx="7432675" cy="2651760"/>
        </p:xfrm>
        <a:graphic>
          <a:graphicData uri="http://schemas.openxmlformats.org/drawingml/2006/table">
            <a:tbl>
              <a:tblPr/>
              <a:tblGrid>
                <a:gridCol w="2494465">
                  <a:extLst>
                    <a:ext uri="{9D8B030D-6E8A-4147-A177-3AD203B41FA5}">
                      <a16:colId xmlns:a16="http://schemas.microsoft.com/office/drawing/2014/main" val="20000"/>
                    </a:ext>
                  </a:extLst>
                </a:gridCol>
                <a:gridCol w="4938210">
                  <a:extLst>
                    <a:ext uri="{9D8B030D-6E8A-4147-A177-3AD203B41FA5}">
                      <a16:colId xmlns:a16="http://schemas.microsoft.com/office/drawing/2014/main" val="20001"/>
                    </a:ext>
                  </a:extLst>
                </a:gridCol>
              </a:tblGrid>
              <a:tr h="284163">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Issue</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Example mechanisms at different layers</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7284">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Reliability despite failures</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Codes for error detection/correction (§3.2, 3.3)</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Routing around failures (§5.2)</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7284">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Network growth             and evolution</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Addressing (§5.6) and naming (§7.1)</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Protocol layering (§1.3)</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7284">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Allocation of resources like bandwidth </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Multiple access (§4.2)</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Congestion control (§5.3, 6.3)</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7284">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Security against various threats</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Confidentiality of messages (§8.2, 8.6)</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Authentication of communicating parties (§8.7)</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83964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933964B-C984-4074-8C01-AD2D2453AC3E}"/>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rPr>
              <a:t>What really happens when you “browse the web”?</a:t>
            </a:r>
          </a:p>
        </p:txBody>
      </p:sp>
      <p:sp>
        <p:nvSpPr>
          <p:cNvPr id="7" name="Shape 4">
            <a:extLst>
              <a:ext uri="{FF2B5EF4-FFF2-40B4-BE49-F238E27FC236}">
                <a16:creationId xmlns:a16="http://schemas.microsoft.com/office/drawing/2014/main" id="{7A2C30C0-CC33-4465-BCFC-1D8830626447}"/>
              </a:ext>
            </a:extLst>
          </p:cNvPr>
          <p:cNvSpPr/>
          <p:nvPr/>
        </p:nvSpPr>
        <p:spPr>
          <a:xfrm>
            <a:off x="1926336" y="2229362"/>
            <a:ext cx="960120" cy="0"/>
          </a:xfrm>
          <a:prstGeom prst="line">
            <a:avLst/>
          </a:prstGeom>
          <a:noFill/>
          <a:ln w="27940">
            <a:solidFill>
              <a:srgbClr val="94A3B8"/>
            </a:solidFill>
            <a:prstDash val="solid"/>
            <a:headEnd type="none"/>
            <a:tailEnd type="triangle"/>
          </a:ln>
        </p:spPr>
      </p:sp>
      <p:sp>
        <p:nvSpPr>
          <p:cNvPr id="8" name="Shape 5">
            <a:extLst>
              <a:ext uri="{FF2B5EF4-FFF2-40B4-BE49-F238E27FC236}">
                <a16:creationId xmlns:a16="http://schemas.microsoft.com/office/drawing/2014/main" id="{758548A9-B2A8-4947-ABAC-57D676BCACB2}"/>
              </a:ext>
            </a:extLst>
          </p:cNvPr>
          <p:cNvSpPr/>
          <p:nvPr/>
        </p:nvSpPr>
        <p:spPr>
          <a:xfrm>
            <a:off x="4075176" y="2229362"/>
            <a:ext cx="868680" cy="0"/>
          </a:xfrm>
          <a:prstGeom prst="line">
            <a:avLst/>
          </a:prstGeom>
          <a:noFill/>
          <a:ln w="27940">
            <a:solidFill>
              <a:srgbClr val="94A3B8"/>
            </a:solidFill>
            <a:prstDash val="solid"/>
            <a:headEnd type="none"/>
            <a:tailEnd type="triangle"/>
          </a:ln>
        </p:spPr>
      </p:sp>
      <p:sp>
        <p:nvSpPr>
          <p:cNvPr id="9" name="Shape 6">
            <a:extLst>
              <a:ext uri="{FF2B5EF4-FFF2-40B4-BE49-F238E27FC236}">
                <a16:creationId xmlns:a16="http://schemas.microsoft.com/office/drawing/2014/main" id="{4FA9E754-0386-465A-9DE9-C804351D1E3D}"/>
              </a:ext>
            </a:extLst>
          </p:cNvPr>
          <p:cNvSpPr/>
          <p:nvPr/>
        </p:nvSpPr>
        <p:spPr>
          <a:xfrm>
            <a:off x="6269736" y="2229362"/>
            <a:ext cx="960120" cy="0"/>
          </a:xfrm>
          <a:prstGeom prst="line">
            <a:avLst/>
          </a:prstGeom>
          <a:noFill/>
          <a:ln w="27940">
            <a:solidFill>
              <a:srgbClr val="94A3B8"/>
            </a:solidFill>
            <a:prstDash val="solid"/>
            <a:headEnd type="none"/>
            <a:tailEnd type="triangle"/>
          </a:ln>
        </p:spPr>
      </p:sp>
      <p:sp>
        <p:nvSpPr>
          <p:cNvPr id="11" name="Shape 7">
            <a:extLst>
              <a:ext uri="{FF2B5EF4-FFF2-40B4-BE49-F238E27FC236}">
                <a16:creationId xmlns:a16="http://schemas.microsoft.com/office/drawing/2014/main" id="{A98D3EB1-F3CD-4CDD-8B9F-9FA9186885DC}"/>
              </a:ext>
            </a:extLst>
          </p:cNvPr>
          <p:cNvSpPr/>
          <p:nvPr/>
        </p:nvSpPr>
        <p:spPr>
          <a:xfrm>
            <a:off x="8473440" y="2229362"/>
            <a:ext cx="950976" cy="0"/>
          </a:xfrm>
          <a:prstGeom prst="line">
            <a:avLst/>
          </a:prstGeom>
          <a:noFill/>
          <a:ln w="27940">
            <a:solidFill>
              <a:srgbClr val="94A3B8"/>
            </a:solidFill>
            <a:prstDash val="solid"/>
            <a:headEnd type="none"/>
            <a:tailEnd type="triangle"/>
          </a:ln>
        </p:spPr>
      </p:sp>
      <p:sp>
        <p:nvSpPr>
          <p:cNvPr id="12" name="Shape 8">
            <a:extLst>
              <a:ext uri="{FF2B5EF4-FFF2-40B4-BE49-F238E27FC236}">
                <a16:creationId xmlns:a16="http://schemas.microsoft.com/office/drawing/2014/main" id="{EB99EF7F-880E-448A-8A76-F7380CEAA93A}"/>
              </a:ext>
            </a:extLst>
          </p:cNvPr>
          <p:cNvSpPr/>
          <p:nvPr/>
        </p:nvSpPr>
        <p:spPr>
          <a:xfrm>
            <a:off x="9424416" y="2823722"/>
            <a:ext cx="0" cy="0"/>
          </a:xfrm>
          <a:prstGeom prst="line">
            <a:avLst/>
          </a:prstGeom>
          <a:noFill/>
          <a:ln w="22860">
            <a:solidFill>
              <a:srgbClr val="60A5FA"/>
            </a:solidFill>
            <a:prstDash val="solid"/>
            <a:headEnd type="none"/>
            <a:tailEnd type="triangle"/>
          </a:ln>
        </p:spPr>
      </p:sp>
      <p:sp>
        <p:nvSpPr>
          <p:cNvPr id="13" name="Shape 9">
            <a:extLst>
              <a:ext uri="{FF2B5EF4-FFF2-40B4-BE49-F238E27FC236}">
                <a16:creationId xmlns:a16="http://schemas.microsoft.com/office/drawing/2014/main" id="{EDAE1FBD-D1F1-49CD-B6DA-A02E3B592BFF}"/>
              </a:ext>
            </a:extLst>
          </p:cNvPr>
          <p:cNvSpPr/>
          <p:nvPr/>
        </p:nvSpPr>
        <p:spPr>
          <a:xfrm>
            <a:off x="7229856" y="2823722"/>
            <a:ext cx="0" cy="0"/>
          </a:xfrm>
          <a:prstGeom prst="line">
            <a:avLst/>
          </a:prstGeom>
          <a:noFill/>
          <a:ln w="22860">
            <a:solidFill>
              <a:srgbClr val="60A5FA"/>
            </a:solidFill>
            <a:prstDash val="solid"/>
            <a:headEnd type="none"/>
            <a:tailEnd type="triangle"/>
          </a:ln>
        </p:spPr>
      </p:sp>
      <p:sp>
        <p:nvSpPr>
          <p:cNvPr id="14" name="Shape 10">
            <a:extLst>
              <a:ext uri="{FF2B5EF4-FFF2-40B4-BE49-F238E27FC236}">
                <a16:creationId xmlns:a16="http://schemas.microsoft.com/office/drawing/2014/main" id="{919C987C-DC2D-494C-AA62-FFEFF6E11B6F}"/>
              </a:ext>
            </a:extLst>
          </p:cNvPr>
          <p:cNvSpPr/>
          <p:nvPr/>
        </p:nvSpPr>
        <p:spPr>
          <a:xfrm>
            <a:off x="4943856" y="2823722"/>
            <a:ext cx="0" cy="0"/>
          </a:xfrm>
          <a:prstGeom prst="line">
            <a:avLst/>
          </a:prstGeom>
          <a:noFill/>
          <a:ln w="22860">
            <a:solidFill>
              <a:srgbClr val="60A5FA"/>
            </a:solidFill>
            <a:prstDash val="solid"/>
            <a:headEnd type="none"/>
            <a:tailEnd type="triangle"/>
          </a:ln>
        </p:spPr>
      </p:sp>
      <p:sp>
        <p:nvSpPr>
          <p:cNvPr id="15" name="Shape 11">
            <a:extLst>
              <a:ext uri="{FF2B5EF4-FFF2-40B4-BE49-F238E27FC236}">
                <a16:creationId xmlns:a16="http://schemas.microsoft.com/office/drawing/2014/main" id="{C315F7C4-7123-40F1-8021-702518ADE68F}"/>
              </a:ext>
            </a:extLst>
          </p:cNvPr>
          <p:cNvSpPr/>
          <p:nvPr/>
        </p:nvSpPr>
        <p:spPr>
          <a:xfrm>
            <a:off x="2886456" y="2823722"/>
            <a:ext cx="0" cy="0"/>
          </a:xfrm>
          <a:prstGeom prst="line">
            <a:avLst/>
          </a:prstGeom>
          <a:noFill/>
          <a:ln w="22860">
            <a:solidFill>
              <a:srgbClr val="60A5FA"/>
            </a:solidFill>
            <a:prstDash val="solid"/>
            <a:headEnd type="none"/>
            <a:tailEnd type="triangle"/>
          </a:ln>
        </p:spPr>
      </p:sp>
      <p:sp>
        <p:nvSpPr>
          <p:cNvPr id="16" name="Text 12">
            <a:extLst>
              <a:ext uri="{FF2B5EF4-FFF2-40B4-BE49-F238E27FC236}">
                <a16:creationId xmlns:a16="http://schemas.microsoft.com/office/drawing/2014/main" id="{D3886388-D8BC-40F6-A170-A43AF1E12F16}"/>
              </a:ext>
            </a:extLst>
          </p:cNvPr>
          <p:cNvSpPr/>
          <p:nvPr/>
        </p:nvSpPr>
        <p:spPr>
          <a:xfrm>
            <a:off x="509016" y="1808738"/>
            <a:ext cx="1417320" cy="1078992"/>
          </a:xfrm>
          <a:prstGeom prst="roundRect">
            <a:avLst/>
          </a:prstGeom>
          <a:solidFill>
            <a:srgbClr val="FFFFFF"/>
          </a:solidFill>
          <a:ln w="13970">
            <a:solidFill>
              <a:srgbClr val="93C5FD"/>
            </a:solidFill>
          </a:ln>
        </p:spPr>
        <p:txBody>
          <a:bodyPr wrap="square" lIns="1016" tIns="1016" rIns="1016" bIns="1016" rtlCol="0" anchor="ctr">
            <a:normAutofit/>
          </a:bodyPr>
          <a:lstStyle/>
          <a:p>
            <a:pPr marL="0" indent="0" algn="ctr">
              <a:buNone/>
            </a:pPr>
            <a:r>
              <a:rPr lang="en-US" sz="1200" b="1" dirty="0">
                <a:solidFill>
                  <a:srgbClr val="0B1F3A"/>
                </a:solidFill>
                <a:latin typeface="Noto Sans CJK SC" pitchFamily="34" charset="0"/>
                <a:ea typeface="Noto Sans CJK SC" pitchFamily="34" charset="-122"/>
                <a:cs typeface="Noto Sans CJK SC" pitchFamily="34" charset="-120"/>
              </a:rPr>
              <a:t>① 浏览器</a:t>
            </a:r>
            <a:endParaRPr lang="en-US" sz="1200" dirty="0"/>
          </a:p>
          <a:p>
            <a:pPr marL="0" indent="0" algn="ctr">
              <a:buNone/>
            </a:pPr>
            <a:r>
              <a:rPr lang="en-US" sz="1200" b="1" dirty="0">
                <a:solidFill>
                  <a:srgbClr val="0B1F3A"/>
                </a:solidFill>
                <a:latin typeface="Noto Sans CJK SC" pitchFamily="34" charset="0"/>
                <a:ea typeface="Noto Sans CJK SC" pitchFamily="34" charset="-122"/>
                <a:cs typeface="Noto Sans CJK SC" pitchFamily="34" charset="-120"/>
              </a:rPr>
              <a:t>输入 URL / 点击链接</a:t>
            </a:r>
            <a:endParaRPr lang="en-US" sz="1200" dirty="0"/>
          </a:p>
        </p:txBody>
      </p:sp>
      <p:sp>
        <p:nvSpPr>
          <p:cNvPr id="17" name="Text 13">
            <a:extLst>
              <a:ext uri="{FF2B5EF4-FFF2-40B4-BE49-F238E27FC236}">
                <a16:creationId xmlns:a16="http://schemas.microsoft.com/office/drawing/2014/main" id="{989C5893-2E29-4AC1-BA88-B88BC8AAD9C9}"/>
              </a:ext>
            </a:extLst>
          </p:cNvPr>
          <p:cNvSpPr/>
          <p:nvPr/>
        </p:nvSpPr>
        <p:spPr>
          <a:xfrm>
            <a:off x="2886456" y="1058930"/>
            <a:ext cx="1143000" cy="566928"/>
          </a:xfrm>
          <a:prstGeom prst="roundRect">
            <a:avLst/>
          </a:prstGeom>
          <a:solidFill>
            <a:srgbClr val="EDE9FE"/>
          </a:solidFill>
          <a:ln w="13970">
            <a:solidFill>
              <a:srgbClr val="A78BFA"/>
            </a:solidFill>
          </a:ln>
        </p:spPr>
        <p:txBody>
          <a:bodyPr wrap="square" lIns="1016" tIns="1016" rIns="1016" bIns="1016" rtlCol="0" anchor="ctr">
            <a:normAutofit/>
          </a:bodyPr>
          <a:lstStyle/>
          <a:p>
            <a:pPr marL="0" indent="0" algn="ctr">
              <a:buNone/>
            </a:pPr>
            <a:r>
              <a:rPr lang="en-US" sz="1150" b="1" dirty="0">
                <a:solidFill>
                  <a:srgbClr val="0B1F3A"/>
                </a:solidFill>
                <a:latin typeface="Noto Sans CJK SC" pitchFamily="34" charset="0"/>
                <a:ea typeface="Noto Sans CJK SC" pitchFamily="34" charset="-122"/>
                <a:cs typeface="Noto Sans CJK SC" pitchFamily="34" charset="-120"/>
              </a:rPr>
              <a:t>② DNS 解析</a:t>
            </a:r>
            <a:endParaRPr lang="en-US" sz="1150" dirty="0"/>
          </a:p>
          <a:p>
            <a:pPr marL="0" indent="0" algn="ctr">
              <a:buNone/>
            </a:pPr>
            <a:r>
              <a:rPr lang="en-US" sz="1150" b="1" dirty="0">
                <a:solidFill>
                  <a:srgbClr val="0B1F3A"/>
                </a:solidFill>
                <a:latin typeface="Noto Sans CJK SC" pitchFamily="34" charset="0"/>
                <a:ea typeface="Noto Sans CJK SC" pitchFamily="34" charset="-122"/>
                <a:cs typeface="Noto Sans CJK SC" pitchFamily="34" charset="-120"/>
              </a:rPr>
              <a:t>域名 → IP 地址</a:t>
            </a:r>
            <a:endParaRPr lang="en-US" sz="1150" dirty="0"/>
          </a:p>
        </p:txBody>
      </p:sp>
      <p:sp>
        <p:nvSpPr>
          <p:cNvPr id="18" name="Text 14">
            <a:extLst>
              <a:ext uri="{FF2B5EF4-FFF2-40B4-BE49-F238E27FC236}">
                <a16:creationId xmlns:a16="http://schemas.microsoft.com/office/drawing/2014/main" id="{0729F052-1E8B-46DE-9277-04E8B309493F}"/>
              </a:ext>
            </a:extLst>
          </p:cNvPr>
          <p:cNvSpPr/>
          <p:nvPr/>
        </p:nvSpPr>
        <p:spPr>
          <a:xfrm>
            <a:off x="2886456" y="1808738"/>
            <a:ext cx="1188720" cy="1078992"/>
          </a:xfrm>
          <a:prstGeom prst="roundRect">
            <a:avLst/>
          </a:prstGeom>
          <a:solidFill>
            <a:srgbClr val="DCEBFF"/>
          </a:solidFill>
          <a:ln w="13970">
            <a:solidFill>
              <a:srgbClr val="60A5FA"/>
            </a:solidFill>
          </a:ln>
        </p:spPr>
        <p:txBody>
          <a:bodyPr wrap="square" lIns="1016" tIns="1016" rIns="1016" bIns="1016" rtlCol="0" anchor="ctr">
            <a:normAutofit/>
          </a:bodyPr>
          <a:lstStyle/>
          <a:p>
            <a:pPr marL="0" indent="0" algn="ctr">
              <a:buNone/>
            </a:pPr>
            <a:r>
              <a:rPr lang="en-US" sz="1120" b="1" dirty="0">
                <a:solidFill>
                  <a:srgbClr val="0B1F3A"/>
                </a:solidFill>
                <a:latin typeface="Noto Sans CJK SC" pitchFamily="34" charset="0"/>
                <a:ea typeface="Noto Sans CJK SC" pitchFamily="34" charset="-122"/>
                <a:cs typeface="Noto Sans CJK SC" pitchFamily="34" charset="-120"/>
              </a:rPr>
              <a:t>③ 本机协议栈</a:t>
            </a:r>
            <a:endParaRPr lang="en-US" sz="1120" dirty="0"/>
          </a:p>
          <a:p>
            <a:pPr marL="0" indent="0" algn="ctr">
              <a:buNone/>
            </a:pPr>
            <a:r>
              <a:rPr lang="en-US" sz="1120" b="1" dirty="0">
                <a:solidFill>
                  <a:srgbClr val="0B1F3A"/>
                </a:solidFill>
                <a:latin typeface="Noto Sans CJK SC" pitchFamily="34" charset="0"/>
                <a:ea typeface="Noto Sans CJK SC" pitchFamily="34" charset="-122"/>
                <a:cs typeface="Noto Sans CJK SC" pitchFamily="34" charset="-120"/>
              </a:rPr>
              <a:t>Socket → TLS → TCP/QUIC</a:t>
            </a:r>
            <a:endParaRPr lang="en-US" sz="1120" dirty="0"/>
          </a:p>
        </p:txBody>
      </p:sp>
      <p:sp>
        <p:nvSpPr>
          <p:cNvPr id="19" name="Text 15">
            <a:extLst>
              <a:ext uri="{FF2B5EF4-FFF2-40B4-BE49-F238E27FC236}">
                <a16:creationId xmlns:a16="http://schemas.microsoft.com/office/drawing/2014/main" id="{6F5FED5B-7242-4F3B-8DFA-55E896FD2135}"/>
              </a:ext>
            </a:extLst>
          </p:cNvPr>
          <p:cNvSpPr/>
          <p:nvPr/>
        </p:nvSpPr>
        <p:spPr>
          <a:xfrm>
            <a:off x="4943856" y="1808738"/>
            <a:ext cx="1325880" cy="1078992"/>
          </a:xfrm>
          <a:prstGeom prst="roundRect">
            <a:avLst/>
          </a:prstGeom>
          <a:solidFill>
            <a:srgbClr val="DCFCE7"/>
          </a:solidFill>
          <a:ln w="13970">
            <a:solidFill>
              <a:srgbClr val="86EFAC"/>
            </a:solidFill>
          </a:ln>
        </p:spPr>
        <p:txBody>
          <a:bodyPr wrap="square" lIns="1016" tIns="1016" rIns="1016" bIns="1016" rtlCol="0" anchor="ctr">
            <a:normAutofit/>
          </a:bodyPr>
          <a:lstStyle/>
          <a:p>
            <a:pPr marL="0" indent="0" algn="ctr">
              <a:buNone/>
            </a:pPr>
            <a:r>
              <a:rPr lang="en-US" sz="1150" b="1" dirty="0">
                <a:solidFill>
                  <a:srgbClr val="0B1F3A"/>
                </a:solidFill>
                <a:latin typeface="Noto Sans CJK SC" pitchFamily="34" charset="0"/>
                <a:ea typeface="Noto Sans CJK SC" pitchFamily="34" charset="-122"/>
                <a:cs typeface="Noto Sans CJK SC" pitchFamily="34" charset="-120"/>
              </a:rPr>
              <a:t>④ 家庭/校园路由器</a:t>
            </a:r>
            <a:endParaRPr lang="en-US" sz="1150" dirty="0"/>
          </a:p>
          <a:p>
            <a:pPr marL="0" indent="0" algn="ctr">
              <a:buNone/>
            </a:pPr>
            <a:r>
              <a:rPr lang="en-US" sz="1150" b="1" dirty="0">
                <a:solidFill>
                  <a:srgbClr val="0B1F3A"/>
                </a:solidFill>
                <a:latin typeface="Noto Sans CJK SC" pitchFamily="34" charset="0"/>
                <a:ea typeface="Noto Sans CJK SC" pitchFamily="34" charset="-122"/>
                <a:cs typeface="Noto Sans CJK SC" pitchFamily="34" charset="-120"/>
              </a:rPr>
              <a:t>NAT + 默认网关</a:t>
            </a:r>
            <a:endParaRPr lang="en-US" sz="1150" dirty="0"/>
          </a:p>
        </p:txBody>
      </p:sp>
      <p:sp>
        <p:nvSpPr>
          <p:cNvPr id="20" name="Text 16">
            <a:extLst>
              <a:ext uri="{FF2B5EF4-FFF2-40B4-BE49-F238E27FC236}">
                <a16:creationId xmlns:a16="http://schemas.microsoft.com/office/drawing/2014/main" id="{04775DA9-895E-46EC-A597-6BB6633DDAB4}"/>
              </a:ext>
            </a:extLst>
          </p:cNvPr>
          <p:cNvSpPr/>
          <p:nvPr/>
        </p:nvSpPr>
        <p:spPr>
          <a:xfrm>
            <a:off x="7229856" y="1808738"/>
            <a:ext cx="1243584" cy="1078992"/>
          </a:xfrm>
          <a:prstGeom prst="roundRect">
            <a:avLst/>
          </a:prstGeom>
          <a:solidFill>
            <a:srgbClr val="FEF3C7"/>
          </a:solidFill>
          <a:ln w="13970">
            <a:solidFill>
              <a:srgbClr val="FBBF24"/>
            </a:solidFill>
          </a:ln>
        </p:spPr>
        <p:txBody>
          <a:bodyPr wrap="square" lIns="1016" tIns="1016" rIns="1016" bIns="1016" rtlCol="0" anchor="ctr">
            <a:normAutofit/>
          </a:bodyPr>
          <a:lstStyle/>
          <a:p>
            <a:pPr marL="0" indent="0" algn="ctr">
              <a:buNone/>
            </a:pPr>
            <a:r>
              <a:rPr lang="en-US" sz="1140" b="1" dirty="0">
                <a:solidFill>
                  <a:srgbClr val="0B1F3A"/>
                </a:solidFill>
                <a:latin typeface="Noto Sans CJK SC" pitchFamily="34" charset="0"/>
                <a:ea typeface="Noto Sans CJK SC" pitchFamily="34" charset="-122"/>
                <a:cs typeface="Noto Sans CJK SC" pitchFamily="34" charset="-120"/>
              </a:rPr>
              <a:t>⑤ 运营商/Internet</a:t>
            </a:r>
            <a:endParaRPr lang="en-US" sz="1140" dirty="0"/>
          </a:p>
          <a:p>
            <a:pPr marL="0" indent="0" algn="ctr">
              <a:buNone/>
            </a:pPr>
            <a:r>
              <a:rPr lang="en-US" sz="1140" b="1" dirty="0">
                <a:solidFill>
                  <a:srgbClr val="0B1F3A"/>
                </a:solidFill>
                <a:latin typeface="Noto Sans CJK SC" pitchFamily="34" charset="0"/>
                <a:ea typeface="Noto Sans CJK SC" pitchFamily="34" charset="-122"/>
                <a:cs typeface="Noto Sans CJK SC" pitchFamily="34" charset="-120"/>
              </a:rPr>
              <a:t>路由转发：逐跳查表</a:t>
            </a:r>
            <a:endParaRPr lang="en-US" sz="1140" dirty="0"/>
          </a:p>
        </p:txBody>
      </p:sp>
      <p:sp>
        <p:nvSpPr>
          <p:cNvPr id="21" name="Text 17">
            <a:extLst>
              <a:ext uri="{FF2B5EF4-FFF2-40B4-BE49-F238E27FC236}">
                <a16:creationId xmlns:a16="http://schemas.microsoft.com/office/drawing/2014/main" id="{D05A73DB-22E2-487D-997E-9D036C5E92AB}"/>
              </a:ext>
            </a:extLst>
          </p:cNvPr>
          <p:cNvSpPr/>
          <p:nvPr/>
        </p:nvSpPr>
        <p:spPr>
          <a:xfrm>
            <a:off x="9424416" y="1808738"/>
            <a:ext cx="1508760" cy="1078992"/>
          </a:xfrm>
          <a:prstGeom prst="roundRect">
            <a:avLst/>
          </a:prstGeom>
          <a:solidFill>
            <a:srgbClr val="FFFFFF"/>
          </a:solidFill>
          <a:ln w="13970">
            <a:solidFill>
              <a:srgbClr val="93C5FD"/>
            </a:solidFill>
          </a:ln>
        </p:spPr>
        <p:txBody>
          <a:bodyPr wrap="square" lIns="1016" tIns="1016" rIns="1016" bIns="1016" rtlCol="0" anchor="ctr">
            <a:normAutofit/>
          </a:bodyPr>
          <a:lstStyle/>
          <a:p>
            <a:pPr marL="0" indent="0" algn="ctr">
              <a:buNone/>
            </a:pPr>
            <a:r>
              <a:rPr lang="en-US" sz="1120" b="1" dirty="0">
                <a:solidFill>
                  <a:srgbClr val="0B1F3A"/>
                </a:solidFill>
                <a:latin typeface="Noto Sans CJK SC" pitchFamily="34" charset="0"/>
                <a:ea typeface="Noto Sans CJK SC" pitchFamily="34" charset="-122"/>
                <a:cs typeface="Noto Sans CJK SC" pitchFamily="34" charset="-120"/>
              </a:rPr>
              <a:t>⑥ Web / CDN 服务器</a:t>
            </a:r>
            <a:endParaRPr lang="en-US" sz="1120" dirty="0"/>
          </a:p>
          <a:p>
            <a:pPr marL="0" indent="0" algn="ctr">
              <a:buNone/>
            </a:pPr>
            <a:r>
              <a:rPr lang="en-US" sz="1120" b="1" dirty="0">
                <a:solidFill>
                  <a:srgbClr val="0B1F3A"/>
                </a:solidFill>
                <a:latin typeface="Noto Sans CJK SC" pitchFamily="34" charset="0"/>
                <a:ea typeface="Noto Sans CJK SC" pitchFamily="34" charset="-122"/>
                <a:cs typeface="Noto Sans CJK SC" pitchFamily="34" charset="-120"/>
              </a:rPr>
              <a:t>处理请求并返回资源</a:t>
            </a:r>
            <a:endParaRPr lang="en-US" sz="1120" dirty="0"/>
          </a:p>
        </p:txBody>
      </p:sp>
      <p:sp>
        <p:nvSpPr>
          <p:cNvPr id="22" name="Text 18">
            <a:extLst>
              <a:ext uri="{FF2B5EF4-FFF2-40B4-BE49-F238E27FC236}">
                <a16:creationId xmlns:a16="http://schemas.microsoft.com/office/drawing/2014/main" id="{CBE098D5-99B2-4A7E-A86B-0B64468A2793}"/>
              </a:ext>
            </a:extLst>
          </p:cNvPr>
          <p:cNvSpPr/>
          <p:nvPr/>
        </p:nvSpPr>
        <p:spPr>
          <a:xfrm>
            <a:off x="5858256" y="3116330"/>
            <a:ext cx="3840480" cy="438912"/>
          </a:xfrm>
          <a:prstGeom prst="roundRect">
            <a:avLst/>
          </a:prstGeom>
          <a:solidFill>
            <a:srgbClr val="E0F2FE"/>
          </a:solidFill>
          <a:ln w="13970">
            <a:solidFill>
              <a:srgbClr val="7DD3FC"/>
            </a:solidFill>
          </a:ln>
        </p:spPr>
        <p:txBody>
          <a:bodyPr wrap="square" lIns="1016" tIns="1016" rIns="1016" bIns="1016" rtlCol="0" anchor="ctr">
            <a:normAutofit/>
          </a:bodyPr>
          <a:lstStyle/>
          <a:p>
            <a:pPr marL="0" indent="0" algn="ctr">
              <a:buNone/>
            </a:pPr>
            <a:r>
              <a:rPr lang="en-US" sz="1100" dirty="0">
                <a:solidFill>
                  <a:srgbClr val="0B1F3A"/>
                </a:solidFill>
                <a:latin typeface="Noto Sans CJK SC" pitchFamily="34" charset="0"/>
                <a:ea typeface="Noto Sans CJK SC" pitchFamily="34" charset="-122"/>
                <a:cs typeface="Noto Sans CJK SC" pitchFamily="34" charset="-120"/>
              </a:rPr>
              <a:t>响应回程：HTML / CSS / JS / 图片</a:t>
            </a:r>
            <a:endParaRPr lang="en-US" sz="1100" dirty="0"/>
          </a:p>
          <a:p>
            <a:pPr marL="0" indent="0" algn="ctr">
              <a:buNone/>
            </a:pPr>
            <a:r>
              <a:rPr lang="en-US" sz="1100" dirty="0">
                <a:solidFill>
                  <a:srgbClr val="0B1F3A"/>
                </a:solidFill>
                <a:latin typeface="Noto Sans CJK SC" pitchFamily="34" charset="0"/>
                <a:ea typeface="Noto Sans CJK SC" pitchFamily="34" charset="-122"/>
                <a:cs typeface="Noto Sans CJK SC" pitchFamily="34" charset="-120"/>
              </a:rPr>
              <a:t>经相反方向逐跳返回，浏览器解析并渲染页面</a:t>
            </a:r>
            <a:endParaRPr lang="en-US" sz="1100" dirty="0"/>
          </a:p>
        </p:txBody>
      </p:sp>
      <p:sp>
        <p:nvSpPr>
          <p:cNvPr id="23" name="Text 19">
            <a:extLst>
              <a:ext uri="{FF2B5EF4-FFF2-40B4-BE49-F238E27FC236}">
                <a16:creationId xmlns:a16="http://schemas.microsoft.com/office/drawing/2014/main" id="{F5219177-80F0-4424-A097-D7CC9206B29F}"/>
              </a:ext>
            </a:extLst>
          </p:cNvPr>
          <p:cNvSpPr/>
          <p:nvPr/>
        </p:nvSpPr>
        <p:spPr>
          <a:xfrm>
            <a:off x="509016" y="5960114"/>
            <a:ext cx="1783080" cy="621792"/>
          </a:xfrm>
          <a:prstGeom prst="roundRect">
            <a:avLst/>
          </a:prstGeom>
          <a:solidFill>
            <a:srgbClr val="FFFFFF"/>
          </a:solidFill>
          <a:ln w="13970">
            <a:solidFill>
              <a:srgbClr val="CBD5E1"/>
            </a:solidFill>
          </a:ln>
        </p:spPr>
        <p:txBody>
          <a:bodyPr wrap="square" lIns="1016" tIns="1016" rIns="1016" bIns="1016" rtlCol="0" anchor="ctr">
            <a:normAutofit/>
          </a:bodyPr>
          <a:lstStyle/>
          <a:p>
            <a:pPr marL="0" indent="0" algn="ctr">
              <a:buNone/>
            </a:pPr>
            <a:r>
              <a:rPr lang="en-US" sz="1050" b="1" dirty="0">
                <a:solidFill>
                  <a:srgbClr val="0B1F3A"/>
                </a:solidFill>
                <a:latin typeface="Noto Sans CJK SC" pitchFamily="34" charset="0"/>
                <a:ea typeface="Noto Sans CJK SC" pitchFamily="34" charset="-122"/>
                <a:cs typeface="Noto Sans CJK SC" pitchFamily="34" charset="-120"/>
              </a:rPr>
              <a:t>1 URL</a:t>
            </a:r>
            <a:endParaRPr lang="en-US" sz="1050" dirty="0"/>
          </a:p>
          <a:p>
            <a:pPr marL="0" indent="0" algn="ctr">
              <a:buNone/>
            </a:pPr>
            <a:r>
              <a:rPr lang="en-US" sz="1050" b="1" dirty="0">
                <a:solidFill>
                  <a:srgbClr val="0B1F3A"/>
                </a:solidFill>
                <a:latin typeface="Noto Sans CJK SC" pitchFamily="34" charset="0"/>
                <a:ea typeface="Noto Sans CJK SC" pitchFamily="34" charset="-122"/>
                <a:cs typeface="Noto Sans CJK SC" pitchFamily="34" charset="-120"/>
              </a:rPr>
              <a:t>浏览器解析 scheme/host/path</a:t>
            </a:r>
            <a:endParaRPr lang="en-US" sz="1050" dirty="0"/>
          </a:p>
        </p:txBody>
      </p:sp>
      <p:sp>
        <p:nvSpPr>
          <p:cNvPr id="24" name="Text 20">
            <a:extLst>
              <a:ext uri="{FF2B5EF4-FFF2-40B4-BE49-F238E27FC236}">
                <a16:creationId xmlns:a16="http://schemas.microsoft.com/office/drawing/2014/main" id="{BE03A67A-1311-4084-96AC-3B2E2C3E7B8E}"/>
              </a:ext>
            </a:extLst>
          </p:cNvPr>
          <p:cNvSpPr/>
          <p:nvPr/>
        </p:nvSpPr>
        <p:spPr>
          <a:xfrm>
            <a:off x="2410968" y="5960114"/>
            <a:ext cx="1783080" cy="621792"/>
          </a:xfrm>
          <a:prstGeom prst="roundRect">
            <a:avLst/>
          </a:prstGeom>
          <a:solidFill>
            <a:srgbClr val="EFF6FF"/>
          </a:solidFill>
          <a:ln w="13970">
            <a:solidFill>
              <a:srgbClr val="93C5FD"/>
            </a:solidFill>
          </a:ln>
        </p:spPr>
        <p:txBody>
          <a:bodyPr wrap="square" lIns="1016" tIns="1016" rIns="1016" bIns="1016" rtlCol="0" anchor="ctr">
            <a:normAutofit/>
          </a:bodyPr>
          <a:lstStyle/>
          <a:p>
            <a:pPr marL="0" indent="0" algn="ctr">
              <a:buNone/>
            </a:pPr>
            <a:r>
              <a:rPr lang="en-US" sz="1050" dirty="0">
                <a:solidFill>
                  <a:srgbClr val="0B1F3A"/>
                </a:solidFill>
                <a:latin typeface="Noto Sans CJK SC" pitchFamily="34" charset="0"/>
                <a:ea typeface="Noto Sans CJK SC" pitchFamily="34" charset="-122"/>
                <a:cs typeface="Noto Sans CJK SC" pitchFamily="34" charset="-120"/>
              </a:rPr>
              <a:t>2 DNS</a:t>
            </a:r>
            <a:endParaRPr lang="en-US" sz="1050" dirty="0"/>
          </a:p>
          <a:p>
            <a:pPr marL="0" indent="0" algn="ctr">
              <a:buNone/>
            </a:pPr>
            <a:r>
              <a:rPr lang="en-US" sz="1050" dirty="0">
                <a:solidFill>
                  <a:srgbClr val="0B1F3A"/>
                </a:solidFill>
                <a:latin typeface="Noto Sans CJK SC" pitchFamily="34" charset="0"/>
                <a:ea typeface="Noto Sans CJK SC" pitchFamily="34" charset="-122"/>
                <a:cs typeface="Noto Sans CJK SC" pitchFamily="34" charset="-120"/>
              </a:rPr>
              <a:t>查缓存；递归/迭代查询</a:t>
            </a:r>
            <a:endParaRPr lang="en-US" sz="1050" dirty="0"/>
          </a:p>
        </p:txBody>
      </p:sp>
      <p:sp>
        <p:nvSpPr>
          <p:cNvPr id="25" name="Text 21">
            <a:extLst>
              <a:ext uri="{FF2B5EF4-FFF2-40B4-BE49-F238E27FC236}">
                <a16:creationId xmlns:a16="http://schemas.microsoft.com/office/drawing/2014/main" id="{3998DBCF-6F27-4418-8221-516EB988187D}"/>
              </a:ext>
            </a:extLst>
          </p:cNvPr>
          <p:cNvSpPr/>
          <p:nvPr/>
        </p:nvSpPr>
        <p:spPr>
          <a:xfrm>
            <a:off x="4312920" y="5960114"/>
            <a:ext cx="1783080" cy="621792"/>
          </a:xfrm>
          <a:prstGeom prst="roundRect">
            <a:avLst/>
          </a:prstGeom>
          <a:solidFill>
            <a:srgbClr val="FFFFFF"/>
          </a:solidFill>
          <a:ln w="13970">
            <a:solidFill>
              <a:srgbClr val="CBD5E1"/>
            </a:solidFill>
          </a:ln>
        </p:spPr>
        <p:txBody>
          <a:bodyPr wrap="square" lIns="1016" tIns="1016" rIns="1016" bIns="1016" rtlCol="0" anchor="ctr">
            <a:normAutofit/>
          </a:bodyPr>
          <a:lstStyle/>
          <a:p>
            <a:pPr marL="0" indent="0" algn="ctr">
              <a:buNone/>
            </a:pPr>
            <a:r>
              <a:rPr lang="en-US" sz="1050" dirty="0">
                <a:solidFill>
                  <a:srgbClr val="0B1F3A"/>
                </a:solidFill>
                <a:latin typeface="Noto Sans CJK SC" pitchFamily="34" charset="0"/>
                <a:ea typeface="Noto Sans CJK SC" pitchFamily="34" charset="-122"/>
                <a:cs typeface="Noto Sans CJK SC" pitchFamily="34" charset="-120"/>
              </a:rPr>
              <a:t>3 连接</a:t>
            </a:r>
            <a:endParaRPr lang="en-US" sz="1050" dirty="0"/>
          </a:p>
          <a:p>
            <a:pPr marL="0" indent="0" algn="ctr">
              <a:buNone/>
            </a:pPr>
            <a:r>
              <a:rPr lang="en-US" sz="1050" dirty="0">
                <a:solidFill>
                  <a:srgbClr val="0B1F3A"/>
                </a:solidFill>
                <a:latin typeface="Noto Sans CJK SC" pitchFamily="34" charset="0"/>
                <a:ea typeface="Noto Sans CJK SC" pitchFamily="34" charset="-122"/>
                <a:cs typeface="Noto Sans CJK SC" pitchFamily="34" charset="-120"/>
              </a:rPr>
              <a:t>TCP 三次握手 或 QUIC；TLS 握手</a:t>
            </a:r>
            <a:endParaRPr lang="en-US" sz="1050" dirty="0"/>
          </a:p>
        </p:txBody>
      </p:sp>
      <p:sp>
        <p:nvSpPr>
          <p:cNvPr id="26" name="Text 22">
            <a:extLst>
              <a:ext uri="{FF2B5EF4-FFF2-40B4-BE49-F238E27FC236}">
                <a16:creationId xmlns:a16="http://schemas.microsoft.com/office/drawing/2014/main" id="{F2D0DBFB-06B2-4C59-8B60-CAF070E1A597}"/>
              </a:ext>
            </a:extLst>
          </p:cNvPr>
          <p:cNvSpPr/>
          <p:nvPr/>
        </p:nvSpPr>
        <p:spPr>
          <a:xfrm>
            <a:off x="6214872" y="5960114"/>
            <a:ext cx="1783080" cy="621792"/>
          </a:xfrm>
          <a:prstGeom prst="roundRect">
            <a:avLst/>
          </a:prstGeom>
          <a:solidFill>
            <a:srgbClr val="EFF6FF"/>
          </a:solidFill>
          <a:ln w="13970">
            <a:solidFill>
              <a:srgbClr val="93C5FD"/>
            </a:solidFill>
          </a:ln>
        </p:spPr>
        <p:txBody>
          <a:bodyPr wrap="square" lIns="1016" tIns="1016" rIns="1016" bIns="1016" rtlCol="0" anchor="ctr">
            <a:normAutofit/>
          </a:bodyPr>
          <a:lstStyle/>
          <a:p>
            <a:pPr marL="0" indent="0" algn="ctr">
              <a:buNone/>
            </a:pPr>
            <a:r>
              <a:rPr lang="en-US" sz="1050" dirty="0">
                <a:solidFill>
                  <a:srgbClr val="0B1F3A"/>
                </a:solidFill>
                <a:latin typeface="Noto Sans CJK SC" pitchFamily="34" charset="0"/>
                <a:ea typeface="Noto Sans CJK SC" pitchFamily="34" charset="-122"/>
                <a:cs typeface="Noto Sans CJK SC" pitchFamily="34" charset="-120"/>
              </a:rPr>
              <a:t>4 HTTP</a:t>
            </a:r>
            <a:endParaRPr lang="en-US" sz="1050" dirty="0"/>
          </a:p>
          <a:p>
            <a:pPr marL="0" indent="0" algn="ctr">
              <a:buNone/>
            </a:pPr>
            <a:r>
              <a:rPr lang="en-US" sz="1050" dirty="0">
                <a:solidFill>
                  <a:srgbClr val="0B1F3A"/>
                </a:solidFill>
                <a:latin typeface="Noto Sans CJK SC" pitchFamily="34" charset="0"/>
                <a:ea typeface="Noto Sans CJK SC" pitchFamily="34" charset="-122"/>
                <a:cs typeface="Noto Sans CJK SC" pitchFamily="34" charset="-120"/>
              </a:rPr>
              <a:t>发送 GET/POST，请求头/Body</a:t>
            </a:r>
            <a:endParaRPr lang="en-US" sz="1050" dirty="0"/>
          </a:p>
        </p:txBody>
      </p:sp>
      <p:sp>
        <p:nvSpPr>
          <p:cNvPr id="27" name="Text 23">
            <a:extLst>
              <a:ext uri="{FF2B5EF4-FFF2-40B4-BE49-F238E27FC236}">
                <a16:creationId xmlns:a16="http://schemas.microsoft.com/office/drawing/2014/main" id="{B3D51D31-EDF7-4AEC-BBCD-998BC2AE3D7C}"/>
              </a:ext>
            </a:extLst>
          </p:cNvPr>
          <p:cNvSpPr/>
          <p:nvPr/>
        </p:nvSpPr>
        <p:spPr>
          <a:xfrm>
            <a:off x="8116824" y="5960114"/>
            <a:ext cx="1783080" cy="621792"/>
          </a:xfrm>
          <a:prstGeom prst="roundRect">
            <a:avLst/>
          </a:prstGeom>
          <a:solidFill>
            <a:srgbClr val="FFFFFF"/>
          </a:solidFill>
          <a:ln w="13970">
            <a:solidFill>
              <a:srgbClr val="CBD5E1"/>
            </a:solidFill>
          </a:ln>
        </p:spPr>
        <p:txBody>
          <a:bodyPr wrap="square" lIns="1016" tIns="1016" rIns="1016" bIns="1016" rtlCol="0" anchor="ctr">
            <a:normAutofit/>
          </a:bodyPr>
          <a:lstStyle/>
          <a:p>
            <a:pPr marL="0" indent="0" algn="ctr">
              <a:buNone/>
            </a:pPr>
            <a:r>
              <a:rPr lang="en-US" sz="1050" dirty="0">
                <a:solidFill>
                  <a:srgbClr val="0B1F3A"/>
                </a:solidFill>
                <a:latin typeface="Noto Sans CJK SC" pitchFamily="34" charset="0"/>
                <a:ea typeface="Noto Sans CJK SC" pitchFamily="34" charset="-122"/>
                <a:cs typeface="Noto Sans CJK SC" pitchFamily="34" charset="-120"/>
              </a:rPr>
              <a:t>5 转发</a:t>
            </a:r>
            <a:endParaRPr lang="en-US" sz="1050" dirty="0"/>
          </a:p>
          <a:p>
            <a:pPr marL="0" indent="0" algn="ctr">
              <a:buNone/>
            </a:pPr>
            <a:r>
              <a:rPr lang="en-US" sz="1050" dirty="0">
                <a:solidFill>
                  <a:srgbClr val="0B1F3A"/>
                </a:solidFill>
                <a:latin typeface="Noto Sans CJK SC" pitchFamily="34" charset="0"/>
                <a:ea typeface="Noto Sans CJK SC" pitchFamily="34" charset="-122"/>
                <a:cs typeface="Noto Sans CJK SC" pitchFamily="34" charset="-120"/>
              </a:rPr>
              <a:t>IP 路由 + NAT 地址/端口转换</a:t>
            </a:r>
            <a:endParaRPr lang="en-US" sz="1050" dirty="0"/>
          </a:p>
        </p:txBody>
      </p:sp>
      <p:sp>
        <p:nvSpPr>
          <p:cNvPr id="28" name="Text 24">
            <a:extLst>
              <a:ext uri="{FF2B5EF4-FFF2-40B4-BE49-F238E27FC236}">
                <a16:creationId xmlns:a16="http://schemas.microsoft.com/office/drawing/2014/main" id="{45C4CC39-6004-4770-B64E-255F4145C43C}"/>
              </a:ext>
            </a:extLst>
          </p:cNvPr>
          <p:cNvSpPr/>
          <p:nvPr/>
        </p:nvSpPr>
        <p:spPr>
          <a:xfrm>
            <a:off x="10018776" y="5960114"/>
            <a:ext cx="1783080" cy="621792"/>
          </a:xfrm>
          <a:prstGeom prst="roundRect">
            <a:avLst/>
          </a:prstGeom>
          <a:solidFill>
            <a:srgbClr val="EFF6FF"/>
          </a:solidFill>
          <a:ln w="13970">
            <a:solidFill>
              <a:srgbClr val="93C5FD"/>
            </a:solidFill>
          </a:ln>
        </p:spPr>
        <p:txBody>
          <a:bodyPr wrap="square" lIns="1016" tIns="1016" rIns="1016" bIns="1016" rtlCol="0" anchor="ctr">
            <a:normAutofit/>
          </a:bodyPr>
          <a:lstStyle/>
          <a:p>
            <a:pPr marL="0" indent="0" algn="ctr">
              <a:buNone/>
            </a:pPr>
            <a:r>
              <a:rPr lang="en-US" sz="1050" dirty="0">
                <a:solidFill>
                  <a:srgbClr val="0B1F3A"/>
                </a:solidFill>
                <a:latin typeface="Noto Sans CJK SC" pitchFamily="34" charset="0"/>
                <a:ea typeface="Noto Sans CJK SC" pitchFamily="34" charset="-122"/>
                <a:cs typeface="Noto Sans CJK SC" pitchFamily="34" charset="-120"/>
              </a:rPr>
              <a:t>6 渲染</a:t>
            </a:r>
            <a:endParaRPr lang="en-US" sz="1050" dirty="0"/>
          </a:p>
          <a:p>
            <a:pPr marL="0" indent="0" algn="ctr">
              <a:buNone/>
            </a:pPr>
            <a:r>
              <a:rPr lang="en-US" sz="1050" dirty="0">
                <a:solidFill>
                  <a:srgbClr val="0B1F3A"/>
                </a:solidFill>
                <a:latin typeface="Noto Sans CJK SC" pitchFamily="34" charset="0"/>
                <a:ea typeface="Noto Sans CJK SC" pitchFamily="34" charset="-122"/>
                <a:cs typeface="Noto Sans CJK SC" pitchFamily="34" charset="-120"/>
              </a:rPr>
              <a:t>收到响应，解析 DOM/CSSOM，加载子资源</a:t>
            </a:r>
            <a:endParaRPr lang="en-US" sz="1050" dirty="0"/>
          </a:p>
        </p:txBody>
      </p:sp>
      <p:sp>
        <p:nvSpPr>
          <p:cNvPr id="29" name="Text 25">
            <a:extLst>
              <a:ext uri="{FF2B5EF4-FFF2-40B4-BE49-F238E27FC236}">
                <a16:creationId xmlns:a16="http://schemas.microsoft.com/office/drawing/2014/main" id="{FEE13B37-FE85-4318-9864-23C2C3137123}"/>
              </a:ext>
            </a:extLst>
          </p:cNvPr>
          <p:cNvSpPr/>
          <p:nvPr/>
        </p:nvSpPr>
        <p:spPr>
          <a:xfrm>
            <a:off x="536448" y="3482090"/>
            <a:ext cx="3794760" cy="228600"/>
          </a:xfrm>
          <a:prstGeom prst="rect">
            <a:avLst/>
          </a:prstGeom>
          <a:noFill/>
          <a:ln/>
        </p:spPr>
        <p:txBody>
          <a:bodyPr wrap="square" lIns="0" tIns="0" rIns="0" bIns="0" rtlCol="0" anchor="ctr"/>
          <a:lstStyle/>
          <a:p>
            <a:pPr marL="0" indent="0">
              <a:buNone/>
            </a:pPr>
            <a:r>
              <a:rPr lang="en-US" sz="1400" b="1" dirty="0">
                <a:solidFill>
                  <a:srgbClr val="0B1F3A"/>
                </a:solidFill>
                <a:latin typeface="Noto Sans CJK SC" pitchFamily="34" charset="0"/>
                <a:ea typeface="Noto Sans CJK SC" pitchFamily="34" charset="-122"/>
                <a:cs typeface="Noto Sans CJK SC" pitchFamily="34" charset="-120"/>
              </a:rPr>
              <a:t>报文封装 / 解封装：每层只关心自己的“头部”</a:t>
            </a:r>
            <a:endParaRPr lang="en-US" sz="1400" dirty="0"/>
          </a:p>
        </p:txBody>
      </p:sp>
      <p:sp>
        <p:nvSpPr>
          <p:cNvPr id="30" name="Text 26">
            <a:extLst>
              <a:ext uri="{FF2B5EF4-FFF2-40B4-BE49-F238E27FC236}">
                <a16:creationId xmlns:a16="http://schemas.microsoft.com/office/drawing/2014/main" id="{04C888EB-FCC1-4772-A1D8-8F865E27B285}"/>
              </a:ext>
            </a:extLst>
          </p:cNvPr>
          <p:cNvSpPr/>
          <p:nvPr/>
        </p:nvSpPr>
        <p:spPr>
          <a:xfrm>
            <a:off x="3270504" y="3875282"/>
            <a:ext cx="1170432" cy="402336"/>
          </a:xfrm>
          <a:prstGeom prst="rect">
            <a:avLst/>
          </a:prstGeom>
          <a:solidFill>
            <a:srgbClr val="F8FAFC"/>
          </a:solidFill>
          <a:ln w="13970">
            <a:solidFill>
              <a:srgbClr val="CBD5E1"/>
            </a:solidFill>
          </a:ln>
        </p:spPr>
        <p:txBody>
          <a:bodyPr wrap="square" lIns="1016" tIns="1016" rIns="1016" bIns="1016" rtlCol="0" anchor="ctr">
            <a:normAutofit/>
          </a:bodyPr>
          <a:lstStyle/>
          <a:p>
            <a:pPr marL="0" indent="0" algn="ctr">
              <a:buNone/>
            </a:pPr>
            <a:r>
              <a:rPr lang="en-US" sz="1050" dirty="0">
                <a:solidFill>
                  <a:srgbClr val="0B1F3A"/>
                </a:solidFill>
                <a:latin typeface="Noto Sans CJK SC" pitchFamily="34" charset="0"/>
                <a:ea typeface="Noto Sans CJK SC" pitchFamily="34" charset="-122"/>
                <a:cs typeface="Noto Sans CJK SC" pitchFamily="34" charset="-120"/>
              </a:rPr>
              <a:t>HTTP</a:t>
            </a:r>
            <a:endParaRPr lang="en-US" sz="1050" dirty="0"/>
          </a:p>
          <a:p>
            <a:pPr marL="0" indent="0" algn="ctr">
              <a:buNone/>
            </a:pPr>
            <a:r>
              <a:rPr lang="en-US" sz="1050" dirty="0">
                <a:solidFill>
                  <a:srgbClr val="0B1F3A"/>
                </a:solidFill>
                <a:latin typeface="Noto Sans CJK SC" pitchFamily="34" charset="0"/>
                <a:ea typeface="Noto Sans CJK SC" pitchFamily="34" charset="-122"/>
                <a:cs typeface="Noto Sans CJK SC" pitchFamily="34" charset="-120"/>
              </a:rPr>
              <a:t>Data</a:t>
            </a:r>
            <a:endParaRPr lang="en-US" sz="1050" dirty="0"/>
          </a:p>
        </p:txBody>
      </p:sp>
      <p:sp>
        <p:nvSpPr>
          <p:cNvPr id="31" name="Text 27">
            <a:extLst>
              <a:ext uri="{FF2B5EF4-FFF2-40B4-BE49-F238E27FC236}">
                <a16:creationId xmlns:a16="http://schemas.microsoft.com/office/drawing/2014/main" id="{F13BCC47-F4A6-4D97-8FBA-5FF4A19DEA75}"/>
              </a:ext>
            </a:extLst>
          </p:cNvPr>
          <p:cNvSpPr/>
          <p:nvPr/>
        </p:nvSpPr>
        <p:spPr>
          <a:xfrm>
            <a:off x="2749296" y="3875282"/>
            <a:ext cx="502920" cy="402336"/>
          </a:xfrm>
          <a:prstGeom prst="rect">
            <a:avLst/>
          </a:prstGeom>
          <a:solidFill>
            <a:srgbClr val="EDE9FE"/>
          </a:solidFill>
          <a:ln w="13970">
            <a:solidFill>
              <a:srgbClr val="A78BFA"/>
            </a:solidFill>
          </a:ln>
        </p:spPr>
        <p:txBody>
          <a:bodyPr wrap="square" lIns="1016" tIns="1016" rIns="1016" bIns="1016" rtlCol="0" anchor="ctr">
            <a:normAutofit/>
          </a:bodyPr>
          <a:lstStyle/>
          <a:p>
            <a:pPr marL="0" indent="0" algn="ctr">
              <a:buNone/>
            </a:pPr>
            <a:r>
              <a:rPr lang="en-US" sz="1050" b="1" dirty="0">
                <a:solidFill>
                  <a:srgbClr val="0B1F3A"/>
                </a:solidFill>
                <a:latin typeface="Noto Sans CJK SC" pitchFamily="34" charset="0"/>
                <a:ea typeface="Noto Sans CJK SC" pitchFamily="34" charset="-122"/>
                <a:cs typeface="Noto Sans CJK SC" pitchFamily="34" charset="-120"/>
              </a:rPr>
              <a:t>TLS</a:t>
            </a:r>
            <a:endParaRPr lang="en-US" sz="1050" dirty="0"/>
          </a:p>
        </p:txBody>
      </p:sp>
      <p:sp>
        <p:nvSpPr>
          <p:cNvPr id="32" name="Text 28">
            <a:extLst>
              <a:ext uri="{FF2B5EF4-FFF2-40B4-BE49-F238E27FC236}">
                <a16:creationId xmlns:a16="http://schemas.microsoft.com/office/drawing/2014/main" id="{25881C7A-EE6E-4A91-97F4-29B1B40C546F}"/>
              </a:ext>
            </a:extLst>
          </p:cNvPr>
          <p:cNvSpPr/>
          <p:nvPr/>
        </p:nvSpPr>
        <p:spPr>
          <a:xfrm>
            <a:off x="1972056" y="3875282"/>
            <a:ext cx="749808" cy="402336"/>
          </a:xfrm>
          <a:prstGeom prst="rect">
            <a:avLst/>
          </a:prstGeom>
          <a:solidFill>
            <a:srgbClr val="DBEAFE"/>
          </a:solidFill>
          <a:ln w="13970">
            <a:solidFill>
              <a:srgbClr val="60A5FA"/>
            </a:solidFill>
          </a:ln>
        </p:spPr>
        <p:txBody>
          <a:bodyPr wrap="square" lIns="1016" tIns="1016" rIns="1016" bIns="1016" rtlCol="0" anchor="ctr">
            <a:normAutofit/>
          </a:bodyPr>
          <a:lstStyle/>
          <a:p>
            <a:pPr marL="0" indent="0" algn="ctr">
              <a:buNone/>
            </a:pPr>
            <a:r>
              <a:rPr lang="en-US" sz="1050" b="1" dirty="0">
                <a:solidFill>
                  <a:srgbClr val="0B1F3A"/>
                </a:solidFill>
                <a:latin typeface="Noto Sans CJK SC" pitchFamily="34" charset="0"/>
                <a:ea typeface="Noto Sans CJK SC" pitchFamily="34" charset="-122"/>
                <a:cs typeface="Noto Sans CJK SC" pitchFamily="34" charset="-120"/>
              </a:rPr>
              <a:t>TCP / UDP</a:t>
            </a:r>
            <a:endParaRPr lang="en-US" sz="1050" dirty="0"/>
          </a:p>
        </p:txBody>
      </p:sp>
      <p:sp>
        <p:nvSpPr>
          <p:cNvPr id="33" name="Text 29">
            <a:extLst>
              <a:ext uri="{FF2B5EF4-FFF2-40B4-BE49-F238E27FC236}">
                <a16:creationId xmlns:a16="http://schemas.microsoft.com/office/drawing/2014/main" id="{E5AB8D79-E2D3-4F76-8D5B-D6B3CD65A884}"/>
              </a:ext>
            </a:extLst>
          </p:cNvPr>
          <p:cNvSpPr/>
          <p:nvPr/>
        </p:nvSpPr>
        <p:spPr>
          <a:xfrm>
            <a:off x="1514856" y="3875282"/>
            <a:ext cx="429768" cy="402336"/>
          </a:xfrm>
          <a:prstGeom prst="rect">
            <a:avLst/>
          </a:prstGeom>
          <a:solidFill>
            <a:srgbClr val="DCFCE7"/>
          </a:solidFill>
          <a:ln w="13970">
            <a:solidFill>
              <a:srgbClr val="86EFAC"/>
            </a:solidFill>
          </a:ln>
        </p:spPr>
        <p:txBody>
          <a:bodyPr wrap="square" lIns="1016" tIns="1016" rIns="1016" bIns="1016" rtlCol="0" anchor="ctr">
            <a:normAutofit/>
          </a:bodyPr>
          <a:lstStyle/>
          <a:p>
            <a:pPr marL="0" indent="0" algn="ctr">
              <a:buNone/>
            </a:pPr>
            <a:r>
              <a:rPr lang="en-US" sz="1050" b="1" dirty="0">
                <a:solidFill>
                  <a:srgbClr val="0B1F3A"/>
                </a:solidFill>
                <a:latin typeface="Noto Sans CJK SC" pitchFamily="34" charset="0"/>
                <a:ea typeface="Noto Sans CJK SC" pitchFamily="34" charset="-122"/>
                <a:cs typeface="Noto Sans CJK SC" pitchFamily="34" charset="-120"/>
              </a:rPr>
              <a:t>IP</a:t>
            </a:r>
            <a:endParaRPr lang="en-US" sz="1050" dirty="0"/>
          </a:p>
        </p:txBody>
      </p:sp>
      <p:sp>
        <p:nvSpPr>
          <p:cNvPr id="34" name="Text 30">
            <a:extLst>
              <a:ext uri="{FF2B5EF4-FFF2-40B4-BE49-F238E27FC236}">
                <a16:creationId xmlns:a16="http://schemas.microsoft.com/office/drawing/2014/main" id="{7C49CEA3-4751-41AD-ACEC-AFCE643B68C0}"/>
              </a:ext>
            </a:extLst>
          </p:cNvPr>
          <p:cNvSpPr/>
          <p:nvPr/>
        </p:nvSpPr>
        <p:spPr>
          <a:xfrm>
            <a:off x="600456" y="3875282"/>
            <a:ext cx="877824" cy="402336"/>
          </a:xfrm>
          <a:prstGeom prst="rect">
            <a:avLst/>
          </a:prstGeom>
          <a:solidFill>
            <a:srgbClr val="FEF3C7"/>
          </a:solidFill>
          <a:ln w="13970">
            <a:solidFill>
              <a:srgbClr val="FBBF24"/>
            </a:solidFill>
          </a:ln>
        </p:spPr>
        <p:txBody>
          <a:bodyPr wrap="square" lIns="1016" tIns="1016" rIns="1016" bIns="1016" rtlCol="0" anchor="ctr">
            <a:normAutofit/>
          </a:bodyPr>
          <a:lstStyle/>
          <a:p>
            <a:pPr marL="0" indent="0" algn="ctr">
              <a:buNone/>
            </a:pPr>
            <a:r>
              <a:rPr lang="en-US" sz="1050" b="1" dirty="0">
                <a:solidFill>
                  <a:srgbClr val="0B1F3A"/>
                </a:solidFill>
                <a:latin typeface="Noto Sans CJK SC" pitchFamily="34" charset="0"/>
                <a:ea typeface="Noto Sans CJK SC" pitchFamily="34" charset="-122"/>
                <a:cs typeface="Noto Sans CJK SC" pitchFamily="34" charset="-120"/>
              </a:rPr>
              <a:t>Eth / Wi‑Fi</a:t>
            </a:r>
            <a:endParaRPr lang="en-US" sz="1050" dirty="0"/>
          </a:p>
        </p:txBody>
      </p:sp>
      <p:sp>
        <p:nvSpPr>
          <p:cNvPr id="35" name="Shape 31">
            <a:extLst>
              <a:ext uri="{FF2B5EF4-FFF2-40B4-BE49-F238E27FC236}">
                <a16:creationId xmlns:a16="http://schemas.microsoft.com/office/drawing/2014/main" id="{C50F8DE8-D547-4C8B-A4EC-354FA41D2FBE}"/>
              </a:ext>
            </a:extLst>
          </p:cNvPr>
          <p:cNvSpPr/>
          <p:nvPr/>
        </p:nvSpPr>
        <p:spPr>
          <a:xfrm>
            <a:off x="2474976" y="4369058"/>
            <a:ext cx="0" cy="576072"/>
          </a:xfrm>
          <a:prstGeom prst="line">
            <a:avLst/>
          </a:prstGeom>
          <a:noFill/>
          <a:ln w="15240">
            <a:solidFill>
              <a:srgbClr val="94A3B8"/>
            </a:solidFill>
            <a:prstDash val="solid"/>
            <a:headEnd type="none"/>
            <a:tailEnd type="triangle"/>
          </a:ln>
        </p:spPr>
      </p:sp>
      <p:sp>
        <p:nvSpPr>
          <p:cNvPr id="36" name="Text 32">
            <a:extLst>
              <a:ext uri="{FF2B5EF4-FFF2-40B4-BE49-F238E27FC236}">
                <a16:creationId xmlns:a16="http://schemas.microsoft.com/office/drawing/2014/main" id="{69F24DFF-0BC6-4617-B0A4-1AED512BD3DC}"/>
              </a:ext>
            </a:extLst>
          </p:cNvPr>
          <p:cNvSpPr/>
          <p:nvPr/>
        </p:nvSpPr>
        <p:spPr>
          <a:xfrm>
            <a:off x="966216" y="4972562"/>
            <a:ext cx="3108960" cy="420624"/>
          </a:xfrm>
          <a:prstGeom prst="roundRect">
            <a:avLst/>
          </a:prstGeom>
          <a:solidFill>
            <a:srgbClr val="FFFFFF"/>
          </a:solidFill>
          <a:ln w="13970">
            <a:solidFill>
              <a:srgbClr val="CBD5E1"/>
            </a:solidFill>
          </a:ln>
        </p:spPr>
        <p:txBody>
          <a:bodyPr wrap="square" lIns="1016" tIns="1016" rIns="1016" bIns="1016" rtlCol="0" anchor="ctr">
            <a:normAutofit/>
          </a:bodyPr>
          <a:lstStyle/>
          <a:p>
            <a:pPr marL="0" indent="0" algn="ctr">
              <a:buNone/>
            </a:pPr>
            <a:r>
              <a:rPr lang="en-US" sz="1200" dirty="0">
                <a:solidFill>
                  <a:srgbClr val="0B1F3A"/>
                </a:solidFill>
                <a:latin typeface="Noto Sans CJK SC" pitchFamily="34" charset="0"/>
                <a:ea typeface="Noto Sans CJK SC" pitchFamily="34" charset="-122"/>
                <a:cs typeface="Noto Sans CJK SC" pitchFamily="34" charset="-120"/>
              </a:rPr>
              <a:t>到达服务器后逐层解封装</a:t>
            </a:r>
            <a:endParaRPr lang="en-US" sz="1200" dirty="0"/>
          </a:p>
          <a:p>
            <a:pPr marL="0" indent="0" algn="ctr">
              <a:buNone/>
            </a:pPr>
            <a:r>
              <a:rPr lang="en-US" sz="1200" dirty="0">
                <a:solidFill>
                  <a:srgbClr val="0B1F3A"/>
                </a:solidFill>
                <a:latin typeface="Noto Sans CJK SC" pitchFamily="34" charset="0"/>
                <a:ea typeface="Noto Sans CJK SC" pitchFamily="34" charset="-122"/>
                <a:cs typeface="Noto Sans CJK SC" pitchFamily="34" charset="-120"/>
              </a:rPr>
              <a:t>应用层看到 HTTP 请求</a:t>
            </a:r>
            <a:endParaRPr lang="en-US" sz="1200" dirty="0"/>
          </a:p>
        </p:txBody>
      </p:sp>
      <p:sp>
        <p:nvSpPr>
          <p:cNvPr id="37" name="Text 33">
            <a:extLst>
              <a:ext uri="{FF2B5EF4-FFF2-40B4-BE49-F238E27FC236}">
                <a16:creationId xmlns:a16="http://schemas.microsoft.com/office/drawing/2014/main" id="{04FB7F64-94CE-4131-ACB6-5B7A83A2EAA1}"/>
              </a:ext>
            </a:extLst>
          </p:cNvPr>
          <p:cNvSpPr/>
          <p:nvPr/>
        </p:nvSpPr>
        <p:spPr>
          <a:xfrm>
            <a:off x="4760976" y="3692402"/>
            <a:ext cx="3017520" cy="256032"/>
          </a:xfrm>
          <a:prstGeom prst="rect">
            <a:avLst/>
          </a:prstGeom>
          <a:noFill/>
          <a:ln/>
        </p:spPr>
        <p:txBody>
          <a:bodyPr wrap="square" lIns="0" tIns="0" rIns="0" bIns="0" rtlCol="0" anchor="ctr"/>
          <a:lstStyle/>
          <a:p>
            <a:pPr marL="0" indent="0">
              <a:buNone/>
            </a:pPr>
            <a:r>
              <a:rPr lang="en-US" sz="1400" b="1" dirty="0">
                <a:solidFill>
                  <a:srgbClr val="0B1F3A"/>
                </a:solidFill>
                <a:latin typeface="Noto Sans CJK SC" pitchFamily="34" charset="0"/>
                <a:ea typeface="Noto Sans CJK SC" pitchFamily="34" charset="-122"/>
                <a:cs typeface="Noto Sans CJK SC" pitchFamily="34" charset="-120"/>
              </a:rPr>
              <a:t>TCP/IP 协议栈中的关键职责</a:t>
            </a:r>
            <a:endParaRPr lang="en-US" sz="1400" dirty="0"/>
          </a:p>
        </p:txBody>
      </p:sp>
      <p:sp>
        <p:nvSpPr>
          <p:cNvPr id="38" name="Text 34">
            <a:extLst>
              <a:ext uri="{FF2B5EF4-FFF2-40B4-BE49-F238E27FC236}">
                <a16:creationId xmlns:a16="http://schemas.microsoft.com/office/drawing/2014/main" id="{3C91DD90-083A-4BFD-97C1-D2C0F56AB3A0}"/>
              </a:ext>
            </a:extLst>
          </p:cNvPr>
          <p:cNvSpPr/>
          <p:nvPr/>
        </p:nvSpPr>
        <p:spPr>
          <a:xfrm>
            <a:off x="4806696" y="4058162"/>
            <a:ext cx="2907792" cy="402336"/>
          </a:xfrm>
          <a:prstGeom prst="rect">
            <a:avLst/>
          </a:prstGeom>
          <a:solidFill>
            <a:srgbClr val="FFFFFF"/>
          </a:solidFill>
          <a:ln w="13970">
            <a:solidFill>
              <a:srgbClr val="CBD5E1"/>
            </a:solidFill>
          </a:ln>
        </p:spPr>
        <p:txBody>
          <a:bodyPr wrap="square" lIns="1016" tIns="1016" rIns="1016" bIns="1016" rtlCol="0" anchor="ctr">
            <a:normAutofit/>
          </a:bodyPr>
          <a:lstStyle/>
          <a:p>
            <a:pPr marL="0" indent="0" algn="ctr">
              <a:buNone/>
            </a:pPr>
            <a:r>
              <a:rPr lang="en-US" sz="1400" b="1" dirty="0">
                <a:solidFill>
                  <a:srgbClr val="0B1F3A"/>
                </a:solidFill>
                <a:latin typeface="Noto Sans CJK SC" pitchFamily="34" charset="0"/>
                <a:ea typeface="Noto Sans CJK SC" pitchFamily="34" charset="-122"/>
                <a:cs typeface="Noto Sans CJK SC" pitchFamily="34" charset="-120"/>
              </a:rPr>
              <a:t>应用层：DNS / HTTP / HTTPS</a:t>
            </a:r>
            <a:endParaRPr lang="en-US" sz="1400" dirty="0"/>
          </a:p>
        </p:txBody>
      </p:sp>
      <p:sp>
        <p:nvSpPr>
          <p:cNvPr id="39" name="Text 35">
            <a:extLst>
              <a:ext uri="{FF2B5EF4-FFF2-40B4-BE49-F238E27FC236}">
                <a16:creationId xmlns:a16="http://schemas.microsoft.com/office/drawing/2014/main" id="{56701A94-7300-4072-90A3-21AAE9849FB1}"/>
              </a:ext>
            </a:extLst>
          </p:cNvPr>
          <p:cNvSpPr/>
          <p:nvPr/>
        </p:nvSpPr>
        <p:spPr>
          <a:xfrm>
            <a:off x="4806696" y="4506218"/>
            <a:ext cx="2907792" cy="402336"/>
          </a:xfrm>
          <a:prstGeom prst="rect">
            <a:avLst/>
          </a:prstGeom>
          <a:solidFill>
            <a:srgbClr val="EFF6FF"/>
          </a:solidFill>
          <a:ln w="13970">
            <a:solidFill>
              <a:srgbClr val="93C5FD"/>
            </a:solidFill>
          </a:ln>
        </p:spPr>
        <p:txBody>
          <a:bodyPr wrap="square" lIns="1016" tIns="1016" rIns="1016" bIns="1016" rtlCol="0" anchor="ctr">
            <a:normAutofit/>
          </a:bodyPr>
          <a:lstStyle/>
          <a:p>
            <a:pPr marL="0" indent="0" algn="ctr">
              <a:buNone/>
            </a:pPr>
            <a:r>
              <a:rPr lang="en-US" sz="1100" dirty="0">
                <a:solidFill>
                  <a:srgbClr val="0B1F3A"/>
                </a:solidFill>
                <a:latin typeface="Noto Sans CJK SC" pitchFamily="34" charset="0"/>
                <a:ea typeface="Noto Sans CJK SC" pitchFamily="34" charset="-122"/>
                <a:cs typeface="Noto Sans CJK SC" pitchFamily="34" charset="-120"/>
              </a:rPr>
              <a:t>传输层：TCP 可靠传输；UDP/QUIC 低时延</a:t>
            </a:r>
            <a:endParaRPr lang="en-US" sz="1100" dirty="0"/>
          </a:p>
        </p:txBody>
      </p:sp>
      <p:sp>
        <p:nvSpPr>
          <p:cNvPr id="40" name="Text 36">
            <a:extLst>
              <a:ext uri="{FF2B5EF4-FFF2-40B4-BE49-F238E27FC236}">
                <a16:creationId xmlns:a16="http://schemas.microsoft.com/office/drawing/2014/main" id="{D5A196A1-B04F-418E-B8B7-F0E1EAFD99A0}"/>
              </a:ext>
            </a:extLst>
          </p:cNvPr>
          <p:cNvSpPr/>
          <p:nvPr/>
        </p:nvSpPr>
        <p:spPr>
          <a:xfrm>
            <a:off x="4806696" y="4954274"/>
            <a:ext cx="2907792" cy="402336"/>
          </a:xfrm>
          <a:prstGeom prst="rect">
            <a:avLst/>
          </a:prstGeom>
          <a:solidFill>
            <a:srgbClr val="F0FDF4"/>
          </a:solidFill>
          <a:ln w="13970">
            <a:solidFill>
              <a:srgbClr val="86EFAC"/>
            </a:solidFill>
          </a:ln>
        </p:spPr>
        <p:txBody>
          <a:bodyPr wrap="square" lIns="1016" tIns="1016" rIns="1016" bIns="1016" rtlCol="0" anchor="ctr">
            <a:normAutofit/>
          </a:bodyPr>
          <a:lstStyle/>
          <a:p>
            <a:pPr marL="0" indent="0" algn="ctr">
              <a:buNone/>
            </a:pPr>
            <a:r>
              <a:rPr lang="en-US" sz="1100" dirty="0">
                <a:solidFill>
                  <a:srgbClr val="0B1F3A"/>
                </a:solidFill>
                <a:latin typeface="Noto Sans CJK SC" pitchFamily="34" charset="0"/>
                <a:ea typeface="Noto Sans CJK SC" pitchFamily="34" charset="-122"/>
                <a:cs typeface="Noto Sans CJK SC" pitchFamily="34" charset="-120"/>
              </a:rPr>
              <a:t>网络层：IP 地址、路由、TTL、分片</a:t>
            </a:r>
            <a:endParaRPr lang="en-US" sz="1100" dirty="0"/>
          </a:p>
        </p:txBody>
      </p:sp>
      <p:sp>
        <p:nvSpPr>
          <p:cNvPr id="41" name="Text 37">
            <a:extLst>
              <a:ext uri="{FF2B5EF4-FFF2-40B4-BE49-F238E27FC236}">
                <a16:creationId xmlns:a16="http://schemas.microsoft.com/office/drawing/2014/main" id="{A96733D4-055F-4898-88C4-62EE1CEF5EB9}"/>
              </a:ext>
            </a:extLst>
          </p:cNvPr>
          <p:cNvSpPr/>
          <p:nvPr/>
        </p:nvSpPr>
        <p:spPr>
          <a:xfrm>
            <a:off x="4806696" y="5402330"/>
            <a:ext cx="2907792" cy="402336"/>
          </a:xfrm>
          <a:prstGeom prst="rect">
            <a:avLst/>
          </a:prstGeom>
          <a:solidFill>
            <a:srgbClr val="FFFBEB"/>
          </a:solidFill>
          <a:ln w="13970">
            <a:solidFill>
              <a:srgbClr val="FBBF24"/>
            </a:solidFill>
          </a:ln>
        </p:spPr>
        <p:txBody>
          <a:bodyPr wrap="square" lIns="1016" tIns="1016" rIns="1016" bIns="1016" rtlCol="0" anchor="ctr">
            <a:normAutofit/>
          </a:bodyPr>
          <a:lstStyle/>
          <a:p>
            <a:pPr marL="0" indent="0" algn="ctr">
              <a:buNone/>
            </a:pPr>
            <a:r>
              <a:rPr lang="en-US" sz="1100" dirty="0">
                <a:solidFill>
                  <a:srgbClr val="0B1F3A"/>
                </a:solidFill>
                <a:latin typeface="Noto Sans CJK SC" pitchFamily="34" charset="0"/>
                <a:ea typeface="Noto Sans CJK SC" pitchFamily="34" charset="-122"/>
                <a:cs typeface="Noto Sans CJK SC" pitchFamily="34" charset="-120"/>
              </a:rPr>
              <a:t>链路层：MAC、以太网/Wi‑Fi 帧、ARP/ND</a:t>
            </a:r>
            <a:endParaRPr lang="en-US" sz="1100" dirty="0"/>
          </a:p>
        </p:txBody>
      </p:sp>
      <p:sp>
        <p:nvSpPr>
          <p:cNvPr id="42" name="Text 38">
            <a:extLst>
              <a:ext uri="{FF2B5EF4-FFF2-40B4-BE49-F238E27FC236}">
                <a16:creationId xmlns:a16="http://schemas.microsoft.com/office/drawing/2014/main" id="{9B57C04F-C997-4451-A729-2E2B4E912EA5}"/>
              </a:ext>
            </a:extLst>
          </p:cNvPr>
          <p:cNvSpPr/>
          <p:nvPr/>
        </p:nvSpPr>
        <p:spPr>
          <a:xfrm>
            <a:off x="8052816" y="4149602"/>
            <a:ext cx="2788920" cy="713232"/>
          </a:xfrm>
          <a:prstGeom prst="roundRect">
            <a:avLst/>
          </a:prstGeom>
          <a:solidFill>
            <a:srgbClr val="FEE2E2"/>
          </a:solidFill>
          <a:ln w="13970">
            <a:solidFill>
              <a:srgbClr val="FCA5A5"/>
            </a:solidFill>
          </a:ln>
        </p:spPr>
        <p:txBody>
          <a:bodyPr wrap="square" lIns="1016" tIns="1016" rIns="1016" bIns="1016" rtlCol="0" anchor="ctr">
            <a:noAutofit/>
          </a:bodyPr>
          <a:lstStyle/>
          <a:p>
            <a:pPr marL="0" indent="0" algn="ctr">
              <a:buNone/>
            </a:pPr>
            <a:r>
              <a:rPr lang="en-US" sz="1400" dirty="0">
                <a:solidFill>
                  <a:srgbClr val="0B1F3A"/>
                </a:solidFill>
                <a:latin typeface="Noto Sans CJK SC" pitchFamily="34" charset="0"/>
                <a:ea typeface="Noto Sans CJK SC" pitchFamily="34" charset="-122"/>
                <a:cs typeface="Noto Sans CJK SC" pitchFamily="34" charset="-120"/>
              </a:rPr>
              <a:t>NAT 重点：内网 192.168.x.x:port</a:t>
            </a:r>
            <a:endParaRPr lang="en-US" sz="1400" dirty="0"/>
          </a:p>
          <a:p>
            <a:pPr marL="0" indent="0" algn="ctr">
              <a:buNone/>
            </a:pPr>
            <a:r>
              <a:rPr lang="en-US" sz="1400" dirty="0">
                <a:solidFill>
                  <a:srgbClr val="0B1F3A"/>
                </a:solidFill>
                <a:latin typeface="Noto Sans CJK SC" pitchFamily="34" charset="0"/>
                <a:ea typeface="Noto Sans CJK SC" pitchFamily="34" charset="-122"/>
                <a:cs typeface="Noto Sans CJK SC" pitchFamily="34" charset="-120"/>
              </a:rPr>
              <a:t>⇄ 公网 </a:t>
            </a:r>
            <a:r>
              <a:rPr lang="en-US" sz="1400" dirty="0" err="1">
                <a:solidFill>
                  <a:srgbClr val="0B1F3A"/>
                </a:solidFill>
                <a:latin typeface="Noto Sans CJK SC" pitchFamily="34" charset="0"/>
                <a:ea typeface="Noto Sans CJK SC" pitchFamily="34" charset="-122"/>
                <a:cs typeface="Noto Sans CJK SC" pitchFamily="34" charset="-120"/>
              </a:rPr>
              <a:t>IP:port</a:t>
            </a:r>
            <a:r>
              <a:rPr lang="en-US" sz="1400" dirty="0">
                <a:solidFill>
                  <a:srgbClr val="0B1F3A"/>
                </a:solidFill>
                <a:latin typeface="Noto Sans CJK SC" pitchFamily="34" charset="0"/>
                <a:ea typeface="Noto Sans CJK SC" pitchFamily="34" charset="-122"/>
                <a:cs typeface="Noto Sans CJK SC" pitchFamily="34" charset="-120"/>
              </a:rPr>
              <a:t>；</a:t>
            </a:r>
          </a:p>
          <a:p>
            <a:pPr marL="0" indent="0" algn="ctr">
              <a:buNone/>
            </a:pPr>
            <a:r>
              <a:rPr lang="en-US" sz="1400" dirty="0" err="1">
                <a:solidFill>
                  <a:srgbClr val="0B1F3A"/>
                </a:solidFill>
                <a:latin typeface="Noto Sans CJK SC" pitchFamily="34" charset="0"/>
                <a:ea typeface="Noto Sans CJK SC" pitchFamily="34" charset="-122"/>
                <a:cs typeface="Noto Sans CJK SC" pitchFamily="34" charset="-120"/>
              </a:rPr>
              <a:t>靠端口映射找回会话</a:t>
            </a:r>
            <a:endParaRPr lang="en-US" sz="1400" dirty="0"/>
          </a:p>
        </p:txBody>
      </p:sp>
      <p:sp>
        <p:nvSpPr>
          <p:cNvPr id="43" name="Text 39">
            <a:extLst>
              <a:ext uri="{FF2B5EF4-FFF2-40B4-BE49-F238E27FC236}">
                <a16:creationId xmlns:a16="http://schemas.microsoft.com/office/drawing/2014/main" id="{DCC1F131-9A0C-40EF-B71C-6C800B001C93}"/>
              </a:ext>
            </a:extLst>
          </p:cNvPr>
          <p:cNvSpPr/>
          <p:nvPr/>
        </p:nvSpPr>
        <p:spPr>
          <a:xfrm>
            <a:off x="8052816" y="5036570"/>
            <a:ext cx="2788920" cy="713232"/>
          </a:xfrm>
          <a:prstGeom prst="roundRect">
            <a:avLst/>
          </a:prstGeom>
          <a:solidFill>
            <a:srgbClr val="E0F2FE"/>
          </a:solidFill>
          <a:ln w="13970">
            <a:solidFill>
              <a:srgbClr val="7DD3FC"/>
            </a:solidFill>
          </a:ln>
        </p:spPr>
        <p:txBody>
          <a:bodyPr wrap="square" lIns="1016" tIns="1016" rIns="1016" bIns="1016" rtlCol="0" anchor="ctr">
            <a:normAutofit fontScale="92500"/>
          </a:bodyPr>
          <a:lstStyle/>
          <a:p>
            <a:pPr marL="0" indent="0" algn="ctr">
              <a:buNone/>
            </a:pPr>
            <a:r>
              <a:rPr lang="en-US" sz="1400" dirty="0">
                <a:solidFill>
                  <a:srgbClr val="0B1F3A"/>
                </a:solidFill>
                <a:latin typeface="Noto Sans CJK SC" pitchFamily="34" charset="0"/>
                <a:ea typeface="Noto Sans CJK SC" pitchFamily="34" charset="-122"/>
                <a:cs typeface="Noto Sans CJK SC" pitchFamily="34" charset="-120"/>
              </a:rPr>
              <a:t>HTTPS 重点：HTTP 内容被 TLS 加密；</a:t>
            </a:r>
            <a:endParaRPr lang="en-US" sz="1400" dirty="0"/>
          </a:p>
          <a:p>
            <a:pPr marL="0" indent="0" algn="ctr">
              <a:buNone/>
            </a:pPr>
            <a:r>
              <a:rPr lang="en-US" sz="1400" dirty="0">
                <a:solidFill>
                  <a:srgbClr val="0B1F3A"/>
                </a:solidFill>
                <a:latin typeface="Noto Sans CJK SC" pitchFamily="34" charset="0"/>
                <a:ea typeface="Noto Sans CJK SC" pitchFamily="34" charset="-122"/>
                <a:cs typeface="Noto Sans CJK SC" pitchFamily="34" charset="-120"/>
              </a:rPr>
              <a:t>中间路由器通常只看 IP/端口，不看网页正文</a:t>
            </a:r>
            <a:endParaRPr lang="en-US" sz="1400" dirty="0"/>
          </a:p>
        </p:txBody>
      </p:sp>
    </p:spTree>
    <p:extLst>
      <p:ext uri="{BB962C8B-B14F-4D97-AF65-F5344CB8AC3E}">
        <p14:creationId xmlns:p14="http://schemas.microsoft.com/office/powerpoint/2010/main" val="18451387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4099" name="Subtitle 2"/>
          <p:cNvSpPr>
            <a:spLocks noGrp="1"/>
          </p:cNvSpPr>
          <p:nvPr>
            <p:ph idx="1"/>
          </p:nvPr>
        </p:nvSpPr>
        <p:spPr>
          <a:xfrm>
            <a:off x="1594525" y="1224144"/>
            <a:ext cx="7170095" cy="4145524"/>
          </a:xfrm>
        </p:spPr>
        <p:txBody>
          <a:bodyPr>
            <a:normAutofit fontScale="92500" lnSpcReduction="20000"/>
          </a:bodyPr>
          <a:lstStyle/>
          <a:p>
            <a:pPr lvl="1">
              <a:lnSpc>
                <a:spcPct val="150000"/>
              </a:lnSpc>
              <a:defRPr/>
            </a:pPr>
            <a:r>
              <a:rPr lang="en-US" sz="2800" dirty="0"/>
              <a:t>Uses of Computer Networks</a:t>
            </a:r>
          </a:p>
          <a:p>
            <a:pPr lvl="1">
              <a:lnSpc>
                <a:spcPct val="150000"/>
              </a:lnSpc>
              <a:defRPr/>
            </a:pPr>
            <a:r>
              <a:rPr lang="en-US" sz="2800" b="1" dirty="0"/>
              <a:t>Network Hardware</a:t>
            </a:r>
          </a:p>
          <a:p>
            <a:pPr lvl="1">
              <a:lnSpc>
                <a:spcPct val="150000"/>
              </a:lnSpc>
              <a:defRPr/>
            </a:pPr>
            <a:r>
              <a:rPr lang="en-US" sz="2800" dirty="0"/>
              <a:t>Network Software</a:t>
            </a:r>
          </a:p>
          <a:p>
            <a:pPr lvl="1">
              <a:lnSpc>
                <a:spcPct val="150000"/>
              </a:lnSpc>
              <a:defRPr/>
            </a:pPr>
            <a:r>
              <a:rPr lang="en-US" sz="2800" dirty="0"/>
              <a:t>Reference Models</a:t>
            </a:r>
          </a:p>
          <a:p>
            <a:pPr lvl="1">
              <a:lnSpc>
                <a:spcPct val="150000"/>
              </a:lnSpc>
              <a:defRPr/>
            </a:pPr>
            <a:r>
              <a:rPr lang="en-US" sz="2800" dirty="0"/>
              <a:t>Example Networks</a:t>
            </a:r>
          </a:p>
          <a:p>
            <a:pPr lvl="1">
              <a:lnSpc>
                <a:spcPct val="150000"/>
              </a:lnSpc>
              <a:defRPr/>
            </a:pPr>
            <a:r>
              <a:rPr lang="en-US" sz="2800" dirty="0"/>
              <a:t>Network Standardization</a:t>
            </a:r>
          </a:p>
          <a:p>
            <a:pPr lvl="1">
              <a:lnSpc>
                <a:spcPct val="150000"/>
              </a:lnSpc>
              <a:defRPr/>
            </a:pPr>
            <a:r>
              <a:rPr lang="en-US" sz="2800" dirty="0"/>
              <a:t>Metric Units</a:t>
            </a:r>
          </a:p>
        </p:txBody>
      </p:sp>
      <p:sp>
        <p:nvSpPr>
          <p:cNvPr id="2" name="矩形 1">
            <a:extLst>
              <a:ext uri="{FF2B5EF4-FFF2-40B4-BE49-F238E27FC236}">
                <a16:creationId xmlns:a16="http://schemas.microsoft.com/office/drawing/2014/main" id="{7410C969-53CB-4556-84C5-40C49330329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Chapter1</a:t>
            </a:r>
            <a:r>
              <a:rPr lang="zh-CN" altLang="en-US" sz="2800" b="1" kern="0" dirty="0">
                <a:solidFill>
                  <a:srgbClr val="C00000"/>
                </a:solidFill>
                <a:latin typeface="微软雅黑" panose="020B0503020204020204" pitchFamily="34" charset="-122"/>
                <a:ea typeface="微软雅黑" panose="020B0503020204020204" pitchFamily="34" charset="-122"/>
              </a:rPr>
              <a:t>：</a:t>
            </a:r>
            <a:r>
              <a:rPr lang="en-US" altLang="zh-CN" sz="2800" b="1" kern="0" dirty="0">
                <a:solidFill>
                  <a:srgbClr val="C00000"/>
                </a:solidFill>
                <a:latin typeface="微软雅黑" panose="020B0503020204020204" pitchFamily="34" charset="-122"/>
                <a:ea typeface="微软雅黑" panose="020B0503020204020204" pitchFamily="34" charset="-122"/>
              </a:rPr>
              <a:t>Introduction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142154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2"/>
          <p:cNvSpPr>
            <a:spLocks noGrp="1"/>
          </p:cNvSpPr>
          <p:nvPr>
            <p:ph idx="1"/>
          </p:nvPr>
        </p:nvSpPr>
        <p:spPr>
          <a:xfrm>
            <a:off x="4006398" y="2303331"/>
            <a:ext cx="4179205" cy="2159405"/>
          </a:xfrm>
        </p:spPr>
        <p:txBody>
          <a:bodyPr>
            <a:normAutofit/>
          </a:bodyPr>
          <a:lstStyle/>
          <a:p>
            <a:pPr marL="342900" indent="-342900">
              <a:lnSpc>
                <a:spcPct val="100000"/>
              </a:lnSpc>
              <a:buFont typeface="Arial" pitchFamily="34" charset="0"/>
              <a:buChar char="•"/>
            </a:pPr>
            <a:r>
              <a:rPr lang="en-US" altLang="zh-CN" sz="3200" dirty="0">
                <a:ea typeface="宋体" panose="02010600030101010101" pitchFamily="2" charset="-122"/>
              </a:rPr>
              <a:t>Types of connection</a:t>
            </a:r>
          </a:p>
          <a:p>
            <a:pPr marL="342900" indent="-342900">
              <a:lnSpc>
                <a:spcPct val="100000"/>
              </a:lnSpc>
              <a:buFont typeface="Arial" pitchFamily="34" charset="0"/>
              <a:buChar char="•"/>
            </a:pPr>
            <a:r>
              <a:rPr lang="en-US" altLang="zh-CN" sz="3200" dirty="0">
                <a:ea typeface="宋体" panose="02010600030101010101" pitchFamily="2" charset="-122"/>
              </a:rPr>
              <a:t>Network Topologies</a:t>
            </a:r>
          </a:p>
          <a:p>
            <a:pPr marL="342900" indent="-342900">
              <a:lnSpc>
                <a:spcPct val="100000"/>
              </a:lnSpc>
              <a:buFont typeface="Arial" pitchFamily="34" charset="0"/>
              <a:buChar char="•"/>
            </a:pPr>
            <a:r>
              <a:rPr lang="en-US" altLang="zh-CN" sz="3200" dirty="0">
                <a:ea typeface="宋体" panose="02010600030101010101" pitchFamily="2" charset="-122"/>
              </a:rPr>
              <a:t>Types of network</a:t>
            </a:r>
            <a:endParaRPr lang="zh-CN" altLang="en-US" sz="3200" dirty="0">
              <a:ea typeface="宋体" panose="02010600030101010101" pitchFamily="2" charset="-122"/>
            </a:endParaRPr>
          </a:p>
        </p:txBody>
      </p:sp>
      <p:sp>
        <p:nvSpPr>
          <p:cNvPr id="2048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3" name="矩形 2">
            <a:extLst>
              <a:ext uri="{FF2B5EF4-FFF2-40B4-BE49-F238E27FC236}">
                <a16:creationId xmlns:a16="http://schemas.microsoft.com/office/drawing/2014/main" id="{9F02F492-7FFB-4482-870B-D760F477B53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Network Hardware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2905125" y="1990725"/>
            <a:ext cx="7315200" cy="4019550"/>
          </a:xfrm>
        </p:spPr>
        <p:txBody>
          <a:bodyPr/>
          <a:lstStyle/>
          <a:p>
            <a:endParaRPr lang="zh-CN" altLang="en-US" dirty="0">
              <a:ea typeface="宋体" panose="02010600030101010101" pitchFamily="2" charset="-122"/>
            </a:endParaRPr>
          </a:p>
        </p:txBody>
      </p:sp>
      <p:sp>
        <p:nvSpPr>
          <p:cNvPr id="2150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1025" y="1557338"/>
            <a:ext cx="8204200" cy="106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0400" y="3690939"/>
            <a:ext cx="8045450" cy="210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2E5DAC9E-DA00-4A01-98E7-C1EBE3106F3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Types of connection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zh-CN">
                <a:ea typeface="宋体" panose="02010600030101010101" pitchFamily="2" charset="-122"/>
              </a:rPr>
              <a:t>Computer Networks, Chapter 1 Introduction</a:t>
            </a:r>
            <a:endParaRPr lang="en-US" altLang="zh-CN" i="0">
              <a:ea typeface="宋体" panose="02010600030101010101" pitchFamily="2" charset="-122"/>
            </a:endParaRPr>
          </a:p>
        </p:txBody>
      </p:sp>
      <p:pic>
        <p:nvPicPr>
          <p:cNvPr id="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3744" y="2071992"/>
            <a:ext cx="6389688" cy="217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a:extLst>
              <a:ext uri="{FF2B5EF4-FFF2-40B4-BE49-F238E27FC236}">
                <a16:creationId xmlns:a16="http://schemas.microsoft.com/office/drawing/2014/main" id="{98812196-00E0-454D-AF1D-9034D3FDD819}"/>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Network Topologies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673643"/>
            <a:ext cx="4670481" cy="380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2400" y="1902241"/>
            <a:ext cx="10922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5414" y="1886366"/>
            <a:ext cx="1601787"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页脚占位符 1"/>
          <p:cNvSpPr>
            <a:spLocks noGrp="1"/>
          </p:cNvSpPr>
          <p:nvPr>
            <p:ph type="ftr" sz="quarter" idx="11"/>
          </p:nvPr>
        </p:nvSpPr>
        <p:spPr/>
        <p:txBody>
          <a:bodyPr/>
          <a:lstStyle/>
          <a:p>
            <a:r>
              <a:rPr lang="en-US" altLang="zh-CN"/>
              <a:t>Computer Networks, Chapter 1 Introduction</a:t>
            </a:r>
            <a:endParaRPr lang="en-US" altLang="zh-CN" dirty="0"/>
          </a:p>
        </p:txBody>
      </p:sp>
      <p:sp>
        <p:nvSpPr>
          <p:cNvPr id="3" name="矩形 2">
            <a:extLst>
              <a:ext uri="{FF2B5EF4-FFF2-40B4-BE49-F238E27FC236}">
                <a16:creationId xmlns:a16="http://schemas.microsoft.com/office/drawing/2014/main" id="{0E56120E-1241-4C90-8D36-4DD628222A4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 fully-connected mesh topology</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7A7145BE-68F6-415F-973A-1F2FE0A163D8}"/>
              </a:ext>
            </a:extLst>
          </p:cNvPr>
          <p:cNvSpPr txBox="1"/>
          <p:nvPr/>
        </p:nvSpPr>
        <p:spPr>
          <a:xfrm>
            <a:off x="7743420" y="3417918"/>
            <a:ext cx="4274891" cy="1815882"/>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优点：</a:t>
            </a:r>
            <a:endParaRPr lang="en-US" altLang="zh-CN" sz="1600"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最短路径多，路由效率高；</a:t>
            </a:r>
            <a:endParaRPr lang="en-US" altLang="zh-CN" sz="1600" dirty="0">
              <a:latin typeface="微软雅黑" panose="020B0503020204020204" pitchFamily="34" charset="-122"/>
              <a:ea typeface="微软雅黑" panose="020B0503020204020204" pitchFamily="34" charset="-122"/>
            </a:endParaRPr>
          </a:p>
          <a:p>
            <a:r>
              <a:rPr lang="zh-CN" altLang="en-US" sz="1600" b="1" dirty="0">
                <a:latin typeface="微软雅黑" panose="020B0503020204020204" pitchFamily="34" charset="-122"/>
                <a:ea typeface="微软雅黑" panose="020B0503020204020204" pitchFamily="34" charset="-122"/>
              </a:rPr>
              <a:t>缺点：</a:t>
            </a:r>
            <a:endParaRPr lang="en-US" altLang="zh-CN" sz="1600"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连线复杂，容易出错；</a:t>
            </a:r>
            <a:endParaRPr lang="en-US" altLang="zh-CN" sz="16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链路故障定位困难；</a:t>
            </a:r>
            <a:endParaRPr lang="en-US" altLang="zh-CN" sz="16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网卡端口数受限，影响组网规模；</a:t>
            </a:r>
            <a:endParaRPr lang="en-US" altLang="zh-CN" sz="16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大量环路，易产生广播风暴，破坏代价高；</a:t>
            </a:r>
            <a:endParaRPr lang="en-US" altLang="zh-CN" sz="16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777" y="1747837"/>
            <a:ext cx="7754937"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页脚占位符 1"/>
          <p:cNvSpPr>
            <a:spLocks noGrp="1"/>
          </p:cNvSpPr>
          <p:nvPr>
            <p:ph type="ftr" sz="quarter" idx="11"/>
          </p:nvPr>
        </p:nvSpPr>
        <p:spPr/>
        <p:txBody>
          <a:bodyPr/>
          <a:lstStyle/>
          <a:p>
            <a:r>
              <a:rPr lang="en-US" altLang="zh-CN"/>
              <a:t>Computer Networks, Chapter 1 Introduction</a:t>
            </a:r>
            <a:endParaRPr lang="en-US" altLang="zh-CN" dirty="0"/>
          </a:p>
        </p:txBody>
      </p:sp>
      <p:sp>
        <p:nvSpPr>
          <p:cNvPr id="5" name="矩形 4">
            <a:extLst>
              <a:ext uri="{FF2B5EF4-FFF2-40B4-BE49-F238E27FC236}">
                <a16:creationId xmlns:a16="http://schemas.microsoft.com/office/drawing/2014/main" id="{4E1F5CCD-7827-44BA-8467-1B91B004760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 star topology</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E4B1CEC5-0DA8-46E8-AE47-DCB62B60C1CA}"/>
              </a:ext>
            </a:extLst>
          </p:cNvPr>
          <p:cNvSpPr txBox="1"/>
          <p:nvPr/>
        </p:nvSpPr>
        <p:spPr>
          <a:xfrm>
            <a:off x="7918911" y="2105560"/>
            <a:ext cx="3589598" cy="1323439"/>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优点：</a:t>
            </a:r>
            <a:endParaRPr lang="en-US" altLang="zh-CN" sz="1600"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组网简单；</a:t>
            </a:r>
            <a:endParaRPr lang="en-US" altLang="zh-CN" sz="16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数据交互简单。</a:t>
            </a:r>
            <a:endParaRPr lang="en-US" altLang="zh-CN" sz="1600" dirty="0">
              <a:latin typeface="微软雅黑" panose="020B0503020204020204" pitchFamily="34" charset="-122"/>
              <a:ea typeface="微软雅黑" panose="020B0503020204020204" pitchFamily="34" charset="-122"/>
            </a:endParaRPr>
          </a:p>
          <a:p>
            <a:r>
              <a:rPr lang="zh-CN" altLang="en-US" sz="1600" b="1" dirty="0">
                <a:latin typeface="微软雅黑" panose="020B0503020204020204" pitchFamily="34" charset="-122"/>
                <a:ea typeface="微软雅黑" panose="020B0503020204020204" pitchFamily="34" charset="-122"/>
              </a:rPr>
              <a:t>缺点：</a:t>
            </a:r>
            <a:endParaRPr lang="en-US" altLang="zh-CN" sz="1600"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Hub</a:t>
            </a:r>
            <a:r>
              <a:rPr lang="zh-CN" altLang="en-US" sz="1600" dirty="0">
                <a:latin typeface="微软雅黑" panose="020B0503020204020204" pitchFamily="34" charset="-122"/>
                <a:ea typeface="微软雅黑" panose="020B0503020204020204" pitchFamily="34" charset="-122"/>
              </a:rPr>
              <a:t>端口数受限，组网规模小。</a:t>
            </a:r>
            <a:endParaRPr lang="en-US" altLang="zh-CN" sz="16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7752" y="1283985"/>
            <a:ext cx="9105185" cy="1470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页脚占位符 1"/>
          <p:cNvSpPr>
            <a:spLocks noGrp="1"/>
          </p:cNvSpPr>
          <p:nvPr>
            <p:ph type="ftr" sz="quarter" idx="11"/>
          </p:nvPr>
        </p:nvSpPr>
        <p:spPr/>
        <p:txBody>
          <a:bodyPr/>
          <a:lstStyle/>
          <a:p>
            <a:r>
              <a:rPr lang="en-US" altLang="zh-CN"/>
              <a:t>Computer Networks, Chapter 1 Introduction</a:t>
            </a:r>
            <a:endParaRPr lang="en-US" altLang="zh-CN" dirty="0"/>
          </a:p>
        </p:txBody>
      </p:sp>
      <p:sp>
        <p:nvSpPr>
          <p:cNvPr id="3" name="矩形 2">
            <a:extLst>
              <a:ext uri="{FF2B5EF4-FFF2-40B4-BE49-F238E27FC236}">
                <a16:creationId xmlns:a16="http://schemas.microsoft.com/office/drawing/2014/main" id="{B51C9964-CDEB-46F3-98B6-64F122767C9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 bus topology</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485D5737-B7AD-42C5-AFB2-417E579BBD76}"/>
              </a:ext>
            </a:extLst>
          </p:cNvPr>
          <p:cNvSpPr txBox="1"/>
          <p:nvPr/>
        </p:nvSpPr>
        <p:spPr>
          <a:xfrm>
            <a:off x="1257752" y="3108891"/>
            <a:ext cx="7266341" cy="2585323"/>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优点：</a:t>
            </a:r>
            <a:endParaRPr lang="en-US" altLang="zh-CN"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网络结构简单，易于网络扩展；</a:t>
            </a: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设备少、造价低，安装和使用方便；</a:t>
            </a: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具有较高的可靠性。因为单个节点的故障不会涉及整个网络。</a:t>
            </a:r>
          </a:p>
          <a:p>
            <a:r>
              <a:rPr lang="zh-CN" altLang="en-US" b="1" dirty="0">
                <a:latin typeface="微软雅黑" panose="020B0503020204020204" pitchFamily="34" charset="-122"/>
                <a:ea typeface="微软雅黑" panose="020B0503020204020204" pitchFamily="34" charset="-122"/>
              </a:rPr>
              <a:t>缺点：</a:t>
            </a:r>
            <a:endParaRPr lang="en-US" altLang="zh-CN"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总线传输距离有限，通信范围受到限制；</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故障诊断和隔离比较困难。当节点发生故障，隔离起来还比较方便，一旦传输介质出现故障时，就需要将整个总线切断；</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易于发生数据碰撞，线路争用现象比较严重</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538" y="1038472"/>
            <a:ext cx="8640756" cy="2969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页脚占位符 1"/>
          <p:cNvSpPr>
            <a:spLocks noGrp="1"/>
          </p:cNvSpPr>
          <p:nvPr>
            <p:ph type="ftr" sz="quarter" idx="11"/>
          </p:nvPr>
        </p:nvSpPr>
        <p:spPr/>
        <p:txBody>
          <a:bodyPr/>
          <a:lstStyle/>
          <a:p>
            <a:r>
              <a:rPr lang="en-US" altLang="zh-CN"/>
              <a:t>Computer Networks, Chapter 1 Introduction</a:t>
            </a:r>
            <a:endParaRPr lang="en-US" altLang="zh-CN" dirty="0"/>
          </a:p>
        </p:txBody>
      </p:sp>
      <p:sp>
        <p:nvSpPr>
          <p:cNvPr id="3" name="矩形 2">
            <a:extLst>
              <a:ext uri="{FF2B5EF4-FFF2-40B4-BE49-F238E27FC236}">
                <a16:creationId xmlns:a16="http://schemas.microsoft.com/office/drawing/2014/main" id="{E2DE3FBA-60BA-4034-B703-ACF64DEC135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 ring topology</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63C41EE7-A0BD-4CCD-B1AF-CC7EDC5D000F}"/>
              </a:ext>
            </a:extLst>
          </p:cNvPr>
          <p:cNvSpPr txBox="1"/>
          <p:nvPr/>
        </p:nvSpPr>
        <p:spPr>
          <a:xfrm>
            <a:off x="1500648" y="4108197"/>
            <a:ext cx="9751714" cy="2308324"/>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优点：</a:t>
            </a:r>
            <a:endParaRPr lang="en-US" altLang="zh-CN"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电缆长度短，只需要将各节点逐次相连；</a:t>
            </a: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可使用光纤。光纤的传输速率很高，十分适合于环形拓扑的单方面传输；</a:t>
            </a: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所有站点都能公平访问网络的其他部分，网络性能稳定。</a:t>
            </a:r>
          </a:p>
          <a:p>
            <a:r>
              <a:rPr lang="zh-CN" altLang="en-US" b="1" dirty="0">
                <a:latin typeface="微软雅黑" panose="020B0503020204020204" pitchFamily="34" charset="-122"/>
                <a:ea typeface="微软雅黑" panose="020B0503020204020204" pitchFamily="34" charset="-122"/>
              </a:rPr>
              <a:t>缺点：</a:t>
            </a:r>
            <a:endParaRPr lang="en-US" altLang="zh-CN"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Repeater</a:t>
            </a:r>
            <a:r>
              <a:rPr lang="zh-CN" altLang="en-US" dirty="0">
                <a:latin typeface="微软雅黑" panose="020B0503020204020204" pitchFamily="34" charset="-122"/>
                <a:ea typeface="微软雅黑" panose="020B0503020204020204" pitchFamily="34" charset="-122"/>
              </a:rPr>
              <a:t>节点故障会引起全网故障，是因为数据传输需要通过环上的每一个节点，如某一节点故障，则引起全网故障；</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节点的加入和撤出过程复杂；</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1"/>
          </p:nvPr>
        </p:nvSpPr>
        <p:spPr/>
        <p:txBody>
          <a:bodyPr/>
          <a:lstStyle/>
          <a:p>
            <a:r>
              <a:rPr lang="en-US" altLang="zh-CN"/>
              <a:t>Computer Networks, Chapter 1 Introduction</a:t>
            </a:r>
            <a:endParaRPr lang="en-US" altLang="zh-CN" dirty="0"/>
          </a:p>
        </p:txBody>
      </p:sp>
      <p:sp>
        <p:nvSpPr>
          <p:cNvPr id="3" name="矩形 2">
            <a:extLst>
              <a:ext uri="{FF2B5EF4-FFF2-40B4-BE49-F238E27FC236}">
                <a16:creationId xmlns:a16="http://schemas.microsoft.com/office/drawing/2014/main" id="{E2DE3FBA-60BA-4034-B703-ACF64DEC135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zh-CN" altLang="en-US" sz="2800" b="1" kern="0" dirty="0">
                <a:solidFill>
                  <a:srgbClr val="C00000"/>
                </a:solidFill>
                <a:latin typeface="微软雅黑" panose="020B0503020204020204" pitchFamily="34" charset="-122"/>
                <a:ea typeface="微软雅黑" panose="020B0503020204020204" pitchFamily="34" charset="-122"/>
              </a:rPr>
              <a:t>传统数据中心网络拓扑结构</a:t>
            </a:r>
          </a:p>
        </p:txBody>
      </p:sp>
      <p:sp>
        <p:nvSpPr>
          <p:cNvPr id="176" name="矩形 175">
            <a:extLst>
              <a:ext uri="{FF2B5EF4-FFF2-40B4-BE49-F238E27FC236}">
                <a16:creationId xmlns:a16="http://schemas.microsoft.com/office/drawing/2014/main" id="{36130EEB-2C69-4FA3-8957-443D12754C32}"/>
              </a:ext>
            </a:extLst>
          </p:cNvPr>
          <p:cNvSpPr/>
          <p:nvPr/>
        </p:nvSpPr>
        <p:spPr bwMode="auto">
          <a:xfrm>
            <a:off x="980925" y="2193276"/>
            <a:ext cx="1445050" cy="1884268"/>
          </a:xfrm>
          <a:prstGeom prst="rect">
            <a:avLst/>
          </a:prstGeom>
          <a:solidFill>
            <a:srgbClr val="E0E0E0">
              <a:alpha val="60000"/>
            </a:srgbClr>
          </a:solidFill>
          <a:ln w="9525" cap="flat" cmpd="sng" algn="ctr">
            <a:solidFill>
              <a:srgbClr val="000000"/>
            </a:solidFill>
            <a:prstDash val="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charset="0"/>
                <a:ea typeface="宋体" charset="-122"/>
              </a:rPr>
              <a:t>POD1</a:t>
            </a:r>
            <a:endParaRPr kumimoji="0" lang="zh-CN" altLang="en-US" sz="12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77" name="矩形 176">
            <a:extLst>
              <a:ext uri="{FF2B5EF4-FFF2-40B4-BE49-F238E27FC236}">
                <a16:creationId xmlns:a16="http://schemas.microsoft.com/office/drawing/2014/main" id="{B22B2809-DD4F-4614-8C40-B49A975A6625}"/>
              </a:ext>
            </a:extLst>
          </p:cNvPr>
          <p:cNvSpPr/>
          <p:nvPr/>
        </p:nvSpPr>
        <p:spPr bwMode="auto">
          <a:xfrm>
            <a:off x="1858198" y="1483897"/>
            <a:ext cx="482254"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178" name="矩形 177">
            <a:extLst>
              <a:ext uri="{FF2B5EF4-FFF2-40B4-BE49-F238E27FC236}">
                <a16:creationId xmlns:a16="http://schemas.microsoft.com/office/drawing/2014/main" id="{7995DCDA-3D8F-49EF-9F6C-9E367A7EABFF}"/>
              </a:ext>
            </a:extLst>
          </p:cNvPr>
          <p:cNvSpPr/>
          <p:nvPr/>
        </p:nvSpPr>
        <p:spPr bwMode="auto">
          <a:xfrm>
            <a:off x="2545665" y="1483897"/>
            <a:ext cx="482254"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179" name="矩形 178">
            <a:extLst>
              <a:ext uri="{FF2B5EF4-FFF2-40B4-BE49-F238E27FC236}">
                <a16:creationId xmlns:a16="http://schemas.microsoft.com/office/drawing/2014/main" id="{2EBB7DA1-FB2F-4230-A1AF-24F2966C26CE}"/>
              </a:ext>
            </a:extLst>
          </p:cNvPr>
          <p:cNvSpPr/>
          <p:nvPr/>
        </p:nvSpPr>
        <p:spPr bwMode="auto">
          <a:xfrm>
            <a:off x="1177572" y="2348480"/>
            <a:ext cx="379647"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180" name="矩形 179">
            <a:extLst>
              <a:ext uri="{FF2B5EF4-FFF2-40B4-BE49-F238E27FC236}">
                <a16:creationId xmlns:a16="http://schemas.microsoft.com/office/drawing/2014/main" id="{BDD49B5D-3307-4501-BDDE-17547C5DBBE5}"/>
              </a:ext>
            </a:extLst>
          </p:cNvPr>
          <p:cNvSpPr/>
          <p:nvPr/>
        </p:nvSpPr>
        <p:spPr bwMode="auto">
          <a:xfrm>
            <a:off x="1793214" y="2348480"/>
            <a:ext cx="379647"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cxnSp>
        <p:nvCxnSpPr>
          <p:cNvPr id="181" name="直接连接符 180">
            <a:extLst>
              <a:ext uri="{FF2B5EF4-FFF2-40B4-BE49-F238E27FC236}">
                <a16:creationId xmlns:a16="http://schemas.microsoft.com/office/drawing/2014/main" id="{230F5367-DEC7-4C5F-9803-104B42477781}"/>
              </a:ext>
            </a:extLst>
          </p:cNvPr>
          <p:cNvCxnSpPr>
            <a:stCxn id="179" idx="3"/>
            <a:endCxn id="180" idx="1"/>
          </p:cNvCxnSpPr>
          <p:nvPr/>
        </p:nvCxnSpPr>
        <p:spPr bwMode="auto">
          <a:xfrm>
            <a:off x="1557223" y="2497835"/>
            <a:ext cx="235996" cy="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2" name="矩形 181">
            <a:extLst>
              <a:ext uri="{FF2B5EF4-FFF2-40B4-BE49-F238E27FC236}">
                <a16:creationId xmlns:a16="http://schemas.microsoft.com/office/drawing/2014/main" id="{E5F768BB-A6E6-4426-9A84-949BD769A028}"/>
              </a:ext>
            </a:extLst>
          </p:cNvPr>
          <p:cNvSpPr/>
          <p:nvPr/>
        </p:nvSpPr>
        <p:spPr bwMode="auto">
          <a:xfrm>
            <a:off x="1109172"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183" name="矩形 182">
            <a:extLst>
              <a:ext uri="{FF2B5EF4-FFF2-40B4-BE49-F238E27FC236}">
                <a16:creationId xmlns:a16="http://schemas.microsoft.com/office/drawing/2014/main" id="{5179FBF6-EFE6-48D3-88C7-F5115E6936A0}"/>
              </a:ext>
            </a:extLst>
          </p:cNvPr>
          <p:cNvSpPr/>
          <p:nvPr/>
        </p:nvSpPr>
        <p:spPr bwMode="auto">
          <a:xfrm>
            <a:off x="1451195"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184" name="矩形 183">
            <a:extLst>
              <a:ext uri="{FF2B5EF4-FFF2-40B4-BE49-F238E27FC236}">
                <a16:creationId xmlns:a16="http://schemas.microsoft.com/office/drawing/2014/main" id="{4858BC2A-FE6D-40CA-A917-FBAD07A5679E}"/>
              </a:ext>
            </a:extLst>
          </p:cNvPr>
          <p:cNvSpPr/>
          <p:nvPr/>
        </p:nvSpPr>
        <p:spPr bwMode="auto">
          <a:xfrm>
            <a:off x="1793218"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185" name="矩形 184">
            <a:extLst>
              <a:ext uri="{FF2B5EF4-FFF2-40B4-BE49-F238E27FC236}">
                <a16:creationId xmlns:a16="http://schemas.microsoft.com/office/drawing/2014/main" id="{BE2ADDFD-DC16-47D6-AB88-CC4C84758595}"/>
              </a:ext>
            </a:extLst>
          </p:cNvPr>
          <p:cNvSpPr/>
          <p:nvPr/>
        </p:nvSpPr>
        <p:spPr bwMode="auto">
          <a:xfrm>
            <a:off x="2135241"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cxnSp>
        <p:nvCxnSpPr>
          <p:cNvPr id="186" name="直接连接符 185">
            <a:extLst>
              <a:ext uri="{FF2B5EF4-FFF2-40B4-BE49-F238E27FC236}">
                <a16:creationId xmlns:a16="http://schemas.microsoft.com/office/drawing/2014/main" id="{DCAB7CFF-1195-448A-B78B-C1C957BAB9D8}"/>
              </a:ext>
            </a:extLst>
          </p:cNvPr>
          <p:cNvCxnSpPr>
            <a:stCxn id="179" idx="2"/>
            <a:endCxn id="182" idx="0"/>
          </p:cNvCxnSpPr>
          <p:nvPr/>
        </p:nvCxnSpPr>
        <p:spPr bwMode="auto">
          <a:xfrm flipH="1">
            <a:off x="1216907" y="2647194"/>
            <a:ext cx="150489"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7" name="直接连接符 186">
            <a:extLst>
              <a:ext uri="{FF2B5EF4-FFF2-40B4-BE49-F238E27FC236}">
                <a16:creationId xmlns:a16="http://schemas.microsoft.com/office/drawing/2014/main" id="{C7D960F7-A344-4FA1-B201-195D1E1A39C4}"/>
              </a:ext>
            </a:extLst>
          </p:cNvPr>
          <p:cNvCxnSpPr>
            <a:stCxn id="182" idx="0"/>
            <a:endCxn id="180" idx="2"/>
          </p:cNvCxnSpPr>
          <p:nvPr/>
        </p:nvCxnSpPr>
        <p:spPr bwMode="auto">
          <a:xfrm flipV="1">
            <a:off x="1216909" y="2647194"/>
            <a:ext cx="766131" cy="677839"/>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8" name="直接连接符 187">
            <a:extLst>
              <a:ext uri="{FF2B5EF4-FFF2-40B4-BE49-F238E27FC236}">
                <a16:creationId xmlns:a16="http://schemas.microsoft.com/office/drawing/2014/main" id="{D3DCE61D-140B-4304-80A4-0EECCC263C12}"/>
              </a:ext>
            </a:extLst>
          </p:cNvPr>
          <p:cNvCxnSpPr>
            <a:stCxn id="179" idx="2"/>
            <a:endCxn id="183" idx="0"/>
          </p:cNvCxnSpPr>
          <p:nvPr/>
        </p:nvCxnSpPr>
        <p:spPr bwMode="auto">
          <a:xfrm>
            <a:off x="1367394" y="2647194"/>
            <a:ext cx="191534"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9" name="直接连接符 188">
            <a:extLst>
              <a:ext uri="{FF2B5EF4-FFF2-40B4-BE49-F238E27FC236}">
                <a16:creationId xmlns:a16="http://schemas.microsoft.com/office/drawing/2014/main" id="{0693D608-72BB-49CE-80FA-596958CDE35F}"/>
              </a:ext>
            </a:extLst>
          </p:cNvPr>
          <p:cNvCxnSpPr>
            <a:stCxn id="183" idx="0"/>
            <a:endCxn id="180" idx="2"/>
          </p:cNvCxnSpPr>
          <p:nvPr/>
        </p:nvCxnSpPr>
        <p:spPr bwMode="auto">
          <a:xfrm flipV="1">
            <a:off x="1558934" y="2647194"/>
            <a:ext cx="424108" cy="677839"/>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0" name="直接连接符 189">
            <a:extLst>
              <a:ext uri="{FF2B5EF4-FFF2-40B4-BE49-F238E27FC236}">
                <a16:creationId xmlns:a16="http://schemas.microsoft.com/office/drawing/2014/main" id="{BAB139E5-2F59-4100-BCB1-6D384D78BD14}"/>
              </a:ext>
            </a:extLst>
          </p:cNvPr>
          <p:cNvCxnSpPr>
            <a:stCxn id="184" idx="0"/>
            <a:endCxn id="179" idx="2"/>
          </p:cNvCxnSpPr>
          <p:nvPr/>
        </p:nvCxnSpPr>
        <p:spPr bwMode="auto">
          <a:xfrm flipH="1" flipV="1">
            <a:off x="1367394" y="2647194"/>
            <a:ext cx="533557"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1" name="直接连接符 190">
            <a:extLst>
              <a:ext uri="{FF2B5EF4-FFF2-40B4-BE49-F238E27FC236}">
                <a16:creationId xmlns:a16="http://schemas.microsoft.com/office/drawing/2014/main" id="{6009F352-7697-4351-A497-8A9F57E87225}"/>
              </a:ext>
            </a:extLst>
          </p:cNvPr>
          <p:cNvCxnSpPr>
            <a:stCxn id="184" idx="0"/>
            <a:endCxn id="180" idx="2"/>
          </p:cNvCxnSpPr>
          <p:nvPr/>
        </p:nvCxnSpPr>
        <p:spPr bwMode="auto">
          <a:xfrm flipV="1">
            <a:off x="1900955" y="2647194"/>
            <a:ext cx="82085" cy="677839"/>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2" name="直接连接符 191">
            <a:extLst>
              <a:ext uri="{FF2B5EF4-FFF2-40B4-BE49-F238E27FC236}">
                <a16:creationId xmlns:a16="http://schemas.microsoft.com/office/drawing/2014/main" id="{C310A479-9921-4894-A4D2-3D7D9B8DBD37}"/>
              </a:ext>
            </a:extLst>
          </p:cNvPr>
          <p:cNvCxnSpPr>
            <a:stCxn id="185" idx="0"/>
            <a:endCxn id="179" idx="2"/>
          </p:cNvCxnSpPr>
          <p:nvPr/>
        </p:nvCxnSpPr>
        <p:spPr bwMode="auto">
          <a:xfrm flipH="1" flipV="1">
            <a:off x="1367394" y="2647194"/>
            <a:ext cx="875580"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3" name="直接连接符 192">
            <a:extLst>
              <a:ext uri="{FF2B5EF4-FFF2-40B4-BE49-F238E27FC236}">
                <a16:creationId xmlns:a16="http://schemas.microsoft.com/office/drawing/2014/main" id="{BB8B1027-A114-46B4-999D-4E5AE1DB69B5}"/>
              </a:ext>
            </a:extLst>
          </p:cNvPr>
          <p:cNvCxnSpPr>
            <a:stCxn id="180" idx="2"/>
            <a:endCxn id="185" idx="0"/>
          </p:cNvCxnSpPr>
          <p:nvPr/>
        </p:nvCxnSpPr>
        <p:spPr bwMode="auto">
          <a:xfrm>
            <a:off x="1983042" y="2647194"/>
            <a:ext cx="259938" cy="677839"/>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 name="矩形 193">
            <a:extLst>
              <a:ext uri="{FF2B5EF4-FFF2-40B4-BE49-F238E27FC236}">
                <a16:creationId xmlns:a16="http://schemas.microsoft.com/office/drawing/2014/main" id="{57AC5F5F-CF31-4535-85F3-62CF9080C18A}"/>
              </a:ext>
            </a:extLst>
          </p:cNvPr>
          <p:cNvSpPr/>
          <p:nvPr/>
        </p:nvSpPr>
        <p:spPr bwMode="auto">
          <a:xfrm>
            <a:off x="2552522" y="2193276"/>
            <a:ext cx="1445050" cy="1884268"/>
          </a:xfrm>
          <a:prstGeom prst="rect">
            <a:avLst/>
          </a:prstGeom>
          <a:solidFill>
            <a:srgbClr val="E0E0E0">
              <a:alpha val="60000"/>
            </a:srgbClr>
          </a:solidFill>
          <a:ln w="9525" cap="flat" cmpd="sng" algn="ctr">
            <a:solidFill>
              <a:srgbClr val="000000"/>
            </a:solidFill>
            <a:prstDash val="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charset="0"/>
                <a:ea typeface="宋体" charset="-122"/>
              </a:rPr>
              <a:t>POD2</a:t>
            </a:r>
            <a:endParaRPr kumimoji="0" lang="zh-CN" altLang="en-US" sz="12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95" name="矩形 194">
            <a:extLst>
              <a:ext uri="{FF2B5EF4-FFF2-40B4-BE49-F238E27FC236}">
                <a16:creationId xmlns:a16="http://schemas.microsoft.com/office/drawing/2014/main" id="{94D94FFD-48BA-459D-B4C3-607480B36E88}"/>
              </a:ext>
            </a:extLst>
          </p:cNvPr>
          <p:cNvSpPr/>
          <p:nvPr/>
        </p:nvSpPr>
        <p:spPr bwMode="auto">
          <a:xfrm>
            <a:off x="2749168" y="2348480"/>
            <a:ext cx="379647"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196" name="矩形 195">
            <a:extLst>
              <a:ext uri="{FF2B5EF4-FFF2-40B4-BE49-F238E27FC236}">
                <a16:creationId xmlns:a16="http://schemas.microsoft.com/office/drawing/2014/main" id="{1817C831-3C3F-4B8A-A99F-3BE77344D964}"/>
              </a:ext>
            </a:extLst>
          </p:cNvPr>
          <p:cNvSpPr/>
          <p:nvPr/>
        </p:nvSpPr>
        <p:spPr bwMode="auto">
          <a:xfrm>
            <a:off x="3364812" y="2348480"/>
            <a:ext cx="379647"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cxnSp>
        <p:nvCxnSpPr>
          <p:cNvPr id="197" name="直接连接符 196">
            <a:extLst>
              <a:ext uri="{FF2B5EF4-FFF2-40B4-BE49-F238E27FC236}">
                <a16:creationId xmlns:a16="http://schemas.microsoft.com/office/drawing/2014/main" id="{807848F2-D8EA-47BA-9657-881E690E874F}"/>
              </a:ext>
            </a:extLst>
          </p:cNvPr>
          <p:cNvCxnSpPr>
            <a:stCxn id="195" idx="3"/>
            <a:endCxn id="196" idx="1"/>
          </p:cNvCxnSpPr>
          <p:nvPr/>
        </p:nvCxnSpPr>
        <p:spPr bwMode="auto">
          <a:xfrm>
            <a:off x="3128820" y="2497835"/>
            <a:ext cx="235996" cy="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8" name="矩形 197">
            <a:extLst>
              <a:ext uri="{FF2B5EF4-FFF2-40B4-BE49-F238E27FC236}">
                <a16:creationId xmlns:a16="http://schemas.microsoft.com/office/drawing/2014/main" id="{763016A0-740E-4619-A178-2D94B8E86C8C}"/>
              </a:ext>
            </a:extLst>
          </p:cNvPr>
          <p:cNvSpPr/>
          <p:nvPr/>
        </p:nvSpPr>
        <p:spPr bwMode="auto">
          <a:xfrm>
            <a:off x="2680770"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199" name="矩形 198">
            <a:extLst>
              <a:ext uri="{FF2B5EF4-FFF2-40B4-BE49-F238E27FC236}">
                <a16:creationId xmlns:a16="http://schemas.microsoft.com/office/drawing/2014/main" id="{42F0235C-CCCC-47FA-B59E-0ED500AC97D3}"/>
              </a:ext>
            </a:extLst>
          </p:cNvPr>
          <p:cNvSpPr/>
          <p:nvPr/>
        </p:nvSpPr>
        <p:spPr bwMode="auto">
          <a:xfrm>
            <a:off x="3022793"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00" name="矩形 199">
            <a:extLst>
              <a:ext uri="{FF2B5EF4-FFF2-40B4-BE49-F238E27FC236}">
                <a16:creationId xmlns:a16="http://schemas.microsoft.com/office/drawing/2014/main" id="{9312B268-AE55-4F17-BD27-A3EC819BA26A}"/>
              </a:ext>
            </a:extLst>
          </p:cNvPr>
          <p:cNvSpPr/>
          <p:nvPr/>
        </p:nvSpPr>
        <p:spPr bwMode="auto">
          <a:xfrm>
            <a:off x="3364816"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01" name="矩形 200">
            <a:extLst>
              <a:ext uri="{FF2B5EF4-FFF2-40B4-BE49-F238E27FC236}">
                <a16:creationId xmlns:a16="http://schemas.microsoft.com/office/drawing/2014/main" id="{453BFDEB-EC28-495C-A48E-38ED07B06BE0}"/>
              </a:ext>
            </a:extLst>
          </p:cNvPr>
          <p:cNvSpPr/>
          <p:nvPr/>
        </p:nvSpPr>
        <p:spPr bwMode="auto">
          <a:xfrm>
            <a:off x="3706839"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cxnSp>
        <p:nvCxnSpPr>
          <p:cNvPr id="202" name="直接连接符 201">
            <a:extLst>
              <a:ext uri="{FF2B5EF4-FFF2-40B4-BE49-F238E27FC236}">
                <a16:creationId xmlns:a16="http://schemas.microsoft.com/office/drawing/2014/main" id="{019BE84D-6F10-41F4-AA71-A1741AD0586F}"/>
              </a:ext>
            </a:extLst>
          </p:cNvPr>
          <p:cNvCxnSpPr>
            <a:stCxn id="195" idx="2"/>
            <a:endCxn id="198" idx="0"/>
          </p:cNvCxnSpPr>
          <p:nvPr/>
        </p:nvCxnSpPr>
        <p:spPr bwMode="auto">
          <a:xfrm flipH="1">
            <a:off x="2788505" y="2647194"/>
            <a:ext cx="150489"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3" name="直接连接符 202">
            <a:extLst>
              <a:ext uri="{FF2B5EF4-FFF2-40B4-BE49-F238E27FC236}">
                <a16:creationId xmlns:a16="http://schemas.microsoft.com/office/drawing/2014/main" id="{BBD49F2C-96E6-4FB8-ABCC-CB69C0AD8C4C}"/>
              </a:ext>
            </a:extLst>
          </p:cNvPr>
          <p:cNvCxnSpPr>
            <a:stCxn id="198" idx="0"/>
            <a:endCxn id="196" idx="2"/>
          </p:cNvCxnSpPr>
          <p:nvPr/>
        </p:nvCxnSpPr>
        <p:spPr bwMode="auto">
          <a:xfrm flipV="1">
            <a:off x="2788508" y="2647194"/>
            <a:ext cx="766131" cy="677839"/>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4" name="直接连接符 203">
            <a:extLst>
              <a:ext uri="{FF2B5EF4-FFF2-40B4-BE49-F238E27FC236}">
                <a16:creationId xmlns:a16="http://schemas.microsoft.com/office/drawing/2014/main" id="{1B893820-8D85-48A9-9495-32892F3E196E}"/>
              </a:ext>
            </a:extLst>
          </p:cNvPr>
          <p:cNvCxnSpPr>
            <a:stCxn id="195" idx="2"/>
            <a:endCxn id="199" idx="0"/>
          </p:cNvCxnSpPr>
          <p:nvPr/>
        </p:nvCxnSpPr>
        <p:spPr bwMode="auto">
          <a:xfrm>
            <a:off x="2938993" y="2647194"/>
            <a:ext cx="191534"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 name="直接连接符 204">
            <a:extLst>
              <a:ext uri="{FF2B5EF4-FFF2-40B4-BE49-F238E27FC236}">
                <a16:creationId xmlns:a16="http://schemas.microsoft.com/office/drawing/2014/main" id="{034A2012-9A93-411F-81AA-E1CEF3B62685}"/>
              </a:ext>
            </a:extLst>
          </p:cNvPr>
          <p:cNvCxnSpPr>
            <a:stCxn id="199" idx="0"/>
            <a:endCxn id="196" idx="2"/>
          </p:cNvCxnSpPr>
          <p:nvPr/>
        </p:nvCxnSpPr>
        <p:spPr bwMode="auto">
          <a:xfrm flipV="1">
            <a:off x="3130530" y="2647194"/>
            <a:ext cx="424108" cy="677839"/>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 name="直接连接符 205">
            <a:extLst>
              <a:ext uri="{FF2B5EF4-FFF2-40B4-BE49-F238E27FC236}">
                <a16:creationId xmlns:a16="http://schemas.microsoft.com/office/drawing/2014/main" id="{A146BAB2-BF8E-477D-8E80-2DE174F6BDA6}"/>
              </a:ext>
            </a:extLst>
          </p:cNvPr>
          <p:cNvCxnSpPr>
            <a:stCxn id="200" idx="0"/>
            <a:endCxn id="195" idx="2"/>
          </p:cNvCxnSpPr>
          <p:nvPr/>
        </p:nvCxnSpPr>
        <p:spPr bwMode="auto">
          <a:xfrm flipH="1" flipV="1">
            <a:off x="2938993" y="2647194"/>
            <a:ext cx="533557"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 name="直接连接符 206">
            <a:extLst>
              <a:ext uri="{FF2B5EF4-FFF2-40B4-BE49-F238E27FC236}">
                <a16:creationId xmlns:a16="http://schemas.microsoft.com/office/drawing/2014/main" id="{4A825823-F1FF-457A-AB29-25A24B1A8BC3}"/>
              </a:ext>
            </a:extLst>
          </p:cNvPr>
          <p:cNvCxnSpPr>
            <a:stCxn id="200" idx="0"/>
            <a:endCxn id="196" idx="2"/>
          </p:cNvCxnSpPr>
          <p:nvPr/>
        </p:nvCxnSpPr>
        <p:spPr bwMode="auto">
          <a:xfrm flipV="1">
            <a:off x="3472552" y="2647194"/>
            <a:ext cx="82085" cy="677839"/>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8" name="直接连接符 207">
            <a:extLst>
              <a:ext uri="{FF2B5EF4-FFF2-40B4-BE49-F238E27FC236}">
                <a16:creationId xmlns:a16="http://schemas.microsoft.com/office/drawing/2014/main" id="{EDCB53CF-0AD2-44F4-AAE2-920DB593F5C8}"/>
              </a:ext>
            </a:extLst>
          </p:cNvPr>
          <p:cNvCxnSpPr>
            <a:stCxn id="201" idx="0"/>
            <a:endCxn id="195" idx="2"/>
          </p:cNvCxnSpPr>
          <p:nvPr/>
        </p:nvCxnSpPr>
        <p:spPr bwMode="auto">
          <a:xfrm flipH="1" flipV="1">
            <a:off x="2938992" y="2647194"/>
            <a:ext cx="875580"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 name="直接连接符 208">
            <a:extLst>
              <a:ext uri="{FF2B5EF4-FFF2-40B4-BE49-F238E27FC236}">
                <a16:creationId xmlns:a16="http://schemas.microsoft.com/office/drawing/2014/main" id="{71AF41FD-3AAB-45A0-850A-035A593E7E4B}"/>
              </a:ext>
            </a:extLst>
          </p:cNvPr>
          <p:cNvCxnSpPr>
            <a:stCxn id="196" idx="2"/>
            <a:endCxn id="201" idx="0"/>
          </p:cNvCxnSpPr>
          <p:nvPr/>
        </p:nvCxnSpPr>
        <p:spPr bwMode="auto">
          <a:xfrm>
            <a:off x="3554640" y="2647194"/>
            <a:ext cx="259938" cy="677839"/>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0" name="直接连接符 209">
            <a:extLst>
              <a:ext uri="{FF2B5EF4-FFF2-40B4-BE49-F238E27FC236}">
                <a16:creationId xmlns:a16="http://schemas.microsoft.com/office/drawing/2014/main" id="{DF3CF7E1-CB14-4E3E-85D9-1FFD670CE1C9}"/>
              </a:ext>
            </a:extLst>
          </p:cNvPr>
          <p:cNvCxnSpPr>
            <a:stCxn id="179" idx="0"/>
            <a:endCxn id="177" idx="2"/>
          </p:cNvCxnSpPr>
          <p:nvPr/>
        </p:nvCxnSpPr>
        <p:spPr bwMode="auto">
          <a:xfrm flipV="1">
            <a:off x="1367396" y="1782605"/>
            <a:ext cx="731930"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1" name="直接连接符 210">
            <a:extLst>
              <a:ext uri="{FF2B5EF4-FFF2-40B4-BE49-F238E27FC236}">
                <a16:creationId xmlns:a16="http://schemas.microsoft.com/office/drawing/2014/main" id="{FC10F864-6373-446F-B1D5-C9A55059FDEB}"/>
              </a:ext>
            </a:extLst>
          </p:cNvPr>
          <p:cNvCxnSpPr>
            <a:stCxn id="179" idx="0"/>
            <a:endCxn id="178" idx="2"/>
          </p:cNvCxnSpPr>
          <p:nvPr/>
        </p:nvCxnSpPr>
        <p:spPr bwMode="auto">
          <a:xfrm flipV="1">
            <a:off x="1367394" y="1782605"/>
            <a:ext cx="1419398"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2" name="直接连接符 211">
            <a:extLst>
              <a:ext uri="{FF2B5EF4-FFF2-40B4-BE49-F238E27FC236}">
                <a16:creationId xmlns:a16="http://schemas.microsoft.com/office/drawing/2014/main" id="{77BA1A36-929B-4B62-9068-6461037F074E}"/>
              </a:ext>
            </a:extLst>
          </p:cNvPr>
          <p:cNvCxnSpPr>
            <a:stCxn id="177" idx="2"/>
            <a:endCxn id="180" idx="0"/>
          </p:cNvCxnSpPr>
          <p:nvPr/>
        </p:nvCxnSpPr>
        <p:spPr bwMode="auto">
          <a:xfrm flipH="1">
            <a:off x="1983041" y="1782605"/>
            <a:ext cx="116288"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3" name="直接连接符 212">
            <a:extLst>
              <a:ext uri="{FF2B5EF4-FFF2-40B4-BE49-F238E27FC236}">
                <a16:creationId xmlns:a16="http://schemas.microsoft.com/office/drawing/2014/main" id="{C9A76DB2-901C-4CDC-8052-8941674CCC9B}"/>
              </a:ext>
            </a:extLst>
          </p:cNvPr>
          <p:cNvCxnSpPr>
            <a:stCxn id="180" idx="0"/>
            <a:endCxn id="178" idx="2"/>
          </p:cNvCxnSpPr>
          <p:nvPr/>
        </p:nvCxnSpPr>
        <p:spPr bwMode="auto">
          <a:xfrm flipV="1">
            <a:off x="1983042" y="1782605"/>
            <a:ext cx="803755"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 name="直接连接符 213">
            <a:extLst>
              <a:ext uri="{FF2B5EF4-FFF2-40B4-BE49-F238E27FC236}">
                <a16:creationId xmlns:a16="http://schemas.microsoft.com/office/drawing/2014/main" id="{45B24F71-16C5-466E-A5D9-AC0CA4998FB2}"/>
              </a:ext>
            </a:extLst>
          </p:cNvPr>
          <p:cNvCxnSpPr>
            <a:stCxn id="195" idx="0"/>
            <a:endCxn id="177" idx="2"/>
          </p:cNvCxnSpPr>
          <p:nvPr/>
        </p:nvCxnSpPr>
        <p:spPr bwMode="auto">
          <a:xfrm flipH="1" flipV="1">
            <a:off x="2099330" y="1782605"/>
            <a:ext cx="839667"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5" name="直接连接符 214">
            <a:extLst>
              <a:ext uri="{FF2B5EF4-FFF2-40B4-BE49-F238E27FC236}">
                <a16:creationId xmlns:a16="http://schemas.microsoft.com/office/drawing/2014/main" id="{DE2B66E1-2983-4191-9C37-1F6AB53F6F31}"/>
              </a:ext>
            </a:extLst>
          </p:cNvPr>
          <p:cNvCxnSpPr>
            <a:stCxn id="195" idx="0"/>
            <a:endCxn id="178" idx="2"/>
          </p:cNvCxnSpPr>
          <p:nvPr/>
        </p:nvCxnSpPr>
        <p:spPr bwMode="auto">
          <a:xfrm flipH="1" flipV="1">
            <a:off x="2786796" y="1782605"/>
            <a:ext cx="152200"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6" name="直接连接符 215">
            <a:extLst>
              <a:ext uri="{FF2B5EF4-FFF2-40B4-BE49-F238E27FC236}">
                <a16:creationId xmlns:a16="http://schemas.microsoft.com/office/drawing/2014/main" id="{31CEE484-9B1E-4EBC-B4FF-DC5C50432BF8}"/>
              </a:ext>
            </a:extLst>
          </p:cNvPr>
          <p:cNvCxnSpPr>
            <a:cxnSpLocks/>
            <a:stCxn id="196" idx="0"/>
            <a:endCxn id="177" idx="2"/>
          </p:cNvCxnSpPr>
          <p:nvPr/>
        </p:nvCxnSpPr>
        <p:spPr bwMode="auto">
          <a:xfrm flipH="1" flipV="1">
            <a:off x="2099325" y="1782605"/>
            <a:ext cx="1455310"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7" name="直接连接符 216">
            <a:extLst>
              <a:ext uri="{FF2B5EF4-FFF2-40B4-BE49-F238E27FC236}">
                <a16:creationId xmlns:a16="http://schemas.microsoft.com/office/drawing/2014/main" id="{31694A35-EADB-457D-A221-C13D416FB2A6}"/>
              </a:ext>
            </a:extLst>
          </p:cNvPr>
          <p:cNvCxnSpPr>
            <a:stCxn id="196" idx="0"/>
            <a:endCxn id="178" idx="2"/>
          </p:cNvCxnSpPr>
          <p:nvPr/>
        </p:nvCxnSpPr>
        <p:spPr bwMode="auto">
          <a:xfrm flipH="1" flipV="1">
            <a:off x="2786792" y="1782605"/>
            <a:ext cx="767842"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8" name="文本框 217">
            <a:extLst>
              <a:ext uri="{FF2B5EF4-FFF2-40B4-BE49-F238E27FC236}">
                <a16:creationId xmlns:a16="http://schemas.microsoft.com/office/drawing/2014/main" id="{F95E3AD1-20E6-4046-A6DF-60C83EB9CC5D}"/>
              </a:ext>
            </a:extLst>
          </p:cNvPr>
          <p:cNvSpPr txBox="1"/>
          <p:nvPr/>
        </p:nvSpPr>
        <p:spPr>
          <a:xfrm>
            <a:off x="3540818" y="2723752"/>
            <a:ext cx="578196" cy="306266"/>
          </a:xfrm>
          <a:prstGeom prst="rect">
            <a:avLst/>
          </a:prstGeom>
          <a:noFill/>
        </p:spPr>
        <p:txBody>
          <a:bodyPr wrap="square" rtlCol="0">
            <a:spAutoFit/>
          </a:bodyPr>
          <a:lstStyle/>
          <a:p>
            <a:pPr fontAlgn="base">
              <a:spcBef>
                <a:spcPct val="0"/>
              </a:spcBef>
              <a:spcAft>
                <a:spcPct val="0"/>
              </a:spcAft>
            </a:pPr>
            <a:r>
              <a:rPr lang="en-US" altLang="zh-CN" sz="1050" b="1" dirty="0">
                <a:solidFill>
                  <a:srgbClr val="990000">
                    <a:lumMod val="60000"/>
                    <a:lumOff val="40000"/>
                  </a:srgbClr>
                </a:solidFill>
                <a:latin typeface="Arial" pitchFamily="34" charset="0"/>
                <a:ea typeface="宋体" pitchFamily="2" charset="-122"/>
              </a:rPr>
              <a:t>STP</a:t>
            </a:r>
            <a:endParaRPr lang="zh-CN" altLang="en-US" sz="1050" b="1" dirty="0">
              <a:solidFill>
                <a:srgbClr val="990000">
                  <a:lumMod val="60000"/>
                  <a:lumOff val="40000"/>
                </a:srgbClr>
              </a:solidFill>
              <a:latin typeface="Arial" pitchFamily="34" charset="0"/>
              <a:ea typeface="宋体" pitchFamily="2" charset="-122"/>
            </a:endParaRPr>
          </a:p>
        </p:txBody>
      </p:sp>
      <p:sp>
        <p:nvSpPr>
          <p:cNvPr id="219" name="文本框 218">
            <a:extLst>
              <a:ext uri="{FF2B5EF4-FFF2-40B4-BE49-F238E27FC236}">
                <a16:creationId xmlns:a16="http://schemas.microsoft.com/office/drawing/2014/main" id="{372412D8-1035-47A3-AC77-72CB727DA0DB}"/>
              </a:ext>
            </a:extLst>
          </p:cNvPr>
          <p:cNvSpPr txBox="1"/>
          <p:nvPr/>
        </p:nvSpPr>
        <p:spPr>
          <a:xfrm>
            <a:off x="3034764" y="1449489"/>
            <a:ext cx="566793" cy="315547"/>
          </a:xfrm>
          <a:prstGeom prst="rect">
            <a:avLst/>
          </a:prstGeom>
          <a:noFill/>
        </p:spPr>
        <p:txBody>
          <a:bodyPr wrap="none" rtlCol="0">
            <a:spAutoFit/>
          </a:bodyPr>
          <a:lstStyle/>
          <a:p>
            <a:pPr fontAlgn="base">
              <a:spcBef>
                <a:spcPct val="0"/>
              </a:spcBef>
              <a:spcAft>
                <a:spcPct val="0"/>
              </a:spcAft>
            </a:pPr>
            <a:r>
              <a:rPr lang="zh-CN" altLang="en-US" sz="1100" b="1" dirty="0">
                <a:solidFill>
                  <a:srgbClr val="000000"/>
                </a:solidFill>
                <a:latin typeface="Arial" pitchFamily="34" charset="0"/>
                <a:ea typeface="宋体" pitchFamily="2" charset="-122"/>
              </a:rPr>
              <a:t>核心</a:t>
            </a:r>
          </a:p>
        </p:txBody>
      </p:sp>
      <p:sp>
        <p:nvSpPr>
          <p:cNvPr id="220" name="矩形 219">
            <a:extLst>
              <a:ext uri="{FF2B5EF4-FFF2-40B4-BE49-F238E27FC236}">
                <a16:creationId xmlns:a16="http://schemas.microsoft.com/office/drawing/2014/main" id="{55BA9886-79FD-4F6B-84D0-F583F88B62AE}"/>
              </a:ext>
            </a:extLst>
          </p:cNvPr>
          <p:cNvSpPr/>
          <p:nvPr/>
        </p:nvSpPr>
        <p:spPr bwMode="auto">
          <a:xfrm>
            <a:off x="4478613" y="2193276"/>
            <a:ext cx="1445050" cy="1884268"/>
          </a:xfrm>
          <a:prstGeom prst="rect">
            <a:avLst/>
          </a:prstGeom>
          <a:solidFill>
            <a:srgbClr val="E0E0E0">
              <a:alpha val="60000"/>
            </a:srgbClr>
          </a:solidFill>
          <a:ln w="9525" cap="flat" cmpd="sng" algn="ctr">
            <a:solidFill>
              <a:srgbClr val="000000"/>
            </a:solidFill>
            <a:prstDash val="dash"/>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charset="0"/>
                <a:ea typeface="宋体" charset="-122"/>
              </a:rPr>
              <a:t>POD1</a:t>
            </a:r>
            <a:endParaRPr kumimoji="0" lang="zh-CN" altLang="en-US" sz="1200" b="0" i="0" u="none" strike="noStrike" kern="0" cap="none" spc="0" normalizeH="0" baseline="0" noProof="0" dirty="0">
              <a:ln>
                <a:noFill/>
              </a:ln>
              <a:solidFill>
                <a:srgbClr val="000000"/>
              </a:solidFill>
              <a:effectLst/>
              <a:uLnTx/>
              <a:uFillTx/>
              <a:latin typeface="Arial" charset="0"/>
              <a:ea typeface="宋体" charset="-122"/>
            </a:endParaRPr>
          </a:p>
        </p:txBody>
      </p:sp>
      <p:sp>
        <p:nvSpPr>
          <p:cNvPr id="221" name="矩形 220">
            <a:extLst>
              <a:ext uri="{FF2B5EF4-FFF2-40B4-BE49-F238E27FC236}">
                <a16:creationId xmlns:a16="http://schemas.microsoft.com/office/drawing/2014/main" id="{27567B0C-18FE-4C49-808A-604AEC353745}"/>
              </a:ext>
            </a:extLst>
          </p:cNvPr>
          <p:cNvSpPr/>
          <p:nvPr/>
        </p:nvSpPr>
        <p:spPr bwMode="auto">
          <a:xfrm>
            <a:off x="5355886" y="1483897"/>
            <a:ext cx="482254"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22" name="矩形 221">
            <a:extLst>
              <a:ext uri="{FF2B5EF4-FFF2-40B4-BE49-F238E27FC236}">
                <a16:creationId xmlns:a16="http://schemas.microsoft.com/office/drawing/2014/main" id="{1673679E-C833-439A-8AC5-B0665AACF31D}"/>
              </a:ext>
            </a:extLst>
          </p:cNvPr>
          <p:cNvSpPr/>
          <p:nvPr/>
        </p:nvSpPr>
        <p:spPr bwMode="auto">
          <a:xfrm>
            <a:off x="6043354" y="1483897"/>
            <a:ext cx="482254"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23" name="矩形 222">
            <a:extLst>
              <a:ext uri="{FF2B5EF4-FFF2-40B4-BE49-F238E27FC236}">
                <a16:creationId xmlns:a16="http://schemas.microsoft.com/office/drawing/2014/main" id="{84011F7C-86DC-44BC-BD9E-AC737CA64CF4}"/>
              </a:ext>
            </a:extLst>
          </p:cNvPr>
          <p:cNvSpPr/>
          <p:nvPr/>
        </p:nvSpPr>
        <p:spPr bwMode="auto">
          <a:xfrm>
            <a:off x="4675259" y="2348480"/>
            <a:ext cx="379647"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24" name="矩形 223">
            <a:extLst>
              <a:ext uri="{FF2B5EF4-FFF2-40B4-BE49-F238E27FC236}">
                <a16:creationId xmlns:a16="http://schemas.microsoft.com/office/drawing/2014/main" id="{5BEF1372-24F9-443E-A4F7-8B31BF0B5584}"/>
              </a:ext>
            </a:extLst>
          </p:cNvPr>
          <p:cNvSpPr/>
          <p:nvPr/>
        </p:nvSpPr>
        <p:spPr bwMode="auto">
          <a:xfrm>
            <a:off x="5290903" y="2348480"/>
            <a:ext cx="379647"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cxnSp>
        <p:nvCxnSpPr>
          <p:cNvPr id="225" name="直接连接符 224">
            <a:extLst>
              <a:ext uri="{FF2B5EF4-FFF2-40B4-BE49-F238E27FC236}">
                <a16:creationId xmlns:a16="http://schemas.microsoft.com/office/drawing/2014/main" id="{18132289-F655-4BD7-ADD7-EF1488A90E3E}"/>
              </a:ext>
            </a:extLst>
          </p:cNvPr>
          <p:cNvCxnSpPr>
            <a:stCxn id="223" idx="3"/>
            <a:endCxn id="224" idx="1"/>
          </p:cNvCxnSpPr>
          <p:nvPr/>
        </p:nvCxnSpPr>
        <p:spPr bwMode="auto">
          <a:xfrm>
            <a:off x="5054911" y="2497835"/>
            <a:ext cx="235996" cy="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6" name="矩形 225">
            <a:extLst>
              <a:ext uri="{FF2B5EF4-FFF2-40B4-BE49-F238E27FC236}">
                <a16:creationId xmlns:a16="http://schemas.microsoft.com/office/drawing/2014/main" id="{6C2FE3F1-21F3-443B-9710-01D1DB4CE47F}"/>
              </a:ext>
            </a:extLst>
          </p:cNvPr>
          <p:cNvSpPr/>
          <p:nvPr/>
        </p:nvSpPr>
        <p:spPr bwMode="auto">
          <a:xfrm>
            <a:off x="4606861"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27" name="矩形 226">
            <a:extLst>
              <a:ext uri="{FF2B5EF4-FFF2-40B4-BE49-F238E27FC236}">
                <a16:creationId xmlns:a16="http://schemas.microsoft.com/office/drawing/2014/main" id="{BF5138E6-7D10-4A13-BCF7-303CC758BBAC}"/>
              </a:ext>
            </a:extLst>
          </p:cNvPr>
          <p:cNvSpPr/>
          <p:nvPr/>
        </p:nvSpPr>
        <p:spPr bwMode="auto">
          <a:xfrm>
            <a:off x="4948884"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28" name="矩形 227">
            <a:extLst>
              <a:ext uri="{FF2B5EF4-FFF2-40B4-BE49-F238E27FC236}">
                <a16:creationId xmlns:a16="http://schemas.microsoft.com/office/drawing/2014/main" id="{4B883BF1-B04B-48E0-A316-F75D0880AE5D}"/>
              </a:ext>
            </a:extLst>
          </p:cNvPr>
          <p:cNvSpPr/>
          <p:nvPr/>
        </p:nvSpPr>
        <p:spPr bwMode="auto">
          <a:xfrm>
            <a:off x="5290907"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29" name="矩形 228">
            <a:extLst>
              <a:ext uri="{FF2B5EF4-FFF2-40B4-BE49-F238E27FC236}">
                <a16:creationId xmlns:a16="http://schemas.microsoft.com/office/drawing/2014/main" id="{46B33F57-EDF1-4FF0-A8D9-C57463096078}"/>
              </a:ext>
            </a:extLst>
          </p:cNvPr>
          <p:cNvSpPr/>
          <p:nvPr/>
        </p:nvSpPr>
        <p:spPr bwMode="auto">
          <a:xfrm>
            <a:off x="5632930"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cxnSp>
        <p:nvCxnSpPr>
          <p:cNvPr id="230" name="直接连接符 229">
            <a:extLst>
              <a:ext uri="{FF2B5EF4-FFF2-40B4-BE49-F238E27FC236}">
                <a16:creationId xmlns:a16="http://schemas.microsoft.com/office/drawing/2014/main" id="{5EB82C91-11DE-4B2A-A48E-BD0170198620}"/>
              </a:ext>
            </a:extLst>
          </p:cNvPr>
          <p:cNvCxnSpPr>
            <a:stCxn id="223" idx="2"/>
            <a:endCxn id="226" idx="0"/>
          </p:cNvCxnSpPr>
          <p:nvPr/>
        </p:nvCxnSpPr>
        <p:spPr bwMode="auto">
          <a:xfrm flipH="1">
            <a:off x="4714595" y="2647194"/>
            <a:ext cx="150489"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1" name="直接连接符 230">
            <a:extLst>
              <a:ext uri="{FF2B5EF4-FFF2-40B4-BE49-F238E27FC236}">
                <a16:creationId xmlns:a16="http://schemas.microsoft.com/office/drawing/2014/main" id="{1C7C9B4A-9DA3-4843-8E22-4A714698AA19}"/>
              </a:ext>
            </a:extLst>
          </p:cNvPr>
          <p:cNvCxnSpPr>
            <a:stCxn id="226" idx="0"/>
            <a:endCxn id="224" idx="2"/>
          </p:cNvCxnSpPr>
          <p:nvPr/>
        </p:nvCxnSpPr>
        <p:spPr bwMode="auto">
          <a:xfrm flipV="1">
            <a:off x="4714599" y="2647194"/>
            <a:ext cx="766131"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2" name="直接连接符 231">
            <a:extLst>
              <a:ext uri="{FF2B5EF4-FFF2-40B4-BE49-F238E27FC236}">
                <a16:creationId xmlns:a16="http://schemas.microsoft.com/office/drawing/2014/main" id="{A52AA5F2-A746-4ACD-B363-EC0FFDEC88A8}"/>
              </a:ext>
            </a:extLst>
          </p:cNvPr>
          <p:cNvCxnSpPr>
            <a:stCxn id="223" idx="2"/>
            <a:endCxn id="227" idx="0"/>
          </p:cNvCxnSpPr>
          <p:nvPr/>
        </p:nvCxnSpPr>
        <p:spPr bwMode="auto">
          <a:xfrm>
            <a:off x="4865084" y="2647194"/>
            <a:ext cx="191534"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3" name="直接连接符 232">
            <a:extLst>
              <a:ext uri="{FF2B5EF4-FFF2-40B4-BE49-F238E27FC236}">
                <a16:creationId xmlns:a16="http://schemas.microsoft.com/office/drawing/2014/main" id="{5B69C9A0-2A66-4EC1-A9FB-E20ECEF88985}"/>
              </a:ext>
            </a:extLst>
          </p:cNvPr>
          <p:cNvCxnSpPr>
            <a:stCxn id="227" idx="0"/>
            <a:endCxn id="224" idx="2"/>
          </p:cNvCxnSpPr>
          <p:nvPr/>
        </p:nvCxnSpPr>
        <p:spPr bwMode="auto">
          <a:xfrm flipV="1">
            <a:off x="5056621" y="2647194"/>
            <a:ext cx="424108"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 name="直接连接符 233">
            <a:extLst>
              <a:ext uri="{FF2B5EF4-FFF2-40B4-BE49-F238E27FC236}">
                <a16:creationId xmlns:a16="http://schemas.microsoft.com/office/drawing/2014/main" id="{45D1A45C-9A88-4FC7-BF37-EC6D08A1F6B1}"/>
              </a:ext>
            </a:extLst>
          </p:cNvPr>
          <p:cNvCxnSpPr>
            <a:stCxn id="228" idx="0"/>
            <a:endCxn id="223" idx="2"/>
          </p:cNvCxnSpPr>
          <p:nvPr/>
        </p:nvCxnSpPr>
        <p:spPr bwMode="auto">
          <a:xfrm flipH="1" flipV="1">
            <a:off x="4865084" y="2647194"/>
            <a:ext cx="533557"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 name="直接连接符 234">
            <a:extLst>
              <a:ext uri="{FF2B5EF4-FFF2-40B4-BE49-F238E27FC236}">
                <a16:creationId xmlns:a16="http://schemas.microsoft.com/office/drawing/2014/main" id="{9EA0BE04-44CD-4CD0-93F5-9856392FF2AD}"/>
              </a:ext>
            </a:extLst>
          </p:cNvPr>
          <p:cNvCxnSpPr>
            <a:stCxn id="228" idx="0"/>
            <a:endCxn id="224" idx="2"/>
          </p:cNvCxnSpPr>
          <p:nvPr/>
        </p:nvCxnSpPr>
        <p:spPr bwMode="auto">
          <a:xfrm flipV="1">
            <a:off x="5398642" y="2647194"/>
            <a:ext cx="82085"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6" name="直接连接符 235">
            <a:extLst>
              <a:ext uri="{FF2B5EF4-FFF2-40B4-BE49-F238E27FC236}">
                <a16:creationId xmlns:a16="http://schemas.microsoft.com/office/drawing/2014/main" id="{3C48D813-670E-4D84-AF35-E5B90C47B6B7}"/>
              </a:ext>
            </a:extLst>
          </p:cNvPr>
          <p:cNvCxnSpPr>
            <a:stCxn id="229" idx="0"/>
            <a:endCxn id="223" idx="2"/>
          </p:cNvCxnSpPr>
          <p:nvPr/>
        </p:nvCxnSpPr>
        <p:spPr bwMode="auto">
          <a:xfrm flipH="1" flipV="1">
            <a:off x="4865083" y="2647194"/>
            <a:ext cx="875580"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7" name="直接连接符 236">
            <a:extLst>
              <a:ext uri="{FF2B5EF4-FFF2-40B4-BE49-F238E27FC236}">
                <a16:creationId xmlns:a16="http://schemas.microsoft.com/office/drawing/2014/main" id="{7557642B-1728-4DE7-93C1-A9E5F9812293}"/>
              </a:ext>
            </a:extLst>
          </p:cNvPr>
          <p:cNvCxnSpPr>
            <a:stCxn id="224" idx="2"/>
            <a:endCxn id="229" idx="0"/>
          </p:cNvCxnSpPr>
          <p:nvPr/>
        </p:nvCxnSpPr>
        <p:spPr bwMode="auto">
          <a:xfrm>
            <a:off x="5480730" y="2647194"/>
            <a:ext cx="259938"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8" name="矩形 237">
            <a:extLst>
              <a:ext uri="{FF2B5EF4-FFF2-40B4-BE49-F238E27FC236}">
                <a16:creationId xmlns:a16="http://schemas.microsoft.com/office/drawing/2014/main" id="{4301A443-4912-44F7-B8E7-8D700513C34C}"/>
              </a:ext>
            </a:extLst>
          </p:cNvPr>
          <p:cNvSpPr/>
          <p:nvPr/>
        </p:nvSpPr>
        <p:spPr bwMode="auto">
          <a:xfrm>
            <a:off x="6050209" y="2193276"/>
            <a:ext cx="1445050" cy="1884268"/>
          </a:xfrm>
          <a:prstGeom prst="rect">
            <a:avLst/>
          </a:prstGeom>
          <a:solidFill>
            <a:srgbClr val="E0E0E0">
              <a:alpha val="60000"/>
            </a:srgbClr>
          </a:solidFill>
          <a:ln w="9525" cap="flat" cmpd="sng" algn="ctr">
            <a:solidFill>
              <a:srgbClr val="000000"/>
            </a:solidFill>
            <a:prstDash val="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charset="0"/>
                <a:ea typeface="宋体" charset="-122"/>
              </a:rPr>
              <a:t>POD2</a:t>
            </a:r>
            <a:endParaRPr kumimoji="0" lang="zh-CN" altLang="en-US" sz="1200" b="0" i="0" u="none" strike="noStrike" kern="0" cap="none" spc="0" normalizeH="0" baseline="0" noProof="0" dirty="0">
              <a:ln>
                <a:noFill/>
              </a:ln>
              <a:solidFill>
                <a:srgbClr val="000000"/>
              </a:solidFill>
              <a:effectLst/>
              <a:uLnTx/>
              <a:uFillTx/>
              <a:latin typeface="Arial" charset="0"/>
              <a:ea typeface="宋体" charset="-122"/>
            </a:endParaRPr>
          </a:p>
        </p:txBody>
      </p:sp>
      <p:sp>
        <p:nvSpPr>
          <p:cNvPr id="239" name="矩形 238">
            <a:extLst>
              <a:ext uri="{FF2B5EF4-FFF2-40B4-BE49-F238E27FC236}">
                <a16:creationId xmlns:a16="http://schemas.microsoft.com/office/drawing/2014/main" id="{5EC96CD1-1219-4E54-A2BD-DB65233E2037}"/>
              </a:ext>
            </a:extLst>
          </p:cNvPr>
          <p:cNvSpPr/>
          <p:nvPr/>
        </p:nvSpPr>
        <p:spPr bwMode="auto">
          <a:xfrm>
            <a:off x="6246858" y="2348480"/>
            <a:ext cx="379647"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40" name="矩形 239">
            <a:extLst>
              <a:ext uri="{FF2B5EF4-FFF2-40B4-BE49-F238E27FC236}">
                <a16:creationId xmlns:a16="http://schemas.microsoft.com/office/drawing/2014/main" id="{67981952-B42A-48C0-8430-7AAFBEAA66AB}"/>
              </a:ext>
            </a:extLst>
          </p:cNvPr>
          <p:cNvSpPr/>
          <p:nvPr/>
        </p:nvSpPr>
        <p:spPr bwMode="auto">
          <a:xfrm>
            <a:off x="6862501" y="2348480"/>
            <a:ext cx="379647"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cxnSp>
        <p:nvCxnSpPr>
          <p:cNvPr id="241" name="直接连接符 240">
            <a:extLst>
              <a:ext uri="{FF2B5EF4-FFF2-40B4-BE49-F238E27FC236}">
                <a16:creationId xmlns:a16="http://schemas.microsoft.com/office/drawing/2014/main" id="{88133F09-2141-492F-8172-E611DEBC9F1B}"/>
              </a:ext>
            </a:extLst>
          </p:cNvPr>
          <p:cNvCxnSpPr>
            <a:stCxn id="239" idx="3"/>
            <a:endCxn id="240" idx="1"/>
          </p:cNvCxnSpPr>
          <p:nvPr/>
        </p:nvCxnSpPr>
        <p:spPr bwMode="auto">
          <a:xfrm>
            <a:off x="6626507" y="2497835"/>
            <a:ext cx="235996" cy="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2" name="矩形 241">
            <a:extLst>
              <a:ext uri="{FF2B5EF4-FFF2-40B4-BE49-F238E27FC236}">
                <a16:creationId xmlns:a16="http://schemas.microsoft.com/office/drawing/2014/main" id="{6FC5ADDD-5BBE-48EF-A32A-EAF16C1592DD}"/>
              </a:ext>
            </a:extLst>
          </p:cNvPr>
          <p:cNvSpPr/>
          <p:nvPr/>
        </p:nvSpPr>
        <p:spPr bwMode="auto">
          <a:xfrm>
            <a:off x="6178458"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43" name="矩形 242">
            <a:extLst>
              <a:ext uri="{FF2B5EF4-FFF2-40B4-BE49-F238E27FC236}">
                <a16:creationId xmlns:a16="http://schemas.microsoft.com/office/drawing/2014/main" id="{E0AD3090-5D3A-44FE-925B-2656D7D7EAF2}"/>
              </a:ext>
            </a:extLst>
          </p:cNvPr>
          <p:cNvSpPr/>
          <p:nvPr/>
        </p:nvSpPr>
        <p:spPr bwMode="auto">
          <a:xfrm>
            <a:off x="6520481"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44" name="矩形 243">
            <a:extLst>
              <a:ext uri="{FF2B5EF4-FFF2-40B4-BE49-F238E27FC236}">
                <a16:creationId xmlns:a16="http://schemas.microsoft.com/office/drawing/2014/main" id="{34856CC0-5C22-4742-89B6-C47DA45F88B5}"/>
              </a:ext>
            </a:extLst>
          </p:cNvPr>
          <p:cNvSpPr/>
          <p:nvPr/>
        </p:nvSpPr>
        <p:spPr bwMode="auto">
          <a:xfrm>
            <a:off x="6862504"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45" name="矩形 244">
            <a:extLst>
              <a:ext uri="{FF2B5EF4-FFF2-40B4-BE49-F238E27FC236}">
                <a16:creationId xmlns:a16="http://schemas.microsoft.com/office/drawing/2014/main" id="{7DE748BA-FE83-4AB5-A374-26C0A49C8C98}"/>
              </a:ext>
            </a:extLst>
          </p:cNvPr>
          <p:cNvSpPr/>
          <p:nvPr/>
        </p:nvSpPr>
        <p:spPr bwMode="auto">
          <a:xfrm>
            <a:off x="7204527" y="3325029"/>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cxnSp>
        <p:nvCxnSpPr>
          <p:cNvPr id="246" name="直接连接符 245">
            <a:extLst>
              <a:ext uri="{FF2B5EF4-FFF2-40B4-BE49-F238E27FC236}">
                <a16:creationId xmlns:a16="http://schemas.microsoft.com/office/drawing/2014/main" id="{03F52BB7-C27C-4974-8F00-129D659A8717}"/>
              </a:ext>
            </a:extLst>
          </p:cNvPr>
          <p:cNvCxnSpPr>
            <a:stCxn id="239" idx="2"/>
            <a:endCxn id="242" idx="0"/>
          </p:cNvCxnSpPr>
          <p:nvPr/>
        </p:nvCxnSpPr>
        <p:spPr bwMode="auto">
          <a:xfrm flipH="1">
            <a:off x="6286192" y="2647194"/>
            <a:ext cx="150489"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7" name="直接连接符 246">
            <a:extLst>
              <a:ext uri="{FF2B5EF4-FFF2-40B4-BE49-F238E27FC236}">
                <a16:creationId xmlns:a16="http://schemas.microsoft.com/office/drawing/2014/main" id="{6748CA9E-CB2D-4871-ACF1-AF6D56C7873F}"/>
              </a:ext>
            </a:extLst>
          </p:cNvPr>
          <p:cNvCxnSpPr>
            <a:stCxn id="242" idx="0"/>
            <a:endCxn id="240" idx="2"/>
          </p:cNvCxnSpPr>
          <p:nvPr/>
        </p:nvCxnSpPr>
        <p:spPr bwMode="auto">
          <a:xfrm flipV="1">
            <a:off x="6286196" y="2647194"/>
            <a:ext cx="766131"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8" name="直接连接符 247">
            <a:extLst>
              <a:ext uri="{FF2B5EF4-FFF2-40B4-BE49-F238E27FC236}">
                <a16:creationId xmlns:a16="http://schemas.microsoft.com/office/drawing/2014/main" id="{A6EE3AEB-4143-4E5F-91CD-64AB1CD8600B}"/>
              </a:ext>
            </a:extLst>
          </p:cNvPr>
          <p:cNvCxnSpPr>
            <a:stCxn id="239" idx="2"/>
            <a:endCxn id="243" idx="0"/>
          </p:cNvCxnSpPr>
          <p:nvPr/>
        </p:nvCxnSpPr>
        <p:spPr bwMode="auto">
          <a:xfrm>
            <a:off x="6436680" y="2647194"/>
            <a:ext cx="191534"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 name="直接连接符 248">
            <a:extLst>
              <a:ext uri="{FF2B5EF4-FFF2-40B4-BE49-F238E27FC236}">
                <a16:creationId xmlns:a16="http://schemas.microsoft.com/office/drawing/2014/main" id="{30539E11-E59F-4ED6-9D6F-729C5611C9AF}"/>
              </a:ext>
            </a:extLst>
          </p:cNvPr>
          <p:cNvCxnSpPr>
            <a:stCxn id="243" idx="0"/>
            <a:endCxn id="240" idx="2"/>
          </p:cNvCxnSpPr>
          <p:nvPr/>
        </p:nvCxnSpPr>
        <p:spPr bwMode="auto">
          <a:xfrm flipV="1">
            <a:off x="6628219" y="2647194"/>
            <a:ext cx="424108"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0" name="直接连接符 249">
            <a:extLst>
              <a:ext uri="{FF2B5EF4-FFF2-40B4-BE49-F238E27FC236}">
                <a16:creationId xmlns:a16="http://schemas.microsoft.com/office/drawing/2014/main" id="{9E832285-D327-44EF-AF9F-136EB939C619}"/>
              </a:ext>
            </a:extLst>
          </p:cNvPr>
          <p:cNvCxnSpPr>
            <a:stCxn id="244" idx="0"/>
            <a:endCxn id="239" idx="2"/>
          </p:cNvCxnSpPr>
          <p:nvPr/>
        </p:nvCxnSpPr>
        <p:spPr bwMode="auto">
          <a:xfrm flipH="1" flipV="1">
            <a:off x="6436680" y="2647194"/>
            <a:ext cx="533557"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1" name="直接连接符 250">
            <a:extLst>
              <a:ext uri="{FF2B5EF4-FFF2-40B4-BE49-F238E27FC236}">
                <a16:creationId xmlns:a16="http://schemas.microsoft.com/office/drawing/2014/main" id="{8D60C62D-FEFC-448A-A306-CA3D269D9F66}"/>
              </a:ext>
            </a:extLst>
          </p:cNvPr>
          <p:cNvCxnSpPr>
            <a:stCxn id="244" idx="0"/>
            <a:endCxn id="240" idx="2"/>
          </p:cNvCxnSpPr>
          <p:nvPr/>
        </p:nvCxnSpPr>
        <p:spPr bwMode="auto">
          <a:xfrm flipV="1">
            <a:off x="6970241" y="2647194"/>
            <a:ext cx="82085"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2" name="直接连接符 251">
            <a:extLst>
              <a:ext uri="{FF2B5EF4-FFF2-40B4-BE49-F238E27FC236}">
                <a16:creationId xmlns:a16="http://schemas.microsoft.com/office/drawing/2014/main" id="{7407270C-63F8-456F-862D-885D8EFEE0FF}"/>
              </a:ext>
            </a:extLst>
          </p:cNvPr>
          <p:cNvCxnSpPr>
            <a:stCxn id="245" idx="0"/>
            <a:endCxn id="239" idx="2"/>
          </p:cNvCxnSpPr>
          <p:nvPr/>
        </p:nvCxnSpPr>
        <p:spPr bwMode="auto">
          <a:xfrm flipH="1" flipV="1">
            <a:off x="6436680" y="2647194"/>
            <a:ext cx="875580"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3" name="直接连接符 252">
            <a:extLst>
              <a:ext uri="{FF2B5EF4-FFF2-40B4-BE49-F238E27FC236}">
                <a16:creationId xmlns:a16="http://schemas.microsoft.com/office/drawing/2014/main" id="{3A1E7A43-F1F4-4008-B5B4-7E3B93C05663}"/>
              </a:ext>
            </a:extLst>
          </p:cNvPr>
          <p:cNvCxnSpPr>
            <a:stCxn id="240" idx="2"/>
            <a:endCxn id="245" idx="0"/>
          </p:cNvCxnSpPr>
          <p:nvPr/>
        </p:nvCxnSpPr>
        <p:spPr bwMode="auto">
          <a:xfrm>
            <a:off x="7052328" y="2647194"/>
            <a:ext cx="259938"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4" name="直接连接符 253">
            <a:extLst>
              <a:ext uri="{FF2B5EF4-FFF2-40B4-BE49-F238E27FC236}">
                <a16:creationId xmlns:a16="http://schemas.microsoft.com/office/drawing/2014/main" id="{89F17834-C385-4741-A65E-195E961AA5E2}"/>
              </a:ext>
            </a:extLst>
          </p:cNvPr>
          <p:cNvCxnSpPr>
            <a:stCxn id="223" idx="0"/>
            <a:endCxn id="221" idx="2"/>
          </p:cNvCxnSpPr>
          <p:nvPr/>
        </p:nvCxnSpPr>
        <p:spPr bwMode="auto">
          <a:xfrm flipV="1">
            <a:off x="4865083" y="1782605"/>
            <a:ext cx="731930"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5" name="直接连接符 254">
            <a:extLst>
              <a:ext uri="{FF2B5EF4-FFF2-40B4-BE49-F238E27FC236}">
                <a16:creationId xmlns:a16="http://schemas.microsoft.com/office/drawing/2014/main" id="{EC4FA60F-B8A0-4178-A99A-A1ADA0170EDA}"/>
              </a:ext>
            </a:extLst>
          </p:cNvPr>
          <p:cNvCxnSpPr>
            <a:stCxn id="223" idx="0"/>
            <a:endCxn id="222" idx="2"/>
          </p:cNvCxnSpPr>
          <p:nvPr/>
        </p:nvCxnSpPr>
        <p:spPr bwMode="auto">
          <a:xfrm flipV="1">
            <a:off x="4865083" y="1782605"/>
            <a:ext cx="1419398"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 name="直接连接符 255">
            <a:extLst>
              <a:ext uri="{FF2B5EF4-FFF2-40B4-BE49-F238E27FC236}">
                <a16:creationId xmlns:a16="http://schemas.microsoft.com/office/drawing/2014/main" id="{9A413592-6DB5-4D26-90BD-B970218FE1A6}"/>
              </a:ext>
            </a:extLst>
          </p:cNvPr>
          <p:cNvCxnSpPr>
            <a:stCxn id="221" idx="2"/>
            <a:endCxn id="224" idx="0"/>
          </p:cNvCxnSpPr>
          <p:nvPr/>
        </p:nvCxnSpPr>
        <p:spPr bwMode="auto">
          <a:xfrm flipH="1">
            <a:off x="5480730" y="1782605"/>
            <a:ext cx="116288"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 name="直接连接符 256">
            <a:extLst>
              <a:ext uri="{FF2B5EF4-FFF2-40B4-BE49-F238E27FC236}">
                <a16:creationId xmlns:a16="http://schemas.microsoft.com/office/drawing/2014/main" id="{68B1FBD5-BB82-4546-9C5E-129D6E8BEDFD}"/>
              </a:ext>
            </a:extLst>
          </p:cNvPr>
          <p:cNvCxnSpPr>
            <a:stCxn id="224" idx="0"/>
            <a:endCxn id="222" idx="2"/>
          </p:cNvCxnSpPr>
          <p:nvPr/>
        </p:nvCxnSpPr>
        <p:spPr bwMode="auto">
          <a:xfrm flipV="1">
            <a:off x="5480730" y="1782605"/>
            <a:ext cx="803755"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8" name="直接连接符 257">
            <a:extLst>
              <a:ext uri="{FF2B5EF4-FFF2-40B4-BE49-F238E27FC236}">
                <a16:creationId xmlns:a16="http://schemas.microsoft.com/office/drawing/2014/main" id="{D91CA8E5-6E99-4841-9B3D-D87ECFDD2283}"/>
              </a:ext>
            </a:extLst>
          </p:cNvPr>
          <p:cNvCxnSpPr>
            <a:stCxn id="239" idx="0"/>
            <a:endCxn id="221" idx="2"/>
          </p:cNvCxnSpPr>
          <p:nvPr/>
        </p:nvCxnSpPr>
        <p:spPr bwMode="auto">
          <a:xfrm flipH="1" flipV="1">
            <a:off x="5597018" y="1782605"/>
            <a:ext cx="839667"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9" name="直接连接符 258">
            <a:extLst>
              <a:ext uri="{FF2B5EF4-FFF2-40B4-BE49-F238E27FC236}">
                <a16:creationId xmlns:a16="http://schemas.microsoft.com/office/drawing/2014/main" id="{FA0CEC6A-287B-4608-8F0F-645B7525B5EA}"/>
              </a:ext>
            </a:extLst>
          </p:cNvPr>
          <p:cNvCxnSpPr>
            <a:stCxn id="239" idx="0"/>
            <a:endCxn id="222" idx="2"/>
          </p:cNvCxnSpPr>
          <p:nvPr/>
        </p:nvCxnSpPr>
        <p:spPr bwMode="auto">
          <a:xfrm flipH="1" flipV="1">
            <a:off x="6284486" y="1782605"/>
            <a:ext cx="152200"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 name="直接连接符 259">
            <a:extLst>
              <a:ext uri="{FF2B5EF4-FFF2-40B4-BE49-F238E27FC236}">
                <a16:creationId xmlns:a16="http://schemas.microsoft.com/office/drawing/2014/main" id="{3DA5115E-971A-4BDB-8D6D-62719E3031AB}"/>
              </a:ext>
            </a:extLst>
          </p:cNvPr>
          <p:cNvCxnSpPr>
            <a:cxnSpLocks/>
            <a:stCxn id="240" idx="0"/>
            <a:endCxn id="221" idx="2"/>
          </p:cNvCxnSpPr>
          <p:nvPr/>
        </p:nvCxnSpPr>
        <p:spPr bwMode="auto">
          <a:xfrm flipH="1" flipV="1">
            <a:off x="5597013" y="1782605"/>
            <a:ext cx="1455310"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1" name="直接连接符 260">
            <a:extLst>
              <a:ext uri="{FF2B5EF4-FFF2-40B4-BE49-F238E27FC236}">
                <a16:creationId xmlns:a16="http://schemas.microsoft.com/office/drawing/2014/main" id="{1560EBF1-A40B-410A-94D2-7562735D4FF0}"/>
              </a:ext>
            </a:extLst>
          </p:cNvPr>
          <p:cNvCxnSpPr>
            <a:stCxn id="240" idx="0"/>
            <a:endCxn id="222" idx="2"/>
          </p:cNvCxnSpPr>
          <p:nvPr/>
        </p:nvCxnSpPr>
        <p:spPr bwMode="auto">
          <a:xfrm flipH="1" flipV="1">
            <a:off x="6284481" y="1782605"/>
            <a:ext cx="767842"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2" name="文本框 261">
            <a:extLst>
              <a:ext uri="{FF2B5EF4-FFF2-40B4-BE49-F238E27FC236}">
                <a16:creationId xmlns:a16="http://schemas.microsoft.com/office/drawing/2014/main" id="{B906A315-4D68-42F5-8590-9E87F534ED20}"/>
              </a:ext>
            </a:extLst>
          </p:cNvPr>
          <p:cNvSpPr txBox="1"/>
          <p:nvPr/>
        </p:nvSpPr>
        <p:spPr>
          <a:xfrm>
            <a:off x="6862504" y="2813427"/>
            <a:ext cx="733282" cy="306266"/>
          </a:xfrm>
          <a:prstGeom prst="rect">
            <a:avLst/>
          </a:prstGeom>
          <a:noFill/>
        </p:spPr>
        <p:txBody>
          <a:bodyPr wrap="square" rtlCol="0">
            <a:spAutoFit/>
          </a:bodyPr>
          <a:lstStyle/>
          <a:p>
            <a:pPr fontAlgn="base">
              <a:spcBef>
                <a:spcPct val="0"/>
              </a:spcBef>
              <a:spcAft>
                <a:spcPct val="0"/>
              </a:spcAft>
            </a:pPr>
            <a:r>
              <a:rPr lang="en-US" altLang="zh-CN" sz="1050" b="1" dirty="0" err="1">
                <a:solidFill>
                  <a:srgbClr val="990000">
                    <a:lumMod val="60000"/>
                    <a:lumOff val="40000"/>
                  </a:srgbClr>
                </a:solidFill>
                <a:latin typeface="Arial" pitchFamily="34" charset="0"/>
                <a:ea typeface="宋体" pitchFamily="2" charset="-122"/>
              </a:rPr>
              <a:t>iStack</a:t>
            </a:r>
            <a:endParaRPr lang="zh-CN" altLang="en-US" sz="1050" b="1" dirty="0">
              <a:solidFill>
                <a:srgbClr val="990000">
                  <a:lumMod val="60000"/>
                  <a:lumOff val="40000"/>
                </a:srgbClr>
              </a:solidFill>
              <a:latin typeface="Arial" pitchFamily="34" charset="0"/>
              <a:ea typeface="宋体" pitchFamily="2" charset="-122"/>
            </a:endParaRPr>
          </a:p>
        </p:txBody>
      </p:sp>
      <p:sp>
        <p:nvSpPr>
          <p:cNvPr id="263" name="文本框 262">
            <a:extLst>
              <a:ext uri="{FF2B5EF4-FFF2-40B4-BE49-F238E27FC236}">
                <a16:creationId xmlns:a16="http://schemas.microsoft.com/office/drawing/2014/main" id="{E269A808-AB2D-449D-A04D-EF60768BB14D}"/>
              </a:ext>
            </a:extLst>
          </p:cNvPr>
          <p:cNvSpPr txBox="1"/>
          <p:nvPr/>
        </p:nvSpPr>
        <p:spPr>
          <a:xfrm>
            <a:off x="6532453" y="1449489"/>
            <a:ext cx="566793" cy="315547"/>
          </a:xfrm>
          <a:prstGeom prst="rect">
            <a:avLst/>
          </a:prstGeom>
          <a:noFill/>
        </p:spPr>
        <p:txBody>
          <a:bodyPr wrap="none" rtlCol="0">
            <a:spAutoFit/>
          </a:bodyPr>
          <a:lstStyle/>
          <a:p>
            <a:pPr fontAlgn="base">
              <a:spcBef>
                <a:spcPct val="0"/>
              </a:spcBef>
              <a:spcAft>
                <a:spcPct val="0"/>
              </a:spcAft>
            </a:pPr>
            <a:r>
              <a:rPr lang="zh-CN" altLang="en-US" sz="1100" b="1" dirty="0">
                <a:solidFill>
                  <a:srgbClr val="000000"/>
                </a:solidFill>
                <a:latin typeface="Arial" pitchFamily="34" charset="0"/>
                <a:ea typeface="宋体" pitchFamily="2" charset="-122"/>
              </a:rPr>
              <a:t>核心</a:t>
            </a:r>
          </a:p>
        </p:txBody>
      </p:sp>
      <p:sp>
        <p:nvSpPr>
          <p:cNvPr id="264" name="椭圆 263">
            <a:extLst>
              <a:ext uri="{FF2B5EF4-FFF2-40B4-BE49-F238E27FC236}">
                <a16:creationId xmlns:a16="http://schemas.microsoft.com/office/drawing/2014/main" id="{DCB81D4B-17F1-4787-83D9-9CFD0820DF5D}"/>
              </a:ext>
            </a:extLst>
          </p:cNvPr>
          <p:cNvSpPr/>
          <p:nvPr/>
        </p:nvSpPr>
        <p:spPr bwMode="auto">
          <a:xfrm>
            <a:off x="5135106" y="2380076"/>
            <a:ext cx="92524" cy="229776"/>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65" name="椭圆 264">
            <a:extLst>
              <a:ext uri="{FF2B5EF4-FFF2-40B4-BE49-F238E27FC236}">
                <a16:creationId xmlns:a16="http://schemas.microsoft.com/office/drawing/2014/main" id="{876F334E-1E7D-4C78-9020-D4E4B07B5018}"/>
              </a:ext>
            </a:extLst>
          </p:cNvPr>
          <p:cNvSpPr/>
          <p:nvPr/>
        </p:nvSpPr>
        <p:spPr bwMode="auto">
          <a:xfrm>
            <a:off x="6706798" y="2388700"/>
            <a:ext cx="92524" cy="229776"/>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66" name="椭圆 265">
            <a:extLst>
              <a:ext uri="{FF2B5EF4-FFF2-40B4-BE49-F238E27FC236}">
                <a16:creationId xmlns:a16="http://schemas.microsoft.com/office/drawing/2014/main" id="{12E5FFB5-D963-4A8A-BA42-38AEC95DCDFB}"/>
              </a:ext>
            </a:extLst>
          </p:cNvPr>
          <p:cNvSpPr/>
          <p:nvPr/>
        </p:nvSpPr>
        <p:spPr bwMode="auto">
          <a:xfrm rot="5400000">
            <a:off x="4743884" y="3115548"/>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67" name="椭圆 266">
            <a:extLst>
              <a:ext uri="{FF2B5EF4-FFF2-40B4-BE49-F238E27FC236}">
                <a16:creationId xmlns:a16="http://schemas.microsoft.com/office/drawing/2014/main" id="{AC931552-4E25-4F77-9EFE-550EC0E5A613}"/>
              </a:ext>
            </a:extLst>
          </p:cNvPr>
          <p:cNvSpPr/>
          <p:nvPr/>
        </p:nvSpPr>
        <p:spPr bwMode="auto">
          <a:xfrm rot="5400000">
            <a:off x="5028931" y="3115069"/>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68" name="椭圆 267">
            <a:extLst>
              <a:ext uri="{FF2B5EF4-FFF2-40B4-BE49-F238E27FC236}">
                <a16:creationId xmlns:a16="http://schemas.microsoft.com/office/drawing/2014/main" id="{5B15F72E-0F8E-4349-A91A-8B29D12297A3}"/>
              </a:ext>
            </a:extLst>
          </p:cNvPr>
          <p:cNvSpPr/>
          <p:nvPr/>
        </p:nvSpPr>
        <p:spPr bwMode="auto">
          <a:xfrm rot="5400000">
            <a:off x="5338370" y="3122251"/>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69" name="椭圆 268">
            <a:extLst>
              <a:ext uri="{FF2B5EF4-FFF2-40B4-BE49-F238E27FC236}">
                <a16:creationId xmlns:a16="http://schemas.microsoft.com/office/drawing/2014/main" id="{11B669B3-2407-4415-B01D-F1B85ABA53FD}"/>
              </a:ext>
            </a:extLst>
          </p:cNvPr>
          <p:cNvSpPr/>
          <p:nvPr/>
        </p:nvSpPr>
        <p:spPr bwMode="auto">
          <a:xfrm rot="5400000">
            <a:off x="5629316" y="3115069"/>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70" name="椭圆 269">
            <a:extLst>
              <a:ext uri="{FF2B5EF4-FFF2-40B4-BE49-F238E27FC236}">
                <a16:creationId xmlns:a16="http://schemas.microsoft.com/office/drawing/2014/main" id="{FBB91815-7555-4AFC-86E6-D481B57FA046}"/>
              </a:ext>
            </a:extLst>
          </p:cNvPr>
          <p:cNvSpPr/>
          <p:nvPr/>
        </p:nvSpPr>
        <p:spPr bwMode="auto">
          <a:xfrm rot="5400000">
            <a:off x="6287629" y="3118421"/>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71" name="椭圆 270">
            <a:extLst>
              <a:ext uri="{FF2B5EF4-FFF2-40B4-BE49-F238E27FC236}">
                <a16:creationId xmlns:a16="http://schemas.microsoft.com/office/drawing/2014/main" id="{6E8E4209-5558-4C90-A596-80B05E7AD65B}"/>
              </a:ext>
            </a:extLst>
          </p:cNvPr>
          <p:cNvSpPr/>
          <p:nvPr/>
        </p:nvSpPr>
        <p:spPr bwMode="auto">
          <a:xfrm rot="5400000">
            <a:off x="6598659" y="3116506"/>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72" name="椭圆 271">
            <a:extLst>
              <a:ext uri="{FF2B5EF4-FFF2-40B4-BE49-F238E27FC236}">
                <a16:creationId xmlns:a16="http://schemas.microsoft.com/office/drawing/2014/main" id="{D1EA7C85-1071-410B-8CC3-F7FC56F0D135}"/>
              </a:ext>
            </a:extLst>
          </p:cNvPr>
          <p:cNvSpPr/>
          <p:nvPr/>
        </p:nvSpPr>
        <p:spPr bwMode="auto">
          <a:xfrm rot="5400000">
            <a:off x="6888227" y="3120011"/>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73" name="椭圆 272">
            <a:extLst>
              <a:ext uri="{FF2B5EF4-FFF2-40B4-BE49-F238E27FC236}">
                <a16:creationId xmlns:a16="http://schemas.microsoft.com/office/drawing/2014/main" id="{F3D84ED9-F398-474A-A97A-85129A2CD3D7}"/>
              </a:ext>
            </a:extLst>
          </p:cNvPr>
          <p:cNvSpPr/>
          <p:nvPr/>
        </p:nvSpPr>
        <p:spPr bwMode="auto">
          <a:xfrm rot="5400000">
            <a:off x="7191931" y="3124320"/>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74" name="矩形 273">
            <a:extLst>
              <a:ext uri="{FF2B5EF4-FFF2-40B4-BE49-F238E27FC236}">
                <a16:creationId xmlns:a16="http://schemas.microsoft.com/office/drawing/2014/main" id="{B6FBC0D8-00D1-43A3-B2F5-DD1EF4A1701E}"/>
              </a:ext>
            </a:extLst>
          </p:cNvPr>
          <p:cNvSpPr/>
          <p:nvPr/>
        </p:nvSpPr>
        <p:spPr bwMode="auto">
          <a:xfrm>
            <a:off x="8036863" y="2177560"/>
            <a:ext cx="1445050" cy="1884268"/>
          </a:xfrm>
          <a:prstGeom prst="rect">
            <a:avLst/>
          </a:prstGeom>
          <a:solidFill>
            <a:srgbClr val="E0E0E0">
              <a:alpha val="60000"/>
            </a:srgbClr>
          </a:solidFill>
          <a:ln w="9525" cap="flat" cmpd="sng" algn="ctr">
            <a:solidFill>
              <a:srgbClr val="000000"/>
            </a:solidFill>
            <a:prstDash val="dash"/>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charset="0"/>
                <a:ea typeface="宋体" charset="-122"/>
              </a:rPr>
              <a:t>POD1</a:t>
            </a:r>
            <a:endParaRPr kumimoji="0" lang="zh-CN" altLang="en-US" sz="1200" b="0" i="0" u="none" strike="noStrike" kern="0" cap="none" spc="0" normalizeH="0" baseline="0" noProof="0" dirty="0">
              <a:ln>
                <a:noFill/>
              </a:ln>
              <a:solidFill>
                <a:srgbClr val="000000"/>
              </a:solidFill>
              <a:effectLst/>
              <a:uLnTx/>
              <a:uFillTx/>
              <a:latin typeface="Arial" charset="0"/>
              <a:ea typeface="宋体" charset="-122"/>
            </a:endParaRPr>
          </a:p>
        </p:txBody>
      </p:sp>
      <p:sp>
        <p:nvSpPr>
          <p:cNvPr id="275" name="矩形 274">
            <a:extLst>
              <a:ext uri="{FF2B5EF4-FFF2-40B4-BE49-F238E27FC236}">
                <a16:creationId xmlns:a16="http://schemas.microsoft.com/office/drawing/2014/main" id="{C9D01CFA-53B2-4007-A230-08E631ADFAB2}"/>
              </a:ext>
            </a:extLst>
          </p:cNvPr>
          <p:cNvSpPr/>
          <p:nvPr/>
        </p:nvSpPr>
        <p:spPr bwMode="auto">
          <a:xfrm>
            <a:off x="8914136" y="1468181"/>
            <a:ext cx="482254"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76" name="矩形 275">
            <a:extLst>
              <a:ext uri="{FF2B5EF4-FFF2-40B4-BE49-F238E27FC236}">
                <a16:creationId xmlns:a16="http://schemas.microsoft.com/office/drawing/2014/main" id="{6D2B5D90-97C8-4A49-A8C0-7FB8A52B43D9}"/>
              </a:ext>
            </a:extLst>
          </p:cNvPr>
          <p:cNvSpPr/>
          <p:nvPr/>
        </p:nvSpPr>
        <p:spPr bwMode="auto">
          <a:xfrm>
            <a:off x="9601604" y="1468181"/>
            <a:ext cx="482254"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77" name="矩形 276">
            <a:extLst>
              <a:ext uri="{FF2B5EF4-FFF2-40B4-BE49-F238E27FC236}">
                <a16:creationId xmlns:a16="http://schemas.microsoft.com/office/drawing/2014/main" id="{F60E59A6-0A76-4C0F-905F-5CFEB9CC4012}"/>
              </a:ext>
            </a:extLst>
          </p:cNvPr>
          <p:cNvSpPr/>
          <p:nvPr/>
        </p:nvSpPr>
        <p:spPr bwMode="auto">
          <a:xfrm>
            <a:off x="8233509" y="2332764"/>
            <a:ext cx="379647"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78" name="矩形 277">
            <a:extLst>
              <a:ext uri="{FF2B5EF4-FFF2-40B4-BE49-F238E27FC236}">
                <a16:creationId xmlns:a16="http://schemas.microsoft.com/office/drawing/2014/main" id="{3A70143E-474C-4687-AC49-CF4A2FA611A9}"/>
              </a:ext>
            </a:extLst>
          </p:cNvPr>
          <p:cNvSpPr/>
          <p:nvPr/>
        </p:nvSpPr>
        <p:spPr bwMode="auto">
          <a:xfrm>
            <a:off x="8849153" y="2332764"/>
            <a:ext cx="379647"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cxnSp>
        <p:nvCxnSpPr>
          <p:cNvPr id="279" name="直接连接符 278">
            <a:extLst>
              <a:ext uri="{FF2B5EF4-FFF2-40B4-BE49-F238E27FC236}">
                <a16:creationId xmlns:a16="http://schemas.microsoft.com/office/drawing/2014/main" id="{80BFEDAC-8DFD-400D-B5BF-EDC00C394B9B}"/>
              </a:ext>
            </a:extLst>
          </p:cNvPr>
          <p:cNvCxnSpPr>
            <a:stCxn id="277" idx="3"/>
            <a:endCxn id="278" idx="1"/>
          </p:cNvCxnSpPr>
          <p:nvPr/>
        </p:nvCxnSpPr>
        <p:spPr bwMode="auto">
          <a:xfrm>
            <a:off x="8613161" y="2482118"/>
            <a:ext cx="235996" cy="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0" name="矩形 279">
            <a:extLst>
              <a:ext uri="{FF2B5EF4-FFF2-40B4-BE49-F238E27FC236}">
                <a16:creationId xmlns:a16="http://schemas.microsoft.com/office/drawing/2014/main" id="{8C26CED3-06F8-49A1-B4D9-AEADCDD46CD4}"/>
              </a:ext>
            </a:extLst>
          </p:cNvPr>
          <p:cNvSpPr/>
          <p:nvPr/>
        </p:nvSpPr>
        <p:spPr bwMode="auto">
          <a:xfrm>
            <a:off x="8165111" y="3309313"/>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81" name="矩形 280">
            <a:extLst>
              <a:ext uri="{FF2B5EF4-FFF2-40B4-BE49-F238E27FC236}">
                <a16:creationId xmlns:a16="http://schemas.microsoft.com/office/drawing/2014/main" id="{E91B72FC-648A-4D29-952F-FFD1AA6D04B0}"/>
              </a:ext>
            </a:extLst>
          </p:cNvPr>
          <p:cNvSpPr/>
          <p:nvPr/>
        </p:nvSpPr>
        <p:spPr bwMode="auto">
          <a:xfrm>
            <a:off x="8507134" y="3309313"/>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82" name="矩形 281">
            <a:extLst>
              <a:ext uri="{FF2B5EF4-FFF2-40B4-BE49-F238E27FC236}">
                <a16:creationId xmlns:a16="http://schemas.microsoft.com/office/drawing/2014/main" id="{3135FD65-D63E-4F17-A219-9A99114D4EFB}"/>
              </a:ext>
            </a:extLst>
          </p:cNvPr>
          <p:cNvSpPr/>
          <p:nvPr/>
        </p:nvSpPr>
        <p:spPr bwMode="auto">
          <a:xfrm>
            <a:off x="8849157" y="3309313"/>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83" name="矩形 282">
            <a:extLst>
              <a:ext uri="{FF2B5EF4-FFF2-40B4-BE49-F238E27FC236}">
                <a16:creationId xmlns:a16="http://schemas.microsoft.com/office/drawing/2014/main" id="{0AA6BC25-BC24-4C0C-835F-7CEC66A77961}"/>
              </a:ext>
            </a:extLst>
          </p:cNvPr>
          <p:cNvSpPr/>
          <p:nvPr/>
        </p:nvSpPr>
        <p:spPr bwMode="auto">
          <a:xfrm>
            <a:off x="9191180" y="3309313"/>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cxnSp>
        <p:nvCxnSpPr>
          <p:cNvPr id="284" name="直接连接符 283">
            <a:extLst>
              <a:ext uri="{FF2B5EF4-FFF2-40B4-BE49-F238E27FC236}">
                <a16:creationId xmlns:a16="http://schemas.microsoft.com/office/drawing/2014/main" id="{11224477-4F83-4A00-95D1-D3CB3A1D71B6}"/>
              </a:ext>
            </a:extLst>
          </p:cNvPr>
          <p:cNvCxnSpPr>
            <a:stCxn id="277" idx="2"/>
            <a:endCxn id="280" idx="0"/>
          </p:cNvCxnSpPr>
          <p:nvPr/>
        </p:nvCxnSpPr>
        <p:spPr bwMode="auto">
          <a:xfrm flipH="1">
            <a:off x="8272845" y="2631477"/>
            <a:ext cx="150489"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 name="直接连接符 284">
            <a:extLst>
              <a:ext uri="{FF2B5EF4-FFF2-40B4-BE49-F238E27FC236}">
                <a16:creationId xmlns:a16="http://schemas.microsoft.com/office/drawing/2014/main" id="{F8BC1E2B-B05E-48BB-BD69-B1D2487072EF}"/>
              </a:ext>
            </a:extLst>
          </p:cNvPr>
          <p:cNvCxnSpPr>
            <a:stCxn id="280" idx="0"/>
            <a:endCxn id="278" idx="2"/>
          </p:cNvCxnSpPr>
          <p:nvPr/>
        </p:nvCxnSpPr>
        <p:spPr bwMode="auto">
          <a:xfrm flipV="1">
            <a:off x="8272849" y="2631477"/>
            <a:ext cx="766131"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 name="直接连接符 285">
            <a:extLst>
              <a:ext uri="{FF2B5EF4-FFF2-40B4-BE49-F238E27FC236}">
                <a16:creationId xmlns:a16="http://schemas.microsoft.com/office/drawing/2014/main" id="{C704E4CB-0D16-404A-A172-BB7F2B88F5FB}"/>
              </a:ext>
            </a:extLst>
          </p:cNvPr>
          <p:cNvCxnSpPr>
            <a:stCxn id="277" idx="2"/>
            <a:endCxn id="281" idx="0"/>
          </p:cNvCxnSpPr>
          <p:nvPr/>
        </p:nvCxnSpPr>
        <p:spPr bwMode="auto">
          <a:xfrm>
            <a:off x="8423334" y="2631477"/>
            <a:ext cx="191534"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 name="直接连接符 286">
            <a:extLst>
              <a:ext uri="{FF2B5EF4-FFF2-40B4-BE49-F238E27FC236}">
                <a16:creationId xmlns:a16="http://schemas.microsoft.com/office/drawing/2014/main" id="{6F256B3C-262A-43C8-8E71-B3F2EA8DB66E}"/>
              </a:ext>
            </a:extLst>
          </p:cNvPr>
          <p:cNvCxnSpPr>
            <a:stCxn id="281" idx="0"/>
            <a:endCxn id="278" idx="2"/>
          </p:cNvCxnSpPr>
          <p:nvPr/>
        </p:nvCxnSpPr>
        <p:spPr bwMode="auto">
          <a:xfrm flipV="1">
            <a:off x="8614871" y="2631477"/>
            <a:ext cx="424108"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 name="直接连接符 287">
            <a:extLst>
              <a:ext uri="{FF2B5EF4-FFF2-40B4-BE49-F238E27FC236}">
                <a16:creationId xmlns:a16="http://schemas.microsoft.com/office/drawing/2014/main" id="{95DF605D-E913-473E-9481-A3C64C87C4AC}"/>
              </a:ext>
            </a:extLst>
          </p:cNvPr>
          <p:cNvCxnSpPr>
            <a:stCxn id="282" idx="0"/>
            <a:endCxn id="277" idx="2"/>
          </p:cNvCxnSpPr>
          <p:nvPr/>
        </p:nvCxnSpPr>
        <p:spPr bwMode="auto">
          <a:xfrm flipH="1" flipV="1">
            <a:off x="8423334" y="2631477"/>
            <a:ext cx="533557"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 name="直接连接符 288">
            <a:extLst>
              <a:ext uri="{FF2B5EF4-FFF2-40B4-BE49-F238E27FC236}">
                <a16:creationId xmlns:a16="http://schemas.microsoft.com/office/drawing/2014/main" id="{FCCECC62-FD44-42E8-BCAD-1F215F5826EB}"/>
              </a:ext>
            </a:extLst>
          </p:cNvPr>
          <p:cNvCxnSpPr>
            <a:stCxn id="282" idx="0"/>
            <a:endCxn id="278" idx="2"/>
          </p:cNvCxnSpPr>
          <p:nvPr/>
        </p:nvCxnSpPr>
        <p:spPr bwMode="auto">
          <a:xfrm flipV="1">
            <a:off x="8956893" y="2631477"/>
            <a:ext cx="82085"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 name="直接连接符 289">
            <a:extLst>
              <a:ext uri="{FF2B5EF4-FFF2-40B4-BE49-F238E27FC236}">
                <a16:creationId xmlns:a16="http://schemas.microsoft.com/office/drawing/2014/main" id="{FEDCD668-C01F-4185-8997-84097C294649}"/>
              </a:ext>
            </a:extLst>
          </p:cNvPr>
          <p:cNvCxnSpPr>
            <a:stCxn id="283" idx="0"/>
            <a:endCxn id="277" idx="2"/>
          </p:cNvCxnSpPr>
          <p:nvPr/>
        </p:nvCxnSpPr>
        <p:spPr bwMode="auto">
          <a:xfrm flipH="1" flipV="1">
            <a:off x="8423333" y="2631477"/>
            <a:ext cx="875580"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 name="直接连接符 290">
            <a:extLst>
              <a:ext uri="{FF2B5EF4-FFF2-40B4-BE49-F238E27FC236}">
                <a16:creationId xmlns:a16="http://schemas.microsoft.com/office/drawing/2014/main" id="{1B207738-CD9C-44DE-ABD3-0B31EB94BAD3}"/>
              </a:ext>
            </a:extLst>
          </p:cNvPr>
          <p:cNvCxnSpPr>
            <a:stCxn id="278" idx="2"/>
            <a:endCxn id="283" idx="0"/>
          </p:cNvCxnSpPr>
          <p:nvPr/>
        </p:nvCxnSpPr>
        <p:spPr bwMode="auto">
          <a:xfrm>
            <a:off x="9038980" y="2631477"/>
            <a:ext cx="259938"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2" name="矩形 291">
            <a:extLst>
              <a:ext uri="{FF2B5EF4-FFF2-40B4-BE49-F238E27FC236}">
                <a16:creationId xmlns:a16="http://schemas.microsoft.com/office/drawing/2014/main" id="{7CB6926A-AA4E-4681-B56C-D6EBA2D0A0F9}"/>
              </a:ext>
            </a:extLst>
          </p:cNvPr>
          <p:cNvSpPr/>
          <p:nvPr/>
        </p:nvSpPr>
        <p:spPr bwMode="auto">
          <a:xfrm>
            <a:off x="9608459" y="2177560"/>
            <a:ext cx="1445050" cy="1884268"/>
          </a:xfrm>
          <a:prstGeom prst="rect">
            <a:avLst/>
          </a:prstGeom>
          <a:solidFill>
            <a:srgbClr val="E0E0E0">
              <a:alpha val="60000"/>
            </a:srgbClr>
          </a:solidFill>
          <a:ln w="9525" cap="flat" cmpd="sng" algn="ctr">
            <a:solidFill>
              <a:srgbClr val="000000"/>
            </a:solidFill>
            <a:prstDash val="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charset="0"/>
                <a:ea typeface="宋体" charset="-122"/>
              </a:rPr>
              <a:t>POD2</a:t>
            </a:r>
            <a:endParaRPr kumimoji="0" lang="zh-CN" altLang="en-US" sz="1200" b="0" i="0" u="none" strike="noStrike" kern="0" cap="none" spc="0" normalizeH="0" baseline="0" noProof="0" dirty="0">
              <a:ln>
                <a:noFill/>
              </a:ln>
              <a:solidFill>
                <a:srgbClr val="000000"/>
              </a:solidFill>
              <a:effectLst/>
              <a:uLnTx/>
              <a:uFillTx/>
              <a:latin typeface="Arial" charset="0"/>
              <a:ea typeface="宋体" charset="-122"/>
            </a:endParaRPr>
          </a:p>
        </p:txBody>
      </p:sp>
      <p:sp>
        <p:nvSpPr>
          <p:cNvPr id="293" name="矩形 292">
            <a:extLst>
              <a:ext uri="{FF2B5EF4-FFF2-40B4-BE49-F238E27FC236}">
                <a16:creationId xmlns:a16="http://schemas.microsoft.com/office/drawing/2014/main" id="{2BB856E5-F772-4D6B-9540-99C9A0DC1992}"/>
              </a:ext>
            </a:extLst>
          </p:cNvPr>
          <p:cNvSpPr/>
          <p:nvPr/>
        </p:nvSpPr>
        <p:spPr bwMode="auto">
          <a:xfrm>
            <a:off x="9805108" y="2332764"/>
            <a:ext cx="379647"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94" name="矩形 293">
            <a:extLst>
              <a:ext uri="{FF2B5EF4-FFF2-40B4-BE49-F238E27FC236}">
                <a16:creationId xmlns:a16="http://schemas.microsoft.com/office/drawing/2014/main" id="{82E0F63A-BE3B-4FD4-9F83-893A696778E8}"/>
              </a:ext>
            </a:extLst>
          </p:cNvPr>
          <p:cNvSpPr/>
          <p:nvPr/>
        </p:nvSpPr>
        <p:spPr bwMode="auto">
          <a:xfrm>
            <a:off x="10420751" y="2332764"/>
            <a:ext cx="379647"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cxnSp>
        <p:nvCxnSpPr>
          <p:cNvPr id="295" name="直接连接符 294">
            <a:extLst>
              <a:ext uri="{FF2B5EF4-FFF2-40B4-BE49-F238E27FC236}">
                <a16:creationId xmlns:a16="http://schemas.microsoft.com/office/drawing/2014/main" id="{E7908BBD-5DA5-473B-9929-21C4E1B77817}"/>
              </a:ext>
            </a:extLst>
          </p:cNvPr>
          <p:cNvCxnSpPr>
            <a:stCxn id="293" idx="3"/>
            <a:endCxn id="294" idx="1"/>
          </p:cNvCxnSpPr>
          <p:nvPr/>
        </p:nvCxnSpPr>
        <p:spPr bwMode="auto">
          <a:xfrm>
            <a:off x="10184758" y="2482118"/>
            <a:ext cx="235996" cy="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6" name="矩形 295">
            <a:extLst>
              <a:ext uri="{FF2B5EF4-FFF2-40B4-BE49-F238E27FC236}">
                <a16:creationId xmlns:a16="http://schemas.microsoft.com/office/drawing/2014/main" id="{2F2AFABE-4262-442D-8B67-1E464FCF1C3C}"/>
              </a:ext>
            </a:extLst>
          </p:cNvPr>
          <p:cNvSpPr/>
          <p:nvPr/>
        </p:nvSpPr>
        <p:spPr bwMode="auto">
          <a:xfrm>
            <a:off x="9736708" y="3309313"/>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97" name="矩形 296">
            <a:extLst>
              <a:ext uri="{FF2B5EF4-FFF2-40B4-BE49-F238E27FC236}">
                <a16:creationId xmlns:a16="http://schemas.microsoft.com/office/drawing/2014/main" id="{2E2A09BF-E188-4BCB-933E-E1678B25E578}"/>
              </a:ext>
            </a:extLst>
          </p:cNvPr>
          <p:cNvSpPr/>
          <p:nvPr/>
        </p:nvSpPr>
        <p:spPr bwMode="auto">
          <a:xfrm>
            <a:off x="10078731" y="3309313"/>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98" name="矩形 297">
            <a:extLst>
              <a:ext uri="{FF2B5EF4-FFF2-40B4-BE49-F238E27FC236}">
                <a16:creationId xmlns:a16="http://schemas.microsoft.com/office/drawing/2014/main" id="{F0D73F36-1199-4275-B63A-0A25F0ABC8E2}"/>
              </a:ext>
            </a:extLst>
          </p:cNvPr>
          <p:cNvSpPr/>
          <p:nvPr/>
        </p:nvSpPr>
        <p:spPr bwMode="auto">
          <a:xfrm>
            <a:off x="10420754" y="3309313"/>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99" name="矩形 298">
            <a:extLst>
              <a:ext uri="{FF2B5EF4-FFF2-40B4-BE49-F238E27FC236}">
                <a16:creationId xmlns:a16="http://schemas.microsoft.com/office/drawing/2014/main" id="{3FE9A499-5B9C-40E1-ABCD-4C3E31726E4A}"/>
              </a:ext>
            </a:extLst>
          </p:cNvPr>
          <p:cNvSpPr/>
          <p:nvPr/>
        </p:nvSpPr>
        <p:spPr bwMode="auto">
          <a:xfrm>
            <a:off x="10762777" y="3309313"/>
            <a:ext cx="215475" cy="298709"/>
          </a:xfrm>
          <a:prstGeom prst="rect">
            <a:avLst/>
          </a:prstGeom>
          <a:solidFill>
            <a:srgbClr val="FFCC66"/>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cxnSp>
        <p:nvCxnSpPr>
          <p:cNvPr id="300" name="直接连接符 299">
            <a:extLst>
              <a:ext uri="{FF2B5EF4-FFF2-40B4-BE49-F238E27FC236}">
                <a16:creationId xmlns:a16="http://schemas.microsoft.com/office/drawing/2014/main" id="{B0CE5D03-6C12-49EC-A135-BC5D826BAAB0}"/>
              </a:ext>
            </a:extLst>
          </p:cNvPr>
          <p:cNvCxnSpPr>
            <a:stCxn id="293" idx="2"/>
            <a:endCxn id="296" idx="0"/>
          </p:cNvCxnSpPr>
          <p:nvPr/>
        </p:nvCxnSpPr>
        <p:spPr bwMode="auto">
          <a:xfrm flipH="1">
            <a:off x="9844442" y="2631477"/>
            <a:ext cx="150489"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 name="直接连接符 300">
            <a:extLst>
              <a:ext uri="{FF2B5EF4-FFF2-40B4-BE49-F238E27FC236}">
                <a16:creationId xmlns:a16="http://schemas.microsoft.com/office/drawing/2014/main" id="{1E084109-7614-4329-9032-9F588956945C}"/>
              </a:ext>
            </a:extLst>
          </p:cNvPr>
          <p:cNvCxnSpPr>
            <a:stCxn id="296" idx="0"/>
            <a:endCxn id="294" idx="2"/>
          </p:cNvCxnSpPr>
          <p:nvPr/>
        </p:nvCxnSpPr>
        <p:spPr bwMode="auto">
          <a:xfrm flipV="1">
            <a:off x="9844447" y="2631477"/>
            <a:ext cx="766131"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 name="直接连接符 301">
            <a:extLst>
              <a:ext uri="{FF2B5EF4-FFF2-40B4-BE49-F238E27FC236}">
                <a16:creationId xmlns:a16="http://schemas.microsoft.com/office/drawing/2014/main" id="{3ED506B1-44BD-4D37-A637-A4109B0FDCD5}"/>
              </a:ext>
            </a:extLst>
          </p:cNvPr>
          <p:cNvCxnSpPr>
            <a:stCxn id="293" idx="2"/>
            <a:endCxn id="297" idx="0"/>
          </p:cNvCxnSpPr>
          <p:nvPr/>
        </p:nvCxnSpPr>
        <p:spPr bwMode="auto">
          <a:xfrm>
            <a:off x="9994930" y="2631477"/>
            <a:ext cx="191534"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3" name="直接连接符 302">
            <a:extLst>
              <a:ext uri="{FF2B5EF4-FFF2-40B4-BE49-F238E27FC236}">
                <a16:creationId xmlns:a16="http://schemas.microsoft.com/office/drawing/2014/main" id="{AB812E0C-2372-4047-BD9D-4FC4E84CE22B}"/>
              </a:ext>
            </a:extLst>
          </p:cNvPr>
          <p:cNvCxnSpPr>
            <a:stCxn id="297" idx="0"/>
            <a:endCxn id="294" idx="2"/>
          </p:cNvCxnSpPr>
          <p:nvPr/>
        </p:nvCxnSpPr>
        <p:spPr bwMode="auto">
          <a:xfrm flipV="1">
            <a:off x="10186470" y="2631477"/>
            <a:ext cx="424108"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4" name="直接连接符 303">
            <a:extLst>
              <a:ext uri="{FF2B5EF4-FFF2-40B4-BE49-F238E27FC236}">
                <a16:creationId xmlns:a16="http://schemas.microsoft.com/office/drawing/2014/main" id="{5719E97F-A564-45BE-A673-3FC712926FC9}"/>
              </a:ext>
            </a:extLst>
          </p:cNvPr>
          <p:cNvCxnSpPr>
            <a:stCxn id="298" idx="0"/>
            <a:endCxn id="293" idx="2"/>
          </p:cNvCxnSpPr>
          <p:nvPr/>
        </p:nvCxnSpPr>
        <p:spPr bwMode="auto">
          <a:xfrm flipH="1" flipV="1">
            <a:off x="9994930" y="2631477"/>
            <a:ext cx="533557"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5" name="直接连接符 304">
            <a:extLst>
              <a:ext uri="{FF2B5EF4-FFF2-40B4-BE49-F238E27FC236}">
                <a16:creationId xmlns:a16="http://schemas.microsoft.com/office/drawing/2014/main" id="{B87E0DC2-D240-45F6-A898-EA34F8DE8B1A}"/>
              </a:ext>
            </a:extLst>
          </p:cNvPr>
          <p:cNvCxnSpPr>
            <a:stCxn id="298" idx="0"/>
            <a:endCxn id="294" idx="2"/>
          </p:cNvCxnSpPr>
          <p:nvPr/>
        </p:nvCxnSpPr>
        <p:spPr bwMode="auto">
          <a:xfrm flipV="1">
            <a:off x="10528491" y="2631477"/>
            <a:ext cx="82085"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6" name="直接连接符 305">
            <a:extLst>
              <a:ext uri="{FF2B5EF4-FFF2-40B4-BE49-F238E27FC236}">
                <a16:creationId xmlns:a16="http://schemas.microsoft.com/office/drawing/2014/main" id="{C63E475D-1344-4096-94A0-60E6D977E107}"/>
              </a:ext>
            </a:extLst>
          </p:cNvPr>
          <p:cNvCxnSpPr>
            <a:stCxn id="299" idx="0"/>
            <a:endCxn id="293" idx="2"/>
          </p:cNvCxnSpPr>
          <p:nvPr/>
        </p:nvCxnSpPr>
        <p:spPr bwMode="auto">
          <a:xfrm flipH="1" flipV="1">
            <a:off x="9994930" y="2631477"/>
            <a:ext cx="875580"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 name="直接连接符 306">
            <a:extLst>
              <a:ext uri="{FF2B5EF4-FFF2-40B4-BE49-F238E27FC236}">
                <a16:creationId xmlns:a16="http://schemas.microsoft.com/office/drawing/2014/main" id="{00138913-4AAE-4F14-A99E-922080FA9B53}"/>
              </a:ext>
            </a:extLst>
          </p:cNvPr>
          <p:cNvCxnSpPr>
            <a:stCxn id="294" idx="2"/>
            <a:endCxn id="299" idx="0"/>
          </p:cNvCxnSpPr>
          <p:nvPr/>
        </p:nvCxnSpPr>
        <p:spPr bwMode="auto">
          <a:xfrm>
            <a:off x="10610578" y="2631477"/>
            <a:ext cx="259938" cy="67783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8" name="直接连接符 307">
            <a:extLst>
              <a:ext uri="{FF2B5EF4-FFF2-40B4-BE49-F238E27FC236}">
                <a16:creationId xmlns:a16="http://schemas.microsoft.com/office/drawing/2014/main" id="{0BC69757-4C87-4891-9286-BB02F0846ADE}"/>
              </a:ext>
            </a:extLst>
          </p:cNvPr>
          <p:cNvCxnSpPr>
            <a:stCxn id="277" idx="0"/>
            <a:endCxn id="275" idx="2"/>
          </p:cNvCxnSpPr>
          <p:nvPr/>
        </p:nvCxnSpPr>
        <p:spPr bwMode="auto">
          <a:xfrm flipV="1">
            <a:off x="8423333" y="1766888"/>
            <a:ext cx="731930"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9" name="直接连接符 308">
            <a:extLst>
              <a:ext uri="{FF2B5EF4-FFF2-40B4-BE49-F238E27FC236}">
                <a16:creationId xmlns:a16="http://schemas.microsoft.com/office/drawing/2014/main" id="{7CCACE10-42B4-417F-A328-D943CED96A8E}"/>
              </a:ext>
            </a:extLst>
          </p:cNvPr>
          <p:cNvCxnSpPr>
            <a:stCxn id="277" idx="0"/>
            <a:endCxn id="276" idx="2"/>
          </p:cNvCxnSpPr>
          <p:nvPr/>
        </p:nvCxnSpPr>
        <p:spPr bwMode="auto">
          <a:xfrm flipV="1">
            <a:off x="8423333" y="1766888"/>
            <a:ext cx="1419398"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0" name="直接连接符 309">
            <a:extLst>
              <a:ext uri="{FF2B5EF4-FFF2-40B4-BE49-F238E27FC236}">
                <a16:creationId xmlns:a16="http://schemas.microsoft.com/office/drawing/2014/main" id="{937947C6-59FA-4926-B59A-8DFE3FDEEF94}"/>
              </a:ext>
            </a:extLst>
          </p:cNvPr>
          <p:cNvCxnSpPr>
            <a:stCxn id="275" idx="2"/>
            <a:endCxn id="278" idx="0"/>
          </p:cNvCxnSpPr>
          <p:nvPr/>
        </p:nvCxnSpPr>
        <p:spPr bwMode="auto">
          <a:xfrm flipH="1">
            <a:off x="9038980" y="1766888"/>
            <a:ext cx="116288"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1" name="直接连接符 310">
            <a:extLst>
              <a:ext uri="{FF2B5EF4-FFF2-40B4-BE49-F238E27FC236}">
                <a16:creationId xmlns:a16="http://schemas.microsoft.com/office/drawing/2014/main" id="{E62CAE7F-A287-4F88-B0C4-42AD08BCEDEF}"/>
              </a:ext>
            </a:extLst>
          </p:cNvPr>
          <p:cNvCxnSpPr>
            <a:stCxn id="278" idx="0"/>
            <a:endCxn id="276" idx="2"/>
          </p:cNvCxnSpPr>
          <p:nvPr/>
        </p:nvCxnSpPr>
        <p:spPr bwMode="auto">
          <a:xfrm flipV="1">
            <a:off x="9038980" y="1766888"/>
            <a:ext cx="803755"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2" name="直接连接符 311">
            <a:extLst>
              <a:ext uri="{FF2B5EF4-FFF2-40B4-BE49-F238E27FC236}">
                <a16:creationId xmlns:a16="http://schemas.microsoft.com/office/drawing/2014/main" id="{4253FFA9-67A2-4AB2-BCE9-10626FB0590C}"/>
              </a:ext>
            </a:extLst>
          </p:cNvPr>
          <p:cNvCxnSpPr>
            <a:stCxn id="293" idx="0"/>
            <a:endCxn id="275" idx="2"/>
          </p:cNvCxnSpPr>
          <p:nvPr/>
        </p:nvCxnSpPr>
        <p:spPr bwMode="auto">
          <a:xfrm flipH="1" flipV="1">
            <a:off x="9155268" y="1766888"/>
            <a:ext cx="839667"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3" name="直接连接符 312">
            <a:extLst>
              <a:ext uri="{FF2B5EF4-FFF2-40B4-BE49-F238E27FC236}">
                <a16:creationId xmlns:a16="http://schemas.microsoft.com/office/drawing/2014/main" id="{3D83CA84-7BFA-4A30-8DFD-98FBD814BBDC}"/>
              </a:ext>
            </a:extLst>
          </p:cNvPr>
          <p:cNvCxnSpPr>
            <a:stCxn id="293" idx="0"/>
            <a:endCxn id="276" idx="2"/>
          </p:cNvCxnSpPr>
          <p:nvPr/>
        </p:nvCxnSpPr>
        <p:spPr bwMode="auto">
          <a:xfrm flipH="1" flipV="1">
            <a:off x="9842736" y="1766888"/>
            <a:ext cx="152200"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4" name="直接连接符 313">
            <a:extLst>
              <a:ext uri="{FF2B5EF4-FFF2-40B4-BE49-F238E27FC236}">
                <a16:creationId xmlns:a16="http://schemas.microsoft.com/office/drawing/2014/main" id="{AAD720D8-0430-4558-B633-2B3ACAC03F29}"/>
              </a:ext>
            </a:extLst>
          </p:cNvPr>
          <p:cNvCxnSpPr>
            <a:cxnSpLocks/>
            <a:stCxn id="294" idx="0"/>
            <a:endCxn id="275" idx="2"/>
          </p:cNvCxnSpPr>
          <p:nvPr/>
        </p:nvCxnSpPr>
        <p:spPr bwMode="auto">
          <a:xfrm flipH="1" flipV="1">
            <a:off x="9155263" y="1766888"/>
            <a:ext cx="1455310"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5" name="直接连接符 314">
            <a:extLst>
              <a:ext uri="{FF2B5EF4-FFF2-40B4-BE49-F238E27FC236}">
                <a16:creationId xmlns:a16="http://schemas.microsoft.com/office/drawing/2014/main" id="{DB7EBDB0-FD78-443E-A963-D0A2EEEAF4ED}"/>
              </a:ext>
            </a:extLst>
          </p:cNvPr>
          <p:cNvCxnSpPr>
            <a:stCxn id="294" idx="0"/>
            <a:endCxn id="276" idx="2"/>
          </p:cNvCxnSpPr>
          <p:nvPr/>
        </p:nvCxnSpPr>
        <p:spPr bwMode="auto">
          <a:xfrm flipH="1" flipV="1">
            <a:off x="9842731" y="1766888"/>
            <a:ext cx="767842" cy="56587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6" name="文本框 315">
            <a:extLst>
              <a:ext uri="{FF2B5EF4-FFF2-40B4-BE49-F238E27FC236}">
                <a16:creationId xmlns:a16="http://schemas.microsoft.com/office/drawing/2014/main" id="{A019283C-3C21-438E-B8DF-73053FB7FEA1}"/>
              </a:ext>
            </a:extLst>
          </p:cNvPr>
          <p:cNvSpPr txBox="1"/>
          <p:nvPr/>
        </p:nvSpPr>
        <p:spPr>
          <a:xfrm>
            <a:off x="10090704" y="1433772"/>
            <a:ext cx="566793" cy="315547"/>
          </a:xfrm>
          <a:prstGeom prst="rect">
            <a:avLst/>
          </a:prstGeom>
          <a:noFill/>
        </p:spPr>
        <p:txBody>
          <a:bodyPr wrap="none" rtlCol="0">
            <a:spAutoFit/>
          </a:bodyPr>
          <a:lstStyle/>
          <a:p>
            <a:pPr fontAlgn="base">
              <a:spcBef>
                <a:spcPct val="0"/>
              </a:spcBef>
              <a:spcAft>
                <a:spcPct val="0"/>
              </a:spcAft>
            </a:pPr>
            <a:r>
              <a:rPr lang="zh-CN" altLang="en-US" sz="1100" b="1" dirty="0">
                <a:solidFill>
                  <a:srgbClr val="000000"/>
                </a:solidFill>
                <a:latin typeface="Arial" pitchFamily="34" charset="0"/>
                <a:ea typeface="宋体" pitchFamily="2" charset="-122"/>
              </a:rPr>
              <a:t>核心</a:t>
            </a:r>
          </a:p>
        </p:txBody>
      </p:sp>
      <p:sp>
        <p:nvSpPr>
          <p:cNvPr id="317" name="椭圆 316">
            <a:extLst>
              <a:ext uri="{FF2B5EF4-FFF2-40B4-BE49-F238E27FC236}">
                <a16:creationId xmlns:a16="http://schemas.microsoft.com/office/drawing/2014/main" id="{90132731-8FCB-404A-8CAE-B65B01031236}"/>
              </a:ext>
            </a:extLst>
          </p:cNvPr>
          <p:cNvSpPr/>
          <p:nvPr/>
        </p:nvSpPr>
        <p:spPr bwMode="auto">
          <a:xfrm>
            <a:off x="8693356" y="2364360"/>
            <a:ext cx="92524" cy="229776"/>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318" name="椭圆 317">
            <a:extLst>
              <a:ext uri="{FF2B5EF4-FFF2-40B4-BE49-F238E27FC236}">
                <a16:creationId xmlns:a16="http://schemas.microsoft.com/office/drawing/2014/main" id="{D27DDB4B-B530-46DF-8328-CD9E29564B8A}"/>
              </a:ext>
            </a:extLst>
          </p:cNvPr>
          <p:cNvSpPr/>
          <p:nvPr/>
        </p:nvSpPr>
        <p:spPr bwMode="auto">
          <a:xfrm>
            <a:off x="10265048" y="2372984"/>
            <a:ext cx="92524" cy="229776"/>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319" name="椭圆 318">
            <a:extLst>
              <a:ext uri="{FF2B5EF4-FFF2-40B4-BE49-F238E27FC236}">
                <a16:creationId xmlns:a16="http://schemas.microsoft.com/office/drawing/2014/main" id="{E8C3A2CE-B5A2-4303-8304-1C8056D3CE50}"/>
              </a:ext>
            </a:extLst>
          </p:cNvPr>
          <p:cNvSpPr/>
          <p:nvPr/>
        </p:nvSpPr>
        <p:spPr bwMode="auto">
          <a:xfrm rot="5400000">
            <a:off x="8302135" y="3099832"/>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320" name="椭圆 319">
            <a:extLst>
              <a:ext uri="{FF2B5EF4-FFF2-40B4-BE49-F238E27FC236}">
                <a16:creationId xmlns:a16="http://schemas.microsoft.com/office/drawing/2014/main" id="{A0DB863B-F27C-486E-BD94-01AF38BDABEC}"/>
              </a:ext>
            </a:extLst>
          </p:cNvPr>
          <p:cNvSpPr/>
          <p:nvPr/>
        </p:nvSpPr>
        <p:spPr bwMode="auto">
          <a:xfrm rot="5400000">
            <a:off x="8587181" y="3099353"/>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321" name="椭圆 320">
            <a:extLst>
              <a:ext uri="{FF2B5EF4-FFF2-40B4-BE49-F238E27FC236}">
                <a16:creationId xmlns:a16="http://schemas.microsoft.com/office/drawing/2014/main" id="{A8B3080F-921C-41D8-9F6C-6BB521DF8C48}"/>
              </a:ext>
            </a:extLst>
          </p:cNvPr>
          <p:cNvSpPr/>
          <p:nvPr/>
        </p:nvSpPr>
        <p:spPr bwMode="auto">
          <a:xfrm rot="5400000">
            <a:off x="8896621" y="3106535"/>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322" name="椭圆 321">
            <a:extLst>
              <a:ext uri="{FF2B5EF4-FFF2-40B4-BE49-F238E27FC236}">
                <a16:creationId xmlns:a16="http://schemas.microsoft.com/office/drawing/2014/main" id="{F4C1A0B7-5F0F-4467-B499-2B0E2B94B32F}"/>
              </a:ext>
            </a:extLst>
          </p:cNvPr>
          <p:cNvSpPr/>
          <p:nvPr/>
        </p:nvSpPr>
        <p:spPr bwMode="auto">
          <a:xfrm rot="5400000">
            <a:off x="9187566" y="3099353"/>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323" name="椭圆 322">
            <a:extLst>
              <a:ext uri="{FF2B5EF4-FFF2-40B4-BE49-F238E27FC236}">
                <a16:creationId xmlns:a16="http://schemas.microsoft.com/office/drawing/2014/main" id="{8C7FE1C0-B3D9-42E9-BC75-EAB599712748}"/>
              </a:ext>
            </a:extLst>
          </p:cNvPr>
          <p:cNvSpPr/>
          <p:nvPr/>
        </p:nvSpPr>
        <p:spPr bwMode="auto">
          <a:xfrm rot="5400000">
            <a:off x="9845879" y="3102705"/>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324" name="椭圆 323">
            <a:extLst>
              <a:ext uri="{FF2B5EF4-FFF2-40B4-BE49-F238E27FC236}">
                <a16:creationId xmlns:a16="http://schemas.microsoft.com/office/drawing/2014/main" id="{A17A0D45-9CAA-47DE-86E2-DCA836DE97BE}"/>
              </a:ext>
            </a:extLst>
          </p:cNvPr>
          <p:cNvSpPr/>
          <p:nvPr/>
        </p:nvSpPr>
        <p:spPr bwMode="auto">
          <a:xfrm rot="5400000">
            <a:off x="10156909" y="3100790"/>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325" name="椭圆 324">
            <a:extLst>
              <a:ext uri="{FF2B5EF4-FFF2-40B4-BE49-F238E27FC236}">
                <a16:creationId xmlns:a16="http://schemas.microsoft.com/office/drawing/2014/main" id="{D4D3F3DA-A844-4B74-9EC1-D65BE2CECFFC}"/>
              </a:ext>
            </a:extLst>
          </p:cNvPr>
          <p:cNvSpPr/>
          <p:nvPr/>
        </p:nvSpPr>
        <p:spPr bwMode="auto">
          <a:xfrm rot="5400000">
            <a:off x="10446477" y="3104295"/>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326" name="椭圆 325">
            <a:extLst>
              <a:ext uri="{FF2B5EF4-FFF2-40B4-BE49-F238E27FC236}">
                <a16:creationId xmlns:a16="http://schemas.microsoft.com/office/drawing/2014/main" id="{B4FCB9BD-ED05-47AA-A421-D8D67B90AE98}"/>
              </a:ext>
            </a:extLst>
          </p:cNvPr>
          <p:cNvSpPr/>
          <p:nvPr/>
        </p:nvSpPr>
        <p:spPr bwMode="auto">
          <a:xfrm rot="5400000">
            <a:off x="10750181" y="3108603"/>
            <a:ext cx="91910" cy="231310"/>
          </a:xfrm>
          <a:prstGeom prst="ellipse">
            <a:avLst/>
          </a:prstGeom>
          <a:no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cxnSp>
        <p:nvCxnSpPr>
          <p:cNvPr id="327" name="直接连接符 326">
            <a:extLst>
              <a:ext uri="{FF2B5EF4-FFF2-40B4-BE49-F238E27FC236}">
                <a16:creationId xmlns:a16="http://schemas.microsoft.com/office/drawing/2014/main" id="{D0B11D10-A3E2-4E97-AF67-CE776D207E26}"/>
              </a:ext>
            </a:extLst>
          </p:cNvPr>
          <p:cNvCxnSpPr>
            <a:cxnSpLocks/>
          </p:cNvCxnSpPr>
          <p:nvPr/>
        </p:nvCxnSpPr>
        <p:spPr bwMode="auto">
          <a:xfrm>
            <a:off x="384317" y="2447652"/>
            <a:ext cx="3734697" cy="0"/>
          </a:xfrm>
          <a:prstGeom prst="line">
            <a:avLst/>
          </a:prstGeom>
          <a:noFill/>
          <a:ln w="571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8" name="文本框 327">
            <a:extLst>
              <a:ext uri="{FF2B5EF4-FFF2-40B4-BE49-F238E27FC236}">
                <a16:creationId xmlns:a16="http://schemas.microsoft.com/office/drawing/2014/main" id="{B6D2003A-4117-458D-AD09-DE257C4D3FC7}"/>
              </a:ext>
            </a:extLst>
          </p:cNvPr>
          <p:cNvSpPr txBox="1"/>
          <p:nvPr/>
        </p:nvSpPr>
        <p:spPr>
          <a:xfrm>
            <a:off x="302776" y="2149122"/>
            <a:ext cx="726399" cy="306266"/>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Layer3</a:t>
            </a:r>
            <a:endParaRPr lang="zh-CN" altLang="en-US" sz="1050" dirty="0">
              <a:solidFill>
                <a:srgbClr val="000000"/>
              </a:solidFill>
              <a:latin typeface="Arial" pitchFamily="34" charset="0"/>
              <a:ea typeface="宋体" pitchFamily="2" charset="-122"/>
            </a:endParaRPr>
          </a:p>
        </p:txBody>
      </p:sp>
      <p:sp>
        <p:nvSpPr>
          <p:cNvPr id="329" name="文本框 328">
            <a:extLst>
              <a:ext uri="{FF2B5EF4-FFF2-40B4-BE49-F238E27FC236}">
                <a16:creationId xmlns:a16="http://schemas.microsoft.com/office/drawing/2014/main" id="{78E0A26F-D637-48A8-8DDD-41216ABE4B97}"/>
              </a:ext>
            </a:extLst>
          </p:cNvPr>
          <p:cNvSpPr txBox="1"/>
          <p:nvPr/>
        </p:nvSpPr>
        <p:spPr>
          <a:xfrm>
            <a:off x="301659" y="2517442"/>
            <a:ext cx="726399" cy="306266"/>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Layer2</a:t>
            </a:r>
            <a:endParaRPr lang="zh-CN" altLang="en-US" sz="1050" dirty="0">
              <a:solidFill>
                <a:srgbClr val="000000"/>
              </a:solidFill>
              <a:latin typeface="Arial" pitchFamily="34" charset="0"/>
              <a:ea typeface="宋体" pitchFamily="2" charset="-122"/>
            </a:endParaRPr>
          </a:p>
        </p:txBody>
      </p:sp>
      <p:cxnSp>
        <p:nvCxnSpPr>
          <p:cNvPr id="330" name="直接连接符 329">
            <a:extLst>
              <a:ext uri="{FF2B5EF4-FFF2-40B4-BE49-F238E27FC236}">
                <a16:creationId xmlns:a16="http://schemas.microsoft.com/office/drawing/2014/main" id="{F01F4342-4A78-47FE-9006-F40D5A86FDBF}"/>
              </a:ext>
            </a:extLst>
          </p:cNvPr>
          <p:cNvCxnSpPr>
            <a:cxnSpLocks/>
          </p:cNvCxnSpPr>
          <p:nvPr/>
        </p:nvCxnSpPr>
        <p:spPr bwMode="auto">
          <a:xfrm>
            <a:off x="4311109" y="2441002"/>
            <a:ext cx="3284677" cy="0"/>
          </a:xfrm>
          <a:prstGeom prst="line">
            <a:avLst/>
          </a:prstGeom>
          <a:noFill/>
          <a:ln w="571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1" name="直接连接符 330">
            <a:extLst>
              <a:ext uri="{FF2B5EF4-FFF2-40B4-BE49-F238E27FC236}">
                <a16:creationId xmlns:a16="http://schemas.microsoft.com/office/drawing/2014/main" id="{6094DAAE-E457-435D-81C8-4229DAD6640C}"/>
              </a:ext>
            </a:extLst>
          </p:cNvPr>
          <p:cNvCxnSpPr>
            <a:cxnSpLocks/>
          </p:cNvCxnSpPr>
          <p:nvPr/>
        </p:nvCxnSpPr>
        <p:spPr bwMode="auto">
          <a:xfrm>
            <a:off x="8165111" y="1698566"/>
            <a:ext cx="2813142" cy="0"/>
          </a:xfrm>
          <a:prstGeom prst="line">
            <a:avLst/>
          </a:prstGeom>
          <a:noFill/>
          <a:ln w="571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2" name="直接连接符 331">
            <a:extLst>
              <a:ext uri="{FF2B5EF4-FFF2-40B4-BE49-F238E27FC236}">
                <a16:creationId xmlns:a16="http://schemas.microsoft.com/office/drawing/2014/main" id="{4CBAEE73-4563-45A3-817B-7EEC1FAABB84}"/>
              </a:ext>
            </a:extLst>
          </p:cNvPr>
          <p:cNvCxnSpPr>
            <a:stCxn id="275" idx="3"/>
            <a:endCxn id="276" idx="1"/>
          </p:cNvCxnSpPr>
          <p:nvPr/>
        </p:nvCxnSpPr>
        <p:spPr bwMode="auto">
          <a:xfrm>
            <a:off x="9396390" y="1617535"/>
            <a:ext cx="205214" cy="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3" name="文本框 332">
            <a:extLst>
              <a:ext uri="{FF2B5EF4-FFF2-40B4-BE49-F238E27FC236}">
                <a16:creationId xmlns:a16="http://schemas.microsoft.com/office/drawing/2014/main" id="{2D2AA671-6197-40E8-872B-1C87D1491DD6}"/>
              </a:ext>
            </a:extLst>
          </p:cNvPr>
          <p:cNvSpPr txBox="1"/>
          <p:nvPr/>
        </p:nvSpPr>
        <p:spPr>
          <a:xfrm>
            <a:off x="8167699" y="1355464"/>
            <a:ext cx="726399" cy="306266"/>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Layer3</a:t>
            </a:r>
            <a:endParaRPr lang="zh-CN" altLang="en-US" sz="1050" dirty="0">
              <a:solidFill>
                <a:srgbClr val="000000"/>
              </a:solidFill>
              <a:latin typeface="Arial" pitchFamily="34" charset="0"/>
              <a:ea typeface="宋体" pitchFamily="2" charset="-122"/>
            </a:endParaRPr>
          </a:p>
        </p:txBody>
      </p:sp>
      <p:sp>
        <p:nvSpPr>
          <p:cNvPr id="334" name="文本框 333">
            <a:extLst>
              <a:ext uri="{FF2B5EF4-FFF2-40B4-BE49-F238E27FC236}">
                <a16:creationId xmlns:a16="http://schemas.microsoft.com/office/drawing/2014/main" id="{188FCC9B-9955-4BFD-B2A8-B2368F3662FC}"/>
              </a:ext>
            </a:extLst>
          </p:cNvPr>
          <p:cNvSpPr txBox="1"/>
          <p:nvPr/>
        </p:nvSpPr>
        <p:spPr>
          <a:xfrm>
            <a:off x="8167105" y="1700730"/>
            <a:ext cx="726399" cy="306266"/>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Layer2</a:t>
            </a:r>
            <a:endParaRPr lang="zh-CN" altLang="en-US" sz="1050" dirty="0">
              <a:solidFill>
                <a:srgbClr val="000000"/>
              </a:solidFill>
              <a:latin typeface="Arial" pitchFamily="34" charset="0"/>
              <a:ea typeface="宋体" pitchFamily="2" charset="-122"/>
            </a:endParaRPr>
          </a:p>
        </p:txBody>
      </p:sp>
      <p:sp>
        <p:nvSpPr>
          <p:cNvPr id="335" name="文本框 334">
            <a:extLst>
              <a:ext uri="{FF2B5EF4-FFF2-40B4-BE49-F238E27FC236}">
                <a16:creationId xmlns:a16="http://schemas.microsoft.com/office/drawing/2014/main" id="{843BF20A-AF79-41EF-AE56-EDE88136B2DA}"/>
              </a:ext>
            </a:extLst>
          </p:cNvPr>
          <p:cNvSpPr txBox="1"/>
          <p:nvPr/>
        </p:nvSpPr>
        <p:spPr>
          <a:xfrm>
            <a:off x="10927678" y="2377553"/>
            <a:ext cx="566793" cy="315547"/>
          </a:xfrm>
          <a:prstGeom prst="rect">
            <a:avLst/>
          </a:prstGeom>
          <a:noFill/>
        </p:spPr>
        <p:txBody>
          <a:bodyPr wrap="none" rtlCol="0">
            <a:spAutoFit/>
          </a:bodyPr>
          <a:lstStyle/>
          <a:p>
            <a:pPr fontAlgn="base">
              <a:spcBef>
                <a:spcPct val="0"/>
              </a:spcBef>
              <a:spcAft>
                <a:spcPct val="0"/>
              </a:spcAft>
            </a:pPr>
            <a:r>
              <a:rPr lang="zh-CN" altLang="en-US" sz="1100" b="1" dirty="0">
                <a:solidFill>
                  <a:srgbClr val="000000"/>
                </a:solidFill>
                <a:latin typeface="Arial" pitchFamily="34" charset="0"/>
                <a:ea typeface="宋体" pitchFamily="2" charset="-122"/>
              </a:rPr>
              <a:t>汇聚</a:t>
            </a:r>
          </a:p>
        </p:txBody>
      </p:sp>
      <p:sp>
        <p:nvSpPr>
          <p:cNvPr id="336" name="文本框 335">
            <a:extLst>
              <a:ext uri="{FF2B5EF4-FFF2-40B4-BE49-F238E27FC236}">
                <a16:creationId xmlns:a16="http://schemas.microsoft.com/office/drawing/2014/main" id="{73FCEEF4-8B46-4AF4-9CB0-4503D07C517F}"/>
              </a:ext>
            </a:extLst>
          </p:cNvPr>
          <p:cNvSpPr txBox="1"/>
          <p:nvPr/>
        </p:nvSpPr>
        <p:spPr>
          <a:xfrm>
            <a:off x="10933131" y="3245718"/>
            <a:ext cx="566793" cy="315547"/>
          </a:xfrm>
          <a:prstGeom prst="rect">
            <a:avLst/>
          </a:prstGeom>
          <a:noFill/>
        </p:spPr>
        <p:txBody>
          <a:bodyPr wrap="none" rtlCol="0">
            <a:spAutoFit/>
          </a:bodyPr>
          <a:lstStyle/>
          <a:p>
            <a:pPr fontAlgn="base">
              <a:spcBef>
                <a:spcPct val="0"/>
              </a:spcBef>
              <a:spcAft>
                <a:spcPct val="0"/>
              </a:spcAft>
            </a:pPr>
            <a:r>
              <a:rPr lang="zh-CN" altLang="en-US" sz="1100" b="1" dirty="0">
                <a:solidFill>
                  <a:srgbClr val="000000"/>
                </a:solidFill>
                <a:latin typeface="Arial" pitchFamily="34" charset="0"/>
                <a:ea typeface="宋体" pitchFamily="2" charset="-122"/>
              </a:rPr>
              <a:t>接入</a:t>
            </a:r>
          </a:p>
        </p:txBody>
      </p:sp>
      <p:sp>
        <p:nvSpPr>
          <p:cNvPr id="337" name="文本框 336">
            <a:extLst>
              <a:ext uri="{FF2B5EF4-FFF2-40B4-BE49-F238E27FC236}">
                <a16:creationId xmlns:a16="http://schemas.microsoft.com/office/drawing/2014/main" id="{0857909B-DEA9-46D1-BF62-E398F74E99EA}"/>
              </a:ext>
            </a:extLst>
          </p:cNvPr>
          <p:cNvSpPr txBox="1"/>
          <p:nvPr/>
        </p:nvSpPr>
        <p:spPr>
          <a:xfrm>
            <a:off x="7356826" y="2434405"/>
            <a:ext cx="566793" cy="315547"/>
          </a:xfrm>
          <a:prstGeom prst="rect">
            <a:avLst/>
          </a:prstGeom>
          <a:noFill/>
        </p:spPr>
        <p:txBody>
          <a:bodyPr wrap="none" rtlCol="0">
            <a:spAutoFit/>
          </a:bodyPr>
          <a:lstStyle/>
          <a:p>
            <a:pPr fontAlgn="base">
              <a:spcBef>
                <a:spcPct val="0"/>
              </a:spcBef>
              <a:spcAft>
                <a:spcPct val="0"/>
              </a:spcAft>
            </a:pPr>
            <a:r>
              <a:rPr lang="zh-CN" altLang="en-US" sz="1100" b="1" dirty="0">
                <a:solidFill>
                  <a:srgbClr val="000000"/>
                </a:solidFill>
                <a:latin typeface="Arial" pitchFamily="34" charset="0"/>
                <a:ea typeface="宋体" pitchFamily="2" charset="-122"/>
              </a:rPr>
              <a:t>汇聚</a:t>
            </a:r>
          </a:p>
        </p:txBody>
      </p:sp>
      <p:sp>
        <p:nvSpPr>
          <p:cNvPr id="338" name="文本框 337">
            <a:extLst>
              <a:ext uri="{FF2B5EF4-FFF2-40B4-BE49-F238E27FC236}">
                <a16:creationId xmlns:a16="http://schemas.microsoft.com/office/drawing/2014/main" id="{677357F1-363B-4029-ACF8-01B761953ABE}"/>
              </a:ext>
            </a:extLst>
          </p:cNvPr>
          <p:cNvSpPr txBox="1"/>
          <p:nvPr/>
        </p:nvSpPr>
        <p:spPr>
          <a:xfrm>
            <a:off x="7373078" y="3291944"/>
            <a:ext cx="566793" cy="315547"/>
          </a:xfrm>
          <a:prstGeom prst="rect">
            <a:avLst/>
          </a:prstGeom>
          <a:noFill/>
        </p:spPr>
        <p:txBody>
          <a:bodyPr wrap="none" rtlCol="0">
            <a:spAutoFit/>
          </a:bodyPr>
          <a:lstStyle/>
          <a:p>
            <a:pPr fontAlgn="base">
              <a:spcBef>
                <a:spcPct val="0"/>
              </a:spcBef>
              <a:spcAft>
                <a:spcPct val="0"/>
              </a:spcAft>
            </a:pPr>
            <a:r>
              <a:rPr lang="zh-CN" altLang="en-US" sz="1100" b="1" dirty="0">
                <a:solidFill>
                  <a:srgbClr val="000000"/>
                </a:solidFill>
                <a:latin typeface="Arial" pitchFamily="34" charset="0"/>
                <a:ea typeface="宋体" pitchFamily="2" charset="-122"/>
              </a:rPr>
              <a:t>接入</a:t>
            </a:r>
          </a:p>
        </p:txBody>
      </p:sp>
      <p:sp>
        <p:nvSpPr>
          <p:cNvPr id="339" name="文本框 338">
            <a:extLst>
              <a:ext uri="{FF2B5EF4-FFF2-40B4-BE49-F238E27FC236}">
                <a16:creationId xmlns:a16="http://schemas.microsoft.com/office/drawing/2014/main" id="{B29B3DFF-30C7-4EC5-A785-D147E171D222}"/>
              </a:ext>
            </a:extLst>
          </p:cNvPr>
          <p:cNvSpPr txBox="1"/>
          <p:nvPr/>
        </p:nvSpPr>
        <p:spPr>
          <a:xfrm>
            <a:off x="3824083" y="2477966"/>
            <a:ext cx="566793" cy="315547"/>
          </a:xfrm>
          <a:prstGeom prst="rect">
            <a:avLst/>
          </a:prstGeom>
          <a:noFill/>
        </p:spPr>
        <p:txBody>
          <a:bodyPr wrap="none" rtlCol="0">
            <a:spAutoFit/>
          </a:bodyPr>
          <a:lstStyle/>
          <a:p>
            <a:pPr fontAlgn="base">
              <a:spcBef>
                <a:spcPct val="0"/>
              </a:spcBef>
              <a:spcAft>
                <a:spcPct val="0"/>
              </a:spcAft>
            </a:pPr>
            <a:r>
              <a:rPr lang="zh-CN" altLang="en-US" sz="1100" b="1" dirty="0">
                <a:solidFill>
                  <a:srgbClr val="000000"/>
                </a:solidFill>
                <a:latin typeface="Arial" pitchFamily="34" charset="0"/>
                <a:ea typeface="宋体" pitchFamily="2" charset="-122"/>
              </a:rPr>
              <a:t>汇聚</a:t>
            </a:r>
          </a:p>
        </p:txBody>
      </p:sp>
      <p:sp>
        <p:nvSpPr>
          <p:cNvPr id="340" name="文本框 339">
            <a:extLst>
              <a:ext uri="{FF2B5EF4-FFF2-40B4-BE49-F238E27FC236}">
                <a16:creationId xmlns:a16="http://schemas.microsoft.com/office/drawing/2014/main" id="{7910757F-B9AE-43BE-9933-50FBC29A7164}"/>
              </a:ext>
            </a:extLst>
          </p:cNvPr>
          <p:cNvSpPr txBox="1"/>
          <p:nvPr/>
        </p:nvSpPr>
        <p:spPr>
          <a:xfrm>
            <a:off x="3839129" y="3345466"/>
            <a:ext cx="566793" cy="315547"/>
          </a:xfrm>
          <a:prstGeom prst="rect">
            <a:avLst/>
          </a:prstGeom>
          <a:noFill/>
        </p:spPr>
        <p:txBody>
          <a:bodyPr wrap="none" rtlCol="0">
            <a:spAutoFit/>
          </a:bodyPr>
          <a:lstStyle/>
          <a:p>
            <a:pPr fontAlgn="base">
              <a:spcBef>
                <a:spcPct val="0"/>
              </a:spcBef>
              <a:spcAft>
                <a:spcPct val="0"/>
              </a:spcAft>
            </a:pPr>
            <a:r>
              <a:rPr lang="zh-CN" altLang="en-US" sz="1100" b="1" dirty="0">
                <a:solidFill>
                  <a:srgbClr val="000000"/>
                </a:solidFill>
                <a:latin typeface="Arial" pitchFamily="34" charset="0"/>
                <a:ea typeface="宋体" pitchFamily="2" charset="-122"/>
              </a:rPr>
              <a:t>接入</a:t>
            </a:r>
          </a:p>
        </p:txBody>
      </p:sp>
      <p:sp>
        <p:nvSpPr>
          <p:cNvPr id="341" name="箭头: 右 340">
            <a:extLst>
              <a:ext uri="{FF2B5EF4-FFF2-40B4-BE49-F238E27FC236}">
                <a16:creationId xmlns:a16="http://schemas.microsoft.com/office/drawing/2014/main" id="{13A663D7-B78C-43D2-8875-EF8E828508E1}"/>
              </a:ext>
            </a:extLst>
          </p:cNvPr>
          <p:cNvSpPr/>
          <p:nvPr/>
        </p:nvSpPr>
        <p:spPr bwMode="auto">
          <a:xfrm>
            <a:off x="826697" y="4277429"/>
            <a:ext cx="10640258" cy="613220"/>
          </a:xfrm>
          <a:prstGeom prst="rightArrow">
            <a:avLst/>
          </a:prstGeom>
          <a:solidFill>
            <a:srgbClr val="FFCC66">
              <a:lumMod val="60000"/>
              <a:lumOff val="40000"/>
            </a:srgbClr>
          </a:soli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342" name="文本框 341">
            <a:extLst>
              <a:ext uri="{FF2B5EF4-FFF2-40B4-BE49-F238E27FC236}">
                <a16:creationId xmlns:a16="http://schemas.microsoft.com/office/drawing/2014/main" id="{41124C49-E08C-47AF-A37F-45EAE567FC16}"/>
              </a:ext>
            </a:extLst>
          </p:cNvPr>
          <p:cNvSpPr txBox="1"/>
          <p:nvPr/>
        </p:nvSpPr>
        <p:spPr>
          <a:xfrm>
            <a:off x="686178" y="4801831"/>
            <a:ext cx="3292317" cy="1144544"/>
          </a:xfrm>
          <a:prstGeom prst="rect">
            <a:avLst/>
          </a:prstGeom>
          <a:noFill/>
        </p:spPr>
        <p:txBody>
          <a:bodyPr wrap="square" rtlCol="0">
            <a:spAutoFit/>
          </a:bodyPr>
          <a:lstStyle/>
          <a:p>
            <a:pPr algn="ctr" fontAlgn="base">
              <a:lnSpc>
                <a:spcPct val="125000"/>
              </a:lnSpc>
              <a:spcBef>
                <a:spcPct val="0"/>
              </a:spcBef>
              <a:spcAft>
                <a:spcPct val="0"/>
              </a:spcAft>
            </a:pPr>
            <a:r>
              <a:rPr lang="en-US" altLang="zh-CN" sz="1400" b="1" dirty="0">
                <a:solidFill>
                  <a:srgbClr val="C00000"/>
                </a:solidFill>
                <a:latin typeface="Arial" pitchFamily="34" charset="0"/>
                <a:ea typeface="微软雅黑" panose="020B0503020204020204" pitchFamily="34" charset="-122"/>
              </a:rPr>
              <a:t>3</a:t>
            </a:r>
            <a:r>
              <a:rPr lang="zh-CN" altLang="en-US" sz="1400" b="1" dirty="0">
                <a:solidFill>
                  <a:srgbClr val="C00000"/>
                </a:solidFill>
                <a:latin typeface="Arial" pitchFamily="34" charset="0"/>
                <a:ea typeface="微软雅黑" panose="020B0503020204020204" pitchFamily="34" charset="-122"/>
              </a:rPr>
              <a:t>层架构</a:t>
            </a:r>
            <a:endParaRPr lang="en-US" altLang="zh-CN" sz="1400" b="1" dirty="0">
              <a:solidFill>
                <a:srgbClr val="C00000"/>
              </a:solidFill>
              <a:latin typeface="Arial" pitchFamily="34" charset="0"/>
              <a:ea typeface="微软雅黑" panose="020B0503020204020204" pitchFamily="34" charset="-122"/>
            </a:endParaRPr>
          </a:p>
          <a:p>
            <a:pPr fontAlgn="base">
              <a:lnSpc>
                <a:spcPct val="125000"/>
              </a:lnSpc>
              <a:spcBef>
                <a:spcPct val="0"/>
              </a:spcBef>
              <a:spcAft>
                <a:spcPct val="0"/>
              </a:spcAft>
            </a:pPr>
            <a:r>
              <a:rPr lang="zh-CN" altLang="en-US" sz="1400" b="1" dirty="0">
                <a:solidFill>
                  <a:srgbClr val="000000"/>
                </a:solidFill>
                <a:latin typeface="Arial" pitchFamily="34" charset="0"/>
                <a:ea typeface="微软雅黑" panose="020B0503020204020204" pitchFamily="34" charset="-122"/>
              </a:rPr>
              <a:t>方案：</a:t>
            </a:r>
            <a:r>
              <a:rPr lang="en-US" altLang="zh-CN" sz="1400" dirty="0">
                <a:solidFill>
                  <a:srgbClr val="000000"/>
                </a:solidFill>
                <a:latin typeface="Arial" pitchFamily="34" charset="0"/>
                <a:ea typeface="微软雅黑" panose="020B0503020204020204" pitchFamily="34" charset="-122"/>
              </a:rPr>
              <a:t>Ethernet</a:t>
            </a:r>
            <a:r>
              <a:rPr lang="zh-CN" altLang="en-US" sz="1400" dirty="0">
                <a:solidFill>
                  <a:srgbClr val="000000"/>
                </a:solidFill>
                <a:latin typeface="Arial" pitchFamily="34" charset="0"/>
                <a:ea typeface="微软雅黑" panose="020B0503020204020204" pitchFamily="34" charset="-122"/>
              </a:rPr>
              <a:t>，</a:t>
            </a:r>
            <a:r>
              <a:rPr lang="en-US" altLang="zh-CN" sz="1400" dirty="0">
                <a:solidFill>
                  <a:srgbClr val="000000"/>
                </a:solidFill>
                <a:latin typeface="Arial" pitchFamily="34" charset="0"/>
                <a:ea typeface="微软雅黑" panose="020B0503020204020204" pitchFamily="34" charset="-122"/>
              </a:rPr>
              <a:t>STP/MSTP</a:t>
            </a:r>
          </a:p>
          <a:p>
            <a:pPr fontAlgn="base">
              <a:lnSpc>
                <a:spcPct val="125000"/>
              </a:lnSpc>
              <a:spcBef>
                <a:spcPct val="0"/>
              </a:spcBef>
              <a:spcAft>
                <a:spcPct val="0"/>
              </a:spcAft>
            </a:pPr>
            <a:r>
              <a:rPr lang="zh-CN" altLang="en-US" sz="1400" b="1" dirty="0">
                <a:solidFill>
                  <a:srgbClr val="000000"/>
                </a:solidFill>
                <a:latin typeface="Arial" pitchFamily="34" charset="0"/>
                <a:ea typeface="微软雅黑" panose="020B0503020204020204" pitchFamily="34" charset="-122"/>
              </a:rPr>
              <a:t>问题：</a:t>
            </a:r>
            <a:r>
              <a:rPr lang="zh-CN" altLang="en-US" sz="1400" dirty="0">
                <a:solidFill>
                  <a:srgbClr val="000000"/>
                </a:solidFill>
                <a:latin typeface="Arial" pitchFamily="34" charset="0"/>
                <a:ea typeface="微软雅黑" panose="020B0503020204020204" pitchFamily="34" charset="-122"/>
              </a:rPr>
              <a:t>避免环路，阻塞一半端口，</a:t>
            </a:r>
            <a:r>
              <a:rPr lang="en-US" altLang="zh-CN" sz="1400" dirty="0">
                <a:solidFill>
                  <a:srgbClr val="000000"/>
                </a:solidFill>
                <a:latin typeface="Arial" pitchFamily="34" charset="0"/>
                <a:ea typeface="微软雅黑" panose="020B0503020204020204" pitchFamily="34" charset="-122"/>
              </a:rPr>
              <a:t>50%</a:t>
            </a:r>
            <a:r>
              <a:rPr lang="zh-CN" altLang="en-US" sz="1400" dirty="0">
                <a:solidFill>
                  <a:srgbClr val="000000"/>
                </a:solidFill>
                <a:latin typeface="Arial" pitchFamily="34" charset="0"/>
                <a:ea typeface="微软雅黑" panose="020B0503020204020204" pitchFamily="34" charset="-122"/>
              </a:rPr>
              <a:t>端口</a:t>
            </a:r>
            <a:r>
              <a:rPr lang="en-US" altLang="zh-CN" sz="1400" dirty="0">
                <a:solidFill>
                  <a:srgbClr val="000000"/>
                </a:solidFill>
                <a:latin typeface="Arial" pitchFamily="34" charset="0"/>
                <a:ea typeface="微软雅黑" panose="020B0503020204020204" pitchFamily="34" charset="-122"/>
              </a:rPr>
              <a:t>/</a:t>
            </a:r>
            <a:r>
              <a:rPr lang="zh-CN" altLang="en-US" sz="1400" dirty="0">
                <a:solidFill>
                  <a:srgbClr val="000000"/>
                </a:solidFill>
                <a:latin typeface="Arial" pitchFamily="34" charset="0"/>
                <a:ea typeface="微软雅黑" panose="020B0503020204020204" pitchFamily="34" charset="-122"/>
              </a:rPr>
              <a:t>链路利用率</a:t>
            </a:r>
          </a:p>
        </p:txBody>
      </p:sp>
      <p:sp>
        <p:nvSpPr>
          <p:cNvPr id="343" name="文本框 342">
            <a:extLst>
              <a:ext uri="{FF2B5EF4-FFF2-40B4-BE49-F238E27FC236}">
                <a16:creationId xmlns:a16="http://schemas.microsoft.com/office/drawing/2014/main" id="{A70A0E2C-C3ED-4ED4-940D-09E956574139}"/>
              </a:ext>
            </a:extLst>
          </p:cNvPr>
          <p:cNvSpPr txBox="1"/>
          <p:nvPr/>
        </p:nvSpPr>
        <p:spPr>
          <a:xfrm>
            <a:off x="4005609" y="4712040"/>
            <a:ext cx="4183733" cy="1683153"/>
          </a:xfrm>
          <a:prstGeom prst="rect">
            <a:avLst/>
          </a:prstGeom>
          <a:noFill/>
        </p:spPr>
        <p:txBody>
          <a:bodyPr wrap="square" rtlCol="0">
            <a:spAutoFit/>
          </a:bodyPr>
          <a:lstStyle/>
          <a:p>
            <a:pPr algn="ctr" fontAlgn="base">
              <a:lnSpc>
                <a:spcPct val="125000"/>
              </a:lnSpc>
              <a:spcBef>
                <a:spcPct val="0"/>
              </a:spcBef>
              <a:spcAft>
                <a:spcPct val="0"/>
              </a:spcAft>
            </a:pPr>
            <a:r>
              <a:rPr lang="en-US" altLang="zh-CN" sz="1400" b="1" dirty="0">
                <a:solidFill>
                  <a:srgbClr val="C00000"/>
                </a:solidFill>
                <a:latin typeface="Arial" pitchFamily="34" charset="0"/>
                <a:ea typeface="微软雅黑" panose="020B0503020204020204" pitchFamily="34" charset="-122"/>
              </a:rPr>
              <a:t>3</a:t>
            </a:r>
            <a:r>
              <a:rPr lang="zh-CN" altLang="en-US" sz="1400" b="1" dirty="0">
                <a:solidFill>
                  <a:srgbClr val="C00000"/>
                </a:solidFill>
                <a:latin typeface="Arial" pitchFamily="34" charset="0"/>
                <a:ea typeface="微软雅黑" panose="020B0503020204020204" pitchFamily="34" charset="-122"/>
              </a:rPr>
              <a:t>层架构</a:t>
            </a:r>
            <a:r>
              <a:rPr lang="en-US" altLang="zh-CN" sz="1400" b="1" dirty="0">
                <a:solidFill>
                  <a:srgbClr val="C00000"/>
                </a:solidFill>
                <a:latin typeface="Arial" pitchFamily="34" charset="0"/>
                <a:ea typeface="微软雅黑" panose="020B0503020204020204" pitchFamily="34" charset="-122"/>
              </a:rPr>
              <a:t>+</a:t>
            </a:r>
            <a:r>
              <a:rPr lang="zh-CN" altLang="en-US" sz="1400" b="1" dirty="0">
                <a:solidFill>
                  <a:srgbClr val="C00000"/>
                </a:solidFill>
                <a:latin typeface="Arial" pitchFamily="34" charset="0"/>
                <a:ea typeface="微软雅黑" panose="020B0503020204020204" pitchFamily="34" charset="-122"/>
              </a:rPr>
              <a:t>交换机虚拟集群</a:t>
            </a:r>
            <a:endParaRPr lang="en-US" altLang="zh-CN" sz="1400" b="1" dirty="0">
              <a:solidFill>
                <a:srgbClr val="C00000"/>
              </a:solidFill>
              <a:latin typeface="Arial" pitchFamily="34" charset="0"/>
              <a:ea typeface="微软雅黑" panose="020B0503020204020204" pitchFamily="34" charset="-122"/>
            </a:endParaRPr>
          </a:p>
          <a:p>
            <a:pPr fontAlgn="base">
              <a:lnSpc>
                <a:spcPct val="125000"/>
              </a:lnSpc>
              <a:spcBef>
                <a:spcPct val="0"/>
              </a:spcBef>
              <a:spcAft>
                <a:spcPct val="0"/>
              </a:spcAft>
            </a:pPr>
            <a:r>
              <a:rPr lang="zh-CN" altLang="en-US" sz="1400" b="1" dirty="0">
                <a:solidFill>
                  <a:srgbClr val="000000"/>
                </a:solidFill>
                <a:latin typeface="Arial" pitchFamily="34" charset="0"/>
                <a:ea typeface="微软雅黑" panose="020B0503020204020204" pitchFamily="34" charset="-122"/>
              </a:rPr>
              <a:t>方案：</a:t>
            </a:r>
            <a:r>
              <a:rPr lang="zh-CN" altLang="en-US" sz="1400" dirty="0">
                <a:solidFill>
                  <a:srgbClr val="000000"/>
                </a:solidFill>
                <a:latin typeface="Arial" pitchFamily="34" charset="0"/>
                <a:ea typeface="微软雅黑" panose="020B0503020204020204" pitchFamily="34" charset="-122"/>
              </a:rPr>
              <a:t>交换机采用虚拟集群技术（</a:t>
            </a:r>
            <a:r>
              <a:rPr lang="en-US" altLang="zh-CN" sz="1400" dirty="0">
                <a:solidFill>
                  <a:srgbClr val="000000"/>
                </a:solidFill>
                <a:latin typeface="Arial" pitchFamily="34" charset="0"/>
                <a:ea typeface="微软雅黑" panose="020B0503020204020204" pitchFamily="34" charset="-122"/>
              </a:rPr>
              <a:t>M-LAG</a:t>
            </a:r>
            <a:r>
              <a:rPr lang="zh-CN" altLang="en-US" sz="1400" dirty="0">
                <a:solidFill>
                  <a:srgbClr val="000000"/>
                </a:solidFill>
                <a:latin typeface="Arial" pitchFamily="34" charset="0"/>
                <a:ea typeface="微软雅黑" panose="020B0503020204020204" pitchFamily="34" charset="-122"/>
              </a:rPr>
              <a:t>、</a:t>
            </a:r>
            <a:r>
              <a:rPr lang="en-US" altLang="zh-CN" sz="1400" dirty="0" err="1">
                <a:solidFill>
                  <a:srgbClr val="000000"/>
                </a:solidFill>
                <a:latin typeface="Arial" pitchFamily="34" charset="0"/>
                <a:ea typeface="微软雅黑" panose="020B0503020204020204" pitchFamily="34" charset="-122"/>
              </a:rPr>
              <a:t>vPC</a:t>
            </a:r>
            <a:r>
              <a:rPr lang="zh-CN" altLang="en-US" sz="1400" dirty="0">
                <a:solidFill>
                  <a:srgbClr val="000000"/>
                </a:solidFill>
                <a:latin typeface="Arial" pitchFamily="34" charset="0"/>
                <a:ea typeface="微软雅黑" panose="020B0503020204020204" pitchFamily="34" charset="-122"/>
              </a:rPr>
              <a:t>、</a:t>
            </a:r>
            <a:r>
              <a:rPr lang="en-US" altLang="zh-CN" sz="1400" dirty="0">
                <a:solidFill>
                  <a:srgbClr val="000000"/>
                </a:solidFill>
                <a:latin typeface="Arial" pitchFamily="34" charset="0"/>
                <a:ea typeface="微软雅黑" panose="020B0503020204020204" pitchFamily="34" charset="-122"/>
              </a:rPr>
              <a:t>CSS/</a:t>
            </a:r>
            <a:r>
              <a:rPr lang="en-US" altLang="zh-CN" sz="1400" dirty="0" err="1">
                <a:solidFill>
                  <a:srgbClr val="000000"/>
                </a:solidFill>
                <a:latin typeface="Arial" pitchFamily="34" charset="0"/>
                <a:ea typeface="微软雅黑" panose="020B0503020204020204" pitchFamily="34" charset="-122"/>
              </a:rPr>
              <a:t>iStack</a:t>
            </a:r>
            <a:r>
              <a:rPr lang="zh-CN" altLang="en-US" sz="1400" dirty="0">
                <a:solidFill>
                  <a:srgbClr val="000000"/>
                </a:solidFill>
                <a:latin typeface="Arial" pitchFamily="34" charset="0"/>
                <a:ea typeface="微软雅黑" panose="020B0503020204020204" pitchFamily="34" charset="-122"/>
              </a:rPr>
              <a:t>）</a:t>
            </a:r>
            <a:r>
              <a:rPr lang="en-US" altLang="zh-CN" sz="1400" dirty="0">
                <a:solidFill>
                  <a:srgbClr val="000000"/>
                </a:solidFill>
                <a:latin typeface="Arial" pitchFamily="34" charset="0"/>
                <a:ea typeface="微软雅黑" panose="020B0503020204020204" pitchFamily="34" charset="-122"/>
              </a:rPr>
              <a:t>,</a:t>
            </a:r>
            <a:r>
              <a:rPr lang="zh-CN" altLang="en-US" sz="1400" dirty="0">
                <a:solidFill>
                  <a:srgbClr val="000000"/>
                </a:solidFill>
                <a:latin typeface="Arial" pitchFamily="34" charset="0"/>
                <a:ea typeface="微软雅黑" panose="020B0503020204020204" pitchFamily="34" charset="-122"/>
              </a:rPr>
              <a:t>所有端口可用，提升组网效率。</a:t>
            </a:r>
            <a:endParaRPr lang="en-US" altLang="zh-CN" sz="1400" dirty="0">
              <a:solidFill>
                <a:srgbClr val="000000"/>
              </a:solidFill>
              <a:latin typeface="Arial" pitchFamily="34" charset="0"/>
              <a:ea typeface="微软雅黑" panose="020B0503020204020204" pitchFamily="34" charset="-122"/>
            </a:endParaRPr>
          </a:p>
          <a:p>
            <a:pPr fontAlgn="base">
              <a:lnSpc>
                <a:spcPct val="125000"/>
              </a:lnSpc>
              <a:spcBef>
                <a:spcPct val="0"/>
              </a:spcBef>
              <a:spcAft>
                <a:spcPct val="0"/>
              </a:spcAft>
            </a:pPr>
            <a:r>
              <a:rPr lang="zh-CN" altLang="en-US" sz="1400" b="1" dirty="0">
                <a:solidFill>
                  <a:srgbClr val="000000"/>
                </a:solidFill>
                <a:latin typeface="Arial" pitchFamily="34" charset="0"/>
                <a:ea typeface="微软雅黑" panose="020B0503020204020204" pitchFamily="34" charset="-122"/>
              </a:rPr>
              <a:t>问题：</a:t>
            </a:r>
            <a:r>
              <a:rPr lang="en-US" altLang="zh-CN" sz="1400" dirty="0">
                <a:solidFill>
                  <a:srgbClr val="000000"/>
                </a:solidFill>
                <a:latin typeface="Arial" pitchFamily="34" charset="0"/>
                <a:ea typeface="微软雅黑" panose="020B0503020204020204" pitchFamily="34" charset="-122"/>
              </a:rPr>
              <a:t>L2</a:t>
            </a:r>
            <a:r>
              <a:rPr lang="zh-CN" altLang="en-US" sz="1400" dirty="0">
                <a:solidFill>
                  <a:srgbClr val="000000"/>
                </a:solidFill>
                <a:latin typeface="Arial" pitchFamily="34" charset="0"/>
                <a:ea typeface="微软雅黑" panose="020B0503020204020204" pitchFamily="34" charset="-122"/>
              </a:rPr>
              <a:t>网络规模小，扩展性差，不满足云化</a:t>
            </a:r>
            <a:r>
              <a:rPr lang="en-US" altLang="zh-CN" sz="1400" dirty="0">
                <a:solidFill>
                  <a:srgbClr val="000000"/>
                </a:solidFill>
                <a:latin typeface="Arial" pitchFamily="34" charset="0"/>
                <a:ea typeface="微软雅黑" panose="020B0503020204020204" pitchFamily="34" charset="-122"/>
              </a:rPr>
              <a:t>DC</a:t>
            </a:r>
            <a:r>
              <a:rPr lang="zh-CN" altLang="en-US" sz="1400" dirty="0">
                <a:solidFill>
                  <a:srgbClr val="000000"/>
                </a:solidFill>
                <a:latin typeface="Arial" pitchFamily="34" charset="0"/>
                <a:ea typeface="微软雅黑" panose="020B0503020204020204" pitchFamily="34" charset="-122"/>
              </a:rPr>
              <a:t>大二层（跨</a:t>
            </a:r>
            <a:r>
              <a:rPr lang="en-US" altLang="zh-CN" sz="1400" dirty="0">
                <a:solidFill>
                  <a:srgbClr val="000000"/>
                </a:solidFill>
                <a:latin typeface="Arial" pitchFamily="34" charset="0"/>
                <a:ea typeface="微软雅黑" panose="020B0503020204020204" pitchFamily="34" charset="-122"/>
              </a:rPr>
              <a:t>POD</a:t>
            </a:r>
            <a:r>
              <a:rPr lang="zh-CN" altLang="en-US" sz="1400" dirty="0">
                <a:solidFill>
                  <a:srgbClr val="000000"/>
                </a:solidFill>
                <a:latin typeface="Arial" pitchFamily="34" charset="0"/>
                <a:ea typeface="微软雅黑" panose="020B0503020204020204" pitchFamily="34" charset="-122"/>
              </a:rPr>
              <a:t>）需求；无法异厂家堆叠，且可能无法无损升级。</a:t>
            </a:r>
          </a:p>
        </p:txBody>
      </p:sp>
      <p:sp>
        <p:nvSpPr>
          <p:cNvPr id="344" name="文本框 343">
            <a:extLst>
              <a:ext uri="{FF2B5EF4-FFF2-40B4-BE49-F238E27FC236}">
                <a16:creationId xmlns:a16="http://schemas.microsoft.com/office/drawing/2014/main" id="{9220658D-FDF4-4DA7-9572-992399F1B20F}"/>
              </a:ext>
            </a:extLst>
          </p:cNvPr>
          <p:cNvSpPr txBox="1"/>
          <p:nvPr/>
        </p:nvSpPr>
        <p:spPr>
          <a:xfrm>
            <a:off x="8194647" y="4817547"/>
            <a:ext cx="3257436" cy="1144544"/>
          </a:xfrm>
          <a:prstGeom prst="rect">
            <a:avLst/>
          </a:prstGeom>
          <a:noFill/>
        </p:spPr>
        <p:txBody>
          <a:bodyPr wrap="square" rtlCol="0">
            <a:spAutoFit/>
          </a:bodyPr>
          <a:lstStyle/>
          <a:p>
            <a:pPr algn="ctr" fontAlgn="base">
              <a:lnSpc>
                <a:spcPct val="125000"/>
              </a:lnSpc>
              <a:spcBef>
                <a:spcPct val="0"/>
              </a:spcBef>
              <a:spcAft>
                <a:spcPct val="0"/>
              </a:spcAft>
            </a:pPr>
            <a:r>
              <a:rPr lang="zh-CN" altLang="en-US" sz="1400" b="1" dirty="0">
                <a:solidFill>
                  <a:srgbClr val="C00000"/>
                </a:solidFill>
                <a:latin typeface="Arial" pitchFamily="34" charset="0"/>
                <a:ea typeface="微软雅黑" panose="020B0503020204020204" pitchFamily="34" charset="-122"/>
              </a:rPr>
              <a:t>扩展的</a:t>
            </a:r>
            <a:r>
              <a:rPr lang="en-US" altLang="zh-CN" sz="1400" b="1" dirty="0">
                <a:solidFill>
                  <a:srgbClr val="C00000"/>
                </a:solidFill>
                <a:latin typeface="Arial" pitchFamily="34" charset="0"/>
                <a:ea typeface="微软雅黑" panose="020B0503020204020204" pitchFamily="34" charset="-122"/>
              </a:rPr>
              <a:t>L2</a:t>
            </a:r>
            <a:r>
              <a:rPr lang="zh-CN" altLang="en-US" sz="1400" b="1" dirty="0">
                <a:solidFill>
                  <a:srgbClr val="C00000"/>
                </a:solidFill>
                <a:latin typeface="Arial" pitchFamily="34" charset="0"/>
                <a:ea typeface="微软雅黑" panose="020B0503020204020204" pitchFamily="34" charset="-122"/>
              </a:rPr>
              <a:t>架构</a:t>
            </a:r>
            <a:endParaRPr lang="en-US" altLang="zh-CN" sz="1400" b="1" dirty="0">
              <a:solidFill>
                <a:srgbClr val="C00000"/>
              </a:solidFill>
              <a:latin typeface="Arial" pitchFamily="34" charset="0"/>
              <a:ea typeface="微软雅黑" panose="020B0503020204020204" pitchFamily="34" charset="-122"/>
            </a:endParaRPr>
          </a:p>
          <a:p>
            <a:pPr fontAlgn="base">
              <a:lnSpc>
                <a:spcPct val="125000"/>
              </a:lnSpc>
              <a:spcBef>
                <a:spcPct val="0"/>
              </a:spcBef>
              <a:spcAft>
                <a:spcPct val="0"/>
              </a:spcAft>
            </a:pPr>
            <a:r>
              <a:rPr lang="zh-CN" altLang="en-US" sz="1400" b="1" dirty="0">
                <a:solidFill>
                  <a:srgbClr val="000000"/>
                </a:solidFill>
                <a:latin typeface="Arial" pitchFamily="34" charset="0"/>
                <a:ea typeface="微软雅黑" panose="020B0503020204020204" pitchFamily="34" charset="-122"/>
              </a:rPr>
              <a:t>方案：</a:t>
            </a:r>
            <a:r>
              <a:rPr lang="en-US" altLang="zh-CN" sz="1400" dirty="0">
                <a:solidFill>
                  <a:srgbClr val="000000"/>
                </a:solidFill>
                <a:latin typeface="Arial" pitchFamily="34" charset="0"/>
                <a:ea typeface="微软雅黑" panose="020B0503020204020204" pitchFamily="34" charset="-122"/>
              </a:rPr>
              <a:t>L3</a:t>
            </a:r>
            <a:r>
              <a:rPr lang="zh-CN" altLang="en-US" sz="1400" dirty="0">
                <a:solidFill>
                  <a:srgbClr val="000000"/>
                </a:solidFill>
                <a:latin typeface="Arial" pitchFamily="34" charset="0"/>
                <a:ea typeface="微软雅黑" panose="020B0503020204020204" pitchFamily="34" charset="-122"/>
              </a:rPr>
              <a:t>功能上移</a:t>
            </a:r>
            <a:r>
              <a:rPr lang="en-US" altLang="zh-CN" sz="1400" dirty="0">
                <a:solidFill>
                  <a:srgbClr val="000000"/>
                </a:solidFill>
                <a:latin typeface="Arial" pitchFamily="34" charset="0"/>
                <a:ea typeface="微软雅黑" panose="020B0503020204020204" pitchFamily="34" charset="-122"/>
              </a:rPr>
              <a:t>Core</a:t>
            </a:r>
            <a:r>
              <a:rPr lang="zh-CN" altLang="en-US" sz="1400" dirty="0">
                <a:solidFill>
                  <a:srgbClr val="000000"/>
                </a:solidFill>
                <a:latin typeface="Arial" pitchFamily="34" charset="0"/>
                <a:ea typeface="微软雅黑" panose="020B0503020204020204" pitchFamily="34" charset="-122"/>
              </a:rPr>
              <a:t>交换机。</a:t>
            </a:r>
            <a:endParaRPr lang="en-US" altLang="zh-CN" sz="1400" dirty="0">
              <a:solidFill>
                <a:srgbClr val="000000"/>
              </a:solidFill>
              <a:latin typeface="Arial" pitchFamily="34" charset="0"/>
              <a:ea typeface="微软雅黑" panose="020B0503020204020204" pitchFamily="34" charset="-122"/>
            </a:endParaRPr>
          </a:p>
          <a:p>
            <a:pPr fontAlgn="base">
              <a:lnSpc>
                <a:spcPct val="125000"/>
              </a:lnSpc>
              <a:spcBef>
                <a:spcPct val="0"/>
              </a:spcBef>
              <a:spcAft>
                <a:spcPct val="0"/>
              </a:spcAft>
            </a:pPr>
            <a:r>
              <a:rPr lang="zh-CN" altLang="en-US" sz="1400" b="1" dirty="0">
                <a:solidFill>
                  <a:srgbClr val="000000"/>
                </a:solidFill>
                <a:latin typeface="Arial" pitchFamily="34" charset="0"/>
                <a:ea typeface="微软雅黑" panose="020B0503020204020204" pitchFamily="34" charset="-122"/>
              </a:rPr>
              <a:t>问题：</a:t>
            </a:r>
            <a:r>
              <a:rPr lang="zh-CN" altLang="en-US" sz="1400" dirty="0">
                <a:solidFill>
                  <a:srgbClr val="000000"/>
                </a:solidFill>
                <a:latin typeface="Arial" pitchFamily="34" charset="0"/>
                <a:ea typeface="微软雅黑" panose="020B0503020204020204" pitchFamily="34" charset="-122"/>
              </a:rPr>
              <a:t>云化</a:t>
            </a:r>
            <a:r>
              <a:rPr lang="en-US" altLang="zh-CN" sz="1400" dirty="0">
                <a:solidFill>
                  <a:srgbClr val="000000"/>
                </a:solidFill>
                <a:latin typeface="Arial" pitchFamily="34" charset="0"/>
                <a:ea typeface="微软雅黑" panose="020B0503020204020204" pitchFamily="34" charset="-122"/>
              </a:rPr>
              <a:t>DC</a:t>
            </a:r>
            <a:r>
              <a:rPr lang="zh-CN" altLang="en-US" sz="1400" dirty="0">
                <a:solidFill>
                  <a:srgbClr val="000000"/>
                </a:solidFill>
                <a:latin typeface="Arial" pitchFamily="34" charset="0"/>
                <a:ea typeface="微软雅黑" panose="020B0503020204020204" pitchFamily="34" charset="-122"/>
              </a:rPr>
              <a:t>东西流量巨大，</a:t>
            </a:r>
            <a:r>
              <a:rPr lang="en-US" altLang="zh-CN" sz="1400" dirty="0">
                <a:solidFill>
                  <a:srgbClr val="FF0000"/>
                </a:solidFill>
                <a:latin typeface="Arial" pitchFamily="34" charset="0"/>
                <a:ea typeface="微软雅黑" panose="020B0503020204020204" pitchFamily="34" charset="-122"/>
              </a:rPr>
              <a:t>Core</a:t>
            </a:r>
            <a:r>
              <a:rPr lang="zh-CN" altLang="en-US" sz="1400" dirty="0">
                <a:solidFill>
                  <a:srgbClr val="FF0000"/>
                </a:solidFill>
                <a:latin typeface="Arial" pitchFamily="34" charset="0"/>
                <a:ea typeface="微软雅黑" panose="020B0503020204020204" pitchFamily="34" charset="-122"/>
              </a:rPr>
              <a:t>交换机成为瓶颈。</a:t>
            </a:r>
          </a:p>
        </p:txBody>
      </p:sp>
      <p:cxnSp>
        <p:nvCxnSpPr>
          <p:cNvPr id="345" name="直接连接符 344">
            <a:extLst>
              <a:ext uri="{FF2B5EF4-FFF2-40B4-BE49-F238E27FC236}">
                <a16:creationId xmlns:a16="http://schemas.microsoft.com/office/drawing/2014/main" id="{87306ED2-CDFE-46E8-ADEA-31407B868F85}"/>
              </a:ext>
            </a:extLst>
          </p:cNvPr>
          <p:cNvCxnSpPr>
            <a:stCxn id="177" idx="3"/>
            <a:endCxn id="178" idx="1"/>
          </p:cNvCxnSpPr>
          <p:nvPr/>
        </p:nvCxnSpPr>
        <p:spPr bwMode="auto">
          <a:xfrm>
            <a:off x="2340452" y="1633252"/>
            <a:ext cx="205214" cy="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6" name="直接连接符 345">
            <a:extLst>
              <a:ext uri="{FF2B5EF4-FFF2-40B4-BE49-F238E27FC236}">
                <a16:creationId xmlns:a16="http://schemas.microsoft.com/office/drawing/2014/main" id="{77493E2A-BF5F-4C21-920F-2975ED9A483E}"/>
              </a:ext>
            </a:extLst>
          </p:cNvPr>
          <p:cNvCxnSpPr>
            <a:cxnSpLocks/>
            <a:stCxn id="221" idx="3"/>
            <a:endCxn id="222" idx="1"/>
          </p:cNvCxnSpPr>
          <p:nvPr/>
        </p:nvCxnSpPr>
        <p:spPr bwMode="auto">
          <a:xfrm>
            <a:off x="5838140" y="1633252"/>
            <a:ext cx="205214" cy="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9174349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6F770D5-516C-4CDA-8F41-36142A7BEC1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zh-CN" altLang="en-US" sz="2800" b="1" kern="0" dirty="0">
                <a:solidFill>
                  <a:srgbClr val="C00000"/>
                </a:solidFill>
                <a:latin typeface="微软雅黑" panose="020B0503020204020204" pitchFamily="34" charset="-122"/>
                <a:ea typeface="微软雅黑" panose="020B0503020204020204" pitchFamily="34" charset="-122"/>
                <a:cs typeface="+mn-cs"/>
              </a:rPr>
              <a:t>云数据中心网络诉求和关键技术</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1169B505-A0BD-447F-9DDD-21E67844B76B}"/>
              </a:ext>
            </a:extLst>
          </p:cNvPr>
          <p:cNvSpPr/>
          <p:nvPr/>
        </p:nvSpPr>
        <p:spPr>
          <a:xfrm>
            <a:off x="450956" y="1492748"/>
            <a:ext cx="5207566" cy="4064895"/>
          </a:xfrm>
          <a:prstGeom prst="rect">
            <a:avLst/>
          </a:prstGeom>
        </p:spPr>
        <p:txBody>
          <a:bodyPr wrap="square">
            <a:spAutoFit/>
          </a:bodyPr>
          <a:lstStyle/>
          <a:p>
            <a:pPr marL="285750" indent="-285750" fontAlgn="base">
              <a:lnSpc>
                <a:spcPct val="125000"/>
              </a:lnSpc>
              <a:spcBef>
                <a:spcPts val="1200"/>
              </a:spcBef>
              <a:spcAft>
                <a:spcPct val="0"/>
              </a:spcAft>
              <a:buFont typeface="Arial" panose="020B0604020202020204" pitchFamily="34" charset="0"/>
              <a:buChar char="•"/>
            </a:pPr>
            <a:r>
              <a:rPr lang="en-US" altLang="zh-CN" sz="1600" b="1" dirty="0">
                <a:solidFill>
                  <a:srgbClr val="C00000"/>
                </a:solidFill>
                <a:latin typeface="Arial" pitchFamily="34" charset="0"/>
                <a:ea typeface="微软雅黑" panose="020B0503020204020204" pitchFamily="34" charset="-122"/>
              </a:rPr>
              <a:t>“</a:t>
            </a:r>
            <a:r>
              <a:rPr lang="zh-CN" altLang="en-US" sz="1600" b="1" dirty="0">
                <a:solidFill>
                  <a:srgbClr val="C00000"/>
                </a:solidFill>
                <a:latin typeface="Arial" pitchFamily="34" charset="0"/>
                <a:ea typeface="微软雅黑" panose="020B0503020204020204" pitchFamily="34" charset="-122"/>
              </a:rPr>
              <a:t>大</a:t>
            </a:r>
            <a:r>
              <a:rPr lang="en-US" altLang="zh-CN" sz="1600" b="1" dirty="0">
                <a:solidFill>
                  <a:srgbClr val="C00000"/>
                </a:solidFill>
                <a:latin typeface="Arial" pitchFamily="34" charset="0"/>
                <a:ea typeface="微软雅黑" panose="020B0503020204020204" pitchFamily="34" charset="-122"/>
              </a:rPr>
              <a:t>”</a:t>
            </a:r>
            <a:r>
              <a:rPr lang="zh-CN" altLang="en-US" sz="1600" dirty="0">
                <a:solidFill>
                  <a:srgbClr val="000000"/>
                </a:solidFill>
                <a:latin typeface="Arial" pitchFamily="34" charset="0"/>
                <a:ea typeface="微软雅黑" panose="020B0503020204020204" pitchFamily="34" charset="-122"/>
              </a:rPr>
              <a:t>：支持数万甚至更多的服务器，百万级的</a:t>
            </a:r>
            <a:r>
              <a:rPr lang="en-US" altLang="zh-CN" sz="1600" dirty="0">
                <a:solidFill>
                  <a:srgbClr val="000000"/>
                </a:solidFill>
                <a:latin typeface="Arial" pitchFamily="34" charset="0"/>
                <a:ea typeface="微软雅黑" panose="020B0503020204020204" pitchFamily="34" charset="-122"/>
              </a:rPr>
              <a:t>VM</a:t>
            </a:r>
            <a:r>
              <a:rPr lang="zh-CN" altLang="en-US" sz="1600" dirty="0">
                <a:solidFill>
                  <a:srgbClr val="000000"/>
                </a:solidFill>
                <a:latin typeface="Arial" pitchFamily="34" charset="0"/>
                <a:ea typeface="微软雅黑" panose="020B0503020204020204" pitchFamily="34" charset="-122"/>
              </a:rPr>
              <a:t>接入，远超</a:t>
            </a:r>
            <a:r>
              <a:rPr lang="en-US" altLang="zh-CN" sz="1600" dirty="0">
                <a:solidFill>
                  <a:srgbClr val="000000"/>
                </a:solidFill>
                <a:latin typeface="Arial" pitchFamily="34" charset="0"/>
                <a:ea typeface="微软雅黑" panose="020B0503020204020204" pitchFamily="34" charset="-122"/>
              </a:rPr>
              <a:t>4K</a:t>
            </a:r>
            <a:r>
              <a:rPr lang="zh-CN" altLang="en-US" sz="1600" dirty="0">
                <a:solidFill>
                  <a:srgbClr val="000000"/>
                </a:solidFill>
                <a:latin typeface="Arial" pitchFamily="34" charset="0"/>
                <a:ea typeface="微软雅黑" panose="020B0503020204020204" pitchFamily="34" charset="-122"/>
              </a:rPr>
              <a:t>的租户网络；</a:t>
            </a:r>
            <a:endParaRPr lang="en-US" altLang="zh-CN" sz="1600" dirty="0">
              <a:solidFill>
                <a:srgbClr val="000000"/>
              </a:solidFill>
              <a:latin typeface="Arial" pitchFamily="34" charset="0"/>
              <a:ea typeface="微软雅黑" panose="020B0503020204020204" pitchFamily="34" charset="-122"/>
            </a:endParaRPr>
          </a:p>
          <a:p>
            <a:pPr marL="285750" indent="-285750" fontAlgn="base">
              <a:lnSpc>
                <a:spcPct val="125000"/>
              </a:lnSpc>
              <a:spcBef>
                <a:spcPts val="1200"/>
              </a:spcBef>
              <a:spcAft>
                <a:spcPct val="0"/>
              </a:spcAft>
              <a:buFont typeface="Arial" panose="020B0604020202020204" pitchFamily="34" charset="0"/>
              <a:buChar char="•"/>
            </a:pPr>
            <a:r>
              <a:rPr lang="zh-CN" altLang="en-US" sz="1600" b="1" dirty="0">
                <a:solidFill>
                  <a:srgbClr val="C00000"/>
                </a:solidFill>
                <a:latin typeface="Arial" pitchFamily="34" charset="0"/>
                <a:ea typeface="微软雅黑" panose="020B0503020204020204" pitchFamily="34" charset="-122"/>
              </a:rPr>
              <a:t>“低成本水平扩展”</a:t>
            </a:r>
            <a:r>
              <a:rPr lang="zh-CN" altLang="en-US" sz="1600" dirty="0">
                <a:solidFill>
                  <a:srgbClr val="000000"/>
                </a:solidFill>
                <a:latin typeface="Arial" pitchFamily="34" charset="0"/>
                <a:ea typeface="微软雅黑" panose="020B0503020204020204" pitchFamily="34" charset="-122"/>
              </a:rPr>
              <a:t>：不依赖于高端交换机的纵向扩展，而是采用普通盒式交换机的水平扩展；</a:t>
            </a:r>
            <a:endParaRPr lang="en-US" altLang="zh-CN" sz="1600" dirty="0">
              <a:solidFill>
                <a:srgbClr val="000000"/>
              </a:solidFill>
              <a:latin typeface="Arial" pitchFamily="34" charset="0"/>
              <a:ea typeface="微软雅黑" panose="020B0503020204020204" pitchFamily="34" charset="-122"/>
            </a:endParaRPr>
          </a:p>
          <a:p>
            <a:pPr marL="285750" indent="-285750" fontAlgn="base">
              <a:lnSpc>
                <a:spcPct val="125000"/>
              </a:lnSpc>
              <a:spcBef>
                <a:spcPts val="1200"/>
              </a:spcBef>
              <a:spcAft>
                <a:spcPct val="0"/>
              </a:spcAft>
              <a:buFont typeface="Arial" panose="020B0604020202020204" pitchFamily="34" charset="0"/>
              <a:buChar char="•"/>
            </a:pPr>
            <a:r>
              <a:rPr lang="zh-CN" altLang="en-US" sz="1600" b="1" dirty="0">
                <a:solidFill>
                  <a:srgbClr val="C00000"/>
                </a:solidFill>
                <a:latin typeface="Arial" pitchFamily="34" charset="0"/>
                <a:ea typeface="微软雅黑" panose="020B0503020204020204" pitchFamily="34" charset="-122"/>
              </a:rPr>
              <a:t>“位置无关”</a:t>
            </a:r>
            <a:r>
              <a:rPr lang="zh-CN" altLang="en-US" sz="1600" dirty="0">
                <a:solidFill>
                  <a:srgbClr val="000000"/>
                </a:solidFill>
                <a:latin typeface="Arial" pitchFamily="34" charset="0"/>
                <a:ea typeface="微软雅黑" panose="020B0503020204020204" pitchFamily="34" charset="-122"/>
              </a:rPr>
              <a:t>：逻辑网络和物理网络解耦，支持虚拟机迁移，网络策略跟着</a:t>
            </a:r>
            <a:r>
              <a:rPr lang="en-US" altLang="zh-CN" sz="1600" dirty="0">
                <a:solidFill>
                  <a:srgbClr val="000000"/>
                </a:solidFill>
                <a:latin typeface="Arial" pitchFamily="34" charset="0"/>
                <a:ea typeface="微软雅黑" panose="020B0503020204020204" pitchFamily="34" charset="-122"/>
              </a:rPr>
              <a:t>VM</a:t>
            </a:r>
            <a:r>
              <a:rPr lang="zh-CN" altLang="en-US" sz="1600" dirty="0">
                <a:solidFill>
                  <a:srgbClr val="000000"/>
                </a:solidFill>
                <a:latin typeface="Arial" pitchFamily="34" charset="0"/>
                <a:ea typeface="微软雅黑" panose="020B0503020204020204" pitchFamily="34" charset="-122"/>
              </a:rPr>
              <a:t>走（</a:t>
            </a:r>
            <a:r>
              <a:rPr lang="en-US" altLang="zh-CN" sz="1600" dirty="0">
                <a:solidFill>
                  <a:srgbClr val="000000"/>
                </a:solidFill>
                <a:latin typeface="Arial" pitchFamily="34" charset="0"/>
                <a:ea typeface="微软雅黑" panose="020B0503020204020204" pitchFamily="34" charset="-122"/>
              </a:rPr>
              <a:t>VM aware Network</a:t>
            </a:r>
            <a:r>
              <a:rPr lang="zh-CN" altLang="en-US" sz="1600" dirty="0">
                <a:solidFill>
                  <a:srgbClr val="000000"/>
                </a:solidFill>
                <a:latin typeface="Arial" pitchFamily="34" charset="0"/>
                <a:ea typeface="微软雅黑" panose="020B0503020204020204" pitchFamily="34" charset="-122"/>
              </a:rPr>
              <a:t>）；</a:t>
            </a:r>
            <a:endParaRPr lang="en-US" altLang="zh-CN" sz="1600" dirty="0">
              <a:solidFill>
                <a:srgbClr val="000000"/>
              </a:solidFill>
              <a:latin typeface="Arial" pitchFamily="34" charset="0"/>
              <a:ea typeface="微软雅黑" panose="020B0503020204020204" pitchFamily="34" charset="-122"/>
            </a:endParaRPr>
          </a:p>
          <a:p>
            <a:pPr marL="285750" indent="-285750" fontAlgn="base">
              <a:lnSpc>
                <a:spcPct val="125000"/>
              </a:lnSpc>
              <a:spcBef>
                <a:spcPts val="1200"/>
              </a:spcBef>
              <a:spcAft>
                <a:spcPct val="0"/>
              </a:spcAft>
              <a:buFont typeface="Arial" panose="020B0604020202020204" pitchFamily="34" charset="0"/>
              <a:buChar char="•"/>
            </a:pPr>
            <a:r>
              <a:rPr lang="zh-CN" altLang="en-US" sz="1600" b="1" dirty="0">
                <a:solidFill>
                  <a:srgbClr val="C00000"/>
                </a:solidFill>
                <a:latin typeface="Arial" pitchFamily="34" charset="0"/>
                <a:ea typeface="微软雅黑" panose="020B0503020204020204" pitchFamily="34" charset="-122"/>
              </a:rPr>
              <a:t>“胖”</a:t>
            </a:r>
            <a:r>
              <a:rPr lang="zh-CN" altLang="en-US" sz="1600" dirty="0">
                <a:solidFill>
                  <a:srgbClr val="000000"/>
                </a:solidFill>
                <a:latin typeface="Arial" pitchFamily="34" charset="0"/>
                <a:ea typeface="微软雅黑" panose="020B0503020204020204" pitchFamily="34" charset="-122"/>
              </a:rPr>
              <a:t>：云</a:t>
            </a:r>
            <a:r>
              <a:rPr lang="en-US" altLang="zh-CN" sz="1600" dirty="0">
                <a:solidFill>
                  <a:srgbClr val="000000"/>
                </a:solidFill>
                <a:latin typeface="Arial" pitchFamily="34" charset="0"/>
                <a:ea typeface="微软雅黑" panose="020B0503020204020204" pitchFamily="34" charset="-122"/>
              </a:rPr>
              <a:t>DC</a:t>
            </a:r>
            <a:r>
              <a:rPr lang="zh-CN" altLang="en-US" sz="1600" dirty="0">
                <a:solidFill>
                  <a:srgbClr val="000000"/>
                </a:solidFill>
                <a:latin typeface="Arial" pitchFamily="34" charset="0"/>
                <a:ea typeface="微软雅黑" panose="020B0503020204020204" pitchFamily="34" charset="-122"/>
              </a:rPr>
              <a:t>内东西流量大（收敛比</a:t>
            </a:r>
            <a:r>
              <a:rPr lang="en-US" altLang="zh-CN" sz="1600" dirty="0">
                <a:solidFill>
                  <a:srgbClr val="000000"/>
                </a:solidFill>
                <a:latin typeface="Arial" pitchFamily="34" charset="0"/>
                <a:ea typeface="微软雅黑" panose="020B0503020204020204" pitchFamily="34" charset="-122"/>
              </a:rPr>
              <a:t>2:1~7:1</a:t>
            </a:r>
            <a:r>
              <a:rPr lang="zh-CN" altLang="en-US" sz="1600" dirty="0">
                <a:solidFill>
                  <a:srgbClr val="000000"/>
                </a:solidFill>
                <a:latin typeface="Arial" pitchFamily="34" charset="0"/>
                <a:ea typeface="微软雅黑" panose="020B0503020204020204" pitchFamily="34" charset="-122"/>
              </a:rPr>
              <a:t>），而且能适应收敛比的变化（东西和南北流量可以独立扩容）；</a:t>
            </a:r>
            <a:endParaRPr lang="en-US" altLang="zh-CN" sz="1600" dirty="0">
              <a:solidFill>
                <a:srgbClr val="000000"/>
              </a:solidFill>
              <a:latin typeface="Arial" pitchFamily="34" charset="0"/>
              <a:ea typeface="微软雅黑" panose="020B0503020204020204" pitchFamily="34" charset="-122"/>
            </a:endParaRPr>
          </a:p>
          <a:p>
            <a:pPr marL="285750" indent="-285750" fontAlgn="base">
              <a:lnSpc>
                <a:spcPct val="125000"/>
              </a:lnSpc>
              <a:spcBef>
                <a:spcPts val="1200"/>
              </a:spcBef>
              <a:spcAft>
                <a:spcPct val="0"/>
              </a:spcAft>
              <a:buFont typeface="Arial" panose="020B0604020202020204" pitchFamily="34" charset="0"/>
              <a:buChar char="•"/>
            </a:pPr>
            <a:r>
              <a:rPr lang="zh-CN" altLang="en-US" sz="1600" b="1" dirty="0">
                <a:solidFill>
                  <a:srgbClr val="C00000"/>
                </a:solidFill>
                <a:latin typeface="Arial" pitchFamily="34" charset="0"/>
                <a:ea typeface="微软雅黑" panose="020B0503020204020204" pitchFamily="34" charset="-122"/>
              </a:rPr>
              <a:t>“自动化”</a:t>
            </a:r>
            <a:r>
              <a:rPr lang="zh-CN" altLang="en-US" sz="1600" dirty="0">
                <a:solidFill>
                  <a:srgbClr val="000000"/>
                </a:solidFill>
                <a:latin typeface="Arial" pitchFamily="34" charset="0"/>
                <a:ea typeface="微软雅黑" panose="020B0503020204020204" pitchFamily="34" charset="-122"/>
              </a:rPr>
              <a:t>：为不同租户动态、按需创建相互隔离的虚拟网络。</a:t>
            </a:r>
            <a:endParaRPr lang="en-US" altLang="zh-CN" sz="1600" dirty="0">
              <a:solidFill>
                <a:srgbClr val="000000"/>
              </a:solidFill>
              <a:latin typeface="Arial" pitchFamily="34" charset="0"/>
              <a:ea typeface="微软雅黑" panose="020B0503020204020204" pitchFamily="34" charset="-122"/>
            </a:endParaRPr>
          </a:p>
        </p:txBody>
      </p:sp>
      <p:sp>
        <p:nvSpPr>
          <p:cNvPr id="6" name="半闭框 4">
            <a:extLst>
              <a:ext uri="{FF2B5EF4-FFF2-40B4-BE49-F238E27FC236}">
                <a16:creationId xmlns:a16="http://schemas.microsoft.com/office/drawing/2014/main" id="{D33C5C8E-CF5B-4293-9FD3-6A53765A98CB}"/>
              </a:ext>
            </a:extLst>
          </p:cNvPr>
          <p:cNvSpPr/>
          <p:nvPr/>
        </p:nvSpPr>
        <p:spPr bwMode="auto">
          <a:xfrm rot="8306468">
            <a:off x="5584964" y="2616192"/>
            <a:ext cx="1150041" cy="1262114"/>
          </a:xfrm>
          <a:custGeom>
            <a:avLst/>
            <a:gdLst>
              <a:gd name="connsiteX0" fmla="*/ 0 w 1133475"/>
              <a:gd name="connsiteY0" fmla="*/ 0 h 1143000"/>
              <a:gd name="connsiteX1" fmla="*/ 1133475 w 1133475"/>
              <a:gd name="connsiteY1" fmla="*/ 0 h 1143000"/>
              <a:gd name="connsiteX2" fmla="*/ 758802 w 1133475"/>
              <a:gd name="connsiteY2" fmla="*/ 377821 h 1143000"/>
              <a:gd name="connsiteX3" fmla="*/ 377821 w 1133475"/>
              <a:gd name="connsiteY3" fmla="*/ 377821 h 1143000"/>
              <a:gd name="connsiteX4" fmla="*/ 377821 w 1133475"/>
              <a:gd name="connsiteY4" fmla="*/ 762004 h 1143000"/>
              <a:gd name="connsiteX5" fmla="*/ 0 w 1133475"/>
              <a:gd name="connsiteY5" fmla="*/ 1143000 h 1143000"/>
              <a:gd name="connsiteX6" fmla="*/ 0 w 1133475"/>
              <a:gd name="connsiteY6" fmla="*/ 0 h 1143000"/>
              <a:gd name="connsiteX0" fmla="*/ 0 w 1133475"/>
              <a:gd name="connsiteY0" fmla="*/ 0 h 1143000"/>
              <a:gd name="connsiteX1" fmla="*/ 1133475 w 1133475"/>
              <a:gd name="connsiteY1" fmla="*/ 0 h 1143000"/>
              <a:gd name="connsiteX2" fmla="*/ 758802 w 1133475"/>
              <a:gd name="connsiteY2" fmla="*/ 377821 h 1143000"/>
              <a:gd name="connsiteX3" fmla="*/ 273046 w 1133475"/>
              <a:gd name="connsiteY3" fmla="*/ 273046 h 1143000"/>
              <a:gd name="connsiteX4" fmla="*/ 377821 w 1133475"/>
              <a:gd name="connsiteY4" fmla="*/ 762004 h 1143000"/>
              <a:gd name="connsiteX5" fmla="*/ 0 w 1133475"/>
              <a:gd name="connsiteY5" fmla="*/ 1143000 h 1143000"/>
              <a:gd name="connsiteX6" fmla="*/ 0 w 1133475"/>
              <a:gd name="connsiteY6" fmla="*/ 0 h 1143000"/>
              <a:gd name="connsiteX0" fmla="*/ 0 w 1133475"/>
              <a:gd name="connsiteY0" fmla="*/ 0 h 1143000"/>
              <a:gd name="connsiteX1" fmla="*/ 1133475 w 1133475"/>
              <a:gd name="connsiteY1" fmla="*/ 0 h 1143000"/>
              <a:gd name="connsiteX2" fmla="*/ 758802 w 1133475"/>
              <a:gd name="connsiteY2" fmla="*/ 377821 h 1143000"/>
              <a:gd name="connsiteX3" fmla="*/ 273046 w 1133475"/>
              <a:gd name="connsiteY3" fmla="*/ 273046 h 1143000"/>
              <a:gd name="connsiteX4" fmla="*/ 263521 w 1133475"/>
              <a:gd name="connsiteY4" fmla="*/ 800104 h 1143000"/>
              <a:gd name="connsiteX5" fmla="*/ 0 w 1133475"/>
              <a:gd name="connsiteY5" fmla="*/ 1143000 h 1143000"/>
              <a:gd name="connsiteX6" fmla="*/ 0 w 1133475"/>
              <a:gd name="connsiteY6" fmla="*/ 0 h 1143000"/>
              <a:gd name="connsiteX0" fmla="*/ 0 w 1133475"/>
              <a:gd name="connsiteY0" fmla="*/ 0 h 1143000"/>
              <a:gd name="connsiteX1" fmla="*/ 1133475 w 1133475"/>
              <a:gd name="connsiteY1" fmla="*/ 0 h 1143000"/>
              <a:gd name="connsiteX2" fmla="*/ 835002 w 1133475"/>
              <a:gd name="connsiteY2" fmla="*/ 249234 h 1143000"/>
              <a:gd name="connsiteX3" fmla="*/ 273046 w 1133475"/>
              <a:gd name="connsiteY3" fmla="*/ 273046 h 1143000"/>
              <a:gd name="connsiteX4" fmla="*/ 263521 w 1133475"/>
              <a:gd name="connsiteY4" fmla="*/ 800104 h 1143000"/>
              <a:gd name="connsiteX5" fmla="*/ 0 w 1133475"/>
              <a:gd name="connsiteY5" fmla="*/ 1143000 h 1143000"/>
              <a:gd name="connsiteX6" fmla="*/ 0 w 1133475"/>
              <a:gd name="connsiteY6" fmla="*/ 0 h 1143000"/>
              <a:gd name="connsiteX0" fmla="*/ 0 w 1133475"/>
              <a:gd name="connsiteY0" fmla="*/ 0 h 1143000"/>
              <a:gd name="connsiteX1" fmla="*/ 1133475 w 1133475"/>
              <a:gd name="connsiteY1" fmla="*/ 0 h 1143000"/>
              <a:gd name="connsiteX2" fmla="*/ 835002 w 1133475"/>
              <a:gd name="connsiteY2" fmla="*/ 249234 h 1143000"/>
              <a:gd name="connsiteX3" fmla="*/ 187321 w 1133475"/>
              <a:gd name="connsiteY3" fmla="*/ 187321 h 1143000"/>
              <a:gd name="connsiteX4" fmla="*/ 263521 w 1133475"/>
              <a:gd name="connsiteY4" fmla="*/ 800104 h 1143000"/>
              <a:gd name="connsiteX5" fmla="*/ 0 w 1133475"/>
              <a:gd name="connsiteY5" fmla="*/ 1143000 h 1143000"/>
              <a:gd name="connsiteX6" fmla="*/ 0 w 1133475"/>
              <a:gd name="connsiteY6" fmla="*/ 0 h 1143000"/>
              <a:gd name="connsiteX0" fmla="*/ 0 w 1133475"/>
              <a:gd name="connsiteY0" fmla="*/ 0 h 1143000"/>
              <a:gd name="connsiteX1" fmla="*/ 1133475 w 1133475"/>
              <a:gd name="connsiteY1" fmla="*/ 0 h 1143000"/>
              <a:gd name="connsiteX2" fmla="*/ 835002 w 1133475"/>
              <a:gd name="connsiteY2" fmla="*/ 249234 h 1143000"/>
              <a:gd name="connsiteX3" fmla="*/ 187321 w 1133475"/>
              <a:gd name="connsiteY3" fmla="*/ 187321 h 1143000"/>
              <a:gd name="connsiteX4" fmla="*/ 192084 w 1133475"/>
              <a:gd name="connsiteY4" fmla="*/ 881066 h 1143000"/>
              <a:gd name="connsiteX5" fmla="*/ 0 w 1133475"/>
              <a:gd name="connsiteY5" fmla="*/ 1143000 h 1143000"/>
              <a:gd name="connsiteX6" fmla="*/ 0 w 1133475"/>
              <a:gd name="connsiteY6" fmla="*/ 0 h 1143000"/>
              <a:gd name="connsiteX0" fmla="*/ 0 w 1133475"/>
              <a:gd name="connsiteY0" fmla="*/ 0 h 1143000"/>
              <a:gd name="connsiteX1" fmla="*/ 1133475 w 1133475"/>
              <a:gd name="connsiteY1" fmla="*/ 0 h 1143000"/>
              <a:gd name="connsiteX2" fmla="*/ 901677 w 1133475"/>
              <a:gd name="connsiteY2" fmla="*/ 192084 h 1143000"/>
              <a:gd name="connsiteX3" fmla="*/ 187321 w 1133475"/>
              <a:gd name="connsiteY3" fmla="*/ 187321 h 1143000"/>
              <a:gd name="connsiteX4" fmla="*/ 192084 w 1133475"/>
              <a:gd name="connsiteY4" fmla="*/ 881066 h 1143000"/>
              <a:gd name="connsiteX5" fmla="*/ 0 w 1133475"/>
              <a:gd name="connsiteY5" fmla="*/ 1143000 h 1143000"/>
              <a:gd name="connsiteX6" fmla="*/ 0 w 1133475"/>
              <a:gd name="connsiteY6" fmla="*/ 0 h 1143000"/>
              <a:gd name="connsiteX0" fmla="*/ 0 w 1137143"/>
              <a:gd name="connsiteY0" fmla="*/ 397205 h 1540205"/>
              <a:gd name="connsiteX1" fmla="*/ 1137143 w 1137143"/>
              <a:gd name="connsiteY1" fmla="*/ 0 h 1540205"/>
              <a:gd name="connsiteX2" fmla="*/ 901677 w 1137143"/>
              <a:gd name="connsiteY2" fmla="*/ 589289 h 1540205"/>
              <a:gd name="connsiteX3" fmla="*/ 187321 w 1137143"/>
              <a:gd name="connsiteY3" fmla="*/ 584526 h 1540205"/>
              <a:gd name="connsiteX4" fmla="*/ 192084 w 1137143"/>
              <a:gd name="connsiteY4" fmla="*/ 1278271 h 1540205"/>
              <a:gd name="connsiteX5" fmla="*/ 0 w 1137143"/>
              <a:gd name="connsiteY5" fmla="*/ 1540205 h 1540205"/>
              <a:gd name="connsiteX6" fmla="*/ 0 w 1137143"/>
              <a:gd name="connsiteY6" fmla="*/ 397205 h 1540205"/>
              <a:gd name="connsiteX0" fmla="*/ 233428 w 1370571"/>
              <a:gd name="connsiteY0" fmla="*/ 397205 h 1489262"/>
              <a:gd name="connsiteX1" fmla="*/ 1370571 w 1370571"/>
              <a:gd name="connsiteY1" fmla="*/ 0 h 1489262"/>
              <a:gd name="connsiteX2" fmla="*/ 1135105 w 1370571"/>
              <a:gd name="connsiteY2" fmla="*/ 589289 h 1489262"/>
              <a:gd name="connsiteX3" fmla="*/ 420749 w 1370571"/>
              <a:gd name="connsiteY3" fmla="*/ 584526 h 1489262"/>
              <a:gd name="connsiteX4" fmla="*/ 425512 w 1370571"/>
              <a:gd name="connsiteY4" fmla="*/ 1278271 h 1489262"/>
              <a:gd name="connsiteX5" fmla="*/ 0 w 1370571"/>
              <a:gd name="connsiteY5" fmla="*/ 1489262 h 1489262"/>
              <a:gd name="connsiteX6" fmla="*/ 233428 w 1370571"/>
              <a:gd name="connsiteY6" fmla="*/ 397205 h 1489262"/>
              <a:gd name="connsiteX0" fmla="*/ 233428 w 1370571"/>
              <a:gd name="connsiteY0" fmla="*/ 397205 h 1489262"/>
              <a:gd name="connsiteX1" fmla="*/ 1370571 w 1370571"/>
              <a:gd name="connsiteY1" fmla="*/ 0 h 1489262"/>
              <a:gd name="connsiteX2" fmla="*/ 1135105 w 1370571"/>
              <a:gd name="connsiteY2" fmla="*/ 589289 h 1489262"/>
              <a:gd name="connsiteX3" fmla="*/ 420749 w 1370571"/>
              <a:gd name="connsiteY3" fmla="*/ 584526 h 1489262"/>
              <a:gd name="connsiteX4" fmla="*/ 242219 w 1370571"/>
              <a:gd name="connsiteY4" fmla="*/ 1329764 h 1489262"/>
              <a:gd name="connsiteX5" fmla="*/ 0 w 1370571"/>
              <a:gd name="connsiteY5" fmla="*/ 1489262 h 1489262"/>
              <a:gd name="connsiteX6" fmla="*/ 233428 w 1370571"/>
              <a:gd name="connsiteY6" fmla="*/ 397205 h 1489262"/>
              <a:gd name="connsiteX0" fmla="*/ 233428 w 1370571"/>
              <a:gd name="connsiteY0" fmla="*/ 397205 h 1489262"/>
              <a:gd name="connsiteX1" fmla="*/ 1370571 w 1370571"/>
              <a:gd name="connsiteY1" fmla="*/ 0 h 1489262"/>
              <a:gd name="connsiteX2" fmla="*/ 1188855 w 1370571"/>
              <a:gd name="connsiteY2" fmla="*/ 251812 h 1489262"/>
              <a:gd name="connsiteX3" fmla="*/ 420749 w 1370571"/>
              <a:gd name="connsiteY3" fmla="*/ 584526 h 1489262"/>
              <a:gd name="connsiteX4" fmla="*/ 242219 w 1370571"/>
              <a:gd name="connsiteY4" fmla="*/ 1329764 h 1489262"/>
              <a:gd name="connsiteX5" fmla="*/ 0 w 1370571"/>
              <a:gd name="connsiteY5" fmla="*/ 1489262 h 1489262"/>
              <a:gd name="connsiteX6" fmla="*/ 233428 w 1370571"/>
              <a:gd name="connsiteY6" fmla="*/ 397205 h 1489262"/>
              <a:gd name="connsiteX0" fmla="*/ 233428 w 1370571"/>
              <a:gd name="connsiteY0" fmla="*/ 397205 h 1489262"/>
              <a:gd name="connsiteX1" fmla="*/ 1370571 w 1370571"/>
              <a:gd name="connsiteY1" fmla="*/ 0 h 1489262"/>
              <a:gd name="connsiteX2" fmla="*/ 1213889 w 1370571"/>
              <a:gd name="connsiteY2" fmla="*/ 277403 h 1489262"/>
              <a:gd name="connsiteX3" fmla="*/ 420749 w 1370571"/>
              <a:gd name="connsiteY3" fmla="*/ 584526 h 1489262"/>
              <a:gd name="connsiteX4" fmla="*/ 242219 w 1370571"/>
              <a:gd name="connsiteY4" fmla="*/ 1329764 h 1489262"/>
              <a:gd name="connsiteX5" fmla="*/ 0 w 1370571"/>
              <a:gd name="connsiteY5" fmla="*/ 1489262 h 1489262"/>
              <a:gd name="connsiteX6" fmla="*/ 233428 w 1370571"/>
              <a:gd name="connsiteY6" fmla="*/ 397205 h 1489262"/>
              <a:gd name="connsiteX0" fmla="*/ 233428 w 1370571"/>
              <a:gd name="connsiteY0" fmla="*/ 397205 h 1489262"/>
              <a:gd name="connsiteX1" fmla="*/ 1370571 w 1370571"/>
              <a:gd name="connsiteY1" fmla="*/ 0 h 1489262"/>
              <a:gd name="connsiteX2" fmla="*/ 1213889 w 1370571"/>
              <a:gd name="connsiteY2" fmla="*/ 277403 h 1489262"/>
              <a:gd name="connsiteX3" fmla="*/ 420749 w 1370571"/>
              <a:gd name="connsiteY3" fmla="*/ 584526 h 1489262"/>
              <a:gd name="connsiteX4" fmla="*/ 317207 w 1370571"/>
              <a:gd name="connsiteY4" fmla="*/ 1312583 h 1489262"/>
              <a:gd name="connsiteX5" fmla="*/ 0 w 1370571"/>
              <a:gd name="connsiteY5" fmla="*/ 1489262 h 1489262"/>
              <a:gd name="connsiteX6" fmla="*/ 233428 w 1370571"/>
              <a:gd name="connsiteY6" fmla="*/ 397205 h 1489262"/>
              <a:gd name="connsiteX0" fmla="*/ 233428 w 1370571"/>
              <a:gd name="connsiteY0" fmla="*/ 397205 h 1489262"/>
              <a:gd name="connsiteX1" fmla="*/ 1370571 w 1370571"/>
              <a:gd name="connsiteY1" fmla="*/ 0 h 1489262"/>
              <a:gd name="connsiteX2" fmla="*/ 1213889 w 1370571"/>
              <a:gd name="connsiteY2" fmla="*/ 277403 h 1489262"/>
              <a:gd name="connsiteX3" fmla="*/ 420749 w 1370571"/>
              <a:gd name="connsiteY3" fmla="*/ 584526 h 1489262"/>
              <a:gd name="connsiteX4" fmla="*/ 279686 w 1370571"/>
              <a:gd name="connsiteY4" fmla="*/ 1299819 h 1489262"/>
              <a:gd name="connsiteX5" fmla="*/ 0 w 1370571"/>
              <a:gd name="connsiteY5" fmla="*/ 1489262 h 1489262"/>
              <a:gd name="connsiteX6" fmla="*/ 233428 w 1370571"/>
              <a:gd name="connsiteY6" fmla="*/ 397205 h 1489262"/>
              <a:gd name="connsiteX0" fmla="*/ 233428 w 1370571"/>
              <a:gd name="connsiteY0" fmla="*/ 397205 h 1489262"/>
              <a:gd name="connsiteX1" fmla="*/ 1370571 w 1370571"/>
              <a:gd name="connsiteY1" fmla="*/ 0 h 1489262"/>
              <a:gd name="connsiteX2" fmla="*/ 1213889 w 1370571"/>
              <a:gd name="connsiteY2" fmla="*/ 277403 h 1489262"/>
              <a:gd name="connsiteX3" fmla="*/ 420749 w 1370571"/>
              <a:gd name="connsiteY3" fmla="*/ 584526 h 1489262"/>
              <a:gd name="connsiteX4" fmla="*/ 279686 w 1370571"/>
              <a:gd name="connsiteY4" fmla="*/ 1299819 h 1489262"/>
              <a:gd name="connsiteX5" fmla="*/ 0 w 1370571"/>
              <a:gd name="connsiteY5" fmla="*/ 1489262 h 1489262"/>
              <a:gd name="connsiteX6" fmla="*/ 233428 w 1370571"/>
              <a:gd name="connsiteY6" fmla="*/ 397205 h 1489262"/>
              <a:gd name="connsiteX0" fmla="*/ 233428 w 1370571"/>
              <a:gd name="connsiteY0" fmla="*/ 397205 h 1489262"/>
              <a:gd name="connsiteX1" fmla="*/ 1370571 w 1370571"/>
              <a:gd name="connsiteY1" fmla="*/ 0 h 1489262"/>
              <a:gd name="connsiteX2" fmla="*/ 1213889 w 1370571"/>
              <a:gd name="connsiteY2" fmla="*/ 277403 h 1489262"/>
              <a:gd name="connsiteX3" fmla="*/ 420749 w 1370571"/>
              <a:gd name="connsiteY3" fmla="*/ 584526 h 1489262"/>
              <a:gd name="connsiteX4" fmla="*/ 279686 w 1370571"/>
              <a:gd name="connsiteY4" fmla="*/ 1299819 h 1489262"/>
              <a:gd name="connsiteX5" fmla="*/ 0 w 1370571"/>
              <a:gd name="connsiteY5" fmla="*/ 1489262 h 1489262"/>
              <a:gd name="connsiteX6" fmla="*/ 233428 w 1370571"/>
              <a:gd name="connsiteY6" fmla="*/ 397205 h 1489262"/>
              <a:gd name="connsiteX0" fmla="*/ 233428 w 1370571"/>
              <a:gd name="connsiteY0" fmla="*/ 397205 h 1489262"/>
              <a:gd name="connsiteX1" fmla="*/ 1370571 w 1370571"/>
              <a:gd name="connsiteY1" fmla="*/ 0 h 1489262"/>
              <a:gd name="connsiteX2" fmla="*/ 1213889 w 1370571"/>
              <a:gd name="connsiteY2" fmla="*/ 277403 h 1489262"/>
              <a:gd name="connsiteX3" fmla="*/ 420749 w 1370571"/>
              <a:gd name="connsiteY3" fmla="*/ 584526 h 1489262"/>
              <a:gd name="connsiteX4" fmla="*/ 279686 w 1370571"/>
              <a:gd name="connsiteY4" fmla="*/ 1299819 h 1489262"/>
              <a:gd name="connsiteX5" fmla="*/ 0 w 1370571"/>
              <a:gd name="connsiteY5" fmla="*/ 1489262 h 1489262"/>
              <a:gd name="connsiteX6" fmla="*/ 233428 w 1370571"/>
              <a:gd name="connsiteY6" fmla="*/ 397205 h 1489262"/>
              <a:gd name="connsiteX0" fmla="*/ 233428 w 1370571"/>
              <a:gd name="connsiteY0" fmla="*/ 397205 h 1489262"/>
              <a:gd name="connsiteX1" fmla="*/ 1370571 w 1370571"/>
              <a:gd name="connsiteY1" fmla="*/ 0 h 1489262"/>
              <a:gd name="connsiteX2" fmla="*/ 1213889 w 1370571"/>
              <a:gd name="connsiteY2" fmla="*/ 277403 h 1489262"/>
              <a:gd name="connsiteX3" fmla="*/ 420749 w 1370571"/>
              <a:gd name="connsiteY3" fmla="*/ 584526 h 1489262"/>
              <a:gd name="connsiteX4" fmla="*/ 279686 w 1370571"/>
              <a:gd name="connsiteY4" fmla="*/ 1299819 h 1489262"/>
              <a:gd name="connsiteX5" fmla="*/ 0 w 1370571"/>
              <a:gd name="connsiteY5" fmla="*/ 1489262 h 1489262"/>
              <a:gd name="connsiteX6" fmla="*/ 233428 w 1370571"/>
              <a:gd name="connsiteY6" fmla="*/ 397205 h 1489262"/>
              <a:gd name="connsiteX0" fmla="*/ 233428 w 1370571"/>
              <a:gd name="connsiteY0" fmla="*/ 397205 h 1489262"/>
              <a:gd name="connsiteX1" fmla="*/ 1370571 w 1370571"/>
              <a:gd name="connsiteY1" fmla="*/ 0 h 1489262"/>
              <a:gd name="connsiteX2" fmla="*/ 1213889 w 1370571"/>
              <a:gd name="connsiteY2" fmla="*/ 277403 h 1489262"/>
              <a:gd name="connsiteX3" fmla="*/ 420749 w 1370571"/>
              <a:gd name="connsiteY3" fmla="*/ 584526 h 1489262"/>
              <a:gd name="connsiteX4" fmla="*/ 279686 w 1370571"/>
              <a:gd name="connsiteY4" fmla="*/ 1299819 h 1489262"/>
              <a:gd name="connsiteX5" fmla="*/ 0 w 1370571"/>
              <a:gd name="connsiteY5" fmla="*/ 1489262 h 1489262"/>
              <a:gd name="connsiteX6" fmla="*/ 233428 w 1370571"/>
              <a:gd name="connsiteY6" fmla="*/ 397205 h 1489262"/>
              <a:gd name="connsiteX0" fmla="*/ 233428 w 1370571"/>
              <a:gd name="connsiteY0" fmla="*/ 397205 h 1489262"/>
              <a:gd name="connsiteX1" fmla="*/ 1370571 w 1370571"/>
              <a:gd name="connsiteY1" fmla="*/ 0 h 1489262"/>
              <a:gd name="connsiteX2" fmla="*/ 1213889 w 1370571"/>
              <a:gd name="connsiteY2" fmla="*/ 277403 h 1489262"/>
              <a:gd name="connsiteX3" fmla="*/ 420749 w 1370571"/>
              <a:gd name="connsiteY3" fmla="*/ 584526 h 1489262"/>
              <a:gd name="connsiteX4" fmla="*/ 279686 w 1370571"/>
              <a:gd name="connsiteY4" fmla="*/ 1299819 h 1489262"/>
              <a:gd name="connsiteX5" fmla="*/ 0 w 1370571"/>
              <a:gd name="connsiteY5" fmla="*/ 1489262 h 1489262"/>
              <a:gd name="connsiteX6" fmla="*/ 233428 w 1370571"/>
              <a:gd name="connsiteY6" fmla="*/ 397205 h 1489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0571" h="1489262">
                <a:moveTo>
                  <a:pt x="233428" y="397205"/>
                </a:moveTo>
                <a:lnTo>
                  <a:pt x="1370571" y="0"/>
                </a:lnTo>
                <a:lnTo>
                  <a:pt x="1213889" y="277403"/>
                </a:lnTo>
                <a:lnTo>
                  <a:pt x="420749" y="584526"/>
                </a:lnTo>
                <a:cubicBezTo>
                  <a:pt x="422337" y="815774"/>
                  <a:pt x="308707" y="1105543"/>
                  <a:pt x="279686" y="1299819"/>
                </a:cubicBezTo>
                <a:cubicBezTo>
                  <a:pt x="278076" y="1314442"/>
                  <a:pt x="93229" y="1426114"/>
                  <a:pt x="0" y="1489262"/>
                </a:cubicBezTo>
                <a:lnTo>
                  <a:pt x="233428" y="397205"/>
                </a:lnTo>
                <a:close/>
              </a:path>
            </a:pathLst>
          </a:custGeom>
          <a:solidFill>
            <a:srgbClr val="0070C0"/>
          </a:solidFill>
          <a:ln w="25400" cap="flat" cmpd="sng" algn="ctr">
            <a:noFill/>
            <a:prstDash val="soli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8" name="矩形 7">
            <a:extLst>
              <a:ext uri="{FF2B5EF4-FFF2-40B4-BE49-F238E27FC236}">
                <a16:creationId xmlns:a16="http://schemas.microsoft.com/office/drawing/2014/main" id="{F7A6E618-8B67-491D-8770-C6E86EA09B7E}"/>
              </a:ext>
            </a:extLst>
          </p:cNvPr>
          <p:cNvSpPr/>
          <p:nvPr/>
        </p:nvSpPr>
        <p:spPr bwMode="auto">
          <a:xfrm>
            <a:off x="7338773" y="1862529"/>
            <a:ext cx="423863" cy="434116"/>
          </a:xfrm>
          <a:prstGeom prst="rect">
            <a:avLst/>
          </a:prstGeom>
          <a:solidFill>
            <a:srgbClr val="0070C0"/>
          </a:solidFill>
          <a:ln w="25400" cap="flat" cmpd="sng" algn="ctr">
            <a:noFill/>
            <a:prstDash val="soli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2800" b="1" i="0" u="none" strike="noStrike" kern="0" cap="none" spc="0" normalizeH="0" baseline="0" noProof="0" dirty="0">
                <a:ln>
                  <a:noFill/>
                </a:ln>
                <a:solidFill>
                  <a:srgbClr val="FFFFFF"/>
                </a:solidFill>
                <a:effectLst/>
                <a:uLnTx/>
                <a:uFillTx/>
                <a:latin typeface="Arial" charset="0"/>
                <a:ea typeface="宋体" charset="-122"/>
              </a:rPr>
              <a:t>1</a:t>
            </a:r>
            <a:endParaRPr kumimoji="0" lang="zh-CN" altLang="en-US" sz="2800" b="1" i="0" u="none" strike="noStrike" kern="0" cap="none" spc="0" normalizeH="0" baseline="0" noProof="0" dirty="0">
              <a:ln>
                <a:noFill/>
              </a:ln>
              <a:solidFill>
                <a:srgbClr val="FFFFFF"/>
              </a:solidFill>
              <a:effectLst/>
              <a:uLnTx/>
              <a:uFillTx/>
              <a:latin typeface="Arial" charset="0"/>
              <a:ea typeface="宋体" charset="-122"/>
            </a:endParaRPr>
          </a:p>
        </p:txBody>
      </p:sp>
      <p:sp>
        <p:nvSpPr>
          <p:cNvPr id="9" name="矩形 8">
            <a:extLst>
              <a:ext uri="{FF2B5EF4-FFF2-40B4-BE49-F238E27FC236}">
                <a16:creationId xmlns:a16="http://schemas.microsoft.com/office/drawing/2014/main" id="{17BA34CE-9C95-44FE-993F-7C08B3918163}"/>
              </a:ext>
            </a:extLst>
          </p:cNvPr>
          <p:cNvSpPr/>
          <p:nvPr/>
        </p:nvSpPr>
        <p:spPr>
          <a:xfrm>
            <a:off x="7886468" y="1808808"/>
            <a:ext cx="2878663" cy="584775"/>
          </a:xfrm>
          <a:prstGeom prst="rect">
            <a:avLst/>
          </a:prstGeom>
        </p:spPr>
        <p:txBody>
          <a:bodyPr wrap="square">
            <a:spAutoFit/>
          </a:bodyPr>
          <a:lstStyle/>
          <a:p>
            <a:pPr fontAlgn="base">
              <a:spcBef>
                <a:spcPct val="0"/>
              </a:spcBef>
              <a:spcAft>
                <a:spcPct val="0"/>
              </a:spcAft>
            </a:pPr>
            <a:r>
              <a:rPr lang="zh-CN" altLang="en-US" sz="1600" dirty="0">
                <a:solidFill>
                  <a:srgbClr val="000000"/>
                </a:solidFill>
                <a:latin typeface="Arial" pitchFamily="34" charset="0"/>
                <a:ea typeface="微软雅黑" panose="020B0503020204020204" pitchFamily="34" charset="-122"/>
              </a:rPr>
              <a:t>基于</a:t>
            </a:r>
            <a:r>
              <a:rPr lang="en-US" altLang="zh-CN" sz="1600" dirty="0">
                <a:solidFill>
                  <a:srgbClr val="000000"/>
                </a:solidFill>
                <a:latin typeface="Arial" pitchFamily="34" charset="0"/>
                <a:ea typeface="微软雅黑" panose="020B0503020204020204" pitchFamily="34" charset="-122"/>
              </a:rPr>
              <a:t>Leaf-Spine</a:t>
            </a:r>
            <a:r>
              <a:rPr lang="zh-CN" altLang="en-US" sz="1600" dirty="0">
                <a:solidFill>
                  <a:srgbClr val="000000"/>
                </a:solidFill>
                <a:latin typeface="Arial" pitchFamily="34" charset="0"/>
                <a:ea typeface="微软雅黑" panose="020B0503020204020204" pitchFamily="34" charset="-122"/>
              </a:rPr>
              <a:t>的</a:t>
            </a:r>
            <a:r>
              <a:rPr lang="en-US" altLang="zh-CN" sz="1600" dirty="0">
                <a:solidFill>
                  <a:srgbClr val="000000"/>
                </a:solidFill>
                <a:latin typeface="Arial" pitchFamily="34" charset="0"/>
                <a:ea typeface="微软雅黑" panose="020B0503020204020204" pitchFamily="34" charset="-122"/>
              </a:rPr>
              <a:t>full-mesh</a:t>
            </a:r>
            <a:r>
              <a:rPr lang="zh-CN" altLang="en-US" sz="1600" dirty="0">
                <a:solidFill>
                  <a:srgbClr val="000000"/>
                </a:solidFill>
                <a:latin typeface="Arial" pitchFamily="34" charset="0"/>
                <a:ea typeface="微软雅黑" panose="020B0503020204020204" pitchFamily="34" charset="-122"/>
              </a:rPr>
              <a:t>可扩展架构；</a:t>
            </a:r>
            <a:endParaRPr lang="zh-CN" altLang="en-US" sz="1600" dirty="0">
              <a:solidFill>
                <a:srgbClr val="000000"/>
              </a:solidFill>
              <a:latin typeface="Arial" pitchFamily="34" charset="0"/>
              <a:ea typeface="宋体" pitchFamily="2" charset="-122"/>
            </a:endParaRPr>
          </a:p>
        </p:txBody>
      </p:sp>
      <p:sp>
        <p:nvSpPr>
          <p:cNvPr id="10" name="矩形 9">
            <a:extLst>
              <a:ext uri="{FF2B5EF4-FFF2-40B4-BE49-F238E27FC236}">
                <a16:creationId xmlns:a16="http://schemas.microsoft.com/office/drawing/2014/main" id="{47A40424-5592-4B45-8EC4-7288E43ED8FC}"/>
              </a:ext>
            </a:extLst>
          </p:cNvPr>
          <p:cNvSpPr/>
          <p:nvPr/>
        </p:nvSpPr>
        <p:spPr>
          <a:xfrm>
            <a:off x="7855578" y="3080270"/>
            <a:ext cx="2878663" cy="584775"/>
          </a:xfrm>
          <a:prstGeom prst="rect">
            <a:avLst/>
          </a:prstGeom>
        </p:spPr>
        <p:txBody>
          <a:bodyPr wrap="square">
            <a:spAutoFit/>
          </a:bodyPr>
          <a:lstStyle/>
          <a:p>
            <a:pPr fontAlgn="base">
              <a:spcBef>
                <a:spcPct val="0"/>
              </a:spcBef>
              <a:spcAft>
                <a:spcPct val="0"/>
              </a:spcAft>
            </a:pPr>
            <a:r>
              <a:rPr lang="en-US" altLang="zh-CN" sz="1600" dirty="0">
                <a:solidFill>
                  <a:srgbClr val="000000"/>
                </a:solidFill>
                <a:latin typeface="Arial" pitchFamily="34" charset="0"/>
                <a:ea typeface="微软雅黑" panose="020B0503020204020204" pitchFamily="34" charset="-122"/>
              </a:rPr>
              <a:t>overlay</a:t>
            </a:r>
            <a:r>
              <a:rPr lang="zh-CN" altLang="en-US" sz="1600" dirty="0">
                <a:solidFill>
                  <a:srgbClr val="000000"/>
                </a:solidFill>
                <a:latin typeface="Arial" pitchFamily="34" charset="0"/>
                <a:ea typeface="微软雅黑" panose="020B0503020204020204" pitchFamily="34" charset="-122"/>
              </a:rPr>
              <a:t>技术实现网络虚拟化，逻辑网络和物理网络解耦</a:t>
            </a:r>
            <a:endParaRPr lang="zh-CN" altLang="en-US" sz="1600" dirty="0">
              <a:solidFill>
                <a:srgbClr val="000000"/>
              </a:solidFill>
              <a:latin typeface="Arial" pitchFamily="34" charset="0"/>
              <a:ea typeface="宋体" pitchFamily="2" charset="-122"/>
            </a:endParaRPr>
          </a:p>
        </p:txBody>
      </p:sp>
      <p:sp>
        <p:nvSpPr>
          <p:cNvPr id="11" name="矩形 10">
            <a:extLst>
              <a:ext uri="{FF2B5EF4-FFF2-40B4-BE49-F238E27FC236}">
                <a16:creationId xmlns:a16="http://schemas.microsoft.com/office/drawing/2014/main" id="{AD739CB3-1354-48B1-B815-B4FE5AAA0924}"/>
              </a:ext>
            </a:extLst>
          </p:cNvPr>
          <p:cNvSpPr/>
          <p:nvPr/>
        </p:nvSpPr>
        <p:spPr>
          <a:xfrm>
            <a:off x="7886468" y="4351732"/>
            <a:ext cx="3049587" cy="584775"/>
          </a:xfrm>
          <a:prstGeom prst="rect">
            <a:avLst/>
          </a:prstGeom>
        </p:spPr>
        <p:txBody>
          <a:bodyPr wrap="square">
            <a:spAutoFit/>
          </a:bodyPr>
          <a:lstStyle/>
          <a:p>
            <a:pPr fontAlgn="base">
              <a:spcBef>
                <a:spcPct val="0"/>
              </a:spcBef>
              <a:spcAft>
                <a:spcPct val="0"/>
              </a:spcAft>
            </a:pPr>
            <a:r>
              <a:rPr lang="zh-CN" altLang="en-US" sz="1600" dirty="0">
                <a:solidFill>
                  <a:srgbClr val="000000"/>
                </a:solidFill>
                <a:latin typeface="Arial" pitchFamily="34" charset="0"/>
                <a:ea typeface="微软雅黑" panose="020B0503020204020204" pitchFamily="34" charset="-122"/>
              </a:rPr>
              <a:t>基于</a:t>
            </a:r>
            <a:r>
              <a:rPr lang="en-US" altLang="zh-CN" sz="1600" dirty="0">
                <a:solidFill>
                  <a:srgbClr val="000000"/>
                </a:solidFill>
                <a:latin typeface="Arial" pitchFamily="34" charset="0"/>
                <a:ea typeface="微软雅黑" panose="020B0503020204020204" pitchFamily="34" charset="-122"/>
              </a:rPr>
              <a:t>SDN</a:t>
            </a:r>
            <a:r>
              <a:rPr lang="zh-CN" altLang="en-US" sz="1600" dirty="0">
                <a:solidFill>
                  <a:srgbClr val="000000"/>
                </a:solidFill>
                <a:latin typeface="Arial" pitchFamily="34" charset="0"/>
                <a:ea typeface="微软雅黑" panose="020B0503020204020204" pitchFamily="34" charset="-122"/>
              </a:rPr>
              <a:t>技术的统一资源调度（集成到</a:t>
            </a:r>
            <a:r>
              <a:rPr lang="en-US" altLang="zh-CN" sz="1600" dirty="0" err="1">
                <a:solidFill>
                  <a:srgbClr val="000000"/>
                </a:solidFill>
                <a:latin typeface="Arial" pitchFamily="34" charset="0"/>
                <a:ea typeface="微软雅黑" panose="020B0503020204020204" pitchFamily="34" charset="-122"/>
              </a:rPr>
              <a:t>CloudOS</a:t>
            </a:r>
            <a:r>
              <a:rPr lang="zh-CN" altLang="en-US" sz="1600" dirty="0">
                <a:solidFill>
                  <a:srgbClr val="000000"/>
                </a:solidFill>
                <a:latin typeface="Arial" pitchFamily="34" charset="0"/>
                <a:ea typeface="微软雅黑" panose="020B0503020204020204" pitchFamily="34" charset="-122"/>
              </a:rPr>
              <a:t>）</a:t>
            </a:r>
            <a:endParaRPr lang="zh-CN" altLang="en-US" sz="1600" dirty="0">
              <a:solidFill>
                <a:srgbClr val="000000"/>
              </a:solidFill>
              <a:latin typeface="Arial" pitchFamily="34" charset="0"/>
              <a:ea typeface="宋体" pitchFamily="2" charset="-122"/>
            </a:endParaRPr>
          </a:p>
        </p:txBody>
      </p:sp>
      <p:sp>
        <p:nvSpPr>
          <p:cNvPr id="12" name="矩形 11">
            <a:extLst>
              <a:ext uri="{FF2B5EF4-FFF2-40B4-BE49-F238E27FC236}">
                <a16:creationId xmlns:a16="http://schemas.microsoft.com/office/drawing/2014/main" id="{B1AD6CD3-50EF-40B2-B9CF-FC2AE1590CC1}"/>
              </a:ext>
            </a:extLst>
          </p:cNvPr>
          <p:cNvSpPr/>
          <p:nvPr/>
        </p:nvSpPr>
        <p:spPr bwMode="auto">
          <a:xfrm>
            <a:off x="7343535" y="3191266"/>
            <a:ext cx="423863" cy="434116"/>
          </a:xfrm>
          <a:prstGeom prst="rect">
            <a:avLst/>
          </a:prstGeom>
          <a:solidFill>
            <a:srgbClr val="0070C0"/>
          </a:solidFill>
          <a:ln w="25400" cap="flat" cmpd="sng" algn="ctr">
            <a:noFill/>
            <a:prstDash val="soli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2800" b="1" i="0" u="none" strike="noStrike" kern="0" cap="none" spc="0" normalizeH="0" baseline="0" noProof="0" dirty="0">
                <a:ln>
                  <a:noFill/>
                </a:ln>
                <a:solidFill>
                  <a:srgbClr val="FFFFFF"/>
                </a:solidFill>
                <a:effectLst/>
                <a:uLnTx/>
                <a:uFillTx/>
                <a:latin typeface="Arial" charset="0"/>
                <a:ea typeface="宋体" charset="-122"/>
              </a:rPr>
              <a:t>2</a:t>
            </a:r>
            <a:endParaRPr kumimoji="0" lang="zh-CN" altLang="en-US" sz="2800" b="1" i="0" u="none" strike="noStrike" kern="0" cap="none" spc="0" normalizeH="0" baseline="0" noProof="0" dirty="0">
              <a:ln>
                <a:noFill/>
              </a:ln>
              <a:solidFill>
                <a:srgbClr val="FFFFFF"/>
              </a:solidFill>
              <a:effectLst/>
              <a:uLnTx/>
              <a:uFillTx/>
              <a:latin typeface="Arial" charset="0"/>
              <a:ea typeface="宋体" charset="-122"/>
            </a:endParaRPr>
          </a:p>
        </p:txBody>
      </p:sp>
      <p:sp>
        <p:nvSpPr>
          <p:cNvPr id="13" name="矩形 12">
            <a:extLst>
              <a:ext uri="{FF2B5EF4-FFF2-40B4-BE49-F238E27FC236}">
                <a16:creationId xmlns:a16="http://schemas.microsoft.com/office/drawing/2014/main" id="{83104FEC-3FFB-4409-BF2A-93182E5649DF}"/>
              </a:ext>
            </a:extLst>
          </p:cNvPr>
          <p:cNvSpPr/>
          <p:nvPr/>
        </p:nvSpPr>
        <p:spPr bwMode="auto">
          <a:xfrm>
            <a:off x="7338773" y="4346596"/>
            <a:ext cx="423863" cy="434116"/>
          </a:xfrm>
          <a:prstGeom prst="rect">
            <a:avLst/>
          </a:prstGeom>
          <a:solidFill>
            <a:srgbClr val="0070C0"/>
          </a:solidFill>
          <a:ln w="25400" cap="flat" cmpd="sng" algn="ctr">
            <a:noFill/>
            <a:prstDash val="soli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2800" b="1" i="0" u="none" strike="noStrike" kern="0" cap="none" spc="0" normalizeH="0" baseline="0" noProof="0" dirty="0">
                <a:ln>
                  <a:noFill/>
                </a:ln>
                <a:solidFill>
                  <a:srgbClr val="FFFFFF"/>
                </a:solidFill>
                <a:effectLst/>
                <a:uLnTx/>
                <a:uFillTx/>
                <a:latin typeface="Arial" charset="0"/>
                <a:ea typeface="宋体" charset="-122"/>
              </a:rPr>
              <a:t>3</a:t>
            </a:r>
            <a:endParaRPr kumimoji="0" lang="zh-CN" altLang="en-US" sz="2800" b="1" i="0" u="none" strike="noStrike" kern="0" cap="none" spc="0" normalizeH="0" baseline="0" noProof="0" dirty="0">
              <a:ln>
                <a:noFill/>
              </a:ln>
              <a:solidFill>
                <a:srgbClr val="FFFFFF"/>
              </a:solidFill>
              <a:effectLst/>
              <a:uLnTx/>
              <a:uFillTx/>
              <a:latin typeface="Arial" charset="0"/>
              <a:ea typeface="宋体" charset="-122"/>
            </a:endParaRPr>
          </a:p>
        </p:txBody>
      </p:sp>
    </p:spTree>
    <p:extLst>
      <p:ext uri="{BB962C8B-B14F-4D97-AF65-F5344CB8AC3E}">
        <p14:creationId xmlns:p14="http://schemas.microsoft.com/office/powerpoint/2010/main" val="2710516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6F770D5-516C-4CDA-8F41-36142A7BEC1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Leaf-Spine</a:t>
            </a:r>
            <a:r>
              <a:rPr lang="zh-CN" altLang="en-US" sz="2800" b="1" kern="0" dirty="0">
                <a:solidFill>
                  <a:srgbClr val="C00000"/>
                </a:solidFill>
                <a:latin typeface="微软雅黑" panose="020B0503020204020204" pitchFamily="34" charset="-122"/>
                <a:ea typeface="微软雅黑" panose="020B0503020204020204" pitchFamily="34" charset="-122"/>
              </a:rPr>
              <a:t>网络架构</a:t>
            </a:r>
          </a:p>
        </p:txBody>
      </p:sp>
      <p:grpSp>
        <p:nvGrpSpPr>
          <p:cNvPr id="2" name="组合 1">
            <a:extLst>
              <a:ext uri="{FF2B5EF4-FFF2-40B4-BE49-F238E27FC236}">
                <a16:creationId xmlns:a16="http://schemas.microsoft.com/office/drawing/2014/main" id="{26F57851-8EF6-4FE9-B482-4C7E29494883}"/>
              </a:ext>
            </a:extLst>
          </p:cNvPr>
          <p:cNvGrpSpPr/>
          <p:nvPr/>
        </p:nvGrpSpPr>
        <p:grpSpPr>
          <a:xfrm>
            <a:off x="453223" y="1074233"/>
            <a:ext cx="11143521" cy="5089899"/>
            <a:chOff x="1163229" y="1325507"/>
            <a:chExt cx="8927258" cy="4203088"/>
          </a:xfrm>
        </p:grpSpPr>
        <p:sp>
          <p:nvSpPr>
            <p:cNvPr id="4" name="矩形 3">
              <a:extLst>
                <a:ext uri="{FF2B5EF4-FFF2-40B4-BE49-F238E27FC236}">
                  <a16:creationId xmlns:a16="http://schemas.microsoft.com/office/drawing/2014/main" id="{81627396-85EE-46AF-81C6-7CEF534C7AE5}"/>
                </a:ext>
              </a:extLst>
            </p:cNvPr>
            <p:cNvSpPr/>
            <p:nvPr/>
          </p:nvSpPr>
          <p:spPr bwMode="auto">
            <a:xfrm>
              <a:off x="2419647" y="4745341"/>
              <a:ext cx="2535422" cy="599090"/>
            </a:xfrm>
            <a:prstGeom prst="rect">
              <a:avLst/>
            </a:prstGeom>
            <a:solidFill>
              <a:srgbClr val="FFCC99"/>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charset="0"/>
                  <a:ea typeface="宋体" charset="-122"/>
                </a:rPr>
                <a:t>VNF1</a:t>
              </a:r>
              <a:endParaRPr kumimoji="0" lang="zh-CN" altLang="en-US" sz="1200" b="0" i="0" u="none" strike="noStrike" kern="0" cap="none" spc="0" normalizeH="0" baseline="0" noProof="0" dirty="0">
                <a:ln>
                  <a:noFill/>
                </a:ln>
                <a:solidFill>
                  <a:srgbClr val="000000"/>
                </a:solidFill>
                <a:effectLst/>
                <a:uLnTx/>
                <a:uFillTx/>
                <a:latin typeface="Arial" charset="0"/>
                <a:ea typeface="宋体" charset="-122"/>
              </a:endParaRPr>
            </a:p>
          </p:txBody>
        </p:sp>
        <p:sp>
          <p:nvSpPr>
            <p:cNvPr id="6" name="矩形 5">
              <a:extLst>
                <a:ext uri="{FF2B5EF4-FFF2-40B4-BE49-F238E27FC236}">
                  <a16:creationId xmlns:a16="http://schemas.microsoft.com/office/drawing/2014/main" id="{7A188AF7-6058-4B47-9E90-9CBEE7D79378}"/>
                </a:ext>
              </a:extLst>
            </p:cNvPr>
            <p:cNvSpPr/>
            <p:nvPr/>
          </p:nvSpPr>
          <p:spPr bwMode="auto">
            <a:xfrm>
              <a:off x="7168248" y="3075832"/>
              <a:ext cx="863264" cy="1439977"/>
            </a:xfrm>
            <a:prstGeom prst="rect">
              <a:avLst/>
            </a:prstGeom>
            <a:solidFill>
              <a:srgbClr val="FFCC66">
                <a:lumMod val="20000"/>
                <a:lumOff val="80000"/>
              </a:srgbClr>
            </a:solidFill>
            <a:ln w="9525" cap="flat" cmpd="sng" algn="ctr">
              <a:solidFill>
                <a:srgbClr val="000000"/>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charset="0"/>
                  <a:ea typeface="宋体" charset="-122"/>
                </a:rPr>
                <a:t>MANO</a:t>
              </a:r>
              <a:endParaRPr kumimoji="0" lang="zh-CN" altLang="en-US" sz="1200" b="0" i="0" u="none" strike="noStrike" kern="0" cap="none" spc="0" normalizeH="0" baseline="0" noProof="0" dirty="0">
                <a:ln>
                  <a:noFill/>
                </a:ln>
                <a:solidFill>
                  <a:srgbClr val="000000"/>
                </a:solidFill>
                <a:effectLst/>
                <a:uLnTx/>
                <a:uFillTx/>
                <a:latin typeface="Arial" charset="0"/>
                <a:ea typeface="宋体" charset="-122"/>
              </a:endParaRPr>
            </a:p>
          </p:txBody>
        </p:sp>
        <p:sp>
          <p:nvSpPr>
            <p:cNvPr id="8" name="矩形: 圆角 7">
              <a:extLst>
                <a:ext uri="{FF2B5EF4-FFF2-40B4-BE49-F238E27FC236}">
                  <a16:creationId xmlns:a16="http://schemas.microsoft.com/office/drawing/2014/main" id="{31BC3703-E51A-4CED-B163-1A8B0DD26D17}"/>
                </a:ext>
              </a:extLst>
            </p:cNvPr>
            <p:cNvSpPr/>
            <p:nvPr/>
          </p:nvSpPr>
          <p:spPr bwMode="auto">
            <a:xfrm>
              <a:off x="5519642" y="3206872"/>
              <a:ext cx="1291391" cy="1477241"/>
            </a:xfrm>
            <a:prstGeom prst="roundRect">
              <a:avLst/>
            </a:prstGeom>
            <a:solidFill>
              <a:srgbClr val="CCECFF"/>
            </a:solidFill>
            <a:ln w="25400" cap="flat" cmpd="sng" algn="ctr">
              <a:noFill/>
              <a:prstDash val="solid"/>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1" i="0" u="none" strike="noStrike" kern="0" cap="none" spc="0" normalizeH="0" baseline="0" noProof="0" dirty="0">
                  <a:ln>
                    <a:noFill/>
                  </a:ln>
                  <a:solidFill>
                    <a:srgbClr val="000000"/>
                  </a:solidFill>
                  <a:effectLst/>
                  <a:uLnTx/>
                  <a:uFillTx/>
                  <a:latin typeface="Arial" charset="0"/>
                  <a:ea typeface="宋体" charset="-122"/>
                </a:rPr>
                <a:t>Edge Node</a:t>
              </a:r>
              <a:endParaRPr kumimoji="0" lang="zh-CN" altLang="en-US" sz="1050" b="1" i="0" u="none" strike="noStrike" kern="0" cap="none" spc="0" normalizeH="0" baseline="0" noProof="0" dirty="0">
                <a:ln>
                  <a:noFill/>
                </a:ln>
                <a:solidFill>
                  <a:srgbClr val="000000"/>
                </a:solidFill>
                <a:effectLst/>
                <a:uLnTx/>
                <a:uFillTx/>
                <a:latin typeface="Arial" charset="0"/>
                <a:ea typeface="宋体" charset="-122"/>
              </a:endParaRPr>
            </a:p>
          </p:txBody>
        </p:sp>
        <p:sp>
          <p:nvSpPr>
            <p:cNvPr id="9" name="矩形: 圆角 8">
              <a:extLst>
                <a:ext uri="{FF2B5EF4-FFF2-40B4-BE49-F238E27FC236}">
                  <a16:creationId xmlns:a16="http://schemas.microsoft.com/office/drawing/2014/main" id="{5059FFA8-2DEF-46D6-BE77-178EA4FFDDA7}"/>
                </a:ext>
              </a:extLst>
            </p:cNvPr>
            <p:cNvSpPr/>
            <p:nvPr/>
          </p:nvSpPr>
          <p:spPr bwMode="auto">
            <a:xfrm>
              <a:off x="4019379" y="3208062"/>
              <a:ext cx="1291391" cy="1477241"/>
            </a:xfrm>
            <a:prstGeom prst="roundRect">
              <a:avLst/>
            </a:prstGeom>
            <a:solidFill>
              <a:srgbClr val="CCECFF"/>
            </a:solidFill>
            <a:ln w="25400" cap="flat" cmpd="sng" algn="ctr">
              <a:noFill/>
              <a:prstDash val="solid"/>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1" i="0" u="none" strike="noStrike" kern="0" cap="none" spc="0" normalizeH="0" baseline="0" noProof="0" dirty="0">
                  <a:ln>
                    <a:noFill/>
                  </a:ln>
                  <a:solidFill>
                    <a:srgbClr val="000000"/>
                  </a:solidFill>
                  <a:effectLst/>
                  <a:uLnTx/>
                  <a:uFillTx/>
                  <a:latin typeface="Arial" charset="0"/>
                  <a:ea typeface="宋体" charset="-122"/>
                </a:rPr>
                <a:t>Compute Node</a:t>
              </a:r>
              <a:endParaRPr kumimoji="0" lang="zh-CN" altLang="en-US" sz="1050" b="1" i="0" u="none" strike="noStrike" kern="0" cap="none" spc="0" normalizeH="0" baseline="0" noProof="0" dirty="0">
                <a:ln>
                  <a:noFill/>
                </a:ln>
                <a:solidFill>
                  <a:srgbClr val="000000"/>
                </a:solidFill>
                <a:effectLst/>
                <a:uLnTx/>
                <a:uFillTx/>
                <a:latin typeface="Arial" charset="0"/>
                <a:ea typeface="宋体" charset="-122"/>
              </a:endParaRPr>
            </a:p>
          </p:txBody>
        </p:sp>
        <p:sp>
          <p:nvSpPr>
            <p:cNvPr id="10" name="矩形: 圆角 9">
              <a:extLst>
                <a:ext uri="{FF2B5EF4-FFF2-40B4-BE49-F238E27FC236}">
                  <a16:creationId xmlns:a16="http://schemas.microsoft.com/office/drawing/2014/main" id="{E4B63BA4-9D8B-4FBA-B08D-A943B3E59AAA}"/>
                </a:ext>
              </a:extLst>
            </p:cNvPr>
            <p:cNvSpPr/>
            <p:nvPr/>
          </p:nvSpPr>
          <p:spPr bwMode="auto">
            <a:xfrm>
              <a:off x="2419647" y="3197371"/>
              <a:ext cx="1291391" cy="1477241"/>
            </a:xfrm>
            <a:prstGeom prst="roundRect">
              <a:avLst/>
            </a:prstGeom>
            <a:solidFill>
              <a:srgbClr val="CCECFF"/>
            </a:solidFill>
            <a:ln w="25400" cap="flat" cmpd="sng" algn="ctr">
              <a:noFill/>
              <a:prstDash val="solid"/>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1" i="0" u="none" strike="noStrike" kern="0" cap="none" spc="0" normalizeH="0" baseline="0" noProof="0">
                  <a:ln>
                    <a:noFill/>
                  </a:ln>
                  <a:solidFill>
                    <a:srgbClr val="000000"/>
                  </a:solidFill>
                  <a:effectLst/>
                  <a:uLnTx/>
                  <a:uFillTx/>
                  <a:latin typeface="Arial" charset="0"/>
                  <a:ea typeface="宋体" charset="-122"/>
                </a:rPr>
                <a:t>Mgnt</a:t>
              </a:r>
              <a:r>
                <a:rPr kumimoji="0" lang="en-US" altLang="zh-CN" sz="1050" b="1" i="0" u="none" strike="noStrike" kern="0" cap="none" spc="0" normalizeH="0" baseline="0" noProof="0" dirty="0">
                  <a:ln>
                    <a:noFill/>
                  </a:ln>
                  <a:solidFill>
                    <a:srgbClr val="000000"/>
                  </a:solidFill>
                  <a:effectLst/>
                  <a:uLnTx/>
                  <a:uFillTx/>
                  <a:latin typeface="Arial" charset="0"/>
                  <a:ea typeface="宋体" charset="-122"/>
                </a:rPr>
                <a:t> Node</a:t>
              </a:r>
              <a:endParaRPr kumimoji="0" lang="zh-CN" altLang="en-US" sz="1050" b="1" i="0" u="none" strike="noStrike" kern="0" cap="none" spc="0" normalizeH="0" baseline="0" noProof="0" dirty="0">
                <a:ln>
                  <a:noFill/>
                </a:ln>
                <a:solidFill>
                  <a:srgbClr val="000000"/>
                </a:solidFill>
                <a:effectLst/>
                <a:uLnTx/>
                <a:uFillTx/>
                <a:latin typeface="Arial" charset="0"/>
                <a:ea typeface="宋体" charset="-122"/>
              </a:endParaRPr>
            </a:p>
          </p:txBody>
        </p:sp>
        <p:sp>
          <p:nvSpPr>
            <p:cNvPr id="11" name="梯形 10">
              <a:extLst>
                <a:ext uri="{FF2B5EF4-FFF2-40B4-BE49-F238E27FC236}">
                  <a16:creationId xmlns:a16="http://schemas.microsoft.com/office/drawing/2014/main" id="{968E358B-17EF-424C-BB58-5993CFB15ABA}"/>
                </a:ext>
              </a:extLst>
            </p:cNvPr>
            <p:cNvSpPr/>
            <p:nvPr/>
          </p:nvSpPr>
          <p:spPr bwMode="auto">
            <a:xfrm>
              <a:off x="2686025" y="1587434"/>
              <a:ext cx="3713971" cy="1477247"/>
            </a:xfrm>
            <a:prstGeom prst="trapezoid">
              <a:avLst>
                <a:gd name="adj" fmla="val 69162"/>
              </a:avLst>
            </a:prstGeom>
            <a:gradFill flip="none" rotWithShape="1">
              <a:gsLst>
                <a:gs pos="0">
                  <a:srgbClr val="66CCFF">
                    <a:tint val="66000"/>
                    <a:satMod val="160000"/>
                  </a:srgbClr>
                </a:gs>
                <a:gs pos="50000">
                  <a:srgbClr val="66CCFF">
                    <a:tint val="44500"/>
                    <a:satMod val="160000"/>
                  </a:srgbClr>
                </a:gs>
                <a:gs pos="100000">
                  <a:srgbClr val="66CCFF">
                    <a:tint val="23500"/>
                    <a:satMod val="160000"/>
                  </a:srgbClr>
                </a:gs>
              </a:gsLst>
              <a:lin ang="5400000" scaled="1"/>
              <a:tileRect/>
            </a:gradFill>
            <a:ln w="254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12" name="云形 11">
              <a:extLst>
                <a:ext uri="{FF2B5EF4-FFF2-40B4-BE49-F238E27FC236}">
                  <a16:creationId xmlns:a16="http://schemas.microsoft.com/office/drawing/2014/main" id="{A5A76A6A-3890-4D53-B982-CEB998E5AAC6}"/>
                </a:ext>
              </a:extLst>
            </p:cNvPr>
            <p:cNvSpPr/>
            <p:nvPr/>
          </p:nvSpPr>
          <p:spPr bwMode="auto">
            <a:xfrm>
              <a:off x="6156686" y="1657692"/>
              <a:ext cx="909014" cy="426074"/>
            </a:xfrm>
            <a:prstGeom prst="cloud">
              <a:avLst/>
            </a:prstGeom>
            <a:solidFill>
              <a:srgbClr val="FFFFFF"/>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100" b="0" i="0" u="none" strike="noStrike" kern="0" cap="none" spc="0" normalizeH="0" baseline="0" noProof="0" dirty="0">
                  <a:ln>
                    <a:noFill/>
                  </a:ln>
                  <a:solidFill>
                    <a:srgbClr val="000000"/>
                  </a:solidFill>
                  <a:effectLst/>
                  <a:uLnTx/>
                  <a:uFillTx/>
                  <a:latin typeface="Arial" charset="0"/>
                  <a:ea typeface="宋体" charset="-122"/>
                </a:rPr>
                <a:t>IPBB</a:t>
              </a:r>
              <a:endParaRPr kumimoji="0" lang="zh-CN" altLang="en-US" sz="11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3" name="矩形 12">
              <a:extLst>
                <a:ext uri="{FF2B5EF4-FFF2-40B4-BE49-F238E27FC236}">
                  <a16:creationId xmlns:a16="http://schemas.microsoft.com/office/drawing/2014/main" id="{2FE0F636-C100-440E-9573-64CD10889EBE}"/>
                </a:ext>
              </a:extLst>
            </p:cNvPr>
            <p:cNvSpPr/>
            <p:nvPr/>
          </p:nvSpPr>
          <p:spPr bwMode="auto">
            <a:xfrm>
              <a:off x="3821212" y="2040738"/>
              <a:ext cx="504000" cy="252000"/>
            </a:xfrm>
            <a:prstGeom prst="rect">
              <a:avLst/>
            </a:prstGeom>
            <a:solidFill>
              <a:srgbClr val="00B0F0"/>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Spine</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14" name="矩形 13">
              <a:extLst>
                <a:ext uri="{FF2B5EF4-FFF2-40B4-BE49-F238E27FC236}">
                  <a16:creationId xmlns:a16="http://schemas.microsoft.com/office/drawing/2014/main" id="{8B657C6E-B226-478C-A3BA-1341AE767E25}"/>
                </a:ext>
              </a:extLst>
            </p:cNvPr>
            <p:cNvSpPr/>
            <p:nvPr/>
          </p:nvSpPr>
          <p:spPr bwMode="auto">
            <a:xfrm>
              <a:off x="4552421" y="2040738"/>
              <a:ext cx="504000" cy="252000"/>
            </a:xfrm>
            <a:prstGeom prst="rect">
              <a:avLst/>
            </a:prstGeom>
            <a:solidFill>
              <a:srgbClr val="00B0F0"/>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Spine</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15" name="矩形 14">
              <a:extLst>
                <a:ext uri="{FF2B5EF4-FFF2-40B4-BE49-F238E27FC236}">
                  <a16:creationId xmlns:a16="http://schemas.microsoft.com/office/drawing/2014/main" id="{AB9287A5-EADA-4595-A1D0-8DA2E51AF633}"/>
                </a:ext>
              </a:extLst>
            </p:cNvPr>
            <p:cNvSpPr/>
            <p:nvPr/>
          </p:nvSpPr>
          <p:spPr bwMode="auto">
            <a:xfrm>
              <a:off x="2486158" y="2997895"/>
              <a:ext cx="504000" cy="288000"/>
            </a:xfrm>
            <a:prstGeom prst="rect">
              <a:avLst/>
            </a:prstGeom>
            <a:solidFill>
              <a:srgbClr val="00B0F0"/>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Leaf</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16" name="矩形 15">
              <a:extLst>
                <a:ext uri="{FF2B5EF4-FFF2-40B4-BE49-F238E27FC236}">
                  <a16:creationId xmlns:a16="http://schemas.microsoft.com/office/drawing/2014/main" id="{5C04D28E-670B-473F-AE98-090FD943908C}"/>
                </a:ext>
              </a:extLst>
            </p:cNvPr>
            <p:cNvSpPr/>
            <p:nvPr/>
          </p:nvSpPr>
          <p:spPr bwMode="auto">
            <a:xfrm>
              <a:off x="3140520" y="2999512"/>
              <a:ext cx="504000" cy="288000"/>
            </a:xfrm>
            <a:prstGeom prst="rect">
              <a:avLst/>
            </a:prstGeom>
            <a:solidFill>
              <a:srgbClr val="00B0F0"/>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Leaf</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cxnSp>
          <p:nvCxnSpPr>
            <p:cNvPr id="17" name="直接连接符 16">
              <a:extLst>
                <a:ext uri="{FF2B5EF4-FFF2-40B4-BE49-F238E27FC236}">
                  <a16:creationId xmlns:a16="http://schemas.microsoft.com/office/drawing/2014/main" id="{55BAB1D4-DBAC-4076-810C-60DFEFDABF2B}"/>
                </a:ext>
              </a:extLst>
            </p:cNvPr>
            <p:cNvCxnSpPr>
              <a:stCxn id="15" idx="3"/>
              <a:endCxn id="16" idx="1"/>
            </p:cNvCxnSpPr>
            <p:nvPr/>
          </p:nvCxnSpPr>
          <p:spPr bwMode="auto">
            <a:xfrm>
              <a:off x="2990159" y="3141899"/>
              <a:ext cx="150362" cy="161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矩形 17">
              <a:extLst>
                <a:ext uri="{FF2B5EF4-FFF2-40B4-BE49-F238E27FC236}">
                  <a16:creationId xmlns:a16="http://schemas.microsoft.com/office/drawing/2014/main" id="{70358377-8AFC-43A2-93DB-3C73CF63F533}"/>
                </a:ext>
              </a:extLst>
            </p:cNvPr>
            <p:cNvSpPr/>
            <p:nvPr/>
          </p:nvSpPr>
          <p:spPr bwMode="auto">
            <a:xfrm>
              <a:off x="4074478" y="2999512"/>
              <a:ext cx="504000" cy="288000"/>
            </a:xfrm>
            <a:prstGeom prst="rect">
              <a:avLst/>
            </a:prstGeom>
            <a:solidFill>
              <a:srgbClr val="00B0F0"/>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Leaf</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19" name="矩形 18">
              <a:extLst>
                <a:ext uri="{FF2B5EF4-FFF2-40B4-BE49-F238E27FC236}">
                  <a16:creationId xmlns:a16="http://schemas.microsoft.com/office/drawing/2014/main" id="{1B466574-1AD5-48BF-928A-9B6FC4AF69DA}"/>
                </a:ext>
              </a:extLst>
            </p:cNvPr>
            <p:cNvSpPr/>
            <p:nvPr/>
          </p:nvSpPr>
          <p:spPr bwMode="auto">
            <a:xfrm>
              <a:off x="4747916" y="2999512"/>
              <a:ext cx="504000" cy="288000"/>
            </a:xfrm>
            <a:prstGeom prst="rect">
              <a:avLst/>
            </a:prstGeom>
            <a:solidFill>
              <a:srgbClr val="00B0F0"/>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Leaf</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cxnSp>
          <p:nvCxnSpPr>
            <p:cNvPr id="20" name="直接连接符 19">
              <a:extLst>
                <a:ext uri="{FF2B5EF4-FFF2-40B4-BE49-F238E27FC236}">
                  <a16:creationId xmlns:a16="http://schemas.microsoft.com/office/drawing/2014/main" id="{D5EA809E-FCE6-4961-9F66-7E4BD5027CF8}"/>
                </a:ext>
              </a:extLst>
            </p:cNvPr>
            <p:cNvCxnSpPr>
              <a:stCxn id="18" idx="3"/>
              <a:endCxn id="19" idx="1"/>
            </p:cNvCxnSpPr>
            <p:nvPr/>
          </p:nvCxnSpPr>
          <p:spPr bwMode="auto">
            <a:xfrm>
              <a:off x="4578478" y="3143512"/>
              <a:ext cx="169438" cy="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矩形 20">
              <a:extLst>
                <a:ext uri="{FF2B5EF4-FFF2-40B4-BE49-F238E27FC236}">
                  <a16:creationId xmlns:a16="http://schemas.microsoft.com/office/drawing/2014/main" id="{4183850B-6121-4C64-97BE-10C023FFB9C0}"/>
                </a:ext>
              </a:extLst>
            </p:cNvPr>
            <p:cNvSpPr/>
            <p:nvPr/>
          </p:nvSpPr>
          <p:spPr bwMode="auto">
            <a:xfrm>
              <a:off x="5581797" y="2997895"/>
              <a:ext cx="504000" cy="288000"/>
            </a:xfrm>
            <a:prstGeom prst="rect">
              <a:avLst/>
            </a:prstGeom>
            <a:solidFill>
              <a:srgbClr val="00B0F0"/>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Border</a:t>
              </a:r>
            </a:p>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Leaf</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22" name="矩形 21">
              <a:extLst>
                <a:ext uri="{FF2B5EF4-FFF2-40B4-BE49-F238E27FC236}">
                  <a16:creationId xmlns:a16="http://schemas.microsoft.com/office/drawing/2014/main" id="{FB562D08-360B-4EBA-A241-6F996BF117E5}"/>
                </a:ext>
              </a:extLst>
            </p:cNvPr>
            <p:cNvSpPr/>
            <p:nvPr/>
          </p:nvSpPr>
          <p:spPr bwMode="auto">
            <a:xfrm>
              <a:off x="6236194" y="2997895"/>
              <a:ext cx="504000" cy="288000"/>
            </a:xfrm>
            <a:prstGeom prst="rect">
              <a:avLst/>
            </a:prstGeom>
            <a:solidFill>
              <a:srgbClr val="00B0F0"/>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Border</a:t>
              </a:r>
            </a:p>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Leaf</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cxnSp>
          <p:nvCxnSpPr>
            <p:cNvPr id="23" name="直接连接符 22">
              <a:extLst>
                <a:ext uri="{FF2B5EF4-FFF2-40B4-BE49-F238E27FC236}">
                  <a16:creationId xmlns:a16="http://schemas.microsoft.com/office/drawing/2014/main" id="{578CEC7F-7F8A-49B2-ACE4-966B1ED49EC5}"/>
                </a:ext>
              </a:extLst>
            </p:cNvPr>
            <p:cNvCxnSpPr>
              <a:stCxn id="21" idx="3"/>
              <a:endCxn id="22" idx="1"/>
            </p:cNvCxnSpPr>
            <p:nvPr/>
          </p:nvCxnSpPr>
          <p:spPr bwMode="auto">
            <a:xfrm>
              <a:off x="6085800" y="3141895"/>
              <a:ext cx="150397" cy="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a:extLst>
                <a:ext uri="{FF2B5EF4-FFF2-40B4-BE49-F238E27FC236}">
                  <a16:creationId xmlns:a16="http://schemas.microsoft.com/office/drawing/2014/main" id="{01256906-32DD-463E-B970-D1A52638CEAF}"/>
                </a:ext>
              </a:extLst>
            </p:cNvPr>
            <p:cNvCxnSpPr>
              <a:stCxn id="15" idx="0"/>
              <a:endCxn id="13" idx="2"/>
            </p:cNvCxnSpPr>
            <p:nvPr/>
          </p:nvCxnSpPr>
          <p:spPr bwMode="auto">
            <a:xfrm flipV="1">
              <a:off x="2738158" y="2292742"/>
              <a:ext cx="1335054" cy="70515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24">
              <a:extLst>
                <a:ext uri="{FF2B5EF4-FFF2-40B4-BE49-F238E27FC236}">
                  <a16:creationId xmlns:a16="http://schemas.microsoft.com/office/drawing/2014/main" id="{E594319F-89B6-4E74-8289-29BC4D4CE312}"/>
                </a:ext>
              </a:extLst>
            </p:cNvPr>
            <p:cNvCxnSpPr>
              <a:cxnSpLocks/>
              <a:stCxn id="15" idx="0"/>
              <a:endCxn id="14" idx="2"/>
            </p:cNvCxnSpPr>
            <p:nvPr/>
          </p:nvCxnSpPr>
          <p:spPr bwMode="auto">
            <a:xfrm flipV="1">
              <a:off x="2738161" y="2292742"/>
              <a:ext cx="2066263" cy="70515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a:extLst>
                <a:ext uri="{FF2B5EF4-FFF2-40B4-BE49-F238E27FC236}">
                  <a16:creationId xmlns:a16="http://schemas.microsoft.com/office/drawing/2014/main" id="{D10F6424-6251-4341-B56F-6CD8D63857B4}"/>
                </a:ext>
              </a:extLst>
            </p:cNvPr>
            <p:cNvCxnSpPr>
              <a:stCxn id="16" idx="0"/>
              <a:endCxn id="13" idx="2"/>
            </p:cNvCxnSpPr>
            <p:nvPr/>
          </p:nvCxnSpPr>
          <p:spPr bwMode="auto">
            <a:xfrm flipV="1">
              <a:off x="3392520" y="2292738"/>
              <a:ext cx="680692" cy="70677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a:extLst>
                <a:ext uri="{FF2B5EF4-FFF2-40B4-BE49-F238E27FC236}">
                  <a16:creationId xmlns:a16="http://schemas.microsoft.com/office/drawing/2014/main" id="{264CBB31-E1DB-49AC-9C09-0A151864A981}"/>
                </a:ext>
              </a:extLst>
            </p:cNvPr>
            <p:cNvCxnSpPr>
              <a:cxnSpLocks/>
              <a:stCxn id="16" idx="0"/>
              <a:endCxn id="14" idx="2"/>
            </p:cNvCxnSpPr>
            <p:nvPr/>
          </p:nvCxnSpPr>
          <p:spPr bwMode="auto">
            <a:xfrm flipV="1">
              <a:off x="3392524" y="2292738"/>
              <a:ext cx="1411901" cy="70677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a:extLst>
                <a:ext uri="{FF2B5EF4-FFF2-40B4-BE49-F238E27FC236}">
                  <a16:creationId xmlns:a16="http://schemas.microsoft.com/office/drawing/2014/main" id="{142234AC-D0D2-4579-A414-7BA44F333E27}"/>
                </a:ext>
              </a:extLst>
            </p:cNvPr>
            <p:cNvCxnSpPr>
              <a:stCxn id="13" idx="2"/>
              <a:endCxn id="18" idx="0"/>
            </p:cNvCxnSpPr>
            <p:nvPr/>
          </p:nvCxnSpPr>
          <p:spPr bwMode="auto">
            <a:xfrm>
              <a:off x="4073212" y="2292738"/>
              <a:ext cx="253266" cy="70677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a:extLst>
                <a:ext uri="{FF2B5EF4-FFF2-40B4-BE49-F238E27FC236}">
                  <a16:creationId xmlns:a16="http://schemas.microsoft.com/office/drawing/2014/main" id="{540F7F1B-5886-4F1E-8216-B9731D1C3134}"/>
                </a:ext>
              </a:extLst>
            </p:cNvPr>
            <p:cNvCxnSpPr>
              <a:cxnSpLocks/>
              <a:stCxn id="18" idx="0"/>
              <a:endCxn id="14" idx="2"/>
            </p:cNvCxnSpPr>
            <p:nvPr/>
          </p:nvCxnSpPr>
          <p:spPr bwMode="auto">
            <a:xfrm flipV="1">
              <a:off x="4326481" y="2292738"/>
              <a:ext cx="477943" cy="70677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B908D416-945C-4DBC-BC84-3B3327B5EA12}"/>
                </a:ext>
              </a:extLst>
            </p:cNvPr>
            <p:cNvCxnSpPr>
              <a:stCxn id="13" idx="2"/>
              <a:endCxn id="19" idx="0"/>
            </p:cNvCxnSpPr>
            <p:nvPr/>
          </p:nvCxnSpPr>
          <p:spPr bwMode="auto">
            <a:xfrm>
              <a:off x="4073212" y="2292738"/>
              <a:ext cx="926704" cy="70677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a:extLst>
                <a:ext uri="{FF2B5EF4-FFF2-40B4-BE49-F238E27FC236}">
                  <a16:creationId xmlns:a16="http://schemas.microsoft.com/office/drawing/2014/main" id="{384DB12C-1F3C-483E-A062-804B82C44885}"/>
                </a:ext>
              </a:extLst>
            </p:cNvPr>
            <p:cNvCxnSpPr>
              <a:cxnSpLocks/>
              <a:stCxn id="19" idx="0"/>
              <a:endCxn id="14" idx="2"/>
            </p:cNvCxnSpPr>
            <p:nvPr/>
          </p:nvCxnSpPr>
          <p:spPr bwMode="auto">
            <a:xfrm flipH="1" flipV="1">
              <a:off x="4804425" y="2292738"/>
              <a:ext cx="195495" cy="70677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31">
              <a:extLst>
                <a:ext uri="{FF2B5EF4-FFF2-40B4-BE49-F238E27FC236}">
                  <a16:creationId xmlns:a16="http://schemas.microsoft.com/office/drawing/2014/main" id="{3D5EB7B3-16F8-44AD-BF51-1A96190BACC8}"/>
                </a:ext>
              </a:extLst>
            </p:cNvPr>
            <p:cNvCxnSpPr>
              <a:stCxn id="13" idx="2"/>
              <a:endCxn id="21" idx="0"/>
            </p:cNvCxnSpPr>
            <p:nvPr/>
          </p:nvCxnSpPr>
          <p:spPr bwMode="auto">
            <a:xfrm>
              <a:off x="4073216" y="2292742"/>
              <a:ext cx="1760585" cy="70515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32">
              <a:extLst>
                <a:ext uri="{FF2B5EF4-FFF2-40B4-BE49-F238E27FC236}">
                  <a16:creationId xmlns:a16="http://schemas.microsoft.com/office/drawing/2014/main" id="{90F5AB08-F273-45C3-83E9-B91C36BAD008}"/>
                </a:ext>
              </a:extLst>
            </p:cNvPr>
            <p:cNvCxnSpPr>
              <a:stCxn id="13" idx="2"/>
              <a:endCxn id="22" idx="0"/>
            </p:cNvCxnSpPr>
            <p:nvPr/>
          </p:nvCxnSpPr>
          <p:spPr bwMode="auto">
            <a:xfrm>
              <a:off x="4073212" y="2292742"/>
              <a:ext cx="2414982" cy="70515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33">
              <a:extLst>
                <a:ext uri="{FF2B5EF4-FFF2-40B4-BE49-F238E27FC236}">
                  <a16:creationId xmlns:a16="http://schemas.microsoft.com/office/drawing/2014/main" id="{975EEFB3-24C0-4B16-AC7F-62D0FA24700E}"/>
                </a:ext>
              </a:extLst>
            </p:cNvPr>
            <p:cNvCxnSpPr>
              <a:cxnSpLocks/>
              <a:stCxn id="14" idx="2"/>
              <a:endCxn id="22" idx="0"/>
            </p:cNvCxnSpPr>
            <p:nvPr/>
          </p:nvCxnSpPr>
          <p:spPr bwMode="auto">
            <a:xfrm>
              <a:off x="4804425" y="2292742"/>
              <a:ext cx="1683773" cy="70515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a:extLst>
                <a:ext uri="{FF2B5EF4-FFF2-40B4-BE49-F238E27FC236}">
                  <a16:creationId xmlns:a16="http://schemas.microsoft.com/office/drawing/2014/main" id="{923E872A-380D-4C1C-82A5-034BF954CE17}"/>
                </a:ext>
              </a:extLst>
            </p:cNvPr>
            <p:cNvCxnSpPr>
              <a:cxnSpLocks/>
              <a:stCxn id="14" idx="2"/>
              <a:endCxn id="21" idx="0"/>
            </p:cNvCxnSpPr>
            <p:nvPr/>
          </p:nvCxnSpPr>
          <p:spPr bwMode="auto">
            <a:xfrm>
              <a:off x="4804422" y="2292742"/>
              <a:ext cx="1029376" cy="70515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矩形 35">
              <a:extLst>
                <a:ext uri="{FF2B5EF4-FFF2-40B4-BE49-F238E27FC236}">
                  <a16:creationId xmlns:a16="http://schemas.microsoft.com/office/drawing/2014/main" id="{1AFBAFD1-9E1F-4017-86A4-13F3B08B9096}"/>
                </a:ext>
              </a:extLst>
            </p:cNvPr>
            <p:cNvSpPr/>
            <p:nvPr/>
          </p:nvSpPr>
          <p:spPr bwMode="auto">
            <a:xfrm>
              <a:off x="6337935" y="2020366"/>
              <a:ext cx="576000" cy="252000"/>
            </a:xfrm>
            <a:prstGeom prst="rect">
              <a:avLst/>
            </a:prstGeom>
            <a:solidFill>
              <a:srgbClr val="00B0F0"/>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DC GW</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cxnSp>
          <p:nvCxnSpPr>
            <p:cNvPr id="37" name="直接连接符 36">
              <a:extLst>
                <a:ext uri="{FF2B5EF4-FFF2-40B4-BE49-F238E27FC236}">
                  <a16:creationId xmlns:a16="http://schemas.microsoft.com/office/drawing/2014/main" id="{8377EDF1-5437-4E4E-B276-EF34AD391DFE}"/>
                </a:ext>
              </a:extLst>
            </p:cNvPr>
            <p:cNvCxnSpPr>
              <a:cxnSpLocks/>
              <a:stCxn id="21" idx="0"/>
              <a:endCxn id="36" idx="2"/>
            </p:cNvCxnSpPr>
            <p:nvPr/>
          </p:nvCxnSpPr>
          <p:spPr bwMode="auto">
            <a:xfrm flipV="1">
              <a:off x="5833798" y="2272370"/>
              <a:ext cx="792138" cy="72552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a:extLst>
                <a:ext uri="{FF2B5EF4-FFF2-40B4-BE49-F238E27FC236}">
                  <a16:creationId xmlns:a16="http://schemas.microsoft.com/office/drawing/2014/main" id="{C7BF174C-E1EF-4001-9E73-06CCBBC255A4}"/>
                </a:ext>
              </a:extLst>
            </p:cNvPr>
            <p:cNvCxnSpPr>
              <a:cxnSpLocks/>
              <a:stCxn id="36" idx="2"/>
              <a:endCxn id="22" idx="0"/>
            </p:cNvCxnSpPr>
            <p:nvPr/>
          </p:nvCxnSpPr>
          <p:spPr bwMode="auto">
            <a:xfrm flipH="1">
              <a:off x="6488198" y="2272370"/>
              <a:ext cx="137741" cy="72552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矩形 38">
              <a:extLst>
                <a:ext uri="{FF2B5EF4-FFF2-40B4-BE49-F238E27FC236}">
                  <a16:creationId xmlns:a16="http://schemas.microsoft.com/office/drawing/2014/main" id="{9B8B583A-0912-4219-99EC-F6B67FBEA83B}"/>
                </a:ext>
              </a:extLst>
            </p:cNvPr>
            <p:cNvSpPr/>
            <p:nvPr/>
          </p:nvSpPr>
          <p:spPr bwMode="auto">
            <a:xfrm>
              <a:off x="3090003" y="2040738"/>
              <a:ext cx="504000" cy="252000"/>
            </a:xfrm>
            <a:prstGeom prst="rect">
              <a:avLst/>
            </a:prstGeom>
            <a:solidFill>
              <a:srgbClr val="00B0F0"/>
            </a:solidFill>
            <a:ln w="9525" cap="flat" cmpd="sng" algn="ctr">
              <a:solidFill>
                <a:srgbClr val="000000"/>
              </a:solidFill>
              <a:prstDash val="solid"/>
              <a:round/>
              <a:headEnd type="none" w="med" len="med"/>
              <a:tailEnd type="none" w="med" len="med"/>
            </a:ln>
            <a:effec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Spine</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40" name="矩形 39">
              <a:extLst>
                <a:ext uri="{FF2B5EF4-FFF2-40B4-BE49-F238E27FC236}">
                  <a16:creationId xmlns:a16="http://schemas.microsoft.com/office/drawing/2014/main" id="{B655E552-BBF4-4718-8F50-545D72B5192B}"/>
                </a:ext>
              </a:extLst>
            </p:cNvPr>
            <p:cNvSpPr/>
            <p:nvPr/>
          </p:nvSpPr>
          <p:spPr bwMode="auto">
            <a:xfrm>
              <a:off x="5283629" y="2040738"/>
              <a:ext cx="504000" cy="252000"/>
            </a:xfrm>
            <a:prstGeom prst="rect">
              <a:avLst/>
            </a:prstGeom>
            <a:solidFill>
              <a:srgbClr val="00B0F0"/>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Spine</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cxnSp>
          <p:nvCxnSpPr>
            <p:cNvPr id="41" name="直接连接符 40">
              <a:extLst>
                <a:ext uri="{FF2B5EF4-FFF2-40B4-BE49-F238E27FC236}">
                  <a16:creationId xmlns:a16="http://schemas.microsoft.com/office/drawing/2014/main" id="{F5107846-3F10-4BB7-BD1A-703C46732AB3}"/>
                </a:ext>
              </a:extLst>
            </p:cNvPr>
            <p:cNvCxnSpPr>
              <a:stCxn id="15" idx="0"/>
              <a:endCxn id="39" idx="2"/>
            </p:cNvCxnSpPr>
            <p:nvPr/>
          </p:nvCxnSpPr>
          <p:spPr bwMode="auto">
            <a:xfrm flipV="1">
              <a:off x="2738162" y="2292742"/>
              <a:ext cx="603845" cy="70515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41">
              <a:extLst>
                <a:ext uri="{FF2B5EF4-FFF2-40B4-BE49-F238E27FC236}">
                  <a16:creationId xmlns:a16="http://schemas.microsoft.com/office/drawing/2014/main" id="{268F3138-3E18-4AC6-AFAC-E8C755D6E598}"/>
                </a:ext>
              </a:extLst>
            </p:cNvPr>
            <p:cNvCxnSpPr>
              <a:stCxn id="15" idx="0"/>
              <a:endCxn id="40" idx="2"/>
            </p:cNvCxnSpPr>
            <p:nvPr/>
          </p:nvCxnSpPr>
          <p:spPr bwMode="auto">
            <a:xfrm flipV="1">
              <a:off x="2738162" y="2292742"/>
              <a:ext cx="2797471" cy="70515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2">
              <a:extLst>
                <a:ext uri="{FF2B5EF4-FFF2-40B4-BE49-F238E27FC236}">
                  <a16:creationId xmlns:a16="http://schemas.microsoft.com/office/drawing/2014/main" id="{6584D898-4852-4012-9536-BC53AAC1D70B}"/>
                </a:ext>
              </a:extLst>
            </p:cNvPr>
            <p:cNvCxnSpPr>
              <a:stCxn id="39" idx="2"/>
              <a:endCxn id="16" idx="0"/>
            </p:cNvCxnSpPr>
            <p:nvPr/>
          </p:nvCxnSpPr>
          <p:spPr bwMode="auto">
            <a:xfrm>
              <a:off x="3342006" y="2292738"/>
              <a:ext cx="50517" cy="70677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43">
              <a:extLst>
                <a:ext uri="{FF2B5EF4-FFF2-40B4-BE49-F238E27FC236}">
                  <a16:creationId xmlns:a16="http://schemas.microsoft.com/office/drawing/2014/main" id="{AA334330-B176-45F8-9AD7-3D75F66F3107}"/>
                </a:ext>
              </a:extLst>
            </p:cNvPr>
            <p:cNvCxnSpPr>
              <a:stCxn id="39" idx="2"/>
              <a:endCxn id="18" idx="0"/>
            </p:cNvCxnSpPr>
            <p:nvPr/>
          </p:nvCxnSpPr>
          <p:spPr bwMode="auto">
            <a:xfrm>
              <a:off x="3342007" y="2292738"/>
              <a:ext cx="984475" cy="70677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a:extLst>
                <a:ext uri="{FF2B5EF4-FFF2-40B4-BE49-F238E27FC236}">
                  <a16:creationId xmlns:a16="http://schemas.microsoft.com/office/drawing/2014/main" id="{11611625-DA15-4BF7-876E-DB2D11B25970}"/>
                </a:ext>
              </a:extLst>
            </p:cNvPr>
            <p:cNvCxnSpPr>
              <a:stCxn id="39" idx="2"/>
              <a:endCxn id="19" idx="0"/>
            </p:cNvCxnSpPr>
            <p:nvPr/>
          </p:nvCxnSpPr>
          <p:spPr bwMode="auto">
            <a:xfrm>
              <a:off x="3342006" y="2292738"/>
              <a:ext cx="1657913" cy="70677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a:extLst>
                <a:ext uri="{FF2B5EF4-FFF2-40B4-BE49-F238E27FC236}">
                  <a16:creationId xmlns:a16="http://schemas.microsoft.com/office/drawing/2014/main" id="{A3552B5A-7F7A-4168-9A39-DD4A761A36EE}"/>
                </a:ext>
              </a:extLst>
            </p:cNvPr>
            <p:cNvCxnSpPr>
              <a:stCxn id="39" idx="2"/>
              <a:endCxn id="21" idx="0"/>
            </p:cNvCxnSpPr>
            <p:nvPr/>
          </p:nvCxnSpPr>
          <p:spPr bwMode="auto">
            <a:xfrm>
              <a:off x="3342003" y="2292742"/>
              <a:ext cx="2491794" cy="70515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46">
              <a:extLst>
                <a:ext uri="{FF2B5EF4-FFF2-40B4-BE49-F238E27FC236}">
                  <a16:creationId xmlns:a16="http://schemas.microsoft.com/office/drawing/2014/main" id="{32068195-A8DA-4A2E-94DA-5961E017EA1F}"/>
                </a:ext>
              </a:extLst>
            </p:cNvPr>
            <p:cNvCxnSpPr>
              <a:stCxn id="39" idx="2"/>
              <a:endCxn id="22" idx="0"/>
            </p:cNvCxnSpPr>
            <p:nvPr/>
          </p:nvCxnSpPr>
          <p:spPr bwMode="auto">
            <a:xfrm>
              <a:off x="3342006" y="2292742"/>
              <a:ext cx="3146191" cy="70515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连接符 47">
              <a:extLst>
                <a:ext uri="{FF2B5EF4-FFF2-40B4-BE49-F238E27FC236}">
                  <a16:creationId xmlns:a16="http://schemas.microsoft.com/office/drawing/2014/main" id="{1E806459-6C26-434E-BE1B-96E231D13BD5}"/>
                </a:ext>
              </a:extLst>
            </p:cNvPr>
            <p:cNvCxnSpPr>
              <a:stCxn id="40" idx="2"/>
              <a:endCxn id="16" idx="0"/>
            </p:cNvCxnSpPr>
            <p:nvPr/>
          </p:nvCxnSpPr>
          <p:spPr bwMode="auto">
            <a:xfrm flipH="1">
              <a:off x="3392523" y="2292738"/>
              <a:ext cx="2143109" cy="70677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a:extLst>
                <a:ext uri="{FF2B5EF4-FFF2-40B4-BE49-F238E27FC236}">
                  <a16:creationId xmlns:a16="http://schemas.microsoft.com/office/drawing/2014/main" id="{834F3BB0-5653-48DC-AF3F-309EF765D7DF}"/>
                </a:ext>
              </a:extLst>
            </p:cNvPr>
            <p:cNvCxnSpPr>
              <a:stCxn id="40" idx="2"/>
              <a:endCxn id="18" idx="0"/>
            </p:cNvCxnSpPr>
            <p:nvPr/>
          </p:nvCxnSpPr>
          <p:spPr bwMode="auto">
            <a:xfrm flipH="1">
              <a:off x="4326482" y="2292738"/>
              <a:ext cx="1209151" cy="70677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a:extLst>
                <a:ext uri="{FF2B5EF4-FFF2-40B4-BE49-F238E27FC236}">
                  <a16:creationId xmlns:a16="http://schemas.microsoft.com/office/drawing/2014/main" id="{167958A7-4166-478E-B125-B0826AC7C919}"/>
                </a:ext>
              </a:extLst>
            </p:cNvPr>
            <p:cNvCxnSpPr>
              <a:stCxn id="40" idx="2"/>
              <a:endCxn id="19" idx="0"/>
            </p:cNvCxnSpPr>
            <p:nvPr/>
          </p:nvCxnSpPr>
          <p:spPr bwMode="auto">
            <a:xfrm flipH="1">
              <a:off x="4999920" y="2292738"/>
              <a:ext cx="535713" cy="70677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a:extLst>
                <a:ext uri="{FF2B5EF4-FFF2-40B4-BE49-F238E27FC236}">
                  <a16:creationId xmlns:a16="http://schemas.microsoft.com/office/drawing/2014/main" id="{DCED4336-116D-4125-9C3C-84C45CD0337A}"/>
                </a:ext>
              </a:extLst>
            </p:cNvPr>
            <p:cNvCxnSpPr>
              <a:stCxn id="40" idx="2"/>
              <a:endCxn id="21" idx="0"/>
            </p:cNvCxnSpPr>
            <p:nvPr/>
          </p:nvCxnSpPr>
          <p:spPr bwMode="auto">
            <a:xfrm>
              <a:off x="5535629" y="2292742"/>
              <a:ext cx="298168" cy="70515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a:extLst>
                <a:ext uri="{FF2B5EF4-FFF2-40B4-BE49-F238E27FC236}">
                  <a16:creationId xmlns:a16="http://schemas.microsoft.com/office/drawing/2014/main" id="{778340DD-B6C3-4245-BEEF-7A8C387707EF}"/>
                </a:ext>
              </a:extLst>
            </p:cNvPr>
            <p:cNvCxnSpPr>
              <a:stCxn id="40" idx="2"/>
              <a:endCxn id="22" idx="0"/>
            </p:cNvCxnSpPr>
            <p:nvPr/>
          </p:nvCxnSpPr>
          <p:spPr bwMode="auto">
            <a:xfrm>
              <a:off x="5535632" y="2292742"/>
              <a:ext cx="952565" cy="70515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椭圆 52">
              <a:extLst>
                <a:ext uri="{FF2B5EF4-FFF2-40B4-BE49-F238E27FC236}">
                  <a16:creationId xmlns:a16="http://schemas.microsoft.com/office/drawing/2014/main" id="{DBEFFC5E-0A5C-4392-A97F-6AA9A59C722A}"/>
                </a:ext>
              </a:extLst>
            </p:cNvPr>
            <p:cNvSpPr/>
            <p:nvPr/>
          </p:nvSpPr>
          <p:spPr bwMode="auto">
            <a:xfrm rot="2532031">
              <a:off x="2876870" y="2693916"/>
              <a:ext cx="481597" cy="147051"/>
            </a:xfrm>
            <a:prstGeom prst="ellipse">
              <a:avLst/>
            </a:prstGeom>
            <a:noFill/>
            <a:ln w="19050" cap="flat" cmpd="sng" algn="ctr">
              <a:solidFill>
                <a:srgbClr val="000000"/>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1" i="0" u="none" strike="noStrike" kern="0" cap="none" spc="0" normalizeH="0" baseline="0" noProof="0" dirty="0">
                <a:ln>
                  <a:noFill/>
                </a:ln>
                <a:solidFill>
                  <a:srgbClr val="000000"/>
                </a:solidFill>
                <a:effectLst/>
                <a:uLnTx/>
                <a:uFillTx/>
                <a:latin typeface="Arial" charset="0"/>
                <a:ea typeface="宋体" charset="-122"/>
              </a:endParaRPr>
            </a:p>
          </p:txBody>
        </p:sp>
        <p:cxnSp>
          <p:nvCxnSpPr>
            <p:cNvPr id="54" name="直接连接符 53">
              <a:extLst>
                <a:ext uri="{FF2B5EF4-FFF2-40B4-BE49-F238E27FC236}">
                  <a16:creationId xmlns:a16="http://schemas.microsoft.com/office/drawing/2014/main" id="{0AD0F624-9BEF-4545-8A47-6A2BCF89362C}"/>
                </a:ext>
              </a:extLst>
            </p:cNvPr>
            <p:cNvCxnSpPr>
              <a:cxnSpLocks/>
              <a:stCxn id="53" idx="2"/>
            </p:cNvCxnSpPr>
            <p:nvPr/>
          </p:nvCxnSpPr>
          <p:spPr bwMode="auto">
            <a:xfrm flipH="1" flipV="1">
              <a:off x="2891124" y="2460687"/>
              <a:ext cx="48158" cy="14500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直接连接符 54">
              <a:extLst>
                <a:ext uri="{FF2B5EF4-FFF2-40B4-BE49-F238E27FC236}">
                  <a16:creationId xmlns:a16="http://schemas.microsoft.com/office/drawing/2014/main" id="{64A1A6CF-1427-4C4C-A1DD-8EF166157EAE}"/>
                </a:ext>
              </a:extLst>
            </p:cNvPr>
            <p:cNvCxnSpPr/>
            <p:nvPr/>
          </p:nvCxnSpPr>
          <p:spPr bwMode="auto">
            <a:xfrm flipH="1">
              <a:off x="2352966" y="2460687"/>
              <a:ext cx="540000" cy="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文本框 55">
              <a:extLst>
                <a:ext uri="{FF2B5EF4-FFF2-40B4-BE49-F238E27FC236}">
                  <a16:creationId xmlns:a16="http://schemas.microsoft.com/office/drawing/2014/main" id="{13A57F46-2A34-4982-88E4-CAF1CFBFB07A}"/>
                </a:ext>
              </a:extLst>
            </p:cNvPr>
            <p:cNvSpPr txBox="1"/>
            <p:nvPr/>
          </p:nvSpPr>
          <p:spPr>
            <a:xfrm>
              <a:off x="2319708" y="2187088"/>
              <a:ext cx="593432" cy="261610"/>
            </a:xfrm>
            <a:prstGeom prst="rect">
              <a:avLst/>
            </a:prstGeom>
            <a:noFill/>
          </p:spPr>
          <p:txBody>
            <a:bodyPr wrap="none" rtlCol="0">
              <a:spAutoFit/>
            </a:bodyPr>
            <a:lstStyle>
              <a:defPPr>
                <a:defRPr lang="zh-CN"/>
              </a:defPPr>
              <a:lvl1pPr>
                <a:defRPr sz="1100" b="0"/>
              </a:lvl1pPr>
            </a:lstStyle>
            <a:p>
              <a:pPr fontAlgn="base">
                <a:spcBef>
                  <a:spcPct val="0"/>
                </a:spcBef>
                <a:spcAft>
                  <a:spcPct val="0"/>
                </a:spcAft>
              </a:pPr>
              <a:r>
                <a:rPr lang="en-US" altLang="zh-CN" dirty="0">
                  <a:solidFill>
                    <a:srgbClr val="000000"/>
                  </a:solidFill>
                  <a:latin typeface="Arial" pitchFamily="34" charset="0"/>
                  <a:ea typeface="宋体" pitchFamily="2" charset="-122"/>
                </a:rPr>
                <a:t>ECMP</a:t>
              </a:r>
              <a:endParaRPr lang="zh-CN" altLang="en-US" dirty="0">
                <a:solidFill>
                  <a:srgbClr val="000000"/>
                </a:solidFill>
                <a:latin typeface="Arial" pitchFamily="34" charset="0"/>
                <a:ea typeface="宋体" pitchFamily="2" charset="-122"/>
              </a:endParaRPr>
            </a:p>
          </p:txBody>
        </p:sp>
        <p:sp>
          <p:nvSpPr>
            <p:cNvPr id="57" name="矩形 56">
              <a:extLst>
                <a:ext uri="{FF2B5EF4-FFF2-40B4-BE49-F238E27FC236}">
                  <a16:creationId xmlns:a16="http://schemas.microsoft.com/office/drawing/2014/main" id="{28129B60-F592-4197-B863-D8FD386926D8}"/>
                </a:ext>
              </a:extLst>
            </p:cNvPr>
            <p:cNvSpPr/>
            <p:nvPr/>
          </p:nvSpPr>
          <p:spPr bwMode="auto">
            <a:xfrm>
              <a:off x="3680068" y="1325507"/>
              <a:ext cx="1719302" cy="275532"/>
            </a:xfrm>
            <a:prstGeom prst="rect">
              <a:avLst/>
            </a:prstGeom>
            <a:solidFill>
              <a:srgbClr val="00B0F0"/>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SDN Controller</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58" name="矩形 57">
              <a:extLst>
                <a:ext uri="{FF2B5EF4-FFF2-40B4-BE49-F238E27FC236}">
                  <a16:creationId xmlns:a16="http://schemas.microsoft.com/office/drawing/2014/main" id="{CC8AC677-F054-4726-8AAD-8CC4A1176DEA}"/>
                </a:ext>
              </a:extLst>
            </p:cNvPr>
            <p:cNvSpPr/>
            <p:nvPr/>
          </p:nvSpPr>
          <p:spPr bwMode="auto">
            <a:xfrm>
              <a:off x="2667049" y="3388417"/>
              <a:ext cx="756000" cy="252000"/>
            </a:xfrm>
            <a:prstGeom prst="rect">
              <a:avLst/>
            </a:prstGeom>
            <a:solidFill>
              <a:srgbClr val="92D050"/>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err="1">
                  <a:ln>
                    <a:noFill/>
                  </a:ln>
                  <a:solidFill>
                    <a:srgbClr val="000000"/>
                  </a:solidFill>
                  <a:effectLst/>
                  <a:uLnTx/>
                  <a:uFillTx/>
                  <a:latin typeface="Arial" charset="0"/>
                  <a:ea typeface="宋体" charset="-122"/>
                </a:rPr>
                <a:t>Openstack</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59" name="矩形 58">
              <a:extLst>
                <a:ext uri="{FF2B5EF4-FFF2-40B4-BE49-F238E27FC236}">
                  <a16:creationId xmlns:a16="http://schemas.microsoft.com/office/drawing/2014/main" id="{E3819B88-AA51-4764-BBFC-E880FCC107B4}"/>
                </a:ext>
              </a:extLst>
            </p:cNvPr>
            <p:cNvSpPr/>
            <p:nvPr/>
          </p:nvSpPr>
          <p:spPr bwMode="auto">
            <a:xfrm>
              <a:off x="2667049" y="3736115"/>
              <a:ext cx="756000" cy="252000"/>
            </a:xfrm>
            <a:prstGeom prst="rect">
              <a:avLst/>
            </a:prstGeom>
            <a:solidFill>
              <a:srgbClr val="92D050"/>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MANO</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60" name="矩形 59">
              <a:extLst>
                <a:ext uri="{FF2B5EF4-FFF2-40B4-BE49-F238E27FC236}">
                  <a16:creationId xmlns:a16="http://schemas.microsoft.com/office/drawing/2014/main" id="{87117AB7-B80E-426F-A54D-A00A09F94106}"/>
                </a:ext>
              </a:extLst>
            </p:cNvPr>
            <p:cNvSpPr/>
            <p:nvPr/>
          </p:nvSpPr>
          <p:spPr bwMode="auto">
            <a:xfrm>
              <a:off x="2659530" y="4082934"/>
              <a:ext cx="756000" cy="252000"/>
            </a:xfrm>
            <a:prstGeom prst="rect">
              <a:avLst/>
            </a:prstGeom>
            <a:solidFill>
              <a:srgbClr val="92D050"/>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OSS</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cxnSp>
          <p:nvCxnSpPr>
            <p:cNvPr id="61" name="连接符: 肘形 60">
              <a:extLst>
                <a:ext uri="{FF2B5EF4-FFF2-40B4-BE49-F238E27FC236}">
                  <a16:creationId xmlns:a16="http://schemas.microsoft.com/office/drawing/2014/main" id="{4F88843B-DBF4-44E2-82F3-42F877A3E5D1}"/>
                </a:ext>
              </a:extLst>
            </p:cNvPr>
            <p:cNvCxnSpPr>
              <a:stCxn id="16" idx="3"/>
              <a:endCxn id="58" idx="3"/>
            </p:cNvCxnSpPr>
            <p:nvPr/>
          </p:nvCxnSpPr>
          <p:spPr bwMode="auto">
            <a:xfrm flipH="1">
              <a:off x="3423053" y="3143516"/>
              <a:ext cx="221471" cy="370905"/>
            </a:xfrm>
            <a:prstGeom prst="bentConnector3">
              <a:avLst>
                <a:gd name="adj1" fmla="val -62880"/>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连接符: 肘形 61">
              <a:extLst>
                <a:ext uri="{FF2B5EF4-FFF2-40B4-BE49-F238E27FC236}">
                  <a16:creationId xmlns:a16="http://schemas.microsoft.com/office/drawing/2014/main" id="{EFDF25DD-B63A-41C1-91DD-39D5782AE04C}"/>
                </a:ext>
              </a:extLst>
            </p:cNvPr>
            <p:cNvCxnSpPr>
              <a:stCxn id="59" idx="3"/>
              <a:endCxn id="16" idx="3"/>
            </p:cNvCxnSpPr>
            <p:nvPr/>
          </p:nvCxnSpPr>
          <p:spPr bwMode="auto">
            <a:xfrm flipV="1">
              <a:off x="3423053" y="3143515"/>
              <a:ext cx="221471" cy="718603"/>
            </a:xfrm>
            <a:prstGeom prst="bentConnector3">
              <a:avLst>
                <a:gd name="adj1" fmla="val 161645"/>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连接符: 肘形 62">
              <a:extLst>
                <a:ext uri="{FF2B5EF4-FFF2-40B4-BE49-F238E27FC236}">
                  <a16:creationId xmlns:a16="http://schemas.microsoft.com/office/drawing/2014/main" id="{4F3A69F1-4AE1-4C33-A033-526391583A32}"/>
                </a:ext>
              </a:extLst>
            </p:cNvPr>
            <p:cNvCxnSpPr>
              <a:stCxn id="60" idx="3"/>
              <a:endCxn id="16" idx="3"/>
            </p:cNvCxnSpPr>
            <p:nvPr/>
          </p:nvCxnSpPr>
          <p:spPr bwMode="auto">
            <a:xfrm flipV="1">
              <a:off x="3415531" y="3143512"/>
              <a:ext cx="228990" cy="1065422"/>
            </a:xfrm>
            <a:prstGeom prst="bentConnector3">
              <a:avLst>
                <a:gd name="adj1" fmla="val 160816"/>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连接符: 肘形 63">
              <a:extLst>
                <a:ext uri="{FF2B5EF4-FFF2-40B4-BE49-F238E27FC236}">
                  <a16:creationId xmlns:a16="http://schemas.microsoft.com/office/drawing/2014/main" id="{A1F192D6-E401-4069-8DB8-21087CBF29A8}"/>
                </a:ext>
              </a:extLst>
            </p:cNvPr>
            <p:cNvCxnSpPr>
              <a:stCxn id="58" idx="1"/>
              <a:endCxn id="15" idx="1"/>
            </p:cNvCxnSpPr>
            <p:nvPr/>
          </p:nvCxnSpPr>
          <p:spPr bwMode="auto">
            <a:xfrm rot="10800000">
              <a:off x="2486163" y="3141895"/>
              <a:ext cx="180891" cy="372522"/>
            </a:xfrm>
            <a:prstGeom prst="bentConnector3">
              <a:avLst>
                <a:gd name="adj1" fmla="val 226374"/>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连接符: 肘形 64">
              <a:extLst>
                <a:ext uri="{FF2B5EF4-FFF2-40B4-BE49-F238E27FC236}">
                  <a16:creationId xmlns:a16="http://schemas.microsoft.com/office/drawing/2014/main" id="{37486057-3BA0-4601-B40D-A81FC0BA8597}"/>
                </a:ext>
              </a:extLst>
            </p:cNvPr>
            <p:cNvCxnSpPr>
              <a:stCxn id="59" idx="1"/>
              <a:endCxn id="15" idx="1"/>
            </p:cNvCxnSpPr>
            <p:nvPr/>
          </p:nvCxnSpPr>
          <p:spPr bwMode="auto">
            <a:xfrm rot="10800000">
              <a:off x="2486163" y="3141895"/>
              <a:ext cx="180891" cy="720220"/>
            </a:xfrm>
            <a:prstGeom prst="bentConnector3">
              <a:avLst>
                <a:gd name="adj1" fmla="val 226374"/>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连接符: 肘形 65">
              <a:extLst>
                <a:ext uri="{FF2B5EF4-FFF2-40B4-BE49-F238E27FC236}">
                  <a16:creationId xmlns:a16="http://schemas.microsoft.com/office/drawing/2014/main" id="{7EE27827-CCB9-401E-8B05-7489C39F8D12}"/>
                </a:ext>
              </a:extLst>
            </p:cNvPr>
            <p:cNvCxnSpPr>
              <a:cxnSpLocks/>
              <a:stCxn id="60" idx="1"/>
              <a:endCxn id="15" idx="1"/>
            </p:cNvCxnSpPr>
            <p:nvPr/>
          </p:nvCxnSpPr>
          <p:spPr bwMode="auto">
            <a:xfrm rot="10800000">
              <a:off x="2486158" y="3141900"/>
              <a:ext cx="173372" cy="1067039"/>
            </a:xfrm>
            <a:prstGeom prst="bentConnector3">
              <a:avLst>
                <a:gd name="adj1" fmla="val 231855"/>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矩形 66">
              <a:extLst>
                <a:ext uri="{FF2B5EF4-FFF2-40B4-BE49-F238E27FC236}">
                  <a16:creationId xmlns:a16="http://schemas.microsoft.com/office/drawing/2014/main" id="{F25A555C-633A-4B68-A3EC-ED94988A3D5F}"/>
                </a:ext>
              </a:extLst>
            </p:cNvPr>
            <p:cNvSpPr/>
            <p:nvPr/>
          </p:nvSpPr>
          <p:spPr bwMode="auto">
            <a:xfrm>
              <a:off x="4266781" y="3399108"/>
              <a:ext cx="756000" cy="252000"/>
            </a:xfrm>
            <a:prstGeom prst="rect">
              <a:avLst/>
            </a:prstGeom>
            <a:solidFill>
              <a:srgbClr val="92D050"/>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Server</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68" name="矩形 67">
              <a:extLst>
                <a:ext uri="{FF2B5EF4-FFF2-40B4-BE49-F238E27FC236}">
                  <a16:creationId xmlns:a16="http://schemas.microsoft.com/office/drawing/2014/main" id="{D4D32B34-E680-4629-9E77-54C1AE7FE160}"/>
                </a:ext>
              </a:extLst>
            </p:cNvPr>
            <p:cNvSpPr/>
            <p:nvPr/>
          </p:nvSpPr>
          <p:spPr bwMode="auto">
            <a:xfrm>
              <a:off x="4266781" y="3746806"/>
              <a:ext cx="756000" cy="252000"/>
            </a:xfrm>
            <a:prstGeom prst="rect">
              <a:avLst/>
            </a:prstGeom>
            <a:solidFill>
              <a:srgbClr val="92D050"/>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Server</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69" name="矩形 68">
              <a:extLst>
                <a:ext uri="{FF2B5EF4-FFF2-40B4-BE49-F238E27FC236}">
                  <a16:creationId xmlns:a16="http://schemas.microsoft.com/office/drawing/2014/main" id="{ACAC513D-87E4-4915-8EE4-BF089E0DF22C}"/>
                </a:ext>
              </a:extLst>
            </p:cNvPr>
            <p:cNvSpPr/>
            <p:nvPr/>
          </p:nvSpPr>
          <p:spPr bwMode="auto">
            <a:xfrm>
              <a:off x="4259262" y="4093625"/>
              <a:ext cx="756000" cy="252000"/>
            </a:xfrm>
            <a:prstGeom prst="rect">
              <a:avLst/>
            </a:prstGeom>
            <a:solidFill>
              <a:srgbClr val="92D050"/>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Server</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70" name="矩形 69">
              <a:extLst>
                <a:ext uri="{FF2B5EF4-FFF2-40B4-BE49-F238E27FC236}">
                  <a16:creationId xmlns:a16="http://schemas.microsoft.com/office/drawing/2014/main" id="{8C56ACBC-76AA-4AD2-92D6-606D24E1673F}"/>
                </a:ext>
              </a:extLst>
            </p:cNvPr>
            <p:cNvSpPr/>
            <p:nvPr/>
          </p:nvSpPr>
          <p:spPr bwMode="auto">
            <a:xfrm>
              <a:off x="5767044" y="3397918"/>
              <a:ext cx="756000" cy="252000"/>
            </a:xfrm>
            <a:prstGeom prst="rect">
              <a:avLst/>
            </a:prstGeom>
            <a:solidFill>
              <a:srgbClr val="92D050"/>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FW/NAT</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71" name="矩形 70">
              <a:extLst>
                <a:ext uri="{FF2B5EF4-FFF2-40B4-BE49-F238E27FC236}">
                  <a16:creationId xmlns:a16="http://schemas.microsoft.com/office/drawing/2014/main" id="{F2803B35-66FB-41DE-802C-B87C55FC1138}"/>
                </a:ext>
              </a:extLst>
            </p:cNvPr>
            <p:cNvSpPr/>
            <p:nvPr/>
          </p:nvSpPr>
          <p:spPr bwMode="auto">
            <a:xfrm>
              <a:off x="5767044" y="3745616"/>
              <a:ext cx="756000" cy="252000"/>
            </a:xfrm>
            <a:prstGeom prst="rect">
              <a:avLst/>
            </a:prstGeom>
            <a:solidFill>
              <a:srgbClr val="92D050"/>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Gateway</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72" name="矩形 71">
              <a:extLst>
                <a:ext uri="{FF2B5EF4-FFF2-40B4-BE49-F238E27FC236}">
                  <a16:creationId xmlns:a16="http://schemas.microsoft.com/office/drawing/2014/main" id="{D81BACCA-052A-4121-ABF8-54DA28D60361}"/>
                </a:ext>
              </a:extLst>
            </p:cNvPr>
            <p:cNvSpPr/>
            <p:nvPr/>
          </p:nvSpPr>
          <p:spPr bwMode="auto">
            <a:xfrm>
              <a:off x="5759525" y="4092435"/>
              <a:ext cx="756000" cy="252000"/>
            </a:xfrm>
            <a:prstGeom prst="rect">
              <a:avLst/>
            </a:prstGeom>
            <a:solidFill>
              <a:srgbClr val="92D050"/>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Server</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cxnSp>
          <p:nvCxnSpPr>
            <p:cNvPr id="73" name="连接符: 肘形 72">
              <a:extLst>
                <a:ext uri="{FF2B5EF4-FFF2-40B4-BE49-F238E27FC236}">
                  <a16:creationId xmlns:a16="http://schemas.microsoft.com/office/drawing/2014/main" id="{A10504F0-2D58-45CA-A277-0AB64CD362B0}"/>
                </a:ext>
              </a:extLst>
            </p:cNvPr>
            <p:cNvCxnSpPr>
              <a:stCxn id="18" idx="1"/>
              <a:endCxn id="67" idx="1"/>
            </p:cNvCxnSpPr>
            <p:nvPr/>
          </p:nvCxnSpPr>
          <p:spPr bwMode="auto">
            <a:xfrm rot="10800000" flipH="1" flipV="1">
              <a:off x="4074480" y="3143512"/>
              <a:ext cx="192303" cy="381596"/>
            </a:xfrm>
            <a:prstGeom prst="bentConnector3">
              <a:avLst>
                <a:gd name="adj1" fmla="val -56021"/>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连接符: 肘形 73">
              <a:extLst>
                <a:ext uri="{FF2B5EF4-FFF2-40B4-BE49-F238E27FC236}">
                  <a16:creationId xmlns:a16="http://schemas.microsoft.com/office/drawing/2014/main" id="{6267CCA1-5C78-41D1-B0E5-F080B80364A9}"/>
                </a:ext>
              </a:extLst>
            </p:cNvPr>
            <p:cNvCxnSpPr>
              <a:stCxn id="68" idx="1"/>
              <a:endCxn id="18" idx="1"/>
            </p:cNvCxnSpPr>
            <p:nvPr/>
          </p:nvCxnSpPr>
          <p:spPr bwMode="auto">
            <a:xfrm rot="10800000">
              <a:off x="4074483" y="3143513"/>
              <a:ext cx="192303" cy="729294"/>
            </a:xfrm>
            <a:prstGeom prst="bentConnector3">
              <a:avLst>
                <a:gd name="adj1" fmla="val 156135"/>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连接符: 肘形 74">
              <a:extLst>
                <a:ext uri="{FF2B5EF4-FFF2-40B4-BE49-F238E27FC236}">
                  <a16:creationId xmlns:a16="http://schemas.microsoft.com/office/drawing/2014/main" id="{57B1F135-0C4D-45BA-A77F-84BF2B9A2F4F}"/>
                </a:ext>
              </a:extLst>
            </p:cNvPr>
            <p:cNvCxnSpPr>
              <a:stCxn id="69" idx="1"/>
              <a:endCxn id="18" idx="1"/>
            </p:cNvCxnSpPr>
            <p:nvPr/>
          </p:nvCxnSpPr>
          <p:spPr bwMode="auto">
            <a:xfrm rot="10800000">
              <a:off x="4074478" y="3143517"/>
              <a:ext cx="184784" cy="1076113"/>
            </a:xfrm>
            <a:prstGeom prst="bentConnector3">
              <a:avLst>
                <a:gd name="adj1" fmla="val 158420"/>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连接符: 肘形 75">
              <a:extLst>
                <a:ext uri="{FF2B5EF4-FFF2-40B4-BE49-F238E27FC236}">
                  <a16:creationId xmlns:a16="http://schemas.microsoft.com/office/drawing/2014/main" id="{3416EFD4-2AE2-4DBA-BB57-2DF66720C0D5}"/>
                </a:ext>
              </a:extLst>
            </p:cNvPr>
            <p:cNvCxnSpPr>
              <a:cxnSpLocks/>
              <a:stCxn id="67" idx="3"/>
              <a:endCxn id="19" idx="3"/>
            </p:cNvCxnSpPr>
            <p:nvPr/>
          </p:nvCxnSpPr>
          <p:spPr bwMode="auto">
            <a:xfrm flipV="1">
              <a:off x="5022785" y="3143512"/>
              <a:ext cx="229135" cy="381596"/>
            </a:xfrm>
            <a:prstGeom prst="bentConnector3">
              <a:avLst>
                <a:gd name="adj1" fmla="val 145727"/>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连接符: 肘形 76">
              <a:extLst>
                <a:ext uri="{FF2B5EF4-FFF2-40B4-BE49-F238E27FC236}">
                  <a16:creationId xmlns:a16="http://schemas.microsoft.com/office/drawing/2014/main" id="{992910A0-F064-4F72-8A45-2B8E2078476F}"/>
                </a:ext>
              </a:extLst>
            </p:cNvPr>
            <p:cNvCxnSpPr>
              <a:stCxn id="19" idx="3"/>
              <a:endCxn id="68" idx="3"/>
            </p:cNvCxnSpPr>
            <p:nvPr/>
          </p:nvCxnSpPr>
          <p:spPr bwMode="auto">
            <a:xfrm flipH="1">
              <a:off x="5022785" y="3143513"/>
              <a:ext cx="229135" cy="729294"/>
            </a:xfrm>
            <a:prstGeom prst="bentConnector3">
              <a:avLst>
                <a:gd name="adj1" fmla="val -44341"/>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连接符: 肘形 77">
              <a:extLst>
                <a:ext uri="{FF2B5EF4-FFF2-40B4-BE49-F238E27FC236}">
                  <a16:creationId xmlns:a16="http://schemas.microsoft.com/office/drawing/2014/main" id="{82C2D769-F6BB-435A-827C-011462E68FE2}"/>
                </a:ext>
              </a:extLst>
            </p:cNvPr>
            <p:cNvCxnSpPr>
              <a:stCxn id="19" idx="3"/>
              <a:endCxn id="69" idx="3"/>
            </p:cNvCxnSpPr>
            <p:nvPr/>
          </p:nvCxnSpPr>
          <p:spPr bwMode="auto">
            <a:xfrm flipH="1">
              <a:off x="5015262" y="3143516"/>
              <a:ext cx="236654" cy="1076113"/>
            </a:xfrm>
            <a:prstGeom prst="bentConnector3">
              <a:avLst>
                <a:gd name="adj1" fmla="val -42932"/>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连接符: 肘形 78">
              <a:extLst>
                <a:ext uri="{FF2B5EF4-FFF2-40B4-BE49-F238E27FC236}">
                  <a16:creationId xmlns:a16="http://schemas.microsoft.com/office/drawing/2014/main" id="{ED865C0F-4A03-4A48-9F16-E20E11AFE283}"/>
                </a:ext>
              </a:extLst>
            </p:cNvPr>
            <p:cNvCxnSpPr>
              <a:stCxn id="21" idx="1"/>
              <a:endCxn id="70" idx="1"/>
            </p:cNvCxnSpPr>
            <p:nvPr/>
          </p:nvCxnSpPr>
          <p:spPr bwMode="auto">
            <a:xfrm rot="10800000" flipH="1" flipV="1">
              <a:off x="5581799" y="3141898"/>
              <a:ext cx="185247" cy="382023"/>
            </a:xfrm>
            <a:prstGeom prst="bentConnector3">
              <a:avLst>
                <a:gd name="adj1" fmla="val -39420"/>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连接符: 肘形 79">
              <a:extLst>
                <a:ext uri="{FF2B5EF4-FFF2-40B4-BE49-F238E27FC236}">
                  <a16:creationId xmlns:a16="http://schemas.microsoft.com/office/drawing/2014/main" id="{26F3C396-86D8-4917-BD6A-33321671D1AE}"/>
                </a:ext>
              </a:extLst>
            </p:cNvPr>
            <p:cNvCxnSpPr>
              <a:stCxn id="21" idx="1"/>
              <a:endCxn id="71" idx="1"/>
            </p:cNvCxnSpPr>
            <p:nvPr/>
          </p:nvCxnSpPr>
          <p:spPr bwMode="auto">
            <a:xfrm rot="10800000" flipH="1" flipV="1">
              <a:off x="5581799" y="3141898"/>
              <a:ext cx="185247" cy="729721"/>
            </a:xfrm>
            <a:prstGeom prst="bentConnector3">
              <a:avLst>
                <a:gd name="adj1" fmla="val -39420"/>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连接符: 肘形 80">
              <a:extLst>
                <a:ext uri="{FF2B5EF4-FFF2-40B4-BE49-F238E27FC236}">
                  <a16:creationId xmlns:a16="http://schemas.microsoft.com/office/drawing/2014/main" id="{44E22FC5-0D97-4450-BC12-079192149D23}"/>
                </a:ext>
              </a:extLst>
            </p:cNvPr>
            <p:cNvCxnSpPr>
              <a:stCxn id="72" idx="1"/>
              <a:endCxn id="21" idx="1"/>
            </p:cNvCxnSpPr>
            <p:nvPr/>
          </p:nvCxnSpPr>
          <p:spPr bwMode="auto">
            <a:xfrm rot="10800000">
              <a:off x="5581797" y="3141895"/>
              <a:ext cx="177728" cy="1076540"/>
            </a:xfrm>
            <a:prstGeom prst="bentConnector3">
              <a:avLst>
                <a:gd name="adj1" fmla="val 142875"/>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连接符: 肘形 81">
              <a:extLst>
                <a:ext uri="{FF2B5EF4-FFF2-40B4-BE49-F238E27FC236}">
                  <a16:creationId xmlns:a16="http://schemas.microsoft.com/office/drawing/2014/main" id="{83CBBC89-422C-421C-9F1E-BEA352B248D5}"/>
                </a:ext>
              </a:extLst>
            </p:cNvPr>
            <p:cNvCxnSpPr>
              <a:stCxn id="22" idx="3"/>
              <a:endCxn id="70" idx="3"/>
            </p:cNvCxnSpPr>
            <p:nvPr/>
          </p:nvCxnSpPr>
          <p:spPr bwMode="auto">
            <a:xfrm flipH="1">
              <a:off x="6523044" y="3141899"/>
              <a:ext cx="217150" cy="382023"/>
            </a:xfrm>
            <a:prstGeom prst="bentConnector3">
              <a:avLst>
                <a:gd name="adj1" fmla="val -51174"/>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连接符: 肘形 82">
              <a:extLst>
                <a:ext uri="{FF2B5EF4-FFF2-40B4-BE49-F238E27FC236}">
                  <a16:creationId xmlns:a16="http://schemas.microsoft.com/office/drawing/2014/main" id="{B9A0F144-5E1B-49C1-BDF3-FB0B8E83AB37}"/>
                </a:ext>
              </a:extLst>
            </p:cNvPr>
            <p:cNvCxnSpPr>
              <a:stCxn id="22" idx="3"/>
              <a:endCxn id="71" idx="3"/>
            </p:cNvCxnSpPr>
            <p:nvPr/>
          </p:nvCxnSpPr>
          <p:spPr bwMode="auto">
            <a:xfrm flipH="1">
              <a:off x="6523044" y="3141899"/>
              <a:ext cx="217150" cy="729721"/>
            </a:xfrm>
            <a:prstGeom prst="bentConnector3">
              <a:avLst>
                <a:gd name="adj1" fmla="val -51174"/>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连接符: 肘形 83">
              <a:extLst>
                <a:ext uri="{FF2B5EF4-FFF2-40B4-BE49-F238E27FC236}">
                  <a16:creationId xmlns:a16="http://schemas.microsoft.com/office/drawing/2014/main" id="{84798184-299C-45AF-BAEA-987017AA30A3}"/>
                </a:ext>
              </a:extLst>
            </p:cNvPr>
            <p:cNvCxnSpPr>
              <a:stCxn id="22" idx="3"/>
              <a:endCxn id="72" idx="3"/>
            </p:cNvCxnSpPr>
            <p:nvPr/>
          </p:nvCxnSpPr>
          <p:spPr bwMode="auto">
            <a:xfrm flipH="1">
              <a:off x="6515529" y="3141895"/>
              <a:ext cx="224669" cy="1076540"/>
            </a:xfrm>
            <a:prstGeom prst="bentConnector3">
              <a:avLst>
                <a:gd name="adj1" fmla="val -49462"/>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任意多边形: 形状 84">
              <a:extLst>
                <a:ext uri="{FF2B5EF4-FFF2-40B4-BE49-F238E27FC236}">
                  <a16:creationId xmlns:a16="http://schemas.microsoft.com/office/drawing/2014/main" id="{10845347-CAD1-4E30-B798-D2C5C672D8D9}"/>
                </a:ext>
              </a:extLst>
            </p:cNvPr>
            <p:cNvSpPr/>
            <p:nvPr/>
          </p:nvSpPr>
          <p:spPr bwMode="auto">
            <a:xfrm>
              <a:off x="2876838" y="2060336"/>
              <a:ext cx="2805112" cy="1033767"/>
            </a:xfrm>
            <a:custGeom>
              <a:avLst/>
              <a:gdLst>
                <a:gd name="connsiteX0" fmla="*/ 0 w 2790825"/>
                <a:gd name="connsiteY0" fmla="*/ 974628 h 974628"/>
                <a:gd name="connsiteX1" fmla="*/ 652462 w 2790825"/>
                <a:gd name="connsiteY1" fmla="*/ 103090 h 974628"/>
                <a:gd name="connsiteX2" fmla="*/ 1985962 w 2790825"/>
                <a:gd name="connsiteY2" fmla="*/ 107853 h 974628"/>
                <a:gd name="connsiteX3" fmla="*/ 2790825 w 2790825"/>
                <a:gd name="connsiteY3" fmla="*/ 922240 h 974628"/>
                <a:gd name="connsiteX0" fmla="*/ 0 w 2790825"/>
                <a:gd name="connsiteY0" fmla="*/ 930775 h 930775"/>
                <a:gd name="connsiteX1" fmla="*/ 652462 w 2790825"/>
                <a:gd name="connsiteY1" fmla="*/ 59237 h 930775"/>
                <a:gd name="connsiteX2" fmla="*/ 1858029 w 2790825"/>
                <a:gd name="connsiteY2" fmla="*/ 166276 h 930775"/>
                <a:gd name="connsiteX3" fmla="*/ 2790825 w 2790825"/>
                <a:gd name="connsiteY3" fmla="*/ 878387 h 930775"/>
                <a:gd name="connsiteX0" fmla="*/ 0 w 2790825"/>
                <a:gd name="connsiteY0" fmla="*/ 937135 h 937135"/>
                <a:gd name="connsiteX1" fmla="*/ 652462 w 2790825"/>
                <a:gd name="connsiteY1" fmla="*/ 65597 h 937135"/>
                <a:gd name="connsiteX2" fmla="*/ 1858029 w 2790825"/>
                <a:gd name="connsiteY2" fmla="*/ 154041 h 937135"/>
                <a:gd name="connsiteX3" fmla="*/ 2790825 w 2790825"/>
                <a:gd name="connsiteY3" fmla="*/ 884747 h 937135"/>
                <a:gd name="connsiteX0" fmla="*/ 0 w 2790825"/>
                <a:gd name="connsiteY0" fmla="*/ 888907 h 888907"/>
                <a:gd name="connsiteX1" fmla="*/ 680891 w 2790825"/>
                <a:gd name="connsiteY1" fmla="*/ 87103 h 888907"/>
                <a:gd name="connsiteX2" fmla="*/ 1858029 w 2790825"/>
                <a:gd name="connsiteY2" fmla="*/ 105813 h 888907"/>
                <a:gd name="connsiteX3" fmla="*/ 2790825 w 2790825"/>
                <a:gd name="connsiteY3" fmla="*/ 836519 h 888907"/>
                <a:gd name="connsiteX0" fmla="*/ 0 w 2790825"/>
                <a:gd name="connsiteY0" fmla="*/ 877838 h 877838"/>
                <a:gd name="connsiteX1" fmla="*/ 680891 w 2790825"/>
                <a:gd name="connsiteY1" fmla="*/ 76034 h 877838"/>
                <a:gd name="connsiteX2" fmla="*/ 1858029 w 2790825"/>
                <a:gd name="connsiteY2" fmla="*/ 117988 h 877838"/>
                <a:gd name="connsiteX3" fmla="*/ 2790825 w 2790825"/>
                <a:gd name="connsiteY3" fmla="*/ 825450 h 877838"/>
                <a:gd name="connsiteX0" fmla="*/ 0 w 2790825"/>
                <a:gd name="connsiteY0" fmla="*/ 868654 h 868654"/>
                <a:gd name="connsiteX1" fmla="*/ 676153 w 2790825"/>
                <a:gd name="connsiteY1" fmla="*/ 80798 h 868654"/>
                <a:gd name="connsiteX2" fmla="*/ 1858029 w 2790825"/>
                <a:gd name="connsiteY2" fmla="*/ 108804 h 868654"/>
                <a:gd name="connsiteX3" fmla="*/ 2790825 w 2790825"/>
                <a:gd name="connsiteY3" fmla="*/ 816266 h 868654"/>
                <a:gd name="connsiteX0" fmla="*/ 0 w 2790825"/>
                <a:gd name="connsiteY0" fmla="*/ 914310 h 914310"/>
                <a:gd name="connsiteX1" fmla="*/ 676153 w 2790825"/>
                <a:gd name="connsiteY1" fmla="*/ 126454 h 914310"/>
                <a:gd name="connsiteX2" fmla="*/ 1834338 w 2790825"/>
                <a:gd name="connsiteY2" fmla="*/ 75428 h 914310"/>
                <a:gd name="connsiteX3" fmla="*/ 2790825 w 2790825"/>
                <a:gd name="connsiteY3" fmla="*/ 861922 h 914310"/>
                <a:gd name="connsiteX0" fmla="*/ 0 w 2790825"/>
                <a:gd name="connsiteY0" fmla="*/ 954506 h 954506"/>
                <a:gd name="connsiteX1" fmla="*/ 666676 w 2790825"/>
                <a:gd name="connsiteY1" fmla="*/ 92268 h 954506"/>
                <a:gd name="connsiteX2" fmla="*/ 1834338 w 2790825"/>
                <a:gd name="connsiteY2" fmla="*/ 115624 h 954506"/>
                <a:gd name="connsiteX3" fmla="*/ 2790825 w 2790825"/>
                <a:gd name="connsiteY3" fmla="*/ 902118 h 954506"/>
                <a:gd name="connsiteX0" fmla="*/ 0 w 2790825"/>
                <a:gd name="connsiteY0" fmla="*/ 991715 h 991715"/>
                <a:gd name="connsiteX1" fmla="*/ 666676 w 2790825"/>
                <a:gd name="connsiteY1" fmla="*/ 129477 h 991715"/>
                <a:gd name="connsiteX2" fmla="*/ 1786956 w 2790825"/>
                <a:gd name="connsiteY2" fmla="*/ 87748 h 991715"/>
                <a:gd name="connsiteX3" fmla="*/ 2790825 w 2790825"/>
                <a:gd name="connsiteY3" fmla="*/ 939327 h 991715"/>
                <a:gd name="connsiteX0" fmla="*/ 0 w 2790825"/>
                <a:gd name="connsiteY0" fmla="*/ 991715 h 991715"/>
                <a:gd name="connsiteX1" fmla="*/ 666676 w 2790825"/>
                <a:gd name="connsiteY1" fmla="*/ 129477 h 991715"/>
                <a:gd name="connsiteX2" fmla="*/ 1763265 w 2790825"/>
                <a:gd name="connsiteY2" fmla="*/ 87748 h 991715"/>
                <a:gd name="connsiteX3" fmla="*/ 2790825 w 2790825"/>
                <a:gd name="connsiteY3" fmla="*/ 939327 h 991715"/>
                <a:gd name="connsiteX0" fmla="*/ 0 w 2790825"/>
                <a:gd name="connsiteY0" fmla="*/ 980133 h 980133"/>
                <a:gd name="connsiteX1" fmla="*/ 666676 w 2790825"/>
                <a:gd name="connsiteY1" fmla="*/ 117895 h 980133"/>
                <a:gd name="connsiteX2" fmla="*/ 1663763 w 2790825"/>
                <a:gd name="connsiteY2" fmla="*/ 94762 h 980133"/>
                <a:gd name="connsiteX3" fmla="*/ 2790825 w 2790825"/>
                <a:gd name="connsiteY3" fmla="*/ 927745 h 980133"/>
                <a:gd name="connsiteX0" fmla="*/ 0 w 2790825"/>
                <a:gd name="connsiteY0" fmla="*/ 1013997 h 1013997"/>
                <a:gd name="connsiteX1" fmla="*/ 666676 w 2790825"/>
                <a:gd name="connsiteY1" fmla="*/ 151759 h 1013997"/>
                <a:gd name="connsiteX2" fmla="*/ 1184561 w 2790825"/>
                <a:gd name="connsiteY2" fmla="*/ 5184 h 1013997"/>
                <a:gd name="connsiteX3" fmla="*/ 1663763 w 2790825"/>
                <a:gd name="connsiteY3" fmla="*/ 128626 h 1013997"/>
                <a:gd name="connsiteX4" fmla="*/ 2790825 w 2790825"/>
                <a:gd name="connsiteY4" fmla="*/ 961609 h 1013997"/>
                <a:gd name="connsiteX0" fmla="*/ 0 w 2790825"/>
                <a:gd name="connsiteY0" fmla="*/ 1013997 h 1013997"/>
                <a:gd name="connsiteX1" fmla="*/ 666676 w 2790825"/>
                <a:gd name="connsiteY1" fmla="*/ 151759 h 1013997"/>
                <a:gd name="connsiteX2" fmla="*/ 1184561 w 2790825"/>
                <a:gd name="connsiteY2" fmla="*/ 5184 h 1013997"/>
                <a:gd name="connsiteX3" fmla="*/ 1663763 w 2790825"/>
                <a:gd name="connsiteY3" fmla="*/ 128626 h 1013997"/>
                <a:gd name="connsiteX4" fmla="*/ 2790825 w 2790825"/>
                <a:gd name="connsiteY4" fmla="*/ 961609 h 1013997"/>
                <a:gd name="connsiteX0" fmla="*/ 0 w 2790825"/>
                <a:gd name="connsiteY0" fmla="*/ 1013997 h 1013997"/>
                <a:gd name="connsiteX1" fmla="*/ 680891 w 2790825"/>
                <a:gd name="connsiteY1" fmla="*/ 175003 h 1013997"/>
                <a:gd name="connsiteX2" fmla="*/ 1184561 w 2790825"/>
                <a:gd name="connsiteY2" fmla="*/ 5184 h 1013997"/>
                <a:gd name="connsiteX3" fmla="*/ 1663763 w 2790825"/>
                <a:gd name="connsiteY3" fmla="*/ 128626 h 1013997"/>
                <a:gd name="connsiteX4" fmla="*/ 2790825 w 2790825"/>
                <a:gd name="connsiteY4" fmla="*/ 961609 h 1013997"/>
                <a:gd name="connsiteX0" fmla="*/ 0 w 2790825"/>
                <a:gd name="connsiteY0" fmla="*/ 1013997 h 1013997"/>
                <a:gd name="connsiteX1" fmla="*/ 680891 w 2790825"/>
                <a:gd name="connsiteY1" fmla="*/ 175003 h 1013997"/>
                <a:gd name="connsiteX2" fmla="*/ 1184561 w 2790825"/>
                <a:gd name="connsiteY2" fmla="*/ 5184 h 1013997"/>
                <a:gd name="connsiteX3" fmla="*/ 1663763 w 2790825"/>
                <a:gd name="connsiteY3" fmla="*/ 128626 h 1013997"/>
                <a:gd name="connsiteX4" fmla="*/ 2790825 w 2790825"/>
                <a:gd name="connsiteY4" fmla="*/ 961609 h 1013997"/>
                <a:gd name="connsiteX0" fmla="*/ 0 w 2790825"/>
                <a:gd name="connsiteY0" fmla="*/ 1010829 h 1010829"/>
                <a:gd name="connsiteX1" fmla="*/ 680891 w 2790825"/>
                <a:gd name="connsiteY1" fmla="*/ 171835 h 1010829"/>
                <a:gd name="connsiteX2" fmla="*/ 1184561 w 2790825"/>
                <a:gd name="connsiteY2" fmla="*/ 2016 h 1010829"/>
                <a:gd name="connsiteX3" fmla="*/ 1649548 w 2790825"/>
                <a:gd name="connsiteY3" fmla="*/ 144054 h 1010829"/>
                <a:gd name="connsiteX4" fmla="*/ 2790825 w 2790825"/>
                <a:gd name="connsiteY4" fmla="*/ 958441 h 1010829"/>
                <a:gd name="connsiteX0" fmla="*/ 0 w 2790825"/>
                <a:gd name="connsiteY0" fmla="*/ 1012128 h 1012128"/>
                <a:gd name="connsiteX1" fmla="*/ 680891 w 2790825"/>
                <a:gd name="connsiteY1" fmla="*/ 173134 h 1012128"/>
                <a:gd name="connsiteX2" fmla="*/ 1184561 w 2790825"/>
                <a:gd name="connsiteY2" fmla="*/ 3315 h 1012128"/>
                <a:gd name="connsiteX3" fmla="*/ 1673240 w 2790825"/>
                <a:gd name="connsiteY3" fmla="*/ 136055 h 1012128"/>
                <a:gd name="connsiteX4" fmla="*/ 2790825 w 2790825"/>
                <a:gd name="connsiteY4" fmla="*/ 959740 h 1012128"/>
                <a:gd name="connsiteX0" fmla="*/ 0 w 2790825"/>
                <a:gd name="connsiteY0" fmla="*/ 1009111 h 1009111"/>
                <a:gd name="connsiteX1" fmla="*/ 680891 w 2790825"/>
                <a:gd name="connsiteY1" fmla="*/ 170117 h 1009111"/>
                <a:gd name="connsiteX2" fmla="*/ 1184561 w 2790825"/>
                <a:gd name="connsiteY2" fmla="*/ 298 h 1009111"/>
                <a:gd name="connsiteX3" fmla="*/ 1673240 w 2790825"/>
                <a:gd name="connsiteY3" fmla="*/ 133038 h 1009111"/>
                <a:gd name="connsiteX4" fmla="*/ 2790825 w 2790825"/>
                <a:gd name="connsiteY4" fmla="*/ 956723 h 1009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0825" h="1009111">
                  <a:moveTo>
                    <a:pt x="0" y="1009111"/>
                  </a:moveTo>
                  <a:cubicBezTo>
                    <a:pt x="160734" y="645573"/>
                    <a:pt x="488203" y="301061"/>
                    <a:pt x="680891" y="170117"/>
                  </a:cubicBezTo>
                  <a:cubicBezTo>
                    <a:pt x="873579" y="39173"/>
                    <a:pt x="1018380" y="27397"/>
                    <a:pt x="1184561" y="298"/>
                  </a:cubicBezTo>
                  <a:cubicBezTo>
                    <a:pt x="1350742" y="-3557"/>
                    <a:pt x="1419743" y="29420"/>
                    <a:pt x="1673240" y="133038"/>
                  </a:cubicBezTo>
                  <a:cubicBezTo>
                    <a:pt x="1926737" y="236656"/>
                    <a:pt x="2655094" y="809085"/>
                    <a:pt x="2790825" y="956723"/>
                  </a:cubicBezTo>
                </a:path>
              </a:pathLst>
            </a:custGeom>
            <a:noFill/>
            <a:ln w="38100" cap="flat" cmpd="sng" algn="ctr">
              <a:solidFill>
                <a:srgbClr val="FFCC99">
                  <a:lumMod val="75000"/>
                </a:srgbClr>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srgbClr val="000000"/>
                </a:solidFill>
                <a:effectLst/>
                <a:uLnTx/>
                <a:uFillTx/>
                <a:latin typeface="FrutigerNext LT Medium"/>
                <a:ea typeface="华文细黑"/>
              </a:endParaRPr>
            </a:p>
          </p:txBody>
        </p:sp>
        <p:sp>
          <p:nvSpPr>
            <p:cNvPr id="86" name="左大括号 85">
              <a:extLst>
                <a:ext uri="{FF2B5EF4-FFF2-40B4-BE49-F238E27FC236}">
                  <a16:creationId xmlns:a16="http://schemas.microsoft.com/office/drawing/2014/main" id="{315E08B3-46F8-401E-BF18-4974672E8168}"/>
                </a:ext>
              </a:extLst>
            </p:cNvPr>
            <p:cNvSpPr/>
            <p:nvPr/>
          </p:nvSpPr>
          <p:spPr bwMode="auto">
            <a:xfrm>
              <a:off x="2022103" y="2123861"/>
              <a:ext cx="250525" cy="940821"/>
            </a:xfrm>
            <a:prstGeom prst="leftBrac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srgbClr val="000000"/>
                </a:solidFill>
                <a:effectLst/>
                <a:uLnTx/>
                <a:uFillTx/>
                <a:latin typeface="FrutigerNext LT Medium"/>
                <a:ea typeface="华文细黑"/>
              </a:endParaRPr>
            </a:p>
          </p:txBody>
        </p:sp>
        <p:sp>
          <p:nvSpPr>
            <p:cNvPr id="87" name="文本框 86">
              <a:extLst>
                <a:ext uri="{FF2B5EF4-FFF2-40B4-BE49-F238E27FC236}">
                  <a16:creationId xmlns:a16="http://schemas.microsoft.com/office/drawing/2014/main" id="{507018D8-069B-4626-926F-71EC5544757F}"/>
                </a:ext>
              </a:extLst>
            </p:cNvPr>
            <p:cNvSpPr txBox="1"/>
            <p:nvPr/>
          </p:nvSpPr>
          <p:spPr>
            <a:xfrm>
              <a:off x="1163229" y="2356098"/>
              <a:ext cx="906017" cy="430887"/>
            </a:xfrm>
            <a:prstGeom prst="rect">
              <a:avLst/>
            </a:prstGeom>
            <a:noFill/>
          </p:spPr>
          <p:txBody>
            <a:bodyPr wrap="none" rtlCol="0">
              <a:spAutoFit/>
            </a:bodyPr>
            <a:lstStyle>
              <a:defPPr>
                <a:defRPr lang="zh-CN"/>
              </a:defPPr>
              <a:lvl1pPr>
                <a:defRPr sz="1100" b="0"/>
              </a:lvl1pPr>
            </a:lstStyle>
            <a:p>
              <a:pPr fontAlgn="base">
                <a:spcBef>
                  <a:spcPct val="0"/>
                </a:spcBef>
                <a:spcAft>
                  <a:spcPct val="0"/>
                </a:spcAft>
              </a:pPr>
              <a:r>
                <a:rPr lang="en-US" altLang="zh-CN" dirty="0">
                  <a:solidFill>
                    <a:srgbClr val="000000"/>
                  </a:solidFill>
                  <a:latin typeface="Arial" pitchFamily="34" charset="0"/>
                  <a:ea typeface="宋体" pitchFamily="2" charset="-122"/>
                </a:rPr>
                <a:t>IP Routing:</a:t>
              </a:r>
            </a:p>
            <a:p>
              <a:pPr fontAlgn="base">
                <a:spcBef>
                  <a:spcPct val="0"/>
                </a:spcBef>
                <a:spcAft>
                  <a:spcPct val="0"/>
                </a:spcAft>
              </a:pPr>
              <a:r>
                <a:rPr lang="en-US" altLang="zh-CN" dirty="0">
                  <a:solidFill>
                    <a:srgbClr val="000000"/>
                  </a:solidFill>
                  <a:latin typeface="Arial" pitchFamily="34" charset="0"/>
                  <a:ea typeface="宋体" pitchFamily="2" charset="-122"/>
                </a:rPr>
                <a:t>OSPF</a:t>
              </a:r>
              <a:r>
                <a:rPr lang="en-US" altLang="zh-CN">
                  <a:solidFill>
                    <a:srgbClr val="000000"/>
                  </a:solidFill>
                  <a:latin typeface="Arial" pitchFamily="34" charset="0"/>
                  <a:ea typeface="宋体" pitchFamily="2" charset="-122"/>
                </a:rPr>
                <a:t>/BG</a:t>
              </a:r>
              <a:r>
                <a:rPr lang="en-US" altLang="zh-CN" dirty="0">
                  <a:solidFill>
                    <a:srgbClr val="000000"/>
                  </a:solidFill>
                  <a:latin typeface="Arial" pitchFamily="34" charset="0"/>
                  <a:ea typeface="宋体" pitchFamily="2" charset="-122"/>
                </a:rPr>
                <a:t>P</a:t>
              </a:r>
              <a:endParaRPr lang="zh-CN" altLang="en-US" dirty="0">
                <a:solidFill>
                  <a:srgbClr val="000000"/>
                </a:solidFill>
                <a:latin typeface="Arial" pitchFamily="34" charset="0"/>
                <a:ea typeface="宋体" pitchFamily="2" charset="-122"/>
              </a:endParaRPr>
            </a:p>
          </p:txBody>
        </p:sp>
        <p:cxnSp>
          <p:nvCxnSpPr>
            <p:cNvPr id="88" name="直接连接符 87">
              <a:extLst>
                <a:ext uri="{FF2B5EF4-FFF2-40B4-BE49-F238E27FC236}">
                  <a16:creationId xmlns:a16="http://schemas.microsoft.com/office/drawing/2014/main" id="{0CB190AC-F07B-4CED-B6FB-4709C7311E4F}"/>
                </a:ext>
              </a:extLst>
            </p:cNvPr>
            <p:cNvCxnSpPr>
              <a:cxnSpLocks/>
            </p:cNvCxnSpPr>
            <p:nvPr/>
          </p:nvCxnSpPr>
          <p:spPr bwMode="auto">
            <a:xfrm>
              <a:off x="1501114" y="1513957"/>
              <a:ext cx="379288" cy="0"/>
            </a:xfrm>
            <a:prstGeom prst="line">
              <a:avLst/>
            </a:prstGeom>
            <a:noFill/>
            <a:ln w="38100" cap="flat" cmpd="sng" algn="ctr">
              <a:solidFill>
                <a:srgbClr val="FFCC99">
                  <a:lumMod val="75000"/>
                </a:srgbClr>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文本框 88">
              <a:extLst>
                <a:ext uri="{FF2B5EF4-FFF2-40B4-BE49-F238E27FC236}">
                  <a16:creationId xmlns:a16="http://schemas.microsoft.com/office/drawing/2014/main" id="{E34BDCF1-5BFA-4F97-8D44-049B5046E6CE}"/>
                </a:ext>
              </a:extLst>
            </p:cNvPr>
            <p:cNvSpPr txBox="1"/>
            <p:nvPr/>
          </p:nvSpPr>
          <p:spPr>
            <a:xfrm>
              <a:off x="1889252" y="1383152"/>
              <a:ext cx="1141659" cy="261610"/>
            </a:xfrm>
            <a:prstGeom prst="rect">
              <a:avLst/>
            </a:prstGeom>
            <a:noFill/>
          </p:spPr>
          <p:txBody>
            <a:bodyPr wrap="none" rtlCol="0">
              <a:spAutoFit/>
            </a:bodyPr>
            <a:lstStyle/>
            <a:p>
              <a:pPr fontAlgn="base">
                <a:spcBef>
                  <a:spcPct val="0"/>
                </a:spcBef>
                <a:spcAft>
                  <a:spcPct val="0"/>
                </a:spcAft>
              </a:pPr>
              <a:r>
                <a:rPr lang="en-US" altLang="zh-CN" sz="1100" dirty="0">
                  <a:solidFill>
                    <a:srgbClr val="000000"/>
                  </a:solidFill>
                  <a:latin typeface="Arial" pitchFamily="34" charset="0"/>
                  <a:ea typeface="宋体" pitchFamily="2" charset="-122"/>
                </a:rPr>
                <a:t>Overlay Tunnel</a:t>
              </a:r>
              <a:endParaRPr lang="zh-CN" altLang="en-US" sz="1100" dirty="0">
                <a:solidFill>
                  <a:srgbClr val="000000"/>
                </a:solidFill>
                <a:latin typeface="Arial" pitchFamily="34" charset="0"/>
                <a:ea typeface="宋体" pitchFamily="2" charset="-122"/>
              </a:endParaRPr>
            </a:p>
          </p:txBody>
        </p:sp>
        <p:cxnSp>
          <p:nvCxnSpPr>
            <p:cNvPr id="90" name="直接连接符 89">
              <a:extLst>
                <a:ext uri="{FF2B5EF4-FFF2-40B4-BE49-F238E27FC236}">
                  <a16:creationId xmlns:a16="http://schemas.microsoft.com/office/drawing/2014/main" id="{9E2B0ED7-3A56-4C48-A904-C82A279B96CC}"/>
                </a:ext>
              </a:extLst>
            </p:cNvPr>
            <p:cNvCxnSpPr/>
            <p:nvPr/>
          </p:nvCxnSpPr>
          <p:spPr bwMode="auto">
            <a:xfrm>
              <a:off x="1379607" y="3141894"/>
              <a:ext cx="642497" cy="0"/>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文本框 90">
              <a:extLst>
                <a:ext uri="{FF2B5EF4-FFF2-40B4-BE49-F238E27FC236}">
                  <a16:creationId xmlns:a16="http://schemas.microsoft.com/office/drawing/2014/main" id="{2999138D-F9F0-4DED-84CC-791D716AD271}"/>
                </a:ext>
              </a:extLst>
            </p:cNvPr>
            <p:cNvSpPr txBox="1"/>
            <p:nvPr/>
          </p:nvSpPr>
          <p:spPr>
            <a:xfrm>
              <a:off x="1399011" y="2864426"/>
              <a:ext cx="654346" cy="261610"/>
            </a:xfrm>
            <a:prstGeom prst="rect">
              <a:avLst/>
            </a:prstGeom>
            <a:noFill/>
          </p:spPr>
          <p:txBody>
            <a:bodyPr wrap="none" rtlCol="0">
              <a:spAutoFit/>
            </a:bodyPr>
            <a:lstStyle>
              <a:defPPr>
                <a:defRPr lang="zh-CN"/>
              </a:defPPr>
              <a:lvl1pPr>
                <a:defRPr sz="1100" b="0"/>
              </a:lvl1pPr>
            </a:lstStyle>
            <a:p>
              <a:pPr fontAlgn="base">
                <a:spcBef>
                  <a:spcPct val="0"/>
                </a:spcBef>
                <a:spcAft>
                  <a:spcPct val="0"/>
                </a:spcAft>
              </a:pPr>
              <a:r>
                <a:rPr lang="en-US" altLang="zh-CN" dirty="0">
                  <a:solidFill>
                    <a:srgbClr val="000000"/>
                  </a:solidFill>
                  <a:latin typeface="Arial" pitchFamily="34" charset="0"/>
                  <a:ea typeface="宋体" pitchFamily="2" charset="-122"/>
                </a:rPr>
                <a:t>Layer 3</a:t>
              </a:r>
              <a:endParaRPr lang="zh-CN" altLang="en-US" dirty="0">
                <a:solidFill>
                  <a:srgbClr val="000000"/>
                </a:solidFill>
                <a:latin typeface="Arial" pitchFamily="34" charset="0"/>
                <a:ea typeface="宋体" pitchFamily="2" charset="-122"/>
              </a:endParaRPr>
            </a:p>
          </p:txBody>
        </p:sp>
        <p:sp>
          <p:nvSpPr>
            <p:cNvPr id="92" name="文本框 91">
              <a:extLst>
                <a:ext uri="{FF2B5EF4-FFF2-40B4-BE49-F238E27FC236}">
                  <a16:creationId xmlns:a16="http://schemas.microsoft.com/office/drawing/2014/main" id="{3FC159BC-2989-4578-BE4D-BD31187B73D4}"/>
                </a:ext>
              </a:extLst>
            </p:cNvPr>
            <p:cNvSpPr txBox="1"/>
            <p:nvPr/>
          </p:nvSpPr>
          <p:spPr>
            <a:xfrm>
              <a:off x="1399011" y="3136309"/>
              <a:ext cx="654346" cy="261610"/>
            </a:xfrm>
            <a:prstGeom prst="rect">
              <a:avLst/>
            </a:prstGeom>
            <a:noFill/>
          </p:spPr>
          <p:txBody>
            <a:bodyPr wrap="none" rtlCol="0">
              <a:spAutoFit/>
            </a:bodyPr>
            <a:lstStyle>
              <a:defPPr>
                <a:defRPr lang="zh-CN"/>
              </a:defPPr>
              <a:lvl1pPr>
                <a:defRPr sz="1100" b="0"/>
              </a:lvl1pPr>
            </a:lstStyle>
            <a:p>
              <a:pPr fontAlgn="base">
                <a:spcBef>
                  <a:spcPct val="0"/>
                </a:spcBef>
                <a:spcAft>
                  <a:spcPct val="0"/>
                </a:spcAft>
              </a:pPr>
              <a:r>
                <a:rPr lang="en-US" altLang="zh-CN" dirty="0">
                  <a:solidFill>
                    <a:srgbClr val="000000"/>
                  </a:solidFill>
                  <a:latin typeface="Arial" pitchFamily="34" charset="0"/>
                  <a:ea typeface="宋体" pitchFamily="2" charset="-122"/>
                </a:rPr>
                <a:t>Layer 2</a:t>
              </a:r>
              <a:endParaRPr lang="zh-CN" altLang="en-US" dirty="0">
                <a:solidFill>
                  <a:srgbClr val="000000"/>
                </a:solidFill>
                <a:latin typeface="Arial" pitchFamily="34" charset="0"/>
                <a:ea typeface="宋体" pitchFamily="2" charset="-122"/>
              </a:endParaRPr>
            </a:p>
          </p:txBody>
        </p:sp>
        <p:sp>
          <p:nvSpPr>
            <p:cNvPr id="93" name="矩形: 圆角 92">
              <a:extLst>
                <a:ext uri="{FF2B5EF4-FFF2-40B4-BE49-F238E27FC236}">
                  <a16:creationId xmlns:a16="http://schemas.microsoft.com/office/drawing/2014/main" id="{A184B463-EE4F-40C9-9D3B-02AE48633B1D}"/>
                </a:ext>
              </a:extLst>
            </p:cNvPr>
            <p:cNvSpPr/>
            <p:nvPr/>
          </p:nvSpPr>
          <p:spPr bwMode="auto">
            <a:xfrm>
              <a:off x="8578484" y="3661154"/>
              <a:ext cx="1512000" cy="426074"/>
            </a:xfrm>
            <a:prstGeom prst="roundRect">
              <a:avLst/>
            </a:prstGeom>
            <a:solidFill>
              <a:srgbClr val="92D050"/>
            </a:solidFill>
            <a:ln w="25400" cap="flat" cmpd="sng" algn="ctr">
              <a:noFill/>
              <a:prstDash val="soli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1" i="0" u="none" strike="noStrike" kern="0" cap="none" spc="0" normalizeH="0" baseline="0" noProof="0" dirty="0">
                  <a:ln>
                    <a:noFill/>
                  </a:ln>
                  <a:solidFill>
                    <a:srgbClr val="000000"/>
                  </a:solidFill>
                  <a:effectLst/>
                  <a:uLnTx/>
                  <a:uFillTx/>
                  <a:latin typeface="Arial" charset="0"/>
                  <a:ea typeface="宋体" charset="-122"/>
                </a:rPr>
                <a:t>IP Fabric</a:t>
              </a:r>
            </a:p>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(Static, OSPF, BGP routing)</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94" name="矩形: 圆角 93">
              <a:extLst>
                <a:ext uri="{FF2B5EF4-FFF2-40B4-BE49-F238E27FC236}">
                  <a16:creationId xmlns:a16="http://schemas.microsoft.com/office/drawing/2014/main" id="{854B8B80-7E29-47F5-9E5C-7FF583313E7F}"/>
                </a:ext>
              </a:extLst>
            </p:cNvPr>
            <p:cNvSpPr/>
            <p:nvPr/>
          </p:nvSpPr>
          <p:spPr bwMode="auto">
            <a:xfrm>
              <a:off x="8578484" y="4254693"/>
              <a:ext cx="1512000" cy="426074"/>
            </a:xfrm>
            <a:prstGeom prst="roundRect">
              <a:avLst/>
            </a:prstGeom>
            <a:solidFill>
              <a:srgbClr val="92D050"/>
            </a:solidFill>
            <a:ln w="25400" cap="flat" cmpd="sng" algn="ctr">
              <a:noFill/>
              <a:prstDash val="soli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1" i="0" u="none" strike="noStrike" kern="0" cap="none" spc="0" normalizeH="0" baseline="0" noProof="0" dirty="0">
                  <a:ln>
                    <a:noFill/>
                  </a:ln>
                  <a:solidFill>
                    <a:srgbClr val="000000"/>
                  </a:solidFill>
                  <a:effectLst/>
                  <a:uLnTx/>
                  <a:uFillTx/>
                  <a:latin typeface="Arial" charset="0"/>
                  <a:ea typeface="宋体" charset="-122"/>
                </a:rPr>
                <a:t>Overlay network</a:t>
              </a:r>
            </a:p>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(NVO3:</a:t>
              </a:r>
              <a:r>
                <a:rPr kumimoji="0" lang="zh-CN" altLang="en-US" sz="1050" b="0" i="0" u="none" strike="noStrike" kern="0" cap="none" spc="0" normalizeH="0" baseline="0" noProof="0" dirty="0">
                  <a:ln>
                    <a:noFill/>
                  </a:ln>
                  <a:solidFill>
                    <a:srgbClr val="000000"/>
                  </a:solidFill>
                  <a:effectLst/>
                  <a:uLnTx/>
                  <a:uFillTx/>
                  <a:latin typeface="Arial" charset="0"/>
                  <a:ea typeface="宋体" charset="-122"/>
                </a:rPr>
                <a:t> </a:t>
              </a:r>
              <a:r>
                <a:rPr kumimoji="0" lang="en-US" altLang="zh-CN" sz="1050" b="0" i="0" u="none" strike="noStrike" kern="0" cap="none" spc="0" normalizeH="0" baseline="0" noProof="0" dirty="0" err="1">
                  <a:ln>
                    <a:noFill/>
                  </a:ln>
                  <a:solidFill>
                    <a:srgbClr val="000000"/>
                  </a:solidFill>
                  <a:effectLst/>
                  <a:uLnTx/>
                  <a:uFillTx/>
                  <a:latin typeface="Arial" charset="0"/>
                  <a:ea typeface="宋体" charset="-122"/>
                </a:rPr>
                <a:t>VxLAN</a:t>
              </a: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 GRE)</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95" name="矩形: 圆角 94">
              <a:extLst>
                <a:ext uri="{FF2B5EF4-FFF2-40B4-BE49-F238E27FC236}">
                  <a16:creationId xmlns:a16="http://schemas.microsoft.com/office/drawing/2014/main" id="{144F8FFF-88DF-4792-9D43-C9059D2C30B5}"/>
                </a:ext>
              </a:extLst>
            </p:cNvPr>
            <p:cNvSpPr/>
            <p:nvPr/>
          </p:nvSpPr>
          <p:spPr bwMode="auto">
            <a:xfrm>
              <a:off x="8578484" y="4848238"/>
              <a:ext cx="1512000" cy="500699"/>
            </a:xfrm>
            <a:prstGeom prst="roundRect">
              <a:avLst/>
            </a:prstGeom>
            <a:solidFill>
              <a:srgbClr val="92D050"/>
            </a:solidFill>
            <a:ln w="25400" cap="flat" cmpd="sng" algn="ctr">
              <a:noFill/>
              <a:prstDash val="soli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1" i="0" u="none" strike="noStrike" kern="0" cap="none" spc="0" normalizeH="0" baseline="0" noProof="0" dirty="0">
                  <a:ln>
                    <a:noFill/>
                  </a:ln>
                  <a:solidFill>
                    <a:srgbClr val="000000"/>
                  </a:solidFill>
                  <a:effectLst/>
                  <a:uLnTx/>
                  <a:uFillTx/>
                  <a:latin typeface="Arial" charset="0"/>
                  <a:ea typeface="宋体" charset="-122"/>
                </a:rPr>
                <a:t>Network Automation</a:t>
              </a:r>
            </a:p>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a:t>
              </a:r>
              <a:r>
                <a:rPr kumimoji="0" lang="en-US" altLang="zh-CN" sz="1050" b="0" i="0" u="none" strike="noStrike" kern="0" cap="none" spc="0" normalizeH="0" baseline="0" noProof="0" dirty="0" err="1">
                  <a:ln>
                    <a:noFill/>
                  </a:ln>
                  <a:solidFill>
                    <a:srgbClr val="000000"/>
                  </a:solidFill>
                  <a:effectLst/>
                  <a:uLnTx/>
                  <a:uFillTx/>
                  <a:latin typeface="Arial" charset="0"/>
                  <a:ea typeface="宋体" charset="-122"/>
                </a:rPr>
                <a:t>Openstack</a:t>
              </a: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 integrated SDN)</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96" name="矩形 95">
              <a:extLst>
                <a:ext uri="{FF2B5EF4-FFF2-40B4-BE49-F238E27FC236}">
                  <a16:creationId xmlns:a16="http://schemas.microsoft.com/office/drawing/2014/main" id="{B379069B-A98F-41DB-AEDD-862CC98D7D44}"/>
                </a:ext>
              </a:extLst>
            </p:cNvPr>
            <p:cNvSpPr/>
            <p:nvPr/>
          </p:nvSpPr>
          <p:spPr bwMode="auto">
            <a:xfrm>
              <a:off x="5063698" y="4749844"/>
              <a:ext cx="1747330" cy="599090"/>
            </a:xfrm>
            <a:prstGeom prst="rect">
              <a:avLst/>
            </a:prstGeom>
            <a:solidFill>
              <a:srgbClr val="FFCC99"/>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charset="0"/>
                  <a:ea typeface="宋体" charset="-122"/>
                </a:rPr>
                <a:t>VNF2</a:t>
              </a:r>
              <a:endParaRPr kumimoji="0" lang="zh-CN" altLang="en-US" sz="1200" b="0" i="0" u="none" strike="noStrike" kern="0" cap="none" spc="0" normalizeH="0" baseline="0" noProof="0" dirty="0">
                <a:ln>
                  <a:noFill/>
                </a:ln>
                <a:solidFill>
                  <a:srgbClr val="000000"/>
                </a:solidFill>
                <a:effectLst/>
                <a:uLnTx/>
                <a:uFillTx/>
                <a:latin typeface="Arial" charset="0"/>
                <a:ea typeface="宋体" charset="-122"/>
              </a:endParaRPr>
            </a:p>
          </p:txBody>
        </p:sp>
        <p:sp>
          <p:nvSpPr>
            <p:cNvPr id="97" name="矩形 96">
              <a:extLst>
                <a:ext uri="{FF2B5EF4-FFF2-40B4-BE49-F238E27FC236}">
                  <a16:creationId xmlns:a16="http://schemas.microsoft.com/office/drawing/2014/main" id="{74115188-7DC5-47E8-A6FD-4B571465023C}"/>
                </a:ext>
              </a:extLst>
            </p:cNvPr>
            <p:cNvSpPr/>
            <p:nvPr/>
          </p:nvSpPr>
          <p:spPr bwMode="auto">
            <a:xfrm>
              <a:off x="2991047" y="4787320"/>
              <a:ext cx="559273" cy="515132"/>
            </a:xfrm>
            <a:prstGeom prst="rect">
              <a:avLst/>
            </a:prstGeom>
            <a:solidFill>
              <a:srgbClr val="FFCC66">
                <a:lumMod val="40000"/>
                <a:lumOff val="60000"/>
              </a:srgb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VM</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98" name="矩形: 圆角 97">
              <a:extLst>
                <a:ext uri="{FF2B5EF4-FFF2-40B4-BE49-F238E27FC236}">
                  <a16:creationId xmlns:a16="http://schemas.microsoft.com/office/drawing/2014/main" id="{5B6A1334-8E87-4A19-B091-ECFD2D71C093}"/>
                </a:ext>
              </a:extLst>
            </p:cNvPr>
            <p:cNvSpPr/>
            <p:nvPr/>
          </p:nvSpPr>
          <p:spPr bwMode="auto">
            <a:xfrm>
              <a:off x="3027829" y="4817956"/>
              <a:ext cx="468000" cy="252000"/>
            </a:xfrm>
            <a:prstGeom prst="roundRect">
              <a:avLst/>
            </a:prstGeom>
            <a:solidFill>
              <a:srgbClr val="FFFFFF"/>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a:ln>
                    <a:noFill/>
                  </a:ln>
                  <a:solidFill>
                    <a:srgbClr val="000000"/>
                  </a:solidFill>
                  <a:effectLst/>
                  <a:uLnTx/>
                  <a:uFillTx/>
                  <a:latin typeface="Arial" charset="0"/>
                  <a:ea typeface="宋体" charset="-122"/>
                </a:rPr>
                <a:t>Container</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99" name="矩形 98">
              <a:extLst>
                <a:ext uri="{FF2B5EF4-FFF2-40B4-BE49-F238E27FC236}">
                  <a16:creationId xmlns:a16="http://schemas.microsoft.com/office/drawing/2014/main" id="{0FECF920-53A4-4650-84B7-FCFDEB76FA99}"/>
                </a:ext>
              </a:extLst>
            </p:cNvPr>
            <p:cNvSpPr/>
            <p:nvPr/>
          </p:nvSpPr>
          <p:spPr bwMode="auto">
            <a:xfrm>
              <a:off x="3747337" y="4794755"/>
              <a:ext cx="1051208" cy="515132"/>
            </a:xfrm>
            <a:prstGeom prst="rect">
              <a:avLst/>
            </a:prstGeom>
            <a:solidFill>
              <a:srgbClr val="FFCC66">
                <a:lumMod val="40000"/>
                <a:lumOff val="60000"/>
              </a:srgb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VM</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100" name="矩形: 圆角 99">
              <a:extLst>
                <a:ext uri="{FF2B5EF4-FFF2-40B4-BE49-F238E27FC236}">
                  <a16:creationId xmlns:a16="http://schemas.microsoft.com/office/drawing/2014/main" id="{28022E01-EAE6-4E1A-8673-09235021FDD0}"/>
                </a:ext>
              </a:extLst>
            </p:cNvPr>
            <p:cNvSpPr/>
            <p:nvPr/>
          </p:nvSpPr>
          <p:spPr bwMode="auto">
            <a:xfrm>
              <a:off x="3784121" y="4825391"/>
              <a:ext cx="468000" cy="252000"/>
            </a:xfrm>
            <a:prstGeom prst="roundRect">
              <a:avLst/>
            </a:prstGeom>
            <a:solidFill>
              <a:srgbClr val="FFFFFF"/>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a:ln>
                    <a:noFill/>
                  </a:ln>
                  <a:solidFill>
                    <a:srgbClr val="000000"/>
                  </a:solidFill>
                  <a:effectLst/>
                  <a:uLnTx/>
                  <a:uFillTx/>
                  <a:latin typeface="Arial" charset="0"/>
                  <a:ea typeface="宋体" charset="-122"/>
                </a:rPr>
                <a:t>Container</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01" name="矩形: 圆角 100">
              <a:extLst>
                <a:ext uri="{FF2B5EF4-FFF2-40B4-BE49-F238E27FC236}">
                  <a16:creationId xmlns:a16="http://schemas.microsoft.com/office/drawing/2014/main" id="{F4015D00-5793-4F8E-AFC8-D2392DCDE62B}"/>
                </a:ext>
              </a:extLst>
            </p:cNvPr>
            <p:cNvSpPr/>
            <p:nvPr/>
          </p:nvSpPr>
          <p:spPr bwMode="auto">
            <a:xfrm>
              <a:off x="4279631" y="4825391"/>
              <a:ext cx="468000" cy="252000"/>
            </a:xfrm>
            <a:prstGeom prst="roundRect">
              <a:avLst/>
            </a:prstGeom>
            <a:solidFill>
              <a:srgbClr val="FFFFFF"/>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a:ln>
                    <a:noFill/>
                  </a:ln>
                  <a:solidFill>
                    <a:srgbClr val="000000"/>
                  </a:solidFill>
                  <a:effectLst/>
                  <a:uLnTx/>
                  <a:uFillTx/>
                  <a:latin typeface="Arial" charset="0"/>
                  <a:ea typeface="宋体" charset="-122"/>
                </a:rPr>
                <a:t>Container</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02" name="矩形 101">
              <a:extLst>
                <a:ext uri="{FF2B5EF4-FFF2-40B4-BE49-F238E27FC236}">
                  <a16:creationId xmlns:a16="http://schemas.microsoft.com/office/drawing/2014/main" id="{62460EB1-AA7E-46C0-9590-BFD839342E67}"/>
                </a:ext>
              </a:extLst>
            </p:cNvPr>
            <p:cNvSpPr/>
            <p:nvPr/>
          </p:nvSpPr>
          <p:spPr bwMode="auto">
            <a:xfrm>
              <a:off x="5676813" y="4787320"/>
              <a:ext cx="1051208" cy="515132"/>
            </a:xfrm>
            <a:prstGeom prst="rect">
              <a:avLst/>
            </a:prstGeom>
            <a:solidFill>
              <a:srgbClr val="FFCC66">
                <a:lumMod val="40000"/>
                <a:lumOff val="60000"/>
              </a:srgb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Bare Metal</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103" name="矩形: 圆角 102">
              <a:extLst>
                <a:ext uri="{FF2B5EF4-FFF2-40B4-BE49-F238E27FC236}">
                  <a16:creationId xmlns:a16="http://schemas.microsoft.com/office/drawing/2014/main" id="{4A21D5DF-D1D2-4E9A-97AB-3250A340B31D}"/>
                </a:ext>
              </a:extLst>
            </p:cNvPr>
            <p:cNvSpPr/>
            <p:nvPr/>
          </p:nvSpPr>
          <p:spPr bwMode="auto">
            <a:xfrm>
              <a:off x="5713597" y="4817956"/>
              <a:ext cx="468000" cy="252000"/>
            </a:xfrm>
            <a:prstGeom prst="roundRect">
              <a:avLst/>
            </a:prstGeom>
            <a:solidFill>
              <a:srgbClr val="FFFFFF"/>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a:ln>
                    <a:noFill/>
                  </a:ln>
                  <a:solidFill>
                    <a:srgbClr val="000000"/>
                  </a:solidFill>
                  <a:effectLst/>
                  <a:uLnTx/>
                  <a:uFillTx/>
                  <a:latin typeface="Arial" charset="0"/>
                  <a:ea typeface="宋体" charset="-122"/>
                </a:rPr>
                <a:t>Container</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04" name="矩形: 圆角 103">
              <a:extLst>
                <a:ext uri="{FF2B5EF4-FFF2-40B4-BE49-F238E27FC236}">
                  <a16:creationId xmlns:a16="http://schemas.microsoft.com/office/drawing/2014/main" id="{04F37C38-CBF7-4A42-A35B-BC06D2DA3DD3}"/>
                </a:ext>
              </a:extLst>
            </p:cNvPr>
            <p:cNvSpPr/>
            <p:nvPr/>
          </p:nvSpPr>
          <p:spPr bwMode="auto">
            <a:xfrm>
              <a:off x="6209107" y="4817956"/>
              <a:ext cx="468000" cy="252000"/>
            </a:xfrm>
            <a:prstGeom prst="roundRect">
              <a:avLst/>
            </a:prstGeom>
            <a:solidFill>
              <a:srgbClr val="FFFFFF"/>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a:ln>
                    <a:noFill/>
                  </a:ln>
                  <a:solidFill>
                    <a:srgbClr val="000000"/>
                  </a:solidFill>
                  <a:effectLst/>
                  <a:uLnTx/>
                  <a:uFillTx/>
                  <a:latin typeface="Arial" charset="0"/>
                  <a:ea typeface="宋体" charset="-122"/>
                </a:rPr>
                <a:t>Container</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05" name="矩形 104">
              <a:extLst>
                <a:ext uri="{FF2B5EF4-FFF2-40B4-BE49-F238E27FC236}">
                  <a16:creationId xmlns:a16="http://schemas.microsoft.com/office/drawing/2014/main" id="{1C4AE014-F3C5-4754-90E7-817BF0B5DFFA}"/>
                </a:ext>
              </a:extLst>
            </p:cNvPr>
            <p:cNvSpPr/>
            <p:nvPr/>
          </p:nvSpPr>
          <p:spPr bwMode="auto">
            <a:xfrm>
              <a:off x="7247622" y="3990362"/>
              <a:ext cx="721742" cy="426074"/>
            </a:xfrm>
            <a:prstGeom prst="rect">
              <a:avLst/>
            </a:prstGeom>
            <a:solidFill>
              <a:srgbClr val="00B0F0"/>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charset="0"/>
                  <a:ea typeface="宋体" charset="-122"/>
                </a:rPr>
                <a:t>VNFM</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106" name="矩形 105">
              <a:extLst>
                <a:ext uri="{FF2B5EF4-FFF2-40B4-BE49-F238E27FC236}">
                  <a16:creationId xmlns:a16="http://schemas.microsoft.com/office/drawing/2014/main" id="{043530FD-5DF3-46B1-B32E-09DDFA876EDF}"/>
                </a:ext>
              </a:extLst>
            </p:cNvPr>
            <p:cNvSpPr/>
            <p:nvPr/>
          </p:nvSpPr>
          <p:spPr bwMode="auto">
            <a:xfrm>
              <a:off x="7243032" y="4685385"/>
              <a:ext cx="721743" cy="313052"/>
            </a:xfrm>
            <a:prstGeom prst="rect">
              <a:avLst/>
            </a:prstGeom>
            <a:solidFill>
              <a:srgbClr val="00B0F0"/>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charset="0"/>
                  <a:ea typeface="宋体" charset="-122"/>
                </a:rPr>
                <a:t>VIM</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cxnSp>
          <p:nvCxnSpPr>
            <p:cNvPr id="107" name="直接箭头连接符 106">
              <a:extLst>
                <a:ext uri="{FF2B5EF4-FFF2-40B4-BE49-F238E27FC236}">
                  <a16:creationId xmlns:a16="http://schemas.microsoft.com/office/drawing/2014/main" id="{120FFA99-8F3D-4E3A-88A8-ED46DE0F686D}"/>
                </a:ext>
              </a:extLst>
            </p:cNvPr>
            <p:cNvCxnSpPr>
              <a:cxnSpLocks/>
              <a:stCxn id="105" idx="2"/>
              <a:endCxn id="106" idx="0"/>
            </p:cNvCxnSpPr>
            <p:nvPr/>
          </p:nvCxnSpPr>
          <p:spPr bwMode="auto">
            <a:xfrm flipH="1">
              <a:off x="7603904" y="4416439"/>
              <a:ext cx="4593" cy="268949"/>
            </a:xfrm>
            <a:prstGeom prst="straightConnector1">
              <a:avLst/>
            </a:prstGeom>
            <a:noFill/>
            <a:ln w="9525" cap="flat" cmpd="sng" algn="ctr">
              <a:solidFill>
                <a:srgbClr val="000000"/>
              </a:solidFill>
              <a:prstDash val="dash"/>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矩形 107">
              <a:extLst>
                <a:ext uri="{FF2B5EF4-FFF2-40B4-BE49-F238E27FC236}">
                  <a16:creationId xmlns:a16="http://schemas.microsoft.com/office/drawing/2014/main" id="{7CBC5E4A-77B7-4947-A1F9-FE9E212D1539}"/>
                </a:ext>
              </a:extLst>
            </p:cNvPr>
            <p:cNvSpPr/>
            <p:nvPr/>
          </p:nvSpPr>
          <p:spPr bwMode="auto">
            <a:xfrm>
              <a:off x="7243029" y="3340480"/>
              <a:ext cx="721742" cy="426074"/>
            </a:xfrm>
            <a:prstGeom prst="rect">
              <a:avLst/>
            </a:prstGeom>
            <a:solidFill>
              <a:srgbClr val="00B0F0"/>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charset="0"/>
                  <a:ea typeface="宋体" charset="-122"/>
                </a:rPr>
                <a:t>NFVO</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cxnSp>
          <p:nvCxnSpPr>
            <p:cNvPr id="109" name="直接箭头连接符 108">
              <a:extLst>
                <a:ext uri="{FF2B5EF4-FFF2-40B4-BE49-F238E27FC236}">
                  <a16:creationId xmlns:a16="http://schemas.microsoft.com/office/drawing/2014/main" id="{92307C50-FCFE-4511-B403-4E5218D7C579}"/>
                </a:ext>
              </a:extLst>
            </p:cNvPr>
            <p:cNvCxnSpPr>
              <a:cxnSpLocks/>
              <a:stCxn id="108" idx="2"/>
              <a:endCxn id="105" idx="0"/>
            </p:cNvCxnSpPr>
            <p:nvPr/>
          </p:nvCxnSpPr>
          <p:spPr bwMode="auto">
            <a:xfrm>
              <a:off x="7603904" y="3766554"/>
              <a:ext cx="4593" cy="223808"/>
            </a:xfrm>
            <a:prstGeom prst="straightConnector1">
              <a:avLst/>
            </a:prstGeom>
            <a:noFill/>
            <a:ln w="9525" cap="flat" cmpd="sng" algn="ctr">
              <a:solidFill>
                <a:srgbClr val="000000"/>
              </a:solidFill>
              <a:prstDash val="dash"/>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连接符: 肘形 109">
              <a:extLst>
                <a:ext uri="{FF2B5EF4-FFF2-40B4-BE49-F238E27FC236}">
                  <a16:creationId xmlns:a16="http://schemas.microsoft.com/office/drawing/2014/main" id="{5D4FFD45-BFB9-4EA5-A09B-995720025061}"/>
                </a:ext>
              </a:extLst>
            </p:cNvPr>
            <p:cNvCxnSpPr>
              <a:cxnSpLocks/>
              <a:stCxn id="57" idx="3"/>
              <a:endCxn id="111" idx="0"/>
            </p:cNvCxnSpPr>
            <p:nvPr/>
          </p:nvCxnSpPr>
          <p:spPr bwMode="auto">
            <a:xfrm>
              <a:off x="5399371" y="1463272"/>
              <a:ext cx="2266890" cy="1520384"/>
            </a:xfrm>
            <a:prstGeom prst="bentConnector2">
              <a:avLst/>
            </a:prstGeom>
            <a:noFill/>
            <a:ln w="9525" cap="flat" cmpd="sng" algn="ctr">
              <a:solidFill>
                <a:srgbClr val="000000"/>
              </a:solidFill>
              <a:prstDash val="dash"/>
              <a:round/>
              <a:headEnd type="arrow"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矩形 110">
              <a:extLst>
                <a:ext uri="{FF2B5EF4-FFF2-40B4-BE49-F238E27FC236}">
                  <a16:creationId xmlns:a16="http://schemas.microsoft.com/office/drawing/2014/main" id="{3F43EC63-806D-4406-9170-F33D3A2CE5F5}"/>
                </a:ext>
              </a:extLst>
            </p:cNvPr>
            <p:cNvSpPr/>
            <p:nvPr/>
          </p:nvSpPr>
          <p:spPr bwMode="auto">
            <a:xfrm>
              <a:off x="7080684" y="2983657"/>
              <a:ext cx="1171152" cy="2544938"/>
            </a:xfrm>
            <a:prstGeom prst="rect">
              <a:avLst/>
            </a:prstGeom>
            <a:noFill/>
            <a:ln w="9525" cap="flat" cmpd="sng" algn="ctr">
              <a:solidFill>
                <a:srgbClr val="000000"/>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91"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cxnSp>
          <p:nvCxnSpPr>
            <p:cNvPr id="112" name="连接符: 肘形 111">
              <a:extLst>
                <a:ext uri="{FF2B5EF4-FFF2-40B4-BE49-F238E27FC236}">
                  <a16:creationId xmlns:a16="http://schemas.microsoft.com/office/drawing/2014/main" id="{B8A450CE-C9F9-47BB-9051-1504D6734FAA}"/>
                </a:ext>
              </a:extLst>
            </p:cNvPr>
            <p:cNvCxnSpPr>
              <a:cxnSpLocks/>
              <a:stCxn id="106" idx="1"/>
              <a:endCxn id="96" idx="3"/>
            </p:cNvCxnSpPr>
            <p:nvPr/>
          </p:nvCxnSpPr>
          <p:spPr bwMode="auto">
            <a:xfrm rot="10800000" flipV="1">
              <a:off x="6811028" y="4841912"/>
              <a:ext cx="432000" cy="207478"/>
            </a:xfrm>
            <a:prstGeom prst="bentConnector3">
              <a:avLst/>
            </a:prstGeom>
            <a:noFill/>
            <a:ln w="9525" cap="flat" cmpd="sng" algn="ctr">
              <a:solidFill>
                <a:srgbClr val="000000"/>
              </a:solidFill>
              <a:prstDash val="dash"/>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 name="矩形 112">
              <a:extLst>
                <a:ext uri="{FF2B5EF4-FFF2-40B4-BE49-F238E27FC236}">
                  <a16:creationId xmlns:a16="http://schemas.microsoft.com/office/drawing/2014/main" id="{41F9A3BA-B0B4-4D0B-B445-1719072C93A6}"/>
                </a:ext>
              </a:extLst>
            </p:cNvPr>
            <p:cNvSpPr/>
            <p:nvPr/>
          </p:nvSpPr>
          <p:spPr bwMode="auto">
            <a:xfrm>
              <a:off x="7243032" y="5099440"/>
              <a:ext cx="721743" cy="313052"/>
            </a:xfrm>
            <a:prstGeom prst="rect">
              <a:avLst/>
            </a:prstGeom>
            <a:solidFill>
              <a:srgbClr val="00B0F0"/>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0" rIns="36000" bIns="0" numCol="1" rtlCol="0" anchor="ctr" anchorCtr="0" compatLnSpc="1">
              <a:prstTxWarp prst="textNoShape">
                <a:avLst/>
              </a:prstTxWarp>
            </a:bodyPr>
            <a:lstStyle/>
            <a:p>
              <a:pPr marL="0" marR="0" lvl="0" indent="0" algn="ctr" defTabSz="914400" eaLnBrk="0" fontAlgn="base" latinLnBrk="0" hangingPunct="0">
                <a:lnSpc>
                  <a:spcPct val="8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charset="0"/>
                  <a:ea typeface="宋体" charset="-122"/>
                </a:rPr>
                <a:t>PaaS</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cxnSp>
          <p:nvCxnSpPr>
            <p:cNvPr id="114" name="连接符: 肘形 113">
              <a:extLst>
                <a:ext uri="{FF2B5EF4-FFF2-40B4-BE49-F238E27FC236}">
                  <a16:creationId xmlns:a16="http://schemas.microsoft.com/office/drawing/2014/main" id="{34FC8411-3C1D-4737-93C1-14E43384653B}"/>
                </a:ext>
              </a:extLst>
            </p:cNvPr>
            <p:cNvCxnSpPr>
              <a:cxnSpLocks/>
              <a:stCxn id="113" idx="1"/>
              <a:endCxn id="96" idx="3"/>
            </p:cNvCxnSpPr>
            <p:nvPr/>
          </p:nvCxnSpPr>
          <p:spPr bwMode="auto">
            <a:xfrm rot="10800000">
              <a:off x="6811028" y="5049394"/>
              <a:ext cx="432000" cy="206577"/>
            </a:xfrm>
            <a:prstGeom prst="bentConnector3">
              <a:avLst/>
            </a:prstGeom>
            <a:noFill/>
            <a:ln w="9525" cap="flat" cmpd="sng" algn="ctr">
              <a:solidFill>
                <a:srgbClr val="000000"/>
              </a:solidFill>
              <a:prstDash val="dash"/>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连接符: 肘形 114">
              <a:extLst>
                <a:ext uri="{FF2B5EF4-FFF2-40B4-BE49-F238E27FC236}">
                  <a16:creationId xmlns:a16="http://schemas.microsoft.com/office/drawing/2014/main" id="{4A2FB49B-9C49-4453-8685-47A6A593F6DB}"/>
                </a:ext>
              </a:extLst>
            </p:cNvPr>
            <p:cNvCxnSpPr>
              <a:stCxn id="113" idx="3"/>
              <a:endCxn id="105" idx="3"/>
            </p:cNvCxnSpPr>
            <p:nvPr/>
          </p:nvCxnSpPr>
          <p:spPr bwMode="auto">
            <a:xfrm flipV="1">
              <a:off x="7964775" y="4203403"/>
              <a:ext cx="4593" cy="1052567"/>
            </a:xfrm>
            <a:prstGeom prst="bentConnector3">
              <a:avLst>
                <a:gd name="adj1" fmla="val 4505073"/>
              </a:avLst>
            </a:prstGeom>
            <a:noFill/>
            <a:ln w="9525" cap="flat" cmpd="sng" algn="ctr">
              <a:solidFill>
                <a:srgbClr val="000000"/>
              </a:solidFill>
              <a:prstDash val="dash"/>
              <a:round/>
              <a:headEnd type="arrow"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椭圆 115">
              <a:extLst>
                <a:ext uri="{FF2B5EF4-FFF2-40B4-BE49-F238E27FC236}">
                  <a16:creationId xmlns:a16="http://schemas.microsoft.com/office/drawing/2014/main" id="{41A4C57B-ED58-439D-BE11-7A209E32BE9D}"/>
                </a:ext>
              </a:extLst>
            </p:cNvPr>
            <p:cNvSpPr/>
            <p:nvPr/>
          </p:nvSpPr>
          <p:spPr bwMode="auto">
            <a:xfrm>
              <a:off x="3219303" y="2323378"/>
              <a:ext cx="2834842" cy="625107"/>
            </a:xfrm>
            <a:prstGeom prst="ellipse">
              <a:avLst/>
            </a:prstGeom>
            <a:solidFill>
              <a:srgbClr val="FFB8B8">
                <a:alpha val="50196"/>
              </a:srgbClr>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391" eaLnBrk="1" fontAlgn="base" latinLnBrk="0" hangingPunct="1">
                <a:lnSpc>
                  <a:spcPct val="100000"/>
                </a:lnSpc>
                <a:spcBef>
                  <a:spcPct val="0"/>
                </a:spcBef>
                <a:spcAft>
                  <a:spcPct val="0"/>
                </a:spcAft>
                <a:buClr>
                  <a:srgbClr val="CC9900"/>
                </a:buClr>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charset="0"/>
                  <a:ea typeface="宋体" charset="-122"/>
                </a:rPr>
                <a:t>IP Fabric</a:t>
              </a:r>
              <a:endParaRPr kumimoji="0" lang="zh-CN" altLang="en-US" sz="14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17" name="矩形: 圆角 116">
              <a:extLst>
                <a:ext uri="{FF2B5EF4-FFF2-40B4-BE49-F238E27FC236}">
                  <a16:creationId xmlns:a16="http://schemas.microsoft.com/office/drawing/2014/main" id="{C909B306-29E8-45AE-9AE5-EDCE6DBABB4D}"/>
                </a:ext>
              </a:extLst>
            </p:cNvPr>
            <p:cNvSpPr/>
            <p:nvPr/>
          </p:nvSpPr>
          <p:spPr bwMode="auto">
            <a:xfrm>
              <a:off x="8578484" y="1792741"/>
              <a:ext cx="1512000" cy="426074"/>
            </a:xfrm>
            <a:prstGeom prst="roundRect">
              <a:avLst/>
            </a:prstGeom>
            <a:solidFill>
              <a:srgbClr val="92D050"/>
            </a:solidFill>
            <a:ln w="25400" cap="flat" cmpd="sng" algn="ctr">
              <a:noFill/>
              <a:prstDash val="soli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1" i="0" u="none" strike="noStrike" kern="0" cap="none" spc="0" normalizeH="0" baseline="0" noProof="0" dirty="0">
                  <a:ln>
                    <a:noFill/>
                  </a:ln>
                  <a:solidFill>
                    <a:srgbClr val="000000"/>
                  </a:solidFill>
                  <a:effectLst/>
                  <a:uLnTx/>
                  <a:uFillTx/>
                  <a:latin typeface="Arial" charset="0"/>
                  <a:ea typeface="宋体" charset="-122"/>
                </a:rPr>
                <a:t>NFV-based</a:t>
              </a:r>
            </a:p>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(VNF, MANO, VIM)</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118" name="矩形: 圆角 117">
              <a:extLst>
                <a:ext uri="{FF2B5EF4-FFF2-40B4-BE49-F238E27FC236}">
                  <a16:creationId xmlns:a16="http://schemas.microsoft.com/office/drawing/2014/main" id="{5D2C4D4B-BEA9-408D-B707-4A54972E0B8C}"/>
                </a:ext>
              </a:extLst>
            </p:cNvPr>
            <p:cNvSpPr/>
            <p:nvPr/>
          </p:nvSpPr>
          <p:spPr bwMode="auto">
            <a:xfrm>
              <a:off x="8578484" y="2386280"/>
              <a:ext cx="1512000" cy="426074"/>
            </a:xfrm>
            <a:prstGeom prst="roundRect">
              <a:avLst/>
            </a:prstGeom>
            <a:solidFill>
              <a:srgbClr val="92D050"/>
            </a:solidFill>
            <a:ln w="25400" cap="flat" cmpd="sng" algn="ctr">
              <a:noFill/>
              <a:prstDash val="soli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1" i="0" u="none" strike="noStrike" kern="0" cap="none" spc="0" normalizeH="0" baseline="0" noProof="0" dirty="0">
                  <a:ln>
                    <a:noFill/>
                  </a:ln>
                  <a:solidFill>
                    <a:srgbClr val="000000"/>
                  </a:solidFill>
                  <a:effectLst/>
                  <a:uLnTx/>
                  <a:uFillTx/>
                  <a:latin typeface="Arial" charset="0"/>
                  <a:ea typeface="宋体" charset="-122"/>
                </a:rPr>
                <a:t>Container-based</a:t>
              </a:r>
            </a:p>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(PaaS)</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119" name="矩形: 圆角 118">
              <a:extLst>
                <a:ext uri="{FF2B5EF4-FFF2-40B4-BE49-F238E27FC236}">
                  <a16:creationId xmlns:a16="http://schemas.microsoft.com/office/drawing/2014/main" id="{69978E7B-B33F-4314-8D3A-B593D2CE343F}"/>
                </a:ext>
              </a:extLst>
            </p:cNvPr>
            <p:cNvSpPr/>
            <p:nvPr/>
          </p:nvSpPr>
          <p:spPr bwMode="auto">
            <a:xfrm>
              <a:off x="8578484" y="2979820"/>
              <a:ext cx="1512000" cy="513870"/>
            </a:xfrm>
            <a:prstGeom prst="roundRect">
              <a:avLst/>
            </a:prstGeom>
            <a:solidFill>
              <a:srgbClr val="92D050"/>
            </a:solidFill>
            <a:ln w="25400" cap="flat" cmpd="sng" algn="ctr">
              <a:noFill/>
              <a:prstDash val="soli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1" i="0" u="none" strike="noStrike" kern="0" cap="none" spc="0" normalizeH="0" baseline="0" noProof="0" dirty="0">
                  <a:ln>
                    <a:noFill/>
                  </a:ln>
                  <a:solidFill>
                    <a:srgbClr val="000000"/>
                  </a:solidFill>
                  <a:effectLst/>
                  <a:uLnTx/>
                  <a:uFillTx/>
                  <a:latin typeface="Arial" charset="0"/>
                  <a:ea typeface="宋体" charset="-122"/>
                </a:rPr>
                <a:t>Virtualization</a:t>
              </a:r>
            </a:p>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(VM, DPDK, SRIOV, </a:t>
              </a:r>
              <a:r>
                <a:rPr kumimoji="0" lang="en-US" altLang="zh-CN" sz="1050" b="0" i="0" u="none" strike="noStrike" kern="0" cap="none" spc="0" normalizeH="0" baseline="0" noProof="0" dirty="0" err="1">
                  <a:ln>
                    <a:noFill/>
                  </a:ln>
                  <a:solidFill>
                    <a:srgbClr val="000000"/>
                  </a:solidFill>
                  <a:effectLst/>
                  <a:uLnTx/>
                  <a:uFillTx/>
                  <a:latin typeface="Arial" charset="0"/>
                  <a:ea typeface="宋体" charset="-122"/>
                </a:rPr>
                <a:t>vSwtich</a:t>
              </a: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 IPVLAN )</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120" name="矩形: 圆角 119">
              <a:extLst>
                <a:ext uri="{FF2B5EF4-FFF2-40B4-BE49-F238E27FC236}">
                  <a16:creationId xmlns:a16="http://schemas.microsoft.com/office/drawing/2014/main" id="{F2911649-3F76-4D4E-A620-28BD2611E66D}"/>
                </a:ext>
              </a:extLst>
            </p:cNvPr>
            <p:cNvSpPr/>
            <p:nvPr/>
          </p:nvSpPr>
          <p:spPr bwMode="auto">
            <a:xfrm>
              <a:off x="8578486" y="1335755"/>
              <a:ext cx="1512001" cy="289441"/>
            </a:xfrm>
            <a:prstGeom prst="roundRect">
              <a:avLst/>
            </a:prstGeom>
            <a:solidFill>
              <a:srgbClr val="FFB8B8"/>
            </a:solidFill>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fontAlgn="base">
                <a:spcBef>
                  <a:spcPct val="0"/>
                </a:spcBef>
                <a:spcAft>
                  <a:spcPct val="0"/>
                </a:spcAft>
              </a:pPr>
              <a:r>
                <a:rPr lang="en-US" altLang="zh-CN" sz="1100" b="1">
                  <a:solidFill>
                    <a:srgbClr val="000000"/>
                  </a:solidFill>
                  <a:latin typeface="Arial" pitchFamily="34" charset="0"/>
                  <a:ea typeface="宋体" pitchFamily="2" charset="-122"/>
                </a:rPr>
                <a:t>Key technologies</a:t>
              </a:r>
              <a:endParaRPr lang="zh-CN" altLang="en-US" sz="1100" b="1" dirty="0">
                <a:solidFill>
                  <a:srgbClr val="000000"/>
                </a:solidFill>
                <a:latin typeface="Arial" pitchFamily="34" charset="0"/>
                <a:ea typeface="宋体" pitchFamily="2" charset="-122"/>
              </a:endParaRPr>
            </a:p>
          </p:txBody>
        </p:sp>
      </p:grpSp>
      <p:sp>
        <p:nvSpPr>
          <p:cNvPr id="121" name="矩形 120">
            <a:extLst>
              <a:ext uri="{FF2B5EF4-FFF2-40B4-BE49-F238E27FC236}">
                <a16:creationId xmlns:a16="http://schemas.microsoft.com/office/drawing/2014/main" id="{3EA17ABC-FA88-472E-AC12-5714037D3762}"/>
              </a:ext>
            </a:extLst>
          </p:cNvPr>
          <p:cNvSpPr/>
          <p:nvPr/>
        </p:nvSpPr>
        <p:spPr bwMode="auto">
          <a:xfrm>
            <a:off x="0" y="6325849"/>
            <a:ext cx="12191999" cy="350509"/>
          </a:xfrm>
          <a:prstGeom prst="rect">
            <a:avLst/>
          </a:prstGeom>
          <a:solidFill>
            <a:srgbClr val="C00000"/>
          </a:solidFill>
          <a:ln w="25400" cap="flat" cmpd="sng" algn="ctr">
            <a:noFill/>
            <a:prstDash val="soli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高扩展、虚拟化和自动化推动云数据中心网络发展</a:t>
            </a:r>
          </a:p>
        </p:txBody>
      </p:sp>
    </p:spTree>
    <p:extLst>
      <p:ext uri="{BB962C8B-B14F-4D97-AF65-F5344CB8AC3E}">
        <p14:creationId xmlns:p14="http://schemas.microsoft.com/office/powerpoint/2010/main" val="3968115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6F770D5-516C-4CDA-8F41-36142A7BEC1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zh-CN" altLang="en-US" sz="2800" b="1" kern="0" dirty="0">
                <a:solidFill>
                  <a:srgbClr val="C00000"/>
                </a:solidFill>
                <a:latin typeface="微软雅黑" panose="020B0503020204020204" pitchFamily="34" charset="-122"/>
                <a:ea typeface="微软雅黑" panose="020B0503020204020204" pitchFamily="34" charset="-122"/>
                <a:cs typeface="+mn-cs"/>
              </a:rPr>
              <a:t>分层网络模型</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4" name="云形 3">
            <a:extLst>
              <a:ext uri="{FF2B5EF4-FFF2-40B4-BE49-F238E27FC236}">
                <a16:creationId xmlns:a16="http://schemas.microsoft.com/office/drawing/2014/main" id="{4E91C471-F9D3-4BDD-9FCB-721B2A68E5F8}"/>
              </a:ext>
            </a:extLst>
          </p:cNvPr>
          <p:cNvSpPr/>
          <p:nvPr/>
        </p:nvSpPr>
        <p:spPr bwMode="auto">
          <a:xfrm>
            <a:off x="1864046" y="1297132"/>
            <a:ext cx="1485924" cy="616997"/>
          </a:xfrm>
          <a:prstGeom prst="cloud">
            <a:avLst/>
          </a:prstGeom>
          <a:noFill/>
          <a:ln w="6350" cap="flat" cmpd="sng" algn="ctr">
            <a:solidFill>
              <a:srgbClr val="000000"/>
            </a:solidFill>
            <a:prstDash val="solid"/>
          </a:ln>
          <a:effectLst/>
        </p:spPr>
        <p:txBody>
          <a:bodyPr vert="horz" wrap="square" lIns="91440" tIns="0" rIns="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zh-CN" altLang="en-US" sz="1100" b="0" i="0" u="none" strike="noStrike" kern="0" cap="none" spc="0" normalizeH="0" baseline="0" noProof="0" dirty="0">
                <a:ln>
                  <a:noFill/>
                </a:ln>
                <a:solidFill>
                  <a:srgbClr val="000000"/>
                </a:solidFill>
                <a:effectLst/>
                <a:uLnTx/>
                <a:uFillTx/>
                <a:latin typeface="Arial" charset="0"/>
                <a:ea typeface="宋体" charset="-122"/>
              </a:rPr>
              <a:t>外部网络</a:t>
            </a:r>
          </a:p>
        </p:txBody>
      </p:sp>
      <p:sp>
        <p:nvSpPr>
          <p:cNvPr id="6" name="矩形 1">
            <a:extLst>
              <a:ext uri="{FF2B5EF4-FFF2-40B4-BE49-F238E27FC236}">
                <a16:creationId xmlns:a16="http://schemas.microsoft.com/office/drawing/2014/main" id="{A1AC75D9-620A-4F2B-8F0C-248EA1D9B31D}"/>
              </a:ext>
            </a:extLst>
          </p:cNvPr>
          <p:cNvSpPr/>
          <p:nvPr/>
        </p:nvSpPr>
        <p:spPr bwMode="auto">
          <a:xfrm>
            <a:off x="4403004" y="3109156"/>
            <a:ext cx="6212302" cy="1388418"/>
          </a:xfrm>
          <a:custGeom>
            <a:avLst/>
            <a:gdLst>
              <a:gd name="connsiteX0" fmla="*/ 0 w 3767138"/>
              <a:gd name="connsiteY0" fmla="*/ 0 h 757237"/>
              <a:gd name="connsiteX1" fmla="*/ 3767138 w 3767138"/>
              <a:gd name="connsiteY1" fmla="*/ 0 h 757237"/>
              <a:gd name="connsiteX2" fmla="*/ 3767138 w 3767138"/>
              <a:gd name="connsiteY2" fmla="*/ 757237 h 757237"/>
              <a:gd name="connsiteX3" fmla="*/ 0 w 3767138"/>
              <a:gd name="connsiteY3" fmla="*/ 757237 h 757237"/>
              <a:gd name="connsiteX4" fmla="*/ 0 w 3767138"/>
              <a:gd name="connsiteY4" fmla="*/ 0 h 757237"/>
              <a:gd name="connsiteX0" fmla="*/ 0 w 3767138"/>
              <a:gd name="connsiteY0" fmla="*/ 0 h 757237"/>
              <a:gd name="connsiteX1" fmla="*/ 3767138 w 3767138"/>
              <a:gd name="connsiteY1" fmla="*/ 0 h 757237"/>
              <a:gd name="connsiteX2" fmla="*/ 3048000 w 3767138"/>
              <a:gd name="connsiteY2" fmla="*/ 757237 h 757237"/>
              <a:gd name="connsiteX3" fmla="*/ 0 w 3767138"/>
              <a:gd name="connsiteY3" fmla="*/ 757237 h 757237"/>
              <a:gd name="connsiteX4" fmla="*/ 0 w 3767138"/>
              <a:gd name="connsiteY4" fmla="*/ 0 h 757237"/>
              <a:gd name="connsiteX0" fmla="*/ 862012 w 4629150"/>
              <a:gd name="connsiteY0" fmla="*/ 0 h 757237"/>
              <a:gd name="connsiteX1" fmla="*/ 4629150 w 4629150"/>
              <a:gd name="connsiteY1" fmla="*/ 0 h 757237"/>
              <a:gd name="connsiteX2" fmla="*/ 3910012 w 4629150"/>
              <a:gd name="connsiteY2" fmla="*/ 757237 h 757237"/>
              <a:gd name="connsiteX3" fmla="*/ 0 w 4629150"/>
              <a:gd name="connsiteY3" fmla="*/ 757237 h 757237"/>
              <a:gd name="connsiteX4" fmla="*/ 862012 w 4629150"/>
              <a:gd name="connsiteY4" fmla="*/ 0 h 757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9150" h="757237">
                <a:moveTo>
                  <a:pt x="862012" y="0"/>
                </a:moveTo>
                <a:lnTo>
                  <a:pt x="4629150" y="0"/>
                </a:lnTo>
                <a:lnTo>
                  <a:pt x="3910012" y="757237"/>
                </a:lnTo>
                <a:lnTo>
                  <a:pt x="0" y="757237"/>
                </a:lnTo>
                <a:lnTo>
                  <a:pt x="862012" y="0"/>
                </a:lnTo>
                <a:close/>
              </a:path>
            </a:pathLst>
          </a:custGeom>
          <a:solidFill>
            <a:srgbClr val="FFCC66">
              <a:lumMod val="20000"/>
              <a:lumOff val="80000"/>
              <a:alpha val="69804"/>
            </a:srgbClr>
          </a:solidFill>
          <a:ln w="25400" cap="flat" cmpd="sng" algn="ctr">
            <a:solidFill>
              <a:srgbClr val="FFCC66">
                <a:lumMod val="60000"/>
                <a:lumOff val="40000"/>
              </a:srgbClr>
            </a:solidFill>
            <a:prstDash val="soli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8" name="矩形: 圆角 7">
            <a:extLst>
              <a:ext uri="{FF2B5EF4-FFF2-40B4-BE49-F238E27FC236}">
                <a16:creationId xmlns:a16="http://schemas.microsoft.com/office/drawing/2014/main" id="{0499B759-39AF-4584-8F04-9DC4EC7468A2}"/>
              </a:ext>
            </a:extLst>
          </p:cNvPr>
          <p:cNvSpPr/>
          <p:nvPr/>
        </p:nvSpPr>
        <p:spPr bwMode="auto">
          <a:xfrm>
            <a:off x="8159195" y="3203313"/>
            <a:ext cx="662774" cy="1143633"/>
          </a:xfrm>
          <a:prstGeom prst="roundRect">
            <a:avLst/>
          </a:prstGeom>
          <a:solidFill>
            <a:srgbClr val="66CCFF"/>
          </a:solidFill>
          <a:ln w="25400" cap="flat" cmpd="sng" algn="ctr">
            <a:noFill/>
            <a:prstDash val="solid"/>
          </a:ln>
          <a:effectLst/>
        </p:spPr>
        <p:txBody>
          <a:bodyPr vert="horz" wrap="square" lIns="72000" tIns="0" rIns="72000" bIns="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100" b="0" i="0" u="none" strike="noStrike" kern="0" cap="none" spc="0" normalizeH="0" baseline="0" noProof="0" dirty="0">
                <a:ln>
                  <a:noFill/>
                </a:ln>
                <a:solidFill>
                  <a:srgbClr val="000000"/>
                </a:solidFill>
                <a:effectLst/>
                <a:uLnTx/>
                <a:uFillTx/>
                <a:latin typeface="Arial" charset="0"/>
                <a:ea typeface="宋体" charset="-122"/>
              </a:rPr>
              <a:t>Server</a:t>
            </a:r>
            <a:endParaRPr kumimoji="0" lang="zh-CN" altLang="en-US" sz="1100" b="0" i="0" u="none" strike="noStrike" kern="0" cap="none" spc="0" normalizeH="0" baseline="0" noProof="0" dirty="0">
              <a:ln>
                <a:noFill/>
              </a:ln>
              <a:solidFill>
                <a:srgbClr val="000000"/>
              </a:solidFill>
              <a:effectLst/>
              <a:uLnTx/>
              <a:uFillTx/>
              <a:latin typeface="Arial" charset="0"/>
              <a:ea typeface="宋体" charset="-122"/>
            </a:endParaRPr>
          </a:p>
        </p:txBody>
      </p:sp>
      <p:sp>
        <p:nvSpPr>
          <p:cNvPr id="9" name="矩形 1">
            <a:extLst>
              <a:ext uri="{FF2B5EF4-FFF2-40B4-BE49-F238E27FC236}">
                <a16:creationId xmlns:a16="http://schemas.microsoft.com/office/drawing/2014/main" id="{5087ABCB-13D0-4241-8853-19D83349A97C}"/>
              </a:ext>
            </a:extLst>
          </p:cNvPr>
          <p:cNvSpPr/>
          <p:nvPr/>
        </p:nvSpPr>
        <p:spPr bwMode="auto">
          <a:xfrm>
            <a:off x="4334945" y="4629112"/>
            <a:ext cx="6212302" cy="1268421"/>
          </a:xfrm>
          <a:custGeom>
            <a:avLst/>
            <a:gdLst>
              <a:gd name="connsiteX0" fmla="*/ 0 w 3767138"/>
              <a:gd name="connsiteY0" fmla="*/ 0 h 757237"/>
              <a:gd name="connsiteX1" fmla="*/ 3767138 w 3767138"/>
              <a:gd name="connsiteY1" fmla="*/ 0 h 757237"/>
              <a:gd name="connsiteX2" fmla="*/ 3767138 w 3767138"/>
              <a:gd name="connsiteY2" fmla="*/ 757237 h 757237"/>
              <a:gd name="connsiteX3" fmla="*/ 0 w 3767138"/>
              <a:gd name="connsiteY3" fmla="*/ 757237 h 757237"/>
              <a:gd name="connsiteX4" fmla="*/ 0 w 3767138"/>
              <a:gd name="connsiteY4" fmla="*/ 0 h 757237"/>
              <a:gd name="connsiteX0" fmla="*/ 0 w 3767138"/>
              <a:gd name="connsiteY0" fmla="*/ 0 h 757237"/>
              <a:gd name="connsiteX1" fmla="*/ 3767138 w 3767138"/>
              <a:gd name="connsiteY1" fmla="*/ 0 h 757237"/>
              <a:gd name="connsiteX2" fmla="*/ 3048000 w 3767138"/>
              <a:gd name="connsiteY2" fmla="*/ 757237 h 757237"/>
              <a:gd name="connsiteX3" fmla="*/ 0 w 3767138"/>
              <a:gd name="connsiteY3" fmla="*/ 757237 h 757237"/>
              <a:gd name="connsiteX4" fmla="*/ 0 w 3767138"/>
              <a:gd name="connsiteY4" fmla="*/ 0 h 757237"/>
              <a:gd name="connsiteX0" fmla="*/ 862012 w 4629150"/>
              <a:gd name="connsiteY0" fmla="*/ 0 h 757237"/>
              <a:gd name="connsiteX1" fmla="*/ 4629150 w 4629150"/>
              <a:gd name="connsiteY1" fmla="*/ 0 h 757237"/>
              <a:gd name="connsiteX2" fmla="*/ 3910012 w 4629150"/>
              <a:gd name="connsiteY2" fmla="*/ 757237 h 757237"/>
              <a:gd name="connsiteX3" fmla="*/ 0 w 4629150"/>
              <a:gd name="connsiteY3" fmla="*/ 757237 h 757237"/>
              <a:gd name="connsiteX4" fmla="*/ 862012 w 4629150"/>
              <a:gd name="connsiteY4" fmla="*/ 0 h 757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9150" h="757237">
                <a:moveTo>
                  <a:pt x="862012" y="0"/>
                </a:moveTo>
                <a:lnTo>
                  <a:pt x="4629150" y="0"/>
                </a:lnTo>
                <a:lnTo>
                  <a:pt x="3910012" y="757237"/>
                </a:lnTo>
                <a:lnTo>
                  <a:pt x="0" y="757237"/>
                </a:lnTo>
                <a:lnTo>
                  <a:pt x="862012" y="0"/>
                </a:lnTo>
                <a:close/>
              </a:path>
            </a:pathLst>
          </a:custGeom>
          <a:solidFill>
            <a:srgbClr val="E0E0E0">
              <a:alpha val="69804"/>
            </a:srgbClr>
          </a:solidFill>
          <a:ln w="25400" cap="flat" cmpd="sng" algn="ctr">
            <a:solidFill>
              <a:srgbClr val="B2B2B2"/>
            </a:solidFill>
            <a:prstDash val="soli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10" name="矩形 1">
            <a:extLst>
              <a:ext uri="{FF2B5EF4-FFF2-40B4-BE49-F238E27FC236}">
                <a16:creationId xmlns:a16="http://schemas.microsoft.com/office/drawing/2014/main" id="{A4023FEE-9C04-4E5F-AE67-35121FCA26EC}"/>
              </a:ext>
            </a:extLst>
          </p:cNvPr>
          <p:cNvSpPr/>
          <p:nvPr/>
        </p:nvSpPr>
        <p:spPr bwMode="auto">
          <a:xfrm>
            <a:off x="4345841" y="1539206"/>
            <a:ext cx="6212302" cy="1398765"/>
          </a:xfrm>
          <a:custGeom>
            <a:avLst/>
            <a:gdLst>
              <a:gd name="connsiteX0" fmla="*/ 0 w 3767138"/>
              <a:gd name="connsiteY0" fmla="*/ 0 h 757237"/>
              <a:gd name="connsiteX1" fmla="*/ 3767138 w 3767138"/>
              <a:gd name="connsiteY1" fmla="*/ 0 h 757237"/>
              <a:gd name="connsiteX2" fmla="*/ 3767138 w 3767138"/>
              <a:gd name="connsiteY2" fmla="*/ 757237 h 757237"/>
              <a:gd name="connsiteX3" fmla="*/ 0 w 3767138"/>
              <a:gd name="connsiteY3" fmla="*/ 757237 h 757237"/>
              <a:gd name="connsiteX4" fmla="*/ 0 w 3767138"/>
              <a:gd name="connsiteY4" fmla="*/ 0 h 757237"/>
              <a:gd name="connsiteX0" fmla="*/ 0 w 3767138"/>
              <a:gd name="connsiteY0" fmla="*/ 0 h 757237"/>
              <a:gd name="connsiteX1" fmla="*/ 3767138 w 3767138"/>
              <a:gd name="connsiteY1" fmla="*/ 0 h 757237"/>
              <a:gd name="connsiteX2" fmla="*/ 3048000 w 3767138"/>
              <a:gd name="connsiteY2" fmla="*/ 757237 h 757237"/>
              <a:gd name="connsiteX3" fmla="*/ 0 w 3767138"/>
              <a:gd name="connsiteY3" fmla="*/ 757237 h 757237"/>
              <a:gd name="connsiteX4" fmla="*/ 0 w 3767138"/>
              <a:gd name="connsiteY4" fmla="*/ 0 h 757237"/>
              <a:gd name="connsiteX0" fmla="*/ 862012 w 4629150"/>
              <a:gd name="connsiteY0" fmla="*/ 0 h 757237"/>
              <a:gd name="connsiteX1" fmla="*/ 4629150 w 4629150"/>
              <a:gd name="connsiteY1" fmla="*/ 0 h 757237"/>
              <a:gd name="connsiteX2" fmla="*/ 3910012 w 4629150"/>
              <a:gd name="connsiteY2" fmla="*/ 757237 h 757237"/>
              <a:gd name="connsiteX3" fmla="*/ 0 w 4629150"/>
              <a:gd name="connsiteY3" fmla="*/ 757237 h 757237"/>
              <a:gd name="connsiteX4" fmla="*/ 862012 w 4629150"/>
              <a:gd name="connsiteY4" fmla="*/ 0 h 757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9150" h="757237">
                <a:moveTo>
                  <a:pt x="862012" y="0"/>
                </a:moveTo>
                <a:lnTo>
                  <a:pt x="4629150" y="0"/>
                </a:lnTo>
                <a:lnTo>
                  <a:pt x="3910012" y="757237"/>
                </a:lnTo>
                <a:lnTo>
                  <a:pt x="0" y="757237"/>
                </a:lnTo>
                <a:lnTo>
                  <a:pt x="862012" y="0"/>
                </a:lnTo>
                <a:close/>
              </a:path>
            </a:pathLst>
          </a:custGeom>
          <a:solidFill>
            <a:srgbClr val="CCFFCC">
              <a:alpha val="69804"/>
            </a:srgbClr>
          </a:solidFill>
          <a:ln w="25400" cap="flat" cmpd="sng" algn="ctr">
            <a:solidFill>
              <a:srgbClr val="92D050"/>
            </a:solidFill>
            <a:prstDash val="soli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pic>
        <p:nvPicPr>
          <p:cNvPr id="11" name="Picture 44" descr="Router3">
            <a:extLst>
              <a:ext uri="{FF2B5EF4-FFF2-40B4-BE49-F238E27FC236}">
                <a16:creationId xmlns:a16="http://schemas.microsoft.com/office/drawing/2014/main" id="{789C3D95-B632-41FB-A932-7A6A1BF33E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02706" y="4842835"/>
            <a:ext cx="346075" cy="30321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4" descr="Router3">
            <a:extLst>
              <a:ext uri="{FF2B5EF4-FFF2-40B4-BE49-F238E27FC236}">
                <a16:creationId xmlns:a16="http://schemas.microsoft.com/office/drawing/2014/main" id="{CE35EF46-814D-4AED-AB3B-D7DC285A551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03255" y="5277015"/>
            <a:ext cx="346075" cy="30321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4" descr="Router3">
            <a:extLst>
              <a:ext uri="{FF2B5EF4-FFF2-40B4-BE49-F238E27FC236}">
                <a16:creationId xmlns:a16="http://schemas.microsoft.com/office/drawing/2014/main" id="{3A043728-ABC5-4F07-ABA4-D71EBC03E1B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31356" y="4840324"/>
            <a:ext cx="346075" cy="30321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4" descr="Router3">
            <a:extLst>
              <a:ext uri="{FF2B5EF4-FFF2-40B4-BE49-F238E27FC236}">
                <a16:creationId xmlns:a16="http://schemas.microsoft.com/office/drawing/2014/main" id="{303F5EFC-444D-41AB-9D55-FE7807D8BA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1905" y="5274504"/>
            <a:ext cx="346075" cy="30321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9" descr="Lanswitch3">
            <a:extLst>
              <a:ext uri="{FF2B5EF4-FFF2-40B4-BE49-F238E27FC236}">
                <a16:creationId xmlns:a16="http://schemas.microsoft.com/office/drawing/2014/main" id="{3B09B688-C68E-4BFD-A55F-9991F197302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7560" y="5299108"/>
            <a:ext cx="455613" cy="30003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9" descr="Lanswitch3">
            <a:extLst>
              <a:ext uri="{FF2B5EF4-FFF2-40B4-BE49-F238E27FC236}">
                <a16:creationId xmlns:a16="http://schemas.microsoft.com/office/drawing/2014/main" id="{B217431D-3515-4190-B255-060F462B2C8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68821" y="4878022"/>
            <a:ext cx="455613" cy="300037"/>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直接连接符 16">
            <a:extLst>
              <a:ext uri="{FF2B5EF4-FFF2-40B4-BE49-F238E27FC236}">
                <a16:creationId xmlns:a16="http://schemas.microsoft.com/office/drawing/2014/main" id="{F264CB1F-D82E-4B46-8577-5698671D55B3}"/>
              </a:ext>
            </a:extLst>
          </p:cNvPr>
          <p:cNvCxnSpPr>
            <a:stCxn id="11" idx="3"/>
            <a:endCxn id="13" idx="1"/>
          </p:cNvCxnSpPr>
          <p:nvPr/>
        </p:nvCxnSpPr>
        <p:spPr bwMode="auto">
          <a:xfrm flipV="1">
            <a:off x="5848781" y="4991930"/>
            <a:ext cx="282575" cy="2511"/>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连接符 17">
            <a:extLst>
              <a:ext uri="{FF2B5EF4-FFF2-40B4-BE49-F238E27FC236}">
                <a16:creationId xmlns:a16="http://schemas.microsoft.com/office/drawing/2014/main" id="{678DC4CE-399E-4262-A257-5A04B4D51542}"/>
              </a:ext>
            </a:extLst>
          </p:cNvPr>
          <p:cNvCxnSpPr>
            <a:stCxn id="12" idx="3"/>
            <a:endCxn id="14" idx="1"/>
          </p:cNvCxnSpPr>
          <p:nvPr/>
        </p:nvCxnSpPr>
        <p:spPr bwMode="auto">
          <a:xfrm flipV="1">
            <a:off x="5449330" y="5426110"/>
            <a:ext cx="282575" cy="2511"/>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a:extLst>
              <a:ext uri="{FF2B5EF4-FFF2-40B4-BE49-F238E27FC236}">
                <a16:creationId xmlns:a16="http://schemas.microsoft.com/office/drawing/2014/main" id="{03A01E38-5B8D-47E5-A009-954F4C77D6F9}"/>
              </a:ext>
            </a:extLst>
          </p:cNvPr>
          <p:cNvCxnSpPr>
            <a:cxnSpLocks/>
            <a:stCxn id="13" idx="3"/>
            <a:endCxn id="16" idx="1"/>
          </p:cNvCxnSpPr>
          <p:nvPr/>
        </p:nvCxnSpPr>
        <p:spPr bwMode="auto">
          <a:xfrm>
            <a:off x="6477431" y="4991930"/>
            <a:ext cx="991390" cy="36111"/>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a:extLst>
              <a:ext uri="{FF2B5EF4-FFF2-40B4-BE49-F238E27FC236}">
                <a16:creationId xmlns:a16="http://schemas.microsoft.com/office/drawing/2014/main" id="{30F020E6-21D7-40EF-A86F-29000437336E}"/>
              </a:ext>
            </a:extLst>
          </p:cNvPr>
          <p:cNvCxnSpPr>
            <a:cxnSpLocks/>
            <a:stCxn id="14" idx="3"/>
            <a:endCxn id="16" idx="1"/>
          </p:cNvCxnSpPr>
          <p:nvPr/>
        </p:nvCxnSpPr>
        <p:spPr bwMode="auto">
          <a:xfrm flipV="1">
            <a:off x="6077980" y="5028041"/>
            <a:ext cx="1390841" cy="39806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a:extLst>
              <a:ext uri="{FF2B5EF4-FFF2-40B4-BE49-F238E27FC236}">
                <a16:creationId xmlns:a16="http://schemas.microsoft.com/office/drawing/2014/main" id="{63033C36-E39D-4E59-9BB2-6865BB6CE11B}"/>
              </a:ext>
            </a:extLst>
          </p:cNvPr>
          <p:cNvCxnSpPr>
            <a:cxnSpLocks/>
            <a:stCxn id="13" idx="2"/>
            <a:endCxn id="14" idx="3"/>
          </p:cNvCxnSpPr>
          <p:nvPr/>
        </p:nvCxnSpPr>
        <p:spPr bwMode="auto">
          <a:xfrm flipH="1">
            <a:off x="6077980" y="5143536"/>
            <a:ext cx="226414" cy="28257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连接符 21">
            <a:extLst>
              <a:ext uri="{FF2B5EF4-FFF2-40B4-BE49-F238E27FC236}">
                <a16:creationId xmlns:a16="http://schemas.microsoft.com/office/drawing/2014/main" id="{80997EF2-7F41-418C-BDD0-6C9738132395}"/>
              </a:ext>
            </a:extLst>
          </p:cNvPr>
          <p:cNvCxnSpPr>
            <a:cxnSpLocks/>
            <a:stCxn id="14" idx="3"/>
            <a:endCxn id="15" idx="1"/>
          </p:cNvCxnSpPr>
          <p:nvPr/>
        </p:nvCxnSpPr>
        <p:spPr bwMode="auto">
          <a:xfrm>
            <a:off x="6077980" y="5426110"/>
            <a:ext cx="1069580" cy="2301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22">
            <a:extLst>
              <a:ext uri="{FF2B5EF4-FFF2-40B4-BE49-F238E27FC236}">
                <a16:creationId xmlns:a16="http://schemas.microsoft.com/office/drawing/2014/main" id="{C6008E10-9F3D-4F11-8246-FD9F83BC4046}"/>
              </a:ext>
            </a:extLst>
          </p:cNvPr>
          <p:cNvCxnSpPr>
            <a:stCxn id="13" idx="3"/>
            <a:endCxn id="15" idx="1"/>
          </p:cNvCxnSpPr>
          <p:nvPr/>
        </p:nvCxnSpPr>
        <p:spPr bwMode="auto">
          <a:xfrm>
            <a:off x="6477431" y="4991930"/>
            <a:ext cx="670129" cy="45719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4" name="Picture 49" descr="Lanswitch3">
            <a:extLst>
              <a:ext uri="{FF2B5EF4-FFF2-40B4-BE49-F238E27FC236}">
                <a16:creationId xmlns:a16="http://schemas.microsoft.com/office/drawing/2014/main" id="{4E0EC410-3484-4E51-AF71-DCEF199A67E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0261" y="5301491"/>
            <a:ext cx="455613" cy="300037"/>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9" descr="Lanswitch3">
            <a:extLst>
              <a:ext uri="{FF2B5EF4-FFF2-40B4-BE49-F238E27FC236}">
                <a16:creationId xmlns:a16="http://schemas.microsoft.com/office/drawing/2014/main" id="{41062F0C-FB2E-4FD9-B39A-DDFA12100B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0006" y="4870484"/>
            <a:ext cx="455613" cy="300037"/>
          </a:xfrm>
          <a:prstGeom prst="rect">
            <a:avLst/>
          </a:prstGeom>
          <a:noFill/>
          <a:extLst>
            <a:ext uri="{909E8E84-426E-40DD-AFC4-6F175D3DCCD1}">
              <a14:hiddenFill xmlns:a14="http://schemas.microsoft.com/office/drawing/2010/main">
                <a:solidFill>
                  <a:srgbClr val="FFFFFF"/>
                </a:solidFill>
              </a14:hiddenFill>
            </a:ext>
          </a:extLst>
        </p:spPr>
      </p:pic>
      <p:sp>
        <p:nvSpPr>
          <p:cNvPr id="26" name="椭圆 25">
            <a:extLst>
              <a:ext uri="{FF2B5EF4-FFF2-40B4-BE49-F238E27FC236}">
                <a16:creationId xmlns:a16="http://schemas.microsoft.com/office/drawing/2014/main" id="{75C069D8-5514-451E-8A37-BBE9C8D97121}"/>
              </a:ext>
            </a:extLst>
          </p:cNvPr>
          <p:cNvSpPr/>
          <p:nvPr/>
        </p:nvSpPr>
        <p:spPr bwMode="auto">
          <a:xfrm rot="21323387">
            <a:off x="5918765" y="4941425"/>
            <a:ext cx="1709271" cy="631640"/>
          </a:xfrm>
          <a:prstGeom prst="ellipse">
            <a:avLst/>
          </a:prstGeom>
          <a:solidFill>
            <a:srgbClr val="FFCC66">
              <a:alpha val="50196"/>
            </a:srgbClr>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7" name="文本框 26">
            <a:extLst>
              <a:ext uri="{FF2B5EF4-FFF2-40B4-BE49-F238E27FC236}">
                <a16:creationId xmlns:a16="http://schemas.microsoft.com/office/drawing/2014/main" id="{125AC8D4-3E3E-4345-B7A7-E4B5BC5AF4DF}"/>
              </a:ext>
            </a:extLst>
          </p:cNvPr>
          <p:cNvSpPr txBox="1"/>
          <p:nvPr/>
        </p:nvSpPr>
        <p:spPr>
          <a:xfrm>
            <a:off x="5539180" y="4662497"/>
            <a:ext cx="381836" cy="261610"/>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CE</a:t>
            </a:r>
            <a:endParaRPr lang="zh-CN" altLang="en-US" sz="1050" dirty="0">
              <a:solidFill>
                <a:srgbClr val="000000"/>
              </a:solidFill>
              <a:latin typeface="Arial" pitchFamily="34" charset="0"/>
              <a:ea typeface="宋体" pitchFamily="2" charset="-122"/>
            </a:endParaRPr>
          </a:p>
        </p:txBody>
      </p:sp>
      <p:sp>
        <p:nvSpPr>
          <p:cNvPr id="28" name="文本框 27">
            <a:extLst>
              <a:ext uri="{FF2B5EF4-FFF2-40B4-BE49-F238E27FC236}">
                <a16:creationId xmlns:a16="http://schemas.microsoft.com/office/drawing/2014/main" id="{7C0CAA56-292F-48F0-93A0-291C514B9F94}"/>
              </a:ext>
            </a:extLst>
          </p:cNvPr>
          <p:cNvSpPr txBox="1"/>
          <p:nvPr/>
        </p:nvSpPr>
        <p:spPr>
          <a:xfrm>
            <a:off x="5157344" y="5075636"/>
            <a:ext cx="381836" cy="261610"/>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CE</a:t>
            </a:r>
            <a:endParaRPr lang="zh-CN" altLang="en-US" sz="1050" dirty="0">
              <a:solidFill>
                <a:srgbClr val="000000"/>
              </a:solidFill>
              <a:latin typeface="Arial" pitchFamily="34" charset="0"/>
              <a:ea typeface="宋体" pitchFamily="2" charset="-122"/>
            </a:endParaRPr>
          </a:p>
        </p:txBody>
      </p:sp>
      <p:sp>
        <p:nvSpPr>
          <p:cNvPr id="29" name="文本框 28">
            <a:extLst>
              <a:ext uri="{FF2B5EF4-FFF2-40B4-BE49-F238E27FC236}">
                <a16:creationId xmlns:a16="http://schemas.microsoft.com/office/drawing/2014/main" id="{7FCE7187-6517-4365-B424-1F763C2C0E9D}"/>
              </a:ext>
            </a:extLst>
          </p:cNvPr>
          <p:cNvSpPr txBox="1"/>
          <p:nvPr/>
        </p:nvSpPr>
        <p:spPr>
          <a:xfrm>
            <a:off x="5920850" y="4636101"/>
            <a:ext cx="737702" cy="253916"/>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SDN GW</a:t>
            </a:r>
            <a:endParaRPr lang="zh-CN" altLang="en-US" sz="1050" dirty="0">
              <a:solidFill>
                <a:srgbClr val="000000"/>
              </a:solidFill>
              <a:latin typeface="Arial" pitchFamily="34" charset="0"/>
              <a:ea typeface="宋体" pitchFamily="2" charset="-122"/>
            </a:endParaRPr>
          </a:p>
        </p:txBody>
      </p:sp>
      <p:sp>
        <p:nvSpPr>
          <p:cNvPr id="30" name="文本框 29">
            <a:extLst>
              <a:ext uri="{FF2B5EF4-FFF2-40B4-BE49-F238E27FC236}">
                <a16:creationId xmlns:a16="http://schemas.microsoft.com/office/drawing/2014/main" id="{42244E27-56F7-484D-ABDF-0D54E008BBBA}"/>
              </a:ext>
            </a:extLst>
          </p:cNvPr>
          <p:cNvSpPr txBox="1"/>
          <p:nvPr/>
        </p:nvSpPr>
        <p:spPr>
          <a:xfrm>
            <a:off x="5536091" y="5514974"/>
            <a:ext cx="737702" cy="253916"/>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SDN GW</a:t>
            </a:r>
            <a:endParaRPr lang="zh-CN" altLang="en-US" sz="1050" dirty="0">
              <a:solidFill>
                <a:srgbClr val="000000"/>
              </a:solidFill>
              <a:latin typeface="Arial" pitchFamily="34" charset="0"/>
              <a:ea typeface="宋体" pitchFamily="2" charset="-122"/>
            </a:endParaRPr>
          </a:p>
        </p:txBody>
      </p:sp>
      <p:sp>
        <p:nvSpPr>
          <p:cNvPr id="31" name="文本框 30">
            <a:extLst>
              <a:ext uri="{FF2B5EF4-FFF2-40B4-BE49-F238E27FC236}">
                <a16:creationId xmlns:a16="http://schemas.microsoft.com/office/drawing/2014/main" id="{5894EC5B-3E42-4617-8AAA-15CD138E3889}"/>
              </a:ext>
            </a:extLst>
          </p:cNvPr>
          <p:cNvSpPr txBox="1"/>
          <p:nvPr/>
        </p:nvSpPr>
        <p:spPr>
          <a:xfrm>
            <a:off x="6760006" y="4629112"/>
            <a:ext cx="530915" cy="253916"/>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Spine</a:t>
            </a:r>
            <a:endParaRPr lang="zh-CN" altLang="en-US" sz="1050" dirty="0">
              <a:solidFill>
                <a:srgbClr val="000000"/>
              </a:solidFill>
              <a:latin typeface="Arial" pitchFamily="34" charset="0"/>
              <a:ea typeface="宋体" pitchFamily="2" charset="-122"/>
            </a:endParaRPr>
          </a:p>
        </p:txBody>
      </p:sp>
      <p:sp>
        <p:nvSpPr>
          <p:cNvPr id="32" name="文本框 31">
            <a:extLst>
              <a:ext uri="{FF2B5EF4-FFF2-40B4-BE49-F238E27FC236}">
                <a16:creationId xmlns:a16="http://schemas.microsoft.com/office/drawing/2014/main" id="{35FCDBA4-77E5-47C3-8B07-BF98B8A0F7D0}"/>
              </a:ext>
            </a:extLst>
          </p:cNvPr>
          <p:cNvSpPr txBox="1"/>
          <p:nvPr/>
        </p:nvSpPr>
        <p:spPr>
          <a:xfrm>
            <a:off x="6498324" y="5082741"/>
            <a:ext cx="550151" cy="253916"/>
          </a:xfrm>
          <a:prstGeom prst="rect">
            <a:avLst/>
          </a:prstGeom>
          <a:noFill/>
        </p:spPr>
        <p:txBody>
          <a:bodyPr wrap="none" rtlCol="0">
            <a:spAutoFit/>
          </a:bodyPr>
          <a:lstStyle/>
          <a:p>
            <a:pPr fontAlgn="base">
              <a:spcBef>
                <a:spcPct val="0"/>
              </a:spcBef>
              <a:spcAft>
                <a:spcPct val="0"/>
              </a:spcAft>
            </a:pPr>
            <a:r>
              <a:rPr lang="en-US" altLang="zh-CN" sz="1050" dirty="0">
                <a:solidFill>
                  <a:srgbClr val="FF0000"/>
                </a:solidFill>
                <a:latin typeface="Arial" pitchFamily="34" charset="0"/>
                <a:ea typeface="宋体" pitchFamily="2" charset="-122"/>
              </a:rPr>
              <a:t>OSPF</a:t>
            </a:r>
            <a:endParaRPr lang="zh-CN" altLang="en-US" sz="1050" dirty="0">
              <a:solidFill>
                <a:srgbClr val="FF0000"/>
              </a:solidFill>
              <a:latin typeface="Arial" pitchFamily="34" charset="0"/>
              <a:ea typeface="宋体" pitchFamily="2" charset="-122"/>
            </a:endParaRPr>
          </a:p>
        </p:txBody>
      </p:sp>
      <p:cxnSp>
        <p:nvCxnSpPr>
          <p:cNvPr id="33" name="直接箭头连接符 32">
            <a:extLst>
              <a:ext uri="{FF2B5EF4-FFF2-40B4-BE49-F238E27FC236}">
                <a16:creationId xmlns:a16="http://schemas.microsoft.com/office/drawing/2014/main" id="{F822EFA3-5DC5-4336-B72F-E4B0155CF793}"/>
              </a:ext>
            </a:extLst>
          </p:cNvPr>
          <p:cNvCxnSpPr/>
          <p:nvPr/>
        </p:nvCxnSpPr>
        <p:spPr bwMode="auto">
          <a:xfrm>
            <a:off x="5731905" y="5870871"/>
            <a:ext cx="1688973" cy="0"/>
          </a:xfrm>
          <a:prstGeom prst="straightConnector1">
            <a:avLst/>
          </a:prstGeom>
          <a:noFill/>
          <a:ln w="9525" cap="flat" cmpd="sng" algn="ctr">
            <a:solidFill>
              <a:srgbClr val="C00000"/>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文本框 33">
            <a:extLst>
              <a:ext uri="{FF2B5EF4-FFF2-40B4-BE49-F238E27FC236}">
                <a16:creationId xmlns:a16="http://schemas.microsoft.com/office/drawing/2014/main" id="{BB412AE0-8CCA-4BB7-BCD0-82E4DEE2EC8C}"/>
              </a:ext>
            </a:extLst>
          </p:cNvPr>
          <p:cNvSpPr txBox="1"/>
          <p:nvPr/>
        </p:nvSpPr>
        <p:spPr>
          <a:xfrm>
            <a:off x="6448702" y="5681699"/>
            <a:ext cx="723275" cy="253916"/>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IP Fabric</a:t>
            </a:r>
            <a:endParaRPr lang="zh-CN" altLang="en-US" sz="1050" dirty="0">
              <a:solidFill>
                <a:srgbClr val="000000"/>
              </a:solidFill>
              <a:latin typeface="Arial" pitchFamily="34" charset="0"/>
              <a:ea typeface="宋体" pitchFamily="2" charset="-122"/>
            </a:endParaRPr>
          </a:p>
        </p:txBody>
      </p:sp>
      <p:cxnSp>
        <p:nvCxnSpPr>
          <p:cNvPr id="35" name="直接连接符 34">
            <a:extLst>
              <a:ext uri="{FF2B5EF4-FFF2-40B4-BE49-F238E27FC236}">
                <a16:creationId xmlns:a16="http://schemas.microsoft.com/office/drawing/2014/main" id="{A9B75561-50B0-4527-92E9-950D7683F407}"/>
              </a:ext>
            </a:extLst>
          </p:cNvPr>
          <p:cNvCxnSpPr>
            <a:cxnSpLocks/>
            <a:stCxn id="10" idx="2"/>
            <a:endCxn id="9" idx="2"/>
          </p:cNvCxnSpPr>
          <p:nvPr/>
        </p:nvCxnSpPr>
        <p:spPr bwMode="auto">
          <a:xfrm flipH="1">
            <a:off x="9582166" y="2937971"/>
            <a:ext cx="10896" cy="2959562"/>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连接符 35">
            <a:extLst>
              <a:ext uri="{FF2B5EF4-FFF2-40B4-BE49-F238E27FC236}">
                <a16:creationId xmlns:a16="http://schemas.microsoft.com/office/drawing/2014/main" id="{EB198E6A-3C5C-4B58-A117-A3F2BBCBE211}"/>
              </a:ext>
            </a:extLst>
          </p:cNvPr>
          <p:cNvCxnSpPr>
            <a:cxnSpLocks/>
            <a:stCxn id="10" idx="1"/>
            <a:endCxn id="9" idx="1"/>
          </p:cNvCxnSpPr>
          <p:nvPr/>
        </p:nvCxnSpPr>
        <p:spPr bwMode="auto">
          <a:xfrm flipH="1">
            <a:off x="10547247" y="1539206"/>
            <a:ext cx="10896" cy="3089906"/>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a:extLst>
              <a:ext uri="{FF2B5EF4-FFF2-40B4-BE49-F238E27FC236}">
                <a16:creationId xmlns:a16="http://schemas.microsoft.com/office/drawing/2014/main" id="{071BE5C0-93C2-4B93-B36A-BC809B98DAC3}"/>
              </a:ext>
            </a:extLst>
          </p:cNvPr>
          <p:cNvCxnSpPr>
            <a:cxnSpLocks/>
            <a:stCxn id="10" idx="3"/>
            <a:endCxn id="9" idx="3"/>
          </p:cNvCxnSpPr>
          <p:nvPr/>
        </p:nvCxnSpPr>
        <p:spPr bwMode="auto">
          <a:xfrm flipH="1">
            <a:off x="4334945" y="2937971"/>
            <a:ext cx="10896" cy="2959562"/>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a:extLst>
              <a:ext uri="{FF2B5EF4-FFF2-40B4-BE49-F238E27FC236}">
                <a16:creationId xmlns:a16="http://schemas.microsoft.com/office/drawing/2014/main" id="{6E5D5FF4-8BB5-43BB-8A91-0657DE7FA917}"/>
              </a:ext>
            </a:extLst>
          </p:cNvPr>
          <p:cNvCxnSpPr>
            <a:cxnSpLocks/>
            <a:stCxn id="10" idx="0"/>
            <a:endCxn id="9" idx="0"/>
          </p:cNvCxnSpPr>
          <p:nvPr/>
        </p:nvCxnSpPr>
        <p:spPr bwMode="auto">
          <a:xfrm flipH="1">
            <a:off x="5491762" y="1539206"/>
            <a:ext cx="10896" cy="3089906"/>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矩形 38">
            <a:extLst>
              <a:ext uri="{FF2B5EF4-FFF2-40B4-BE49-F238E27FC236}">
                <a16:creationId xmlns:a16="http://schemas.microsoft.com/office/drawing/2014/main" id="{6D2996C9-C688-4886-A51B-ED2AF068D343}"/>
              </a:ext>
            </a:extLst>
          </p:cNvPr>
          <p:cNvSpPr/>
          <p:nvPr/>
        </p:nvSpPr>
        <p:spPr bwMode="auto">
          <a:xfrm>
            <a:off x="8407133" y="4773688"/>
            <a:ext cx="369732" cy="201802"/>
          </a:xfrm>
          <a:prstGeom prst="rect">
            <a:avLst/>
          </a:prstGeom>
          <a:solidFill>
            <a:srgbClr val="00B0F0"/>
          </a:solidFill>
          <a:ln w="25400" cap="flat" cmpd="sng" algn="ctr">
            <a:noFill/>
            <a:prstDash val="solid"/>
          </a:ln>
          <a:effectLst/>
        </p:spPr>
        <p:txBody>
          <a:bodyPr vert="horz" wrap="square" lIns="36000" tIns="0" rIns="3600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FF0000"/>
                </a:solidFill>
                <a:effectLst/>
                <a:uLnTx/>
                <a:uFillTx/>
                <a:latin typeface="Arial" charset="0"/>
                <a:ea typeface="宋体" charset="-122"/>
              </a:rPr>
              <a:t>VM</a:t>
            </a:r>
            <a:endParaRPr kumimoji="0" lang="zh-CN" altLang="en-US" sz="1200" b="0" i="0" u="none" strike="noStrike" kern="0" cap="none" spc="0" normalizeH="0" baseline="0" noProof="0" dirty="0">
              <a:ln>
                <a:noFill/>
              </a:ln>
              <a:solidFill>
                <a:srgbClr val="FF0000"/>
              </a:solidFill>
              <a:effectLst/>
              <a:uLnTx/>
              <a:uFillTx/>
              <a:latin typeface="Arial" charset="0"/>
              <a:ea typeface="宋体" charset="-122"/>
            </a:endParaRPr>
          </a:p>
        </p:txBody>
      </p:sp>
      <p:sp>
        <p:nvSpPr>
          <p:cNvPr id="40" name="矩形 39">
            <a:extLst>
              <a:ext uri="{FF2B5EF4-FFF2-40B4-BE49-F238E27FC236}">
                <a16:creationId xmlns:a16="http://schemas.microsoft.com/office/drawing/2014/main" id="{ED04E7B4-F907-4475-84DA-49BF05BE7423}"/>
              </a:ext>
            </a:extLst>
          </p:cNvPr>
          <p:cNvSpPr/>
          <p:nvPr/>
        </p:nvSpPr>
        <p:spPr bwMode="auto">
          <a:xfrm>
            <a:off x="8321194" y="5032750"/>
            <a:ext cx="369732" cy="201802"/>
          </a:xfrm>
          <a:prstGeom prst="rect">
            <a:avLst/>
          </a:prstGeom>
          <a:solidFill>
            <a:srgbClr val="00B0F0"/>
          </a:solidFill>
          <a:ln w="25400" cap="flat" cmpd="sng" algn="ctr">
            <a:noFill/>
            <a:prstDash val="solid"/>
          </a:ln>
          <a:effectLst/>
        </p:spPr>
        <p:txBody>
          <a:bodyPr vert="horz" wrap="square" lIns="36000" tIns="0" rIns="3600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FF0000"/>
                </a:solidFill>
                <a:effectLst/>
                <a:uLnTx/>
                <a:uFillTx/>
                <a:latin typeface="Arial" charset="0"/>
                <a:ea typeface="宋体" charset="-122"/>
              </a:rPr>
              <a:t>VM</a:t>
            </a:r>
            <a:endParaRPr kumimoji="0" lang="zh-CN" altLang="en-US" sz="1200" b="0" i="0" u="none" strike="noStrike" kern="0" cap="none" spc="0" normalizeH="0" baseline="0" noProof="0" dirty="0">
              <a:ln>
                <a:noFill/>
              </a:ln>
              <a:solidFill>
                <a:srgbClr val="FF0000"/>
              </a:solidFill>
              <a:effectLst/>
              <a:uLnTx/>
              <a:uFillTx/>
              <a:latin typeface="Arial" charset="0"/>
              <a:ea typeface="宋体" charset="-122"/>
            </a:endParaRPr>
          </a:p>
        </p:txBody>
      </p:sp>
      <p:sp>
        <p:nvSpPr>
          <p:cNvPr id="41" name="矩形 40">
            <a:extLst>
              <a:ext uri="{FF2B5EF4-FFF2-40B4-BE49-F238E27FC236}">
                <a16:creationId xmlns:a16="http://schemas.microsoft.com/office/drawing/2014/main" id="{8670012D-F092-4A6C-890A-DE7B395C26F7}"/>
              </a:ext>
            </a:extLst>
          </p:cNvPr>
          <p:cNvSpPr/>
          <p:nvPr/>
        </p:nvSpPr>
        <p:spPr bwMode="auto">
          <a:xfrm>
            <a:off x="8174972" y="5295675"/>
            <a:ext cx="369732" cy="201802"/>
          </a:xfrm>
          <a:prstGeom prst="rect">
            <a:avLst/>
          </a:prstGeom>
          <a:solidFill>
            <a:srgbClr val="00B0F0"/>
          </a:solidFill>
          <a:ln w="25400" cap="flat" cmpd="sng" algn="ctr">
            <a:noFill/>
            <a:prstDash val="solid"/>
          </a:ln>
          <a:effectLst/>
        </p:spPr>
        <p:txBody>
          <a:bodyPr vert="horz" wrap="square" lIns="36000" tIns="0" rIns="3600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FF0000"/>
                </a:solidFill>
                <a:effectLst/>
                <a:uLnTx/>
                <a:uFillTx/>
                <a:latin typeface="Arial" charset="0"/>
                <a:ea typeface="宋体" charset="-122"/>
              </a:rPr>
              <a:t>VM</a:t>
            </a:r>
            <a:endParaRPr kumimoji="0" lang="zh-CN" altLang="en-US" sz="1200" b="0" i="0" u="none" strike="noStrike" kern="0" cap="none" spc="0" normalizeH="0" baseline="0" noProof="0" dirty="0">
              <a:ln>
                <a:noFill/>
              </a:ln>
              <a:solidFill>
                <a:srgbClr val="FF0000"/>
              </a:solidFill>
              <a:effectLst/>
              <a:uLnTx/>
              <a:uFillTx/>
              <a:latin typeface="Arial" charset="0"/>
              <a:ea typeface="宋体" charset="-122"/>
            </a:endParaRPr>
          </a:p>
        </p:txBody>
      </p:sp>
      <p:sp>
        <p:nvSpPr>
          <p:cNvPr id="42" name="矩形 41">
            <a:extLst>
              <a:ext uri="{FF2B5EF4-FFF2-40B4-BE49-F238E27FC236}">
                <a16:creationId xmlns:a16="http://schemas.microsoft.com/office/drawing/2014/main" id="{E689AC79-E103-46DA-9752-8C373E272EDD}"/>
              </a:ext>
            </a:extLst>
          </p:cNvPr>
          <p:cNvSpPr/>
          <p:nvPr/>
        </p:nvSpPr>
        <p:spPr bwMode="auto">
          <a:xfrm>
            <a:off x="8013961" y="5527639"/>
            <a:ext cx="369732" cy="201802"/>
          </a:xfrm>
          <a:prstGeom prst="rect">
            <a:avLst/>
          </a:prstGeom>
          <a:solidFill>
            <a:srgbClr val="00B0F0"/>
          </a:solidFill>
          <a:ln w="25400" cap="flat" cmpd="sng" algn="ctr">
            <a:noFill/>
            <a:prstDash val="solid"/>
          </a:ln>
          <a:effectLst/>
        </p:spPr>
        <p:txBody>
          <a:bodyPr vert="horz" wrap="square" lIns="36000" tIns="0" rIns="3600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FF0000"/>
                </a:solidFill>
                <a:effectLst/>
                <a:uLnTx/>
                <a:uFillTx/>
                <a:latin typeface="Arial" charset="0"/>
                <a:ea typeface="宋体" charset="-122"/>
              </a:rPr>
              <a:t>VM</a:t>
            </a:r>
            <a:endParaRPr kumimoji="0" lang="zh-CN" altLang="en-US" sz="1200" b="0" i="0" u="none" strike="noStrike" kern="0" cap="none" spc="0" normalizeH="0" baseline="0" noProof="0" dirty="0">
              <a:ln>
                <a:noFill/>
              </a:ln>
              <a:solidFill>
                <a:srgbClr val="FF0000"/>
              </a:solidFill>
              <a:effectLst/>
              <a:uLnTx/>
              <a:uFillTx/>
              <a:latin typeface="Arial" charset="0"/>
              <a:ea typeface="宋体" charset="-122"/>
            </a:endParaRPr>
          </a:p>
        </p:txBody>
      </p:sp>
      <p:cxnSp>
        <p:nvCxnSpPr>
          <p:cNvPr id="43" name="直接连接符 42">
            <a:extLst>
              <a:ext uri="{FF2B5EF4-FFF2-40B4-BE49-F238E27FC236}">
                <a16:creationId xmlns:a16="http://schemas.microsoft.com/office/drawing/2014/main" id="{E3669FF0-76C1-4BB8-9454-82187654A9A6}"/>
              </a:ext>
            </a:extLst>
          </p:cNvPr>
          <p:cNvCxnSpPr>
            <a:cxnSpLocks/>
            <a:stCxn id="16" idx="3"/>
            <a:endCxn id="39" idx="1"/>
          </p:cNvCxnSpPr>
          <p:nvPr/>
        </p:nvCxnSpPr>
        <p:spPr bwMode="auto">
          <a:xfrm flipV="1">
            <a:off x="7924434" y="4874589"/>
            <a:ext cx="482699" cy="153452"/>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43">
            <a:extLst>
              <a:ext uri="{FF2B5EF4-FFF2-40B4-BE49-F238E27FC236}">
                <a16:creationId xmlns:a16="http://schemas.microsoft.com/office/drawing/2014/main" id="{B72A462A-7A81-4B07-A81A-3635FAFBC281}"/>
              </a:ext>
            </a:extLst>
          </p:cNvPr>
          <p:cNvCxnSpPr>
            <a:stCxn id="16" idx="3"/>
            <a:endCxn id="40" idx="1"/>
          </p:cNvCxnSpPr>
          <p:nvPr/>
        </p:nvCxnSpPr>
        <p:spPr bwMode="auto">
          <a:xfrm>
            <a:off x="7924434" y="5028041"/>
            <a:ext cx="396760" cy="10561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a:extLst>
              <a:ext uri="{FF2B5EF4-FFF2-40B4-BE49-F238E27FC236}">
                <a16:creationId xmlns:a16="http://schemas.microsoft.com/office/drawing/2014/main" id="{6DC8EEA7-2A28-4319-A93B-28C9684E1B7F}"/>
              </a:ext>
            </a:extLst>
          </p:cNvPr>
          <p:cNvCxnSpPr>
            <a:cxnSpLocks/>
            <a:stCxn id="15" idx="3"/>
            <a:endCxn id="41" idx="1"/>
          </p:cNvCxnSpPr>
          <p:nvPr/>
        </p:nvCxnSpPr>
        <p:spPr bwMode="auto">
          <a:xfrm flipV="1">
            <a:off x="7603173" y="5396576"/>
            <a:ext cx="571799" cy="52551"/>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a:extLst>
              <a:ext uri="{FF2B5EF4-FFF2-40B4-BE49-F238E27FC236}">
                <a16:creationId xmlns:a16="http://schemas.microsoft.com/office/drawing/2014/main" id="{32BE6003-0DA2-4D85-A6E3-755E7BF9E516}"/>
              </a:ext>
            </a:extLst>
          </p:cNvPr>
          <p:cNvCxnSpPr>
            <a:cxnSpLocks/>
            <a:stCxn id="15" idx="3"/>
            <a:endCxn id="42" idx="1"/>
          </p:cNvCxnSpPr>
          <p:nvPr/>
        </p:nvCxnSpPr>
        <p:spPr bwMode="auto">
          <a:xfrm>
            <a:off x="7603173" y="5449127"/>
            <a:ext cx="410788" cy="179413"/>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文本框 46">
            <a:extLst>
              <a:ext uri="{FF2B5EF4-FFF2-40B4-BE49-F238E27FC236}">
                <a16:creationId xmlns:a16="http://schemas.microsoft.com/office/drawing/2014/main" id="{CABAA31E-4CAE-4528-BCEB-480964D7A9CE}"/>
              </a:ext>
            </a:extLst>
          </p:cNvPr>
          <p:cNvSpPr txBox="1"/>
          <p:nvPr/>
        </p:nvSpPr>
        <p:spPr>
          <a:xfrm>
            <a:off x="7341693" y="5513152"/>
            <a:ext cx="737702" cy="253916"/>
          </a:xfrm>
          <a:prstGeom prst="rect">
            <a:avLst/>
          </a:prstGeom>
          <a:noFill/>
        </p:spPr>
        <p:txBody>
          <a:bodyPr wrap="square" rtlCol="0">
            <a:spAutoFit/>
          </a:bodyPr>
          <a:lstStyle/>
          <a:p>
            <a:pPr fontAlgn="base">
              <a:spcBef>
                <a:spcPct val="0"/>
              </a:spcBef>
              <a:spcAft>
                <a:spcPct val="0"/>
              </a:spcAft>
            </a:pPr>
            <a:r>
              <a:rPr lang="zh-CN" altLang="en-US" sz="1050" dirty="0">
                <a:solidFill>
                  <a:srgbClr val="000000"/>
                </a:solidFill>
                <a:latin typeface="微软雅黑" panose="020B0503020204020204" pitchFamily="34" charset="-122"/>
                <a:ea typeface="微软雅黑" panose="020B0503020204020204" pitchFamily="34" charset="-122"/>
              </a:rPr>
              <a:t>业务接入</a:t>
            </a:r>
          </a:p>
        </p:txBody>
      </p:sp>
      <p:cxnSp>
        <p:nvCxnSpPr>
          <p:cNvPr id="48" name="直接连接符 47">
            <a:extLst>
              <a:ext uri="{FF2B5EF4-FFF2-40B4-BE49-F238E27FC236}">
                <a16:creationId xmlns:a16="http://schemas.microsoft.com/office/drawing/2014/main" id="{CC1C7955-DE46-4A4C-BF98-7E6701297C8E}"/>
              </a:ext>
            </a:extLst>
          </p:cNvPr>
          <p:cNvCxnSpPr>
            <a:cxnSpLocks/>
          </p:cNvCxnSpPr>
          <p:nvPr/>
        </p:nvCxnSpPr>
        <p:spPr bwMode="auto">
          <a:xfrm>
            <a:off x="5821484" y="4204531"/>
            <a:ext cx="0" cy="1693002"/>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a:extLst>
              <a:ext uri="{FF2B5EF4-FFF2-40B4-BE49-F238E27FC236}">
                <a16:creationId xmlns:a16="http://schemas.microsoft.com/office/drawing/2014/main" id="{387FDBE2-BCA9-4D27-829F-8D6E61CFB1CA}"/>
              </a:ext>
            </a:extLst>
          </p:cNvPr>
          <p:cNvCxnSpPr>
            <a:cxnSpLocks/>
          </p:cNvCxnSpPr>
          <p:nvPr/>
        </p:nvCxnSpPr>
        <p:spPr bwMode="auto">
          <a:xfrm>
            <a:off x="7435515" y="4240113"/>
            <a:ext cx="0" cy="1682247"/>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文本框 49">
            <a:extLst>
              <a:ext uri="{FF2B5EF4-FFF2-40B4-BE49-F238E27FC236}">
                <a16:creationId xmlns:a16="http://schemas.microsoft.com/office/drawing/2014/main" id="{D04228D1-8511-4DB9-9CCB-85BC18206B41}"/>
              </a:ext>
            </a:extLst>
          </p:cNvPr>
          <p:cNvSpPr txBox="1"/>
          <p:nvPr/>
        </p:nvSpPr>
        <p:spPr>
          <a:xfrm>
            <a:off x="9093231" y="4728957"/>
            <a:ext cx="928669" cy="261610"/>
          </a:xfrm>
          <a:prstGeom prst="rect">
            <a:avLst/>
          </a:prstGeom>
          <a:noFill/>
        </p:spPr>
        <p:txBody>
          <a:bodyPr wrap="square" rtlCol="0">
            <a:spAutoFit/>
          </a:bodyPr>
          <a:lstStyle/>
          <a:p>
            <a:pPr fontAlgn="base">
              <a:spcBef>
                <a:spcPct val="0"/>
              </a:spcBef>
              <a:spcAft>
                <a:spcPct val="0"/>
              </a:spcAft>
            </a:pPr>
            <a:r>
              <a:rPr lang="zh-CN" altLang="en-US" sz="1100" dirty="0">
                <a:solidFill>
                  <a:srgbClr val="FF0000"/>
                </a:solidFill>
                <a:latin typeface="微软雅黑" panose="020B0503020204020204" pitchFamily="34" charset="-122"/>
                <a:ea typeface="微软雅黑" panose="020B0503020204020204" pitchFamily="34" charset="-122"/>
              </a:rPr>
              <a:t>物理层网络</a:t>
            </a:r>
          </a:p>
        </p:txBody>
      </p:sp>
      <p:sp>
        <p:nvSpPr>
          <p:cNvPr id="51" name="文本框 50">
            <a:extLst>
              <a:ext uri="{FF2B5EF4-FFF2-40B4-BE49-F238E27FC236}">
                <a16:creationId xmlns:a16="http://schemas.microsoft.com/office/drawing/2014/main" id="{09FC785F-F5DD-4A81-9BC6-9F01B18BB1CD}"/>
              </a:ext>
            </a:extLst>
          </p:cNvPr>
          <p:cNvSpPr txBox="1"/>
          <p:nvPr/>
        </p:nvSpPr>
        <p:spPr>
          <a:xfrm>
            <a:off x="8873882" y="5156381"/>
            <a:ext cx="1119209" cy="430887"/>
          </a:xfrm>
          <a:prstGeom prst="rect">
            <a:avLst/>
          </a:prstGeom>
          <a:noFill/>
        </p:spPr>
        <p:txBody>
          <a:bodyPr wrap="square" rtlCol="0">
            <a:spAutoFit/>
          </a:bodyPr>
          <a:lstStyle/>
          <a:p>
            <a:pPr fontAlgn="base">
              <a:spcBef>
                <a:spcPct val="0"/>
              </a:spcBef>
              <a:spcAft>
                <a:spcPct val="0"/>
              </a:spcAft>
            </a:pPr>
            <a:r>
              <a:rPr lang="zh-CN" altLang="en-US" sz="1100" dirty="0">
                <a:solidFill>
                  <a:srgbClr val="0000CC"/>
                </a:solidFill>
                <a:latin typeface="微软雅黑" panose="020B0503020204020204" pitchFamily="34" charset="-122"/>
                <a:ea typeface="微软雅黑" panose="020B0503020204020204" pitchFamily="34" charset="-122"/>
              </a:rPr>
              <a:t>控制面：</a:t>
            </a:r>
            <a:r>
              <a:rPr lang="en-US" altLang="zh-CN" sz="1100" dirty="0">
                <a:solidFill>
                  <a:srgbClr val="0000CC"/>
                </a:solidFill>
                <a:latin typeface="微软雅黑" panose="020B0503020204020204" pitchFamily="34" charset="-122"/>
                <a:ea typeface="微软雅黑" panose="020B0503020204020204" pitchFamily="34" charset="-122"/>
              </a:rPr>
              <a:t>OSPF</a:t>
            </a:r>
          </a:p>
          <a:p>
            <a:pPr fontAlgn="base">
              <a:spcBef>
                <a:spcPct val="0"/>
              </a:spcBef>
              <a:spcAft>
                <a:spcPct val="0"/>
              </a:spcAft>
            </a:pPr>
            <a:r>
              <a:rPr lang="zh-CN" altLang="en-US" sz="1100" dirty="0">
                <a:solidFill>
                  <a:srgbClr val="0000CC"/>
                </a:solidFill>
                <a:latin typeface="微软雅黑" panose="020B0503020204020204" pitchFamily="34" charset="-122"/>
                <a:ea typeface="微软雅黑" panose="020B0503020204020204" pitchFamily="34" charset="-122"/>
              </a:rPr>
              <a:t>数据面：</a:t>
            </a:r>
            <a:r>
              <a:rPr lang="en-US" altLang="zh-CN" sz="1100" dirty="0">
                <a:solidFill>
                  <a:srgbClr val="0000CC"/>
                </a:solidFill>
                <a:latin typeface="微软雅黑" panose="020B0503020204020204" pitchFamily="34" charset="-122"/>
                <a:ea typeface="微软雅黑" panose="020B0503020204020204" pitchFamily="34" charset="-122"/>
              </a:rPr>
              <a:t>IP</a:t>
            </a:r>
            <a:endParaRPr lang="zh-CN" altLang="en-US" sz="1100" dirty="0">
              <a:solidFill>
                <a:srgbClr val="0000CC"/>
              </a:solidFill>
              <a:latin typeface="微软雅黑" panose="020B0503020204020204" pitchFamily="34" charset="-122"/>
              <a:ea typeface="微软雅黑" panose="020B0503020204020204" pitchFamily="34" charset="-122"/>
            </a:endParaRPr>
          </a:p>
        </p:txBody>
      </p:sp>
      <p:pic>
        <p:nvPicPr>
          <p:cNvPr id="52" name="Picture 44" descr="Router3">
            <a:extLst>
              <a:ext uri="{FF2B5EF4-FFF2-40B4-BE49-F238E27FC236}">
                <a16:creationId xmlns:a16="http://schemas.microsoft.com/office/drawing/2014/main" id="{55A3A8CE-D70A-45FF-958E-BF2BA00A7DF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2290" y="3445513"/>
            <a:ext cx="346075" cy="303212"/>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4" descr="Router3">
            <a:extLst>
              <a:ext uri="{FF2B5EF4-FFF2-40B4-BE49-F238E27FC236}">
                <a16:creationId xmlns:a16="http://schemas.microsoft.com/office/drawing/2014/main" id="{582554F1-7477-4205-8025-AF5A3E89582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2839" y="3879693"/>
            <a:ext cx="346075" cy="303212"/>
          </a:xfrm>
          <a:prstGeom prst="rect">
            <a:avLst/>
          </a:prstGeom>
          <a:noFill/>
          <a:extLst>
            <a:ext uri="{909E8E84-426E-40DD-AFC4-6F175D3DCCD1}">
              <a14:hiddenFill xmlns:a14="http://schemas.microsoft.com/office/drawing/2010/main">
                <a:solidFill>
                  <a:srgbClr val="FFFFFF"/>
                </a:solidFill>
              </a14:hiddenFill>
            </a:ext>
          </a:extLst>
        </p:spPr>
      </p:pic>
      <p:cxnSp>
        <p:nvCxnSpPr>
          <p:cNvPr id="54" name="直接连接符 53">
            <a:extLst>
              <a:ext uri="{FF2B5EF4-FFF2-40B4-BE49-F238E27FC236}">
                <a16:creationId xmlns:a16="http://schemas.microsoft.com/office/drawing/2014/main" id="{F5070110-9E66-40F6-8386-1A7C49871054}"/>
              </a:ext>
            </a:extLst>
          </p:cNvPr>
          <p:cNvCxnSpPr>
            <a:stCxn id="52" idx="3"/>
            <a:endCxn id="76" idx="1"/>
          </p:cNvCxnSpPr>
          <p:nvPr/>
        </p:nvCxnSpPr>
        <p:spPr bwMode="auto">
          <a:xfrm flipV="1">
            <a:off x="5958365" y="3594608"/>
            <a:ext cx="282575" cy="2511"/>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直接连接符 54">
            <a:extLst>
              <a:ext uri="{FF2B5EF4-FFF2-40B4-BE49-F238E27FC236}">
                <a16:creationId xmlns:a16="http://schemas.microsoft.com/office/drawing/2014/main" id="{685B3980-FC8A-4694-9586-C37EDBF1A2D2}"/>
              </a:ext>
            </a:extLst>
          </p:cNvPr>
          <p:cNvCxnSpPr>
            <a:stCxn id="53" idx="3"/>
            <a:endCxn id="77" idx="1"/>
          </p:cNvCxnSpPr>
          <p:nvPr/>
        </p:nvCxnSpPr>
        <p:spPr bwMode="auto">
          <a:xfrm flipV="1">
            <a:off x="5558914" y="4028788"/>
            <a:ext cx="282575" cy="2511"/>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直接连接符 55">
            <a:extLst>
              <a:ext uri="{FF2B5EF4-FFF2-40B4-BE49-F238E27FC236}">
                <a16:creationId xmlns:a16="http://schemas.microsoft.com/office/drawing/2014/main" id="{0C2E25A7-998D-453E-8F04-480DB8CC5AD6}"/>
              </a:ext>
            </a:extLst>
          </p:cNvPr>
          <p:cNvCxnSpPr>
            <a:cxnSpLocks/>
            <a:stCxn id="76" idx="3"/>
            <a:endCxn id="75" idx="1"/>
          </p:cNvCxnSpPr>
          <p:nvPr/>
        </p:nvCxnSpPr>
        <p:spPr bwMode="auto">
          <a:xfrm>
            <a:off x="6587015" y="3594608"/>
            <a:ext cx="748768" cy="27254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接连接符 56">
            <a:extLst>
              <a:ext uri="{FF2B5EF4-FFF2-40B4-BE49-F238E27FC236}">
                <a16:creationId xmlns:a16="http://schemas.microsoft.com/office/drawing/2014/main" id="{69A5F231-BA9D-49CD-B027-898FD7586A22}"/>
              </a:ext>
            </a:extLst>
          </p:cNvPr>
          <p:cNvCxnSpPr>
            <a:cxnSpLocks/>
            <a:stCxn id="77" idx="3"/>
            <a:endCxn id="75" idx="1"/>
          </p:cNvCxnSpPr>
          <p:nvPr/>
        </p:nvCxnSpPr>
        <p:spPr bwMode="auto">
          <a:xfrm flipV="1">
            <a:off x="6187564" y="3867148"/>
            <a:ext cx="1148219" cy="16164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接连接符 57">
            <a:extLst>
              <a:ext uri="{FF2B5EF4-FFF2-40B4-BE49-F238E27FC236}">
                <a16:creationId xmlns:a16="http://schemas.microsoft.com/office/drawing/2014/main" id="{863BA478-3375-450F-9A94-F4CEB518A050}"/>
              </a:ext>
            </a:extLst>
          </p:cNvPr>
          <p:cNvCxnSpPr>
            <a:cxnSpLocks/>
            <a:stCxn id="76" idx="2"/>
            <a:endCxn id="77" idx="3"/>
          </p:cNvCxnSpPr>
          <p:nvPr/>
        </p:nvCxnSpPr>
        <p:spPr bwMode="auto">
          <a:xfrm flipH="1">
            <a:off x="6187564" y="3746214"/>
            <a:ext cx="226414" cy="28257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连接符 58">
            <a:extLst>
              <a:ext uri="{FF2B5EF4-FFF2-40B4-BE49-F238E27FC236}">
                <a16:creationId xmlns:a16="http://schemas.microsoft.com/office/drawing/2014/main" id="{1ED5CC79-1100-48D1-86DC-D979A6C59F6C}"/>
              </a:ext>
            </a:extLst>
          </p:cNvPr>
          <p:cNvCxnSpPr>
            <a:cxnSpLocks/>
            <a:stCxn id="77" idx="3"/>
          </p:cNvCxnSpPr>
          <p:nvPr/>
        </p:nvCxnSpPr>
        <p:spPr bwMode="auto">
          <a:xfrm>
            <a:off x="6187564" y="4028788"/>
            <a:ext cx="1069580" cy="2301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接连接符 59">
            <a:extLst>
              <a:ext uri="{FF2B5EF4-FFF2-40B4-BE49-F238E27FC236}">
                <a16:creationId xmlns:a16="http://schemas.microsoft.com/office/drawing/2014/main" id="{8A1035C9-A1B9-4D77-ACFB-7FF2557109BA}"/>
              </a:ext>
            </a:extLst>
          </p:cNvPr>
          <p:cNvCxnSpPr>
            <a:cxnSpLocks/>
            <a:stCxn id="76" idx="3"/>
          </p:cNvCxnSpPr>
          <p:nvPr/>
        </p:nvCxnSpPr>
        <p:spPr bwMode="auto">
          <a:xfrm>
            <a:off x="6587015" y="3594608"/>
            <a:ext cx="670129" cy="45719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文本框 60">
            <a:extLst>
              <a:ext uri="{FF2B5EF4-FFF2-40B4-BE49-F238E27FC236}">
                <a16:creationId xmlns:a16="http://schemas.microsoft.com/office/drawing/2014/main" id="{296D167B-F2C5-451F-9F76-A13DC045E0D9}"/>
              </a:ext>
            </a:extLst>
          </p:cNvPr>
          <p:cNvSpPr txBox="1"/>
          <p:nvPr/>
        </p:nvSpPr>
        <p:spPr>
          <a:xfrm>
            <a:off x="5648764" y="3265175"/>
            <a:ext cx="381836" cy="261610"/>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CE</a:t>
            </a:r>
            <a:endParaRPr lang="zh-CN" altLang="en-US" sz="1050" dirty="0">
              <a:solidFill>
                <a:srgbClr val="000000"/>
              </a:solidFill>
              <a:latin typeface="Arial" pitchFamily="34" charset="0"/>
              <a:ea typeface="宋体" pitchFamily="2" charset="-122"/>
            </a:endParaRPr>
          </a:p>
        </p:txBody>
      </p:sp>
      <p:sp>
        <p:nvSpPr>
          <p:cNvPr id="62" name="文本框 61">
            <a:extLst>
              <a:ext uri="{FF2B5EF4-FFF2-40B4-BE49-F238E27FC236}">
                <a16:creationId xmlns:a16="http://schemas.microsoft.com/office/drawing/2014/main" id="{9F7D995B-75E9-48AF-A3E5-3CB2D44AEB9F}"/>
              </a:ext>
            </a:extLst>
          </p:cNvPr>
          <p:cNvSpPr txBox="1"/>
          <p:nvPr/>
        </p:nvSpPr>
        <p:spPr>
          <a:xfrm>
            <a:off x="5266928" y="3678314"/>
            <a:ext cx="381836" cy="261610"/>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CE</a:t>
            </a:r>
            <a:endParaRPr lang="zh-CN" altLang="en-US" sz="1050" dirty="0">
              <a:solidFill>
                <a:srgbClr val="000000"/>
              </a:solidFill>
              <a:latin typeface="Arial" pitchFamily="34" charset="0"/>
              <a:ea typeface="宋体" pitchFamily="2" charset="-122"/>
            </a:endParaRPr>
          </a:p>
        </p:txBody>
      </p:sp>
      <p:sp>
        <p:nvSpPr>
          <p:cNvPr id="63" name="文本框 62">
            <a:extLst>
              <a:ext uri="{FF2B5EF4-FFF2-40B4-BE49-F238E27FC236}">
                <a16:creationId xmlns:a16="http://schemas.microsoft.com/office/drawing/2014/main" id="{10AC4602-BA5A-4A9C-B24B-5E55E0A3FA8B}"/>
              </a:ext>
            </a:extLst>
          </p:cNvPr>
          <p:cNvSpPr txBox="1"/>
          <p:nvPr/>
        </p:nvSpPr>
        <p:spPr>
          <a:xfrm>
            <a:off x="6030434" y="3238779"/>
            <a:ext cx="737702" cy="253916"/>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SDN GW</a:t>
            </a:r>
            <a:endParaRPr lang="zh-CN" altLang="en-US" sz="1050" dirty="0">
              <a:solidFill>
                <a:srgbClr val="000000"/>
              </a:solidFill>
              <a:latin typeface="Arial" pitchFamily="34" charset="0"/>
              <a:ea typeface="宋体" pitchFamily="2" charset="-122"/>
            </a:endParaRPr>
          </a:p>
        </p:txBody>
      </p:sp>
      <p:sp>
        <p:nvSpPr>
          <p:cNvPr id="64" name="文本框 63">
            <a:extLst>
              <a:ext uri="{FF2B5EF4-FFF2-40B4-BE49-F238E27FC236}">
                <a16:creationId xmlns:a16="http://schemas.microsoft.com/office/drawing/2014/main" id="{A923DF6A-E688-46DE-9610-4D3C550077C4}"/>
              </a:ext>
            </a:extLst>
          </p:cNvPr>
          <p:cNvSpPr txBox="1"/>
          <p:nvPr/>
        </p:nvSpPr>
        <p:spPr>
          <a:xfrm>
            <a:off x="5645675" y="4117652"/>
            <a:ext cx="737702" cy="253916"/>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SDN GW</a:t>
            </a:r>
            <a:endParaRPr lang="zh-CN" altLang="en-US" sz="1050" dirty="0">
              <a:solidFill>
                <a:srgbClr val="000000"/>
              </a:solidFill>
              <a:latin typeface="Arial" pitchFamily="34" charset="0"/>
              <a:ea typeface="宋体" pitchFamily="2" charset="-122"/>
            </a:endParaRPr>
          </a:p>
        </p:txBody>
      </p:sp>
      <p:sp>
        <p:nvSpPr>
          <p:cNvPr id="65" name="矩形 64">
            <a:extLst>
              <a:ext uri="{FF2B5EF4-FFF2-40B4-BE49-F238E27FC236}">
                <a16:creationId xmlns:a16="http://schemas.microsoft.com/office/drawing/2014/main" id="{069225DB-5C40-4292-B909-B11A952305D2}"/>
              </a:ext>
            </a:extLst>
          </p:cNvPr>
          <p:cNvSpPr/>
          <p:nvPr/>
        </p:nvSpPr>
        <p:spPr bwMode="auto">
          <a:xfrm>
            <a:off x="8277188" y="3462575"/>
            <a:ext cx="369732" cy="201802"/>
          </a:xfrm>
          <a:prstGeom prst="rect">
            <a:avLst/>
          </a:prstGeom>
          <a:solidFill>
            <a:srgbClr val="00B0F0"/>
          </a:solidFill>
          <a:ln w="25400" cap="flat" cmpd="sng" algn="ctr">
            <a:noFill/>
            <a:prstDash val="solid"/>
          </a:ln>
          <a:effectLst/>
        </p:spPr>
        <p:txBody>
          <a:bodyPr vert="horz" wrap="square" lIns="36000" tIns="0" rIns="3600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FF0000"/>
                </a:solidFill>
                <a:effectLst/>
                <a:uLnTx/>
                <a:uFillTx/>
                <a:latin typeface="Arial" charset="0"/>
                <a:ea typeface="宋体" charset="-122"/>
              </a:rPr>
              <a:t>VM</a:t>
            </a:r>
            <a:endParaRPr kumimoji="0" lang="zh-CN" altLang="en-US" sz="1200" b="0" i="0" u="none" strike="noStrike" kern="0" cap="none" spc="0" normalizeH="0" baseline="0" noProof="0" dirty="0">
              <a:ln>
                <a:noFill/>
              </a:ln>
              <a:solidFill>
                <a:srgbClr val="FF0000"/>
              </a:solidFill>
              <a:effectLst/>
              <a:uLnTx/>
              <a:uFillTx/>
              <a:latin typeface="Arial" charset="0"/>
              <a:ea typeface="宋体" charset="-122"/>
            </a:endParaRPr>
          </a:p>
        </p:txBody>
      </p:sp>
      <p:sp>
        <p:nvSpPr>
          <p:cNvPr id="66" name="矩形 65">
            <a:extLst>
              <a:ext uri="{FF2B5EF4-FFF2-40B4-BE49-F238E27FC236}">
                <a16:creationId xmlns:a16="http://schemas.microsoft.com/office/drawing/2014/main" id="{8217D8B2-3DFC-4C2D-9169-0A4CB1AED48D}"/>
              </a:ext>
            </a:extLst>
          </p:cNvPr>
          <p:cNvSpPr/>
          <p:nvPr/>
        </p:nvSpPr>
        <p:spPr bwMode="auto">
          <a:xfrm>
            <a:off x="8277188" y="3673092"/>
            <a:ext cx="369732" cy="201802"/>
          </a:xfrm>
          <a:prstGeom prst="rect">
            <a:avLst/>
          </a:prstGeom>
          <a:solidFill>
            <a:srgbClr val="00B0F0"/>
          </a:solidFill>
          <a:ln w="25400" cap="flat" cmpd="sng" algn="ctr">
            <a:noFill/>
            <a:prstDash val="solid"/>
          </a:ln>
          <a:effectLst/>
        </p:spPr>
        <p:txBody>
          <a:bodyPr vert="horz" wrap="square" lIns="36000" tIns="0" rIns="3600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FF0000"/>
                </a:solidFill>
                <a:effectLst/>
                <a:uLnTx/>
                <a:uFillTx/>
                <a:latin typeface="Arial" charset="0"/>
                <a:ea typeface="宋体" charset="-122"/>
              </a:rPr>
              <a:t>VM</a:t>
            </a:r>
            <a:endParaRPr kumimoji="0" lang="zh-CN" altLang="en-US" sz="1200" b="0" i="0" u="none" strike="noStrike" kern="0" cap="none" spc="0" normalizeH="0" baseline="0" noProof="0" dirty="0">
              <a:ln>
                <a:noFill/>
              </a:ln>
              <a:solidFill>
                <a:srgbClr val="FF0000"/>
              </a:solidFill>
              <a:effectLst/>
              <a:uLnTx/>
              <a:uFillTx/>
              <a:latin typeface="Arial" charset="0"/>
              <a:ea typeface="宋体" charset="-122"/>
            </a:endParaRPr>
          </a:p>
        </p:txBody>
      </p:sp>
      <p:sp>
        <p:nvSpPr>
          <p:cNvPr id="67" name="矩形 66">
            <a:extLst>
              <a:ext uri="{FF2B5EF4-FFF2-40B4-BE49-F238E27FC236}">
                <a16:creationId xmlns:a16="http://schemas.microsoft.com/office/drawing/2014/main" id="{585D185F-F088-416F-8625-AEA5D9CBEA25}"/>
              </a:ext>
            </a:extLst>
          </p:cNvPr>
          <p:cNvSpPr/>
          <p:nvPr/>
        </p:nvSpPr>
        <p:spPr bwMode="auto">
          <a:xfrm>
            <a:off x="8277188" y="3898353"/>
            <a:ext cx="369732" cy="201802"/>
          </a:xfrm>
          <a:prstGeom prst="rect">
            <a:avLst/>
          </a:prstGeom>
          <a:solidFill>
            <a:srgbClr val="00B0F0"/>
          </a:solidFill>
          <a:ln w="25400" cap="flat" cmpd="sng" algn="ctr">
            <a:noFill/>
            <a:prstDash val="solid"/>
          </a:ln>
          <a:effectLst/>
        </p:spPr>
        <p:txBody>
          <a:bodyPr vert="horz" wrap="square" lIns="36000" tIns="0" rIns="3600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FF0000"/>
                </a:solidFill>
                <a:effectLst/>
                <a:uLnTx/>
                <a:uFillTx/>
                <a:latin typeface="Arial" charset="0"/>
                <a:ea typeface="宋体" charset="-122"/>
              </a:rPr>
              <a:t>VM</a:t>
            </a:r>
            <a:endParaRPr kumimoji="0" lang="zh-CN" altLang="en-US" sz="1200" b="0" i="0" u="none" strike="noStrike" kern="0" cap="none" spc="0" normalizeH="0" baseline="0" noProof="0" dirty="0">
              <a:ln>
                <a:noFill/>
              </a:ln>
              <a:solidFill>
                <a:srgbClr val="FF0000"/>
              </a:solidFill>
              <a:effectLst/>
              <a:uLnTx/>
              <a:uFillTx/>
              <a:latin typeface="Arial" charset="0"/>
              <a:ea typeface="宋体" charset="-122"/>
            </a:endParaRPr>
          </a:p>
        </p:txBody>
      </p:sp>
      <p:sp>
        <p:nvSpPr>
          <p:cNvPr id="68" name="矩形 67">
            <a:extLst>
              <a:ext uri="{FF2B5EF4-FFF2-40B4-BE49-F238E27FC236}">
                <a16:creationId xmlns:a16="http://schemas.microsoft.com/office/drawing/2014/main" id="{7AC728B9-A285-4298-B73D-C202B171D418}"/>
              </a:ext>
            </a:extLst>
          </p:cNvPr>
          <p:cNvSpPr/>
          <p:nvPr/>
        </p:nvSpPr>
        <p:spPr bwMode="auto">
          <a:xfrm>
            <a:off x="8277188" y="4094178"/>
            <a:ext cx="369732" cy="201802"/>
          </a:xfrm>
          <a:prstGeom prst="rect">
            <a:avLst/>
          </a:prstGeom>
          <a:solidFill>
            <a:srgbClr val="00B0F0"/>
          </a:solidFill>
          <a:ln w="25400" cap="flat" cmpd="sng" algn="ctr">
            <a:noFill/>
            <a:prstDash val="solid"/>
          </a:ln>
          <a:effectLst/>
        </p:spPr>
        <p:txBody>
          <a:bodyPr vert="horz" wrap="square" lIns="36000" tIns="0" rIns="3600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200" b="0" i="0" u="none" strike="noStrike" kern="0" cap="none" spc="0" normalizeH="0" baseline="0" noProof="0" dirty="0">
                <a:ln>
                  <a:noFill/>
                </a:ln>
                <a:solidFill>
                  <a:srgbClr val="FF0000"/>
                </a:solidFill>
                <a:effectLst/>
                <a:uLnTx/>
                <a:uFillTx/>
                <a:latin typeface="Arial" charset="0"/>
                <a:ea typeface="宋体" charset="-122"/>
              </a:rPr>
              <a:t>VM</a:t>
            </a:r>
            <a:endParaRPr kumimoji="0" lang="zh-CN" altLang="en-US" sz="1200" b="0" i="0" u="none" strike="noStrike" kern="0" cap="none" spc="0" normalizeH="0" baseline="0" noProof="0" dirty="0">
              <a:ln>
                <a:noFill/>
              </a:ln>
              <a:solidFill>
                <a:srgbClr val="FF0000"/>
              </a:solidFill>
              <a:effectLst/>
              <a:uLnTx/>
              <a:uFillTx/>
              <a:latin typeface="Arial" charset="0"/>
              <a:ea typeface="宋体" charset="-122"/>
            </a:endParaRPr>
          </a:p>
        </p:txBody>
      </p:sp>
      <p:cxnSp>
        <p:nvCxnSpPr>
          <p:cNvPr id="69" name="直接连接符 68">
            <a:extLst>
              <a:ext uri="{FF2B5EF4-FFF2-40B4-BE49-F238E27FC236}">
                <a16:creationId xmlns:a16="http://schemas.microsoft.com/office/drawing/2014/main" id="{FD1EFD6F-CBAE-45A5-BBF6-E4235D5387EF}"/>
              </a:ext>
            </a:extLst>
          </p:cNvPr>
          <p:cNvCxnSpPr>
            <a:cxnSpLocks/>
            <a:stCxn id="75" idx="3"/>
            <a:endCxn id="65" idx="1"/>
          </p:cNvCxnSpPr>
          <p:nvPr/>
        </p:nvCxnSpPr>
        <p:spPr bwMode="auto">
          <a:xfrm flipV="1">
            <a:off x="7791396" y="3563476"/>
            <a:ext cx="485792" cy="303672"/>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直接连接符 69">
            <a:extLst>
              <a:ext uri="{FF2B5EF4-FFF2-40B4-BE49-F238E27FC236}">
                <a16:creationId xmlns:a16="http://schemas.microsoft.com/office/drawing/2014/main" id="{4D07F028-1502-4218-BEDC-CA77B2B9FBCA}"/>
              </a:ext>
            </a:extLst>
          </p:cNvPr>
          <p:cNvCxnSpPr>
            <a:stCxn id="75" idx="3"/>
            <a:endCxn id="66" idx="1"/>
          </p:cNvCxnSpPr>
          <p:nvPr/>
        </p:nvCxnSpPr>
        <p:spPr bwMode="auto">
          <a:xfrm flipV="1">
            <a:off x="7791396" y="3773993"/>
            <a:ext cx="485792" cy="93155"/>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连接符 70">
            <a:extLst>
              <a:ext uri="{FF2B5EF4-FFF2-40B4-BE49-F238E27FC236}">
                <a16:creationId xmlns:a16="http://schemas.microsoft.com/office/drawing/2014/main" id="{AA7DB5C8-9B2E-4641-B8BB-8DD2538DC407}"/>
              </a:ext>
            </a:extLst>
          </p:cNvPr>
          <p:cNvCxnSpPr>
            <a:cxnSpLocks/>
            <a:stCxn id="75" idx="3"/>
            <a:endCxn id="67" idx="1"/>
          </p:cNvCxnSpPr>
          <p:nvPr/>
        </p:nvCxnSpPr>
        <p:spPr bwMode="auto">
          <a:xfrm>
            <a:off x="7791396" y="3867148"/>
            <a:ext cx="485792" cy="13210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连接符 71">
            <a:extLst>
              <a:ext uri="{FF2B5EF4-FFF2-40B4-BE49-F238E27FC236}">
                <a16:creationId xmlns:a16="http://schemas.microsoft.com/office/drawing/2014/main" id="{4AD81D3F-CDCA-4F64-BDE1-7693259D67C7}"/>
              </a:ext>
            </a:extLst>
          </p:cNvPr>
          <p:cNvCxnSpPr>
            <a:cxnSpLocks/>
            <a:stCxn id="75" idx="3"/>
            <a:endCxn id="68" idx="1"/>
          </p:cNvCxnSpPr>
          <p:nvPr/>
        </p:nvCxnSpPr>
        <p:spPr bwMode="auto">
          <a:xfrm>
            <a:off x="7791396" y="3867148"/>
            <a:ext cx="485792" cy="327931"/>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文本框 72">
            <a:extLst>
              <a:ext uri="{FF2B5EF4-FFF2-40B4-BE49-F238E27FC236}">
                <a16:creationId xmlns:a16="http://schemas.microsoft.com/office/drawing/2014/main" id="{7A58A6BB-FAE9-49AE-8B62-1CFA5973D830}"/>
              </a:ext>
            </a:extLst>
          </p:cNvPr>
          <p:cNvSpPr txBox="1"/>
          <p:nvPr/>
        </p:nvSpPr>
        <p:spPr>
          <a:xfrm>
            <a:off x="7508820" y="3994372"/>
            <a:ext cx="737702" cy="253916"/>
          </a:xfrm>
          <a:prstGeom prst="rect">
            <a:avLst/>
          </a:prstGeom>
          <a:noFill/>
        </p:spPr>
        <p:txBody>
          <a:bodyPr wrap="square" rtlCol="0">
            <a:spAutoFit/>
          </a:bodyPr>
          <a:lstStyle/>
          <a:p>
            <a:pPr fontAlgn="base">
              <a:spcBef>
                <a:spcPct val="0"/>
              </a:spcBef>
              <a:spcAft>
                <a:spcPct val="0"/>
              </a:spcAft>
            </a:pPr>
            <a:r>
              <a:rPr lang="zh-CN" altLang="en-US" sz="1050" dirty="0">
                <a:solidFill>
                  <a:srgbClr val="000000"/>
                </a:solidFill>
                <a:latin typeface="微软雅黑" panose="020B0503020204020204" pitchFamily="34" charset="-122"/>
                <a:ea typeface="微软雅黑" panose="020B0503020204020204" pitchFamily="34" charset="-122"/>
              </a:rPr>
              <a:t>业务接入</a:t>
            </a:r>
          </a:p>
        </p:txBody>
      </p:sp>
      <p:sp>
        <p:nvSpPr>
          <p:cNvPr id="74" name="云形 73">
            <a:extLst>
              <a:ext uri="{FF2B5EF4-FFF2-40B4-BE49-F238E27FC236}">
                <a16:creationId xmlns:a16="http://schemas.microsoft.com/office/drawing/2014/main" id="{E79A4B56-D454-46BC-BE62-CE261E123368}"/>
              </a:ext>
            </a:extLst>
          </p:cNvPr>
          <p:cNvSpPr/>
          <p:nvPr/>
        </p:nvSpPr>
        <p:spPr bwMode="auto">
          <a:xfrm>
            <a:off x="6157602" y="3594194"/>
            <a:ext cx="1528696" cy="544420"/>
          </a:xfrm>
          <a:prstGeom prst="cloud">
            <a:avLst/>
          </a:prstGeom>
          <a:solidFill>
            <a:srgbClr val="D9D9D9"/>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pic>
        <p:nvPicPr>
          <p:cNvPr id="75" name="Picture 49" descr="Lanswitch3">
            <a:extLst>
              <a:ext uri="{FF2B5EF4-FFF2-40B4-BE49-F238E27FC236}">
                <a16:creationId xmlns:a16="http://schemas.microsoft.com/office/drawing/2014/main" id="{DA507B1E-31BA-4322-833C-2551CC2C5D7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35783" y="3717129"/>
            <a:ext cx="455613" cy="300037"/>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44" descr="Router3">
            <a:extLst>
              <a:ext uri="{FF2B5EF4-FFF2-40B4-BE49-F238E27FC236}">
                <a16:creationId xmlns:a16="http://schemas.microsoft.com/office/drawing/2014/main" id="{E61E9623-095D-48CC-8FDB-14DA4955DFA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0940" y="3443002"/>
            <a:ext cx="346075" cy="303212"/>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44" descr="Router3">
            <a:extLst>
              <a:ext uri="{FF2B5EF4-FFF2-40B4-BE49-F238E27FC236}">
                <a16:creationId xmlns:a16="http://schemas.microsoft.com/office/drawing/2014/main" id="{F06799F3-0B4A-4924-B60A-2B530663E06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41489" y="3877182"/>
            <a:ext cx="346075" cy="303212"/>
          </a:xfrm>
          <a:prstGeom prst="rect">
            <a:avLst/>
          </a:prstGeom>
          <a:noFill/>
          <a:extLst>
            <a:ext uri="{909E8E84-426E-40DD-AFC4-6F175D3DCCD1}">
              <a14:hiddenFill xmlns:a14="http://schemas.microsoft.com/office/drawing/2010/main">
                <a:solidFill>
                  <a:srgbClr val="FFFFFF"/>
                </a:solidFill>
              </a14:hiddenFill>
            </a:ext>
          </a:extLst>
        </p:spPr>
      </p:pic>
      <p:sp>
        <p:nvSpPr>
          <p:cNvPr id="78" name="圆柱形 118">
            <a:extLst>
              <a:ext uri="{FF2B5EF4-FFF2-40B4-BE49-F238E27FC236}">
                <a16:creationId xmlns:a16="http://schemas.microsoft.com/office/drawing/2014/main" id="{45917D74-8F0A-479E-AD86-3517D784BA27}"/>
              </a:ext>
            </a:extLst>
          </p:cNvPr>
          <p:cNvSpPr/>
          <p:nvPr/>
        </p:nvSpPr>
        <p:spPr bwMode="auto">
          <a:xfrm rot="5400000">
            <a:off x="6677493" y="3292805"/>
            <a:ext cx="204033" cy="1143922"/>
          </a:xfrm>
          <a:prstGeom prst="can">
            <a:avLst/>
          </a:prstGeom>
          <a:solidFill>
            <a:srgbClr val="92D050"/>
          </a:solidFill>
          <a:ln w="25400" cap="flat" cmpd="sng" algn="ctr">
            <a:solidFill>
              <a:srgbClr val="00B050"/>
            </a:solidFill>
            <a:prstDash val="solid"/>
          </a:ln>
          <a:effectLst/>
        </p:spPr>
        <p:txBody>
          <a:bodyPr vert="vert270"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100" b="0" i="0" u="none" strike="noStrike" kern="0" cap="none" spc="0" normalizeH="0" baseline="0" noProof="0" dirty="0">
                <a:ln>
                  <a:noFill/>
                </a:ln>
                <a:solidFill>
                  <a:srgbClr val="000000"/>
                </a:solidFill>
                <a:effectLst/>
                <a:uLnTx/>
                <a:uFillTx/>
                <a:latin typeface="Arial" charset="0"/>
                <a:ea typeface="宋体" charset="-122"/>
              </a:rPr>
              <a:t>L2/L3 VNI</a:t>
            </a:r>
            <a:endParaRPr kumimoji="0" lang="zh-CN" altLang="en-US" sz="1100" b="0" i="0" u="none" strike="noStrike" kern="0" cap="none" spc="0" normalizeH="0" baseline="0" noProof="0" dirty="0">
              <a:ln>
                <a:noFill/>
              </a:ln>
              <a:solidFill>
                <a:srgbClr val="000000"/>
              </a:solidFill>
              <a:effectLst/>
              <a:uLnTx/>
              <a:uFillTx/>
              <a:latin typeface="Arial" charset="0"/>
              <a:ea typeface="宋体" charset="-122"/>
            </a:endParaRPr>
          </a:p>
        </p:txBody>
      </p:sp>
      <p:sp>
        <p:nvSpPr>
          <p:cNvPr id="79" name="任意多边形: 形状 78">
            <a:extLst>
              <a:ext uri="{FF2B5EF4-FFF2-40B4-BE49-F238E27FC236}">
                <a16:creationId xmlns:a16="http://schemas.microsoft.com/office/drawing/2014/main" id="{4059530E-108B-4C30-B599-1F9F23A13FF4}"/>
              </a:ext>
            </a:extLst>
          </p:cNvPr>
          <p:cNvSpPr/>
          <p:nvPr/>
        </p:nvSpPr>
        <p:spPr bwMode="auto">
          <a:xfrm rot="20237190">
            <a:off x="5876195" y="1728744"/>
            <a:ext cx="696893" cy="279852"/>
          </a:xfrm>
          <a:custGeom>
            <a:avLst/>
            <a:gdLst>
              <a:gd name="connsiteX0" fmla="*/ 0 w 919655"/>
              <a:gd name="connsiteY0" fmla="*/ 114002 h 387271"/>
              <a:gd name="connsiteX1" fmla="*/ 436180 w 919655"/>
              <a:gd name="connsiteY1" fmla="*/ 14154 h 387271"/>
              <a:gd name="connsiteX2" fmla="*/ 919655 w 919655"/>
              <a:gd name="connsiteY2" fmla="*/ 387271 h 387271"/>
              <a:gd name="connsiteX0" fmla="*/ 0 w 919655"/>
              <a:gd name="connsiteY0" fmla="*/ 123350 h 396619"/>
              <a:gd name="connsiteX1" fmla="*/ 562304 w 919655"/>
              <a:gd name="connsiteY1" fmla="*/ 12991 h 396619"/>
              <a:gd name="connsiteX2" fmla="*/ 919655 w 919655"/>
              <a:gd name="connsiteY2" fmla="*/ 396619 h 396619"/>
              <a:gd name="connsiteX0" fmla="*/ 0 w 919655"/>
              <a:gd name="connsiteY0" fmla="*/ 129801 h 403070"/>
              <a:gd name="connsiteX1" fmla="*/ 612310 w 919655"/>
              <a:gd name="connsiteY1" fmla="*/ 12298 h 403070"/>
              <a:gd name="connsiteX2" fmla="*/ 919655 w 919655"/>
              <a:gd name="connsiteY2" fmla="*/ 403070 h 403070"/>
              <a:gd name="connsiteX0" fmla="*/ 0 w 919655"/>
              <a:gd name="connsiteY0" fmla="*/ 112777 h 386046"/>
              <a:gd name="connsiteX1" fmla="*/ 595642 w 919655"/>
              <a:gd name="connsiteY1" fmla="*/ 14324 h 386046"/>
              <a:gd name="connsiteX2" fmla="*/ 919655 w 919655"/>
              <a:gd name="connsiteY2" fmla="*/ 386046 h 386046"/>
              <a:gd name="connsiteX0" fmla="*/ 0 w 919655"/>
              <a:gd name="connsiteY0" fmla="*/ 113728 h 386997"/>
              <a:gd name="connsiteX1" fmla="*/ 595642 w 919655"/>
              <a:gd name="connsiteY1" fmla="*/ 15275 h 386997"/>
              <a:gd name="connsiteX2" fmla="*/ 919655 w 919655"/>
              <a:gd name="connsiteY2" fmla="*/ 386997 h 386997"/>
              <a:gd name="connsiteX0" fmla="*/ 0 w 919655"/>
              <a:gd name="connsiteY0" fmla="*/ 107210 h 380479"/>
              <a:gd name="connsiteX1" fmla="*/ 595642 w 919655"/>
              <a:gd name="connsiteY1" fmla="*/ 8757 h 380479"/>
              <a:gd name="connsiteX2" fmla="*/ 919655 w 919655"/>
              <a:gd name="connsiteY2" fmla="*/ 380479 h 380479"/>
              <a:gd name="connsiteX0" fmla="*/ 0 w 919655"/>
              <a:gd name="connsiteY0" fmla="*/ 107210 h 380479"/>
              <a:gd name="connsiteX1" fmla="*/ 595642 w 919655"/>
              <a:gd name="connsiteY1" fmla="*/ 8757 h 380479"/>
              <a:gd name="connsiteX2" fmla="*/ 919655 w 919655"/>
              <a:gd name="connsiteY2" fmla="*/ 380479 h 380479"/>
              <a:gd name="connsiteX0" fmla="*/ 0 w 919655"/>
              <a:gd name="connsiteY0" fmla="*/ 107210 h 380479"/>
              <a:gd name="connsiteX1" fmla="*/ 595642 w 919655"/>
              <a:gd name="connsiteY1" fmla="*/ 8757 h 380479"/>
              <a:gd name="connsiteX2" fmla="*/ 919655 w 919655"/>
              <a:gd name="connsiteY2" fmla="*/ 380479 h 380479"/>
              <a:gd name="connsiteX0" fmla="*/ 0 w 929180"/>
              <a:gd name="connsiteY0" fmla="*/ 113253 h 393666"/>
              <a:gd name="connsiteX1" fmla="*/ 595642 w 929180"/>
              <a:gd name="connsiteY1" fmla="*/ 14800 h 393666"/>
              <a:gd name="connsiteX2" fmla="*/ 929180 w 929180"/>
              <a:gd name="connsiteY2" fmla="*/ 393666 h 393666"/>
              <a:gd name="connsiteX0" fmla="*/ 0 w 929180"/>
              <a:gd name="connsiteY0" fmla="*/ 113253 h 393666"/>
              <a:gd name="connsiteX1" fmla="*/ 595642 w 929180"/>
              <a:gd name="connsiteY1" fmla="*/ 14800 h 393666"/>
              <a:gd name="connsiteX2" fmla="*/ 929180 w 929180"/>
              <a:gd name="connsiteY2" fmla="*/ 393666 h 393666"/>
            </a:gdLst>
            <a:ahLst/>
            <a:cxnLst>
              <a:cxn ang="0">
                <a:pos x="connsiteX0" y="connsiteY0"/>
              </a:cxn>
              <a:cxn ang="0">
                <a:pos x="connsiteX1" y="connsiteY1"/>
              </a:cxn>
              <a:cxn ang="0">
                <a:pos x="connsiteX2" y="connsiteY2"/>
              </a:cxn>
            </a:cxnLst>
            <a:rect l="l" t="t" r="r" b="b"/>
            <a:pathLst>
              <a:path w="929180" h="393666">
                <a:moveTo>
                  <a:pt x="0" y="113253"/>
                </a:moveTo>
                <a:cubicBezTo>
                  <a:pt x="141452" y="40556"/>
                  <a:pt x="440779" y="-31935"/>
                  <a:pt x="595642" y="14800"/>
                </a:cubicBezTo>
                <a:cubicBezTo>
                  <a:pt x="750505" y="61535"/>
                  <a:pt x="818849" y="213211"/>
                  <a:pt x="929180" y="393666"/>
                </a:cubicBezTo>
              </a:path>
            </a:pathLst>
          </a:custGeom>
          <a:noFill/>
          <a:ln w="19050" cap="flat" cmpd="sng" algn="ctr">
            <a:solidFill>
              <a:srgbClr val="C00000"/>
            </a:solidFill>
            <a:prstDash val="dash"/>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srgbClr val="000000"/>
              </a:solidFill>
              <a:effectLst/>
              <a:uLnTx/>
              <a:uFillTx/>
              <a:latin typeface="FrutigerNext LT Medium"/>
              <a:ea typeface="华文细黑"/>
            </a:endParaRPr>
          </a:p>
        </p:txBody>
      </p:sp>
      <p:sp>
        <p:nvSpPr>
          <p:cNvPr id="80" name="文本框 79">
            <a:extLst>
              <a:ext uri="{FF2B5EF4-FFF2-40B4-BE49-F238E27FC236}">
                <a16:creationId xmlns:a16="http://schemas.microsoft.com/office/drawing/2014/main" id="{6BBB84D4-FFDB-472E-930C-1E7AA53AFDD7}"/>
              </a:ext>
            </a:extLst>
          </p:cNvPr>
          <p:cNvSpPr txBox="1"/>
          <p:nvPr/>
        </p:nvSpPr>
        <p:spPr>
          <a:xfrm>
            <a:off x="6790146" y="3198369"/>
            <a:ext cx="1290738" cy="246221"/>
          </a:xfrm>
          <a:prstGeom prst="rect">
            <a:avLst/>
          </a:prstGeom>
          <a:noFill/>
        </p:spPr>
        <p:txBody>
          <a:bodyPr wrap="none" rtlCol="0">
            <a:spAutoFit/>
          </a:bodyPr>
          <a:lstStyle/>
          <a:p>
            <a:pPr fontAlgn="base">
              <a:spcBef>
                <a:spcPct val="0"/>
              </a:spcBef>
              <a:spcAft>
                <a:spcPct val="0"/>
              </a:spcAft>
            </a:pPr>
            <a:r>
              <a:rPr lang="en-US" altLang="zh-CN" sz="1000" dirty="0">
                <a:solidFill>
                  <a:srgbClr val="C00000"/>
                </a:solidFill>
                <a:latin typeface="Arial" pitchFamily="34" charset="0"/>
                <a:ea typeface="宋体" pitchFamily="2" charset="-122"/>
              </a:rPr>
              <a:t>BGP VXLAN EVPN</a:t>
            </a:r>
            <a:endParaRPr lang="zh-CN" altLang="en-US" sz="1000" dirty="0">
              <a:solidFill>
                <a:srgbClr val="C00000"/>
              </a:solidFill>
              <a:latin typeface="Arial" pitchFamily="34" charset="0"/>
              <a:ea typeface="宋体" pitchFamily="2" charset="-122"/>
            </a:endParaRPr>
          </a:p>
        </p:txBody>
      </p:sp>
      <p:cxnSp>
        <p:nvCxnSpPr>
          <p:cNvPr id="81" name="直接箭头连接符 80">
            <a:extLst>
              <a:ext uri="{FF2B5EF4-FFF2-40B4-BE49-F238E27FC236}">
                <a16:creationId xmlns:a16="http://schemas.microsoft.com/office/drawing/2014/main" id="{315E38CB-47AF-42FE-ACF6-F6CD55FBEA57}"/>
              </a:ext>
            </a:extLst>
          </p:cNvPr>
          <p:cNvCxnSpPr>
            <a:cxnSpLocks/>
          </p:cNvCxnSpPr>
          <p:nvPr/>
        </p:nvCxnSpPr>
        <p:spPr bwMode="auto">
          <a:xfrm>
            <a:off x="5828960" y="4457298"/>
            <a:ext cx="1601018" cy="0"/>
          </a:xfrm>
          <a:prstGeom prst="straightConnector1">
            <a:avLst/>
          </a:prstGeom>
          <a:noFill/>
          <a:ln w="9525" cap="flat" cmpd="sng" algn="ctr">
            <a:solidFill>
              <a:srgbClr val="C00000"/>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文本框 81">
            <a:extLst>
              <a:ext uri="{FF2B5EF4-FFF2-40B4-BE49-F238E27FC236}">
                <a16:creationId xmlns:a16="http://schemas.microsoft.com/office/drawing/2014/main" id="{5B049406-8E4D-473C-80A8-2F7475A50F2B}"/>
              </a:ext>
            </a:extLst>
          </p:cNvPr>
          <p:cNvSpPr txBox="1"/>
          <p:nvPr/>
        </p:nvSpPr>
        <p:spPr>
          <a:xfrm>
            <a:off x="6381829" y="4267279"/>
            <a:ext cx="627095" cy="253916"/>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VXLAN</a:t>
            </a:r>
            <a:endParaRPr lang="zh-CN" altLang="en-US" sz="1050" dirty="0">
              <a:solidFill>
                <a:srgbClr val="000000"/>
              </a:solidFill>
              <a:latin typeface="Arial" pitchFamily="34" charset="0"/>
              <a:ea typeface="宋体" pitchFamily="2" charset="-122"/>
            </a:endParaRPr>
          </a:p>
        </p:txBody>
      </p:sp>
      <p:sp>
        <p:nvSpPr>
          <p:cNvPr id="83" name="文本框 82">
            <a:extLst>
              <a:ext uri="{FF2B5EF4-FFF2-40B4-BE49-F238E27FC236}">
                <a16:creationId xmlns:a16="http://schemas.microsoft.com/office/drawing/2014/main" id="{F8002244-E947-4C0B-AE87-B004B0D25166}"/>
              </a:ext>
            </a:extLst>
          </p:cNvPr>
          <p:cNvSpPr txBox="1"/>
          <p:nvPr/>
        </p:nvSpPr>
        <p:spPr>
          <a:xfrm>
            <a:off x="9106281" y="3270563"/>
            <a:ext cx="1119209" cy="261610"/>
          </a:xfrm>
          <a:prstGeom prst="rect">
            <a:avLst/>
          </a:prstGeom>
          <a:noFill/>
        </p:spPr>
        <p:txBody>
          <a:bodyPr wrap="square" rtlCol="0">
            <a:spAutoFit/>
          </a:bodyPr>
          <a:lstStyle/>
          <a:p>
            <a:pPr fontAlgn="base">
              <a:spcBef>
                <a:spcPct val="0"/>
              </a:spcBef>
              <a:spcAft>
                <a:spcPct val="0"/>
              </a:spcAft>
            </a:pPr>
            <a:r>
              <a:rPr lang="en-US" altLang="zh-CN" sz="1100" dirty="0">
                <a:solidFill>
                  <a:srgbClr val="FF0000"/>
                </a:solidFill>
                <a:latin typeface="微软雅黑" panose="020B0503020204020204" pitchFamily="34" charset="-122"/>
                <a:ea typeface="微软雅黑" panose="020B0503020204020204" pitchFamily="34" charset="-122"/>
              </a:rPr>
              <a:t>Overlay</a:t>
            </a:r>
            <a:r>
              <a:rPr lang="zh-CN" altLang="en-US" sz="1100" dirty="0">
                <a:solidFill>
                  <a:srgbClr val="FF0000"/>
                </a:solidFill>
                <a:latin typeface="微软雅黑" panose="020B0503020204020204" pitchFamily="34" charset="-122"/>
                <a:ea typeface="微软雅黑" panose="020B0503020204020204" pitchFamily="34" charset="-122"/>
              </a:rPr>
              <a:t>层网络</a:t>
            </a:r>
          </a:p>
        </p:txBody>
      </p:sp>
      <p:sp>
        <p:nvSpPr>
          <p:cNvPr id="84" name="文本框 83">
            <a:extLst>
              <a:ext uri="{FF2B5EF4-FFF2-40B4-BE49-F238E27FC236}">
                <a16:creationId xmlns:a16="http://schemas.microsoft.com/office/drawing/2014/main" id="{502DC5C5-E2FE-4BF8-99A3-46D0AA7484C1}"/>
              </a:ext>
            </a:extLst>
          </p:cNvPr>
          <p:cNvSpPr txBox="1"/>
          <p:nvPr/>
        </p:nvSpPr>
        <p:spPr>
          <a:xfrm>
            <a:off x="8939962" y="3733522"/>
            <a:ext cx="1550122" cy="430887"/>
          </a:xfrm>
          <a:prstGeom prst="rect">
            <a:avLst/>
          </a:prstGeom>
          <a:noFill/>
        </p:spPr>
        <p:txBody>
          <a:bodyPr wrap="square" rtlCol="0">
            <a:spAutoFit/>
          </a:bodyPr>
          <a:lstStyle/>
          <a:p>
            <a:pPr fontAlgn="base">
              <a:spcBef>
                <a:spcPct val="0"/>
              </a:spcBef>
              <a:spcAft>
                <a:spcPct val="0"/>
              </a:spcAft>
            </a:pPr>
            <a:r>
              <a:rPr lang="zh-CN" altLang="en-US" sz="1100" dirty="0">
                <a:solidFill>
                  <a:srgbClr val="0000CC"/>
                </a:solidFill>
                <a:latin typeface="微软雅黑" panose="020B0503020204020204" pitchFamily="34" charset="-122"/>
                <a:ea typeface="微软雅黑" panose="020B0503020204020204" pitchFamily="34" charset="-122"/>
              </a:rPr>
              <a:t>控制面：</a:t>
            </a:r>
            <a:r>
              <a:rPr lang="en-US" altLang="zh-CN" sz="1100" dirty="0" err="1">
                <a:solidFill>
                  <a:srgbClr val="0000CC"/>
                </a:solidFill>
                <a:latin typeface="微软雅黑" panose="020B0503020204020204" pitchFamily="34" charset="-122"/>
                <a:ea typeface="微软雅黑" panose="020B0503020204020204" pitchFamily="34" charset="-122"/>
              </a:rPr>
              <a:t>iBGP</a:t>
            </a:r>
            <a:r>
              <a:rPr lang="en-US" altLang="zh-CN" sz="1100" dirty="0">
                <a:solidFill>
                  <a:srgbClr val="0000CC"/>
                </a:solidFill>
                <a:latin typeface="微软雅黑" panose="020B0503020204020204" pitchFamily="34" charset="-122"/>
                <a:ea typeface="微软雅黑" panose="020B0503020204020204" pitchFamily="34" charset="-122"/>
              </a:rPr>
              <a:t> EVPN</a:t>
            </a:r>
          </a:p>
          <a:p>
            <a:pPr fontAlgn="base">
              <a:spcBef>
                <a:spcPct val="0"/>
              </a:spcBef>
              <a:spcAft>
                <a:spcPct val="0"/>
              </a:spcAft>
            </a:pPr>
            <a:r>
              <a:rPr lang="zh-CN" altLang="en-US" sz="1100" dirty="0">
                <a:solidFill>
                  <a:srgbClr val="0000CC"/>
                </a:solidFill>
                <a:latin typeface="微软雅黑" panose="020B0503020204020204" pitchFamily="34" charset="-122"/>
                <a:ea typeface="微软雅黑" panose="020B0503020204020204" pitchFamily="34" charset="-122"/>
              </a:rPr>
              <a:t>数据面：</a:t>
            </a:r>
            <a:r>
              <a:rPr lang="en-US" altLang="zh-CN" sz="1100" dirty="0">
                <a:solidFill>
                  <a:srgbClr val="0000CC"/>
                </a:solidFill>
                <a:latin typeface="微软雅黑" panose="020B0503020204020204" pitchFamily="34" charset="-122"/>
                <a:ea typeface="微软雅黑" panose="020B0503020204020204" pitchFamily="34" charset="-122"/>
              </a:rPr>
              <a:t>VXLAN</a:t>
            </a:r>
            <a:endParaRPr lang="zh-CN" altLang="en-US" sz="1100" dirty="0">
              <a:solidFill>
                <a:srgbClr val="0000CC"/>
              </a:solidFill>
              <a:latin typeface="微软雅黑" panose="020B0503020204020204" pitchFamily="34" charset="-122"/>
              <a:ea typeface="微软雅黑" panose="020B0503020204020204" pitchFamily="34" charset="-122"/>
            </a:endParaRPr>
          </a:p>
        </p:txBody>
      </p:sp>
      <p:cxnSp>
        <p:nvCxnSpPr>
          <p:cNvPr id="85" name="直接箭头连接符 84">
            <a:extLst>
              <a:ext uri="{FF2B5EF4-FFF2-40B4-BE49-F238E27FC236}">
                <a16:creationId xmlns:a16="http://schemas.microsoft.com/office/drawing/2014/main" id="{12117D21-7E8E-45C8-A7F2-80D0A1936952}"/>
              </a:ext>
            </a:extLst>
          </p:cNvPr>
          <p:cNvCxnSpPr>
            <a:cxnSpLocks/>
          </p:cNvCxnSpPr>
          <p:nvPr/>
        </p:nvCxnSpPr>
        <p:spPr bwMode="auto">
          <a:xfrm>
            <a:off x="7443155" y="4459425"/>
            <a:ext cx="803367" cy="0"/>
          </a:xfrm>
          <a:prstGeom prst="straightConnector1">
            <a:avLst/>
          </a:prstGeom>
          <a:noFill/>
          <a:ln w="9525" cap="flat" cmpd="sng" algn="ctr">
            <a:solidFill>
              <a:srgbClr val="C00000"/>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文本框 85">
            <a:extLst>
              <a:ext uri="{FF2B5EF4-FFF2-40B4-BE49-F238E27FC236}">
                <a16:creationId xmlns:a16="http://schemas.microsoft.com/office/drawing/2014/main" id="{A4B60373-2362-4E93-9985-C34D7D1FB2D7}"/>
              </a:ext>
            </a:extLst>
          </p:cNvPr>
          <p:cNvSpPr txBox="1"/>
          <p:nvPr/>
        </p:nvSpPr>
        <p:spPr>
          <a:xfrm>
            <a:off x="7417355" y="4259701"/>
            <a:ext cx="888385" cy="253916"/>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VLAN/</a:t>
            </a:r>
            <a:r>
              <a:rPr lang="en-US" altLang="zh-CN" sz="1050" dirty="0" err="1">
                <a:solidFill>
                  <a:srgbClr val="000000"/>
                </a:solidFill>
                <a:latin typeface="Arial" pitchFamily="34" charset="0"/>
                <a:ea typeface="宋体" pitchFamily="2" charset="-122"/>
              </a:rPr>
              <a:t>QinQ</a:t>
            </a:r>
            <a:endParaRPr lang="zh-CN" altLang="en-US" sz="1050" dirty="0">
              <a:solidFill>
                <a:srgbClr val="000000"/>
              </a:solidFill>
              <a:latin typeface="Arial" pitchFamily="34" charset="0"/>
              <a:ea typeface="宋体" pitchFamily="2" charset="-122"/>
            </a:endParaRPr>
          </a:p>
        </p:txBody>
      </p:sp>
      <p:cxnSp>
        <p:nvCxnSpPr>
          <p:cNvPr id="87" name="直接连接符 86">
            <a:extLst>
              <a:ext uri="{FF2B5EF4-FFF2-40B4-BE49-F238E27FC236}">
                <a16:creationId xmlns:a16="http://schemas.microsoft.com/office/drawing/2014/main" id="{EFF24BA9-39DE-42FF-ABCB-8962D0E35468}"/>
              </a:ext>
            </a:extLst>
          </p:cNvPr>
          <p:cNvCxnSpPr>
            <a:cxnSpLocks/>
          </p:cNvCxnSpPr>
          <p:nvPr/>
        </p:nvCxnSpPr>
        <p:spPr bwMode="auto">
          <a:xfrm>
            <a:off x="8245315" y="4296397"/>
            <a:ext cx="0" cy="224798"/>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8" name="Picture 44" descr="Router3">
            <a:extLst>
              <a:ext uri="{FF2B5EF4-FFF2-40B4-BE49-F238E27FC236}">
                <a16:creationId xmlns:a16="http://schemas.microsoft.com/office/drawing/2014/main" id="{B35C56C3-ABE8-49B1-8F6E-4537ADEA1E3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51222" y="1912442"/>
            <a:ext cx="346075" cy="303212"/>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44" descr="Router3">
            <a:extLst>
              <a:ext uri="{FF2B5EF4-FFF2-40B4-BE49-F238E27FC236}">
                <a16:creationId xmlns:a16="http://schemas.microsoft.com/office/drawing/2014/main" id="{2DD7DDE5-E774-493F-9CE8-0BA3AC81AA8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66071" y="2346622"/>
            <a:ext cx="346075" cy="303212"/>
          </a:xfrm>
          <a:prstGeom prst="rect">
            <a:avLst/>
          </a:prstGeom>
          <a:noFill/>
          <a:extLst>
            <a:ext uri="{909E8E84-426E-40DD-AFC4-6F175D3DCCD1}">
              <a14:hiddenFill xmlns:a14="http://schemas.microsoft.com/office/drawing/2010/main">
                <a:solidFill>
                  <a:srgbClr val="FFFFFF"/>
                </a:solidFill>
              </a14:hiddenFill>
            </a:ext>
          </a:extLst>
        </p:spPr>
      </p:pic>
      <p:cxnSp>
        <p:nvCxnSpPr>
          <p:cNvPr id="90" name="直接连接符 89">
            <a:extLst>
              <a:ext uri="{FF2B5EF4-FFF2-40B4-BE49-F238E27FC236}">
                <a16:creationId xmlns:a16="http://schemas.microsoft.com/office/drawing/2014/main" id="{95148161-BCC1-4FAD-9B08-530F72CFD6B4}"/>
              </a:ext>
            </a:extLst>
          </p:cNvPr>
          <p:cNvCxnSpPr>
            <a:stCxn id="88" idx="3"/>
            <a:endCxn id="96" idx="1"/>
          </p:cNvCxnSpPr>
          <p:nvPr/>
        </p:nvCxnSpPr>
        <p:spPr bwMode="auto">
          <a:xfrm flipV="1">
            <a:off x="5997297" y="2061537"/>
            <a:ext cx="454029" cy="2511"/>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接连接符 90">
            <a:extLst>
              <a:ext uri="{FF2B5EF4-FFF2-40B4-BE49-F238E27FC236}">
                <a16:creationId xmlns:a16="http://schemas.microsoft.com/office/drawing/2014/main" id="{D49F7A89-8181-42C5-B606-1F43B06E172C}"/>
              </a:ext>
            </a:extLst>
          </p:cNvPr>
          <p:cNvCxnSpPr>
            <a:stCxn id="89" idx="3"/>
            <a:endCxn id="97" idx="1"/>
          </p:cNvCxnSpPr>
          <p:nvPr/>
        </p:nvCxnSpPr>
        <p:spPr bwMode="auto">
          <a:xfrm flipV="1">
            <a:off x="5712146" y="2495717"/>
            <a:ext cx="339729" cy="2511"/>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直接连接符 91">
            <a:extLst>
              <a:ext uri="{FF2B5EF4-FFF2-40B4-BE49-F238E27FC236}">
                <a16:creationId xmlns:a16="http://schemas.microsoft.com/office/drawing/2014/main" id="{D0C49DF3-4F4E-46F1-8C2C-1B45A35FC553}"/>
              </a:ext>
            </a:extLst>
          </p:cNvPr>
          <p:cNvCxnSpPr>
            <a:cxnSpLocks/>
            <a:stCxn id="96" idx="1"/>
            <a:endCxn id="97" idx="0"/>
          </p:cNvCxnSpPr>
          <p:nvPr/>
        </p:nvCxnSpPr>
        <p:spPr bwMode="auto">
          <a:xfrm flipH="1">
            <a:off x="6224913" y="2061537"/>
            <a:ext cx="226413" cy="28257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文本框 92">
            <a:extLst>
              <a:ext uri="{FF2B5EF4-FFF2-40B4-BE49-F238E27FC236}">
                <a16:creationId xmlns:a16="http://schemas.microsoft.com/office/drawing/2014/main" id="{9EA1C328-6027-402E-A683-299C9507F36E}"/>
              </a:ext>
            </a:extLst>
          </p:cNvPr>
          <p:cNvSpPr txBox="1"/>
          <p:nvPr/>
        </p:nvSpPr>
        <p:spPr>
          <a:xfrm>
            <a:off x="5558914" y="1708852"/>
            <a:ext cx="381836" cy="261610"/>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CE</a:t>
            </a:r>
            <a:endParaRPr lang="zh-CN" altLang="en-US" sz="1050" dirty="0">
              <a:solidFill>
                <a:srgbClr val="000000"/>
              </a:solidFill>
              <a:latin typeface="Arial" pitchFamily="34" charset="0"/>
              <a:ea typeface="宋体" pitchFamily="2" charset="-122"/>
            </a:endParaRPr>
          </a:p>
        </p:txBody>
      </p:sp>
      <p:sp>
        <p:nvSpPr>
          <p:cNvPr id="94" name="文本框 93">
            <a:extLst>
              <a:ext uri="{FF2B5EF4-FFF2-40B4-BE49-F238E27FC236}">
                <a16:creationId xmlns:a16="http://schemas.microsoft.com/office/drawing/2014/main" id="{D484C755-B92E-4212-8689-E5AF522CEAF8}"/>
              </a:ext>
            </a:extLst>
          </p:cNvPr>
          <p:cNvSpPr txBox="1"/>
          <p:nvPr/>
        </p:nvSpPr>
        <p:spPr>
          <a:xfrm>
            <a:off x="5477314" y="2145243"/>
            <a:ext cx="381836" cy="261610"/>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CE</a:t>
            </a:r>
            <a:endParaRPr lang="zh-CN" altLang="en-US" sz="1050" dirty="0">
              <a:solidFill>
                <a:srgbClr val="000000"/>
              </a:solidFill>
              <a:latin typeface="Arial" pitchFamily="34" charset="0"/>
              <a:ea typeface="宋体" pitchFamily="2" charset="-122"/>
            </a:endParaRPr>
          </a:p>
        </p:txBody>
      </p:sp>
      <p:sp>
        <p:nvSpPr>
          <p:cNvPr id="95" name="文本框 94">
            <a:extLst>
              <a:ext uri="{FF2B5EF4-FFF2-40B4-BE49-F238E27FC236}">
                <a16:creationId xmlns:a16="http://schemas.microsoft.com/office/drawing/2014/main" id="{AAC349A2-3BBA-410C-B058-EE6C0CE7F379}"/>
              </a:ext>
            </a:extLst>
          </p:cNvPr>
          <p:cNvSpPr txBox="1"/>
          <p:nvPr/>
        </p:nvSpPr>
        <p:spPr>
          <a:xfrm>
            <a:off x="5856061" y="2584581"/>
            <a:ext cx="737702" cy="253916"/>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SDN GW</a:t>
            </a:r>
            <a:endParaRPr lang="zh-CN" altLang="en-US" sz="1050" dirty="0">
              <a:solidFill>
                <a:srgbClr val="000000"/>
              </a:solidFill>
              <a:latin typeface="Arial" pitchFamily="34" charset="0"/>
              <a:ea typeface="宋体" pitchFamily="2" charset="-122"/>
            </a:endParaRPr>
          </a:p>
        </p:txBody>
      </p:sp>
      <p:pic>
        <p:nvPicPr>
          <p:cNvPr id="96" name="Picture 44" descr="Router3">
            <a:extLst>
              <a:ext uri="{FF2B5EF4-FFF2-40B4-BE49-F238E27FC236}">
                <a16:creationId xmlns:a16="http://schemas.microsoft.com/office/drawing/2014/main" id="{435C2F27-6875-4A69-9B4E-2697DDA741A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1326" y="1909931"/>
            <a:ext cx="346075" cy="303212"/>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44" descr="Router3">
            <a:extLst>
              <a:ext uri="{FF2B5EF4-FFF2-40B4-BE49-F238E27FC236}">
                <a16:creationId xmlns:a16="http://schemas.microsoft.com/office/drawing/2014/main" id="{AAB0D976-FB9B-497A-930E-FF626A7BA8B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51875" y="2344111"/>
            <a:ext cx="346075" cy="303212"/>
          </a:xfrm>
          <a:prstGeom prst="rect">
            <a:avLst/>
          </a:prstGeom>
          <a:noFill/>
          <a:extLst>
            <a:ext uri="{909E8E84-426E-40DD-AFC4-6F175D3DCCD1}">
              <a14:hiddenFill xmlns:a14="http://schemas.microsoft.com/office/drawing/2010/main">
                <a:solidFill>
                  <a:srgbClr val="FFFFFF"/>
                </a:solidFill>
              </a14:hiddenFill>
            </a:ext>
          </a:extLst>
        </p:spPr>
      </p:pic>
      <p:cxnSp>
        <p:nvCxnSpPr>
          <p:cNvPr id="98" name="直接连接符 97">
            <a:extLst>
              <a:ext uri="{FF2B5EF4-FFF2-40B4-BE49-F238E27FC236}">
                <a16:creationId xmlns:a16="http://schemas.microsoft.com/office/drawing/2014/main" id="{A0F4C737-69EB-4E57-8609-28BCDCCAAC1F}"/>
              </a:ext>
            </a:extLst>
          </p:cNvPr>
          <p:cNvCxnSpPr>
            <a:cxnSpLocks/>
            <a:stCxn id="96" idx="3"/>
          </p:cNvCxnSpPr>
          <p:nvPr/>
        </p:nvCxnSpPr>
        <p:spPr bwMode="auto">
          <a:xfrm>
            <a:off x="6797401" y="2061537"/>
            <a:ext cx="207735" cy="0"/>
          </a:xfrm>
          <a:prstGeom prst="line">
            <a:avLst/>
          </a:prstGeom>
          <a:noFill/>
          <a:ln w="19050" cap="flat" cmpd="sng" algn="ctr">
            <a:solidFill>
              <a:srgbClr val="00B0F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接连接符 98">
            <a:extLst>
              <a:ext uri="{FF2B5EF4-FFF2-40B4-BE49-F238E27FC236}">
                <a16:creationId xmlns:a16="http://schemas.microsoft.com/office/drawing/2014/main" id="{740B3791-1E79-4FC8-9A38-D92C7E3E2547}"/>
              </a:ext>
            </a:extLst>
          </p:cNvPr>
          <p:cNvCxnSpPr/>
          <p:nvPr/>
        </p:nvCxnSpPr>
        <p:spPr bwMode="auto">
          <a:xfrm flipV="1">
            <a:off x="6975267" y="1828960"/>
            <a:ext cx="151889" cy="303212"/>
          </a:xfrm>
          <a:prstGeom prst="line">
            <a:avLst/>
          </a:prstGeom>
          <a:noFill/>
          <a:ln w="19050" cap="flat" cmpd="sng" algn="ctr">
            <a:solidFill>
              <a:srgbClr val="00B0F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接连接符 99">
            <a:extLst>
              <a:ext uri="{FF2B5EF4-FFF2-40B4-BE49-F238E27FC236}">
                <a16:creationId xmlns:a16="http://schemas.microsoft.com/office/drawing/2014/main" id="{A3CD60C1-ECDC-4523-8497-C858C9ED717C}"/>
              </a:ext>
            </a:extLst>
          </p:cNvPr>
          <p:cNvCxnSpPr>
            <a:cxnSpLocks/>
            <a:stCxn id="96" idx="2"/>
          </p:cNvCxnSpPr>
          <p:nvPr/>
        </p:nvCxnSpPr>
        <p:spPr bwMode="auto">
          <a:xfrm>
            <a:off x="6624364" y="2213143"/>
            <a:ext cx="711419" cy="0"/>
          </a:xfrm>
          <a:prstGeom prst="line">
            <a:avLst/>
          </a:prstGeom>
          <a:noFill/>
          <a:ln w="19050" cap="flat" cmpd="sng" algn="ctr">
            <a:solidFill>
              <a:srgbClr val="7030A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直接连接符 100">
            <a:extLst>
              <a:ext uri="{FF2B5EF4-FFF2-40B4-BE49-F238E27FC236}">
                <a16:creationId xmlns:a16="http://schemas.microsoft.com/office/drawing/2014/main" id="{62FD9E62-5D0D-4644-B091-7945BD10A837}"/>
              </a:ext>
            </a:extLst>
          </p:cNvPr>
          <p:cNvCxnSpPr>
            <a:cxnSpLocks/>
          </p:cNvCxnSpPr>
          <p:nvPr/>
        </p:nvCxnSpPr>
        <p:spPr bwMode="auto">
          <a:xfrm flipV="1">
            <a:off x="7229088" y="2074104"/>
            <a:ext cx="178806" cy="356946"/>
          </a:xfrm>
          <a:prstGeom prst="line">
            <a:avLst/>
          </a:prstGeom>
          <a:noFill/>
          <a:ln w="19050" cap="flat" cmpd="sng" algn="ctr">
            <a:solidFill>
              <a:srgbClr val="7030A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直接连接符 101">
            <a:extLst>
              <a:ext uri="{FF2B5EF4-FFF2-40B4-BE49-F238E27FC236}">
                <a16:creationId xmlns:a16="http://schemas.microsoft.com/office/drawing/2014/main" id="{19C9A9D1-AD7B-43F8-8A96-13EE9B6ED1A3}"/>
              </a:ext>
            </a:extLst>
          </p:cNvPr>
          <p:cNvCxnSpPr>
            <a:cxnSpLocks/>
            <a:stCxn id="97" idx="3"/>
          </p:cNvCxnSpPr>
          <p:nvPr/>
        </p:nvCxnSpPr>
        <p:spPr bwMode="auto">
          <a:xfrm>
            <a:off x="6397950" y="2495717"/>
            <a:ext cx="589862" cy="0"/>
          </a:xfrm>
          <a:prstGeom prst="line">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 name="直接连接符 102">
            <a:extLst>
              <a:ext uri="{FF2B5EF4-FFF2-40B4-BE49-F238E27FC236}">
                <a16:creationId xmlns:a16="http://schemas.microsoft.com/office/drawing/2014/main" id="{DCB8FFFF-4F27-4CB8-8DDD-4BF10A967E98}"/>
              </a:ext>
            </a:extLst>
          </p:cNvPr>
          <p:cNvCxnSpPr>
            <a:cxnSpLocks/>
          </p:cNvCxnSpPr>
          <p:nvPr/>
        </p:nvCxnSpPr>
        <p:spPr bwMode="auto">
          <a:xfrm flipV="1">
            <a:off x="6895216" y="2084128"/>
            <a:ext cx="295758" cy="597896"/>
          </a:xfrm>
          <a:prstGeom prst="line">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椭圆 103">
            <a:extLst>
              <a:ext uri="{FF2B5EF4-FFF2-40B4-BE49-F238E27FC236}">
                <a16:creationId xmlns:a16="http://schemas.microsoft.com/office/drawing/2014/main" id="{0E9BCB52-837E-4B94-9C71-F0B1F77117B0}"/>
              </a:ext>
            </a:extLst>
          </p:cNvPr>
          <p:cNvSpPr/>
          <p:nvPr/>
        </p:nvSpPr>
        <p:spPr bwMode="auto">
          <a:xfrm>
            <a:off x="6354207" y="1868310"/>
            <a:ext cx="394242" cy="226418"/>
          </a:xfrm>
          <a:prstGeom prst="ellipse">
            <a:avLst/>
          </a:prstGeom>
          <a:solidFill>
            <a:srgbClr val="7030A0"/>
          </a:solidFill>
          <a:ln w="25400" cap="flat" cmpd="sng" algn="ctr">
            <a:solidFill>
              <a:srgbClr val="FFFFFF"/>
            </a:solidFill>
            <a:prstDash val="solid"/>
          </a:ln>
          <a:effec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00" b="0" i="0" u="none" strike="noStrike" kern="0" cap="none" spc="0" normalizeH="0" baseline="0" noProof="0" dirty="0">
                <a:ln>
                  <a:noFill/>
                </a:ln>
                <a:solidFill>
                  <a:srgbClr val="FFFFFF"/>
                </a:solidFill>
                <a:effectLst/>
                <a:uLnTx/>
                <a:uFillTx/>
                <a:latin typeface="Arial" charset="0"/>
                <a:ea typeface="宋体" charset="-122"/>
              </a:rPr>
              <a:t>VRF</a:t>
            </a:r>
            <a:endParaRPr kumimoji="0" lang="zh-CN" altLang="en-US" sz="1000" b="0" i="0" u="none" strike="noStrike" kern="0" cap="none" spc="0" normalizeH="0" baseline="0" noProof="0" dirty="0">
              <a:ln>
                <a:noFill/>
              </a:ln>
              <a:solidFill>
                <a:srgbClr val="FFFFFF"/>
              </a:solidFill>
              <a:effectLst/>
              <a:uLnTx/>
              <a:uFillTx/>
              <a:latin typeface="Arial" charset="0"/>
              <a:ea typeface="宋体" charset="-122"/>
            </a:endParaRPr>
          </a:p>
        </p:txBody>
      </p:sp>
      <p:sp>
        <p:nvSpPr>
          <p:cNvPr id="105" name="椭圆 104">
            <a:extLst>
              <a:ext uri="{FF2B5EF4-FFF2-40B4-BE49-F238E27FC236}">
                <a16:creationId xmlns:a16="http://schemas.microsoft.com/office/drawing/2014/main" id="{87911ED7-501B-4747-BAF5-E03AFE6CA829}"/>
              </a:ext>
            </a:extLst>
          </p:cNvPr>
          <p:cNvSpPr/>
          <p:nvPr/>
        </p:nvSpPr>
        <p:spPr bwMode="auto">
          <a:xfrm>
            <a:off x="6393554" y="2121542"/>
            <a:ext cx="394242" cy="226418"/>
          </a:xfrm>
          <a:prstGeom prst="ellipse">
            <a:avLst/>
          </a:prstGeom>
          <a:solidFill>
            <a:srgbClr val="0070C0"/>
          </a:solidFill>
          <a:ln w="25400" cap="flat" cmpd="sng" algn="ctr">
            <a:solidFill>
              <a:srgbClr val="FFFFFF"/>
            </a:solidFill>
            <a:prstDash val="solid"/>
          </a:ln>
          <a:effec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00" b="0" i="0" u="none" strike="noStrike" kern="0" cap="none" spc="0" normalizeH="0" baseline="0" noProof="0" dirty="0">
                <a:ln>
                  <a:noFill/>
                </a:ln>
                <a:solidFill>
                  <a:srgbClr val="FFFFFF"/>
                </a:solidFill>
                <a:effectLst/>
                <a:uLnTx/>
                <a:uFillTx/>
                <a:latin typeface="Arial" charset="0"/>
                <a:ea typeface="宋体" charset="-122"/>
              </a:rPr>
              <a:t>BD</a:t>
            </a:r>
            <a:endParaRPr kumimoji="0" lang="zh-CN" altLang="en-US" sz="1000" b="0" i="0" u="none" strike="noStrike" kern="0" cap="none" spc="0" normalizeH="0" baseline="0" noProof="0" dirty="0">
              <a:ln>
                <a:noFill/>
              </a:ln>
              <a:solidFill>
                <a:srgbClr val="FFFFFF"/>
              </a:solidFill>
              <a:effectLst/>
              <a:uLnTx/>
              <a:uFillTx/>
              <a:latin typeface="Arial" charset="0"/>
              <a:ea typeface="宋体" charset="-122"/>
            </a:endParaRPr>
          </a:p>
        </p:txBody>
      </p:sp>
      <p:sp>
        <p:nvSpPr>
          <p:cNvPr id="106" name="矩形: 圆角 105">
            <a:extLst>
              <a:ext uri="{FF2B5EF4-FFF2-40B4-BE49-F238E27FC236}">
                <a16:creationId xmlns:a16="http://schemas.microsoft.com/office/drawing/2014/main" id="{460E05F6-95F6-4504-BAF0-68D82DD3DFA8}"/>
              </a:ext>
            </a:extLst>
          </p:cNvPr>
          <p:cNvSpPr/>
          <p:nvPr/>
        </p:nvSpPr>
        <p:spPr bwMode="auto">
          <a:xfrm>
            <a:off x="8277188" y="1649024"/>
            <a:ext cx="662774" cy="1126967"/>
          </a:xfrm>
          <a:prstGeom prst="roundRect">
            <a:avLst/>
          </a:prstGeom>
          <a:solidFill>
            <a:srgbClr val="66CCFF"/>
          </a:solidFill>
          <a:ln w="25400" cap="flat" cmpd="sng" algn="ctr">
            <a:noFill/>
            <a:prstDash val="solid"/>
          </a:ln>
          <a:effectLst/>
        </p:spPr>
        <p:txBody>
          <a:bodyPr vert="horz" wrap="square" lIns="72000" tIns="0" rIns="72000" bIns="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100" b="0" i="0" u="none" strike="noStrike" kern="0" cap="none" spc="0" normalizeH="0" baseline="0" noProof="0" dirty="0">
                <a:ln>
                  <a:noFill/>
                </a:ln>
                <a:solidFill>
                  <a:srgbClr val="000000"/>
                </a:solidFill>
                <a:effectLst/>
                <a:uLnTx/>
                <a:uFillTx/>
                <a:latin typeface="Arial" charset="0"/>
                <a:ea typeface="宋体" charset="-122"/>
              </a:rPr>
              <a:t>Server</a:t>
            </a:r>
            <a:endParaRPr kumimoji="0" lang="zh-CN" altLang="en-US" sz="11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07" name="矩形 106">
            <a:extLst>
              <a:ext uri="{FF2B5EF4-FFF2-40B4-BE49-F238E27FC236}">
                <a16:creationId xmlns:a16="http://schemas.microsoft.com/office/drawing/2014/main" id="{21BC0DDC-849A-4E11-8929-3EDBB0840857}"/>
              </a:ext>
            </a:extLst>
          </p:cNvPr>
          <p:cNvSpPr/>
          <p:nvPr/>
        </p:nvSpPr>
        <p:spPr bwMode="auto">
          <a:xfrm>
            <a:off x="8378290" y="1893693"/>
            <a:ext cx="479252" cy="319449"/>
          </a:xfrm>
          <a:prstGeom prst="rect">
            <a:avLst/>
          </a:prstGeom>
          <a:solidFill>
            <a:srgbClr val="00B0F0"/>
          </a:solidFill>
          <a:ln w="25400" cap="flat" cmpd="sng" algn="ctr">
            <a:noFill/>
            <a:prstDash val="solid"/>
          </a:ln>
          <a:effectLst/>
        </p:spPr>
        <p:txBody>
          <a:bodyPr vert="horz" wrap="square" lIns="36000" tIns="0" rIns="3600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00" b="0" i="0" u="none" strike="noStrike" kern="0" cap="none" spc="0" normalizeH="0" baseline="0" noProof="0" dirty="0">
                <a:ln>
                  <a:noFill/>
                </a:ln>
                <a:solidFill>
                  <a:srgbClr val="FF0000"/>
                </a:solidFill>
                <a:effectLst/>
                <a:uLnTx/>
                <a:uFillTx/>
                <a:latin typeface="Arial" charset="0"/>
                <a:ea typeface="宋体" charset="-122"/>
              </a:rPr>
              <a:t>VNF</a:t>
            </a:r>
          </a:p>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00" b="0" i="0" u="none" strike="noStrike" kern="0" cap="none" spc="0" normalizeH="0" baseline="0" noProof="0" dirty="0">
                <a:ln>
                  <a:noFill/>
                </a:ln>
                <a:solidFill>
                  <a:srgbClr val="FF0000"/>
                </a:solidFill>
                <a:effectLst/>
                <a:uLnTx/>
                <a:uFillTx/>
                <a:latin typeface="Arial" charset="0"/>
                <a:ea typeface="宋体" charset="-122"/>
              </a:rPr>
              <a:t>(router)</a:t>
            </a:r>
            <a:endParaRPr kumimoji="0" lang="zh-CN" altLang="en-US" sz="1000" b="0" i="0" u="none" strike="noStrike" kern="0" cap="none" spc="0" normalizeH="0" baseline="0" noProof="0" dirty="0">
              <a:ln>
                <a:noFill/>
              </a:ln>
              <a:solidFill>
                <a:srgbClr val="FF0000"/>
              </a:solidFill>
              <a:effectLst/>
              <a:uLnTx/>
              <a:uFillTx/>
              <a:latin typeface="Arial" charset="0"/>
              <a:ea typeface="宋体" charset="-122"/>
            </a:endParaRPr>
          </a:p>
        </p:txBody>
      </p:sp>
      <p:cxnSp>
        <p:nvCxnSpPr>
          <p:cNvPr id="108" name="直接连接符 107">
            <a:extLst>
              <a:ext uri="{FF2B5EF4-FFF2-40B4-BE49-F238E27FC236}">
                <a16:creationId xmlns:a16="http://schemas.microsoft.com/office/drawing/2014/main" id="{9E888BA8-B054-4285-8A5F-91C5F12720A9}"/>
              </a:ext>
            </a:extLst>
          </p:cNvPr>
          <p:cNvCxnSpPr/>
          <p:nvPr/>
        </p:nvCxnSpPr>
        <p:spPr bwMode="auto">
          <a:xfrm>
            <a:off x="7048475" y="1973200"/>
            <a:ext cx="1364038" cy="0"/>
          </a:xfrm>
          <a:prstGeom prst="line">
            <a:avLst/>
          </a:prstGeom>
          <a:noFill/>
          <a:ln w="9525" cap="flat" cmpd="sng" algn="ctr">
            <a:solidFill>
              <a:srgbClr val="00B0F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 name="矩形 108">
            <a:extLst>
              <a:ext uri="{FF2B5EF4-FFF2-40B4-BE49-F238E27FC236}">
                <a16:creationId xmlns:a16="http://schemas.microsoft.com/office/drawing/2014/main" id="{B12139C7-650C-4856-934A-3315065B9ACB}"/>
              </a:ext>
            </a:extLst>
          </p:cNvPr>
          <p:cNvSpPr/>
          <p:nvPr/>
        </p:nvSpPr>
        <p:spPr bwMode="auto">
          <a:xfrm>
            <a:off x="8386679" y="2338918"/>
            <a:ext cx="479252" cy="319449"/>
          </a:xfrm>
          <a:prstGeom prst="rect">
            <a:avLst/>
          </a:prstGeom>
          <a:solidFill>
            <a:srgbClr val="00B0F0"/>
          </a:solidFill>
          <a:ln w="25400" cap="flat" cmpd="sng" algn="ctr">
            <a:noFill/>
            <a:prstDash val="solid"/>
          </a:ln>
          <a:effectLst/>
        </p:spPr>
        <p:txBody>
          <a:bodyPr vert="horz" wrap="square" lIns="36000" tIns="0" rIns="3600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00" b="0" i="0" u="none" strike="noStrike" kern="0" cap="none" spc="0" normalizeH="0" baseline="0" noProof="0" dirty="0">
                <a:ln>
                  <a:noFill/>
                </a:ln>
                <a:solidFill>
                  <a:srgbClr val="FF0000"/>
                </a:solidFill>
                <a:effectLst/>
                <a:uLnTx/>
                <a:uFillTx/>
                <a:latin typeface="Arial" charset="0"/>
                <a:ea typeface="宋体" charset="-122"/>
              </a:rPr>
              <a:t>VNF</a:t>
            </a:r>
          </a:p>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00" b="0" i="0" u="none" strike="noStrike" kern="0" cap="none" spc="0" normalizeH="0" baseline="0" noProof="0" dirty="0">
                <a:ln>
                  <a:noFill/>
                </a:ln>
                <a:solidFill>
                  <a:srgbClr val="FF0000"/>
                </a:solidFill>
                <a:effectLst/>
                <a:uLnTx/>
                <a:uFillTx/>
                <a:latin typeface="Arial" charset="0"/>
                <a:ea typeface="宋体" charset="-122"/>
              </a:rPr>
              <a:t>(host)</a:t>
            </a:r>
            <a:endParaRPr kumimoji="0" lang="zh-CN" altLang="en-US" sz="1000" b="0" i="0" u="none" strike="noStrike" kern="0" cap="none" spc="0" normalizeH="0" baseline="0" noProof="0" dirty="0">
              <a:ln>
                <a:noFill/>
              </a:ln>
              <a:solidFill>
                <a:srgbClr val="FF0000"/>
              </a:solidFill>
              <a:effectLst/>
              <a:uLnTx/>
              <a:uFillTx/>
              <a:latin typeface="Arial" charset="0"/>
              <a:ea typeface="宋体" charset="-122"/>
            </a:endParaRPr>
          </a:p>
        </p:txBody>
      </p:sp>
      <p:sp>
        <p:nvSpPr>
          <p:cNvPr id="110" name="椭圆 109">
            <a:extLst>
              <a:ext uri="{FF2B5EF4-FFF2-40B4-BE49-F238E27FC236}">
                <a16:creationId xmlns:a16="http://schemas.microsoft.com/office/drawing/2014/main" id="{06088F46-A2DF-4C19-8753-A2E38B902ED9}"/>
              </a:ext>
            </a:extLst>
          </p:cNvPr>
          <p:cNvSpPr/>
          <p:nvPr/>
        </p:nvSpPr>
        <p:spPr bwMode="auto">
          <a:xfrm>
            <a:off x="7538099" y="1917695"/>
            <a:ext cx="394242" cy="226418"/>
          </a:xfrm>
          <a:prstGeom prst="ellipse">
            <a:avLst/>
          </a:prstGeom>
          <a:solidFill>
            <a:srgbClr val="7030A0"/>
          </a:solidFill>
          <a:ln w="25400" cap="flat" cmpd="sng" algn="ctr">
            <a:solidFill>
              <a:srgbClr val="FFFFFF"/>
            </a:solidFill>
            <a:prstDash val="solid"/>
          </a:ln>
          <a:effec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00" b="0" i="0" u="none" strike="noStrike" kern="0" cap="none" spc="0" normalizeH="0" baseline="0" noProof="0" dirty="0">
                <a:ln>
                  <a:noFill/>
                </a:ln>
                <a:solidFill>
                  <a:srgbClr val="FFFFFF"/>
                </a:solidFill>
                <a:effectLst/>
                <a:uLnTx/>
                <a:uFillTx/>
                <a:latin typeface="Arial" charset="0"/>
                <a:ea typeface="宋体" charset="-122"/>
              </a:rPr>
              <a:t>VRF</a:t>
            </a:r>
            <a:endParaRPr kumimoji="0" lang="zh-CN" altLang="en-US" sz="1000" b="0" i="0" u="none" strike="noStrike" kern="0" cap="none" spc="0" normalizeH="0" baseline="0" noProof="0" dirty="0">
              <a:ln>
                <a:noFill/>
              </a:ln>
              <a:solidFill>
                <a:srgbClr val="FFFFFF"/>
              </a:solidFill>
              <a:effectLst/>
              <a:uLnTx/>
              <a:uFillTx/>
              <a:latin typeface="Arial" charset="0"/>
              <a:ea typeface="宋体" charset="-122"/>
            </a:endParaRPr>
          </a:p>
        </p:txBody>
      </p:sp>
      <p:cxnSp>
        <p:nvCxnSpPr>
          <p:cNvPr id="111" name="直接连接符 110">
            <a:extLst>
              <a:ext uri="{FF2B5EF4-FFF2-40B4-BE49-F238E27FC236}">
                <a16:creationId xmlns:a16="http://schemas.microsoft.com/office/drawing/2014/main" id="{2196216E-A632-4CE7-8BB6-006887618E82}"/>
              </a:ext>
            </a:extLst>
          </p:cNvPr>
          <p:cNvCxnSpPr>
            <a:cxnSpLocks/>
          </p:cNvCxnSpPr>
          <p:nvPr/>
        </p:nvCxnSpPr>
        <p:spPr bwMode="auto">
          <a:xfrm>
            <a:off x="7351471" y="2151919"/>
            <a:ext cx="1055662" cy="0"/>
          </a:xfrm>
          <a:prstGeom prst="line">
            <a:avLst/>
          </a:prstGeom>
          <a:noFill/>
          <a:ln w="9525" cap="flat" cmpd="sng" algn="ctr">
            <a:solidFill>
              <a:srgbClr val="7030A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接连接符 111">
            <a:extLst>
              <a:ext uri="{FF2B5EF4-FFF2-40B4-BE49-F238E27FC236}">
                <a16:creationId xmlns:a16="http://schemas.microsoft.com/office/drawing/2014/main" id="{B354B9CF-FF56-4712-B608-DCD6C4F82B5E}"/>
              </a:ext>
            </a:extLst>
          </p:cNvPr>
          <p:cNvCxnSpPr>
            <a:cxnSpLocks/>
          </p:cNvCxnSpPr>
          <p:nvPr/>
        </p:nvCxnSpPr>
        <p:spPr bwMode="auto">
          <a:xfrm>
            <a:off x="6940990" y="2446462"/>
            <a:ext cx="1466143" cy="0"/>
          </a:xfrm>
          <a:prstGeom prst="line">
            <a:avLst/>
          </a:prstGeom>
          <a:noFill/>
          <a:ln w="9525"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13" name="Picture 49" descr="Lanswitch3">
            <a:extLst>
              <a:ext uri="{FF2B5EF4-FFF2-40B4-BE49-F238E27FC236}">
                <a16:creationId xmlns:a16="http://schemas.microsoft.com/office/drawing/2014/main" id="{77D21D69-4947-4353-8A1F-0CB63EE286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86298" y="2116629"/>
            <a:ext cx="455613" cy="300037"/>
          </a:xfrm>
          <a:prstGeom prst="rect">
            <a:avLst/>
          </a:prstGeom>
          <a:noFill/>
          <a:extLst>
            <a:ext uri="{909E8E84-426E-40DD-AFC4-6F175D3DCCD1}">
              <a14:hiddenFill xmlns:a14="http://schemas.microsoft.com/office/drawing/2010/main">
                <a:solidFill>
                  <a:srgbClr val="FFFFFF"/>
                </a:solidFill>
              </a14:hiddenFill>
            </a:ext>
          </a:extLst>
        </p:spPr>
      </p:pic>
      <p:sp>
        <p:nvSpPr>
          <p:cNvPr id="114" name="椭圆 113">
            <a:extLst>
              <a:ext uri="{FF2B5EF4-FFF2-40B4-BE49-F238E27FC236}">
                <a16:creationId xmlns:a16="http://schemas.microsoft.com/office/drawing/2014/main" id="{E70753D2-7B8B-4EC9-BC1E-51B24BB5DF74}"/>
              </a:ext>
            </a:extLst>
          </p:cNvPr>
          <p:cNvSpPr/>
          <p:nvPr/>
        </p:nvSpPr>
        <p:spPr bwMode="auto">
          <a:xfrm>
            <a:off x="7562601" y="2137926"/>
            <a:ext cx="394242" cy="226418"/>
          </a:xfrm>
          <a:prstGeom prst="ellipse">
            <a:avLst/>
          </a:prstGeom>
          <a:solidFill>
            <a:srgbClr val="0070C0"/>
          </a:solidFill>
          <a:ln w="25400" cap="flat" cmpd="sng" algn="ctr">
            <a:solidFill>
              <a:srgbClr val="FFFFFF"/>
            </a:solidFill>
            <a:prstDash val="solid"/>
          </a:ln>
          <a:effec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00" b="0" i="0" u="none" strike="noStrike" kern="0" cap="none" spc="0" normalizeH="0" baseline="0" noProof="0" dirty="0">
                <a:ln>
                  <a:noFill/>
                </a:ln>
                <a:solidFill>
                  <a:srgbClr val="FFFFFF"/>
                </a:solidFill>
                <a:effectLst/>
                <a:uLnTx/>
                <a:uFillTx/>
                <a:latin typeface="Arial" charset="0"/>
                <a:ea typeface="宋体" charset="-122"/>
              </a:rPr>
              <a:t>BD</a:t>
            </a:r>
            <a:endParaRPr kumimoji="0" lang="zh-CN" altLang="en-US" sz="1000" b="0" i="0" u="none" strike="noStrike" kern="0" cap="none" spc="0" normalizeH="0" baseline="0" noProof="0" dirty="0">
              <a:ln>
                <a:noFill/>
              </a:ln>
              <a:solidFill>
                <a:srgbClr val="FFFFFF"/>
              </a:solidFill>
              <a:effectLst/>
              <a:uLnTx/>
              <a:uFillTx/>
              <a:latin typeface="Arial" charset="0"/>
              <a:ea typeface="宋体" charset="-122"/>
            </a:endParaRPr>
          </a:p>
        </p:txBody>
      </p:sp>
      <p:cxnSp>
        <p:nvCxnSpPr>
          <p:cNvPr id="115" name="直接箭头连接符 114">
            <a:extLst>
              <a:ext uri="{FF2B5EF4-FFF2-40B4-BE49-F238E27FC236}">
                <a16:creationId xmlns:a16="http://schemas.microsoft.com/office/drawing/2014/main" id="{E82376E9-D185-4A43-B47C-C4B3E9DB734D}"/>
              </a:ext>
            </a:extLst>
          </p:cNvPr>
          <p:cNvCxnSpPr>
            <a:cxnSpLocks/>
          </p:cNvCxnSpPr>
          <p:nvPr/>
        </p:nvCxnSpPr>
        <p:spPr bwMode="auto">
          <a:xfrm>
            <a:off x="6019142" y="2893497"/>
            <a:ext cx="2226173" cy="0"/>
          </a:xfrm>
          <a:prstGeom prst="straightConnector1">
            <a:avLst/>
          </a:prstGeom>
          <a:noFill/>
          <a:ln w="9525" cap="flat" cmpd="sng" algn="ctr">
            <a:solidFill>
              <a:srgbClr val="C00000"/>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文本框 115">
            <a:extLst>
              <a:ext uri="{FF2B5EF4-FFF2-40B4-BE49-F238E27FC236}">
                <a16:creationId xmlns:a16="http://schemas.microsoft.com/office/drawing/2014/main" id="{E9FD0827-032C-47A7-B21B-F7E56FA7DCA7}"/>
              </a:ext>
            </a:extLst>
          </p:cNvPr>
          <p:cNvSpPr txBox="1"/>
          <p:nvPr/>
        </p:nvSpPr>
        <p:spPr>
          <a:xfrm>
            <a:off x="6761566" y="2697461"/>
            <a:ext cx="1099981" cy="253916"/>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L3VPN Service</a:t>
            </a:r>
            <a:endParaRPr lang="zh-CN" altLang="en-US" sz="1050" dirty="0">
              <a:solidFill>
                <a:srgbClr val="000000"/>
              </a:solidFill>
              <a:latin typeface="Arial" pitchFamily="34" charset="0"/>
              <a:ea typeface="宋体" pitchFamily="2" charset="-122"/>
            </a:endParaRPr>
          </a:p>
        </p:txBody>
      </p:sp>
      <p:cxnSp>
        <p:nvCxnSpPr>
          <p:cNvPr id="117" name="直接连接符 116">
            <a:extLst>
              <a:ext uri="{FF2B5EF4-FFF2-40B4-BE49-F238E27FC236}">
                <a16:creationId xmlns:a16="http://schemas.microsoft.com/office/drawing/2014/main" id="{4BA3BD42-F17D-4E05-9D6B-0148F4615E9A}"/>
              </a:ext>
            </a:extLst>
          </p:cNvPr>
          <p:cNvCxnSpPr>
            <a:cxnSpLocks/>
          </p:cNvCxnSpPr>
          <p:nvPr/>
        </p:nvCxnSpPr>
        <p:spPr bwMode="auto">
          <a:xfrm>
            <a:off x="6018256" y="2781098"/>
            <a:ext cx="0" cy="224798"/>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 name="直接连接符 117">
            <a:extLst>
              <a:ext uri="{FF2B5EF4-FFF2-40B4-BE49-F238E27FC236}">
                <a16:creationId xmlns:a16="http://schemas.microsoft.com/office/drawing/2014/main" id="{A1779FB4-AFE0-4DFB-A04D-F0FE057217FF}"/>
              </a:ext>
            </a:extLst>
          </p:cNvPr>
          <p:cNvCxnSpPr>
            <a:cxnSpLocks/>
          </p:cNvCxnSpPr>
          <p:nvPr/>
        </p:nvCxnSpPr>
        <p:spPr bwMode="auto">
          <a:xfrm>
            <a:off x="8277188" y="2775991"/>
            <a:ext cx="0" cy="224798"/>
          </a:xfrm>
          <a:prstGeom prst="line">
            <a:avLst/>
          </a:prstGeom>
          <a:noFill/>
          <a:ln w="9525" cap="flat" cmpd="sng" algn="ctr">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9" name="文本框 118">
            <a:extLst>
              <a:ext uri="{FF2B5EF4-FFF2-40B4-BE49-F238E27FC236}">
                <a16:creationId xmlns:a16="http://schemas.microsoft.com/office/drawing/2014/main" id="{D20A09BA-9442-4E9F-93E2-78B42897AF68}"/>
              </a:ext>
            </a:extLst>
          </p:cNvPr>
          <p:cNvSpPr txBox="1"/>
          <p:nvPr/>
        </p:nvSpPr>
        <p:spPr>
          <a:xfrm>
            <a:off x="7696627" y="2455650"/>
            <a:ext cx="737702" cy="253916"/>
          </a:xfrm>
          <a:prstGeom prst="rect">
            <a:avLst/>
          </a:prstGeom>
          <a:noFill/>
        </p:spPr>
        <p:txBody>
          <a:bodyPr wrap="square" rtlCol="0">
            <a:spAutoFit/>
          </a:bodyPr>
          <a:lstStyle/>
          <a:p>
            <a:pPr fontAlgn="base">
              <a:spcBef>
                <a:spcPct val="0"/>
              </a:spcBef>
              <a:spcAft>
                <a:spcPct val="0"/>
              </a:spcAft>
            </a:pPr>
            <a:r>
              <a:rPr lang="zh-CN" altLang="en-US" sz="1050" dirty="0">
                <a:solidFill>
                  <a:srgbClr val="000000"/>
                </a:solidFill>
                <a:latin typeface="微软雅黑" panose="020B0503020204020204" pitchFamily="34" charset="-122"/>
                <a:ea typeface="微软雅黑" panose="020B0503020204020204" pitchFamily="34" charset="-122"/>
              </a:rPr>
              <a:t>业务接入</a:t>
            </a:r>
          </a:p>
        </p:txBody>
      </p:sp>
      <p:sp>
        <p:nvSpPr>
          <p:cNvPr id="120" name="任意多边形: 形状 119">
            <a:extLst>
              <a:ext uri="{FF2B5EF4-FFF2-40B4-BE49-F238E27FC236}">
                <a16:creationId xmlns:a16="http://schemas.microsoft.com/office/drawing/2014/main" id="{8245DCD0-9E52-4A22-AF4E-BF3CFC852A0F}"/>
              </a:ext>
            </a:extLst>
          </p:cNvPr>
          <p:cNvSpPr/>
          <p:nvPr/>
        </p:nvSpPr>
        <p:spPr bwMode="auto">
          <a:xfrm rot="21294811">
            <a:off x="6575241" y="3394372"/>
            <a:ext cx="929933" cy="374870"/>
          </a:xfrm>
          <a:custGeom>
            <a:avLst/>
            <a:gdLst>
              <a:gd name="connsiteX0" fmla="*/ 0 w 919655"/>
              <a:gd name="connsiteY0" fmla="*/ 114002 h 387271"/>
              <a:gd name="connsiteX1" fmla="*/ 436180 w 919655"/>
              <a:gd name="connsiteY1" fmla="*/ 14154 h 387271"/>
              <a:gd name="connsiteX2" fmla="*/ 919655 w 919655"/>
              <a:gd name="connsiteY2" fmla="*/ 387271 h 387271"/>
              <a:gd name="connsiteX0" fmla="*/ 0 w 919655"/>
              <a:gd name="connsiteY0" fmla="*/ 123350 h 396619"/>
              <a:gd name="connsiteX1" fmla="*/ 562304 w 919655"/>
              <a:gd name="connsiteY1" fmla="*/ 12991 h 396619"/>
              <a:gd name="connsiteX2" fmla="*/ 919655 w 919655"/>
              <a:gd name="connsiteY2" fmla="*/ 396619 h 396619"/>
              <a:gd name="connsiteX0" fmla="*/ 0 w 919655"/>
              <a:gd name="connsiteY0" fmla="*/ 129801 h 403070"/>
              <a:gd name="connsiteX1" fmla="*/ 612310 w 919655"/>
              <a:gd name="connsiteY1" fmla="*/ 12298 h 403070"/>
              <a:gd name="connsiteX2" fmla="*/ 919655 w 919655"/>
              <a:gd name="connsiteY2" fmla="*/ 403070 h 403070"/>
              <a:gd name="connsiteX0" fmla="*/ 0 w 919655"/>
              <a:gd name="connsiteY0" fmla="*/ 112777 h 386046"/>
              <a:gd name="connsiteX1" fmla="*/ 595642 w 919655"/>
              <a:gd name="connsiteY1" fmla="*/ 14324 h 386046"/>
              <a:gd name="connsiteX2" fmla="*/ 919655 w 919655"/>
              <a:gd name="connsiteY2" fmla="*/ 386046 h 386046"/>
              <a:gd name="connsiteX0" fmla="*/ 0 w 919655"/>
              <a:gd name="connsiteY0" fmla="*/ 113728 h 386997"/>
              <a:gd name="connsiteX1" fmla="*/ 595642 w 919655"/>
              <a:gd name="connsiteY1" fmla="*/ 15275 h 386997"/>
              <a:gd name="connsiteX2" fmla="*/ 919655 w 919655"/>
              <a:gd name="connsiteY2" fmla="*/ 386997 h 386997"/>
              <a:gd name="connsiteX0" fmla="*/ 0 w 919655"/>
              <a:gd name="connsiteY0" fmla="*/ 107210 h 380479"/>
              <a:gd name="connsiteX1" fmla="*/ 595642 w 919655"/>
              <a:gd name="connsiteY1" fmla="*/ 8757 h 380479"/>
              <a:gd name="connsiteX2" fmla="*/ 919655 w 919655"/>
              <a:gd name="connsiteY2" fmla="*/ 380479 h 380479"/>
              <a:gd name="connsiteX0" fmla="*/ 0 w 919655"/>
              <a:gd name="connsiteY0" fmla="*/ 107210 h 380479"/>
              <a:gd name="connsiteX1" fmla="*/ 595642 w 919655"/>
              <a:gd name="connsiteY1" fmla="*/ 8757 h 380479"/>
              <a:gd name="connsiteX2" fmla="*/ 919655 w 919655"/>
              <a:gd name="connsiteY2" fmla="*/ 380479 h 380479"/>
              <a:gd name="connsiteX0" fmla="*/ 0 w 919655"/>
              <a:gd name="connsiteY0" fmla="*/ 107210 h 380479"/>
              <a:gd name="connsiteX1" fmla="*/ 595642 w 919655"/>
              <a:gd name="connsiteY1" fmla="*/ 8757 h 380479"/>
              <a:gd name="connsiteX2" fmla="*/ 919655 w 919655"/>
              <a:gd name="connsiteY2" fmla="*/ 380479 h 380479"/>
              <a:gd name="connsiteX0" fmla="*/ 0 w 929180"/>
              <a:gd name="connsiteY0" fmla="*/ 113253 h 393666"/>
              <a:gd name="connsiteX1" fmla="*/ 595642 w 929180"/>
              <a:gd name="connsiteY1" fmla="*/ 14800 h 393666"/>
              <a:gd name="connsiteX2" fmla="*/ 929180 w 929180"/>
              <a:gd name="connsiteY2" fmla="*/ 393666 h 393666"/>
              <a:gd name="connsiteX0" fmla="*/ 0 w 929180"/>
              <a:gd name="connsiteY0" fmla="*/ 113253 h 393666"/>
              <a:gd name="connsiteX1" fmla="*/ 595642 w 929180"/>
              <a:gd name="connsiteY1" fmla="*/ 14800 h 393666"/>
              <a:gd name="connsiteX2" fmla="*/ 929180 w 929180"/>
              <a:gd name="connsiteY2" fmla="*/ 393666 h 393666"/>
            </a:gdLst>
            <a:ahLst/>
            <a:cxnLst>
              <a:cxn ang="0">
                <a:pos x="connsiteX0" y="connsiteY0"/>
              </a:cxn>
              <a:cxn ang="0">
                <a:pos x="connsiteX1" y="connsiteY1"/>
              </a:cxn>
              <a:cxn ang="0">
                <a:pos x="connsiteX2" y="connsiteY2"/>
              </a:cxn>
            </a:cxnLst>
            <a:rect l="l" t="t" r="r" b="b"/>
            <a:pathLst>
              <a:path w="929180" h="393666">
                <a:moveTo>
                  <a:pt x="0" y="113253"/>
                </a:moveTo>
                <a:cubicBezTo>
                  <a:pt x="141452" y="40556"/>
                  <a:pt x="440779" y="-31935"/>
                  <a:pt x="595642" y="14800"/>
                </a:cubicBezTo>
                <a:cubicBezTo>
                  <a:pt x="750505" y="61535"/>
                  <a:pt x="818849" y="213211"/>
                  <a:pt x="929180" y="393666"/>
                </a:cubicBezTo>
              </a:path>
            </a:pathLst>
          </a:custGeom>
          <a:noFill/>
          <a:ln w="19050" cap="flat" cmpd="sng" algn="ctr">
            <a:solidFill>
              <a:srgbClr val="C00000"/>
            </a:solidFill>
            <a:prstDash val="dash"/>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srgbClr val="000000"/>
              </a:solidFill>
              <a:effectLst/>
              <a:uLnTx/>
              <a:uFillTx/>
              <a:latin typeface="FrutigerNext LT Medium"/>
              <a:ea typeface="华文细黑"/>
            </a:endParaRPr>
          </a:p>
        </p:txBody>
      </p:sp>
      <p:sp>
        <p:nvSpPr>
          <p:cNvPr id="121" name="文本框 120">
            <a:extLst>
              <a:ext uri="{FF2B5EF4-FFF2-40B4-BE49-F238E27FC236}">
                <a16:creationId xmlns:a16="http://schemas.microsoft.com/office/drawing/2014/main" id="{D586BE6F-545F-439E-B4D7-BFD9FFD13221}"/>
              </a:ext>
            </a:extLst>
          </p:cNvPr>
          <p:cNvSpPr txBox="1"/>
          <p:nvPr/>
        </p:nvSpPr>
        <p:spPr>
          <a:xfrm>
            <a:off x="5851689" y="1507783"/>
            <a:ext cx="878767" cy="246221"/>
          </a:xfrm>
          <a:prstGeom prst="rect">
            <a:avLst/>
          </a:prstGeom>
          <a:noFill/>
        </p:spPr>
        <p:txBody>
          <a:bodyPr wrap="none" rtlCol="0">
            <a:spAutoFit/>
          </a:bodyPr>
          <a:lstStyle/>
          <a:p>
            <a:pPr fontAlgn="base">
              <a:spcBef>
                <a:spcPct val="0"/>
              </a:spcBef>
              <a:spcAft>
                <a:spcPct val="0"/>
              </a:spcAft>
            </a:pPr>
            <a:r>
              <a:rPr lang="en-US" altLang="zh-CN" sz="1000" dirty="0" err="1">
                <a:solidFill>
                  <a:srgbClr val="C00000"/>
                </a:solidFill>
                <a:latin typeface="Arial" pitchFamily="34" charset="0"/>
                <a:ea typeface="宋体" pitchFamily="2" charset="-122"/>
              </a:rPr>
              <a:t>eBGP</a:t>
            </a:r>
            <a:r>
              <a:rPr lang="en-US" altLang="zh-CN" sz="1000" dirty="0">
                <a:solidFill>
                  <a:srgbClr val="C00000"/>
                </a:solidFill>
                <a:latin typeface="Arial" pitchFamily="34" charset="0"/>
                <a:ea typeface="宋体" pitchFamily="2" charset="-122"/>
              </a:rPr>
              <a:t>/Static</a:t>
            </a:r>
            <a:endParaRPr lang="zh-CN" altLang="en-US" sz="1000" dirty="0">
              <a:solidFill>
                <a:srgbClr val="C00000"/>
              </a:solidFill>
              <a:latin typeface="Arial" pitchFamily="34" charset="0"/>
              <a:ea typeface="宋体" pitchFamily="2" charset="-122"/>
            </a:endParaRPr>
          </a:p>
        </p:txBody>
      </p:sp>
      <p:sp>
        <p:nvSpPr>
          <p:cNvPr id="122" name="任意多边形: 形状 121">
            <a:extLst>
              <a:ext uri="{FF2B5EF4-FFF2-40B4-BE49-F238E27FC236}">
                <a16:creationId xmlns:a16="http://schemas.microsoft.com/office/drawing/2014/main" id="{7D5BFFFC-9DE4-4BE2-8F29-22E20023E895}"/>
              </a:ext>
            </a:extLst>
          </p:cNvPr>
          <p:cNvSpPr/>
          <p:nvPr/>
        </p:nvSpPr>
        <p:spPr bwMode="auto">
          <a:xfrm rot="20693455">
            <a:off x="6753959" y="1664850"/>
            <a:ext cx="1607756" cy="497366"/>
          </a:xfrm>
          <a:custGeom>
            <a:avLst/>
            <a:gdLst>
              <a:gd name="connsiteX0" fmla="*/ 0 w 919655"/>
              <a:gd name="connsiteY0" fmla="*/ 114002 h 387271"/>
              <a:gd name="connsiteX1" fmla="*/ 436180 w 919655"/>
              <a:gd name="connsiteY1" fmla="*/ 14154 h 387271"/>
              <a:gd name="connsiteX2" fmla="*/ 919655 w 919655"/>
              <a:gd name="connsiteY2" fmla="*/ 387271 h 387271"/>
              <a:gd name="connsiteX0" fmla="*/ 0 w 919655"/>
              <a:gd name="connsiteY0" fmla="*/ 123350 h 396619"/>
              <a:gd name="connsiteX1" fmla="*/ 562304 w 919655"/>
              <a:gd name="connsiteY1" fmla="*/ 12991 h 396619"/>
              <a:gd name="connsiteX2" fmla="*/ 919655 w 919655"/>
              <a:gd name="connsiteY2" fmla="*/ 396619 h 396619"/>
              <a:gd name="connsiteX0" fmla="*/ 0 w 919655"/>
              <a:gd name="connsiteY0" fmla="*/ 129801 h 403070"/>
              <a:gd name="connsiteX1" fmla="*/ 612310 w 919655"/>
              <a:gd name="connsiteY1" fmla="*/ 12298 h 403070"/>
              <a:gd name="connsiteX2" fmla="*/ 919655 w 919655"/>
              <a:gd name="connsiteY2" fmla="*/ 403070 h 403070"/>
              <a:gd name="connsiteX0" fmla="*/ 0 w 919655"/>
              <a:gd name="connsiteY0" fmla="*/ 112777 h 386046"/>
              <a:gd name="connsiteX1" fmla="*/ 595642 w 919655"/>
              <a:gd name="connsiteY1" fmla="*/ 14324 h 386046"/>
              <a:gd name="connsiteX2" fmla="*/ 919655 w 919655"/>
              <a:gd name="connsiteY2" fmla="*/ 386046 h 386046"/>
              <a:gd name="connsiteX0" fmla="*/ 0 w 919655"/>
              <a:gd name="connsiteY0" fmla="*/ 113728 h 386997"/>
              <a:gd name="connsiteX1" fmla="*/ 595642 w 919655"/>
              <a:gd name="connsiteY1" fmla="*/ 15275 h 386997"/>
              <a:gd name="connsiteX2" fmla="*/ 919655 w 919655"/>
              <a:gd name="connsiteY2" fmla="*/ 386997 h 386997"/>
              <a:gd name="connsiteX0" fmla="*/ 0 w 919655"/>
              <a:gd name="connsiteY0" fmla="*/ 107210 h 380479"/>
              <a:gd name="connsiteX1" fmla="*/ 595642 w 919655"/>
              <a:gd name="connsiteY1" fmla="*/ 8757 h 380479"/>
              <a:gd name="connsiteX2" fmla="*/ 919655 w 919655"/>
              <a:gd name="connsiteY2" fmla="*/ 380479 h 380479"/>
              <a:gd name="connsiteX0" fmla="*/ 0 w 919655"/>
              <a:gd name="connsiteY0" fmla="*/ 107210 h 380479"/>
              <a:gd name="connsiteX1" fmla="*/ 595642 w 919655"/>
              <a:gd name="connsiteY1" fmla="*/ 8757 h 380479"/>
              <a:gd name="connsiteX2" fmla="*/ 919655 w 919655"/>
              <a:gd name="connsiteY2" fmla="*/ 380479 h 380479"/>
              <a:gd name="connsiteX0" fmla="*/ 0 w 919655"/>
              <a:gd name="connsiteY0" fmla="*/ 107210 h 380479"/>
              <a:gd name="connsiteX1" fmla="*/ 595642 w 919655"/>
              <a:gd name="connsiteY1" fmla="*/ 8757 h 380479"/>
              <a:gd name="connsiteX2" fmla="*/ 919655 w 919655"/>
              <a:gd name="connsiteY2" fmla="*/ 380479 h 380479"/>
              <a:gd name="connsiteX0" fmla="*/ 0 w 929180"/>
              <a:gd name="connsiteY0" fmla="*/ 113253 h 393666"/>
              <a:gd name="connsiteX1" fmla="*/ 595642 w 929180"/>
              <a:gd name="connsiteY1" fmla="*/ 14800 h 393666"/>
              <a:gd name="connsiteX2" fmla="*/ 929180 w 929180"/>
              <a:gd name="connsiteY2" fmla="*/ 393666 h 393666"/>
              <a:gd name="connsiteX0" fmla="*/ 0 w 929180"/>
              <a:gd name="connsiteY0" fmla="*/ 113253 h 393666"/>
              <a:gd name="connsiteX1" fmla="*/ 595642 w 929180"/>
              <a:gd name="connsiteY1" fmla="*/ 14800 h 393666"/>
              <a:gd name="connsiteX2" fmla="*/ 929180 w 929180"/>
              <a:gd name="connsiteY2" fmla="*/ 393666 h 393666"/>
              <a:gd name="connsiteX0" fmla="*/ 0 w 929180"/>
              <a:gd name="connsiteY0" fmla="*/ 109342 h 389755"/>
              <a:gd name="connsiteX1" fmla="*/ 498777 w 929180"/>
              <a:gd name="connsiteY1" fmla="*/ 15378 h 389755"/>
              <a:gd name="connsiteX2" fmla="*/ 929180 w 929180"/>
              <a:gd name="connsiteY2" fmla="*/ 389755 h 389755"/>
              <a:gd name="connsiteX0" fmla="*/ 0 w 929180"/>
              <a:gd name="connsiteY0" fmla="*/ 121319 h 401732"/>
              <a:gd name="connsiteX1" fmla="*/ 430194 w 929180"/>
              <a:gd name="connsiteY1" fmla="*/ 13742 h 401732"/>
              <a:gd name="connsiteX2" fmla="*/ 929180 w 929180"/>
              <a:gd name="connsiteY2" fmla="*/ 401732 h 401732"/>
              <a:gd name="connsiteX0" fmla="*/ 0 w 929180"/>
              <a:gd name="connsiteY0" fmla="*/ 112310 h 392723"/>
              <a:gd name="connsiteX1" fmla="*/ 436731 w 929180"/>
              <a:gd name="connsiteY1" fmla="*/ 14936 h 392723"/>
              <a:gd name="connsiteX2" fmla="*/ 929180 w 929180"/>
              <a:gd name="connsiteY2" fmla="*/ 392723 h 392723"/>
            </a:gdLst>
            <a:ahLst/>
            <a:cxnLst>
              <a:cxn ang="0">
                <a:pos x="connsiteX0" y="connsiteY0"/>
              </a:cxn>
              <a:cxn ang="0">
                <a:pos x="connsiteX1" y="connsiteY1"/>
              </a:cxn>
              <a:cxn ang="0">
                <a:pos x="connsiteX2" y="connsiteY2"/>
              </a:cxn>
            </a:cxnLst>
            <a:rect l="l" t="t" r="r" b="b"/>
            <a:pathLst>
              <a:path w="929180" h="392723">
                <a:moveTo>
                  <a:pt x="0" y="112310"/>
                </a:moveTo>
                <a:cubicBezTo>
                  <a:pt x="141452" y="39613"/>
                  <a:pt x="281868" y="-31799"/>
                  <a:pt x="436731" y="14936"/>
                </a:cubicBezTo>
                <a:cubicBezTo>
                  <a:pt x="591594" y="61671"/>
                  <a:pt x="818849" y="212268"/>
                  <a:pt x="929180" y="392723"/>
                </a:cubicBezTo>
              </a:path>
            </a:pathLst>
          </a:custGeom>
          <a:noFill/>
          <a:ln w="19050" cap="flat" cmpd="sng" algn="ctr">
            <a:solidFill>
              <a:srgbClr val="C00000"/>
            </a:solidFill>
            <a:prstDash val="dash"/>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srgbClr val="000000"/>
              </a:solidFill>
              <a:effectLst/>
              <a:uLnTx/>
              <a:uFillTx/>
              <a:latin typeface="FrutigerNext LT Medium"/>
              <a:ea typeface="华文细黑"/>
            </a:endParaRPr>
          </a:p>
        </p:txBody>
      </p:sp>
      <p:sp>
        <p:nvSpPr>
          <p:cNvPr id="123" name="文本框 122">
            <a:extLst>
              <a:ext uri="{FF2B5EF4-FFF2-40B4-BE49-F238E27FC236}">
                <a16:creationId xmlns:a16="http://schemas.microsoft.com/office/drawing/2014/main" id="{D41081E6-3949-462C-ABA9-E077E12118DF}"/>
              </a:ext>
            </a:extLst>
          </p:cNvPr>
          <p:cNvSpPr txBox="1"/>
          <p:nvPr/>
        </p:nvSpPr>
        <p:spPr>
          <a:xfrm>
            <a:off x="7359414" y="1494623"/>
            <a:ext cx="524503" cy="246221"/>
          </a:xfrm>
          <a:prstGeom prst="rect">
            <a:avLst/>
          </a:prstGeom>
          <a:noFill/>
        </p:spPr>
        <p:txBody>
          <a:bodyPr wrap="none" rtlCol="0">
            <a:spAutoFit/>
          </a:bodyPr>
          <a:lstStyle/>
          <a:p>
            <a:pPr fontAlgn="base">
              <a:spcBef>
                <a:spcPct val="0"/>
              </a:spcBef>
              <a:spcAft>
                <a:spcPct val="0"/>
              </a:spcAft>
            </a:pPr>
            <a:r>
              <a:rPr lang="en-US" altLang="zh-CN" sz="1000" dirty="0" err="1">
                <a:solidFill>
                  <a:srgbClr val="C00000"/>
                </a:solidFill>
                <a:latin typeface="Arial" pitchFamily="34" charset="0"/>
                <a:ea typeface="宋体" pitchFamily="2" charset="-122"/>
              </a:rPr>
              <a:t>eBGP</a:t>
            </a:r>
            <a:endParaRPr lang="zh-CN" altLang="en-US" sz="1000" dirty="0">
              <a:solidFill>
                <a:srgbClr val="C00000"/>
              </a:solidFill>
              <a:latin typeface="Arial" pitchFamily="34" charset="0"/>
              <a:ea typeface="宋体" pitchFamily="2" charset="-122"/>
            </a:endParaRPr>
          </a:p>
        </p:txBody>
      </p:sp>
      <p:sp>
        <p:nvSpPr>
          <p:cNvPr id="124" name="文本框 123">
            <a:extLst>
              <a:ext uri="{FF2B5EF4-FFF2-40B4-BE49-F238E27FC236}">
                <a16:creationId xmlns:a16="http://schemas.microsoft.com/office/drawing/2014/main" id="{BA3FE3B7-A434-4DC3-885C-36AEE6C90F9C}"/>
              </a:ext>
            </a:extLst>
          </p:cNvPr>
          <p:cNvSpPr txBox="1"/>
          <p:nvPr/>
        </p:nvSpPr>
        <p:spPr>
          <a:xfrm>
            <a:off x="6418647" y="1660560"/>
            <a:ext cx="737702" cy="253916"/>
          </a:xfrm>
          <a:prstGeom prst="rect">
            <a:avLst/>
          </a:prstGeom>
          <a:noFill/>
        </p:spPr>
        <p:txBody>
          <a:bodyPr wrap="none" rtlCol="0">
            <a:spAutoFit/>
          </a:bodyPr>
          <a:lstStyle/>
          <a:p>
            <a:pPr fontAlgn="base">
              <a:spcBef>
                <a:spcPct val="0"/>
              </a:spcBef>
              <a:spcAft>
                <a:spcPct val="0"/>
              </a:spcAft>
            </a:pPr>
            <a:r>
              <a:rPr lang="en-US" altLang="zh-CN" sz="1050" dirty="0">
                <a:solidFill>
                  <a:srgbClr val="000000"/>
                </a:solidFill>
                <a:latin typeface="Arial" pitchFamily="34" charset="0"/>
                <a:ea typeface="宋体" pitchFamily="2" charset="-122"/>
              </a:rPr>
              <a:t>SDN GW</a:t>
            </a:r>
            <a:endParaRPr lang="zh-CN" altLang="en-US" sz="1050" dirty="0">
              <a:solidFill>
                <a:srgbClr val="000000"/>
              </a:solidFill>
              <a:latin typeface="Arial" pitchFamily="34" charset="0"/>
              <a:ea typeface="宋体" pitchFamily="2" charset="-122"/>
            </a:endParaRPr>
          </a:p>
        </p:txBody>
      </p:sp>
      <p:sp>
        <p:nvSpPr>
          <p:cNvPr id="125" name="文本框 124">
            <a:extLst>
              <a:ext uri="{FF2B5EF4-FFF2-40B4-BE49-F238E27FC236}">
                <a16:creationId xmlns:a16="http://schemas.microsoft.com/office/drawing/2014/main" id="{1E990BC1-AC98-4734-A452-C3F25D30750A}"/>
              </a:ext>
            </a:extLst>
          </p:cNvPr>
          <p:cNvSpPr txBox="1"/>
          <p:nvPr/>
        </p:nvSpPr>
        <p:spPr>
          <a:xfrm>
            <a:off x="9191531" y="1660860"/>
            <a:ext cx="1119209" cy="261610"/>
          </a:xfrm>
          <a:prstGeom prst="rect">
            <a:avLst/>
          </a:prstGeom>
          <a:noFill/>
        </p:spPr>
        <p:txBody>
          <a:bodyPr wrap="square" rtlCol="0">
            <a:spAutoFit/>
          </a:bodyPr>
          <a:lstStyle/>
          <a:p>
            <a:pPr fontAlgn="base">
              <a:spcBef>
                <a:spcPct val="0"/>
              </a:spcBef>
              <a:spcAft>
                <a:spcPct val="0"/>
              </a:spcAft>
            </a:pPr>
            <a:r>
              <a:rPr lang="zh-CN" altLang="en-US" sz="1100" dirty="0">
                <a:solidFill>
                  <a:srgbClr val="FF0000"/>
                </a:solidFill>
                <a:latin typeface="微软雅黑" panose="020B0503020204020204" pitchFamily="34" charset="-122"/>
                <a:ea typeface="微软雅黑" panose="020B0503020204020204" pitchFamily="34" charset="-122"/>
              </a:rPr>
              <a:t>业务层网络</a:t>
            </a:r>
          </a:p>
        </p:txBody>
      </p:sp>
      <p:sp>
        <p:nvSpPr>
          <p:cNvPr id="126" name="文本框 125">
            <a:extLst>
              <a:ext uri="{FF2B5EF4-FFF2-40B4-BE49-F238E27FC236}">
                <a16:creationId xmlns:a16="http://schemas.microsoft.com/office/drawing/2014/main" id="{CEF97FD6-AE6C-4ACD-A52C-9E8F7E2A6F25}"/>
              </a:ext>
            </a:extLst>
          </p:cNvPr>
          <p:cNvSpPr txBox="1"/>
          <p:nvPr/>
        </p:nvSpPr>
        <p:spPr>
          <a:xfrm>
            <a:off x="9066437" y="2048142"/>
            <a:ext cx="1550122" cy="430887"/>
          </a:xfrm>
          <a:prstGeom prst="rect">
            <a:avLst/>
          </a:prstGeom>
          <a:noFill/>
        </p:spPr>
        <p:txBody>
          <a:bodyPr wrap="square" rtlCol="0">
            <a:spAutoFit/>
          </a:bodyPr>
          <a:lstStyle/>
          <a:p>
            <a:pPr fontAlgn="base">
              <a:spcBef>
                <a:spcPct val="0"/>
              </a:spcBef>
              <a:spcAft>
                <a:spcPct val="0"/>
              </a:spcAft>
            </a:pPr>
            <a:r>
              <a:rPr lang="zh-CN" altLang="en-US" sz="1100" dirty="0">
                <a:solidFill>
                  <a:srgbClr val="0000CC"/>
                </a:solidFill>
                <a:latin typeface="微软雅黑" panose="020B0503020204020204" pitchFamily="34" charset="-122"/>
                <a:ea typeface="微软雅黑" panose="020B0503020204020204" pitchFamily="34" charset="-122"/>
              </a:rPr>
              <a:t>控制面：</a:t>
            </a:r>
            <a:r>
              <a:rPr lang="en-US" altLang="zh-CN" sz="1100" dirty="0" err="1">
                <a:solidFill>
                  <a:srgbClr val="0000CC"/>
                </a:solidFill>
                <a:latin typeface="微软雅黑" panose="020B0503020204020204" pitchFamily="34" charset="-122"/>
                <a:ea typeface="微软雅黑" panose="020B0503020204020204" pitchFamily="34" charset="-122"/>
              </a:rPr>
              <a:t>eBGP</a:t>
            </a:r>
            <a:endParaRPr lang="en-US" altLang="zh-CN" sz="1100" dirty="0">
              <a:solidFill>
                <a:srgbClr val="0000CC"/>
              </a:solidFill>
              <a:latin typeface="微软雅黑" panose="020B0503020204020204" pitchFamily="34" charset="-122"/>
              <a:ea typeface="微软雅黑" panose="020B0503020204020204" pitchFamily="34" charset="-122"/>
            </a:endParaRPr>
          </a:p>
          <a:p>
            <a:pPr fontAlgn="base">
              <a:spcBef>
                <a:spcPct val="0"/>
              </a:spcBef>
              <a:spcAft>
                <a:spcPct val="0"/>
              </a:spcAft>
            </a:pPr>
            <a:r>
              <a:rPr lang="zh-CN" altLang="en-US" sz="1100" dirty="0">
                <a:solidFill>
                  <a:srgbClr val="0000CC"/>
                </a:solidFill>
                <a:latin typeface="微软雅黑" panose="020B0503020204020204" pitchFamily="34" charset="-122"/>
                <a:ea typeface="微软雅黑" panose="020B0503020204020204" pitchFamily="34" charset="-122"/>
              </a:rPr>
              <a:t>数据面：</a:t>
            </a:r>
            <a:r>
              <a:rPr lang="en-US" altLang="zh-CN" sz="1100" dirty="0">
                <a:solidFill>
                  <a:srgbClr val="0000CC"/>
                </a:solidFill>
                <a:latin typeface="微软雅黑" panose="020B0503020204020204" pitchFamily="34" charset="-122"/>
                <a:ea typeface="微软雅黑" panose="020B0503020204020204" pitchFamily="34" charset="-122"/>
              </a:rPr>
              <a:t>L3VPN</a:t>
            </a:r>
            <a:endParaRPr lang="zh-CN" altLang="en-US" sz="1100" dirty="0">
              <a:solidFill>
                <a:srgbClr val="0000CC"/>
              </a:solidFill>
              <a:latin typeface="微软雅黑" panose="020B0503020204020204" pitchFamily="34" charset="-122"/>
              <a:ea typeface="微软雅黑" panose="020B0503020204020204" pitchFamily="34" charset="-122"/>
            </a:endParaRPr>
          </a:p>
        </p:txBody>
      </p:sp>
      <p:pic>
        <p:nvPicPr>
          <p:cNvPr id="127" name="Picture 49" descr="Lanswitch3">
            <a:extLst>
              <a:ext uri="{FF2B5EF4-FFF2-40B4-BE49-F238E27FC236}">
                <a16:creationId xmlns:a16="http://schemas.microsoft.com/office/drawing/2014/main" id="{20A8FA79-C11C-4AD1-A09A-721C4999FB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58224" y="4426514"/>
            <a:ext cx="414542" cy="300037"/>
          </a:xfrm>
          <a:prstGeom prst="rect">
            <a:avLst/>
          </a:prstGeom>
          <a:noFill/>
          <a:extLst>
            <a:ext uri="{909E8E84-426E-40DD-AFC4-6F175D3DCCD1}">
              <a14:hiddenFill xmlns:a14="http://schemas.microsoft.com/office/drawing/2010/main">
                <a:solidFill>
                  <a:srgbClr val="FFFFFF"/>
                </a:solidFill>
              </a14:hiddenFill>
            </a:ext>
          </a:extLst>
        </p:spPr>
      </p:pic>
      <p:pic>
        <p:nvPicPr>
          <p:cNvPr id="128" name="Picture 49" descr="Lanswitch3">
            <a:extLst>
              <a:ext uri="{FF2B5EF4-FFF2-40B4-BE49-F238E27FC236}">
                <a16:creationId xmlns:a16="http://schemas.microsoft.com/office/drawing/2014/main" id="{44A1A3C6-34AE-4DFF-A229-12844964125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13772" y="4426514"/>
            <a:ext cx="414542" cy="300037"/>
          </a:xfrm>
          <a:prstGeom prst="rect">
            <a:avLst/>
          </a:prstGeom>
          <a:noFill/>
          <a:extLst>
            <a:ext uri="{909E8E84-426E-40DD-AFC4-6F175D3DCCD1}">
              <a14:hiddenFill xmlns:a14="http://schemas.microsoft.com/office/drawing/2010/main">
                <a:solidFill>
                  <a:srgbClr val="FFFFFF"/>
                </a:solidFill>
              </a14:hiddenFill>
            </a:ext>
          </a:extLst>
        </p:spPr>
      </p:pic>
      <p:cxnSp>
        <p:nvCxnSpPr>
          <p:cNvPr id="129" name="直接连接符 128">
            <a:extLst>
              <a:ext uri="{FF2B5EF4-FFF2-40B4-BE49-F238E27FC236}">
                <a16:creationId xmlns:a16="http://schemas.microsoft.com/office/drawing/2014/main" id="{10610AFF-6193-4EA6-9542-222F04490A63}"/>
              </a:ext>
            </a:extLst>
          </p:cNvPr>
          <p:cNvCxnSpPr>
            <a:cxnSpLocks/>
            <a:stCxn id="127" idx="3"/>
            <a:endCxn id="128" idx="1"/>
          </p:cNvCxnSpPr>
          <p:nvPr/>
        </p:nvCxnSpPr>
        <p:spPr bwMode="auto">
          <a:xfrm>
            <a:off x="2072766" y="4576533"/>
            <a:ext cx="41006" cy="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30" name="Picture 49" descr="Lanswitch3">
            <a:extLst>
              <a:ext uri="{FF2B5EF4-FFF2-40B4-BE49-F238E27FC236}">
                <a16:creationId xmlns:a16="http://schemas.microsoft.com/office/drawing/2014/main" id="{EB086E29-845B-4D7C-8F92-7F6CA08528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7224" y="4426514"/>
            <a:ext cx="414542" cy="300037"/>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49" descr="Lanswitch3">
            <a:extLst>
              <a:ext uri="{FF2B5EF4-FFF2-40B4-BE49-F238E27FC236}">
                <a16:creationId xmlns:a16="http://schemas.microsoft.com/office/drawing/2014/main" id="{1FF40491-13C9-42F7-85D1-7F5818BBB2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65897" y="4426514"/>
            <a:ext cx="414542" cy="300037"/>
          </a:xfrm>
          <a:prstGeom prst="rect">
            <a:avLst/>
          </a:prstGeom>
          <a:noFill/>
          <a:extLst>
            <a:ext uri="{909E8E84-426E-40DD-AFC4-6F175D3DCCD1}">
              <a14:hiddenFill xmlns:a14="http://schemas.microsoft.com/office/drawing/2010/main">
                <a:solidFill>
                  <a:srgbClr val="FFFFFF"/>
                </a:solidFill>
              </a14:hiddenFill>
            </a:ext>
          </a:extLst>
        </p:spPr>
      </p:pic>
      <p:cxnSp>
        <p:nvCxnSpPr>
          <p:cNvPr id="132" name="直接连接符 131">
            <a:extLst>
              <a:ext uri="{FF2B5EF4-FFF2-40B4-BE49-F238E27FC236}">
                <a16:creationId xmlns:a16="http://schemas.microsoft.com/office/drawing/2014/main" id="{0073BB06-2B98-4F8D-88EB-152159C2BD67}"/>
              </a:ext>
            </a:extLst>
          </p:cNvPr>
          <p:cNvCxnSpPr>
            <a:cxnSpLocks/>
            <a:stCxn id="130" idx="3"/>
            <a:endCxn id="131" idx="1"/>
          </p:cNvCxnSpPr>
          <p:nvPr/>
        </p:nvCxnSpPr>
        <p:spPr bwMode="auto">
          <a:xfrm>
            <a:off x="3011766" y="4576533"/>
            <a:ext cx="54131" cy="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33" name="Picture 49" descr="Lanswitch3">
            <a:extLst>
              <a:ext uri="{FF2B5EF4-FFF2-40B4-BE49-F238E27FC236}">
                <a16:creationId xmlns:a16="http://schemas.microsoft.com/office/drawing/2014/main" id="{1C1406A2-2462-42FD-ABC2-0F40825A7A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0060" y="3515607"/>
            <a:ext cx="385216" cy="300037"/>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49" descr="Lanswitch3">
            <a:extLst>
              <a:ext uri="{FF2B5EF4-FFF2-40B4-BE49-F238E27FC236}">
                <a16:creationId xmlns:a16="http://schemas.microsoft.com/office/drawing/2014/main" id="{A677BDFC-09D1-4EA9-853A-6A7322BD64C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25475" y="3515607"/>
            <a:ext cx="385216" cy="300037"/>
          </a:xfrm>
          <a:prstGeom prst="rect">
            <a:avLst/>
          </a:prstGeom>
          <a:noFill/>
          <a:extLst>
            <a:ext uri="{909E8E84-426E-40DD-AFC4-6F175D3DCCD1}">
              <a14:hiddenFill xmlns:a14="http://schemas.microsoft.com/office/drawing/2010/main">
                <a:solidFill>
                  <a:srgbClr val="FFFFFF"/>
                </a:solidFill>
              </a14:hiddenFill>
            </a:ext>
          </a:extLst>
        </p:spPr>
      </p:pic>
      <p:cxnSp>
        <p:nvCxnSpPr>
          <p:cNvPr id="135" name="直接连接符 134">
            <a:extLst>
              <a:ext uri="{FF2B5EF4-FFF2-40B4-BE49-F238E27FC236}">
                <a16:creationId xmlns:a16="http://schemas.microsoft.com/office/drawing/2014/main" id="{29ADF1D8-500B-4B5D-B2E8-FA36E01064AB}"/>
              </a:ext>
            </a:extLst>
          </p:cNvPr>
          <p:cNvCxnSpPr>
            <a:cxnSpLocks/>
            <a:stCxn id="127" idx="0"/>
            <a:endCxn id="133" idx="2"/>
          </p:cNvCxnSpPr>
          <p:nvPr/>
        </p:nvCxnSpPr>
        <p:spPr bwMode="auto">
          <a:xfrm flipV="1">
            <a:off x="1865495" y="3815644"/>
            <a:ext cx="267173" cy="61087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直接连接符 135">
            <a:extLst>
              <a:ext uri="{FF2B5EF4-FFF2-40B4-BE49-F238E27FC236}">
                <a16:creationId xmlns:a16="http://schemas.microsoft.com/office/drawing/2014/main" id="{E99A1E15-55F0-4930-952F-2691B88551E4}"/>
              </a:ext>
            </a:extLst>
          </p:cNvPr>
          <p:cNvCxnSpPr>
            <a:cxnSpLocks/>
            <a:stCxn id="127" idx="0"/>
            <a:endCxn id="134" idx="2"/>
          </p:cNvCxnSpPr>
          <p:nvPr/>
        </p:nvCxnSpPr>
        <p:spPr bwMode="auto">
          <a:xfrm flipV="1">
            <a:off x="1865495" y="3815644"/>
            <a:ext cx="1152588" cy="61087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 name="直接连接符 136">
            <a:extLst>
              <a:ext uri="{FF2B5EF4-FFF2-40B4-BE49-F238E27FC236}">
                <a16:creationId xmlns:a16="http://schemas.microsoft.com/office/drawing/2014/main" id="{C669ADE7-AFE8-44BB-96BC-F8D87A643115}"/>
              </a:ext>
            </a:extLst>
          </p:cNvPr>
          <p:cNvCxnSpPr>
            <a:cxnSpLocks/>
            <a:stCxn id="133" idx="2"/>
            <a:endCxn id="128" idx="0"/>
          </p:cNvCxnSpPr>
          <p:nvPr/>
        </p:nvCxnSpPr>
        <p:spPr bwMode="auto">
          <a:xfrm>
            <a:off x="2132668" y="3815644"/>
            <a:ext cx="188375" cy="61087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直接连接符 137">
            <a:extLst>
              <a:ext uri="{FF2B5EF4-FFF2-40B4-BE49-F238E27FC236}">
                <a16:creationId xmlns:a16="http://schemas.microsoft.com/office/drawing/2014/main" id="{F2383473-05F0-496A-BA9E-344F7AA01DCE}"/>
              </a:ext>
            </a:extLst>
          </p:cNvPr>
          <p:cNvCxnSpPr>
            <a:cxnSpLocks/>
            <a:stCxn id="128" idx="0"/>
            <a:endCxn id="134" idx="2"/>
          </p:cNvCxnSpPr>
          <p:nvPr/>
        </p:nvCxnSpPr>
        <p:spPr bwMode="auto">
          <a:xfrm flipV="1">
            <a:off x="2321043" y="3815644"/>
            <a:ext cx="697040" cy="61087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 name="直接连接符 138">
            <a:extLst>
              <a:ext uri="{FF2B5EF4-FFF2-40B4-BE49-F238E27FC236}">
                <a16:creationId xmlns:a16="http://schemas.microsoft.com/office/drawing/2014/main" id="{CCE2E404-0D64-4B97-BC45-AE6CCABF56A1}"/>
              </a:ext>
            </a:extLst>
          </p:cNvPr>
          <p:cNvCxnSpPr>
            <a:cxnSpLocks/>
            <a:stCxn id="133" idx="2"/>
            <a:endCxn id="130" idx="0"/>
          </p:cNvCxnSpPr>
          <p:nvPr/>
        </p:nvCxnSpPr>
        <p:spPr bwMode="auto">
          <a:xfrm>
            <a:off x="2132668" y="3815644"/>
            <a:ext cx="671827" cy="61087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直接连接符 139">
            <a:extLst>
              <a:ext uri="{FF2B5EF4-FFF2-40B4-BE49-F238E27FC236}">
                <a16:creationId xmlns:a16="http://schemas.microsoft.com/office/drawing/2014/main" id="{77FA20EA-7690-4C12-A569-D610E12868DB}"/>
              </a:ext>
            </a:extLst>
          </p:cNvPr>
          <p:cNvCxnSpPr>
            <a:cxnSpLocks/>
            <a:stCxn id="134" idx="2"/>
            <a:endCxn id="130" idx="0"/>
          </p:cNvCxnSpPr>
          <p:nvPr/>
        </p:nvCxnSpPr>
        <p:spPr bwMode="auto">
          <a:xfrm flipH="1">
            <a:off x="2804495" y="3815644"/>
            <a:ext cx="213588" cy="61087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直接连接符 140">
            <a:extLst>
              <a:ext uri="{FF2B5EF4-FFF2-40B4-BE49-F238E27FC236}">
                <a16:creationId xmlns:a16="http://schemas.microsoft.com/office/drawing/2014/main" id="{1E315ECF-1B32-408F-85F2-2E1138BD9428}"/>
              </a:ext>
            </a:extLst>
          </p:cNvPr>
          <p:cNvCxnSpPr>
            <a:cxnSpLocks/>
            <a:stCxn id="134" idx="2"/>
            <a:endCxn id="131" idx="0"/>
          </p:cNvCxnSpPr>
          <p:nvPr/>
        </p:nvCxnSpPr>
        <p:spPr bwMode="auto">
          <a:xfrm>
            <a:off x="3018083" y="3815644"/>
            <a:ext cx="255085" cy="61087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2" name="直接连接符 141">
            <a:extLst>
              <a:ext uri="{FF2B5EF4-FFF2-40B4-BE49-F238E27FC236}">
                <a16:creationId xmlns:a16="http://schemas.microsoft.com/office/drawing/2014/main" id="{0D0573C4-629F-4A4D-86FF-C157CAB1D87A}"/>
              </a:ext>
            </a:extLst>
          </p:cNvPr>
          <p:cNvCxnSpPr>
            <a:cxnSpLocks/>
            <a:stCxn id="131" idx="0"/>
            <a:endCxn id="133" idx="2"/>
          </p:cNvCxnSpPr>
          <p:nvPr/>
        </p:nvCxnSpPr>
        <p:spPr bwMode="auto">
          <a:xfrm flipH="1" flipV="1">
            <a:off x="2132668" y="3815644"/>
            <a:ext cx="1140500" cy="61087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43" name="Picture 44" descr="Router3">
            <a:extLst>
              <a:ext uri="{FF2B5EF4-FFF2-40B4-BE49-F238E27FC236}">
                <a16:creationId xmlns:a16="http://schemas.microsoft.com/office/drawing/2014/main" id="{6B9724CB-5BBB-4984-B687-7798E90457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7156" y="2666936"/>
            <a:ext cx="394809" cy="303212"/>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44" descr="Router3">
            <a:extLst>
              <a:ext uri="{FF2B5EF4-FFF2-40B4-BE49-F238E27FC236}">
                <a16:creationId xmlns:a16="http://schemas.microsoft.com/office/drawing/2014/main" id="{D947B824-2D1F-4816-B71B-0A053A122E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25475" y="2654831"/>
            <a:ext cx="394809" cy="303212"/>
          </a:xfrm>
          <a:prstGeom prst="rect">
            <a:avLst/>
          </a:prstGeom>
          <a:noFill/>
          <a:extLst>
            <a:ext uri="{909E8E84-426E-40DD-AFC4-6F175D3DCCD1}">
              <a14:hiddenFill xmlns:a14="http://schemas.microsoft.com/office/drawing/2010/main">
                <a:solidFill>
                  <a:srgbClr val="FFFFFF"/>
                </a:solidFill>
              </a14:hiddenFill>
            </a:ext>
          </a:extLst>
        </p:spPr>
      </p:pic>
      <p:cxnSp>
        <p:nvCxnSpPr>
          <p:cNvPr id="145" name="直接连接符 144">
            <a:extLst>
              <a:ext uri="{FF2B5EF4-FFF2-40B4-BE49-F238E27FC236}">
                <a16:creationId xmlns:a16="http://schemas.microsoft.com/office/drawing/2014/main" id="{BDF36BC6-1B01-444E-A510-2C982EFEE7E8}"/>
              </a:ext>
            </a:extLst>
          </p:cNvPr>
          <p:cNvCxnSpPr>
            <a:stCxn id="143" idx="2"/>
            <a:endCxn id="133" idx="0"/>
          </p:cNvCxnSpPr>
          <p:nvPr/>
        </p:nvCxnSpPr>
        <p:spPr bwMode="auto">
          <a:xfrm flipH="1">
            <a:off x="2132668" y="2970148"/>
            <a:ext cx="41893" cy="54545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接连接符 145">
            <a:extLst>
              <a:ext uri="{FF2B5EF4-FFF2-40B4-BE49-F238E27FC236}">
                <a16:creationId xmlns:a16="http://schemas.microsoft.com/office/drawing/2014/main" id="{334E790B-3B98-4E9D-AD2A-F08D3639BDF8}"/>
              </a:ext>
            </a:extLst>
          </p:cNvPr>
          <p:cNvCxnSpPr>
            <a:stCxn id="133" idx="0"/>
            <a:endCxn id="144" idx="2"/>
          </p:cNvCxnSpPr>
          <p:nvPr/>
        </p:nvCxnSpPr>
        <p:spPr bwMode="auto">
          <a:xfrm flipV="1">
            <a:off x="2132668" y="2958043"/>
            <a:ext cx="890212" cy="55756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接连接符 146">
            <a:extLst>
              <a:ext uri="{FF2B5EF4-FFF2-40B4-BE49-F238E27FC236}">
                <a16:creationId xmlns:a16="http://schemas.microsoft.com/office/drawing/2014/main" id="{2C7D01B0-0F90-412E-96A6-3BA513ECF176}"/>
              </a:ext>
            </a:extLst>
          </p:cNvPr>
          <p:cNvCxnSpPr>
            <a:stCxn id="143" idx="2"/>
            <a:endCxn id="134" idx="0"/>
          </p:cNvCxnSpPr>
          <p:nvPr/>
        </p:nvCxnSpPr>
        <p:spPr bwMode="auto">
          <a:xfrm>
            <a:off x="2174561" y="2970148"/>
            <a:ext cx="843522" cy="54545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接连接符 147">
            <a:extLst>
              <a:ext uri="{FF2B5EF4-FFF2-40B4-BE49-F238E27FC236}">
                <a16:creationId xmlns:a16="http://schemas.microsoft.com/office/drawing/2014/main" id="{002879C0-9EB2-4A5E-9138-FE8A6DE26CE1}"/>
              </a:ext>
            </a:extLst>
          </p:cNvPr>
          <p:cNvCxnSpPr>
            <a:stCxn id="144" idx="2"/>
            <a:endCxn id="134" idx="0"/>
          </p:cNvCxnSpPr>
          <p:nvPr/>
        </p:nvCxnSpPr>
        <p:spPr bwMode="auto">
          <a:xfrm flipH="1">
            <a:off x="3018083" y="2958043"/>
            <a:ext cx="4797" cy="557564"/>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椭圆 148">
            <a:extLst>
              <a:ext uri="{FF2B5EF4-FFF2-40B4-BE49-F238E27FC236}">
                <a16:creationId xmlns:a16="http://schemas.microsoft.com/office/drawing/2014/main" id="{33AA463F-D342-430B-9B2A-430A33AF7996}"/>
              </a:ext>
            </a:extLst>
          </p:cNvPr>
          <p:cNvSpPr/>
          <p:nvPr/>
        </p:nvSpPr>
        <p:spPr bwMode="auto">
          <a:xfrm rot="16200000">
            <a:off x="1575094" y="2946840"/>
            <a:ext cx="2025165" cy="1676597"/>
          </a:xfrm>
          <a:prstGeom prst="ellipse">
            <a:avLst/>
          </a:prstGeom>
          <a:solidFill>
            <a:srgbClr val="00B0F0">
              <a:alpha val="50196"/>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cxnSp>
        <p:nvCxnSpPr>
          <p:cNvPr id="150" name="直接连接符 149">
            <a:extLst>
              <a:ext uri="{FF2B5EF4-FFF2-40B4-BE49-F238E27FC236}">
                <a16:creationId xmlns:a16="http://schemas.microsoft.com/office/drawing/2014/main" id="{416F0F82-7B6E-4101-B61B-33B7BB3D9CED}"/>
              </a:ext>
            </a:extLst>
          </p:cNvPr>
          <p:cNvCxnSpPr>
            <a:stCxn id="143" idx="3"/>
            <a:endCxn id="144" idx="1"/>
          </p:cNvCxnSpPr>
          <p:nvPr/>
        </p:nvCxnSpPr>
        <p:spPr bwMode="auto">
          <a:xfrm flipV="1">
            <a:off x="2371965" y="2806437"/>
            <a:ext cx="453510" cy="12105"/>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圆柱形 477">
            <a:extLst>
              <a:ext uri="{FF2B5EF4-FFF2-40B4-BE49-F238E27FC236}">
                <a16:creationId xmlns:a16="http://schemas.microsoft.com/office/drawing/2014/main" id="{E74E0ACB-3D99-41BA-A32D-0FA4F9E5EAF7}"/>
              </a:ext>
            </a:extLst>
          </p:cNvPr>
          <p:cNvSpPr/>
          <p:nvPr/>
        </p:nvSpPr>
        <p:spPr bwMode="auto">
          <a:xfrm rot="1584001">
            <a:off x="2142735" y="2944803"/>
            <a:ext cx="181865" cy="1480545"/>
          </a:xfrm>
          <a:prstGeom prst="can">
            <a:avLst/>
          </a:prstGeom>
          <a:solidFill>
            <a:srgbClr val="92D050">
              <a:alpha val="69804"/>
            </a:srgbClr>
          </a:solidFill>
          <a:ln w="25400" cap="flat" cmpd="sng" algn="ctr">
            <a:solidFill>
              <a:srgbClr val="00B050"/>
            </a:solidFill>
            <a:prstDash val="solid"/>
          </a:ln>
          <a:effectLst/>
        </p:spPr>
        <p:txBody>
          <a:bodyPr vert="vert270"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100" b="0" i="0" u="none" strike="noStrike" kern="0" cap="none" spc="0" normalizeH="0" baseline="0" noProof="0" dirty="0">
                <a:ln>
                  <a:noFill/>
                </a:ln>
                <a:solidFill>
                  <a:srgbClr val="000000"/>
                </a:solidFill>
                <a:effectLst/>
                <a:uLnTx/>
                <a:uFillTx/>
                <a:latin typeface="Arial" charset="0"/>
                <a:ea typeface="宋体" charset="-122"/>
              </a:rPr>
              <a:t>L2/L3 VXLAN</a:t>
            </a:r>
            <a:endParaRPr kumimoji="0" lang="zh-CN" altLang="en-US" sz="11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52" name="圆柱形 478">
            <a:extLst>
              <a:ext uri="{FF2B5EF4-FFF2-40B4-BE49-F238E27FC236}">
                <a16:creationId xmlns:a16="http://schemas.microsoft.com/office/drawing/2014/main" id="{5F15EE7B-112C-49D7-92A2-A0E6A04CB5F9}"/>
              </a:ext>
            </a:extLst>
          </p:cNvPr>
          <p:cNvSpPr/>
          <p:nvPr/>
        </p:nvSpPr>
        <p:spPr bwMode="auto">
          <a:xfrm rot="9416482">
            <a:off x="2885842" y="2946150"/>
            <a:ext cx="181665" cy="1479389"/>
          </a:xfrm>
          <a:prstGeom prst="can">
            <a:avLst/>
          </a:prstGeom>
          <a:solidFill>
            <a:srgbClr val="92D050">
              <a:alpha val="69804"/>
            </a:srgbClr>
          </a:solidFill>
          <a:ln w="25400" cap="flat" cmpd="sng" algn="ctr">
            <a:solidFill>
              <a:srgbClr val="00B050"/>
            </a:solidFill>
            <a:prstDash val="solid"/>
          </a:ln>
          <a:effectLst/>
        </p:spPr>
        <p:txBody>
          <a:bodyPr vert="vert270"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100" b="0" i="0" u="none" strike="noStrike" kern="0" cap="none" spc="0" normalizeH="0" baseline="0" noProof="0" dirty="0">
                <a:ln>
                  <a:noFill/>
                </a:ln>
                <a:solidFill>
                  <a:srgbClr val="000000"/>
                </a:solidFill>
                <a:effectLst/>
                <a:uLnTx/>
                <a:uFillTx/>
                <a:latin typeface="Arial" charset="0"/>
                <a:ea typeface="宋体" charset="-122"/>
              </a:rPr>
              <a:t>L2/L3 VXLAN</a:t>
            </a:r>
            <a:endParaRPr kumimoji="0" lang="zh-CN" altLang="en-US" sz="11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53" name="圆柱形 479">
            <a:extLst>
              <a:ext uri="{FF2B5EF4-FFF2-40B4-BE49-F238E27FC236}">
                <a16:creationId xmlns:a16="http://schemas.microsoft.com/office/drawing/2014/main" id="{5B77D2E0-1BE4-4B06-A603-3BD0ECC7F14E}"/>
              </a:ext>
            </a:extLst>
          </p:cNvPr>
          <p:cNvSpPr/>
          <p:nvPr/>
        </p:nvSpPr>
        <p:spPr bwMode="auto">
          <a:xfrm rot="5400000">
            <a:off x="2502814" y="3760683"/>
            <a:ext cx="180326" cy="996819"/>
          </a:xfrm>
          <a:prstGeom prst="can">
            <a:avLst/>
          </a:prstGeom>
          <a:solidFill>
            <a:srgbClr val="92D050">
              <a:alpha val="69804"/>
            </a:srgbClr>
          </a:solidFill>
          <a:ln w="25400" cap="flat" cmpd="sng" algn="ctr">
            <a:solidFill>
              <a:srgbClr val="00B050"/>
            </a:solidFill>
            <a:prstDash val="solid"/>
          </a:ln>
          <a:effectLst/>
        </p:spPr>
        <p:txBody>
          <a:bodyPr vert="vert270"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100" b="0" i="0" u="none" strike="noStrike" kern="0" cap="none" spc="0" normalizeH="0" baseline="0" noProof="0" dirty="0">
                <a:ln>
                  <a:noFill/>
                </a:ln>
                <a:solidFill>
                  <a:srgbClr val="000000"/>
                </a:solidFill>
                <a:effectLst/>
                <a:uLnTx/>
                <a:uFillTx/>
                <a:latin typeface="Arial" charset="0"/>
                <a:ea typeface="宋体" charset="-122"/>
              </a:rPr>
              <a:t>L2/L3 VXLAN</a:t>
            </a:r>
            <a:endParaRPr kumimoji="0" lang="zh-CN" altLang="en-US" sz="11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54" name="矩形 153">
            <a:extLst>
              <a:ext uri="{FF2B5EF4-FFF2-40B4-BE49-F238E27FC236}">
                <a16:creationId xmlns:a16="http://schemas.microsoft.com/office/drawing/2014/main" id="{B4E0BD00-813A-4642-ADF4-800B4EA99476}"/>
              </a:ext>
            </a:extLst>
          </p:cNvPr>
          <p:cNvSpPr/>
          <p:nvPr/>
        </p:nvSpPr>
        <p:spPr bwMode="auto">
          <a:xfrm>
            <a:off x="2345539" y="2876322"/>
            <a:ext cx="510963" cy="142872"/>
          </a:xfrm>
          <a:prstGeom prst="rect">
            <a:avLst/>
          </a:prstGeom>
          <a:solidFill>
            <a:srgbClr val="92D050"/>
          </a:solidFill>
          <a:ln w="25400" cap="flat" cmpd="sng" algn="ctr">
            <a:noFill/>
            <a:prstDash val="solid"/>
          </a:ln>
          <a:effec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VTEP</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155" name="矩形 154">
            <a:extLst>
              <a:ext uri="{FF2B5EF4-FFF2-40B4-BE49-F238E27FC236}">
                <a16:creationId xmlns:a16="http://schemas.microsoft.com/office/drawing/2014/main" id="{CE1EB5D4-2AD0-4CF1-B317-7D078CF3CF62}"/>
              </a:ext>
            </a:extLst>
          </p:cNvPr>
          <p:cNvSpPr/>
          <p:nvPr/>
        </p:nvSpPr>
        <p:spPr bwMode="auto">
          <a:xfrm>
            <a:off x="1711705" y="4389785"/>
            <a:ext cx="722121" cy="143886"/>
          </a:xfrm>
          <a:prstGeom prst="rect">
            <a:avLst/>
          </a:prstGeom>
          <a:solidFill>
            <a:srgbClr val="92D050"/>
          </a:solidFill>
          <a:ln w="25400" cap="flat" cmpd="sng" algn="ctr">
            <a:noFill/>
            <a:prstDash val="solid"/>
          </a:ln>
          <a:effec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VTEP</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156" name="矩形 155">
            <a:extLst>
              <a:ext uri="{FF2B5EF4-FFF2-40B4-BE49-F238E27FC236}">
                <a16:creationId xmlns:a16="http://schemas.microsoft.com/office/drawing/2014/main" id="{2C97CDDE-5812-47F4-82B5-B9DD3ED96F26}"/>
              </a:ext>
            </a:extLst>
          </p:cNvPr>
          <p:cNvSpPr/>
          <p:nvPr/>
        </p:nvSpPr>
        <p:spPr bwMode="auto">
          <a:xfrm>
            <a:off x="2791863" y="4402495"/>
            <a:ext cx="616547" cy="133192"/>
          </a:xfrm>
          <a:prstGeom prst="rect">
            <a:avLst/>
          </a:prstGeom>
          <a:solidFill>
            <a:srgbClr val="92D050"/>
          </a:solidFill>
          <a:ln w="25400" cap="flat" cmpd="sng" algn="ctr">
            <a:noFill/>
            <a:prstDash val="solid"/>
          </a:ln>
          <a:effec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50" b="0" i="0" u="none" strike="noStrike" kern="0" cap="none" spc="0" normalizeH="0" baseline="0" noProof="0" dirty="0">
                <a:ln>
                  <a:noFill/>
                </a:ln>
                <a:solidFill>
                  <a:srgbClr val="000000"/>
                </a:solidFill>
                <a:effectLst/>
                <a:uLnTx/>
                <a:uFillTx/>
                <a:latin typeface="Arial" charset="0"/>
                <a:ea typeface="宋体" charset="-122"/>
              </a:rPr>
              <a:t>VTEP</a:t>
            </a:r>
            <a:endParaRPr kumimoji="0" lang="zh-CN" altLang="en-US" sz="1050" b="0" i="0" u="none" strike="noStrike" kern="0" cap="none" spc="0" normalizeH="0" baseline="0" noProof="0" dirty="0">
              <a:ln>
                <a:noFill/>
              </a:ln>
              <a:solidFill>
                <a:srgbClr val="000000"/>
              </a:solidFill>
              <a:effectLst/>
              <a:uLnTx/>
              <a:uFillTx/>
              <a:latin typeface="Arial" charset="0"/>
              <a:ea typeface="宋体" charset="-122"/>
            </a:endParaRPr>
          </a:p>
        </p:txBody>
      </p:sp>
      <p:sp>
        <p:nvSpPr>
          <p:cNvPr id="157" name="矩形 156">
            <a:extLst>
              <a:ext uri="{FF2B5EF4-FFF2-40B4-BE49-F238E27FC236}">
                <a16:creationId xmlns:a16="http://schemas.microsoft.com/office/drawing/2014/main" id="{E56CDB9B-58D6-4211-988C-3658F5E98973}"/>
              </a:ext>
            </a:extLst>
          </p:cNvPr>
          <p:cNvSpPr/>
          <p:nvPr/>
        </p:nvSpPr>
        <p:spPr bwMode="auto">
          <a:xfrm>
            <a:off x="1427336" y="5223180"/>
            <a:ext cx="511738" cy="523509"/>
          </a:xfrm>
          <a:prstGeom prst="rect">
            <a:avLst/>
          </a:prstGeom>
          <a:solidFill>
            <a:srgbClr val="000000">
              <a:lumMod val="50000"/>
              <a:lumOff val="50000"/>
            </a:srgbClr>
          </a:solidFill>
          <a:ln w="25400" cap="flat" cmpd="sng" algn="ctr">
            <a:noFill/>
            <a:prstDash val="soli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158" name="矩形: 圆角 157">
            <a:extLst>
              <a:ext uri="{FF2B5EF4-FFF2-40B4-BE49-F238E27FC236}">
                <a16:creationId xmlns:a16="http://schemas.microsoft.com/office/drawing/2014/main" id="{7B3838FB-43A1-4E7C-B94C-31E93A8EC8BC}"/>
              </a:ext>
            </a:extLst>
          </p:cNvPr>
          <p:cNvSpPr/>
          <p:nvPr/>
        </p:nvSpPr>
        <p:spPr bwMode="auto">
          <a:xfrm>
            <a:off x="1476523" y="5261412"/>
            <a:ext cx="409873" cy="170681"/>
          </a:xfrm>
          <a:prstGeom prst="roundRect">
            <a:avLst/>
          </a:prstGeom>
          <a:solidFill>
            <a:srgbClr val="FFFFFF"/>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a:ln>
                  <a:noFill/>
                </a:ln>
                <a:solidFill>
                  <a:srgbClr val="000000"/>
                </a:solidFill>
                <a:effectLst/>
                <a:uLnTx/>
                <a:uFillTx/>
                <a:latin typeface="Arial" charset="0"/>
                <a:ea typeface="宋体" charset="-122"/>
              </a:rPr>
              <a:t>SR-IOV</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59" name="矩形: 圆角 158">
            <a:extLst>
              <a:ext uri="{FF2B5EF4-FFF2-40B4-BE49-F238E27FC236}">
                <a16:creationId xmlns:a16="http://schemas.microsoft.com/office/drawing/2014/main" id="{2099A09A-00E7-4B1D-B10E-7036060BF7F4}"/>
              </a:ext>
            </a:extLst>
          </p:cNvPr>
          <p:cNvSpPr/>
          <p:nvPr/>
        </p:nvSpPr>
        <p:spPr bwMode="auto">
          <a:xfrm>
            <a:off x="1463129" y="5498135"/>
            <a:ext cx="196202" cy="194482"/>
          </a:xfrm>
          <a:prstGeom prst="roundRect">
            <a:avLst/>
          </a:prstGeom>
          <a:solidFill>
            <a:srgbClr val="FFFFFF"/>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a:ln>
                  <a:noFill/>
                </a:ln>
                <a:solidFill>
                  <a:srgbClr val="000000"/>
                </a:solidFill>
                <a:effectLst/>
                <a:uLnTx/>
                <a:uFillTx/>
                <a:latin typeface="Arial" charset="0"/>
                <a:ea typeface="宋体" charset="-122"/>
              </a:rPr>
              <a:t>VM</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60" name="矩形: 圆角 159">
            <a:extLst>
              <a:ext uri="{FF2B5EF4-FFF2-40B4-BE49-F238E27FC236}">
                <a16:creationId xmlns:a16="http://schemas.microsoft.com/office/drawing/2014/main" id="{C41CCD46-32F9-442F-BD72-C64D202BDB35}"/>
              </a:ext>
            </a:extLst>
          </p:cNvPr>
          <p:cNvSpPr/>
          <p:nvPr/>
        </p:nvSpPr>
        <p:spPr bwMode="auto">
          <a:xfrm>
            <a:off x="1697478" y="5499988"/>
            <a:ext cx="196202" cy="194482"/>
          </a:xfrm>
          <a:prstGeom prst="roundRect">
            <a:avLst/>
          </a:prstGeom>
          <a:solidFill>
            <a:srgbClr val="FFFFFF"/>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a:ln>
                  <a:noFill/>
                </a:ln>
                <a:solidFill>
                  <a:srgbClr val="000000"/>
                </a:solidFill>
                <a:effectLst/>
                <a:uLnTx/>
                <a:uFillTx/>
                <a:latin typeface="Arial" charset="0"/>
                <a:ea typeface="宋体" charset="-122"/>
              </a:rPr>
              <a:t>VM</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61" name="矩形 160">
            <a:extLst>
              <a:ext uri="{FF2B5EF4-FFF2-40B4-BE49-F238E27FC236}">
                <a16:creationId xmlns:a16="http://schemas.microsoft.com/office/drawing/2014/main" id="{D59CE6D1-30F6-4FFB-91B4-28A7EFB09C2A}"/>
              </a:ext>
            </a:extLst>
          </p:cNvPr>
          <p:cNvSpPr/>
          <p:nvPr/>
        </p:nvSpPr>
        <p:spPr bwMode="auto">
          <a:xfrm>
            <a:off x="1979611" y="5218917"/>
            <a:ext cx="511738" cy="523509"/>
          </a:xfrm>
          <a:prstGeom prst="rect">
            <a:avLst/>
          </a:prstGeom>
          <a:solidFill>
            <a:srgbClr val="000000">
              <a:lumMod val="50000"/>
              <a:lumOff val="50000"/>
            </a:srgbClr>
          </a:solidFill>
          <a:ln w="25400" cap="flat" cmpd="sng" algn="ctr">
            <a:noFill/>
            <a:prstDash val="soli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162" name="矩形: 圆角 161">
            <a:extLst>
              <a:ext uri="{FF2B5EF4-FFF2-40B4-BE49-F238E27FC236}">
                <a16:creationId xmlns:a16="http://schemas.microsoft.com/office/drawing/2014/main" id="{9A9C0BEE-3895-4097-A307-CF0354A14F0A}"/>
              </a:ext>
            </a:extLst>
          </p:cNvPr>
          <p:cNvSpPr/>
          <p:nvPr/>
        </p:nvSpPr>
        <p:spPr bwMode="auto">
          <a:xfrm>
            <a:off x="2028797" y="5257149"/>
            <a:ext cx="409873" cy="170681"/>
          </a:xfrm>
          <a:prstGeom prst="roundRect">
            <a:avLst/>
          </a:prstGeom>
          <a:solidFill>
            <a:srgbClr val="FFFFFF"/>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err="1">
                <a:ln>
                  <a:noFill/>
                </a:ln>
                <a:solidFill>
                  <a:srgbClr val="000000"/>
                </a:solidFill>
                <a:effectLst/>
                <a:uLnTx/>
                <a:uFillTx/>
                <a:latin typeface="Arial" charset="0"/>
                <a:ea typeface="宋体" charset="-122"/>
              </a:rPr>
              <a:t>vSwitch</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63" name="矩形: 圆角 162">
            <a:extLst>
              <a:ext uri="{FF2B5EF4-FFF2-40B4-BE49-F238E27FC236}">
                <a16:creationId xmlns:a16="http://schemas.microsoft.com/office/drawing/2014/main" id="{10BC246D-549C-4256-BF0A-3DD7E5642C34}"/>
              </a:ext>
            </a:extLst>
          </p:cNvPr>
          <p:cNvSpPr/>
          <p:nvPr/>
        </p:nvSpPr>
        <p:spPr bwMode="auto">
          <a:xfrm>
            <a:off x="2015404" y="5493872"/>
            <a:ext cx="196202" cy="194482"/>
          </a:xfrm>
          <a:prstGeom prst="roundRect">
            <a:avLst/>
          </a:prstGeom>
          <a:solidFill>
            <a:srgbClr val="FFFFFF"/>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a:ln>
                  <a:noFill/>
                </a:ln>
                <a:solidFill>
                  <a:srgbClr val="000000"/>
                </a:solidFill>
                <a:effectLst/>
                <a:uLnTx/>
                <a:uFillTx/>
                <a:latin typeface="Arial" charset="0"/>
                <a:ea typeface="宋体" charset="-122"/>
              </a:rPr>
              <a:t>VM</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64" name="矩形: 圆角 163">
            <a:extLst>
              <a:ext uri="{FF2B5EF4-FFF2-40B4-BE49-F238E27FC236}">
                <a16:creationId xmlns:a16="http://schemas.microsoft.com/office/drawing/2014/main" id="{56EEC008-CCEB-410A-B274-940EADAE8584}"/>
              </a:ext>
            </a:extLst>
          </p:cNvPr>
          <p:cNvSpPr/>
          <p:nvPr/>
        </p:nvSpPr>
        <p:spPr bwMode="auto">
          <a:xfrm>
            <a:off x="2249752" y="5495725"/>
            <a:ext cx="196202" cy="194482"/>
          </a:xfrm>
          <a:prstGeom prst="roundRect">
            <a:avLst/>
          </a:prstGeom>
          <a:solidFill>
            <a:srgbClr val="FFFFFF"/>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a:ln>
                  <a:noFill/>
                </a:ln>
                <a:solidFill>
                  <a:srgbClr val="000000"/>
                </a:solidFill>
                <a:effectLst/>
                <a:uLnTx/>
                <a:uFillTx/>
                <a:latin typeface="Arial" charset="0"/>
                <a:ea typeface="宋体" charset="-122"/>
              </a:rPr>
              <a:t>VM</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65" name="矩形 164">
            <a:extLst>
              <a:ext uri="{FF2B5EF4-FFF2-40B4-BE49-F238E27FC236}">
                <a16:creationId xmlns:a16="http://schemas.microsoft.com/office/drawing/2014/main" id="{A6CF9E79-AD28-450D-88EE-4280627E5003}"/>
              </a:ext>
            </a:extLst>
          </p:cNvPr>
          <p:cNvSpPr/>
          <p:nvPr/>
        </p:nvSpPr>
        <p:spPr bwMode="auto">
          <a:xfrm>
            <a:off x="2597810" y="5223180"/>
            <a:ext cx="511738" cy="523509"/>
          </a:xfrm>
          <a:prstGeom prst="rect">
            <a:avLst/>
          </a:prstGeom>
          <a:solidFill>
            <a:srgbClr val="000000">
              <a:lumMod val="50000"/>
              <a:lumOff val="50000"/>
            </a:srgbClr>
          </a:solidFill>
          <a:ln w="25400" cap="flat" cmpd="sng" algn="ctr">
            <a:noFill/>
            <a:prstDash val="soli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166" name="矩形: 圆角 165">
            <a:extLst>
              <a:ext uri="{FF2B5EF4-FFF2-40B4-BE49-F238E27FC236}">
                <a16:creationId xmlns:a16="http://schemas.microsoft.com/office/drawing/2014/main" id="{1FD27002-1EB1-402C-A2A3-CD4F0D4AC3EB}"/>
              </a:ext>
            </a:extLst>
          </p:cNvPr>
          <p:cNvSpPr/>
          <p:nvPr/>
        </p:nvSpPr>
        <p:spPr bwMode="auto">
          <a:xfrm>
            <a:off x="2646997" y="5261412"/>
            <a:ext cx="409873" cy="170681"/>
          </a:xfrm>
          <a:prstGeom prst="roundRect">
            <a:avLst/>
          </a:prstGeom>
          <a:solidFill>
            <a:srgbClr val="FFFFFF"/>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a:ln>
                  <a:noFill/>
                </a:ln>
                <a:solidFill>
                  <a:srgbClr val="000000"/>
                </a:solidFill>
                <a:effectLst/>
                <a:uLnTx/>
                <a:uFillTx/>
                <a:latin typeface="Arial" charset="0"/>
                <a:ea typeface="宋体" charset="-122"/>
              </a:rPr>
              <a:t>SR-IOV</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67" name="矩形: 圆角 166">
            <a:extLst>
              <a:ext uri="{FF2B5EF4-FFF2-40B4-BE49-F238E27FC236}">
                <a16:creationId xmlns:a16="http://schemas.microsoft.com/office/drawing/2014/main" id="{10F981CC-F78A-4E05-87D3-C297E96461A0}"/>
              </a:ext>
            </a:extLst>
          </p:cNvPr>
          <p:cNvSpPr/>
          <p:nvPr/>
        </p:nvSpPr>
        <p:spPr bwMode="auto">
          <a:xfrm>
            <a:off x="2633604" y="5498135"/>
            <a:ext cx="196202" cy="194482"/>
          </a:xfrm>
          <a:prstGeom prst="roundRect">
            <a:avLst/>
          </a:prstGeom>
          <a:solidFill>
            <a:srgbClr val="FFFFFF"/>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a:ln>
                  <a:noFill/>
                </a:ln>
                <a:solidFill>
                  <a:srgbClr val="000000"/>
                </a:solidFill>
                <a:effectLst/>
                <a:uLnTx/>
                <a:uFillTx/>
                <a:latin typeface="Arial" charset="0"/>
                <a:ea typeface="宋体" charset="-122"/>
              </a:rPr>
              <a:t>VM</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68" name="矩形: 圆角 167">
            <a:extLst>
              <a:ext uri="{FF2B5EF4-FFF2-40B4-BE49-F238E27FC236}">
                <a16:creationId xmlns:a16="http://schemas.microsoft.com/office/drawing/2014/main" id="{DB892AE5-AA65-4C2C-B39E-FA93C4EB1635}"/>
              </a:ext>
            </a:extLst>
          </p:cNvPr>
          <p:cNvSpPr/>
          <p:nvPr/>
        </p:nvSpPr>
        <p:spPr bwMode="auto">
          <a:xfrm>
            <a:off x="2867952" y="5499988"/>
            <a:ext cx="196202" cy="194482"/>
          </a:xfrm>
          <a:prstGeom prst="roundRect">
            <a:avLst/>
          </a:prstGeom>
          <a:solidFill>
            <a:srgbClr val="FFFFFF"/>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a:ln>
                  <a:noFill/>
                </a:ln>
                <a:solidFill>
                  <a:srgbClr val="000000"/>
                </a:solidFill>
                <a:effectLst/>
                <a:uLnTx/>
                <a:uFillTx/>
                <a:latin typeface="Arial" charset="0"/>
                <a:ea typeface="宋体" charset="-122"/>
              </a:rPr>
              <a:t>VM</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69" name="矩形 168">
            <a:extLst>
              <a:ext uri="{FF2B5EF4-FFF2-40B4-BE49-F238E27FC236}">
                <a16:creationId xmlns:a16="http://schemas.microsoft.com/office/drawing/2014/main" id="{723D9482-B8C5-4CFF-BBE8-7B88CF595905}"/>
              </a:ext>
            </a:extLst>
          </p:cNvPr>
          <p:cNvSpPr/>
          <p:nvPr/>
        </p:nvSpPr>
        <p:spPr bwMode="auto">
          <a:xfrm>
            <a:off x="3150085" y="5218917"/>
            <a:ext cx="511738" cy="523509"/>
          </a:xfrm>
          <a:prstGeom prst="rect">
            <a:avLst/>
          </a:prstGeom>
          <a:solidFill>
            <a:srgbClr val="000000">
              <a:lumMod val="50000"/>
              <a:lumOff val="50000"/>
            </a:srgbClr>
          </a:solidFill>
          <a:ln w="25400" cap="flat" cmpd="sng" algn="ctr">
            <a:noFill/>
            <a:prstDash val="soli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170" name="矩形: 圆角 169">
            <a:extLst>
              <a:ext uri="{FF2B5EF4-FFF2-40B4-BE49-F238E27FC236}">
                <a16:creationId xmlns:a16="http://schemas.microsoft.com/office/drawing/2014/main" id="{31414337-3788-4A76-A1DD-A926190841AF}"/>
              </a:ext>
            </a:extLst>
          </p:cNvPr>
          <p:cNvSpPr/>
          <p:nvPr/>
        </p:nvSpPr>
        <p:spPr bwMode="auto">
          <a:xfrm>
            <a:off x="3199271" y="5257149"/>
            <a:ext cx="409873" cy="170681"/>
          </a:xfrm>
          <a:prstGeom prst="roundRect">
            <a:avLst/>
          </a:prstGeom>
          <a:solidFill>
            <a:srgbClr val="FFFFFF"/>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err="1">
                <a:ln>
                  <a:noFill/>
                </a:ln>
                <a:solidFill>
                  <a:srgbClr val="000000"/>
                </a:solidFill>
                <a:effectLst/>
                <a:uLnTx/>
                <a:uFillTx/>
                <a:latin typeface="Arial" charset="0"/>
                <a:ea typeface="宋体" charset="-122"/>
              </a:rPr>
              <a:t>vSwitch</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71" name="矩形: 圆角 170">
            <a:extLst>
              <a:ext uri="{FF2B5EF4-FFF2-40B4-BE49-F238E27FC236}">
                <a16:creationId xmlns:a16="http://schemas.microsoft.com/office/drawing/2014/main" id="{409568B9-2F4F-4EE0-A2BC-E1676CDE4273}"/>
              </a:ext>
            </a:extLst>
          </p:cNvPr>
          <p:cNvSpPr/>
          <p:nvPr/>
        </p:nvSpPr>
        <p:spPr bwMode="auto">
          <a:xfrm>
            <a:off x="3185878" y="5493872"/>
            <a:ext cx="196202" cy="194482"/>
          </a:xfrm>
          <a:prstGeom prst="roundRect">
            <a:avLst/>
          </a:prstGeom>
          <a:solidFill>
            <a:srgbClr val="FFFFFF"/>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a:ln>
                  <a:noFill/>
                </a:ln>
                <a:solidFill>
                  <a:srgbClr val="000000"/>
                </a:solidFill>
                <a:effectLst/>
                <a:uLnTx/>
                <a:uFillTx/>
                <a:latin typeface="Arial" charset="0"/>
                <a:ea typeface="宋体" charset="-122"/>
              </a:rPr>
              <a:t>VM</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sp>
        <p:nvSpPr>
          <p:cNvPr id="172" name="矩形: 圆角 171">
            <a:extLst>
              <a:ext uri="{FF2B5EF4-FFF2-40B4-BE49-F238E27FC236}">
                <a16:creationId xmlns:a16="http://schemas.microsoft.com/office/drawing/2014/main" id="{C78937D8-3F27-40DC-BF0C-AEED77592D1D}"/>
              </a:ext>
            </a:extLst>
          </p:cNvPr>
          <p:cNvSpPr/>
          <p:nvPr/>
        </p:nvSpPr>
        <p:spPr bwMode="auto">
          <a:xfrm>
            <a:off x="3420227" y="5495725"/>
            <a:ext cx="196202" cy="194482"/>
          </a:xfrm>
          <a:prstGeom prst="roundRect">
            <a:avLst/>
          </a:prstGeom>
          <a:solidFill>
            <a:srgbClr val="FFFFFF"/>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800" b="0" i="0" u="none" strike="noStrike" kern="0" cap="none" spc="0" normalizeH="0" baseline="0" noProof="0" dirty="0">
                <a:ln>
                  <a:noFill/>
                </a:ln>
                <a:solidFill>
                  <a:srgbClr val="000000"/>
                </a:solidFill>
                <a:effectLst/>
                <a:uLnTx/>
                <a:uFillTx/>
                <a:latin typeface="Arial" charset="0"/>
                <a:ea typeface="宋体" charset="-122"/>
              </a:rPr>
              <a:t>VM</a:t>
            </a:r>
            <a:endParaRPr kumimoji="0" lang="zh-CN" altLang="en-US" sz="800" b="0" i="0" u="none" strike="noStrike" kern="0" cap="none" spc="0" normalizeH="0" baseline="0" noProof="0" dirty="0">
              <a:ln>
                <a:noFill/>
              </a:ln>
              <a:solidFill>
                <a:srgbClr val="000000"/>
              </a:solidFill>
              <a:effectLst/>
              <a:uLnTx/>
              <a:uFillTx/>
              <a:latin typeface="Arial" charset="0"/>
              <a:ea typeface="宋体" charset="-122"/>
            </a:endParaRPr>
          </a:p>
        </p:txBody>
      </p:sp>
      <p:cxnSp>
        <p:nvCxnSpPr>
          <p:cNvPr id="173" name="直接连接符 172">
            <a:extLst>
              <a:ext uri="{FF2B5EF4-FFF2-40B4-BE49-F238E27FC236}">
                <a16:creationId xmlns:a16="http://schemas.microsoft.com/office/drawing/2014/main" id="{D4D23CAA-9F84-4254-80B9-EC540F0B5DEF}"/>
              </a:ext>
            </a:extLst>
          </p:cNvPr>
          <p:cNvCxnSpPr>
            <a:cxnSpLocks/>
            <a:stCxn id="157" idx="0"/>
            <a:endCxn id="127" idx="2"/>
          </p:cNvCxnSpPr>
          <p:nvPr/>
        </p:nvCxnSpPr>
        <p:spPr bwMode="auto">
          <a:xfrm flipV="1">
            <a:off x="1683205" y="4726551"/>
            <a:ext cx="182290" cy="49662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 name="直接连接符 173">
            <a:extLst>
              <a:ext uri="{FF2B5EF4-FFF2-40B4-BE49-F238E27FC236}">
                <a16:creationId xmlns:a16="http://schemas.microsoft.com/office/drawing/2014/main" id="{F9C7801F-D814-4A31-AEC9-0EC1BF5B7B54}"/>
              </a:ext>
            </a:extLst>
          </p:cNvPr>
          <p:cNvCxnSpPr>
            <a:stCxn id="157" idx="0"/>
            <a:endCxn id="128" idx="2"/>
          </p:cNvCxnSpPr>
          <p:nvPr/>
        </p:nvCxnSpPr>
        <p:spPr bwMode="auto">
          <a:xfrm flipV="1">
            <a:off x="1683205" y="4726551"/>
            <a:ext cx="637838" cy="49662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 name="直接连接符 174">
            <a:extLst>
              <a:ext uri="{FF2B5EF4-FFF2-40B4-BE49-F238E27FC236}">
                <a16:creationId xmlns:a16="http://schemas.microsoft.com/office/drawing/2014/main" id="{27E0E836-7447-4E05-86DF-A40FF467D915}"/>
              </a:ext>
            </a:extLst>
          </p:cNvPr>
          <p:cNvCxnSpPr>
            <a:cxnSpLocks/>
            <a:stCxn id="127" idx="2"/>
            <a:endCxn id="161" idx="0"/>
          </p:cNvCxnSpPr>
          <p:nvPr/>
        </p:nvCxnSpPr>
        <p:spPr bwMode="auto">
          <a:xfrm>
            <a:off x="1865495" y="4726551"/>
            <a:ext cx="369985" cy="49236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直接连接符 175">
            <a:extLst>
              <a:ext uri="{FF2B5EF4-FFF2-40B4-BE49-F238E27FC236}">
                <a16:creationId xmlns:a16="http://schemas.microsoft.com/office/drawing/2014/main" id="{79408DD8-CCFC-43B1-B2B2-83662E65464B}"/>
              </a:ext>
            </a:extLst>
          </p:cNvPr>
          <p:cNvCxnSpPr>
            <a:cxnSpLocks/>
            <a:stCxn id="161" idx="0"/>
            <a:endCxn id="128" idx="2"/>
          </p:cNvCxnSpPr>
          <p:nvPr/>
        </p:nvCxnSpPr>
        <p:spPr bwMode="auto">
          <a:xfrm flipV="1">
            <a:off x="2235480" y="4726551"/>
            <a:ext cx="85563" cy="49236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7" name="直接连接符 176">
            <a:extLst>
              <a:ext uri="{FF2B5EF4-FFF2-40B4-BE49-F238E27FC236}">
                <a16:creationId xmlns:a16="http://schemas.microsoft.com/office/drawing/2014/main" id="{2A8C9545-3818-41DC-B364-01048AFE41EF}"/>
              </a:ext>
            </a:extLst>
          </p:cNvPr>
          <p:cNvCxnSpPr>
            <a:cxnSpLocks/>
            <a:stCxn id="165" idx="0"/>
            <a:endCxn id="130" idx="2"/>
          </p:cNvCxnSpPr>
          <p:nvPr/>
        </p:nvCxnSpPr>
        <p:spPr bwMode="auto">
          <a:xfrm flipH="1" flipV="1">
            <a:off x="2804495" y="4726551"/>
            <a:ext cx="49184" cy="49662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8" name="直接连接符 177">
            <a:extLst>
              <a:ext uri="{FF2B5EF4-FFF2-40B4-BE49-F238E27FC236}">
                <a16:creationId xmlns:a16="http://schemas.microsoft.com/office/drawing/2014/main" id="{87B494B8-03DC-4602-A3E9-570281EC5E87}"/>
              </a:ext>
            </a:extLst>
          </p:cNvPr>
          <p:cNvCxnSpPr>
            <a:stCxn id="130" idx="2"/>
            <a:endCxn id="169" idx="0"/>
          </p:cNvCxnSpPr>
          <p:nvPr/>
        </p:nvCxnSpPr>
        <p:spPr bwMode="auto">
          <a:xfrm>
            <a:off x="2804495" y="4726551"/>
            <a:ext cx="601459" cy="49236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9" name="直接连接符 178">
            <a:extLst>
              <a:ext uri="{FF2B5EF4-FFF2-40B4-BE49-F238E27FC236}">
                <a16:creationId xmlns:a16="http://schemas.microsoft.com/office/drawing/2014/main" id="{F088B16E-0746-4EC5-BE4C-FA57BD1D7DB7}"/>
              </a:ext>
            </a:extLst>
          </p:cNvPr>
          <p:cNvCxnSpPr>
            <a:stCxn id="131" idx="2"/>
            <a:endCxn id="165" idx="0"/>
          </p:cNvCxnSpPr>
          <p:nvPr/>
        </p:nvCxnSpPr>
        <p:spPr bwMode="auto">
          <a:xfrm flipH="1">
            <a:off x="2853679" y="4726551"/>
            <a:ext cx="419489" cy="49662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0" name="直接连接符 179">
            <a:extLst>
              <a:ext uri="{FF2B5EF4-FFF2-40B4-BE49-F238E27FC236}">
                <a16:creationId xmlns:a16="http://schemas.microsoft.com/office/drawing/2014/main" id="{97945124-C968-4ABE-99D7-629B9714775C}"/>
              </a:ext>
            </a:extLst>
          </p:cNvPr>
          <p:cNvCxnSpPr>
            <a:stCxn id="131" idx="2"/>
            <a:endCxn id="169" idx="0"/>
          </p:cNvCxnSpPr>
          <p:nvPr/>
        </p:nvCxnSpPr>
        <p:spPr bwMode="auto">
          <a:xfrm>
            <a:off x="3273168" y="4726551"/>
            <a:ext cx="132786" cy="49236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1" name="椭圆 180">
            <a:extLst>
              <a:ext uri="{FF2B5EF4-FFF2-40B4-BE49-F238E27FC236}">
                <a16:creationId xmlns:a16="http://schemas.microsoft.com/office/drawing/2014/main" id="{BCD050E7-0168-49C6-870D-EAB0701ED2AE}"/>
              </a:ext>
            </a:extLst>
          </p:cNvPr>
          <p:cNvSpPr/>
          <p:nvPr/>
        </p:nvSpPr>
        <p:spPr bwMode="auto">
          <a:xfrm>
            <a:off x="2682375" y="4616922"/>
            <a:ext cx="394242" cy="226418"/>
          </a:xfrm>
          <a:prstGeom prst="ellipse">
            <a:avLst/>
          </a:prstGeom>
          <a:solidFill>
            <a:srgbClr val="7030A0"/>
          </a:solidFill>
          <a:ln w="25400" cap="flat" cmpd="sng" algn="ctr">
            <a:solidFill>
              <a:srgbClr val="FFFFFF"/>
            </a:solidFill>
            <a:prstDash val="solid"/>
          </a:ln>
          <a:effec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00" b="0" i="0" u="none" strike="noStrike" kern="0" cap="none" spc="0" normalizeH="0" baseline="0" noProof="0" dirty="0">
                <a:ln>
                  <a:noFill/>
                </a:ln>
                <a:solidFill>
                  <a:srgbClr val="FFFFFF"/>
                </a:solidFill>
                <a:effectLst/>
                <a:uLnTx/>
                <a:uFillTx/>
                <a:latin typeface="Arial" charset="0"/>
                <a:ea typeface="宋体" charset="-122"/>
              </a:rPr>
              <a:t>VRF</a:t>
            </a:r>
            <a:endParaRPr kumimoji="0" lang="zh-CN" altLang="en-US" sz="1000" b="0" i="0" u="none" strike="noStrike" kern="0" cap="none" spc="0" normalizeH="0" baseline="0" noProof="0" dirty="0">
              <a:ln>
                <a:noFill/>
              </a:ln>
              <a:solidFill>
                <a:srgbClr val="FFFFFF"/>
              </a:solidFill>
              <a:effectLst/>
              <a:uLnTx/>
              <a:uFillTx/>
              <a:latin typeface="Arial" charset="0"/>
              <a:ea typeface="宋体" charset="-122"/>
            </a:endParaRPr>
          </a:p>
        </p:txBody>
      </p:sp>
      <p:sp>
        <p:nvSpPr>
          <p:cNvPr id="182" name="椭圆 181">
            <a:extLst>
              <a:ext uri="{FF2B5EF4-FFF2-40B4-BE49-F238E27FC236}">
                <a16:creationId xmlns:a16="http://schemas.microsoft.com/office/drawing/2014/main" id="{5468C18B-0B16-4A4C-82B8-7E70280AA4F9}"/>
              </a:ext>
            </a:extLst>
          </p:cNvPr>
          <p:cNvSpPr/>
          <p:nvPr/>
        </p:nvSpPr>
        <p:spPr bwMode="auto">
          <a:xfrm>
            <a:off x="3016318" y="4628798"/>
            <a:ext cx="394242" cy="226418"/>
          </a:xfrm>
          <a:prstGeom prst="ellipse">
            <a:avLst/>
          </a:prstGeom>
          <a:solidFill>
            <a:srgbClr val="0070C0"/>
          </a:solidFill>
          <a:ln w="25400" cap="flat" cmpd="sng" algn="ctr">
            <a:solidFill>
              <a:srgbClr val="FFFFFF"/>
            </a:solidFill>
            <a:prstDash val="solid"/>
          </a:ln>
          <a:effec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00" b="0" i="0" u="none" strike="noStrike" kern="0" cap="none" spc="0" normalizeH="0" baseline="0" noProof="0" dirty="0">
                <a:ln>
                  <a:noFill/>
                </a:ln>
                <a:solidFill>
                  <a:srgbClr val="FFFFFF"/>
                </a:solidFill>
                <a:effectLst/>
                <a:uLnTx/>
                <a:uFillTx/>
                <a:latin typeface="Arial" charset="0"/>
                <a:ea typeface="宋体" charset="-122"/>
              </a:rPr>
              <a:t>BD</a:t>
            </a:r>
            <a:endParaRPr kumimoji="0" lang="zh-CN" altLang="en-US" sz="1000" b="0" i="0" u="none" strike="noStrike" kern="0" cap="none" spc="0" normalizeH="0" baseline="0" noProof="0" dirty="0">
              <a:ln>
                <a:noFill/>
              </a:ln>
              <a:solidFill>
                <a:srgbClr val="FFFFFF"/>
              </a:solidFill>
              <a:effectLst/>
              <a:uLnTx/>
              <a:uFillTx/>
              <a:latin typeface="Arial" charset="0"/>
              <a:ea typeface="宋体" charset="-122"/>
            </a:endParaRPr>
          </a:p>
        </p:txBody>
      </p:sp>
      <p:sp>
        <p:nvSpPr>
          <p:cNvPr id="183" name="椭圆 182">
            <a:extLst>
              <a:ext uri="{FF2B5EF4-FFF2-40B4-BE49-F238E27FC236}">
                <a16:creationId xmlns:a16="http://schemas.microsoft.com/office/drawing/2014/main" id="{A09967C6-C767-4CE7-9892-0DF5807BF185}"/>
              </a:ext>
            </a:extLst>
          </p:cNvPr>
          <p:cNvSpPr/>
          <p:nvPr/>
        </p:nvSpPr>
        <p:spPr bwMode="auto">
          <a:xfrm>
            <a:off x="1688359" y="4621638"/>
            <a:ext cx="394242" cy="226418"/>
          </a:xfrm>
          <a:prstGeom prst="ellipse">
            <a:avLst/>
          </a:prstGeom>
          <a:solidFill>
            <a:srgbClr val="7030A0"/>
          </a:solidFill>
          <a:ln w="25400" cap="flat" cmpd="sng" algn="ctr">
            <a:solidFill>
              <a:srgbClr val="FFFFFF"/>
            </a:solidFill>
            <a:prstDash val="solid"/>
          </a:ln>
          <a:effec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00" b="0" i="0" u="none" strike="noStrike" kern="0" cap="none" spc="0" normalizeH="0" baseline="0" noProof="0" dirty="0">
                <a:ln>
                  <a:noFill/>
                </a:ln>
                <a:solidFill>
                  <a:srgbClr val="FFFFFF"/>
                </a:solidFill>
                <a:effectLst/>
                <a:uLnTx/>
                <a:uFillTx/>
                <a:latin typeface="Arial" charset="0"/>
                <a:ea typeface="宋体" charset="-122"/>
              </a:rPr>
              <a:t>VRF</a:t>
            </a:r>
            <a:endParaRPr kumimoji="0" lang="zh-CN" altLang="en-US" sz="1000" b="0" i="0" u="none" strike="noStrike" kern="0" cap="none" spc="0" normalizeH="0" baseline="0" noProof="0" dirty="0">
              <a:ln>
                <a:noFill/>
              </a:ln>
              <a:solidFill>
                <a:srgbClr val="FFFFFF"/>
              </a:solidFill>
              <a:effectLst/>
              <a:uLnTx/>
              <a:uFillTx/>
              <a:latin typeface="Arial" charset="0"/>
              <a:ea typeface="宋体" charset="-122"/>
            </a:endParaRPr>
          </a:p>
        </p:txBody>
      </p:sp>
      <p:sp>
        <p:nvSpPr>
          <p:cNvPr id="184" name="椭圆 183">
            <a:extLst>
              <a:ext uri="{FF2B5EF4-FFF2-40B4-BE49-F238E27FC236}">
                <a16:creationId xmlns:a16="http://schemas.microsoft.com/office/drawing/2014/main" id="{EB31D8E8-F152-4DBC-8B93-CFC61C19ED8A}"/>
              </a:ext>
            </a:extLst>
          </p:cNvPr>
          <p:cNvSpPr/>
          <p:nvPr/>
        </p:nvSpPr>
        <p:spPr bwMode="auto">
          <a:xfrm>
            <a:off x="2022302" y="4633514"/>
            <a:ext cx="394242" cy="226418"/>
          </a:xfrm>
          <a:prstGeom prst="ellipse">
            <a:avLst/>
          </a:prstGeom>
          <a:solidFill>
            <a:srgbClr val="0070C0"/>
          </a:solidFill>
          <a:ln w="25400" cap="flat" cmpd="sng" algn="ctr">
            <a:solidFill>
              <a:srgbClr val="FFFFFF"/>
            </a:solidFill>
            <a:prstDash val="solid"/>
          </a:ln>
          <a:effec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00" b="0" i="0" u="none" strike="noStrike" kern="0" cap="none" spc="0" normalizeH="0" baseline="0" noProof="0" dirty="0">
                <a:ln>
                  <a:noFill/>
                </a:ln>
                <a:solidFill>
                  <a:srgbClr val="FFFFFF"/>
                </a:solidFill>
                <a:effectLst/>
                <a:uLnTx/>
                <a:uFillTx/>
                <a:latin typeface="Arial" charset="0"/>
                <a:ea typeface="宋体" charset="-122"/>
              </a:rPr>
              <a:t>BD</a:t>
            </a:r>
            <a:endParaRPr kumimoji="0" lang="zh-CN" altLang="en-US" sz="1000" b="0" i="0" u="none" strike="noStrike" kern="0" cap="none" spc="0" normalizeH="0" baseline="0" noProof="0" dirty="0">
              <a:ln>
                <a:noFill/>
              </a:ln>
              <a:solidFill>
                <a:srgbClr val="FFFFFF"/>
              </a:solidFill>
              <a:effectLst/>
              <a:uLnTx/>
              <a:uFillTx/>
              <a:latin typeface="Arial" charset="0"/>
              <a:ea typeface="宋体" charset="-122"/>
            </a:endParaRPr>
          </a:p>
        </p:txBody>
      </p:sp>
      <p:cxnSp>
        <p:nvCxnSpPr>
          <p:cNvPr id="185" name="直接连接符 184">
            <a:extLst>
              <a:ext uri="{FF2B5EF4-FFF2-40B4-BE49-F238E27FC236}">
                <a16:creationId xmlns:a16="http://schemas.microsoft.com/office/drawing/2014/main" id="{99097F50-FF00-40E8-8F57-2C635500654A}"/>
              </a:ext>
            </a:extLst>
          </p:cNvPr>
          <p:cNvCxnSpPr/>
          <p:nvPr/>
        </p:nvCxnSpPr>
        <p:spPr bwMode="auto">
          <a:xfrm>
            <a:off x="1624689" y="3201307"/>
            <a:ext cx="0" cy="270659"/>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6" name="直接箭头连接符 185">
            <a:extLst>
              <a:ext uri="{FF2B5EF4-FFF2-40B4-BE49-F238E27FC236}">
                <a16:creationId xmlns:a16="http://schemas.microsoft.com/office/drawing/2014/main" id="{263CCEAC-9E2B-47A5-B2BE-9AFEB73C7B74}"/>
              </a:ext>
            </a:extLst>
          </p:cNvPr>
          <p:cNvCxnSpPr>
            <a:cxnSpLocks/>
          </p:cNvCxnSpPr>
          <p:nvPr/>
        </p:nvCxnSpPr>
        <p:spPr bwMode="auto">
          <a:xfrm>
            <a:off x="1633524" y="3288232"/>
            <a:ext cx="461043" cy="67044"/>
          </a:xfrm>
          <a:prstGeom prst="straightConnector1">
            <a:avLst/>
          </a:prstGeom>
          <a:noFill/>
          <a:ln w="9525" cap="flat" cmpd="sng" algn="ctr">
            <a:solidFill>
              <a:srgbClr val="000000">
                <a:shade val="95000"/>
                <a:satMod val="105000"/>
              </a:srgbClr>
            </a:solidFill>
            <a:prstDash val="soli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7" name="直接箭头连接符 186">
            <a:extLst>
              <a:ext uri="{FF2B5EF4-FFF2-40B4-BE49-F238E27FC236}">
                <a16:creationId xmlns:a16="http://schemas.microsoft.com/office/drawing/2014/main" id="{B96CC3C8-7A36-44BE-91FB-CE7011B9828F}"/>
              </a:ext>
            </a:extLst>
          </p:cNvPr>
          <p:cNvCxnSpPr>
            <a:cxnSpLocks/>
          </p:cNvCxnSpPr>
          <p:nvPr/>
        </p:nvCxnSpPr>
        <p:spPr bwMode="auto">
          <a:xfrm>
            <a:off x="1623829" y="3386988"/>
            <a:ext cx="388052" cy="523509"/>
          </a:xfrm>
          <a:prstGeom prst="straightConnector1">
            <a:avLst/>
          </a:prstGeom>
          <a:noFill/>
          <a:ln w="9525" cap="flat" cmpd="sng" algn="ctr">
            <a:solidFill>
              <a:srgbClr val="000000">
                <a:shade val="95000"/>
                <a:satMod val="105000"/>
              </a:srgbClr>
            </a:solidFill>
            <a:prstDash val="soli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8" name="文本框 187">
            <a:extLst>
              <a:ext uri="{FF2B5EF4-FFF2-40B4-BE49-F238E27FC236}">
                <a16:creationId xmlns:a16="http://schemas.microsoft.com/office/drawing/2014/main" id="{A8EF4433-6451-46C9-A980-39D83FF5AC88}"/>
              </a:ext>
            </a:extLst>
          </p:cNvPr>
          <p:cNvSpPr txBox="1"/>
          <p:nvPr/>
        </p:nvSpPr>
        <p:spPr>
          <a:xfrm>
            <a:off x="1312553" y="3325549"/>
            <a:ext cx="585838" cy="369332"/>
          </a:xfrm>
          <a:prstGeom prst="rect">
            <a:avLst/>
          </a:prstGeom>
          <a:noFill/>
        </p:spPr>
        <p:txBody>
          <a:bodyPr wrap="square" rtlCol="0">
            <a:spAutoFit/>
          </a:bodyPr>
          <a:lstStyle/>
          <a:p>
            <a:pPr fontAlgn="base">
              <a:spcBef>
                <a:spcPct val="0"/>
              </a:spcBef>
              <a:spcAft>
                <a:spcPct val="0"/>
              </a:spcAft>
            </a:pPr>
            <a:r>
              <a:rPr lang="en-US" altLang="zh-CN" sz="900" dirty="0">
                <a:solidFill>
                  <a:srgbClr val="000000"/>
                </a:solidFill>
                <a:latin typeface="Arial" pitchFamily="34" charset="0"/>
                <a:ea typeface="宋体" pitchFamily="2" charset="-122"/>
              </a:rPr>
              <a:t>IP ECMP</a:t>
            </a:r>
            <a:endParaRPr lang="zh-CN" altLang="en-US" sz="900" dirty="0">
              <a:solidFill>
                <a:srgbClr val="000000"/>
              </a:solidFill>
              <a:latin typeface="Arial" pitchFamily="34" charset="0"/>
              <a:ea typeface="宋体" pitchFamily="2" charset="-122"/>
            </a:endParaRPr>
          </a:p>
        </p:txBody>
      </p:sp>
      <p:sp>
        <p:nvSpPr>
          <p:cNvPr id="189" name="文本框 188">
            <a:extLst>
              <a:ext uri="{FF2B5EF4-FFF2-40B4-BE49-F238E27FC236}">
                <a16:creationId xmlns:a16="http://schemas.microsoft.com/office/drawing/2014/main" id="{6A0F843E-EE73-4B49-AB8A-480E3C48C626}"/>
              </a:ext>
            </a:extLst>
          </p:cNvPr>
          <p:cNvSpPr txBox="1"/>
          <p:nvPr/>
        </p:nvSpPr>
        <p:spPr>
          <a:xfrm>
            <a:off x="3160289" y="3473136"/>
            <a:ext cx="490954" cy="230832"/>
          </a:xfrm>
          <a:prstGeom prst="rect">
            <a:avLst/>
          </a:prstGeom>
          <a:noFill/>
        </p:spPr>
        <p:txBody>
          <a:bodyPr wrap="square" rtlCol="0">
            <a:spAutoFit/>
          </a:bodyPr>
          <a:lstStyle/>
          <a:p>
            <a:pPr fontAlgn="base">
              <a:spcBef>
                <a:spcPct val="0"/>
              </a:spcBef>
              <a:spcAft>
                <a:spcPct val="0"/>
              </a:spcAft>
            </a:pPr>
            <a:r>
              <a:rPr lang="en-US" altLang="zh-CN" sz="900" dirty="0">
                <a:solidFill>
                  <a:srgbClr val="000000"/>
                </a:solidFill>
                <a:latin typeface="Arial" pitchFamily="34" charset="0"/>
                <a:ea typeface="宋体" pitchFamily="2" charset="-122"/>
              </a:rPr>
              <a:t>Spine</a:t>
            </a:r>
            <a:endParaRPr lang="zh-CN" altLang="en-US" sz="900" dirty="0">
              <a:solidFill>
                <a:srgbClr val="000000"/>
              </a:solidFill>
              <a:latin typeface="Arial" pitchFamily="34" charset="0"/>
              <a:ea typeface="宋体" pitchFamily="2" charset="-122"/>
            </a:endParaRPr>
          </a:p>
        </p:txBody>
      </p:sp>
      <p:sp>
        <p:nvSpPr>
          <p:cNvPr id="190" name="文本框 189">
            <a:extLst>
              <a:ext uri="{FF2B5EF4-FFF2-40B4-BE49-F238E27FC236}">
                <a16:creationId xmlns:a16="http://schemas.microsoft.com/office/drawing/2014/main" id="{A9D13984-F21F-4DB1-8668-84723AB78C49}"/>
              </a:ext>
            </a:extLst>
          </p:cNvPr>
          <p:cNvSpPr txBox="1"/>
          <p:nvPr/>
        </p:nvSpPr>
        <p:spPr>
          <a:xfrm>
            <a:off x="3170325" y="2674241"/>
            <a:ext cx="676910" cy="230832"/>
          </a:xfrm>
          <a:prstGeom prst="rect">
            <a:avLst/>
          </a:prstGeom>
          <a:noFill/>
        </p:spPr>
        <p:txBody>
          <a:bodyPr wrap="square" rtlCol="0">
            <a:spAutoFit/>
          </a:bodyPr>
          <a:lstStyle/>
          <a:p>
            <a:pPr fontAlgn="base">
              <a:spcBef>
                <a:spcPct val="0"/>
              </a:spcBef>
              <a:spcAft>
                <a:spcPct val="0"/>
              </a:spcAft>
            </a:pPr>
            <a:r>
              <a:rPr lang="zh-CN" altLang="en-US" sz="900" dirty="0">
                <a:solidFill>
                  <a:srgbClr val="000000"/>
                </a:solidFill>
                <a:latin typeface="微软雅黑" panose="020B0503020204020204" pitchFamily="34" charset="-122"/>
                <a:ea typeface="微软雅黑" panose="020B0503020204020204" pitchFamily="34" charset="-122"/>
              </a:rPr>
              <a:t>双活网关</a:t>
            </a:r>
          </a:p>
        </p:txBody>
      </p:sp>
      <p:sp>
        <p:nvSpPr>
          <p:cNvPr id="191" name="文本框 190">
            <a:extLst>
              <a:ext uri="{FF2B5EF4-FFF2-40B4-BE49-F238E27FC236}">
                <a16:creationId xmlns:a16="http://schemas.microsoft.com/office/drawing/2014/main" id="{C5F1DB07-823F-4EE1-970E-0748745B68A6}"/>
              </a:ext>
            </a:extLst>
          </p:cNvPr>
          <p:cNvSpPr txBox="1"/>
          <p:nvPr/>
        </p:nvSpPr>
        <p:spPr>
          <a:xfrm>
            <a:off x="1494887" y="2670164"/>
            <a:ext cx="563947" cy="230832"/>
          </a:xfrm>
          <a:prstGeom prst="rect">
            <a:avLst/>
          </a:prstGeom>
          <a:noFill/>
        </p:spPr>
        <p:txBody>
          <a:bodyPr wrap="square" rtlCol="0">
            <a:spAutoFit/>
          </a:bodyPr>
          <a:lstStyle/>
          <a:p>
            <a:pPr fontAlgn="base">
              <a:spcBef>
                <a:spcPct val="0"/>
              </a:spcBef>
              <a:spcAft>
                <a:spcPct val="0"/>
              </a:spcAft>
            </a:pPr>
            <a:r>
              <a:rPr lang="en-US" altLang="zh-CN" sz="900" dirty="0">
                <a:solidFill>
                  <a:srgbClr val="000000"/>
                </a:solidFill>
                <a:latin typeface="Arial" pitchFamily="34" charset="0"/>
                <a:ea typeface="宋体" pitchFamily="2" charset="-122"/>
              </a:rPr>
              <a:t>DCGW</a:t>
            </a:r>
            <a:endParaRPr lang="zh-CN" altLang="en-US" sz="900" dirty="0">
              <a:solidFill>
                <a:srgbClr val="000000"/>
              </a:solidFill>
              <a:latin typeface="Arial" pitchFamily="34" charset="0"/>
              <a:ea typeface="宋体" pitchFamily="2" charset="-122"/>
            </a:endParaRPr>
          </a:p>
        </p:txBody>
      </p:sp>
      <p:sp>
        <p:nvSpPr>
          <p:cNvPr id="192" name="椭圆 191">
            <a:extLst>
              <a:ext uri="{FF2B5EF4-FFF2-40B4-BE49-F238E27FC236}">
                <a16:creationId xmlns:a16="http://schemas.microsoft.com/office/drawing/2014/main" id="{ACDDC70B-A172-4EF5-81A8-49ED347CC206}"/>
              </a:ext>
            </a:extLst>
          </p:cNvPr>
          <p:cNvSpPr/>
          <p:nvPr/>
        </p:nvSpPr>
        <p:spPr bwMode="auto">
          <a:xfrm>
            <a:off x="2383249" y="2631553"/>
            <a:ext cx="394242" cy="226418"/>
          </a:xfrm>
          <a:prstGeom prst="ellipse">
            <a:avLst/>
          </a:prstGeom>
          <a:solidFill>
            <a:srgbClr val="0070C0"/>
          </a:solidFill>
          <a:ln w="25400" cap="flat" cmpd="sng" algn="ctr">
            <a:solidFill>
              <a:srgbClr val="FFFFFF"/>
            </a:solidFill>
            <a:prstDash val="solid"/>
          </a:ln>
          <a:effec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00" b="0" i="0" u="none" strike="noStrike" kern="0" cap="none" spc="0" normalizeH="0" baseline="0" noProof="0" dirty="0">
                <a:ln>
                  <a:noFill/>
                </a:ln>
                <a:solidFill>
                  <a:srgbClr val="FFFFFF"/>
                </a:solidFill>
                <a:effectLst/>
                <a:uLnTx/>
                <a:uFillTx/>
                <a:latin typeface="Arial" charset="0"/>
                <a:ea typeface="宋体" charset="-122"/>
              </a:rPr>
              <a:t>BD</a:t>
            </a:r>
            <a:endParaRPr kumimoji="0" lang="zh-CN" altLang="en-US" sz="1000" b="0" i="0" u="none" strike="noStrike" kern="0" cap="none" spc="0" normalizeH="0" baseline="0" noProof="0" dirty="0">
              <a:ln>
                <a:noFill/>
              </a:ln>
              <a:solidFill>
                <a:srgbClr val="FFFFFF"/>
              </a:solidFill>
              <a:effectLst/>
              <a:uLnTx/>
              <a:uFillTx/>
              <a:latin typeface="Arial" charset="0"/>
              <a:ea typeface="宋体" charset="-122"/>
            </a:endParaRPr>
          </a:p>
        </p:txBody>
      </p:sp>
      <p:pic>
        <p:nvPicPr>
          <p:cNvPr id="193" name="Picture 4">
            <a:extLst>
              <a:ext uri="{FF2B5EF4-FFF2-40B4-BE49-F238E27FC236}">
                <a16:creationId xmlns:a16="http://schemas.microsoft.com/office/drawing/2014/main" id="{97CD5FF1-2D26-48E1-AEBB-0F38AE062931}"/>
              </a:ext>
            </a:extLst>
          </p:cNvPr>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58543" y="2058109"/>
            <a:ext cx="174057" cy="413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 name="Picture 44" descr="Router3">
            <a:extLst>
              <a:ext uri="{FF2B5EF4-FFF2-40B4-BE49-F238E27FC236}">
                <a16:creationId xmlns:a16="http://schemas.microsoft.com/office/drawing/2014/main" id="{94A598C6-1A49-46B9-8DA5-9FD2CFB75EC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3524" y="1539206"/>
            <a:ext cx="394809" cy="303212"/>
          </a:xfrm>
          <a:prstGeom prst="rect">
            <a:avLst/>
          </a:prstGeom>
          <a:noFill/>
          <a:extLst>
            <a:ext uri="{909E8E84-426E-40DD-AFC4-6F175D3DCCD1}">
              <a14:hiddenFill xmlns:a14="http://schemas.microsoft.com/office/drawing/2010/main">
                <a:solidFill>
                  <a:srgbClr val="FFFFFF"/>
                </a:solidFill>
              </a14:hiddenFill>
            </a:ext>
          </a:extLst>
        </p:spPr>
      </p:pic>
      <p:pic>
        <p:nvPicPr>
          <p:cNvPr id="195" name="Picture 44" descr="Router3">
            <a:extLst>
              <a:ext uri="{FF2B5EF4-FFF2-40B4-BE49-F238E27FC236}">
                <a16:creationId xmlns:a16="http://schemas.microsoft.com/office/drawing/2014/main" id="{50A523B2-CEF5-4C85-A8F7-4E6FBB90492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25852" y="1539206"/>
            <a:ext cx="394809" cy="303212"/>
          </a:xfrm>
          <a:prstGeom prst="rect">
            <a:avLst/>
          </a:prstGeom>
          <a:noFill/>
          <a:extLst>
            <a:ext uri="{909E8E84-426E-40DD-AFC4-6F175D3DCCD1}">
              <a14:hiddenFill xmlns:a14="http://schemas.microsoft.com/office/drawing/2010/main">
                <a:solidFill>
                  <a:srgbClr val="FFFFFF"/>
                </a:solidFill>
              </a14:hiddenFill>
            </a:ext>
          </a:extLst>
        </p:spPr>
      </p:pic>
      <p:pic>
        <p:nvPicPr>
          <p:cNvPr id="196" name="Picture 4">
            <a:extLst>
              <a:ext uri="{FF2B5EF4-FFF2-40B4-BE49-F238E27FC236}">
                <a16:creationId xmlns:a16="http://schemas.microsoft.com/office/drawing/2014/main" id="{90C9AB43-DF87-45E3-BF32-BF2A46088D78}"/>
              </a:ext>
            </a:extLst>
          </p:cNvPr>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90584" y="2098655"/>
            <a:ext cx="174057" cy="413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97" name="直接连接符 196">
            <a:extLst>
              <a:ext uri="{FF2B5EF4-FFF2-40B4-BE49-F238E27FC236}">
                <a16:creationId xmlns:a16="http://schemas.microsoft.com/office/drawing/2014/main" id="{200B50D4-2C32-44C4-9950-10CD674B35AD}"/>
              </a:ext>
            </a:extLst>
          </p:cNvPr>
          <p:cNvCxnSpPr>
            <a:cxnSpLocks/>
            <a:stCxn id="143" idx="0"/>
            <a:endCxn id="193" idx="2"/>
          </p:cNvCxnSpPr>
          <p:nvPr/>
        </p:nvCxnSpPr>
        <p:spPr bwMode="auto">
          <a:xfrm flipH="1" flipV="1">
            <a:off x="1745572" y="2471994"/>
            <a:ext cx="428989" cy="194942"/>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8" name="直接连接符 197">
            <a:extLst>
              <a:ext uri="{FF2B5EF4-FFF2-40B4-BE49-F238E27FC236}">
                <a16:creationId xmlns:a16="http://schemas.microsoft.com/office/drawing/2014/main" id="{2C712100-645C-49B7-8206-DA454A682AF0}"/>
              </a:ext>
            </a:extLst>
          </p:cNvPr>
          <p:cNvCxnSpPr>
            <a:cxnSpLocks/>
            <a:stCxn id="143" idx="0"/>
            <a:endCxn id="196" idx="2"/>
          </p:cNvCxnSpPr>
          <p:nvPr/>
        </p:nvCxnSpPr>
        <p:spPr bwMode="auto">
          <a:xfrm flipV="1">
            <a:off x="2174561" y="2512540"/>
            <a:ext cx="1303052" cy="15439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 name="直接连接符 198">
            <a:extLst>
              <a:ext uri="{FF2B5EF4-FFF2-40B4-BE49-F238E27FC236}">
                <a16:creationId xmlns:a16="http://schemas.microsoft.com/office/drawing/2014/main" id="{AE3C91B2-6339-45FE-B94A-578DF32BEE0C}"/>
              </a:ext>
            </a:extLst>
          </p:cNvPr>
          <p:cNvCxnSpPr>
            <a:cxnSpLocks/>
            <a:stCxn id="144" idx="0"/>
            <a:endCxn id="193" idx="2"/>
          </p:cNvCxnSpPr>
          <p:nvPr/>
        </p:nvCxnSpPr>
        <p:spPr bwMode="auto">
          <a:xfrm flipH="1" flipV="1">
            <a:off x="1745572" y="2471994"/>
            <a:ext cx="1277308" cy="182837"/>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0" name="直接连接符 199">
            <a:extLst>
              <a:ext uri="{FF2B5EF4-FFF2-40B4-BE49-F238E27FC236}">
                <a16:creationId xmlns:a16="http://schemas.microsoft.com/office/drawing/2014/main" id="{F040F453-8429-4023-9F22-4DC3D9C6BBC5}"/>
              </a:ext>
            </a:extLst>
          </p:cNvPr>
          <p:cNvCxnSpPr>
            <a:cxnSpLocks/>
            <a:stCxn id="144" idx="0"/>
            <a:endCxn id="196" idx="2"/>
          </p:cNvCxnSpPr>
          <p:nvPr/>
        </p:nvCxnSpPr>
        <p:spPr bwMode="auto">
          <a:xfrm flipV="1">
            <a:off x="3022880" y="2512540"/>
            <a:ext cx="454733" cy="142291"/>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1" name="椭圆 200">
            <a:extLst>
              <a:ext uri="{FF2B5EF4-FFF2-40B4-BE49-F238E27FC236}">
                <a16:creationId xmlns:a16="http://schemas.microsoft.com/office/drawing/2014/main" id="{22354C5B-22B8-4C88-9594-00CDE55C1B48}"/>
              </a:ext>
            </a:extLst>
          </p:cNvPr>
          <p:cNvSpPr/>
          <p:nvPr/>
        </p:nvSpPr>
        <p:spPr bwMode="auto">
          <a:xfrm>
            <a:off x="2379574" y="2430146"/>
            <a:ext cx="394242" cy="226418"/>
          </a:xfrm>
          <a:prstGeom prst="ellipse">
            <a:avLst/>
          </a:prstGeom>
          <a:solidFill>
            <a:srgbClr val="7030A0"/>
          </a:solidFill>
          <a:ln w="25400" cap="flat" cmpd="sng" algn="ctr">
            <a:solidFill>
              <a:srgbClr val="FFFFFF"/>
            </a:solidFill>
            <a:prstDash val="solid"/>
          </a:ln>
          <a:effec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00" b="0" i="0" u="none" strike="noStrike" kern="0" cap="none" spc="0" normalizeH="0" baseline="0" noProof="0" dirty="0">
                <a:ln>
                  <a:noFill/>
                </a:ln>
                <a:solidFill>
                  <a:srgbClr val="FFFFFF"/>
                </a:solidFill>
                <a:effectLst/>
                <a:uLnTx/>
                <a:uFillTx/>
                <a:latin typeface="Arial" charset="0"/>
                <a:ea typeface="宋体" charset="-122"/>
              </a:rPr>
              <a:t>VRF</a:t>
            </a:r>
            <a:endParaRPr kumimoji="0" lang="zh-CN" altLang="en-US" sz="1000" b="0" i="0" u="none" strike="noStrike" kern="0" cap="none" spc="0" normalizeH="0" baseline="0" noProof="0" dirty="0">
              <a:ln>
                <a:noFill/>
              </a:ln>
              <a:solidFill>
                <a:srgbClr val="FFFFFF"/>
              </a:solidFill>
              <a:effectLst/>
              <a:uLnTx/>
              <a:uFillTx/>
              <a:latin typeface="Arial" charset="0"/>
              <a:ea typeface="宋体" charset="-122"/>
            </a:endParaRPr>
          </a:p>
        </p:txBody>
      </p:sp>
      <p:sp>
        <p:nvSpPr>
          <p:cNvPr id="202" name="文本框 201">
            <a:extLst>
              <a:ext uri="{FF2B5EF4-FFF2-40B4-BE49-F238E27FC236}">
                <a16:creationId xmlns:a16="http://schemas.microsoft.com/office/drawing/2014/main" id="{F2B8DDD1-F14A-41C2-B1C1-36659BD4E938}"/>
              </a:ext>
            </a:extLst>
          </p:cNvPr>
          <p:cNvSpPr txBox="1"/>
          <p:nvPr/>
        </p:nvSpPr>
        <p:spPr>
          <a:xfrm>
            <a:off x="1208134" y="2182472"/>
            <a:ext cx="488761" cy="230832"/>
          </a:xfrm>
          <a:prstGeom prst="rect">
            <a:avLst/>
          </a:prstGeom>
          <a:noFill/>
        </p:spPr>
        <p:txBody>
          <a:bodyPr wrap="square" rtlCol="0">
            <a:spAutoFit/>
          </a:bodyPr>
          <a:lstStyle/>
          <a:p>
            <a:pPr fontAlgn="base">
              <a:spcBef>
                <a:spcPct val="0"/>
              </a:spcBef>
              <a:spcAft>
                <a:spcPct val="0"/>
              </a:spcAft>
            </a:pPr>
            <a:r>
              <a:rPr lang="zh-CN" altLang="en-US" sz="900" dirty="0">
                <a:solidFill>
                  <a:srgbClr val="000000"/>
                </a:solidFill>
                <a:latin typeface="微软雅黑" panose="020B0503020204020204" pitchFamily="34" charset="-122"/>
                <a:ea typeface="微软雅黑" panose="020B0503020204020204" pitchFamily="34" charset="-122"/>
              </a:rPr>
              <a:t>主</a:t>
            </a:r>
            <a:r>
              <a:rPr lang="en-US" altLang="zh-CN" sz="900" dirty="0">
                <a:solidFill>
                  <a:srgbClr val="000000"/>
                </a:solidFill>
                <a:latin typeface="微软雅黑" panose="020B0503020204020204" pitchFamily="34" charset="-122"/>
                <a:ea typeface="微软雅黑" panose="020B0503020204020204" pitchFamily="34" charset="-122"/>
              </a:rPr>
              <a:t>FW</a:t>
            </a:r>
            <a:endParaRPr lang="zh-CN" altLang="en-US" sz="900" dirty="0">
              <a:solidFill>
                <a:srgbClr val="000000"/>
              </a:solidFill>
              <a:latin typeface="微软雅黑" panose="020B0503020204020204" pitchFamily="34" charset="-122"/>
              <a:ea typeface="微软雅黑" panose="020B0503020204020204" pitchFamily="34" charset="-122"/>
            </a:endParaRPr>
          </a:p>
        </p:txBody>
      </p:sp>
      <p:sp>
        <p:nvSpPr>
          <p:cNvPr id="203" name="文本框 202">
            <a:extLst>
              <a:ext uri="{FF2B5EF4-FFF2-40B4-BE49-F238E27FC236}">
                <a16:creationId xmlns:a16="http://schemas.microsoft.com/office/drawing/2014/main" id="{AA538BC0-47FC-41D1-833A-F76E96C6C6A7}"/>
              </a:ext>
            </a:extLst>
          </p:cNvPr>
          <p:cNvSpPr txBox="1"/>
          <p:nvPr/>
        </p:nvSpPr>
        <p:spPr>
          <a:xfrm>
            <a:off x="3503809" y="2188358"/>
            <a:ext cx="486030" cy="230832"/>
          </a:xfrm>
          <a:prstGeom prst="rect">
            <a:avLst/>
          </a:prstGeom>
          <a:noFill/>
        </p:spPr>
        <p:txBody>
          <a:bodyPr wrap="square" rtlCol="0">
            <a:spAutoFit/>
          </a:bodyPr>
          <a:lstStyle/>
          <a:p>
            <a:pPr fontAlgn="base">
              <a:spcBef>
                <a:spcPct val="0"/>
              </a:spcBef>
              <a:spcAft>
                <a:spcPct val="0"/>
              </a:spcAft>
            </a:pPr>
            <a:r>
              <a:rPr lang="zh-CN" altLang="en-US" sz="900" dirty="0">
                <a:solidFill>
                  <a:srgbClr val="000000"/>
                </a:solidFill>
                <a:latin typeface="微软雅黑" panose="020B0503020204020204" pitchFamily="34" charset="-122"/>
                <a:ea typeface="微软雅黑" panose="020B0503020204020204" pitchFamily="34" charset="-122"/>
              </a:rPr>
              <a:t>备</a:t>
            </a:r>
            <a:r>
              <a:rPr lang="en-US" altLang="zh-CN" sz="900" dirty="0">
                <a:solidFill>
                  <a:srgbClr val="000000"/>
                </a:solidFill>
                <a:latin typeface="微软雅黑" panose="020B0503020204020204" pitchFamily="34" charset="-122"/>
                <a:ea typeface="微软雅黑" panose="020B0503020204020204" pitchFamily="34" charset="-122"/>
              </a:rPr>
              <a:t>FW</a:t>
            </a:r>
            <a:endParaRPr lang="zh-CN" altLang="en-US" sz="900" dirty="0">
              <a:solidFill>
                <a:srgbClr val="000000"/>
              </a:solidFill>
              <a:latin typeface="微软雅黑" panose="020B0503020204020204" pitchFamily="34" charset="-122"/>
              <a:ea typeface="微软雅黑" panose="020B0503020204020204" pitchFamily="34" charset="-122"/>
            </a:endParaRPr>
          </a:p>
        </p:txBody>
      </p:sp>
      <p:cxnSp>
        <p:nvCxnSpPr>
          <p:cNvPr id="204" name="直接连接符 203">
            <a:extLst>
              <a:ext uri="{FF2B5EF4-FFF2-40B4-BE49-F238E27FC236}">
                <a16:creationId xmlns:a16="http://schemas.microsoft.com/office/drawing/2014/main" id="{FB1EDBBC-B37F-4DE1-9A39-A3F36DB4419C}"/>
              </a:ext>
            </a:extLst>
          </p:cNvPr>
          <p:cNvCxnSpPr>
            <a:cxnSpLocks/>
            <a:stCxn id="143" idx="0"/>
            <a:endCxn id="194" idx="2"/>
          </p:cNvCxnSpPr>
          <p:nvPr/>
        </p:nvCxnSpPr>
        <p:spPr bwMode="auto">
          <a:xfrm flipV="1">
            <a:off x="2174561" y="1842418"/>
            <a:ext cx="6368" cy="824518"/>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 name="直接连接符 204">
            <a:extLst>
              <a:ext uri="{FF2B5EF4-FFF2-40B4-BE49-F238E27FC236}">
                <a16:creationId xmlns:a16="http://schemas.microsoft.com/office/drawing/2014/main" id="{55BA12F7-0EC5-4725-ADC4-002A5CA08FC8}"/>
              </a:ext>
            </a:extLst>
          </p:cNvPr>
          <p:cNvCxnSpPr>
            <a:stCxn id="195" idx="2"/>
            <a:endCxn id="144" idx="0"/>
          </p:cNvCxnSpPr>
          <p:nvPr/>
        </p:nvCxnSpPr>
        <p:spPr bwMode="auto">
          <a:xfrm flipH="1">
            <a:off x="3022880" y="1842418"/>
            <a:ext cx="377" cy="812413"/>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 name="直接连接符 205">
            <a:extLst>
              <a:ext uri="{FF2B5EF4-FFF2-40B4-BE49-F238E27FC236}">
                <a16:creationId xmlns:a16="http://schemas.microsoft.com/office/drawing/2014/main" id="{4EB4112C-D452-401E-B67C-878F47CB8B01}"/>
              </a:ext>
            </a:extLst>
          </p:cNvPr>
          <p:cNvCxnSpPr>
            <a:stCxn id="194" idx="3"/>
            <a:endCxn id="195" idx="1"/>
          </p:cNvCxnSpPr>
          <p:nvPr/>
        </p:nvCxnSpPr>
        <p:spPr bwMode="auto">
          <a:xfrm>
            <a:off x="2378333" y="1690812"/>
            <a:ext cx="447519" cy="0"/>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7" name="椭圆 206">
            <a:extLst>
              <a:ext uri="{FF2B5EF4-FFF2-40B4-BE49-F238E27FC236}">
                <a16:creationId xmlns:a16="http://schemas.microsoft.com/office/drawing/2014/main" id="{C1C90F2A-8CB7-4BF4-B1B0-36F12B47EA78}"/>
              </a:ext>
            </a:extLst>
          </p:cNvPr>
          <p:cNvSpPr/>
          <p:nvPr/>
        </p:nvSpPr>
        <p:spPr bwMode="auto">
          <a:xfrm>
            <a:off x="2399959" y="1565274"/>
            <a:ext cx="394242" cy="226418"/>
          </a:xfrm>
          <a:prstGeom prst="ellipse">
            <a:avLst/>
          </a:prstGeom>
          <a:solidFill>
            <a:srgbClr val="7030A0"/>
          </a:solidFill>
          <a:ln w="25400" cap="flat" cmpd="sng" algn="ctr">
            <a:solidFill>
              <a:srgbClr val="FFFFFF"/>
            </a:solidFill>
            <a:prstDash val="solid"/>
          </a:ln>
          <a:effectLst/>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000" b="0" i="0" u="none" strike="noStrike" kern="0" cap="none" spc="0" normalizeH="0" baseline="0" noProof="0" dirty="0">
                <a:ln>
                  <a:noFill/>
                </a:ln>
                <a:solidFill>
                  <a:srgbClr val="FFFFFF"/>
                </a:solidFill>
                <a:effectLst/>
                <a:uLnTx/>
                <a:uFillTx/>
                <a:latin typeface="Arial" charset="0"/>
                <a:ea typeface="宋体" charset="-122"/>
              </a:rPr>
              <a:t>VRF</a:t>
            </a:r>
            <a:endParaRPr kumimoji="0" lang="zh-CN" altLang="en-US" sz="1000" b="0" i="0" u="none" strike="noStrike" kern="0" cap="none" spc="0" normalizeH="0" baseline="0" noProof="0" dirty="0">
              <a:ln>
                <a:noFill/>
              </a:ln>
              <a:solidFill>
                <a:srgbClr val="FFFFFF"/>
              </a:solidFill>
              <a:effectLst/>
              <a:uLnTx/>
              <a:uFillTx/>
              <a:latin typeface="Arial" charset="0"/>
              <a:ea typeface="宋体" charset="-122"/>
            </a:endParaRPr>
          </a:p>
        </p:txBody>
      </p:sp>
      <p:sp>
        <p:nvSpPr>
          <p:cNvPr id="208" name="矩形 207">
            <a:extLst>
              <a:ext uri="{FF2B5EF4-FFF2-40B4-BE49-F238E27FC236}">
                <a16:creationId xmlns:a16="http://schemas.microsoft.com/office/drawing/2014/main" id="{85EEB0A7-ADAB-4DEB-8492-E1509EE0D33C}"/>
              </a:ext>
            </a:extLst>
          </p:cNvPr>
          <p:cNvSpPr/>
          <p:nvPr/>
        </p:nvSpPr>
        <p:spPr bwMode="auto">
          <a:xfrm>
            <a:off x="1217656" y="1989425"/>
            <a:ext cx="2773393" cy="4007117"/>
          </a:xfrm>
          <a:prstGeom prst="rect">
            <a:avLst/>
          </a:prstGeom>
          <a:noFill/>
          <a:ln w="19050" cap="flat" cmpd="sng" algn="ctr">
            <a:solidFill>
              <a:srgbClr val="C0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209" name="文本框 208">
            <a:extLst>
              <a:ext uri="{FF2B5EF4-FFF2-40B4-BE49-F238E27FC236}">
                <a16:creationId xmlns:a16="http://schemas.microsoft.com/office/drawing/2014/main" id="{839830F6-3ED9-464A-B2D5-480C14E0F9DE}"/>
              </a:ext>
            </a:extLst>
          </p:cNvPr>
          <p:cNvSpPr txBox="1"/>
          <p:nvPr/>
        </p:nvSpPr>
        <p:spPr>
          <a:xfrm>
            <a:off x="1654765" y="5738593"/>
            <a:ext cx="676910" cy="230832"/>
          </a:xfrm>
          <a:prstGeom prst="rect">
            <a:avLst/>
          </a:prstGeom>
          <a:noFill/>
        </p:spPr>
        <p:txBody>
          <a:bodyPr wrap="square" rtlCol="0">
            <a:spAutoFit/>
          </a:bodyPr>
          <a:lstStyle/>
          <a:p>
            <a:pPr fontAlgn="base">
              <a:spcBef>
                <a:spcPct val="0"/>
              </a:spcBef>
              <a:spcAft>
                <a:spcPct val="0"/>
              </a:spcAft>
            </a:pPr>
            <a:r>
              <a:rPr lang="en-US" altLang="zh-CN" sz="900" dirty="0">
                <a:solidFill>
                  <a:srgbClr val="000000"/>
                </a:solidFill>
                <a:latin typeface="微软雅黑" panose="020B0503020204020204" pitchFamily="34" charset="-122"/>
                <a:ea typeface="微软雅黑" panose="020B0503020204020204" pitchFamily="34" charset="-122"/>
              </a:rPr>
              <a:t>Servers</a:t>
            </a:r>
            <a:endParaRPr lang="zh-CN" altLang="en-US" sz="900" dirty="0">
              <a:solidFill>
                <a:srgbClr val="000000"/>
              </a:solidFill>
              <a:latin typeface="微软雅黑" panose="020B0503020204020204" pitchFamily="34" charset="-122"/>
              <a:ea typeface="微软雅黑" panose="020B0503020204020204" pitchFamily="34" charset="-122"/>
            </a:endParaRPr>
          </a:p>
        </p:txBody>
      </p:sp>
      <p:sp>
        <p:nvSpPr>
          <p:cNvPr id="210" name="文本框 209">
            <a:extLst>
              <a:ext uri="{FF2B5EF4-FFF2-40B4-BE49-F238E27FC236}">
                <a16:creationId xmlns:a16="http://schemas.microsoft.com/office/drawing/2014/main" id="{98816F9C-BC5C-42E7-9BA1-8C39DE004955}"/>
              </a:ext>
            </a:extLst>
          </p:cNvPr>
          <p:cNvSpPr txBox="1"/>
          <p:nvPr/>
        </p:nvSpPr>
        <p:spPr>
          <a:xfrm>
            <a:off x="2826297" y="5752197"/>
            <a:ext cx="676910" cy="230832"/>
          </a:xfrm>
          <a:prstGeom prst="rect">
            <a:avLst/>
          </a:prstGeom>
          <a:noFill/>
        </p:spPr>
        <p:txBody>
          <a:bodyPr wrap="square" rtlCol="0">
            <a:spAutoFit/>
          </a:bodyPr>
          <a:lstStyle/>
          <a:p>
            <a:pPr fontAlgn="base">
              <a:spcBef>
                <a:spcPct val="0"/>
              </a:spcBef>
              <a:spcAft>
                <a:spcPct val="0"/>
              </a:spcAft>
            </a:pPr>
            <a:r>
              <a:rPr lang="en-US" altLang="zh-CN" sz="900" dirty="0">
                <a:solidFill>
                  <a:srgbClr val="000000"/>
                </a:solidFill>
                <a:latin typeface="微软雅黑" panose="020B0503020204020204" pitchFamily="34" charset="-122"/>
                <a:ea typeface="微软雅黑" panose="020B0503020204020204" pitchFamily="34" charset="-122"/>
              </a:rPr>
              <a:t>Servers</a:t>
            </a:r>
            <a:endParaRPr lang="zh-CN" altLang="en-US" sz="9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959201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6F770D5-516C-4CDA-8F41-36142A7BEC1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zh-CN" altLang="en-US" sz="2800" b="1" kern="0" dirty="0">
                <a:solidFill>
                  <a:srgbClr val="C00000"/>
                </a:solidFill>
                <a:latin typeface="微软雅黑" panose="020B0503020204020204" pitchFamily="34" charset="-122"/>
                <a:ea typeface="微软雅黑" panose="020B0503020204020204" pitchFamily="34" charset="-122"/>
                <a:cs typeface="+mn-cs"/>
              </a:rPr>
              <a:t>小结：高扩展、虚拟化和自动化推动云数据中心网络的发展</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20" name="矩形: 圆角 19">
            <a:extLst>
              <a:ext uri="{FF2B5EF4-FFF2-40B4-BE49-F238E27FC236}">
                <a16:creationId xmlns:a16="http://schemas.microsoft.com/office/drawing/2014/main" id="{ED61136C-A790-43FB-A00B-18FC82F437AD}"/>
              </a:ext>
            </a:extLst>
          </p:cNvPr>
          <p:cNvSpPr/>
          <p:nvPr/>
        </p:nvSpPr>
        <p:spPr bwMode="auto">
          <a:xfrm>
            <a:off x="586490" y="1596734"/>
            <a:ext cx="1864258" cy="798576"/>
          </a:xfrm>
          <a:prstGeom prst="roundRect">
            <a:avLst/>
          </a:prstGeom>
          <a:solidFill>
            <a:srgbClr val="FFCC66">
              <a:lumMod val="60000"/>
              <a:lumOff val="40000"/>
            </a:srgbClr>
          </a:solidFill>
          <a:ln w="25400" cap="flat" cmpd="sng" algn="ctr">
            <a:noFill/>
            <a:prstDash val="soli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charset="0"/>
                <a:ea typeface="微软雅黑" panose="020B0503020204020204" pitchFamily="34" charset="-122"/>
              </a:rPr>
              <a:t>高扩展、低成本的物理网络</a:t>
            </a:r>
          </a:p>
        </p:txBody>
      </p:sp>
      <p:sp>
        <p:nvSpPr>
          <p:cNvPr id="21" name="矩形: 圆角 20">
            <a:extLst>
              <a:ext uri="{FF2B5EF4-FFF2-40B4-BE49-F238E27FC236}">
                <a16:creationId xmlns:a16="http://schemas.microsoft.com/office/drawing/2014/main" id="{7A6B13DB-AC9F-45B7-A865-BCFB06439747}"/>
              </a:ext>
            </a:extLst>
          </p:cNvPr>
          <p:cNvSpPr/>
          <p:nvPr/>
        </p:nvSpPr>
        <p:spPr bwMode="auto">
          <a:xfrm>
            <a:off x="1466682" y="3219357"/>
            <a:ext cx="1864258" cy="798576"/>
          </a:xfrm>
          <a:prstGeom prst="roundRect">
            <a:avLst/>
          </a:prstGeom>
          <a:solidFill>
            <a:srgbClr val="FFCC66">
              <a:lumMod val="60000"/>
              <a:lumOff val="40000"/>
            </a:srgbClr>
          </a:solidFill>
          <a:ln w="25400" cap="flat" cmpd="sng" algn="ctr">
            <a:noFill/>
            <a:prstDash val="soli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charset="0"/>
                <a:ea typeface="微软雅黑" panose="020B0503020204020204" pitchFamily="34" charset="-122"/>
              </a:rPr>
              <a:t>虚拟化、大二层逻辑网络</a:t>
            </a:r>
          </a:p>
        </p:txBody>
      </p:sp>
      <p:sp>
        <p:nvSpPr>
          <p:cNvPr id="22" name="矩形: 圆角 21">
            <a:extLst>
              <a:ext uri="{FF2B5EF4-FFF2-40B4-BE49-F238E27FC236}">
                <a16:creationId xmlns:a16="http://schemas.microsoft.com/office/drawing/2014/main" id="{A095068C-4AF6-4CF4-8317-CAF91D3926BF}"/>
              </a:ext>
            </a:extLst>
          </p:cNvPr>
          <p:cNvSpPr/>
          <p:nvPr/>
        </p:nvSpPr>
        <p:spPr bwMode="auto">
          <a:xfrm>
            <a:off x="2128197" y="4938955"/>
            <a:ext cx="1864258" cy="798576"/>
          </a:xfrm>
          <a:prstGeom prst="roundRect">
            <a:avLst/>
          </a:prstGeom>
          <a:solidFill>
            <a:srgbClr val="FFCC66">
              <a:lumMod val="60000"/>
              <a:lumOff val="40000"/>
            </a:srgbClr>
          </a:solidFill>
          <a:ln w="25400" cap="flat" cmpd="sng" algn="ctr">
            <a:noFill/>
            <a:prstDash val="soli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charset="0"/>
                <a:ea typeface="微软雅黑" panose="020B0503020204020204" pitchFamily="34" charset="-122"/>
              </a:rPr>
              <a:t>VM/</a:t>
            </a:r>
            <a:r>
              <a:rPr kumimoji="0" lang="zh-CN" altLang="en-US" sz="1600" b="0" i="0" u="none" strike="noStrike" kern="0" cap="none" spc="0" normalizeH="0" baseline="0" noProof="0" dirty="0">
                <a:ln>
                  <a:noFill/>
                </a:ln>
                <a:solidFill>
                  <a:srgbClr val="000000"/>
                </a:solidFill>
                <a:effectLst/>
                <a:uLnTx/>
                <a:uFillTx/>
                <a:latin typeface="Arial" charset="0"/>
                <a:ea typeface="微软雅黑" panose="020B0503020204020204" pitchFamily="34" charset="-122"/>
              </a:rPr>
              <a:t>容器感知和网络自动化</a:t>
            </a:r>
          </a:p>
        </p:txBody>
      </p:sp>
      <p:sp>
        <p:nvSpPr>
          <p:cNvPr id="23" name="箭头: 右 22">
            <a:extLst>
              <a:ext uri="{FF2B5EF4-FFF2-40B4-BE49-F238E27FC236}">
                <a16:creationId xmlns:a16="http://schemas.microsoft.com/office/drawing/2014/main" id="{84A2FFD6-29A6-44D6-96F1-40852ED604C8}"/>
              </a:ext>
            </a:extLst>
          </p:cNvPr>
          <p:cNvSpPr/>
          <p:nvPr/>
        </p:nvSpPr>
        <p:spPr bwMode="auto">
          <a:xfrm>
            <a:off x="3012614" y="1723702"/>
            <a:ext cx="1153544" cy="544639"/>
          </a:xfrm>
          <a:prstGeom prst="rightArrow">
            <a:avLst/>
          </a:prstGeom>
          <a:solidFill>
            <a:srgbClr val="FFCC66">
              <a:lumMod val="60000"/>
              <a:lumOff val="40000"/>
            </a:srgbClr>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charset="0"/>
              <a:ea typeface="微软雅黑" panose="020B0503020204020204" pitchFamily="34" charset="-122"/>
            </a:endParaRPr>
          </a:p>
        </p:txBody>
      </p:sp>
      <p:sp>
        <p:nvSpPr>
          <p:cNvPr id="24" name="矩形: 圆角 23">
            <a:extLst>
              <a:ext uri="{FF2B5EF4-FFF2-40B4-BE49-F238E27FC236}">
                <a16:creationId xmlns:a16="http://schemas.microsoft.com/office/drawing/2014/main" id="{9EBF9D61-1CBF-49CB-A4D7-4D9D9CE03EB4}"/>
              </a:ext>
            </a:extLst>
          </p:cNvPr>
          <p:cNvSpPr/>
          <p:nvPr/>
        </p:nvSpPr>
        <p:spPr bwMode="auto">
          <a:xfrm>
            <a:off x="4503368" y="1596734"/>
            <a:ext cx="1989999" cy="798576"/>
          </a:xfrm>
          <a:prstGeom prst="roundRect">
            <a:avLst/>
          </a:prstGeom>
          <a:solidFill>
            <a:srgbClr val="92D050"/>
          </a:solidFill>
          <a:ln w="25400" cap="flat" cmpd="sng" algn="ctr">
            <a:noFill/>
            <a:prstDash val="soli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charset="0"/>
                <a:ea typeface="微软雅黑" panose="020B0503020204020204" pitchFamily="34" charset="-122"/>
              </a:rPr>
              <a:t>IP Fabric</a:t>
            </a:r>
            <a:r>
              <a:rPr kumimoji="0" lang="zh-CN" altLang="en-US" sz="1600" b="0" i="0" u="none" strike="noStrike" kern="0" cap="none" spc="0" normalizeH="0" baseline="0" noProof="0" dirty="0">
                <a:ln>
                  <a:noFill/>
                </a:ln>
                <a:solidFill>
                  <a:srgbClr val="000000"/>
                </a:solidFill>
                <a:effectLst/>
                <a:uLnTx/>
                <a:uFillTx/>
                <a:latin typeface="Arial" charset="0"/>
                <a:ea typeface="微软雅黑" panose="020B0503020204020204" pitchFamily="34" charset="-122"/>
              </a:rPr>
              <a:t>架构</a:t>
            </a:r>
          </a:p>
        </p:txBody>
      </p:sp>
      <p:sp>
        <p:nvSpPr>
          <p:cNvPr id="25" name="矩形: 圆角 24">
            <a:extLst>
              <a:ext uri="{FF2B5EF4-FFF2-40B4-BE49-F238E27FC236}">
                <a16:creationId xmlns:a16="http://schemas.microsoft.com/office/drawing/2014/main" id="{B36336D1-D463-47F9-8060-4F60A4177753}"/>
              </a:ext>
            </a:extLst>
          </p:cNvPr>
          <p:cNvSpPr/>
          <p:nvPr/>
        </p:nvSpPr>
        <p:spPr bwMode="auto">
          <a:xfrm>
            <a:off x="5334356" y="3219356"/>
            <a:ext cx="1989999" cy="798576"/>
          </a:xfrm>
          <a:prstGeom prst="roundRect">
            <a:avLst/>
          </a:prstGeom>
          <a:solidFill>
            <a:srgbClr val="92D050"/>
          </a:solidFill>
          <a:ln w="25400" cap="flat" cmpd="sng" algn="ctr">
            <a:noFill/>
            <a:prstDash val="soli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charset="0"/>
                <a:ea typeface="微软雅黑" panose="020B0503020204020204" pitchFamily="34" charset="-122"/>
              </a:rPr>
              <a:t>基于</a:t>
            </a:r>
            <a:r>
              <a:rPr kumimoji="0" lang="en-US" altLang="zh-CN" sz="1600" b="0" i="0" u="none" strike="noStrike" kern="0" cap="none" spc="0" normalizeH="0" baseline="0" noProof="0" dirty="0">
                <a:ln>
                  <a:noFill/>
                </a:ln>
                <a:solidFill>
                  <a:srgbClr val="000000"/>
                </a:solidFill>
                <a:effectLst/>
                <a:uLnTx/>
                <a:uFillTx/>
                <a:latin typeface="Arial" charset="0"/>
                <a:ea typeface="微软雅黑" panose="020B0503020204020204" pitchFamily="34" charset="-122"/>
              </a:rPr>
              <a:t>Overlay</a:t>
            </a:r>
            <a:r>
              <a:rPr kumimoji="0" lang="zh-CN" altLang="en-US" sz="1600" b="0" i="0" u="none" strike="noStrike" kern="0" cap="none" spc="0" normalizeH="0" baseline="0" noProof="0" dirty="0">
                <a:ln>
                  <a:noFill/>
                </a:ln>
                <a:solidFill>
                  <a:srgbClr val="000000"/>
                </a:solidFill>
                <a:effectLst/>
                <a:uLnTx/>
                <a:uFillTx/>
                <a:latin typeface="Arial" charset="0"/>
                <a:ea typeface="微软雅黑" panose="020B0503020204020204" pitchFamily="34" charset="-122"/>
              </a:rPr>
              <a:t>逻辑和物理解耦</a:t>
            </a:r>
          </a:p>
        </p:txBody>
      </p:sp>
      <p:sp>
        <p:nvSpPr>
          <p:cNvPr id="26" name="箭头: 右 25">
            <a:extLst>
              <a:ext uri="{FF2B5EF4-FFF2-40B4-BE49-F238E27FC236}">
                <a16:creationId xmlns:a16="http://schemas.microsoft.com/office/drawing/2014/main" id="{4F09283E-1113-4B73-8BA1-5B5BA343F62F}"/>
              </a:ext>
            </a:extLst>
          </p:cNvPr>
          <p:cNvSpPr/>
          <p:nvPr/>
        </p:nvSpPr>
        <p:spPr bwMode="auto">
          <a:xfrm>
            <a:off x="3780429" y="3346324"/>
            <a:ext cx="1153544" cy="544639"/>
          </a:xfrm>
          <a:prstGeom prst="rightArrow">
            <a:avLst/>
          </a:prstGeom>
          <a:solidFill>
            <a:srgbClr val="FFCC66">
              <a:lumMod val="60000"/>
              <a:lumOff val="40000"/>
            </a:srgbClr>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charset="0"/>
              <a:ea typeface="微软雅黑" panose="020B0503020204020204" pitchFamily="34" charset="-122"/>
            </a:endParaRPr>
          </a:p>
        </p:txBody>
      </p:sp>
      <p:sp>
        <p:nvSpPr>
          <p:cNvPr id="27" name="箭头: 右 26">
            <a:extLst>
              <a:ext uri="{FF2B5EF4-FFF2-40B4-BE49-F238E27FC236}">
                <a16:creationId xmlns:a16="http://schemas.microsoft.com/office/drawing/2014/main" id="{B8B5686C-A407-4878-8EBD-F790BCF17F2E}"/>
              </a:ext>
            </a:extLst>
          </p:cNvPr>
          <p:cNvSpPr/>
          <p:nvPr/>
        </p:nvSpPr>
        <p:spPr bwMode="auto">
          <a:xfrm>
            <a:off x="4480214" y="5065923"/>
            <a:ext cx="1153544" cy="544639"/>
          </a:xfrm>
          <a:prstGeom prst="rightArrow">
            <a:avLst/>
          </a:prstGeom>
          <a:solidFill>
            <a:srgbClr val="FFCC66">
              <a:lumMod val="60000"/>
              <a:lumOff val="40000"/>
            </a:srgbClr>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charset="0"/>
              <a:ea typeface="微软雅黑" panose="020B0503020204020204" pitchFamily="34" charset="-122"/>
            </a:endParaRPr>
          </a:p>
        </p:txBody>
      </p:sp>
      <p:sp>
        <p:nvSpPr>
          <p:cNvPr id="28" name="矩形: 圆角 27">
            <a:extLst>
              <a:ext uri="{FF2B5EF4-FFF2-40B4-BE49-F238E27FC236}">
                <a16:creationId xmlns:a16="http://schemas.microsoft.com/office/drawing/2014/main" id="{8EE5544D-AE13-4F22-8127-DBAAFC575604}"/>
              </a:ext>
            </a:extLst>
          </p:cNvPr>
          <p:cNvSpPr/>
          <p:nvPr/>
        </p:nvSpPr>
        <p:spPr bwMode="auto">
          <a:xfrm>
            <a:off x="6100350" y="4889997"/>
            <a:ext cx="1989999" cy="798576"/>
          </a:xfrm>
          <a:prstGeom prst="roundRect">
            <a:avLst/>
          </a:prstGeom>
          <a:solidFill>
            <a:srgbClr val="92D050"/>
          </a:solidFill>
          <a:ln w="25400" cap="flat" cmpd="sng" algn="ctr">
            <a:noFill/>
            <a:prstDash val="soli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charset="0"/>
                <a:ea typeface="微软雅黑" panose="020B0503020204020204" pitchFamily="34" charset="-122"/>
              </a:rPr>
              <a:t>SDN</a:t>
            </a:r>
          </a:p>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charset="0"/>
                <a:ea typeface="微软雅黑" panose="020B0503020204020204" pitchFamily="34" charset="-122"/>
              </a:rPr>
              <a:t>（集成到</a:t>
            </a:r>
            <a:r>
              <a:rPr kumimoji="0" lang="en-US" altLang="zh-CN" sz="1600" b="0" i="0" u="none" strike="noStrike" kern="0" cap="none" spc="0" normalizeH="0" baseline="0" noProof="0" dirty="0">
                <a:ln>
                  <a:noFill/>
                </a:ln>
                <a:solidFill>
                  <a:srgbClr val="000000"/>
                </a:solidFill>
                <a:effectLst/>
                <a:uLnTx/>
                <a:uFillTx/>
                <a:latin typeface="Arial" charset="0"/>
                <a:ea typeface="微软雅黑" panose="020B0503020204020204" pitchFamily="34" charset="-122"/>
              </a:rPr>
              <a:t>Cloud OS</a:t>
            </a:r>
            <a:r>
              <a:rPr kumimoji="0" lang="zh-CN" altLang="en-US" sz="1600" b="0" i="0" u="none" strike="noStrike" kern="0" cap="none" spc="0" normalizeH="0" baseline="0" noProof="0" dirty="0">
                <a:ln>
                  <a:noFill/>
                </a:ln>
                <a:solidFill>
                  <a:srgbClr val="000000"/>
                </a:solidFill>
                <a:effectLst/>
                <a:uLnTx/>
                <a:uFillTx/>
                <a:latin typeface="Arial" charset="0"/>
                <a:ea typeface="微软雅黑" panose="020B0503020204020204" pitchFamily="34" charset="-122"/>
              </a:rPr>
              <a:t>）</a:t>
            </a:r>
          </a:p>
        </p:txBody>
      </p:sp>
      <p:sp>
        <p:nvSpPr>
          <p:cNvPr id="29" name="箭头: 上弧形 28">
            <a:extLst>
              <a:ext uri="{FF2B5EF4-FFF2-40B4-BE49-F238E27FC236}">
                <a16:creationId xmlns:a16="http://schemas.microsoft.com/office/drawing/2014/main" id="{C81F0A34-0300-4324-AE8C-EE4BFA9894B4}"/>
              </a:ext>
            </a:extLst>
          </p:cNvPr>
          <p:cNvSpPr/>
          <p:nvPr/>
        </p:nvSpPr>
        <p:spPr bwMode="auto">
          <a:xfrm rot="3337227">
            <a:off x="6476944" y="2212109"/>
            <a:ext cx="1236807" cy="635109"/>
          </a:xfrm>
          <a:prstGeom prst="curvedDownArrow">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5400000" scaled="1"/>
            <a:tileRect/>
          </a:gradFill>
          <a:ln w="25400" cap="flat" cmpd="sng" algn="ctr">
            <a:noFill/>
            <a:prstDash val="soli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2000" b="0" i="0" u="none" strike="noStrike" kern="0" cap="none" spc="0" normalizeH="0" baseline="0" noProof="0">
              <a:ln>
                <a:noFill/>
              </a:ln>
              <a:solidFill>
                <a:srgbClr val="000000"/>
              </a:solidFill>
              <a:effectLst/>
              <a:uLnTx/>
              <a:uFillTx/>
              <a:latin typeface="Arial" charset="0"/>
              <a:ea typeface="宋体" charset="-122"/>
            </a:endParaRPr>
          </a:p>
        </p:txBody>
      </p:sp>
      <p:sp>
        <p:nvSpPr>
          <p:cNvPr id="30" name="箭头: 上弧形 29">
            <a:extLst>
              <a:ext uri="{FF2B5EF4-FFF2-40B4-BE49-F238E27FC236}">
                <a16:creationId xmlns:a16="http://schemas.microsoft.com/office/drawing/2014/main" id="{DC9794C2-E492-42B4-96E1-2EE2C89F218B}"/>
              </a:ext>
            </a:extLst>
          </p:cNvPr>
          <p:cNvSpPr/>
          <p:nvPr/>
        </p:nvSpPr>
        <p:spPr bwMode="auto">
          <a:xfrm rot="3337227">
            <a:off x="7471945" y="4022391"/>
            <a:ext cx="1236807" cy="568137"/>
          </a:xfrm>
          <a:prstGeom prst="curvedDownArrow">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5400000" scaled="1"/>
            <a:tileRect/>
          </a:gradFill>
          <a:ln w="25400" cap="flat" cmpd="sng" algn="ctr">
            <a:noFill/>
            <a:prstDash val="soli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charset="-122"/>
            </a:endParaRPr>
          </a:p>
        </p:txBody>
      </p:sp>
      <p:sp>
        <p:nvSpPr>
          <p:cNvPr id="31" name="文本框 30">
            <a:extLst>
              <a:ext uri="{FF2B5EF4-FFF2-40B4-BE49-F238E27FC236}">
                <a16:creationId xmlns:a16="http://schemas.microsoft.com/office/drawing/2014/main" id="{EF483662-10E9-46B2-B567-6801C322CD8A}"/>
              </a:ext>
            </a:extLst>
          </p:cNvPr>
          <p:cNvSpPr txBox="1"/>
          <p:nvPr/>
        </p:nvSpPr>
        <p:spPr>
          <a:xfrm>
            <a:off x="8551266" y="3890963"/>
            <a:ext cx="1989998" cy="830997"/>
          </a:xfrm>
          <a:prstGeom prst="rect">
            <a:avLst/>
          </a:prstGeom>
          <a:noFill/>
        </p:spPr>
        <p:txBody>
          <a:bodyPr wrap="square" rtlCol="0">
            <a:spAutoFit/>
          </a:bodyPr>
          <a:lstStyle/>
          <a:p>
            <a:pPr fontAlgn="base">
              <a:spcBef>
                <a:spcPct val="0"/>
              </a:spcBef>
              <a:spcAft>
                <a:spcPct val="0"/>
              </a:spcAft>
            </a:pPr>
            <a:r>
              <a:rPr lang="en-US" altLang="zh-CN" sz="1600" dirty="0">
                <a:solidFill>
                  <a:srgbClr val="000000"/>
                </a:solidFill>
                <a:latin typeface="Arial" pitchFamily="34" charset="0"/>
                <a:ea typeface="微软雅黑" panose="020B0503020204020204" pitchFamily="34" charset="-122"/>
              </a:rPr>
              <a:t>SDN</a:t>
            </a:r>
            <a:r>
              <a:rPr lang="zh-CN" altLang="en-US" sz="1600" dirty="0">
                <a:solidFill>
                  <a:srgbClr val="000000"/>
                </a:solidFill>
                <a:latin typeface="Arial" pitchFamily="34" charset="0"/>
                <a:ea typeface="微软雅黑" panose="020B0503020204020204" pitchFamily="34" charset="-122"/>
              </a:rPr>
              <a:t>和</a:t>
            </a:r>
            <a:r>
              <a:rPr lang="en-US" altLang="zh-CN" sz="1600" dirty="0">
                <a:solidFill>
                  <a:srgbClr val="000000"/>
                </a:solidFill>
                <a:latin typeface="Arial" pitchFamily="34" charset="0"/>
                <a:ea typeface="微软雅黑" panose="020B0503020204020204" pitchFamily="34" charset="-122"/>
              </a:rPr>
              <a:t>Overlay</a:t>
            </a:r>
            <a:r>
              <a:rPr lang="zh-CN" altLang="en-US" sz="1600" dirty="0">
                <a:solidFill>
                  <a:srgbClr val="000000"/>
                </a:solidFill>
                <a:latin typeface="Arial" pitchFamily="34" charset="0"/>
                <a:ea typeface="微软雅黑" panose="020B0503020204020204" pitchFamily="34" charset="-122"/>
              </a:rPr>
              <a:t>本无关，为了</a:t>
            </a:r>
            <a:r>
              <a:rPr lang="en-US" altLang="zh-CN" sz="1600" dirty="0">
                <a:solidFill>
                  <a:srgbClr val="000000"/>
                </a:solidFill>
                <a:latin typeface="Arial" pitchFamily="34" charset="0"/>
                <a:ea typeface="微软雅黑" panose="020B0503020204020204" pitchFamily="34" charset="-122"/>
              </a:rPr>
              <a:t>DC</a:t>
            </a:r>
            <a:r>
              <a:rPr lang="zh-CN" altLang="en-US" sz="1600" dirty="0">
                <a:solidFill>
                  <a:srgbClr val="000000"/>
                </a:solidFill>
                <a:latin typeface="Arial" pitchFamily="34" charset="0"/>
                <a:ea typeface="微软雅黑" panose="020B0503020204020204" pitchFamily="34" charset="-122"/>
              </a:rPr>
              <a:t>网络自动化走到了一起</a:t>
            </a:r>
          </a:p>
        </p:txBody>
      </p:sp>
      <p:sp>
        <p:nvSpPr>
          <p:cNvPr id="32" name="文本框 31">
            <a:extLst>
              <a:ext uri="{FF2B5EF4-FFF2-40B4-BE49-F238E27FC236}">
                <a16:creationId xmlns:a16="http://schemas.microsoft.com/office/drawing/2014/main" id="{471D3A32-1463-4B48-B90E-9534DD757A30}"/>
              </a:ext>
            </a:extLst>
          </p:cNvPr>
          <p:cNvSpPr txBox="1"/>
          <p:nvPr/>
        </p:nvSpPr>
        <p:spPr>
          <a:xfrm>
            <a:off x="7458648" y="1693385"/>
            <a:ext cx="2254313" cy="1323439"/>
          </a:xfrm>
          <a:prstGeom prst="rect">
            <a:avLst/>
          </a:prstGeom>
          <a:noFill/>
        </p:spPr>
        <p:txBody>
          <a:bodyPr wrap="square" rtlCol="0">
            <a:spAutoFit/>
          </a:bodyPr>
          <a:lstStyle/>
          <a:p>
            <a:pPr fontAlgn="base">
              <a:spcBef>
                <a:spcPct val="0"/>
              </a:spcBef>
              <a:spcAft>
                <a:spcPct val="0"/>
              </a:spcAft>
            </a:pPr>
            <a:r>
              <a:rPr lang="zh-CN" altLang="en-US" sz="1600" dirty="0">
                <a:solidFill>
                  <a:srgbClr val="000000"/>
                </a:solidFill>
                <a:latin typeface="Arial" pitchFamily="34" charset="0"/>
                <a:ea typeface="微软雅黑" panose="020B0503020204020204" pitchFamily="34" charset="-122"/>
              </a:rPr>
              <a:t>“世界上没有什么网络问题是加一层</a:t>
            </a:r>
            <a:r>
              <a:rPr lang="en-US" altLang="zh-CN" sz="1600" dirty="0">
                <a:solidFill>
                  <a:srgbClr val="000000"/>
                </a:solidFill>
                <a:latin typeface="Arial" pitchFamily="34" charset="0"/>
                <a:ea typeface="微软雅黑" panose="020B0503020204020204" pitchFamily="34" charset="-122"/>
              </a:rPr>
              <a:t>(Overlay)</a:t>
            </a:r>
            <a:r>
              <a:rPr lang="zh-CN" altLang="en-US" sz="1600" dirty="0">
                <a:solidFill>
                  <a:srgbClr val="000000"/>
                </a:solidFill>
                <a:latin typeface="Arial" pitchFamily="34" charset="0"/>
                <a:ea typeface="微软雅黑" panose="020B0503020204020204" pitchFamily="34" charset="-122"/>
              </a:rPr>
              <a:t>不能解决的，如果有，就加两层！”</a:t>
            </a:r>
            <a:endParaRPr lang="en-US" altLang="zh-CN" sz="1600" dirty="0">
              <a:solidFill>
                <a:srgbClr val="000000"/>
              </a:solidFill>
              <a:latin typeface="Arial" pitchFamily="34" charset="0"/>
              <a:ea typeface="微软雅黑" panose="020B0503020204020204" pitchFamily="34" charset="-122"/>
            </a:endParaRPr>
          </a:p>
          <a:p>
            <a:pPr fontAlgn="base">
              <a:spcBef>
                <a:spcPct val="0"/>
              </a:spcBef>
              <a:spcAft>
                <a:spcPct val="0"/>
              </a:spcAft>
            </a:pPr>
            <a:r>
              <a:rPr lang="en-US" altLang="zh-CN" sz="1600" dirty="0">
                <a:solidFill>
                  <a:srgbClr val="000000"/>
                </a:solidFill>
                <a:latin typeface="Arial" pitchFamily="34" charset="0"/>
                <a:ea typeface="微软雅黑" panose="020B0503020204020204" pitchFamily="34" charset="-122"/>
              </a:rPr>
              <a:t>        --- </a:t>
            </a:r>
            <a:r>
              <a:rPr lang="zh-CN" altLang="en-US" sz="1600" dirty="0">
                <a:solidFill>
                  <a:srgbClr val="000000"/>
                </a:solidFill>
                <a:latin typeface="Arial" pitchFamily="34" charset="0"/>
                <a:ea typeface="微软雅黑" panose="020B0503020204020204" pitchFamily="34" charset="-122"/>
              </a:rPr>
              <a:t>尼古拉斯</a:t>
            </a:r>
            <a:r>
              <a:rPr lang="en-US" altLang="zh-CN" sz="1600" dirty="0">
                <a:solidFill>
                  <a:srgbClr val="000000"/>
                </a:solidFill>
                <a:latin typeface="Arial" pitchFamily="34" charset="0"/>
                <a:ea typeface="微软雅黑" panose="020B0503020204020204" pitchFamily="34" charset="-122"/>
              </a:rPr>
              <a:t>.</a:t>
            </a:r>
            <a:r>
              <a:rPr lang="zh-CN" altLang="en-US" sz="1600" dirty="0">
                <a:solidFill>
                  <a:srgbClr val="000000"/>
                </a:solidFill>
                <a:latin typeface="Arial" pitchFamily="34" charset="0"/>
                <a:ea typeface="微软雅黑" panose="020B0503020204020204" pitchFamily="34" charset="-122"/>
              </a:rPr>
              <a:t>赵四</a:t>
            </a:r>
          </a:p>
        </p:txBody>
      </p:sp>
      <p:pic>
        <p:nvPicPr>
          <p:cNvPr id="33" name="Picture 2">
            <a:extLst>
              <a:ext uri="{FF2B5EF4-FFF2-40B4-BE49-F238E27FC236}">
                <a16:creationId xmlns:a16="http://schemas.microsoft.com/office/drawing/2014/main" id="{5B3A7D5E-02EC-4EE3-B29E-ADDBBE4AD9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5410" y="1551318"/>
            <a:ext cx="1975517" cy="1519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93430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1B2D002-57E7-407C-AE55-69849AC50550}"/>
              </a:ext>
            </a:extLst>
          </p:cNvPr>
          <p:cNvSpPr txBox="1"/>
          <p:nvPr/>
        </p:nvSpPr>
        <p:spPr>
          <a:xfrm>
            <a:off x="787400" y="2312085"/>
            <a:ext cx="10807700" cy="1494576"/>
          </a:xfrm>
          <a:prstGeom prst="rect">
            <a:avLst/>
          </a:prstGeom>
          <a:noFill/>
        </p:spPr>
        <p:txBody>
          <a:bodyPr wrap="square">
            <a:spAutoFit/>
          </a:bodyPr>
          <a:lstStyle/>
          <a:p>
            <a:pPr>
              <a:lnSpc>
                <a:spcPct val="150000"/>
              </a:lnSpc>
            </a:pPr>
            <a:r>
              <a:rPr lang="zh-CN" altLang="en-US" sz="3200" dirty="0">
                <a:latin typeface="微软雅黑" panose="020B0503020204020204" pitchFamily="34" charset="-122"/>
                <a:ea typeface="微软雅黑" panose="020B0503020204020204" pitchFamily="34" charset="-122"/>
              </a:rPr>
              <a:t>关于计算机网络，没有一种被普遍接受的分类方法，但有两个因素是非常重要的：</a:t>
            </a:r>
            <a:r>
              <a:rPr lang="zh-CN" altLang="en-US" sz="3200" b="1" dirty="0">
                <a:latin typeface="微软雅黑" panose="020B0503020204020204" pitchFamily="34" charset="-122"/>
                <a:ea typeface="微软雅黑" panose="020B0503020204020204" pitchFamily="34" charset="-122"/>
              </a:rPr>
              <a:t>传输技术和距离尺度。</a:t>
            </a:r>
          </a:p>
        </p:txBody>
      </p:sp>
      <p:sp>
        <p:nvSpPr>
          <p:cNvPr id="7" name="矩形 6">
            <a:extLst>
              <a:ext uri="{FF2B5EF4-FFF2-40B4-BE49-F238E27FC236}">
                <a16:creationId xmlns:a16="http://schemas.microsoft.com/office/drawing/2014/main" id="{A6F770D5-516C-4CDA-8F41-36142A7BEC1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Types of Network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137689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
          <p:cNvSpPr>
            <a:spLocks noGrp="1"/>
          </p:cNvSpPr>
          <p:nvPr>
            <p:ph idx="1"/>
          </p:nvPr>
        </p:nvSpPr>
        <p:spPr>
          <a:xfrm>
            <a:off x="1060315" y="1687857"/>
            <a:ext cx="10071370" cy="2603727"/>
          </a:xfrm>
        </p:spPr>
        <p:txBody>
          <a:bodyPr/>
          <a:lstStyle/>
          <a:p>
            <a:pPr marL="0" indent="0">
              <a:spcBef>
                <a:spcPct val="0"/>
              </a:spcBef>
              <a:buNone/>
            </a:pPr>
            <a:r>
              <a:rPr lang="en-US" altLang="zh-CN" dirty="0">
                <a:ea typeface="宋体" panose="02010600030101010101" pitchFamily="2" charset="-122"/>
              </a:rPr>
              <a:t>Networks can be classified by their transmission technology:</a:t>
            </a:r>
          </a:p>
          <a:p>
            <a:pPr>
              <a:spcBef>
                <a:spcPct val="0"/>
              </a:spcBef>
              <a:buFont typeface="Arial" pitchFamily="34" charset="0"/>
              <a:buChar char="•"/>
            </a:pPr>
            <a:endParaRPr lang="en-US" altLang="zh-CN" dirty="0">
              <a:ea typeface="宋体" panose="02010600030101010101" pitchFamily="2" charset="-122"/>
            </a:endParaRPr>
          </a:p>
          <a:p>
            <a:pPr>
              <a:spcBef>
                <a:spcPct val="0"/>
              </a:spcBef>
              <a:buFont typeface="Arial" pitchFamily="34" charset="0"/>
              <a:buChar char="•"/>
            </a:pPr>
            <a:r>
              <a:rPr lang="en-US" altLang="zh-CN" dirty="0">
                <a:ea typeface="宋体" panose="02010600030101010101" pitchFamily="2" charset="-122"/>
              </a:rPr>
              <a:t>Broadcast links</a:t>
            </a:r>
          </a:p>
          <a:p>
            <a:pPr>
              <a:spcBef>
                <a:spcPct val="0"/>
              </a:spcBef>
              <a:buFont typeface="Arial" pitchFamily="34" charset="0"/>
              <a:buChar char="•"/>
            </a:pPr>
            <a:endParaRPr lang="en-US" altLang="zh-CN" dirty="0">
              <a:ea typeface="宋体" panose="02010600030101010101" pitchFamily="2" charset="-122"/>
            </a:endParaRPr>
          </a:p>
          <a:p>
            <a:pPr>
              <a:spcBef>
                <a:spcPct val="0"/>
              </a:spcBef>
              <a:buFont typeface="Arial" pitchFamily="34" charset="0"/>
              <a:buChar char="•"/>
            </a:pPr>
            <a:r>
              <a:rPr lang="en-US" altLang="zh-CN" dirty="0">
                <a:ea typeface="宋体" panose="02010600030101010101" pitchFamily="2" charset="-122"/>
              </a:rPr>
              <a:t>Point-to-point links</a:t>
            </a:r>
            <a:r>
              <a:rPr lang="zh-CN" altLang="en-US" dirty="0">
                <a:ea typeface="宋体" panose="02010600030101010101" pitchFamily="2" charset="-122"/>
              </a:rPr>
              <a:t>：</a:t>
            </a:r>
            <a:r>
              <a:rPr lang="en-US" altLang="zh-CN" dirty="0">
                <a:ea typeface="宋体" panose="02010600030101010101" pitchFamily="2" charset="-122"/>
              </a:rPr>
              <a:t>Unicasting </a:t>
            </a:r>
          </a:p>
        </p:txBody>
      </p:sp>
      <p:sp>
        <p:nvSpPr>
          <p:cNvPr id="27652"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sp>
        <p:nvSpPr>
          <p:cNvPr id="3" name="矩形 2">
            <a:extLst>
              <a:ext uri="{FF2B5EF4-FFF2-40B4-BE49-F238E27FC236}">
                <a16:creationId xmlns:a16="http://schemas.microsoft.com/office/drawing/2014/main" id="{9D015597-B531-4473-BEF5-BF9F1802711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Types of Network – by transmission technology</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4E0304D1-A519-465E-921D-1E6DAD1C0FBA}"/>
              </a:ext>
            </a:extLst>
          </p:cNvPr>
          <p:cNvPicPr>
            <a:picLocks noChangeAspect="1"/>
          </p:cNvPicPr>
          <p:nvPr/>
        </p:nvPicPr>
        <p:blipFill rotWithShape="1">
          <a:blip r:embed="rId3">
            <a:extLst>
              <a:ext uri="{28A0092B-C50C-407E-A947-70E740481C1C}">
                <a14:useLocalDpi xmlns:a14="http://schemas.microsoft.com/office/drawing/2010/main" val="0"/>
              </a:ext>
            </a:extLst>
          </a:blip>
          <a:srcRect t="9887" b="1991"/>
          <a:stretch/>
        </p:blipFill>
        <p:spPr>
          <a:xfrm>
            <a:off x="242595" y="914403"/>
            <a:ext cx="11762792" cy="586895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8676" name="Content Placeholder 2"/>
          <p:cNvSpPr>
            <a:spLocks noGrp="1"/>
          </p:cNvSpPr>
          <p:nvPr>
            <p:ph idx="1"/>
          </p:nvPr>
        </p:nvSpPr>
        <p:spPr>
          <a:xfrm>
            <a:off x="502597" y="1732174"/>
            <a:ext cx="7789863" cy="635775"/>
          </a:xfrm>
        </p:spPr>
        <p:txBody>
          <a:bodyPr/>
          <a:lstStyle/>
          <a:p>
            <a:r>
              <a:rPr lang="en-US" altLang="zh-CN" dirty="0">
                <a:ea typeface="宋体" panose="02010600030101010101" pitchFamily="2" charset="-122"/>
              </a:rPr>
              <a:t>Networks can be classified by their scale:</a:t>
            </a:r>
          </a:p>
        </p:txBody>
      </p:sp>
      <p:graphicFrame>
        <p:nvGraphicFramePr>
          <p:cNvPr id="10" name="Table 9"/>
          <p:cNvGraphicFramePr>
            <a:graphicFrameLocks noGrp="1"/>
          </p:cNvGraphicFramePr>
          <p:nvPr>
            <p:extLst>
              <p:ext uri="{D42A27DB-BD31-4B8C-83A1-F6EECF244321}">
                <p14:modId xmlns:p14="http://schemas.microsoft.com/office/powerpoint/2010/main" val="1526385237"/>
              </p:ext>
            </p:extLst>
          </p:nvPr>
        </p:nvGraphicFramePr>
        <p:xfrm>
          <a:off x="614769" y="2501495"/>
          <a:ext cx="6068133" cy="2228850"/>
        </p:xfrm>
        <a:graphic>
          <a:graphicData uri="http://schemas.openxmlformats.org/drawingml/2006/table">
            <a:tbl>
              <a:tblPr/>
              <a:tblGrid>
                <a:gridCol w="1445786">
                  <a:extLst>
                    <a:ext uri="{9D8B030D-6E8A-4147-A177-3AD203B41FA5}">
                      <a16:colId xmlns:a16="http://schemas.microsoft.com/office/drawing/2014/main" val="20000"/>
                    </a:ext>
                  </a:extLst>
                </a:gridCol>
                <a:gridCol w="4622347">
                  <a:extLst>
                    <a:ext uri="{9D8B030D-6E8A-4147-A177-3AD203B41FA5}">
                      <a16:colId xmlns:a16="http://schemas.microsoft.com/office/drawing/2014/main" val="20001"/>
                    </a:ext>
                  </a:extLst>
                </a:gridCol>
              </a:tblGrid>
              <a:tr h="371475">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Scale</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Type</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Vicinity</a:t>
                      </a:r>
                      <a:r>
                        <a:rPr kumimoji="0" lang="zh-CN" altLang="en-US"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近邻</a:t>
                      </a:r>
                      <a:endPar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PAN (Personal Area Network) </a:t>
                      </a:r>
                      <a:r>
                        <a:rPr kumimoji="0" lang="en-US" altLang="zh-CN" sz="1600" b="0" i="0" u="none" strike="noStrike" cap="none" normalizeH="0" baseline="0" dirty="0">
                          <a:ln>
                            <a:noFill/>
                          </a:ln>
                          <a:solidFill>
                            <a:srgbClr val="0000FF"/>
                          </a:solidFill>
                          <a:effectLst/>
                          <a:latin typeface="Arial" panose="020B0604020202020204" pitchFamily="34" charset="0"/>
                          <a:ea typeface="微软雅黑" panose="020B0503020204020204" pitchFamily="34" charset="-122"/>
                          <a:cs typeface="Arial" panose="020B0604020202020204" pitchFamily="34" charset="0"/>
                        </a:rPr>
                        <a:t>» </a:t>
                      </a:r>
                      <a:r>
                        <a:rPr kumimoji="0" lang="zh-CN" altLang="en-US" sz="1600" b="0" i="0" u="none" strike="noStrike" cap="none" normalizeH="0" baseline="0" dirty="0">
                          <a:ln>
                            <a:noFill/>
                          </a:ln>
                          <a:solidFill>
                            <a:srgbClr val="0000FF"/>
                          </a:solidFill>
                          <a:effectLst/>
                          <a:latin typeface="Arial" panose="020B0604020202020204" pitchFamily="34" charset="0"/>
                          <a:ea typeface="微软雅黑" panose="020B0503020204020204" pitchFamily="34" charset="-122"/>
                          <a:cs typeface="Arial" panose="020B0604020202020204" pitchFamily="34" charset="0"/>
                        </a:rPr>
                        <a:t>个人网（个域网）</a:t>
                      </a:r>
                      <a:endPar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Building</a:t>
                      </a:r>
                      <a:r>
                        <a:rPr kumimoji="0" lang="zh-CN" altLang="en-US"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大楼</a:t>
                      </a:r>
                      <a:endPar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LAN (Local Area Network) </a:t>
                      </a:r>
                      <a:r>
                        <a:rPr kumimoji="0" lang="en-US" altLang="zh-CN" sz="1600" b="0" i="0" u="none" strike="noStrike" cap="none" normalizeH="0" baseline="0" dirty="0">
                          <a:ln>
                            <a:noFill/>
                          </a:ln>
                          <a:solidFill>
                            <a:srgbClr val="0000FF"/>
                          </a:solidFill>
                          <a:effectLst/>
                          <a:latin typeface="Arial" panose="020B0604020202020204" pitchFamily="34" charset="0"/>
                          <a:ea typeface="微软雅黑" panose="020B0503020204020204" pitchFamily="34" charset="-122"/>
                          <a:cs typeface="Arial" panose="020B0604020202020204" pitchFamily="34" charset="0"/>
                        </a:rPr>
                        <a:t>» </a:t>
                      </a:r>
                      <a:r>
                        <a:rPr kumimoji="0" lang="zh-CN" altLang="en-US" sz="1600" b="0" i="0" u="none" strike="noStrike" cap="none" normalizeH="0" baseline="0" dirty="0">
                          <a:ln>
                            <a:noFill/>
                          </a:ln>
                          <a:solidFill>
                            <a:srgbClr val="0000FF"/>
                          </a:solidFill>
                          <a:effectLst/>
                          <a:latin typeface="Arial" panose="020B0604020202020204" pitchFamily="34" charset="0"/>
                          <a:ea typeface="微软雅黑" panose="020B0503020204020204" pitchFamily="34" charset="-122"/>
                          <a:cs typeface="Arial" panose="020B0604020202020204" pitchFamily="34" charset="0"/>
                        </a:rPr>
                        <a:t>局域网</a:t>
                      </a:r>
                      <a:endPar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City</a:t>
                      </a:r>
                      <a:r>
                        <a:rPr kumimoji="0" lang="zh-CN" altLang="en-US"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城市</a:t>
                      </a:r>
                      <a:endPar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MAN (Metropolitan Area Network) </a:t>
                      </a:r>
                      <a:r>
                        <a:rPr kumimoji="0" lang="en-US" altLang="zh-CN" sz="1600" b="0" i="0" u="none" strike="noStrike" cap="none" normalizeH="0" baseline="0" dirty="0">
                          <a:ln>
                            <a:noFill/>
                          </a:ln>
                          <a:solidFill>
                            <a:srgbClr val="0000FF"/>
                          </a:solidFill>
                          <a:effectLst/>
                          <a:latin typeface="Arial" panose="020B0604020202020204" pitchFamily="34" charset="0"/>
                          <a:ea typeface="微软雅黑" panose="020B0503020204020204" pitchFamily="34" charset="-122"/>
                          <a:cs typeface="Arial" panose="020B0604020202020204" pitchFamily="34" charset="0"/>
                        </a:rPr>
                        <a:t>» </a:t>
                      </a:r>
                      <a:r>
                        <a:rPr kumimoji="0" lang="zh-CN" altLang="en-US" sz="1600" b="0" i="0" u="none" strike="noStrike" cap="none" normalizeH="0" baseline="0" dirty="0">
                          <a:ln>
                            <a:noFill/>
                          </a:ln>
                          <a:solidFill>
                            <a:srgbClr val="0000FF"/>
                          </a:solidFill>
                          <a:effectLst/>
                          <a:latin typeface="Arial" panose="020B0604020202020204" pitchFamily="34" charset="0"/>
                          <a:ea typeface="微软雅黑" panose="020B0503020204020204" pitchFamily="34" charset="-122"/>
                          <a:cs typeface="Arial" panose="020B0604020202020204" pitchFamily="34" charset="0"/>
                        </a:rPr>
                        <a:t>城域网</a:t>
                      </a:r>
                      <a:endPar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Country</a:t>
                      </a:r>
                      <a:r>
                        <a:rPr kumimoji="0" lang="zh-CN" altLang="en-US"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国家</a:t>
                      </a:r>
                      <a:endPar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WAN (Wide Area Network) </a:t>
                      </a:r>
                      <a:r>
                        <a:rPr kumimoji="0" lang="en-US" altLang="zh-CN" sz="1600" b="0" i="0" u="none" strike="noStrike" cap="none" normalizeH="0" baseline="0" dirty="0">
                          <a:ln>
                            <a:noFill/>
                          </a:ln>
                          <a:solidFill>
                            <a:srgbClr val="0000FF"/>
                          </a:solidFill>
                          <a:effectLst/>
                          <a:latin typeface="Arial" panose="020B0604020202020204" pitchFamily="34" charset="0"/>
                          <a:ea typeface="微软雅黑" panose="020B0503020204020204" pitchFamily="34" charset="-122"/>
                          <a:cs typeface="Arial" panose="020B0604020202020204" pitchFamily="34" charset="0"/>
                        </a:rPr>
                        <a:t>» </a:t>
                      </a:r>
                      <a:r>
                        <a:rPr kumimoji="0" lang="zh-CN" altLang="en-US" sz="1600" b="0" i="0" u="none" strike="noStrike" cap="none" normalizeH="0" baseline="0" dirty="0">
                          <a:ln>
                            <a:noFill/>
                          </a:ln>
                          <a:solidFill>
                            <a:srgbClr val="0000FF"/>
                          </a:solidFill>
                          <a:effectLst/>
                          <a:latin typeface="Arial" panose="020B0604020202020204" pitchFamily="34" charset="0"/>
                          <a:ea typeface="微软雅黑" panose="020B0503020204020204" pitchFamily="34" charset="-122"/>
                          <a:cs typeface="Arial" panose="020B0604020202020204" pitchFamily="34" charset="0"/>
                        </a:rPr>
                        <a:t>广域网</a:t>
                      </a:r>
                      <a:endPar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Planet</a:t>
                      </a:r>
                      <a:r>
                        <a:rPr kumimoji="0" lang="zh-CN" altLang="en-US"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地球</a:t>
                      </a:r>
                      <a:endPar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The Internet (network of all networks)</a:t>
                      </a:r>
                      <a:r>
                        <a:rPr kumimoji="0" lang="en-US" altLang="zh-CN" sz="1600" b="0" i="0" u="none" strike="noStrike" cap="none" normalizeH="0" baseline="0" dirty="0">
                          <a:ln>
                            <a:noFill/>
                          </a:ln>
                          <a:solidFill>
                            <a:srgbClr val="0000FF"/>
                          </a:solidFill>
                          <a:effectLst/>
                          <a:latin typeface="Arial" panose="020B0604020202020204" pitchFamily="34" charset="0"/>
                          <a:ea typeface="微软雅黑" panose="020B0503020204020204" pitchFamily="34" charset="-122"/>
                          <a:cs typeface="Arial" panose="020B0604020202020204" pitchFamily="34" charset="0"/>
                        </a:rPr>
                        <a:t> » </a:t>
                      </a:r>
                      <a:r>
                        <a:rPr kumimoji="0" lang="zh-CN" altLang="en-US" sz="1600" b="0" i="0" u="none" strike="noStrike" cap="none" normalizeH="0" baseline="0" dirty="0">
                          <a:ln>
                            <a:noFill/>
                          </a:ln>
                          <a:solidFill>
                            <a:srgbClr val="0000FF"/>
                          </a:solidFill>
                          <a:effectLst/>
                          <a:latin typeface="Arial" panose="020B0604020202020204" pitchFamily="34" charset="0"/>
                          <a:ea typeface="微软雅黑" panose="020B0503020204020204" pitchFamily="34" charset="-122"/>
                          <a:cs typeface="Arial" panose="020B0604020202020204" pitchFamily="34" charset="0"/>
                        </a:rPr>
                        <a:t>因特网</a:t>
                      </a:r>
                      <a:endParaRPr kumimoji="0" lang="en-US" altLang="zh-CN" sz="16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 name="矩形 1">
            <a:extLst>
              <a:ext uri="{FF2B5EF4-FFF2-40B4-BE49-F238E27FC236}">
                <a16:creationId xmlns:a16="http://schemas.microsoft.com/office/drawing/2014/main" id="{9AC7A232-1D2E-4B25-9ADB-34CAA5C3E58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Types of Network – by scale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B4FE34D0-3ABB-4F5C-A7D1-C7CBD78B2F42}"/>
              </a:ext>
            </a:extLst>
          </p:cNvPr>
          <p:cNvPicPr>
            <a:picLocks noChangeAspect="1"/>
          </p:cNvPicPr>
          <p:nvPr/>
        </p:nvPicPr>
        <p:blipFill>
          <a:blip r:embed="rId3"/>
          <a:stretch>
            <a:fillRect/>
          </a:stretch>
        </p:blipFill>
        <p:spPr>
          <a:xfrm>
            <a:off x="7315747" y="1732174"/>
            <a:ext cx="4595560" cy="3052933"/>
          </a:xfrm>
          <a:prstGeom prst="rect">
            <a:avLst/>
          </a:prstGeom>
        </p:spPr>
      </p:pic>
      <p:sp>
        <p:nvSpPr>
          <p:cNvPr id="8" name="文本框 7">
            <a:extLst>
              <a:ext uri="{FF2B5EF4-FFF2-40B4-BE49-F238E27FC236}">
                <a16:creationId xmlns:a16="http://schemas.microsoft.com/office/drawing/2014/main" id="{440E033E-97E4-4DC9-8D7E-A4CC7CA5348E}"/>
              </a:ext>
            </a:extLst>
          </p:cNvPr>
          <p:cNvSpPr txBox="1"/>
          <p:nvPr/>
        </p:nvSpPr>
        <p:spPr>
          <a:xfrm>
            <a:off x="449682" y="5482484"/>
            <a:ext cx="11420606" cy="369332"/>
          </a:xfrm>
          <a:prstGeom prst="rect">
            <a:avLst/>
          </a:prstGeom>
          <a:noFill/>
        </p:spPr>
        <p:txBody>
          <a:bodyPr wrap="square">
            <a:spAutoFit/>
          </a:bodyPr>
          <a:lstStyle/>
          <a:p>
            <a:pPr eaLnBrk="1" hangingPunct="1">
              <a:spcBef>
                <a:spcPct val="0"/>
              </a:spcBef>
            </a:pPr>
            <a:r>
              <a:rPr lang="zh-CN" altLang="en-US" dirty="0">
                <a:latin typeface="微软雅黑" panose="020B0503020204020204" pitchFamily="34" charset="-122"/>
                <a:ea typeface="微软雅黑" panose="020B0503020204020204" pitchFamily="34" charset="-122"/>
              </a:rPr>
              <a:t>不同网络有各自的特征：范围（决定了传输时间）、传输技术（决定传输速率）、拓扑结构等。</a:t>
            </a:r>
          </a:p>
        </p:txBody>
      </p:sp>
      <p:pic>
        <p:nvPicPr>
          <p:cNvPr id="5" name="图片 4">
            <a:extLst>
              <a:ext uri="{FF2B5EF4-FFF2-40B4-BE49-F238E27FC236}">
                <a16:creationId xmlns:a16="http://schemas.microsoft.com/office/drawing/2014/main" id="{81361645-07F4-43DD-AD9F-BAF24D9B0AB4}"/>
              </a:ext>
            </a:extLst>
          </p:cNvPr>
          <p:cNvPicPr>
            <a:picLocks noChangeAspect="1"/>
          </p:cNvPicPr>
          <p:nvPr/>
        </p:nvPicPr>
        <p:blipFill rotWithShape="1">
          <a:blip r:embed="rId4">
            <a:extLst>
              <a:ext uri="{28A0092B-C50C-407E-A947-70E740481C1C}">
                <a14:useLocalDpi xmlns:a14="http://schemas.microsoft.com/office/drawing/2010/main" val="0"/>
              </a:ext>
            </a:extLst>
          </a:blip>
          <a:srcRect l="1399" t="10521" r="1399" b="1991"/>
          <a:stretch/>
        </p:blipFill>
        <p:spPr>
          <a:xfrm>
            <a:off x="173689" y="882972"/>
            <a:ext cx="11844622" cy="594570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30724" name="Content Placeholder 2"/>
          <p:cNvSpPr>
            <a:spLocks noGrp="1"/>
          </p:cNvSpPr>
          <p:nvPr>
            <p:ph idx="1"/>
          </p:nvPr>
        </p:nvSpPr>
        <p:spPr>
          <a:xfrm>
            <a:off x="894946" y="1338940"/>
            <a:ext cx="10243224" cy="1054065"/>
          </a:xfrm>
        </p:spPr>
        <p:txBody>
          <a:bodyPr/>
          <a:lstStyle/>
          <a:p>
            <a:pPr marL="457200" indent="-457200">
              <a:buFont typeface="Arial" panose="020B0604020202020204" pitchFamily="34" charset="0"/>
              <a:buChar char="•"/>
            </a:pPr>
            <a:r>
              <a:rPr lang="en-US" altLang="zh-CN" dirty="0">
                <a:ea typeface="宋体" panose="02010600030101010101" pitchFamily="2" charset="-122"/>
              </a:rPr>
              <a:t>Connect devices over the range of a person</a:t>
            </a:r>
          </a:p>
          <a:p>
            <a:pPr marL="457200" indent="-457200">
              <a:buFont typeface="Arial" panose="020B0604020202020204" pitchFamily="34" charset="0"/>
              <a:buChar char="•"/>
            </a:pPr>
            <a:r>
              <a:rPr lang="en-US" altLang="zh-CN" dirty="0">
                <a:ea typeface="宋体" panose="02010600030101010101" pitchFamily="2" charset="-122"/>
              </a:rPr>
              <a:t>Example of a Bluetooth (wireless) PAN:</a:t>
            </a:r>
          </a:p>
        </p:txBody>
      </p:sp>
      <p:pic>
        <p:nvPicPr>
          <p:cNvPr id="3072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1525" y="2928939"/>
            <a:ext cx="3448050"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478209BA-634A-4AB9-99E8-C7D3FC098397}"/>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Personal Area Network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358EAC6D-4E6D-4A44-BF02-61D1B7A672F3}"/>
              </a:ext>
            </a:extLst>
          </p:cNvPr>
          <p:cNvPicPr>
            <a:picLocks noChangeAspect="1"/>
          </p:cNvPicPr>
          <p:nvPr/>
        </p:nvPicPr>
        <p:blipFill rotWithShape="1">
          <a:blip r:embed="rId4">
            <a:extLst>
              <a:ext uri="{28A0092B-C50C-407E-A947-70E740481C1C}">
                <a14:useLocalDpi xmlns:a14="http://schemas.microsoft.com/office/drawing/2010/main" val="0"/>
              </a:ext>
            </a:extLst>
          </a:blip>
          <a:srcRect l="961" t="14096" r="816" b="1991"/>
          <a:stretch/>
        </p:blipFill>
        <p:spPr>
          <a:xfrm>
            <a:off x="120316" y="966786"/>
            <a:ext cx="11969016" cy="575468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Content Placeholder 2"/>
          <p:cNvSpPr>
            <a:spLocks noGrp="1"/>
          </p:cNvSpPr>
          <p:nvPr>
            <p:ph idx="1"/>
          </p:nvPr>
        </p:nvSpPr>
        <p:spPr>
          <a:xfrm>
            <a:off x="838200" y="1100914"/>
            <a:ext cx="10515600" cy="1413686"/>
          </a:xfrm>
        </p:spPr>
        <p:txBody>
          <a:bodyPr/>
          <a:lstStyle/>
          <a:p>
            <a:r>
              <a:rPr lang="en-US" altLang="zh-CN" dirty="0">
                <a:ea typeface="宋体" panose="02010600030101010101" pitchFamily="2" charset="-122"/>
              </a:rPr>
              <a:t>Connect devices in a home or office building</a:t>
            </a:r>
          </a:p>
          <a:p>
            <a:r>
              <a:rPr lang="en-US" altLang="zh-CN" dirty="0">
                <a:ea typeface="宋体" panose="02010600030101010101" pitchFamily="2" charset="-122"/>
              </a:rPr>
              <a:t>Called </a:t>
            </a:r>
            <a:r>
              <a:rPr lang="en-US" altLang="zh-CN" u="sng" dirty="0">
                <a:ea typeface="宋体" panose="02010600030101010101" pitchFamily="2" charset="-122"/>
              </a:rPr>
              <a:t>enterprise network</a:t>
            </a:r>
            <a:r>
              <a:rPr lang="en-US" altLang="zh-CN" dirty="0">
                <a:ea typeface="宋体" panose="02010600030101010101" pitchFamily="2" charset="-122"/>
              </a:rPr>
              <a:t> in a company</a:t>
            </a:r>
          </a:p>
        </p:txBody>
      </p:sp>
      <p:sp>
        <p:nvSpPr>
          <p:cNvPr id="31748"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pic>
        <p:nvPicPr>
          <p:cNvPr id="31749" name="Picture 5"/>
          <p:cNvPicPr>
            <a:picLocks noChangeAspect="1" noChangeArrowheads="1"/>
          </p:cNvPicPr>
          <p:nvPr/>
        </p:nvPicPr>
        <p:blipFill>
          <a:blip r:embed="rId3">
            <a:extLst>
              <a:ext uri="{28A0092B-C50C-407E-A947-70E740481C1C}">
                <a14:useLocalDpi xmlns:a14="http://schemas.microsoft.com/office/drawing/2010/main" val="0"/>
              </a:ext>
            </a:extLst>
          </a:blip>
          <a:srcRect l="1683" t="7236" r="56107" b="4428"/>
          <a:stretch>
            <a:fillRect/>
          </a:stretch>
        </p:blipFill>
        <p:spPr bwMode="auto">
          <a:xfrm>
            <a:off x="2634456" y="2679363"/>
            <a:ext cx="2808287"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TextBox 9"/>
          <p:cNvSpPr txBox="1">
            <a:spLocks noChangeArrowheads="1"/>
          </p:cNvSpPr>
          <p:nvPr/>
        </p:nvSpPr>
        <p:spPr bwMode="auto">
          <a:xfrm>
            <a:off x="3070044" y="5308263"/>
            <a:ext cx="181011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2000">
                <a:ea typeface="宋体" panose="02010600030101010101" pitchFamily="2" charset="-122"/>
              </a:rPr>
              <a:t>Wireless LAN </a:t>
            </a:r>
          </a:p>
          <a:p>
            <a:pPr algn="ctr" eaLnBrk="1" hangingPunct="1">
              <a:spcBef>
                <a:spcPct val="0"/>
              </a:spcBef>
              <a:buClrTx/>
              <a:buFontTx/>
              <a:buNone/>
            </a:pPr>
            <a:r>
              <a:rPr lang="en-US" altLang="zh-CN" sz="2000">
                <a:ea typeface="宋体" panose="02010600030101010101" pitchFamily="2" charset="-122"/>
              </a:rPr>
              <a:t>with 802.11</a:t>
            </a:r>
          </a:p>
        </p:txBody>
      </p:sp>
      <p:pic>
        <p:nvPicPr>
          <p:cNvPr id="31751" name="Picture 5"/>
          <p:cNvPicPr>
            <a:picLocks noChangeAspect="1" noChangeArrowheads="1"/>
          </p:cNvPicPr>
          <p:nvPr/>
        </p:nvPicPr>
        <p:blipFill>
          <a:blip r:embed="rId3">
            <a:extLst>
              <a:ext uri="{28A0092B-C50C-407E-A947-70E740481C1C}">
                <a14:useLocalDpi xmlns:a14="http://schemas.microsoft.com/office/drawing/2010/main" val="0"/>
              </a:ext>
            </a:extLst>
          </a:blip>
          <a:srcRect l="50021" t="6633" r="1424" b="4126"/>
          <a:stretch>
            <a:fillRect/>
          </a:stretch>
        </p:blipFill>
        <p:spPr bwMode="auto">
          <a:xfrm>
            <a:off x="6461918" y="2650787"/>
            <a:ext cx="3171825" cy="250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2" name="TextBox 11"/>
          <p:cNvSpPr txBox="1">
            <a:spLocks noChangeArrowheads="1"/>
          </p:cNvSpPr>
          <p:nvPr/>
        </p:nvSpPr>
        <p:spPr bwMode="auto">
          <a:xfrm>
            <a:off x="6939964" y="5298738"/>
            <a:ext cx="222208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2000" dirty="0">
                <a:ea typeface="宋体" panose="02010600030101010101" pitchFamily="2" charset="-122"/>
              </a:rPr>
              <a:t>Wired LAN with</a:t>
            </a:r>
          </a:p>
          <a:p>
            <a:pPr algn="ctr" eaLnBrk="1" hangingPunct="1">
              <a:spcBef>
                <a:spcPct val="0"/>
              </a:spcBef>
              <a:buClrTx/>
              <a:buFontTx/>
              <a:buNone/>
            </a:pPr>
            <a:r>
              <a:rPr lang="en-US" altLang="zh-CN" sz="2000" dirty="0">
                <a:ea typeface="宋体" panose="02010600030101010101" pitchFamily="2" charset="-122"/>
              </a:rPr>
              <a:t>switched Ethernet</a:t>
            </a:r>
          </a:p>
        </p:txBody>
      </p:sp>
      <p:sp>
        <p:nvSpPr>
          <p:cNvPr id="2" name="矩形 1">
            <a:extLst>
              <a:ext uri="{FF2B5EF4-FFF2-40B4-BE49-F238E27FC236}">
                <a16:creationId xmlns:a16="http://schemas.microsoft.com/office/drawing/2014/main" id="{5F6D5ACF-81E9-4669-813E-3BF62DF6F05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Local Area Networks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0904AD46-C3CD-4385-B7FA-1A0C0F169AEB}"/>
              </a:ext>
            </a:extLst>
          </p:cNvPr>
          <p:cNvPicPr>
            <a:picLocks noChangeAspect="1"/>
          </p:cNvPicPr>
          <p:nvPr/>
        </p:nvPicPr>
        <p:blipFill rotWithShape="1">
          <a:blip r:embed="rId4">
            <a:extLst>
              <a:ext uri="{28A0092B-C50C-407E-A947-70E740481C1C}">
                <a14:useLocalDpi xmlns:a14="http://schemas.microsoft.com/office/drawing/2010/main" val="0"/>
              </a:ext>
            </a:extLst>
          </a:blip>
          <a:srcRect l="1425" t="11287" r="1039" b="2069"/>
          <a:stretch/>
        </p:blipFill>
        <p:spPr>
          <a:xfrm>
            <a:off x="173688" y="924024"/>
            <a:ext cx="11785701" cy="5760721"/>
          </a:xfrm>
          <a:prstGeom prst="rect">
            <a:avLst/>
          </a:prstGeom>
        </p:spPr>
      </p:pic>
      <p:cxnSp>
        <p:nvCxnSpPr>
          <p:cNvPr id="8" name="直接连接符 7">
            <a:extLst>
              <a:ext uri="{FF2B5EF4-FFF2-40B4-BE49-F238E27FC236}">
                <a16:creationId xmlns:a16="http://schemas.microsoft.com/office/drawing/2014/main" id="{D29F6675-8E60-4716-AB50-1232158CF419}"/>
              </a:ext>
            </a:extLst>
          </p:cNvPr>
          <p:cNvCxnSpPr>
            <a:cxnSpLocks/>
          </p:cNvCxnSpPr>
          <p:nvPr/>
        </p:nvCxnSpPr>
        <p:spPr>
          <a:xfrm flipH="1">
            <a:off x="1198345" y="3161899"/>
            <a:ext cx="1318661"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B2B0A0AF-363C-4113-835C-F6EFCD7487BE}"/>
              </a:ext>
            </a:extLst>
          </p:cNvPr>
          <p:cNvSpPr txBox="1"/>
          <p:nvPr/>
        </p:nvSpPr>
        <p:spPr>
          <a:xfrm>
            <a:off x="1037438" y="2859945"/>
            <a:ext cx="1527341" cy="307777"/>
          </a:xfrm>
          <a:prstGeom prst="rect">
            <a:avLst/>
          </a:prstGeom>
          <a:noFill/>
        </p:spPr>
        <p:txBody>
          <a:bodyPr wrap="none" rtlCol="0">
            <a:spAutoFit/>
          </a:bodyPr>
          <a:lstStyle/>
          <a:p>
            <a:r>
              <a:rPr lang="en-US" altLang="zh-CN" sz="1400" dirty="0">
                <a:latin typeface="Arial" panose="020B0604020202020204" pitchFamily="34" charset="0"/>
                <a:cs typeface="Arial" panose="020B0604020202020204" pitchFamily="34" charset="0"/>
              </a:rPr>
              <a:t>To wired network</a:t>
            </a:r>
            <a:endParaRPr lang="zh-CN" altLang="en-US" sz="1400" dirty="0">
              <a:latin typeface="Arial" panose="020B0604020202020204" pitchFamily="34" charset="0"/>
              <a:cs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33796" name="Content Placeholder 2"/>
          <p:cNvSpPr>
            <a:spLocks noGrp="1"/>
          </p:cNvSpPr>
          <p:nvPr>
            <p:ph idx="1"/>
          </p:nvPr>
        </p:nvSpPr>
        <p:spPr>
          <a:xfrm>
            <a:off x="823609" y="1297651"/>
            <a:ext cx="10265923" cy="1148471"/>
          </a:xfrm>
        </p:spPr>
        <p:txBody>
          <a:bodyPr/>
          <a:lstStyle/>
          <a:p>
            <a:pPr marL="457200" indent="-457200">
              <a:buFont typeface="Arial" panose="020B0604020202020204" pitchFamily="34" charset="0"/>
              <a:buChar char="•"/>
            </a:pPr>
            <a:r>
              <a:rPr lang="en-US" altLang="zh-CN" dirty="0">
                <a:ea typeface="宋体" panose="02010600030101010101" pitchFamily="2" charset="-122"/>
              </a:rPr>
              <a:t>Connect devices over a metropolitan area</a:t>
            </a:r>
          </a:p>
          <a:p>
            <a:pPr marL="457200" indent="-457200">
              <a:buFont typeface="Arial" panose="020B0604020202020204" pitchFamily="34" charset="0"/>
              <a:buChar char="•"/>
            </a:pPr>
            <a:r>
              <a:rPr lang="en-US" altLang="zh-CN" dirty="0">
                <a:ea typeface="宋体" panose="02010600030101010101" pitchFamily="2" charset="-122"/>
              </a:rPr>
              <a:t>Example MAN based on cable TV:</a:t>
            </a:r>
          </a:p>
        </p:txBody>
      </p:sp>
      <p:pic>
        <p:nvPicPr>
          <p:cNvPr id="3379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8989" y="2819400"/>
            <a:ext cx="5534025"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6A45DDC-F147-4333-8E60-AA0138EEBE0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Metropolitan Area Networks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DD044DE7-BD58-422B-AFB6-74CE9C91EF54}"/>
              </a:ext>
            </a:extLst>
          </p:cNvPr>
          <p:cNvPicPr>
            <a:picLocks noChangeAspect="1"/>
          </p:cNvPicPr>
          <p:nvPr/>
        </p:nvPicPr>
        <p:blipFill rotWithShape="1">
          <a:blip r:embed="rId4">
            <a:extLst>
              <a:ext uri="{28A0092B-C50C-407E-A947-70E740481C1C}">
                <a14:useLocalDpi xmlns:a14="http://schemas.microsoft.com/office/drawing/2010/main" val="0"/>
              </a:ext>
            </a:extLst>
          </a:blip>
          <a:srcRect l="1399" t="11654" r="1399" b="1991"/>
          <a:stretch/>
        </p:blipFill>
        <p:spPr>
          <a:xfrm>
            <a:off x="301659" y="958850"/>
            <a:ext cx="11655391" cy="576262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p:cNvSpPr>
            <a:spLocks noGrp="1"/>
          </p:cNvSpPr>
          <p:nvPr>
            <p:ph idx="1"/>
          </p:nvPr>
        </p:nvSpPr>
        <p:spPr>
          <a:xfrm>
            <a:off x="731196" y="1170782"/>
            <a:ext cx="10515600" cy="1080295"/>
          </a:xfrm>
        </p:spPr>
        <p:txBody>
          <a:bodyPr/>
          <a:lstStyle/>
          <a:p>
            <a:r>
              <a:rPr lang="en-US" altLang="zh-CN" dirty="0">
                <a:ea typeface="宋体" panose="02010600030101010101" pitchFamily="2" charset="-122"/>
              </a:rPr>
              <a:t>Connect devices over a country</a:t>
            </a:r>
          </a:p>
          <a:p>
            <a:r>
              <a:rPr lang="en-US" altLang="zh-CN" dirty="0">
                <a:ea typeface="宋体" panose="02010600030101010101" pitchFamily="2" charset="-122"/>
              </a:rPr>
              <a:t>Example WAN connecting three branch offices:</a:t>
            </a:r>
          </a:p>
        </p:txBody>
      </p:sp>
      <p:pic>
        <p:nvPicPr>
          <p:cNvPr id="35843" name="Picture 2"/>
          <p:cNvPicPr>
            <a:picLocks noChangeAspect="1" noChangeArrowheads="1"/>
          </p:cNvPicPr>
          <p:nvPr/>
        </p:nvPicPr>
        <p:blipFill>
          <a:blip r:embed="rId3">
            <a:extLst>
              <a:ext uri="{28A0092B-C50C-407E-A947-70E740481C1C}">
                <a14:useLocalDpi xmlns:a14="http://schemas.microsoft.com/office/drawing/2010/main" val="0"/>
              </a:ext>
            </a:extLst>
          </a:blip>
          <a:srcRect t="4160" b="2567"/>
          <a:stretch>
            <a:fillRect/>
          </a:stretch>
        </p:blipFill>
        <p:spPr bwMode="auto">
          <a:xfrm>
            <a:off x="3038475" y="2333627"/>
            <a:ext cx="6173619" cy="3800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sp>
        <p:nvSpPr>
          <p:cNvPr id="2" name="矩形 1">
            <a:extLst>
              <a:ext uri="{FF2B5EF4-FFF2-40B4-BE49-F238E27FC236}">
                <a16:creationId xmlns:a16="http://schemas.microsoft.com/office/drawing/2014/main" id="{CF810164-1AC8-4437-9081-06EA4ABC271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Wide Area Networks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69B0ADFF-9859-40CA-98D5-D4E819D69B6C}"/>
              </a:ext>
            </a:extLst>
          </p:cNvPr>
          <p:cNvPicPr>
            <a:picLocks noChangeAspect="1"/>
          </p:cNvPicPr>
          <p:nvPr/>
        </p:nvPicPr>
        <p:blipFill rotWithShape="1">
          <a:blip r:embed="rId4">
            <a:extLst>
              <a:ext uri="{28A0092B-C50C-407E-A947-70E740481C1C}">
                <a14:useLocalDpi xmlns:a14="http://schemas.microsoft.com/office/drawing/2010/main" val="0"/>
              </a:ext>
            </a:extLst>
          </a:blip>
          <a:srcRect t="9722"/>
          <a:stretch/>
        </p:blipFill>
        <p:spPr>
          <a:xfrm>
            <a:off x="6883" y="908050"/>
            <a:ext cx="12178234" cy="594995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1" name="Content Placeholder 2"/>
          <p:cNvSpPr>
            <a:spLocks noGrp="1"/>
          </p:cNvSpPr>
          <p:nvPr>
            <p:ph idx="1"/>
          </p:nvPr>
        </p:nvSpPr>
        <p:spPr>
          <a:xfrm>
            <a:off x="838200" y="1177531"/>
            <a:ext cx="10515600" cy="1198039"/>
          </a:xfrm>
        </p:spPr>
        <p:txBody>
          <a:bodyPr/>
          <a:lstStyle/>
          <a:p>
            <a:pPr>
              <a:lnSpc>
                <a:spcPct val="100000"/>
              </a:lnSpc>
            </a:pPr>
            <a:r>
              <a:rPr lang="en-US" altLang="zh-CN" dirty="0">
                <a:ea typeface="宋体" panose="02010600030101010101" pitchFamily="2" charset="-122"/>
              </a:rPr>
              <a:t>An ISP (Internet Service Provider) network is also a WAN.</a:t>
            </a:r>
          </a:p>
          <a:p>
            <a:pPr>
              <a:lnSpc>
                <a:spcPct val="100000"/>
              </a:lnSpc>
            </a:pPr>
            <a:r>
              <a:rPr lang="en-US" altLang="zh-CN" dirty="0">
                <a:ea typeface="宋体" panose="02010600030101010101" pitchFamily="2" charset="-122"/>
              </a:rPr>
              <a:t>Customers buy connectivity from the ISP to use it.</a:t>
            </a:r>
          </a:p>
        </p:txBody>
      </p:sp>
      <p:sp>
        <p:nvSpPr>
          <p:cNvPr id="37892"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pic>
        <p:nvPicPr>
          <p:cNvPr id="3789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9275" y="2305050"/>
            <a:ext cx="64008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7C02F019-421F-47A3-8C1D-8249897D8DA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Wide Area Networks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Content Placeholder 2"/>
          <p:cNvSpPr>
            <a:spLocks noGrp="1"/>
          </p:cNvSpPr>
          <p:nvPr>
            <p:ph idx="1"/>
          </p:nvPr>
        </p:nvSpPr>
        <p:spPr>
          <a:xfrm>
            <a:off x="750650" y="1103899"/>
            <a:ext cx="11019817" cy="990602"/>
          </a:xfrm>
        </p:spPr>
        <p:txBody>
          <a:bodyPr/>
          <a:lstStyle/>
          <a:p>
            <a:pPr>
              <a:lnSpc>
                <a:spcPct val="100000"/>
              </a:lnSpc>
            </a:pPr>
            <a:r>
              <a:rPr lang="en-US" altLang="zh-CN" dirty="0">
                <a:ea typeface="宋体" panose="02010600030101010101" pitchFamily="2" charset="-122"/>
              </a:rPr>
              <a:t>A VPN (Virtual Private Network) is a WAN built from virtual links that run on top of the Internet.</a:t>
            </a:r>
          </a:p>
        </p:txBody>
      </p:sp>
      <p:sp>
        <p:nvSpPr>
          <p:cNvPr id="39940"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pic>
        <p:nvPicPr>
          <p:cNvPr id="3994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0158" y="2203744"/>
            <a:ext cx="6400800" cy="404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FAF2A61-8C3B-4161-A504-155900D84357}"/>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Wide Area Networks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3E932F79-7ECE-44E3-8842-5982D517B540}"/>
              </a:ext>
            </a:extLst>
          </p:cNvPr>
          <p:cNvPicPr>
            <a:picLocks noChangeAspect="1"/>
          </p:cNvPicPr>
          <p:nvPr/>
        </p:nvPicPr>
        <p:blipFill rotWithShape="1">
          <a:blip r:embed="rId4">
            <a:extLst>
              <a:ext uri="{28A0092B-C50C-407E-A947-70E740481C1C}">
                <a14:useLocalDpi xmlns:a14="http://schemas.microsoft.com/office/drawing/2010/main" val="0"/>
              </a:ext>
            </a:extLst>
          </a:blip>
          <a:srcRect l="3433" t="14445" r="5601"/>
          <a:stretch/>
        </p:blipFill>
        <p:spPr>
          <a:xfrm>
            <a:off x="421533" y="990600"/>
            <a:ext cx="11084667" cy="58674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4099" name="Subtitle 2"/>
          <p:cNvSpPr>
            <a:spLocks noGrp="1"/>
          </p:cNvSpPr>
          <p:nvPr>
            <p:ph idx="1"/>
          </p:nvPr>
        </p:nvSpPr>
        <p:spPr>
          <a:xfrm>
            <a:off x="1594525" y="1224144"/>
            <a:ext cx="7170095" cy="4145524"/>
          </a:xfrm>
        </p:spPr>
        <p:txBody>
          <a:bodyPr>
            <a:normAutofit fontScale="92500" lnSpcReduction="20000"/>
          </a:bodyPr>
          <a:lstStyle/>
          <a:p>
            <a:pPr lvl="1">
              <a:lnSpc>
                <a:spcPct val="150000"/>
              </a:lnSpc>
              <a:defRPr/>
            </a:pPr>
            <a:r>
              <a:rPr lang="en-US" sz="2800" dirty="0"/>
              <a:t>Uses of Computer Networks</a:t>
            </a:r>
          </a:p>
          <a:p>
            <a:pPr lvl="1">
              <a:lnSpc>
                <a:spcPct val="150000"/>
              </a:lnSpc>
              <a:defRPr/>
            </a:pPr>
            <a:r>
              <a:rPr lang="en-US" sz="2800" dirty="0"/>
              <a:t>Network Hardware</a:t>
            </a:r>
          </a:p>
          <a:p>
            <a:pPr lvl="1">
              <a:lnSpc>
                <a:spcPct val="150000"/>
              </a:lnSpc>
              <a:defRPr/>
            </a:pPr>
            <a:r>
              <a:rPr lang="en-US" sz="2800" b="1" dirty="0"/>
              <a:t>Network Software</a:t>
            </a:r>
          </a:p>
          <a:p>
            <a:pPr lvl="1">
              <a:lnSpc>
                <a:spcPct val="150000"/>
              </a:lnSpc>
              <a:defRPr/>
            </a:pPr>
            <a:r>
              <a:rPr lang="en-US" sz="2800" dirty="0"/>
              <a:t>Reference Models</a:t>
            </a:r>
          </a:p>
          <a:p>
            <a:pPr lvl="1">
              <a:lnSpc>
                <a:spcPct val="150000"/>
              </a:lnSpc>
              <a:defRPr/>
            </a:pPr>
            <a:r>
              <a:rPr lang="en-US" sz="2800" dirty="0"/>
              <a:t>Example Networks</a:t>
            </a:r>
          </a:p>
          <a:p>
            <a:pPr lvl="1">
              <a:lnSpc>
                <a:spcPct val="150000"/>
              </a:lnSpc>
              <a:defRPr/>
            </a:pPr>
            <a:r>
              <a:rPr lang="en-US" sz="2800" dirty="0"/>
              <a:t>Network Standardization</a:t>
            </a:r>
          </a:p>
          <a:p>
            <a:pPr lvl="1">
              <a:lnSpc>
                <a:spcPct val="150000"/>
              </a:lnSpc>
              <a:defRPr/>
            </a:pPr>
            <a:r>
              <a:rPr lang="en-US" sz="2800" dirty="0"/>
              <a:t>Metric Units</a:t>
            </a:r>
          </a:p>
        </p:txBody>
      </p:sp>
      <p:sp>
        <p:nvSpPr>
          <p:cNvPr id="2" name="矩形 1">
            <a:extLst>
              <a:ext uri="{FF2B5EF4-FFF2-40B4-BE49-F238E27FC236}">
                <a16:creationId xmlns:a16="http://schemas.microsoft.com/office/drawing/2014/main" id="{7410C969-53CB-4556-84C5-40C49330329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Chapter1</a:t>
            </a:r>
            <a:r>
              <a:rPr lang="zh-CN" altLang="en-US" sz="2800" b="1" kern="0" dirty="0">
                <a:solidFill>
                  <a:srgbClr val="C00000"/>
                </a:solidFill>
                <a:latin typeface="微软雅黑" panose="020B0503020204020204" pitchFamily="34" charset="-122"/>
                <a:ea typeface="微软雅黑" panose="020B0503020204020204" pitchFamily="34" charset="-122"/>
              </a:rPr>
              <a:t>：</a:t>
            </a:r>
            <a:r>
              <a:rPr lang="en-US" altLang="zh-CN" sz="2800" b="1" kern="0" dirty="0">
                <a:solidFill>
                  <a:srgbClr val="C00000"/>
                </a:solidFill>
                <a:latin typeface="微软雅黑" panose="020B0503020204020204" pitchFamily="34" charset="-122"/>
                <a:ea typeface="微软雅黑" panose="020B0503020204020204" pitchFamily="34" charset="-122"/>
              </a:rPr>
              <a:t>Introduction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439643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7172" name="Rectangle 3"/>
          <p:cNvSpPr>
            <a:spLocks noGrp="1" noChangeArrowheads="1"/>
          </p:cNvSpPr>
          <p:nvPr>
            <p:ph idx="1"/>
          </p:nvPr>
        </p:nvSpPr>
        <p:spPr>
          <a:xfrm>
            <a:off x="1119220" y="1581805"/>
            <a:ext cx="9466230" cy="4101445"/>
          </a:xfrm>
        </p:spPr>
        <p:txBody>
          <a:bodyPr>
            <a:normAutofit/>
          </a:bodyPr>
          <a:lstStyle/>
          <a:p>
            <a:pPr lvl="1">
              <a:lnSpc>
                <a:spcPct val="150000"/>
              </a:lnSpc>
            </a:pPr>
            <a:r>
              <a:rPr lang="en-US" altLang="zh-CN" sz="2800" dirty="0">
                <a:ea typeface="宋体" panose="02010600030101010101" pitchFamily="2" charset="-122"/>
              </a:rPr>
              <a:t>Protocol Hierarchies (</a:t>
            </a:r>
            <a:r>
              <a:rPr lang="zh-CN" altLang="en-US" sz="2800" dirty="0">
                <a:ea typeface="宋体" panose="02010600030101010101" pitchFamily="2" charset="-122"/>
              </a:rPr>
              <a:t>协议层次</a:t>
            </a:r>
            <a:r>
              <a:rPr lang="en-US" altLang="zh-CN" sz="2800" dirty="0">
                <a:ea typeface="宋体" panose="02010600030101010101" pitchFamily="2" charset="-122"/>
              </a:rPr>
              <a:t>)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lnSpc>
                <a:spcPct val="150000"/>
              </a:lnSpc>
            </a:pPr>
            <a:r>
              <a:rPr lang="en-US" altLang="zh-CN" sz="2800" dirty="0">
                <a:ea typeface="宋体" panose="02010600030101010101" pitchFamily="2" charset="-122"/>
              </a:rPr>
              <a:t>Design issues for the layers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lnSpc>
                <a:spcPct val="150000"/>
              </a:lnSpc>
            </a:pPr>
            <a:r>
              <a:rPr lang="en-US" altLang="zh-CN" sz="2800" dirty="0">
                <a:ea typeface="宋体" panose="02010600030101010101" pitchFamily="2" charset="-122"/>
              </a:rPr>
              <a:t>Connection-oriented vs. connectionless service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lnSpc>
                <a:spcPct val="150000"/>
              </a:lnSpc>
            </a:pPr>
            <a:r>
              <a:rPr lang="en-US" altLang="zh-CN" sz="2800" dirty="0">
                <a:ea typeface="宋体" panose="02010600030101010101" pitchFamily="2" charset="-122"/>
              </a:rPr>
              <a:t>Service primitives (</a:t>
            </a:r>
            <a:r>
              <a:rPr lang="zh-CN" altLang="en-US" sz="2800" dirty="0">
                <a:ea typeface="宋体" panose="02010600030101010101" pitchFamily="2" charset="-122"/>
              </a:rPr>
              <a:t>服务原语</a:t>
            </a:r>
            <a:r>
              <a:rPr lang="en-US" altLang="zh-CN" sz="2800" dirty="0">
                <a:ea typeface="宋体" panose="02010600030101010101" pitchFamily="2" charset="-122"/>
              </a:rPr>
              <a:t>)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lnSpc>
                <a:spcPct val="150000"/>
              </a:lnSpc>
            </a:pPr>
            <a:r>
              <a:rPr lang="en-US" altLang="zh-CN" sz="2800" dirty="0">
                <a:ea typeface="宋体" panose="02010600030101010101" pitchFamily="2" charset="-122"/>
              </a:rPr>
              <a:t>Relationship of services to protocols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p:txBody>
      </p:sp>
      <p:sp>
        <p:nvSpPr>
          <p:cNvPr id="2" name="矩形 1">
            <a:extLst>
              <a:ext uri="{FF2B5EF4-FFF2-40B4-BE49-F238E27FC236}">
                <a16:creationId xmlns:a16="http://schemas.microsoft.com/office/drawing/2014/main" id="{9E304C7D-531E-4840-B684-DA16BBFCA26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Network Software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481583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ooter Placeholder 5"/>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dirty="0"/>
              <a:t>Computer Networks, Chapter 1 Introduction</a:t>
            </a:r>
          </a:p>
        </p:txBody>
      </p:sp>
      <p:sp>
        <p:nvSpPr>
          <p:cNvPr id="9220" name="Rectangle 3"/>
          <p:cNvSpPr>
            <a:spLocks noGrp="1" noChangeArrowheads="1"/>
          </p:cNvSpPr>
          <p:nvPr>
            <p:ph idx="1"/>
          </p:nvPr>
        </p:nvSpPr>
        <p:spPr>
          <a:xfrm>
            <a:off x="535022" y="1112050"/>
            <a:ext cx="10671242" cy="1123950"/>
          </a:xfrm>
        </p:spPr>
        <p:txBody>
          <a:bodyPr/>
          <a:lstStyle/>
          <a:p>
            <a:pPr marL="252000" indent="0"/>
            <a:r>
              <a:rPr lang="en-US" altLang="zh-CN" dirty="0">
                <a:ea typeface="宋体" panose="02010600030101010101" pitchFamily="2" charset="-122"/>
              </a:rPr>
              <a:t>Protocol layering is the main structuring method used to divide up network functionality.</a:t>
            </a:r>
          </a:p>
          <a:p>
            <a:pPr marL="252000" indent="0"/>
            <a:endParaRPr lang="en-US" altLang="zh-CN" dirty="0">
              <a:ea typeface="宋体" panose="02010600030101010101" pitchFamily="2" charset="-122"/>
            </a:endParaRPr>
          </a:p>
        </p:txBody>
      </p:sp>
      <p:sp>
        <p:nvSpPr>
          <p:cNvPr id="9221" name="Content Placeholder 9"/>
          <p:cNvSpPr>
            <a:spLocks noGrp="1"/>
          </p:cNvSpPr>
          <p:nvPr>
            <p:ph idx="11"/>
          </p:nvPr>
        </p:nvSpPr>
        <p:spPr>
          <a:xfrm>
            <a:off x="748058" y="2046423"/>
            <a:ext cx="4083642" cy="4362580"/>
          </a:xfrm>
        </p:spPr>
        <p:txBody>
          <a:bodyPr>
            <a:normAutofit fontScale="92500" lnSpcReduction="20000"/>
          </a:bodyPr>
          <a:lstStyle/>
          <a:p>
            <a:pPr>
              <a:lnSpc>
                <a:spcPct val="150000"/>
              </a:lnSpc>
              <a:buFont typeface="Arial" pitchFamily="34" charset="0"/>
              <a:buChar char="•"/>
            </a:pPr>
            <a:r>
              <a:rPr lang="en-US" altLang="zh-CN" sz="1600" dirty="0">
                <a:latin typeface="Arial" panose="020B0604020202020204" pitchFamily="34" charset="0"/>
                <a:ea typeface="微软雅黑" panose="020B0503020204020204" pitchFamily="34" charset="-122"/>
              </a:rPr>
              <a:t> Each </a:t>
            </a:r>
            <a:r>
              <a:rPr lang="en-US" altLang="zh-CN" sz="1600" u="sng" dirty="0">
                <a:latin typeface="Arial" panose="020B0604020202020204" pitchFamily="34" charset="0"/>
                <a:ea typeface="微软雅黑" panose="020B0503020204020204" pitchFamily="34" charset="-122"/>
              </a:rPr>
              <a:t>protocol</a:t>
            </a:r>
            <a:r>
              <a:rPr lang="en-US" altLang="zh-CN" sz="1600" dirty="0">
                <a:latin typeface="Arial" panose="020B0604020202020204" pitchFamily="34" charset="0"/>
                <a:ea typeface="微软雅黑" panose="020B0503020204020204" pitchFamily="34" charset="-122"/>
              </a:rPr>
              <a:t> instance talks virtually to its </a:t>
            </a:r>
            <a:r>
              <a:rPr lang="en-US" altLang="zh-CN" sz="1600" u="sng" dirty="0">
                <a:latin typeface="Arial" panose="020B0604020202020204" pitchFamily="34" charset="0"/>
                <a:ea typeface="微软雅黑" panose="020B0503020204020204" pitchFamily="34" charset="-122"/>
              </a:rPr>
              <a:t>peer (</a:t>
            </a:r>
            <a:r>
              <a:rPr lang="zh-CN" altLang="en-US" sz="1600" u="sng" dirty="0">
                <a:latin typeface="Arial" panose="020B0604020202020204" pitchFamily="34" charset="0"/>
                <a:ea typeface="微软雅黑" panose="020B0503020204020204" pitchFamily="34" charset="-122"/>
              </a:rPr>
              <a:t>位于不同子系统的同一层的实体间的互称</a:t>
            </a:r>
            <a:r>
              <a:rPr lang="en-US" altLang="zh-CN" sz="1600" u="sng" dirty="0">
                <a:latin typeface="Arial" panose="020B0604020202020204" pitchFamily="34" charset="0"/>
                <a:ea typeface="微软雅黑" panose="020B0503020204020204" pitchFamily="34" charset="-122"/>
              </a:rPr>
              <a:t>)</a:t>
            </a:r>
            <a:r>
              <a:rPr lang="en-US" altLang="zh-CN" sz="1600" dirty="0">
                <a:latin typeface="Arial" panose="020B0604020202020204" pitchFamily="34" charset="0"/>
                <a:ea typeface="微软雅黑" panose="020B0503020204020204" pitchFamily="34" charset="-122"/>
              </a:rPr>
              <a:t> </a:t>
            </a:r>
          </a:p>
          <a:p>
            <a:pPr>
              <a:lnSpc>
                <a:spcPct val="150000"/>
              </a:lnSpc>
              <a:buFont typeface="Arial" pitchFamily="34" charset="0"/>
              <a:buChar char="•"/>
            </a:pPr>
            <a:r>
              <a:rPr lang="en-US" altLang="zh-CN" sz="1600" dirty="0">
                <a:latin typeface="Arial" panose="020B0604020202020204" pitchFamily="34" charset="0"/>
                <a:ea typeface="微软雅黑" panose="020B0503020204020204" pitchFamily="34" charset="-122"/>
              </a:rPr>
              <a:t> Each layer communicates only by using the one below </a:t>
            </a:r>
          </a:p>
          <a:p>
            <a:pPr>
              <a:lnSpc>
                <a:spcPct val="150000"/>
              </a:lnSpc>
              <a:buFont typeface="Arial" pitchFamily="34" charset="0"/>
              <a:buChar char="•"/>
            </a:pPr>
            <a:r>
              <a:rPr lang="en-US" altLang="zh-CN" sz="1600" dirty="0">
                <a:latin typeface="Arial" panose="020B0604020202020204" pitchFamily="34" charset="0"/>
                <a:ea typeface="微软雅黑" panose="020B0503020204020204" pitchFamily="34" charset="-122"/>
              </a:rPr>
              <a:t> Lower layer </a:t>
            </a:r>
            <a:r>
              <a:rPr lang="en-US" altLang="zh-CN" sz="1600" u="sng" dirty="0">
                <a:latin typeface="Arial" panose="020B0604020202020204" pitchFamily="34" charset="0"/>
                <a:ea typeface="微软雅黑" panose="020B0503020204020204" pitchFamily="34" charset="-122"/>
              </a:rPr>
              <a:t>services</a:t>
            </a:r>
            <a:r>
              <a:rPr lang="en-US" altLang="zh-CN" sz="1600" dirty="0">
                <a:latin typeface="Arial" panose="020B0604020202020204" pitchFamily="34" charset="0"/>
                <a:ea typeface="微软雅黑" panose="020B0503020204020204" pitchFamily="34" charset="-122"/>
              </a:rPr>
              <a:t> are accessed by an </a:t>
            </a:r>
            <a:r>
              <a:rPr lang="en-US" altLang="zh-CN" sz="1600" u="sng" dirty="0">
                <a:latin typeface="Arial" panose="020B0604020202020204" pitchFamily="34" charset="0"/>
                <a:ea typeface="微软雅黑" panose="020B0503020204020204" pitchFamily="34" charset="-122"/>
              </a:rPr>
              <a:t>interface</a:t>
            </a:r>
          </a:p>
          <a:p>
            <a:pPr>
              <a:lnSpc>
                <a:spcPct val="150000"/>
              </a:lnSpc>
              <a:buFont typeface="Arial" pitchFamily="34" charset="0"/>
              <a:buChar char="•"/>
            </a:pPr>
            <a:r>
              <a:rPr lang="en-US" altLang="zh-CN" sz="1600" u="sng" dirty="0">
                <a:latin typeface="Arial" panose="020B0604020202020204" pitchFamily="34" charset="0"/>
                <a:ea typeface="微软雅黑" panose="020B0503020204020204" pitchFamily="34" charset="-122"/>
              </a:rPr>
              <a:t>Interface</a:t>
            </a:r>
            <a:r>
              <a:rPr lang="en-US" altLang="zh-CN" sz="1600" dirty="0">
                <a:latin typeface="Arial" panose="020B0604020202020204" pitchFamily="34" charset="0"/>
                <a:ea typeface="微软雅黑" panose="020B0503020204020204" pitchFamily="34" charset="-122"/>
              </a:rPr>
              <a:t> is a connection point which exchange of information between two adjacent layers.</a:t>
            </a:r>
          </a:p>
          <a:p>
            <a:pPr>
              <a:lnSpc>
                <a:spcPct val="150000"/>
              </a:lnSpc>
              <a:buFont typeface="Arial" pitchFamily="34" charset="0"/>
              <a:buChar char="•"/>
            </a:pPr>
            <a:r>
              <a:rPr lang="en-US" altLang="zh-CN" sz="1600" dirty="0">
                <a:latin typeface="Arial" panose="020B0604020202020204" pitchFamily="34" charset="0"/>
                <a:ea typeface="微软雅黑" panose="020B0503020204020204" pitchFamily="34" charset="-122"/>
              </a:rPr>
              <a:t> At bottom, messages are carried by the medium</a:t>
            </a:r>
          </a:p>
        </p:txBody>
      </p:sp>
      <p:sp>
        <p:nvSpPr>
          <p:cNvPr id="2" name="矩形 1">
            <a:extLst>
              <a:ext uri="{FF2B5EF4-FFF2-40B4-BE49-F238E27FC236}">
                <a16:creationId xmlns:a16="http://schemas.microsoft.com/office/drawing/2014/main" id="{2B37CB9E-1088-4EBC-B699-C7CAF76A893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Protocol Layers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7" name="灯片编号占位符 4">
            <a:extLst>
              <a:ext uri="{FF2B5EF4-FFF2-40B4-BE49-F238E27FC236}">
                <a16:creationId xmlns:a16="http://schemas.microsoft.com/office/drawing/2014/main" id="{3A3766EB-C9D1-4528-95A4-D30B49B4F547}"/>
              </a:ext>
            </a:extLst>
          </p:cNvPr>
          <p:cNvSpPr txBox="1">
            <a:spLocks/>
          </p:cNvSpPr>
          <p:nvPr/>
        </p:nvSpPr>
        <p:spPr>
          <a:xfrm>
            <a:off x="10369549" y="6681788"/>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ormAutofit/>
          </a:bodyPr>
          <a:lstStyle>
            <a:lvl1pPr marL="228600" indent="-228600" algn="ctr" defTabSz="914400" rtl="0" eaLnBrk="1" latinLnBrk="0" hangingPunct="1">
              <a:lnSpc>
                <a:spcPct val="90000"/>
              </a:lnSpc>
              <a:spcBef>
                <a:spcPct val="20000"/>
              </a:spcBef>
              <a:buClr>
                <a:schemeClr val="accent2"/>
              </a:buClr>
              <a:buFont typeface="Arial" pitchFamily="34" charset="0"/>
              <a:buNone/>
              <a:defRPr sz="2400" kern="1200">
                <a:solidFill>
                  <a:schemeClr val="tx1"/>
                </a:solidFill>
                <a:latin typeface="Times New Roman" panose="02020603050405020304" pitchFamily="18" charset="0"/>
                <a:ea typeface="+mn-ea"/>
                <a:cs typeface="+mn-cs"/>
              </a:defRPr>
            </a:lvl1pPr>
            <a:lvl2pPr marL="742950" indent="-285750" algn="l" defTabSz="914400" rtl="0" eaLnBrk="1" latinLnBrk="0" hangingPunct="1">
              <a:lnSpc>
                <a:spcPct val="90000"/>
              </a:lnSpc>
              <a:spcBef>
                <a:spcPct val="20000"/>
              </a:spcBef>
              <a:buClr>
                <a:schemeClr val="accent2"/>
              </a:buClr>
              <a:buFont typeface="Arial" panose="020B0604020202020204" pitchFamily="34" charset="0"/>
              <a:buChar char="–"/>
              <a:defRPr sz="28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ct val="20000"/>
              </a:spcBef>
              <a:buClr>
                <a:schemeClr val="accent2"/>
              </a:buClr>
              <a:buFont typeface="Arial" panose="020B0604020202020204" pitchFamily="34" charset="0"/>
              <a:buChar char="•"/>
              <a:defRPr sz="24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ct val="20000"/>
              </a:spcBef>
              <a:buClr>
                <a:schemeClr val="accent2"/>
              </a:buClr>
              <a:buFont typeface="Arial" panose="020B0604020202020204" pitchFamily="34" charset="0"/>
              <a:buChar char="–"/>
              <a:defRPr sz="20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ct val="20000"/>
              </a:spcBef>
              <a:buClr>
                <a:schemeClr val="accent2"/>
              </a:buClr>
              <a:buFont typeface="Arial" panose="020B0604020202020204" pitchFamily="34" charset="0"/>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lnSpc>
                <a:spcPct val="90000"/>
              </a:lnSpc>
              <a:spcBef>
                <a:spcPct val="20000"/>
              </a:spcBef>
              <a:spcAft>
                <a:spcPct val="0"/>
              </a:spcAft>
              <a:buClr>
                <a:schemeClr val="accent2"/>
              </a:buClr>
              <a:buFont typeface="Arial" panose="020B0604020202020204" pitchFamily="34" charset="0"/>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lnSpc>
                <a:spcPct val="90000"/>
              </a:lnSpc>
              <a:spcBef>
                <a:spcPct val="20000"/>
              </a:spcBef>
              <a:spcAft>
                <a:spcPct val="0"/>
              </a:spcAft>
              <a:buClr>
                <a:schemeClr val="accent2"/>
              </a:buClr>
              <a:buFont typeface="Arial" panose="020B0604020202020204" pitchFamily="34" charset="0"/>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lnSpc>
                <a:spcPct val="90000"/>
              </a:lnSpc>
              <a:spcBef>
                <a:spcPct val="20000"/>
              </a:spcBef>
              <a:spcAft>
                <a:spcPct val="0"/>
              </a:spcAft>
              <a:buClr>
                <a:schemeClr val="accent2"/>
              </a:buClr>
              <a:buFont typeface="Arial" panose="020B0604020202020204" pitchFamily="34" charset="0"/>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lnSpc>
                <a:spcPct val="90000"/>
              </a:lnSpc>
              <a:spcBef>
                <a:spcPct val="20000"/>
              </a:spcBef>
              <a:spcAft>
                <a:spcPct val="0"/>
              </a:spcAft>
              <a:buClr>
                <a:schemeClr val="accent2"/>
              </a:buClr>
              <a:buFont typeface="Arial" panose="020B0604020202020204" pitchFamily="34" charset="0"/>
              <a:buChar char="»"/>
              <a:defRPr sz="2000" kern="1200">
                <a:solidFill>
                  <a:schemeClr val="tx1"/>
                </a:solidFill>
                <a:latin typeface="Times New Roman" panose="02020603050405020304" pitchFamily="18" charset="0"/>
                <a:ea typeface="+mn-ea"/>
                <a:cs typeface="+mn-cs"/>
              </a:defRPr>
            </a:lvl9pPr>
          </a:lstStyle>
          <a:p>
            <a:pPr algn="r">
              <a:spcBef>
                <a:spcPct val="0"/>
              </a:spcBef>
              <a:buClrTx/>
            </a:pPr>
            <a:fld id="{578FCC0A-9722-41D0-B9A4-BC73670B2289}" type="slidenum">
              <a:rPr lang="zh-CN" altLang="en-US" sz="1100" smtClean="0"/>
              <a:pPr algn="r">
                <a:spcBef>
                  <a:spcPct val="0"/>
                </a:spcBef>
                <a:buClrTx/>
              </a:pPr>
              <a:t>53</a:t>
            </a:fld>
            <a:endParaRPr lang="en-US" altLang="zh-CN" sz="1100" dirty="0"/>
          </a:p>
        </p:txBody>
      </p:sp>
      <p:pic>
        <p:nvPicPr>
          <p:cNvPr id="8" name="Picture 4" descr="1-13">
            <a:extLst>
              <a:ext uri="{FF2B5EF4-FFF2-40B4-BE49-F238E27FC236}">
                <a16:creationId xmlns:a16="http://schemas.microsoft.com/office/drawing/2014/main" id="{66B6835E-D2F7-4483-B98E-9D57B67CB3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8762" y="1727201"/>
            <a:ext cx="4879975" cy="422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utoShape 1029">
            <a:extLst>
              <a:ext uri="{FF2B5EF4-FFF2-40B4-BE49-F238E27FC236}">
                <a16:creationId xmlns:a16="http://schemas.microsoft.com/office/drawing/2014/main" id="{A8815778-F139-4CEB-9B04-876DB634D5D0}"/>
              </a:ext>
            </a:extLst>
          </p:cNvPr>
          <p:cNvSpPr>
            <a:spLocks noChangeArrowheads="1"/>
          </p:cNvSpPr>
          <p:nvPr/>
        </p:nvSpPr>
        <p:spPr bwMode="auto">
          <a:xfrm>
            <a:off x="10458550" y="2349500"/>
            <a:ext cx="1458120" cy="862414"/>
          </a:xfrm>
          <a:prstGeom prst="wedgeRectCallout">
            <a:avLst>
              <a:gd name="adj1" fmla="val -66810"/>
              <a:gd name="adj2" fmla="val 68880"/>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algn="ctr">
              <a:spcBef>
                <a:spcPct val="20000"/>
              </a:spcBef>
              <a:buClr>
                <a:schemeClr val="accent2"/>
              </a:buCl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eaLnBrk="1" hangingPunct="1">
              <a:spcBef>
                <a:spcPct val="0"/>
              </a:spcBef>
              <a:buClrTx/>
            </a:pPr>
            <a:r>
              <a:rPr lang="en-US" altLang="zh-CN" sz="1400" dirty="0">
                <a:latin typeface="Arial" panose="020B0604020202020204" pitchFamily="34" charset="0"/>
                <a:ea typeface="宋体" panose="02010600030101010101" pitchFamily="2" charset="-122"/>
              </a:rPr>
              <a:t>offering certain services to the layer above it.</a:t>
            </a:r>
            <a:endParaRPr lang="zh-CN" altLang="en-US" sz="1400" dirty="0">
              <a:latin typeface="Arial" panose="020B0604020202020204" pitchFamily="34" charset="0"/>
              <a:ea typeface="宋体" panose="02010600030101010101" pitchFamily="2" charset="-122"/>
            </a:endParaRPr>
          </a:p>
        </p:txBody>
      </p:sp>
      <p:sp>
        <p:nvSpPr>
          <p:cNvPr id="10" name="AutoShape 1031">
            <a:extLst>
              <a:ext uri="{FF2B5EF4-FFF2-40B4-BE49-F238E27FC236}">
                <a16:creationId xmlns:a16="http://schemas.microsoft.com/office/drawing/2014/main" id="{52A2614D-C5F0-4F0C-98D8-20845683B0D3}"/>
              </a:ext>
            </a:extLst>
          </p:cNvPr>
          <p:cNvSpPr>
            <a:spLocks/>
          </p:cNvSpPr>
          <p:nvPr/>
        </p:nvSpPr>
        <p:spPr bwMode="auto">
          <a:xfrm>
            <a:off x="10339387" y="5243513"/>
            <a:ext cx="1678924" cy="1392237"/>
          </a:xfrm>
          <a:prstGeom prst="borderCallout2">
            <a:avLst>
              <a:gd name="adj1" fmla="val 6287"/>
              <a:gd name="adj2" fmla="val -3926"/>
              <a:gd name="adj3" fmla="val 6287"/>
              <a:gd name="adj4" fmla="val -39032"/>
              <a:gd name="adj5" fmla="val -10741"/>
              <a:gd name="adj6" fmla="val -75449"/>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algn="ctr">
              <a:spcBef>
                <a:spcPct val="20000"/>
              </a:spcBef>
              <a:buClr>
                <a:schemeClr val="accent2"/>
              </a:buCl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eaLnBrk="1" hangingPunct="1">
              <a:spcBef>
                <a:spcPct val="0"/>
              </a:spcBef>
              <a:buClrTx/>
            </a:pPr>
            <a:r>
              <a:rPr lang="en-US" altLang="zh-CN" sz="1400" dirty="0">
                <a:latin typeface="Arial" panose="020B0604020202020204" pitchFamily="34" charset="0"/>
                <a:ea typeface="宋体" panose="02010600030101010101" pitchFamily="2" charset="-122"/>
              </a:rPr>
              <a:t>an agreement between the communicating parties on how communication is to proceed.</a:t>
            </a:r>
            <a:endParaRPr lang="zh-CN" altLang="en-US" sz="1400" dirty="0">
              <a:latin typeface="Arial" panose="020B0604020202020204" pitchFamily="34" charset="0"/>
              <a:ea typeface="宋体" panose="02010600030101010101" pitchFamily="2" charset="-122"/>
            </a:endParaRPr>
          </a:p>
          <a:p>
            <a:pPr eaLnBrk="1" hangingPunct="1">
              <a:spcBef>
                <a:spcPct val="0"/>
              </a:spcBef>
              <a:buClrTx/>
            </a:pPr>
            <a:endParaRPr lang="zh-CN" altLang="en-US" sz="1400" dirty="0">
              <a:latin typeface="Arial" panose="020B0604020202020204" pitchFamily="34" charset="0"/>
              <a:ea typeface="宋体" panose="02010600030101010101" pitchFamily="2" charset="-122"/>
            </a:endParaRPr>
          </a:p>
        </p:txBody>
      </p:sp>
      <p:sp>
        <p:nvSpPr>
          <p:cNvPr id="11" name="AutoShape 1032">
            <a:extLst>
              <a:ext uri="{FF2B5EF4-FFF2-40B4-BE49-F238E27FC236}">
                <a16:creationId xmlns:a16="http://schemas.microsoft.com/office/drawing/2014/main" id="{4B3832D0-9635-4395-BB21-B1EF69706536}"/>
              </a:ext>
            </a:extLst>
          </p:cNvPr>
          <p:cNvSpPr>
            <a:spLocks noChangeArrowheads="1"/>
          </p:cNvSpPr>
          <p:nvPr/>
        </p:nvSpPr>
        <p:spPr bwMode="auto">
          <a:xfrm>
            <a:off x="4471988" y="4918076"/>
            <a:ext cx="1678924" cy="1438274"/>
          </a:xfrm>
          <a:prstGeom prst="wedgeRoundRectCallout">
            <a:avLst>
              <a:gd name="adj1" fmla="val 59981"/>
              <a:gd name="adj2" fmla="val -56806"/>
              <a:gd name="adj3" fmla="val 16667"/>
            </a:avLst>
          </a:prstGeom>
          <a:solidFill>
            <a:srgbClr val="DED4B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a:lstStyle>
            <a:lvl1pPr algn="ctr">
              <a:spcBef>
                <a:spcPct val="20000"/>
              </a:spcBef>
              <a:buClr>
                <a:schemeClr val="accent2"/>
              </a:buCl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eaLnBrk="1" hangingPunct="1">
              <a:spcBef>
                <a:spcPct val="0"/>
              </a:spcBef>
              <a:buClrTx/>
            </a:pPr>
            <a:r>
              <a:rPr lang="en-US" altLang="zh-CN" sz="1400" dirty="0">
                <a:latin typeface="Arial" panose="020B0604020202020204" pitchFamily="34" charset="0"/>
                <a:ea typeface="宋体" panose="02010600030101010101" pitchFamily="2" charset="-122"/>
              </a:rPr>
              <a:t>Defines which primitive operations and services the lower layer makes available to the upper one.</a:t>
            </a:r>
            <a:endParaRPr lang="zh-CN" altLang="en-US" sz="1400" dirty="0">
              <a:latin typeface="Arial" panose="020B0604020202020204" pitchFamily="34" charset="0"/>
              <a:ea typeface="宋体" panose="02010600030101010101" pitchFamily="2" charset="-122"/>
            </a:endParaRPr>
          </a:p>
        </p:txBody>
      </p:sp>
      <p:sp>
        <p:nvSpPr>
          <p:cNvPr id="12" name="AutoShape 1034">
            <a:extLst>
              <a:ext uri="{FF2B5EF4-FFF2-40B4-BE49-F238E27FC236}">
                <a16:creationId xmlns:a16="http://schemas.microsoft.com/office/drawing/2014/main" id="{846B9A10-5BD7-48AD-9C62-686869BCFE31}"/>
              </a:ext>
            </a:extLst>
          </p:cNvPr>
          <p:cNvSpPr>
            <a:spLocks noChangeArrowheads="1"/>
          </p:cNvSpPr>
          <p:nvPr/>
        </p:nvSpPr>
        <p:spPr bwMode="auto">
          <a:xfrm>
            <a:off x="10495857" y="3699909"/>
            <a:ext cx="1420813" cy="1055608"/>
          </a:xfrm>
          <a:prstGeom prst="flowChartAlternateProcess">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nchor="ctr">
            <a:spAutoFit/>
          </a:bodyPr>
          <a:lstStyle>
            <a:lvl1pPr algn="ctr">
              <a:spcBef>
                <a:spcPct val="20000"/>
              </a:spcBef>
              <a:buClr>
                <a:schemeClr val="accent2"/>
              </a:buCl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eaLnBrk="1" hangingPunct="1">
              <a:spcBef>
                <a:spcPct val="0"/>
              </a:spcBef>
              <a:buClrTx/>
            </a:pPr>
            <a:r>
              <a:rPr lang="en-US" altLang="zh-CN" sz="1400" dirty="0">
                <a:latin typeface="Arial" panose="020B0604020202020204" pitchFamily="34" charset="0"/>
                <a:ea typeface="宋体" panose="02010600030101010101" pitchFamily="2" charset="-122"/>
              </a:rPr>
              <a:t>Network Architecture: a set of layers and protocols.</a:t>
            </a:r>
            <a:endParaRPr lang="zh-CN" altLang="en-US" sz="1400" dirty="0">
              <a:latin typeface="Arial" panose="020B0604020202020204" pitchFamily="34" charset="0"/>
              <a:ea typeface="宋体" panose="02010600030101010101" pitchFamily="2" charset="-122"/>
            </a:endParaRPr>
          </a:p>
        </p:txBody>
      </p:sp>
      <p:sp>
        <p:nvSpPr>
          <p:cNvPr id="13" name="Rectangle 3">
            <a:extLst>
              <a:ext uri="{FF2B5EF4-FFF2-40B4-BE49-F238E27FC236}">
                <a16:creationId xmlns:a16="http://schemas.microsoft.com/office/drawing/2014/main" id="{F49245D1-1090-4D44-B8CE-B2901E1F1ACB}"/>
              </a:ext>
            </a:extLst>
          </p:cNvPr>
          <p:cNvSpPr txBox="1">
            <a:spLocks noChangeArrowheads="1"/>
          </p:cNvSpPr>
          <p:nvPr/>
        </p:nvSpPr>
        <p:spPr>
          <a:xfrm>
            <a:off x="6657975" y="6119812"/>
            <a:ext cx="3476625" cy="5159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00FF"/>
              </a:buClr>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800">
                <a:ea typeface="宋体" panose="02010600030101010101" pitchFamily="2" charset="-122"/>
              </a:rPr>
              <a:t>Layers, protocols, and interfaces.</a:t>
            </a:r>
            <a:endParaRPr lang="en-US" altLang="zh-CN" sz="1800" dirty="0">
              <a:ea typeface="宋体" panose="02010600030101010101" pitchFamily="2" charset="-122"/>
            </a:endParaRPr>
          </a:p>
        </p:txBody>
      </p:sp>
    </p:spTree>
    <p:extLst>
      <p:ext uri="{BB962C8B-B14F-4D97-AF65-F5344CB8AC3E}">
        <p14:creationId xmlns:p14="http://schemas.microsoft.com/office/powerpoint/2010/main" val="314875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ox(in)">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ox(in)">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ooter Placeholder 5"/>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9220" name="Rectangle 3"/>
          <p:cNvSpPr>
            <a:spLocks noGrp="1" noChangeArrowheads="1"/>
          </p:cNvSpPr>
          <p:nvPr>
            <p:ph idx="1"/>
          </p:nvPr>
        </p:nvSpPr>
        <p:spPr>
          <a:xfrm>
            <a:off x="535022" y="1112050"/>
            <a:ext cx="10671242" cy="1123950"/>
          </a:xfrm>
        </p:spPr>
        <p:txBody>
          <a:bodyPr/>
          <a:lstStyle/>
          <a:p>
            <a:pPr marL="252000" indent="0"/>
            <a:r>
              <a:rPr lang="en-US" altLang="zh-CN" dirty="0">
                <a:ea typeface="宋体" panose="02010600030101010101" pitchFamily="2" charset="-122"/>
              </a:rPr>
              <a:t>Protocol layering is the main structuring method used to divide up network functionality.</a:t>
            </a:r>
          </a:p>
          <a:p>
            <a:pPr marL="252000" indent="0"/>
            <a:endParaRPr lang="en-US" altLang="zh-CN" dirty="0">
              <a:ea typeface="宋体" panose="02010600030101010101" pitchFamily="2" charset="-122"/>
            </a:endParaRPr>
          </a:p>
        </p:txBody>
      </p:sp>
      <p:sp>
        <p:nvSpPr>
          <p:cNvPr id="9221" name="Content Placeholder 9"/>
          <p:cNvSpPr>
            <a:spLocks noGrp="1"/>
          </p:cNvSpPr>
          <p:nvPr>
            <p:ph idx="11"/>
          </p:nvPr>
        </p:nvSpPr>
        <p:spPr>
          <a:xfrm>
            <a:off x="748057" y="2235999"/>
            <a:ext cx="4350891" cy="4173003"/>
          </a:xfrm>
        </p:spPr>
        <p:txBody>
          <a:bodyPr>
            <a:normAutofit/>
          </a:bodyPr>
          <a:lstStyle/>
          <a:p>
            <a:pPr>
              <a:lnSpc>
                <a:spcPct val="150000"/>
              </a:lnSpc>
              <a:buFont typeface="Arial" pitchFamily="34" charset="0"/>
              <a:buChar char="•"/>
            </a:pPr>
            <a:r>
              <a:rPr lang="zh-CN" altLang="en-US" sz="1800" dirty="0">
                <a:latin typeface="Arial" panose="020B0604020202020204" pitchFamily="34" charset="0"/>
                <a:ea typeface="微软雅黑" panose="020B0503020204020204" pitchFamily="34" charset="-122"/>
              </a:rPr>
              <a:t>网络的层次结构方法要解决的问题：</a:t>
            </a:r>
            <a:endParaRPr lang="en-US" altLang="zh-CN" sz="1800" dirty="0">
              <a:latin typeface="Arial" panose="020B0604020202020204" pitchFamily="34" charset="0"/>
              <a:ea typeface="微软雅黑" panose="020B0503020204020204" pitchFamily="34" charset="-122"/>
            </a:endParaRPr>
          </a:p>
          <a:p>
            <a:pPr lvl="1">
              <a:lnSpc>
                <a:spcPct val="150000"/>
              </a:lnSpc>
            </a:pPr>
            <a:r>
              <a:rPr lang="zh-CN" altLang="en-US" sz="1600" dirty="0">
                <a:latin typeface="Arial" panose="020B0604020202020204" pitchFamily="34" charset="0"/>
                <a:ea typeface="微软雅黑" panose="020B0503020204020204" pitchFamily="34" charset="-122"/>
              </a:rPr>
              <a:t>网络应该具有哪些层次？每一层的功能是什么？（</a:t>
            </a:r>
            <a:r>
              <a:rPr lang="zh-CN" altLang="en-US" sz="1600" dirty="0">
                <a:solidFill>
                  <a:srgbClr val="FF0000"/>
                </a:solidFill>
                <a:latin typeface="Arial" panose="020B0604020202020204" pitchFamily="34" charset="0"/>
                <a:ea typeface="微软雅黑" panose="020B0503020204020204" pitchFamily="34" charset="-122"/>
              </a:rPr>
              <a:t>分层与功能</a:t>
            </a:r>
            <a:r>
              <a:rPr lang="zh-CN" altLang="en-US" sz="1600" dirty="0">
                <a:latin typeface="Arial" panose="020B0604020202020204" pitchFamily="34" charset="0"/>
                <a:ea typeface="微软雅黑" panose="020B0503020204020204" pitchFamily="34" charset="-122"/>
              </a:rPr>
              <a:t>）</a:t>
            </a:r>
            <a:endParaRPr lang="en-US" altLang="zh-CN" sz="1600" dirty="0">
              <a:latin typeface="Arial" panose="020B0604020202020204" pitchFamily="34" charset="0"/>
              <a:ea typeface="微软雅黑" panose="020B0503020204020204" pitchFamily="34" charset="-122"/>
            </a:endParaRPr>
          </a:p>
          <a:p>
            <a:pPr lvl="1">
              <a:lnSpc>
                <a:spcPct val="150000"/>
              </a:lnSpc>
            </a:pPr>
            <a:r>
              <a:rPr lang="zh-CN" altLang="en-US" sz="1600" dirty="0">
                <a:latin typeface="Arial" panose="020B0604020202020204" pitchFamily="34" charset="0"/>
                <a:ea typeface="微软雅黑" panose="020B0503020204020204" pitchFamily="34" charset="-122"/>
              </a:rPr>
              <a:t>各层之间的关系是怎样的？它们如何进行交互？（</a:t>
            </a:r>
            <a:r>
              <a:rPr lang="zh-CN" altLang="en-US" sz="1600" dirty="0">
                <a:solidFill>
                  <a:srgbClr val="FF0000"/>
                </a:solidFill>
                <a:latin typeface="Arial" panose="020B0604020202020204" pitchFamily="34" charset="0"/>
                <a:ea typeface="微软雅黑" panose="020B0503020204020204" pitchFamily="34" charset="-122"/>
              </a:rPr>
              <a:t>服务与接口</a:t>
            </a:r>
            <a:r>
              <a:rPr lang="zh-CN" altLang="en-US" sz="1600" dirty="0">
                <a:latin typeface="Arial" panose="020B0604020202020204" pitchFamily="34" charset="0"/>
                <a:ea typeface="微软雅黑" panose="020B0503020204020204" pitchFamily="34" charset="-122"/>
              </a:rPr>
              <a:t>）</a:t>
            </a:r>
            <a:endParaRPr lang="en-US" altLang="zh-CN" sz="1600" dirty="0">
              <a:latin typeface="Arial" panose="020B0604020202020204" pitchFamily="34" charset="0"/>
              <a:ea typeface="微软雅黑" panose="020B0503020204020204" pitchFamily="34" charset="-122"/>
            </a:endParaRPr>
          </a:p>
          <a:p>
            <a:pPr lvl="1">
              <a:lnSpc>
                <a:spcPct val="150000"/>
              </a:lnSpc>
            </a:pPr>
            <a:r>
              <a:rPr lang="zh-CN" altLang="en-US" sz="1600" dirty="0">
                <a:latin typeface="Arial" panose="020B0604020202020204" pitchFamily="34" charset="0"/>
                <a:ea typeface="微软雅黑" panose="020B0503020204020204" pitchFamily="34" charset="-122"/>
              </a:rPr>
              <a:t>通信双方的数据传输要遵循哪些规则？（</a:t>
            </a:r>
            <a:r>
              <a:rPr lang="zh-CN" altLang="en-US" sz="1600" dirty="0">
                <a:solidFill>
                  <a:srgbClr val="FF0000"/>
                </a:solidFill>
                <a:latin typeface="Arial" panose="020B0604020202020204" pitchFamily="34" charset="0"/>
                <a:ea typeface="微软雅黑" panose="020B0503020204020204" pitchFamily="34" charset="-122"/>
              </a:rPr>
              <a:t>协议</a:t>
            </a:r>
            <a:r>
              <a:rPr lang="zh-CN" altLang="en-US" sz="1600" dirty="0">
                <a:latin typeface="Arial" panose="020B0604020202020204" pitchFamily="34" charset="0"/>
                <a:ea typeface="微软雅黑" panose="020B0503020204020204" pitchFamily="34" charset="-122"/>
              </a:rPr>
              <a:t>）</a:t>
            </a:r>
            <a:endParaRPr lang="en-US" altLang="zh-CN" sz="1600" dirty="0">
              <a:latin typeface="Arial" panose="020B0604020202020204" pitchFamily="34" charset="0"/>
              <a:ea typeface="微软雅黑" panose="020B0503020204020204" pitchFamily="34" charset="-122"/>
            </a:endParaRPr>
          </a:p>
        </p:txBody>
      </p:sp>
      <p:sp>
        <p:nvSpPr>
          <p:cNvPr id="2" name="矩形 1">
            <a:extLst>
              <a:ext uri="{FF2B5EF4-FFF2-40B4-BE49-F238E27FC236}">
                <a16:creationId xmlns:a16="http://schemas.microsoft.com/office/drawing/2014/main" id="{2B37CB9E-1088-4EBC-B699-C7CAF76A893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Protocol Layers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7" name="灯片编号占位符 4">
            <a:extLst>
              <a:ext uri="{FF2B5EF4-FFF2-40B4-BE49-F238E27FC236}">
                <a16:creationId xmlns:a16="http://schemas.microsoft.com/office/drawing/2014/main" id="{3A3766EB-C9D1-4528-95A4-D30B49B4F547}"/>
              </a:ext>
            </a:extLst>
          </p:cNvPr>
          <p:cNvSpPr txBox="1">
            <a:spLocks/>
          </p:cNvSpPr>
          <p:nvPr/>
        </p:nvSpPr>
        <p:spPr>
          <a:xfrm>
            <a:off x="10369549" y="6681788"/>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ormAutofit/>
          </a:bodyPr>
          <a:lstStyle>
            <a:lvl1pPr marL="228600" indent="-228600" algn="ctr" defTabSz="914400" rtl="0" eaLnBrk="1" latinLnBrk="0" hangingPunct="1">
              <a:lnSpc>
                <a:spcPct val="90000"/>
              </a:lnSpc>
              <a:spcBef>
                <a:spcPct val="20000"/>
              </a:spcBef>
              <a:buClr>
                <a:schemeClr val="accent2"/>
              </a:buClr>
              <a:buFont typeface="Arial" pitchFamily="34" charset="0"/>
              <a:buNone/>
              <a:defRPr sz="2400" kern="1200">
                <a:solidFill>
                  <a:schemeClr val="tx1"/>
                </a:solidFill>
                <a:latin typeface="Times New Roman" panose="02020603050405020304" pitchFamily="18" charset="0"/>
                <a:ea typeface="+mn-ea"/>
                <a:cs typeface="+mn-cs"/>
              </a:defRPr>
            </a:lvl1pPr>
            <a:lvl2pPr marL="742950" indent="-285750" algn="l" defTabSz="914400" rtl="0" eaLnBrk="1" latinLnBrk="0" hangingPunct="1">
              <a:lnSpc>
                <a:spcPct val="90000"/>
              </a:lnSpc>
              <a:spcBef>
                <a:spcPct val="20000"/>
              </a:spcBef>
              <a:buClr>
                <a:schemeClr val="accent2"/>
              </a:buClr>
              <a:buFont typeface="Arial" panose="020B0604020202020204" pitchFamily="34" charset="0"/>
              <a:buChar char="–"/>
              <a:defRPr sz="28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ct val="20000"/>
              </a:spcBef>
              <a:buClr>
                <a:schemeClr val="accent2"/>
              </a:buClr>
              <a:buFont typeface="Arial" panose="020B0604020202020204" pitchFamily="34" charset="0"/>
              <a:buChar char="•"/>
              <a:defRPr sz="24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ct val="20000"/>
              </a:spcBef>
              <a:buClr>
                <a:schemeClr val="accent2"/>
              </a:buClr>
              <a:buFont typeface="Arial" panose="020B0604020202020204" pitchFamily="34" charset="0"/>
              <a:buChar char="–"/>
              <a:defRPr sz="20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ct val="20000"/>
              </a:spcBef>
              <a:buClr>
                <a:schemeClr val="accent2"/>
              </a:buClr>
              <a:buFont typeface="Arial" panose="020B0604020202020204" pitchFamily="34" charset="0"/>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lnSpc>
                <a:spcPct val="90000"/>
              </a:lnSpc>
              <a:spcBef>
                <a:spcPct val="20000"/>
              </a:spcBef>
              <a:spcAft>
                <a:spcPct val="0"/>
              </a:spcAft>
              <a:buClr>
                <a:schemeClr val="accent2"/>
              </a:buClr>
              <a:buFont typeface="Arial" panose="020B0604020202020204" pitchFamily="34" charset="0"/>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lnSpc>
                <a:spcPct val="90000"/>
              </a:lnSpc>
              <a:spcBef>
                <a:spcPct val="20000"/>
              </a:spcBef>
              <a:spcAft>
                <a:spcPct val="0"/>
              </a:spcAft>
              <a:buClr>
                <a:schemeClr val="accent2"/>
              </a:buClr>
              <a:buFont typeface="Arial" panose="020B0604020202020204" pitchFamily="34" charset="0"/>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lnSpc>
                <a:spcPct val="90000"/>
              </a:lnSpc>
              <a:spcBef>
                <a:spcPct val="20000"/>
              </a:spcBef>
              <a:spcAft>
                <a:spcPct val="0"/>
              </a:spcAft>
              <a:buClr>
                <a:schemeClr val="accent2"/>
              </a:buClr>
              <a:buFont typeface="Arial" panose="020B0604020202020204" pitchFamily="34" charset="0"/>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lnSpc>
                <a:spcPct val="90000"/>
              </a:lnSpc>
              <a:spcBef>
                <a:spcPct val="20000"/>
              </a:spcBef>
              <a:spcAft>
                <a:spcPct val="0"/>
              </a:spcAft>
              <a:buClr>
                <a:schemeClr val="accent2"/>
              </a:buClr>
              <a:buFont typeface="Arial" panose="020B0604020202020204" pitchFamily="34" charset="0"/>
              <a:buChar char="»"/>
              <a:defRPr sz="2000" kern="1200">
                <a:solidFill>
                  <a:schemeClr val="tx1"/>
                </a:solidFill>
                <a:latin typeface="Times New Roman" panose="02020603050405020304" pitchFamily="18" charset="0"/>
                <a:ea typeface="+mn-ea"/>
                <a:cs typeface="+mn-cs"/>
              </a:defRPr>
            </a:lvl9pPr>
          </a:lstStyle>
          <a:p>
            <a:pPr algn="r">
              <a:spcBef>
                <a:spcPct val="0"/>
              </a:spcBef>
              <a:buClrTx/>
            </a:pPr>
            <a:fld id="{578FCC0A-9722-41D0-B9A4-BC73670B2289}" type="slidenum">
              <a:rPr lang="zh-CN" altLang="en-US" sz="1100" smtClean="0"/>
              <a:pPr algn="r">
                <a:spcBef>
                  <a:spcPct val="0"/>
                </a:spcBef>
                <a:buClrTx/>
              </a:pPr>
              <a:t>54</a:t>
            </a:fld>
            <a:endParaRPr lang="en-US" altLang="zh-CN" sz="1100" dirty="0"/>
          </a:p>
        </p:txBody>
      </p:sp>
      <p:pic>
        <p:nvPicPr>
          <p:cNvPr id="8" name="Picture 4" descr="1-13">
            <a:extLst>
              <a:ext uri="{FF2B5EF4-FFF2-40B4-BE49-F238E27FC236}">
                <a16:creationId xmlns:a16="http://schemas.microsoft.com/office/drawing/2014/main" id="{66B6835E-D2F7-4483-B98E-9D57B67CB3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8762" y="1727201"/>
            <a:ext cx="4879975" cy="422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utoShape 1029">
            <a:extLst>
              <a:ext uri="{FF2B5EF4-FFF2-40B4-BE49-F238E27FC236}">
                <a16:creationId xmlns:a16="http://schemas.microsoft.com/office/drawing/2014/main" id="{A8815778-F139-4CEB-9B04-876DB634D5D0}"/>
              </a:ext>
            </a:extLst>
          </p:cNvPr>
          <p:cNvSpPr>
            <a:spLocks noChangeArrowheads="1"/>
          </p:cNvSpPr>
          <p:nvPr/>
        </p:nvSpPr>
        <p:spPr bwMode="auto">
          <a:xfrm>
            <a:off x="10458550" y="2349500"/>
            <a:ext cx="1458120" cy="862414"/>
          </a:xfrm>
          <a:prstGeom prst="wedgeRectCallout">
            <a:avLst>
              <a:gd name="adj1" fmla="val -66810"/>
              <a:gd name="adj2" fmla="val 68880"/>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algn="ctr">
              <a:spcBef>
                <a:spcPct val="20000"/>
              </a:spcBef>
              <a:buClr>
                <a:schemeClr val="accent2"/>
              </a:buCl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eaLnBrk="1" hangingPunct="1">
              <a:spcBef>
                <a:spcPct val="0"/>
              </a:spcBef>
              <a:buClrTx/>
            </a:pPr>
            <a:r>
              <a:rPr lang="en-US" altLang="zh-CN" sz="1400" dirty="0">
                <a:latin typeface="Arial" panose="020B0604020202020204" pitchFamily="34" charset="0"/>
                <a:ea typeface="宋体" panose="02010600030101010101" pitchFamily="2" charset="-122"/>
              </a:rPr>
              <a:t>offering certain services to the layer above it.</a:t>
            </a:r>
            <a:endParaRPr lang="zh-CN" altLang="en-US" sz="1400" dirty="0">
              <a:latin typeface="Arial" panose="020B0604020202020204" pitchFamily="34" charset="0"/>
              <a:ea typeface="宋体" panose="02010600030101010101" pitchFamily="2" charset="-122"/>
            </a:endParaRPr>
          </a:p>
        </p:txBody>
      </p:sp>
      <p:sp>
        <p:nvSpPr>
          <p:cNvPr id="10" name="AutoShape 1031">
            <a:extLst>
              <a:ext uri="{FF2B5EF4-FFF2-40B4-BE49-F238E27FC236}">
                <a16:creationId xmlns:a16="http://schemas.microsoft.com/office/drawing/2014/main" id="{52A2614D-C5F0-4F0C-98D8-20845683B0D3}"/>
              </a:ext>
            </a:extLst>
          </p:cNvPr>
          <p:cNvSpPr>
            <a:spLocks/>
          </p:cNvSpPr>
          <p:nvPr/>
        </p:nvSpPr>
        <p:spPr bwMode="auto">
          <a:xfrm>
            <a:off x="10339387" y="5243513"/>
            <a:ext cx="1678924" cy="1392237"/>
          </a:xfrm>
          <a:prstGeom prst="borderCallout2">
            <a:avLst>
              <a:gd name="adj1" fmla="val 6287"/>
              <a:gd name="adj2" fmla="val -3926"/>
              <a:gd name="adj3" fmla="val 6287"/>
              <a:gd name="adj4" fmla="val -39032"/>
              <a:gd name="adj5" fmla="val -10741"/>
              <a:gd name="adj6" fmla="val -75449"/>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algn="ctr">
              <a:spcBef>
                <a:spcPct val="20000"/>
              </a:spcBef>
              <a:buClr>
                <a:schemeClr val="accent2"/>
              </a:buCl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eaLnBrk="1" hangingPunct="1">
              <a:spcBef>
                <a:spcPct val="0"/>
              </a:spcBef>
              <a:buClrTx/>
            </a:pPr>
            <a:r>
              <a:rPr lang="en-US" altLang="zh-CN" sz="1400" dirty="0">
                <a:latin typeface="Arial" panose="020B0604020202020204" pitchFamily="34" charset="0"/>
                <a:ea typeface="宋体" panose="02010600030101010101" pitchFamily="2" charset="-122"/>
              </a:rPr>
              <a:t>an agreement between the communicating parties on how communication is to proceed.</a:t>
            </a:r>
            <a:endParaRPr lang="zh-CN" altLang="en-US" sz="1400" dirty="0">
              <a:latin typeface="Arial" panose="020B0604020202020204" pitchFamily="34" charset="0"/>
              <a:ea typeface="宋体" panose="02010600030101010101" pitchFamily="2" charset="-122"/>
            </a:endParaRPr>
          </a:p>
          <a:p>
            <a:pPr eaLnBrk="1" hangingPunct="1">
              <a:spcBef>
                <a:spcPct val="0"/>
              </a:spcBef>
              <a:buClrTx/>
            </a:pPr>
            <a:endParaRPr lang="zh-CN" altLang="en-US" sz="1400" dirty="0">
              <a:latin typeface="Arial" panose="020B0604020202020204" pitchFamily="34" charset="0"/>
              <a:ea typeface="宋体" panose="02010600030101010101" pitchFamily="2" charset="-122"/>
            </a:endParaRPr>
          </a:p>
        </p:txBody>
      </p:sp>
      <p:sp>
        <p:nvSpPr>
          <p:cNvPr id="11" name="AutoShape 1032">
            <a:extLst>
              <a:ext uri="{FF2B5EF4-FFF2-40B4-BE49-F238E27FC236}">
                <a16:creationId xmlns:a16="http://schemas.microsoft.com/office/drawing/2014/main" id="{4B3832D0-9635-4395-BB21-B1EF69706536}"/>
              </a:ext>
            </a:extLst>
          </p:cNvPr>
          <p:cNvSpPr>
            <a:spLocks noChangeArrowheads="1"/>
          </p:cNvSpPr>
          <p:nvPr/>
        </p:nvSpPr>
        <p:spPr bwMode="auto">
          <a:xfrm>
            <a:off x="4471988" y="4918076"/>
            <a:ext cx="1678924" cy="1438274"/>
          </a:xfrm>
          <a:prstGeom prst="wedgeRoundRectCallout">
            <a:avLst>
              <a:gd name="adj1" fmla="val 59981"/>
              <a:gd name="adj2" fmla="val -56806"/>
              <a:gd name="adj3" fmla="val 16667"/>
            </a:avLst>
          </a:prstGeom>
          <a:solidFill>
            <a:srgbClr val="DED4B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a:lstStyle>
            <a:lvl1pPr algn="ctr">
              <a:spcBef>
                <a:spcPct val="20000"/>
              </a:spcBef>
              <a:buClr>
                <a:schemeClr val="accent2"/>
              </a:buCl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eaLnBrk="1" hangingPunct="1">
              <a:spcBef>
                <a:spcPct val="0"/>
              </a:spcBef>
              <a:buClrTx/>
            </a:pPr>
            <a:r>
              <a:rPr lang="en-US" altLang="zh-CN" sz="1400" dirty="0">
                <a:latin typeface="Arial" panose="020B0604020202020204" pitchFamily="34" charset="0"/>
                <a:ea typeface="宋体" panose="02010600030101010101" pitchFamily="2" charset="-122"/>
              </a:rPr>
              <a:t>Defines which primitive operations and services the lower layer makes available to the upper one.</a:t>
            </a:r>
            <a:endParaRPr lang="zh-CN" altLang="en-US" sz="1400" dirty="0">
              <a:latin typeface="Arial" panose="020B0604020202020204" pitchFamily="34" charset="0"/>
              <a:ea typeface="宋体" panose="02010600030101010101" pitchFamily="2" charset="-122"/>
            </a:endParaRPr>
          </a:p>
        </p:txBody>
      </p:sp>
      <p:sp>
        <p:nvSpPr>
          <p:cNvPr id="12" name="AutoShape 1034">
            <a:extLst>
              <a:ext uri="{FF2B5EF4-FFF2-40B4-BE49-F238E27FC236}">
                <a16:creationId xmlns:a16="http://schemas.microsoft.com/office/drawing/2014/main" id="{846B9A10-5BD7-48AD-9C62-686869BCFE31}"/>
              </a:ext>
            </a:extLst>
          </p:cNvPr>
          <p:cNvSpPr>
            <a:spLocks noChangeArrowheads="1"/>
          </p:cNvSpPr>
          <p:nvPr/>
        </p:nvSpPr>
        <p:spPr bwMode="auto">
          <a:xfrm>
            <a:off x="10495857" y="3699909"/>
            <a:ext cx="1420813" cy="1055608"/>
          </a:xfrm>
          <a:prstGeom prst="flowChartAlternateProcess">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nchor="ctr">
            <a:spAutoFit/>
          </a:bodyPr>
          <a:lstStyle>
            <a:lvl1pPr algn="ctr">
              <a:spcBef>
                <a:spcPct val="20000"/>
              </a:spcBef>
              <a:buClr>
                <a:schemeClr val="accent2"/>
              </a:buCl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eaLnBrk="1" hangingPunct="1">
              <a:spcBef>
                <a:spcPct val="0"/>
              </a:spcBef>
              <a:buClrTx/>
            </a:pPr>
            <a:r>
              <a:rPr lang="en-US" altLang="zh-CN" sz="1400" dirty="0">
                <a:latin typeface="Arial" panose="020B0604020202020204" pitchFamily="34" charset="0"/>
                <a:ea typeface="宋体" panose="02010600030101010101" pitchFamily="2" charset="-122"/>
              </a:rPr>
              <a:t>Network Architecture: a set of layers and protocols.</a:t>
            </a:r>
            <a:endParaRPr lang="zh-CN" altLang="en-US" sz="1400" dirty="0">
              <a:latin typeface="Arial" panose="020B0604020202020204" pitchFamily="34" charset="0"/>
              <a:ea typeface="宋体" panose="02010600030101010101" pitchFamily="2" charset="-122"/>
            </a:endParaRPr>
          </a:p>
        </p:txBody>
      </p:sp>
      <p:sp>
        <p:nvSpPr>
          <p:cNvPr id="13" name="Rectangle 3">
            <a:extLst>
              <a:ext uri="{FF2B5EF4-FFF2-40B4-BE49-F238E27FC236}">
                <a16:creationId xmlns:a16="http://schemas.microsoft.com/office/drawing/2014/main" id="{F49245D1-1090-4D44-B8CE-B2901E1F1ACB}"/>
              </a:ext>
            </a:extLst>
          </p:cNvPr>
          <p:cNvSpPr txBox="1">
            <a:spLocks noChangeArrowheads="1"/>
          </p:cNvSpPr>
          <p:nvPr/>
        </p:nvSpPr>
        <p:spPr>
          <a:xfrm>
            <a:off x="6657975" y="6119812"/>
            <a:ext cx="3476625" cy="5159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00FF"/>
              </a:buClr>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800">
                <a:ea typeface="宋体" panose="02010600030101010101" pitchFamily="2" charset="-122"/>
              </a:rPr>
              <a:t>Layers, protocols, and interfaces.</a:t>
            </a:r>
            <a:endParaRPr lang="en-US" altLang="zh-CN" sz="1800" dirty="0">
              <a:ea typeface="宋体" panose="02010600030101010101" pitchFamily="2" charset="-122"/>
            </a:endParaRPr>
          </a:p>
        </p:txBody>
      </p:sp>
    </p:spTree>
    <p:extLst>
      <p:ext uri="{BB962C8B-B14F-4D97-AF65-F5344CB8AC3E}">
        <p14:creationId xmlns:p14="http://schemas.microsoft.com/office/powerpoint/2010/main" val="31318880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741363" y="1052555"/>
            <a:ext cx="10515600" cy="1218911"/>
          </a:xfrm>
        </p:spPr>
        <p:txBody>
          <a:bodyPr/>
          <a:lstStyle/>
          <a:p>
            <a:r>
              <a:rPr lang="en-US" altLang="zh-CN" dirty="0">
                <a:ea typeface="宋体" panose="02010600030101010101" pitchFamily="2" charset="-122"/>
              </a:rPr>
              <a:t>Example: the philosopher-translator-secretary architecture</a:t>
            </a:r>
          </a:p>
          <a:p>
            <a:r>
              <a:rPr lang="en-US" altLang="zh-CN" dirty="0">
                <a:ea typeface="宋体" panose="02010600030101010101" pitchFamily="2" charset="-122"/>
              </a:rPr>
              <a:t>Each protocol at different layers serves a different purpose</a:t>
            </a:r>
          </a:p>
        </p:txBody>
      </p:sp>
      <p:sp>
        <p:nvSpPr>
          <p:cNvPr id="11268"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pic>
        <p:nvPicPr>
          <p:cNvPr id="1126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8713" y="2190750"/>
            <a:ext cx="46609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Text Box 4"/>
          <p:cNvSpPr txBox="1">
            <a:spLocks noChangeArrowheads="1"/>
          </p:cNvSpPr>
          <p:nvPr/>
        </p:nvSpPr>
        <p:spPr bwMode="auto">
          <a:xfrm>
            <a:off x="8329614" y="3576639"/>
            <a:ext cx="233838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kumimoji="1" lang="en-US" altLang="zh-TW" sz="2000" dirty="0">
                <a:solidFill>
                  <a:srgbClr val="0000FF"/>
                </a:solidFill>
                <a:latin typeface="Calibri" panose="020F0502020204030204" pitchFamily="34" charset="0"/>
                <a:ea typeface="新細明體"/>
                <a:cs typeface="新細明體"/>
              </a:rPr>
              <a:t>The common Dutch</a:t>
            </a:r>
          </a:p>
          <a:p>
            <a:pPr eaLnBrk="1" hangingPunct="1">
              <a:spcBef>
                <a:spcPct val="0"/>
              </a:spcBef>
              <a:buClrTx/>
              <a:buFontTx/>
              <a:buNone/>
            </a:pPr>
            <a:r>
              <a:rPr kumimoji="1" lang="en-US" altLang="zh-TW" sz="2000" dirty="0">
                <a:solidFill>
                  <a:srgbClr val="0000FF"/>
                </a:solidFill>
                <a:latin typeface="Calibri" panose="020F0502020204030204" pitchFamily="34" charset="0"/>
                <a:ea typeface="新細明體"/>
                <a:cs typeface="新細明體"/>
              </a:rPr>
              <a:t>can be replaced with another</a:t>
            </a:r>
            <a:r>
              <a:rPr kumimoji="1" lang="en-US" altLang="zh-CN" sz="2000" dirty="0">
                <a:solidFill>
                  <a:srgbClr val="0000FF"/>
                </a:solidFill>
                <a:latin typeface="Calibri" panose="020F0502020204030204" pitchFamily="34" charset="0"/>
                <a:ea typeface="新細明體"/>
                <a:cs typeface="新細明體"/>
              </a:rPr>
              <a:t> language</a:t>
            </a:r>
            <a:r>
              <a:rPr kumimoji="1" lang="en-US" altLang="zh-TW" sz="2000" dirty="0">
                <a:solidFill>
                  <a:srgbClr val="0000FF"/>
                </a:solidFill>
                <a:latin typeface="Calibri" panose="020F0502020204030204" pitchFamily="34" charset="0"/>
                <a:ea typeface="新細明體"/>
                <a:cs typeface="新細明體"/>
              </a:rPr>
              <a:t>.</a:t>
            </a:r>
          </a:p>
        </p:txBody>
      </p:sp>
      <p:sp>
        <p:nvSpPr>
          <p:cNvPr id="11271" name="Text Box 5"/>
          <p:cNvSpPr txBox="1">
            <a:spLocks noChangeArrowheads="1"/>
          </p:cNvSpPr>
          <p:nvPr/>
        </p:nvSpPr>
        <p:spPr bwMode="auto">
          <a:xfrm>
            <a:off x="8404226" y="5208589"/>
            <a:ext cx="21891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kumimoji="1" lang="en-US" altLang="zh-TW" sz="2000">
                <a:solidFill>
                  <a:srgbClr val="0000FF"/>
                </a:solidFill>
                <a:latin typeface="Calibri" panose="020F0502020204030204" pitchFamily="34" charset="0"/>
                <a:ea typeface="新細明體"/>
                <a:cs typeface="新細明體"/>
              </a:rPr>
              <a:t>Email can be used</a:t>
            </a:r>
          </a:p>
          <a:p>
            <a:pPr eaLnBrk="1" hangingPunct="1">
              <a:spcBef>
                <a:spcPct val="0"/>
              </a:spcBef>
              <a:buClrTx/>
              <a:buFontTx/>
              <a:buNone/>
            </a:pPr>
            <a:r>
              <a:rPr kumimoji="1" lang="en-US" altLang="zh-TW" sz="2000">
                <a:solidFill>
                  <a:srgbClr val="0000FF"/>
                </a:solidFill>
                <a:latin typeface="Calibri" panose="020F0502020204030204" pitchFamily="34" charset="0"/>
                <a:ea typeface="新細明體"/>
                <a:cs typeface="新細明體"/>
              </a:rPr>
              <a:t>instead of fax.</a:t>
            </a:r>
          </a:p>
        </p:txBody>
      </p:sp>
      <p:sp>
        <p:nvSpPr>
          <p:cNvPr id="2" name="矩形 1">
            <a:extLst>
              <a:ext uri="{FF2B5EF4-FFF2-40B4-BE49-F238E27FC236}">
                <a16:creationId xmlns:a16="http://schemas.microsoft.com/office/drawing/2014/main" id="{3D0A5AF5-422B-40DE-A20E-4A894C7850F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Protocol Layers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743085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710190" y="1074499"/>
            <a:ext cx="10515600" cy="2253690"/>
          </a:xfrm>
        </p:spPr>
        <p:txBody>
          <a:bodyPr>
            <a:normAutofit fontScale="92500" lnSpcReduction="10000"/>
          </a:bodyPr>
          <a:lstStyle/>
          <a:p>
            <a:r>
              <a:rPr lang="zh-CN" altLang="en-US" sz="2000" dirty="0">
                <a:latin typeface="微软雅黑" panose="020B0503020204020204" pitchFamily="34" charset="-122"/>
                <a:ea typeface="微软雅黑" panose="020B0503020204020204" pitchFamily="34" charset="-122"/>
              </a:rPr>
              <a:t>层次化方法在其他领域的应用：邮政特快专递模型</a:t>
            </a:r>
          </a:p>
          <a:p>
            <a:r>
              <a:rPr lang="zh-CN" altLang="en-US" sz="2000" dirty="0">
                <a:latin typeface="微软雅黑" panose="020B0503020204020204" pitchFamily="34" charset="-122"/>
                <a:ea typeface="微软雅黑" panose="020B0503020204020204" pitchFamily="34" charset="-122"/>
              </a:rPr>
              <a:t>分层的好处：</a:t>
            </a:r>
            <a:endParaRPr lang="en-US" altLang="zh-CN" sz="2000" dirty="0">
              <a:latin typeface="微软雅黑" panose="020B0503020204020204" pitchFamily="34" charset="-122"/>
              <a:ea typeface="微软雅黑" panose="020B0503020204020204" pitchFamily="34" charset="-122"/>
            </a:endParaRPr>
          </a:p>
          <a:p>
            <a:pPr lvl="1"/>
            <a:r>
              <a:rPr lang="zh-CN" altLang="en-US" sz="1900" dirty="0">
                <a:latin typeface="微软雅黑" panose="020B0503020204020204" pitchFamily="34" charset="-122"/>
                <a:ea typeface="微软雅黑" panose="020B0503020204020204" pitchFamily="34" charset="-122"/>
              </a:rPr>
              <a:t>每一层不需要知道下一层是如何实现的，只需知道层间的接口和所提供的服务</a:t>
            </a:r>
            <a:endParaRPr lang="en-US" altLang="zh-CN" sz="1900" dirty="0">
              <a:latin typeface="微软雅黑" panose="020B0503020204020204" pitchFamily="34" charset="-122"/>
              <a:ea typeface="微软雅黑" panose="020B0503020204020204" pitchFamily="34" charset="-122"/>
            </a:endParaRPr>
          </a:p>
          <a:p>
            <a:pPr lvl="1"/>
            <a:r>
              <a:rPr lang="zh-CN" altLang="en-US" sz="1900" dirty="0">
                <a:latin typeface="微软雅黑" panose="020B0503020204020204" pitchFamily="34" charset="-122"/>
                <a:ea typeface="微软雅黑" panose="020B0503020204020204" pitchFamily="34" charset="-122"/>
              </a:rPr>
              <a:t>当某一层协议发生改变时不影响上下层协议；</a:t>
            </a:r>
            <a:endParaRPr lang="en-US" altLang="zh-CN" sz="1900" dirty="0">
              <a:latin typeface="微软雅黑" panose="020B0503020204020204" pitchFamily="34" charset="-122"/>
              <a:ea typeface="微软雅黑" panose="020B0503020204020204" pitchFamily="34" charset="-122"/>
            </a:endParaRPr>
          </a:p>
          <a:p>
            <a:pPr lvl="1"/>
            <a:r>
              <a:rPr lang="zh-CN" altLang="en-US" sz="1900" dirty="0">
                <a:latin typeface="微软雅黑" panose="020B0503020204020204" pitchFamily="34" charset="-122"/>
                <a:ea typeface="微软雅黑" panose="020B0503020204020204" pitchFamily="34" charset="-122"/>
              </a:rPr>
              <a:t>结构上分开，各层可采用最合适的技术；</a:t>
            </a:r>
            <a:endParaRPr lang="en-US" altLang="zh-CN" sz="1900" dirty="0">
              <a:latin typeface="微软雅黑" panose="020B0503020204020204" pitchFamily="34" charset="-122"/>
              <a:ea typeface="微软雅黑" panose="020B0503020204020204" pitchFamily="34" charset="-122"/>
            </a:endParaRPr>
          </a:p>
          <a:p>
            <a:pPr lvl="1"/>
            <a:r>
              <a:rPr lang="zh-CN" altLang="en-US" sz="1900" dirty="0">
                <a:latin typeface="微软雅黑" panose="020B0503020204020204" pitchFamily="34" charset="-122"/>
                <a:ea typeface="微软雅黑" panose="020B0503020204020204" pitchFamily="34" charset="-122"/>
              </a:rPr>
              <a:t>易于实现和维护；</a:t>
            </a:r>
            <a:endParaRPr lang="en-US" altLang="zh-CN" sz="1900" dirty="0">
              <a:latin typeface="微软雅黑" panose="020B0503020204020204" pitchFamily="34" charset="-122"/>
              <a:ea typeface="微软雅黑" panose="020B0503020204020204" pitchFamily="34" charset="-122"/>
            </a:endParaRPr>
          </a:p>
          <a:p>
            <a:pPr lvl="1"/>
            <a:r>
              <a:rPr lang="zh-CN" altLang="en-US" sz="1900" dirty="0">
                <a:latin typeface="微软雅黑" panose="020B0503020204020204" pitchFamily="34" charset="-122"/>
                <a:ea typeface="微软雅黑" panose="020B0503020204020204" pitchFamily="34" charset="-122"/>
              </a:rPr>
              <a:t>促进标准化</a:t>
            </a:r>
            <a:endParaRPr lang="en-US" altLang="zh-CN" sz="1900" dirty="0">
              <a:latin typeface="微软雅黑" panose="020B0503020204020204" pitchFamily="34" charset="-122"/>
              <a:ea typeface="微软雅黑" panose="020B0503020204020204" pitchFamily="34" charset="-122"/>
            </a:endParaRPr>
          </a:p>
        </p:txBody>
      </p:sp>
      <p:sp>
        <p:nvSpPr>
          <p:cNvPr id="11268"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sp>
        <p:nvSpPr>
          <p:cNvPr id="2" name="矩形 1">
            <a:extLst>
              <a:ext uri="{FF2B5EF4-FFF2-40B4-BE49-F238E27FC236}">
                <a16:creationId xmlns:a16="http://schemas.microsoft.com/office/drawing/2014/main" id="{3D0A5AF5-422B-40DE-A20E-4A894C7850F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Protocol Layers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FE2D2509-2FE3-4725-9F87-08C65AB97F4D}"/>
              </a:ext>
            </a:extLst>
          </p:cNvPr>
          <p:cNvPicPr>
            <a:picLocks noChangeAspect="1"/>
          </p:cNvPicPr>
          <p:nvPr/>
        </p:nvPicPr>
        <p:blipFill>
          <a:blip r:embed="rId2"/>
          <a:stretch>
            <a:fillRect/>
          </a:stretch>
        </p:blipFill>
        <p:spPr>
          <a:xfrm>
            <a:off x="2510855" y="3174219"/>
            <a:ext cx="6353851" cy="3136924"/>
          </a:xfrm>
          <a:prstGeom prst="rect">
            <a:avLst/>
          </a:prstGeom>
        </p:spPr>
      </p:pic>
    </p:spTree>
    <p:extLst>
      <p:ext uri="{BB962C8B-B14F-4D97-AF65-F5344CB8AC3E}">
        <p14:creationId xmlns:p14="http://schemas.microsoft.com/office/powerpoint/2010/main" val="27296082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a:xfrm>
            <a:off x="526906" y="1046748"/>
            <a:ext cx="10976263" cy="1089743"/>
          </a:xfrm>
        </p:spPr>
        <p:txBody>
          <a:bodyPr>
            <a:normAutofit fontScale="85000" lnSpcReduction="20000"/>
          </a:bodyPr>
          <a:lstStyle/>
          <a:p>
            <a:r>
              <a:rPr lang="en-US" altLang="zh-CN" dirty="0">
                <a:ea typeface="宋体" panose="02010600030101010101" pitchFamily="2" charset="-122"/>
              </a:rPr>
              <a:t>Each lower layer adds its own </a:t>
            </a:r>
            <a:r>
              <a:rPr lang="en-US" altLang="zh-CN" u="sng" dirty="0">
                <a:ea typeface="宋体" panose="02010600030101010101" pitchFamily="2" charset="-122"/>
              </a:rPr>
              <a:t>header</a:t>
            </a:r>
            <a:r>
              <a:rPr lang="en-US" altLang="zh-CN" dirty="0">
                <a:ea typeface="宋体" panose="02010600030101010101" pitchFamily="2" charset="-122"/>
              </a:rPr>
              <a:t> (with control information) to the message to transmit and removes it on receive</a:t>
            </a:r>
          </a:p>
          <a:p>
            <a:r>
              <a:rPr lang="en-US" altLang="zh-CN" dirty="0"/>
              <a:t>Layers may also split and join messages, etc.</a:t>
            </a:r>
          </a:p>
          <a:p>
            <a:endParaRPr lang="en-US" altLang="zh-CN" dirty="0">
              <a:ea typeface="宋体" panose="02010600030101010101" pitchFamily="2" charset="-122"/>
            </a:endParaRPr>
          </a:p>
        </p:txBody>
      </p:sp>
      <p:sp>
        <p:nvSpPr>
          <p:cNvPr id="12292"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pic>
        <p:nvPicPr>
          <p:cNvPr id="1229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6760" y="2261756"/>
            <a:ext cx="5886450"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AutoShape 7"/>
          <p:cNvSpPr>
            <a:spLocks noChangeArrowheads="1"/>
          </p:cNvSpPr>
          <p:nvPr/>
        </p:nvSpPr>
        <p:spPr bwMode="auto">
          <a:xfrm>
            <a:off x="8255000" y="2385583"/>
            <a:ext cx="2332038" cy="638175"/>
          </a:xfrm>
          <a:prstGeom prst="wedgeRectCallout">
            <a:avLst>
              <a:gd name="adj1" fmla="val -111833"/>
              <a:gd name="adj2" fmla="val 6493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zh-CN" altLang="en-US" sz="1800" b="1" dirty="0">
                <a:solidFill>
                  <a:schemeClr val="bg1"/>
                </a:solidFill>
                <a:latin typeface="黑体" panose="02010609060101010101" pitchFamily="49" charset="-122"/>
                <a:ea typeface="黑体" panose="02010609060101010101" pitchFamily="49" charset="-122"/>
              </a:rPr>
              <a:t>水平通信</a:t>
            </a:r>
            <a:r>
              <a:rPr lang="en-US" altLang="zh-CN" sz="1800" b="1" dirty="0">
                <a:solidFill>
                  <a:schemeClr val="bg1"/>
                </a:solidFill>
                <a:latin typeface="黑体" panose="02010609060101010101" pitchFamily="49" charset="-122"/>
                <a:ea typeface="黑体" panose="02010609060101010101" pitchFamily="49" charset="-122"/>
              </a:rPr>
              <a:t>/</a:t>
            </a:r>
            <a:r>
              <a:rPr lang="zh-CN" altLang="en-US" sz="1800" b="1" dirty="0">
                <a:solidFill>
                  <a:schemeClr val="bg1"/>
                </a:solidFill>
                <a:latin typeface="黑体" panose="02010609060101010101" pitchFamily="49" charset="-122"/>
                <a:ea typeface="黑体" panose="02010609060101010101" pitchFamily="49" charset="-122"/>
              </a:rPr>
              <a:t>虚拟通信：对等实体进行的通信</a:t>
            </a:r>
          </a:p>
        </p:txBody>
      </p:sp>
      <p:sp>
        <p:nvSpPr>
          <p:cNvPr id="8" name="AutoShape 7"/>
          <p:cNvSpPr>
            <a:spLocks noChangeArrowheads="1"/>
          </p:cNvSpPr>
          <p:nvPr/>
        </p:nvSpPr>
        <p:spPr bwMode="auto">
          <a:xfrm>
            <a:off x="8861056" y="3970906"/>
            <a:ext cx="2332038" cy="636587"/>
          </a:xfrm>
          <a:prstGeom prst="wedgeRectCallout">
            <a:avLst>
              <a:gd name="adj1" fmla="val -63694"/>
              <a:gd name="adj2" fmla="val -1496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zh-CN" altLang="en-US" sz="1800" b="1" dirty="0">
                <a:solidFill>
                  <a:schemeClr val="bg1"/>
                </a:solidFill>
                <a:latin typeface="黑体" panose="02010609060101010101" pitchFamily="49" charset="-122"/>
                <a:ea typeface="黑体" panose="02010609060101010101" pitchFamily="49" charset="-122"/>
              </a:rPr>
              <a:t>垂直通信</a:t>
            </a:r>
            <a:r>
              <a:rPr lang="en-US" altLang="zh-CN" sz="1800" b="1" dirty="0">
                <a:solidFill>
                  <a:schemeClr val="bg1"/>
                </a:solidFill>
                <a:latin typeface="黑体" panose="02010609060101010101" pitchFamily="49" charset="-122"/>
                <a:ea typeface="黑体" panose="02010609060101010101" pitchFamily="49" charset="-122"/>
              </a:rPr>
              <a:t>/</a:t>
            </a:r>
            <a:r>
              <a:rPr lang="zh-CN" altLang="en-US" sz="1800" b="1" dirty="0">
                <a:solidFill>
                  <a:schemeClr val="bg1"/>
                </a:solidFill>
                <a:latin typeface="黑体" panose="02010609060101010101" pitchFamily="49" charset="-122"/>
                <a:ea typeface="黑体" panose="02010609060101010101" pitchFamily="49" charset="-122"/>
              </a:rPr>
              <a:t>实际通信：相邻层进行的通信</a:t>
            </a:r>
          </a:p>
        </p:txBody>
      </p:sp>
      <p:sp>
        <p:nvSpPr>
          <p:cNvPr id="12296" name="矩形 1"/>
          <p:cNvSpPr>
            <a:spLocks noChangeArrowheads="1"/>
          </p:cNvSpPr>
          <p:nvPr/>
        </p:nvSpPr>
        <p:spPr bwMode="auto">
          <a:xfrm>
            <a:off x="195847" y="4843462"/>
            <a:ext cx="30209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600" dirty="0">
                <a:solidFill>
                  <a:srgbClr val="0000FF"/>
                </a:solidFill>
                <a:ea typeface="宋体" panose="02010600030101010101" pitchFamily="2" charset="-122"/>
              </a:rPr>
              <a:t>N</a:t>
            </a:r>
            <a:r>
              <a:rPr lang="zh-CN" altLang="en-US" sz="1600" dirty="0">
                <a:solidFill>
                  <a:srgbClr val="0000FF"/>
                </a:solidFill>
                <a:ea typeface="宋体" panose="02010600030101010101" pitchFamily="2" charset="-122"/>
              </a:rPr>
              <a:t>层的</a:t>
            </a:r>
            <a:r>
              <a:rPr lang="en-US" altLang="zh-CN" sz="1600" dirty="0">
                <a:solidFill>
                  <a:srgbClr val="0000FF"/>
                </a:solidFill>
                <a:ea typeface="宋体" panose="02010600030101010101" pitchFamily="2" charset="-122"/>
              </a:rPr>
              <a:t>PDU=N</a:t>
            </a:r>
            <a:r>
              <a:rPr lang="zh-CN" altLang="en-US" sz="1600" dirty="0">
                <a:solidFill>
                  <a:srgbClr val="0000FF"/>
                </a:solidFill>
                <a:ea typeface="宋体" panose="02010600030101010101" pitchFamily="2" charset="-122"/>
              </a:rPr>
              <a:t>层</a:t>
            </a:r>
            <a:r>
              <a:rPr lang="en-US" altLang="zh-CN" sz="1600" dirty="0">
                <a:solidFill>
                  <a:srgbClr val="0000FF"/>
                </a:solidFill>
                <a:ea typeface="宋体" panose="02010600030101010101" pitchFamily="2" charset="-122"/>
              </a:rPr>
              <a:t>PCI+N</a:t>
            </a:r>
            <a:r>
              <a:rPr lang="zh-CN" altLang="en-US" sz="1600" dirty="0">
                <a:solidFill>
                  <a:srgbClr val="0000FF"/>
                </a:solidFill>
                <a:ea typeface="宋体" panose="02010600030101010101" pitchFamily="2" charset="-122"/>
              </a:rPr>
              <a:t>层</a:t>
            </a:r>
            <a:r>
              <a:rPr lang="en-US" altLang="zh-CN" sz="1600" dirty="0">
                <a:solidFill>
                  <a:srgbClr val="0000FF"/>
                </a:solidFill>
                <a:ea typeface="宋体" panose="02010600030101010101" pitchFamily="2" charset="-122"/>
              </a:rPr>
              <a:t>SDU</a:t>
            </a:r>
          </a:p>
          <a:p>
            <a:pPr algn="ctr" eaLnBrk="1" hangingPunct="1">
              <a:spcBef>
                <a:spcPct val="0"/>
              </a:spcBef>
              <a:buClrTx/>
              <a:buFontTx/>
              <a:buNone/>
            </a:pPr>
            <a:r>
              <a:rPr lang="en-US" altLang="zh-CN" sz="1600" dirty="0">
                <a:solidFill>
                  <a:srgbClr val="0000FF"/>
                </a:solidFill>
                <a:ea typeface="宋体" panose="02010600030101010101" pitchFamily="2" charset="-122"/>
              </a:rPr>
              <a:t>N</a:t>
            </a:r>
            <a:r>
              <a:rPr lang="zh-CN" altLang="en-US" sz="1600" dirty="0">
                <a:solidFill>
                  <a:srgbClr val="0000FF"/>
                </a:solidFill>
                <a:ea typeface="宋体" panose="02010600030101010101" pitchFamily="2" charset="-122"/>
              </a:rPr>
              <a:t>层的</a:t>
            </a:r>
            <a:r>
              <a:rPr lang="en-US" altLang="zh-CN" sz="1600" dirty="0">
                <a:solidFill>
                  <a:srgbClr val="0000FF"/>
                </a:solidFill>
                <a:ea typeface="宋体" panose="02010600030101010101" pitchFamily="2" charset="-122"/>
              </a:rPr>
              <a:t>SDU=(N+1)</a:t>
            </a:r>
            <a:r>
              <a:rPr lang="zh-CN" altLang="en-US" sz="1600" dirty="0">
                <a:solidFill>
                  <a:srgbClr val="0000FF"/>
                </a:solidFill>
                <a:ea typeface="宋体" panose="02010600030101010101" pitchFamily="2" charset="-122"/>
              </a:rPr>
              <a:t>层的</a:t>
            </a:r>
            <a:r>
              <a:rPr lang="en-US" altLang="zh-CN" sz="1600" dirty="0">
                <a:solidFill>
                  <a:srgbClr val="0000FF"/>
                </a:solidFill>
                <a:ea typeface="宋体" panose="02010600030101010101" pitchFamily="2" charset="-122"/>
              </a:rPr>
              <a:t>PDU</a:t>
            </a:r>
          </a:p>
        </p:txBody>
      </p:sp>
      <p:sp>
        <p:nvSpPr>
          <p:cNvPr id="12297" name="矩形 2"/>
          <p:cNvSpPr>
            <a:spLocks noChangeArrowheads="1"/>
          </p:cNvSpPr>
          <p:nvPr/>
        </p:nvSpPr>
        <p:spPr bwMode="auto">
          <a:xfrm>
            <a:off x="696784" y="3774644"/>
            <a:ext cx="20964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zh-CN" altLang="en-US" sz="1600" dirty="0">
                <a:solidFill>
                  <a:srgbClr val="0000FF"/>
                </a:solidFill>
                <a:ea typeface="宋体" panose="02010600030101010101" pitchFamily="2" charset="-122"/>
              </a:rPr>
              <a:t>一个</a:t>
            </a:r>
            <a:r>
              <a:rPr lang="en-US" altLang="zh-CN" sz="1600" dirty="0">
                <a:solidFill>
                  <a:srgbClr val="0000FF"/>
                </a:solidFill>
                <a:ea typeface="宋体" panose="02010600030101010101" pitchFamily="2" charset="-122"/>
              </a:rPr>
              <a:t>SDU</a:t>
            </a:r>
            <a:r>
              <a:rPr lang="zh-CN" altLang="en-US" sz="1600" dirty="0">
                <a:solidFill>
                  <a:srgbClr val="0000FF"/>
                </a:solidFill>
                <a:ea typeface="宋体" panose="02010600030101010101" pitchFamily="2" charset="-122"/>
              </a:rPr>
              <a:t>可能要封装在多个</a:t>
            </a:r>
            <a:r>
              <a:rPr lang="en-US" altLang="zh-CN" sz="1600" dirty="0">
                <a:solidFill>
                  <a:srgbClr val="0000FF"/>
                </a:solidFill>
                <a:ea typeface="宋体" panose="02010600030101010101" pitchFamily="2" charset="-122"/>
              </a:rPr>
              <a:t>PDU</a:t>
            </a:r>
            <a:r>
              <a:rPr lang="zh-CN" altLang="en-US" sz="1600" dirty="0">
                <a:solidFill>
                  <a:srgbClr val="0000FF"/>
                </a:solidFill>
                <a:ea typeface="宋体" panose="02010600030101010101" pitchFamily="2" charset="-122"/>
              </a:rPr>
              <a:t>中传输</a:t>
            </a:r>
          </a:p>
        </p:txBody>
      </p:sp>
      <p:sp>
        <p:nvSpPr>
          <p:cNvPr id="2" name="矩形 1">
            <a:extLst>
              <a:ext uri="{FF2B5EF4-FFF2-40B4-BE49-F238E27FC236}">
                <a16:creationId xmlns:a16="http://schemas.microsoft.com/office/drawing/2014/main" id="{9DAA5D5E-1EB5-4BA0-961E-FD59E2648D7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Protocol Layers (4)</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8E04CC39-A47B-4503-9180-FF27644CA49A}"/>
              </a:ext>
            </a:extLst>
          </p:cNvPr>
          <p:cNvSpPr txBox="1"/>
          <p:nvPr/>
        </p:nvSpPr>
        <p:spPr>
          <a:xfrm>
            <a:off x="102541" y="5997572"/>
            <a:ext cx="4724496" cy="5847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lvl="1" eaLnBrk="1" hangingPunct="1">
              <a:spcBef>
                <a:spcPct val="0"/>
              </a:spcBef>
            </a:pPr>
            <a:r>
              <a:rPr lang="en-US" altLang="zh-CN" sz="1600" dirty="0">
                <a:solidFill>
                  <a:srgbClr val="0000FF"/>
                </a:solidFill>
                <a:latin typeface="Arial" panose="020B0604020202020204" pitchFamily="34" charset="0"/>
                <a:ea typeface="宋体" panose="02010600030101010101" pitchFamily="2" charset="-122"/>
                <a:cs typeface="Arial" panose="020B0604020202020204" pitchFamily="34" charset="0"/>
              </a:rPr>
              <a:t>PDU</a:t>
            </a:r>
            <a:r>
              <a:rPr lang="zh-CN" altLang="zh-CN" sz="1600" dirty="0">
                <a:solidFill>
                  <a:srgbClr val="0000FF"/>
                </a:solidFill>
                <a:latin typeface="Arial" panose="020B0604020202020204" pitchFamily="34" charset="0"/>
                <a:ea typeface="宋体" panose="02010600030101010101" pitchFamily="2" charset="-122"/>
                <a:cs typeface="Arial" panose="020B0604020202020204" pitchFamily="34" charset="0"/>
              </a:rPr>
              <a:t>由上层的服务数据单元</a:t>
            </a:r>
            <a:r>
              <a:rPr lang="en-US" altLang="zh-CN" sz="1600" dirty="0">
                <a:solidFill>
                  <a:srgbClr val="0000FF"/>
                </a:solidFill>
                <a:latin typeface="Arial" panose="020B0604020202020204" pitchFamily="34" charset="0"/>
                <a:ea typeface="宋体" panose="02010600030101010101" pitchFamily="2" charset="-122"/>
                <a:cs typeface="Arial" panose="020B0604020202020204" pitchFamily="34" charset="0"/>
              </a:rPr>
              <a:t>SDU</a:t>
            </a:r>
            <a:r>
              <a:rPr lang="zh-CN" altLang="zh-CN" sz="1600" dirty="0">
                <a:solidFill>
                  <a:srgbClr val="0000FF"/>
                </a:solidFill>
                <a:latin typeface="Arial" panose="020B0604020202020204" pitchFamily="34" charset="0"/>
                <a:ea typeface="宋体" panose="02010600030101010101" pitchFamily="2" charset="-122"/>
                <a:cs typeface="Arial" panose="020B0604020202020204" pitchFamily="34" charset="0"/>
              </a:rPr>
              <a:t>或其分段</a:t>
            </a:r>
            <a:r>
              <a:rPr lang="zh-CN" altLang="en-US" sz="1600" dirty="0">
                <a:solidFill>
                  <a:srgbClr val="0000FF"/>
                </a:solidFill>
                <a:latin typeface="Arial" panose="020B0604020202020204" pitchFamily="34" charset="0"/>
                <a:ea typeface="宋体" panose="02010600030101010101" pitchFamily="2" charset="-122"/>
                <a:cs typeface="Arial" panose="020B0604020202020204" pitchFamily="34" charset="0"/>
              </a:rPr>
              <a:t>和协议控制信息</a:t>
            </a:r>
            <a:r>
              <a:rPr lang="en-US" altLang="zh-CN" sz="1600" dirty="0">
                <a:solidFill>
                  <a:srgbClr val="0000FF"/>
                </a:solidFill>
                <a:latin typeface="Arial" panose="020B0604020202020204" pitchFamily="34" charset="0"/>
                <a:ea typeface="宋体" panose="02010600030101010101" pitchFamily="2" charset="-122"/>
                <a:cs typeface="Arial" panose="020B0604020202020204" pitchFamily="34" charset="0"/>
              </a:rPr>
              <a:t>PCI</a:t>
            </a:r>
            <a:r>
              <a:rPr lang="zh-CN" altLang="en-US" sz="1600" dirty="0">
                <a:solidFill>
                  <a:srgbClr val="0000FF"/>
                </a:solidFill>
                <a:latin typeface="Arial" panose="020B0604020202020204" pitchFamily="34" charset="0"/>
                <a:ea typeface="宋体" panose="02010600030101010101" pitchFamily="2" charset="-122"/>
                <a:cs typeface="Arial" panose="020B0604020202020204" pitchFamily="34" charset="0"/>
              </a:rPr>
              <a:t>（</a:t>
            </a:r>
            <a:r>
              <a:rPr lang="en-US" altLang="zh-CN" sz="1600" dirty="0">
                <a:solidFill>
                  <a:srgbClr val="0000FF"/>
                </a:solidFill>
                <a:latin typeface="Arial" panose="020B0604020202020204" pitchFamily="34" charset="0"/>
                <a:ea typeface="宋体" panose="02010600030101010101" pitchFamily="2" charset="-122"/>
                <a:cs typeface="Arial" panose="020B0604020202020204" pitchFamily="34" charset="0"/>
              </a:rPr>
              <a:t>Protocol Control Information</a:t>
            </a:r>
            <a:r>
              <a:rPr lang="zh-CN" altLang="en-US" sz="1600" dirty="0">
                <a:solidFill>
                  <a:srgbClr val="0000FF"/>
                </a:solidFill>
                <a:latin typeface="Arial" panose="020B0604020202020204" pitchFamily="34" charset="0"/>
                <a:ea typeface="宋体" panose="02010600030101010101" pitchFamily="2" charset="-122"/>
                <a:cs typeface="Arial" panose="020B0604020202020204" pitchFamily="34" charset="0"/>
              </a:rPr>
              <a:t>）组成</a:t>
            </a:r>
          </a:p>
        </p:txBody>
      </p:sp>
      <p:sp>
        <p:nvSpPr>
          <p:cNvPr id="3" name="矩形 2">
            <a:extLst>
              <a:ext uri="{FF2B5EF4-FFF2-40B4-BE49-F238E27FC236}">
                <a16:creationId xmlns:a16="http://schemas.microsoft.com/office/drawing/2014/main" id="{FBBF4D9E-08F6-4F15-AF37-A2A1C8546985}"/>
              </a:ext>
            </a:extLst>
          </p:cNvPr>
          <p:cNvSpPr/>
          <p:nvPr/>
        </p:nvSpPr>
        <p:spPr>
          <a:xfrm>
            <a:off x="9103210" y="2136491"/>
            <a:ext cx="2915101" cy="3539430"/>
          </a:xfrm>
          <a:prstGeom prst="rect">
            <a:avLst/>
          </a:prstGeom>
        </p:spPr>
        <p:txBody>
          <a:bodyPr wrap="square">
            <a:spAutoFit/>
          </a:bodyPr>
          <a:lstStyle/>
          <a:p>
            <a:pPr marL="285750" indent="-285750">
              <a:spcBef>
                <a:spcPct val="0"/>
              </a:spcBef>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rPr>
              <a:t>SDU</a:t>
            </a:r>
            <a:r>
              <a:rPr lang="zh-CN" altLang="en-US" sz="1400" dirty="0">
                <a:latin typeface="微软雅黑" panose="020B0503020204020204" pitchFamily="34" charset="-122"/>
                <a:ea typeface="微软雅黑" panose="020B0503020204020204" pitchFamily="34" charset="-122"/>
              </a:rPr>
              <a:t>即服务数据单元，是从高层协议来的信息单元传送到低层协议。</a:t>
            </a:r>
            <a:endParaRPr lang="en-US" altLang="zh-CN" sz="1400" dirty="0">
              <a:latin typeface="微软雅黑" panose="020B0503020204020204" pitchFamily="34" charset="-122"/>
              <a:ea typeface="微软雅黑" panose="020B0503020204020204" pitchFamily="34" charset="-122"/>
            </a:endParaRPr>
          </a:p>
          <a:p>
            <a:pPr marL="285750" indent="-285750">
              <a:spcBef>
                <a:spcPct val="0"/>
              </a:spcBef>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进入每个子层未被处理的数据称为服务数据单元</a:t>
            </a:r>
            <a:r>
              <a:rPr lang="en-US" altLang="zh-CN" sz="1400" dirty="0">
                <a:latin typeface="微软雅黑" panose="020B0503020204020204" pitchFamily="34" charset="-122"/>
                <a:ea typeface="微软雅黑" panose="020B0503020204020204" pitchFamily="34" charset="-122"/>
              </a:rPr>
              <a:t>(SDU)</a:t>
            </a:r>
            <a:r>
              <a:rPr lang="zh-CN" altLang="en-US" sz="1400" dirty="0">
                <a:latin typeface="微软雅黑" panose="020B0503020204020204" pitchFamily="34" charset="-122"/>
                <a:ea typeface="微软雅黑" panose="020B0503020204020204" pitchFamily="34" charset="-122"/>
              </a:rPr>
              <a:t>，经过子层处理后形成特定格式的数据被称为协议数据单元</a:t>
            </a:r>
            <a:r>
              <a:rPr lang="en-US" altLang="zh-CN" sz="1400" dirty="0">
                <a:latin typeface="微软雅黑" panose="020B0503020204020204" pitchFamily="34" charset="-122"/>
                <a:ea typeface="微软雅黑" panose="020B0503020204020204" pitchFamily="34" charset="-122"/>
              </a:rPr>
              <a:t>(PDU)</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spcBef>
                <a:spcPct val="0"/>
              </a:spcBef>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同时，本层形成的</a:t>
            </a:r>
            <a:r>
              <a:rPr lang="en-US" altLang="zh-CN" sz="1400" dirty="0">
                <a:latin typeface="微软雅黑" panose="020B0503020204020204" pitchFamily="34" charset="-122"/>
                <a:ea typeface="微软雅黑" panose="020B0503020204020204" pitchFamily="34" charset="-122"/>
              </a:rPr>
              <a:t>PDU</a:t>
            </a:r>
            <a:r>
              <a:rPr lang="zh-CN" altLang="en-US" sz="1400" dirty="0">
                <a:latin typeface="微软雅黑" panose="020B0503020204020204" pitchFamily="34" charset="-122"/>
                <a:ea typeface="微软雅黑" panose="020B0503020204020204" pitchFamily="34" charset="-122"/>
              </a:rPr>
              <a:t>即为下一层的</a:t>
            </a:r>
            <a:r>
              <a:rPr lang="en-US" altLang="zh-CN" sz="1400" dirty="0">
                <a:latin typeface="微软雅黑" panose="020B0503020204020204" pitchFamily="34" charset="-122"/>
                <a:ea typeface="微软雅黑" panose="020B0503020204020204" pitchFamily="34" charset="-122"/>
              </a:rPr>
              <a:t>SDU</a:t>
            </a:r>
            <a:r>
              <a:rPr lang="zh-CN" altLang="en-US" sz="1400" dirty="0">
                <a:latin typeface="微软雅黑" panose="020B0503020204020204" pitchFamily="34" charset="-122"/>
                <a:ea typeface="微软雅黑" panose="020B0503020204020204" pitchFamily="34" charset="-122"/>
              </a:rPr>
              <a:t>。即第</a:t>
            </a:r>
            <a:r>
              <a:rPr lang="en-US" altLang="zh-CN" sz="1400" dirty="0">
                <a:latin typeface="微软雅黑" panose="020B0503020204020204" pitchFamily="34" charset="-122"/>
                <a:ea typeface="微软雅黑" panose="020B0503020204020204" pitchFamily="34" charset="-122"/>
              </a:rPr>
              <a:t>N</a:t>
            </a:r>
            <a:r>
              <a:rPr lang="zh-CN" altLang="en-US" sz="1400" dirty="0">
                <a:latin typeface="微软雅黑" panose="020B0503020204020204" pitchFamily="34" charset="-122"/>
                <a:ea typeface="微软雅黑" panose="020B0503020204020204" pitchFamily="34" charset="-122"/>
              </a:rPr>
              <a:t>层服务数据单元</a:t>
            </a:r>
            <a:r>
              <a:rPr lang="en-US" altLang="zh-CN" sz="1400" dirty="0">
                <a:latin typeface="微软雅黑" panose="020B0503020204020204" pitchFamily="34" charset="-122"/>
                <a:ea typeface="微软雅黑" panose="020B0503020204020204" pitchFamily="34" charset="-122"/>
              </a:rPr>
              <a:t>SDU</a:t>
            </a:r>
            <a:r>
              <a:rPr lang="zh-CN" altLang="en-US" sz="1400" dirty="0">
                <a:latin typeface="微软雅黑" panose="020B0503020204020204" pitchFamily="34" charset="-122"/>
                <a:ea typeface="微软雅黑" panose="020B0503020204020204" pitchFamily="34" charset="-122"/>
              </a:rPr>
              <a:t>，和上一层的协议数据单元（</a:t>
            </a:r>
            <a:r>
              <a:rPr lang="en-US" altLang="zh-CN" sz="1400" dirty="0">
                <a:latin typeface="微软雅黑" panose="020B0503020204020204" pitchFamily="34" charset="-122"/>
                <a:ea typeface="微软雅黑" panose="020B0503020204020204" pitchFamily="34" charset="-122"/>
              </a:rPr>
              <a:t>PDU</a:t>
            </a:r>
            <a:r>
              <a:rPr lang="zh-CN" altLang="en-US" sz="1400" dirty="0">
                <a:latin typeface="微软雅黑" panose="020B0503020204020204" pitchFamily="34" charset="-122"/>
                <a:ea typeface="微软雅黑" panose="020B0503020204020204" pitchFamily="34" charset="-122"/>
              </a:rPr>
              <a:t>）是一一对应的。</a:t>
            </a:r>
            <a:endParaRPr lang="en-US" altLang="zh-CN" sz="1400" dirty="0">
              <a:latin typeface="微软雅黑" panose="020B0503020204020204" pitchFamily="34" charset="-122"/>
              <a:ea typeface="微软雅黑" panose="020B0503020204020204" pitchFamily="34" charset="-122"/>
            </a:endParaRPr>
          </a:p>
          <a:p>
            <a:pPr marL="285750" indent="-285750">
              <a:spcBef>
                <a:spcPct val="0"/>
              </a:spcBef>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根据协议数据单元的数据的不同，送到接收端的指定层。</a:t>
            </a:r>
            <a:endParaRPr lang="en-US" altLang="zh-CN" sz="1400" dirty="0">
              <a:latin typeface="微软雅黑" panose="020B0503020204020204" pitchFamily="34" charset="-122"/>
              <a:ea typeface="微软雅黑" panose="020B0503020204020204" pitchFamily="34" charset="-122"/>
            </a:endParaRPr>
          </a:p>
          <a:p>
            <a:pPr marL="285750" indent="-285750">
              <a:spcBef>
                <a:spcPct val="0"/>
              </a:spcBef>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rPr>
              <a:t>PDU(N) = SDU(N - 1) </a:t>
            </a:r>
            <a:r>
              <a:rPr lang="zh-CN" altLang="en-US" sz="1400" dirty="0">
                <a:latin typeface="微软雅黑" panose="020B0503020204020204" pitchFamily="34" charset="-122"/>
                <a:ea typeface="微软雅黑" panose="020B0503020204020204" pitchFamily="34" charset="-122"/>
              </a:rPr>
              <a:t>　　</a:t>
            </a:r>
            <a:r>
              <a:rPr lang="en-US" altLang="zh-CN" sz="1400" dirty="0">
                <a:latin typeface="微软雅黑" panose="020B0503020204020204" pitchFamily="34" charset="-122"/>
                <a:ea typeface="微软雅黑" panose="020B0503020204020204" pitchFamily="34" charset="-122"/>
              </a:rPr>
              <a:t>SDU(N) = PDU(N + 1)</a:t>
            </a:r>
          </a:p>
        </p:txBody>
      </p:sp>
    </p:spTree>
    <p:extLst>
      <p:ext uri="{BB962C8B-B14F-4D97-AF65-F5344CB8AC3E}">
        <p14:creationId xmlns:p14="http://schemas.microsoft.com/office/powerpoint/2010/main" val="34825469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par>
                                <p:cTn id="7" presetID="4" presetClass="entr" presetSubtype="16"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box(in)">
                                      <p:cBhvr>
                                        <p:cTn id="9" dur="500"/>
                                        <p:tgtEl>
                                          <p:spTgt spid="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ox(in)">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sp>
        <p:nvSpPr>
          <p:cNvPr id="2" name="矩形 1">
            <a:extLst>
              <a:ext uri="{FF2B5EF4-FFF2-40B4-BE49-F238E27FC236}">
                <a16:creationId xmlns:a16="http://schemas.microsoft.com/office/drawing/2014/main" id="{9DAA5D5E-1EB5-4BA0-961E-FD59E2648D7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zh-CN" altLang="en-US" sz="2800" b="1" kern="0" dirty="0">
                <a:solidFill>
                  <a:srgbClr val="C00000"/>
                </a:solidFill>
                <a:latin typeface="微软雅黑" panose="020B0503020204020204" pitchFamily="34" charset="-122"/>
                <a:ea typeface="微软雅黑" panose="020B0503020204020204" pitchFamily="34" charset="-122"/>
                <a:cs typeface="+mn-cs"/>
              </a:rPr>
              <a:t>数据单元</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Data Unit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878E6DCD-1500-4B7D-BAC1-79238054BC20}"/>
              </a:ext>
            </a:extLst>
          </p:cNvPr>
          <p:cNvPicPr>
            <a:picLocks noChangeAspect="1"/>
          </p:cNvPicPr>
          <p:nvPr/>
        </p:nvPicPr>
        <p:blipFill>
          <a:blip r:embed="rId3"/>
          <a:stretch>
            <a:fillRect/>
          </a:stretch>
        </p:blipFill>
        <p:spPr>
          <a:xfrm>
            <a:off x="2142523" y="3152906"/>
            <a:ext cx="5685203" cy="2485171"/>
          </a:xfrm>
          <a:prstGeom prst="rect">
            <a:avLst/>
          </a:prstGeom>
        </p:spPr>
      </p:pic>
      <p:sp>
        <p:nvSpPr>
          <p:cNvPr id="6" name="文本框 5">
            <a:extLst>
              <a:ext uri="{FF2B5EF4-FFF2-40B4-BE49-F238E27FC236}">
                <a16:creationId xmlns:a16="http://schemas.microsoft.com/office/drawing/2014/main" id="{16E320E6-25A3-4D72-9EFD-158357CA8CEF}"/>
              </a:ext>
            </a:extLst>
          </p:cNvPr>
          <p:cNvSpPr txBox="1"/>
          <p:nvPr/>
        </p:nvSpPr>
        <p:spPr>
          <a:xfrm>
            <a:off x="4038600" y="5737655"/>
            <a:ext cx="1620957"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数据单元间关系</a:t>
            </a:r>
          </a:p>
        </p:txBody>
      </p:sp>
      <p:sp>
        <p:nvSpPr>
          <p:cNvPr id="9" name="文本框 8">
            <a:extLst>
              <a:ext uri="{FF2B5EF4-FFF2-40B4-BE49-F238E27FC236}">
                <a16:creationId xmlns:a16="http://schemas.microsoft.com/office/drawing/2014/main" id="{F0705926-7466-4457-95DA-2DE8CF8FF9AF}"/>
              </a:ext>
            </a:extLst>
          </p:cNvPr>
          <p:cNvSpPr txBox="1"/>
          <p:nvPr/>
        </p:nvSpPr>
        <p:spPr>
          <a:xfrm>
            <a:off x="540650" y="1068169"/>
            <a:ext cx="10847786" cy="1815882"/>
          </a:xfrm>
          <a:prstGeom prst="rect">
            <a:avLst/>
          </a:prstGeom>
          <a:noFill/>
        </p:spPr>
        <p:txBody>
          <a:bodyPr wrap="squar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服务访问点</a:t>
            </a:r>
            <a:r>
              <a:rPr lang="en-US" altLang="zh-CN" sz="1600" dirty="0">
                <a:latin typeface="微软雅黑" panose="020B0503020204020204" pitchFamily="34" charset="-122"/>
                <a:ea typeface="微软雅黑" panose="020B0503020204020204" pitchFamily="34" charset="-122"/>
              </a:rPr>
              <a:t>SAP</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Service Access Point</a:t>
            </a:r>
            <a:r>
              <a:rPr lang="zh-CN" altLang="en-US" sz="1600" dirty="0">
                <a:latin typeface="微软雅黑" panose="020B0503020204020204" pitchFamily="34" charset="-122"/>
                <a:ea typeface="微软雅黑" panose="020B0503020204020204" pitchFamily="34" charset="-122"/>
              </a:rPr>
              <a:t>）：任何层间服务是在接口的</a:t>
            </a:r>
            <a:r>
              <a:rPr lang="en-US" altLang="zh-CN" sz="1600" dirty="0">
                <a:latin typeface="微软雅黑" panose="020B0503020204020204" pitchFamily="34" charset="-122"/>
                <a:ea typeface="微软雅黑" panose="020B0503020204020204" pitchFamily="34" charset="-122"/>
              </a:rPr>
              <a:t>SAP</a:t>
            </a:r>
            <a:r>
              <a:rPr lang="zh-CN" altLang="en-US" sz="1600" dirty="0">
                <a:latin typeface="微软雅黑" panose="020B0503020204020204" pitchFamily="34" charset="-122"/>
                <a:ea typeface="微软雅黑" panose="020B0503020204020204" pitchFamily="34" charset="-122"/>
              </a:rPr>
              <a:t>上进行的；每个</a:t>
            </a:r>
            <a:r>
              <a:rPr lang="en-US" altLang="zh-CN" sz="1600" dirty="0">
                <a:latin typeface="微软雅黑" panose="020B0503020204020204" pitchFamily="34" charset="-122"/>
                <a:ea typeface="微软雅黑" panose="020B0503020204020204" pitchFamily="34" charset="-122"/>
              </a:rPr>
              <a:t>SAP</a:t>
            </a:r>
            <a:r>
              <a:rPr lang="zh-CN" altLang="en-US" sz="1600" dirty="0">
                <a:latin typeface="微软雅黑" panose="020B0503020204020204" pitchFamily="34" charset="-122"/>
                <a:ea typeface="微软雅黑" panose="020B0503020204020204" pitchFamily="34" charset="-122"/>
              </a:rPr>
              <a:t>有唯一的识别地址；每个层间接口可以有多个</a:t>
            </a:r>
            <a:r>
              <a:rPr lang="en-US" altLang="zh-CN" sz="1600" dirty="0">
                <a:latin typeface="微软雅黑" panose="020B0503020204020204" pitchFamily="34" charset="-122"/>
                <a:ea typeface="微软雅黑" panose="020B0503020204020204" pitchFamily="34" charset="-122"/>
              </a:rPr>
              <a:t>SAP</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数据单元：在网络中信息传送的单位。</a:t>
            </a:r>
            <a:endParaRPr lang="en-US" altLang="zh-CN" sz="16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数据单元包括：</a:t>
            </a:r>
            <a:endParaRPr lang="en-US" altLang="zh-CN" sz="1600"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服务数据单元 </a:t>
            </a:r>
            <a:r>
              <a:rPr lang="en-US" altLang="zh-CN" sz="1600" dirty="0">
                <a:latin typeface="微软雅黑" panose="020B0503020204020204" pitchFamily="34" charset="-122"/>
                <a:ea typeface="微软雅黑" panose="020B0503020204020204" pitchFamily="34" charset="-122"/>
              </a:rPr>
              <a:t>SDU</a:t>
            </a:r>
            <a:r>
              <a:rPr lang="zh-CN" altLang="en-US" sz="1600" dirty="0">
                <a:latin typeface="微软雅黑" panose="020B0503020204020204" pitchFamily="34" charset="-122"/>
                <a:ea typeface="微软雅黑" panose="020B0503020204020204" pitchFamily="34" charset="-122"/>
              </a:rPr>
              <a:t>：服务用户所要传递的逻辑数据单元。</a:t>
            </a:r>
          </a:p>
          <a:p>
            <a:pPr marL="742950" lvl="1"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协议数据单元 </a:t>
            </a:r>
            <a:r>
              <a:rPr lang="en-US" altLang="zh-CN" sz="1600" dirty="0">
                <a:latin typeface="微软雅黑" panose="020B0503020204020204" pitchFamily="34" charset="-122"/>
                <a:ea typeface="微软雅黑" panose="020B0503020204020204" pitchFamily="34" charset="-122"/>
              </a:rPr>
              <a:t>PDU</a:t>
            </a:r>
            <a:r>
              <a:rPr lang="zh-CN" altLang="en-US" sz="1600" dirty="0">
                <a:latin typeface="微软雅黑" panose="020B0503020204020204" pitchFamily="34" charset="-122"/>
                <a:ea typeface="微软雅黑" panose="020B0503020204020204" pitchFamily="34" charset="-122"/>
              </a:rPr>
              <a:t>：不同系统对等实体为实现该层协议所交换的信息单位。 </a:t>
            </a:r>
            <a:r>
              <a:rPr lang="en-US" altLang="zh-CN" sz="1600" dirty="0">
                <a:latin typeface="微软雅黑" panose="020B0503020204020204" pitchFamily="34" charset="-122"/>
                <a:ea typeface="微软雅黑" panose="020B0503020204020204" pitchFamily="34" charset="-122"/>
              </a:rPr>
              <a:t>PDU=PCI+SDU</a:t>
            </a:r>
          </a:p>
          <a:p>
            <a:pPr marL="742950" lvl="1"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接口数据单元 </a:t>
            </a:r>
            <a:r>
              <a:rPr lang="en-US" altLang="zh-CN" sz="1600" dirty="0">
                <a:latin typeface="微软雅黑" panose="020B0503020204020204" pitchFamily="34" charset="-122"/>
                <a:ea typeface="微软雅黑" panose="020B0503020204020204" pitchFamily="34" charset="-122"/>
              </a:rPr>
              <a:t>IDU</a:t>
            </a:r>
            <a:r>
              <a:rPr lang="zh-CN" altLang="en-US" sz="1600" dirty="0">
                <a:latin typeface="微软雅黑" panose="020B0503020204020204" pitchFamily="34" charset="-122"/>
                <a:ea typeface="微软雅黑" panose="020B0503020204020204" pitchFamily="34" charset="-122"/>
              </a:rPr>
              <a:t>：在同一系统的相邻两层实体的一次交互中，经过层间接口的信息单元。 </a:t>
            </a:r>
            <a:r>
              <a:rPr lang="en-US" altLang="zh-CN" sz="1600" dirty="0">
                <a:latin typeface="微软雅黑" panose="020B0503020204020204" pitchFamily="34" charset="-122"/>
                <a:ea typeface="微软雅黑" panose="020B0503020204020204" pitchFamily="34" charset="-122"/>
              </a:rPr>
              <a:t>IDU=ICI+SDU</a:t>
            </a:r>
          </a:p>
        </p:txBody>
      </p:sp>
      <p:sp>
        <p:nvSpPr>
          <p:cNvPr id="3" name="矩形 2">
            <a:extLst>
              <a:ext uri="{FF2B5EF4-FFF2-40B4-BE49-F238E27FC236}">
                <a16:creationId xmlns:a16="http://schemas.microsoft.com/office/drawing/2014/main" id="{ACE8CC8E-E648-4943-AA8C-974284FBFA7A}"/>
              </a:ext>
            </a:extLst>
          </p:cNvPr>
          <p:cNvSpPr/>
          <p:nvPr/>
        </p:nvSpPr>
        <p:spPr>
          <a:xfrm>
            <a:off x="8193195" y="3105834"/>
            <a:ext cx="3828292" cy="646331"/>
          </a:xfrm>
          <a:prstGeom prst="rect">
            <a:avLst/>
          </a:prstGeom>
        </p:spPr>
        <p:txBody>
          <a:bodyPr wrap="none">
            <a:spAutoFit/>
          </a:bodyPr>
          <a:lstStyle/>
          <a:p>
            <a:r>
              <a:rPr lang="en-US" altLang="zh-CN" dirty="0"/>
              <a:t>PCI</a:t>
            </a:r>
            <a:r>
              <a:rPr lang="zh-CN" altLang="en-US" dirty="0"/>
              <a:t>（</a:t>
            </a:r>
            <a:r>
              <a:rPr lang="en-US" altLang="zh-CN" dirty="0"/>
              <a:t>Protocol Control Information</a:t>
            </a:r>
            <a:r>
              <a:rPr lang="zh-CN" altLang="en-US" dirty="0"/>
              <a:t>）</a:t>
            </a:r>
            <a:endParaRPr lang="en-US" altLang="zh-CN" dirty="0"/>
          </a:p>
          <a:p>
            <a:r>
              <a:rPr lang="en-US" altLang="zh-CN" dirty="0"/>
              <a:t>ICI</a:t>
            </a:r>
            <a:r>
              <a:rPr lang="zh-CN" altLang="en-US" dirty="0"/>
              <a:t>（</a:t>
            </a:r>
            <a:r>
              <a:rPr lang="en-US" altLang="zh-CN" dirty="0"/>
              <a:t>Interface Control Information</a:t>
            </a:r>
            <a:r>
              <a:rPr lang="zh-CN" altLang="en-US" dirty="0"/>
              <a:t>）</a:t>
            </a:r>
            <a:endParaRPr lang="en-US" altLang="zh-CN" dirty="0"/>
          </a:p>
        </p:txBody>
      </p:sp>
    </p:spTree>
    <p:extLst>
      <p:ext uri="{BB962C8B-B14F-4D97-AF65-F5344CB8AC3E}">
        <p14:creationId xmlns:p14="http://schemas.microsoft.com/office/powerpoint/2010/main" val="15077492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DAA5D5E-1EB5-4BA0-961E-FD59E2648D7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Example Protocol Stack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0765C473-5214-43E1-9EE0-AA08399DE8D8}"/>
              </a:ext>
            </a:extLst>
          </p:cNvPr>
          <p:cNvPicPr>
            <a:picLocks noChangeAspect="1"/>
          </p:cNvPicPr>
          <p:nvPr/>
        </p:nvPicPr>
        <p:blipFill>
          <a:blip r:embed="rId3"/>
          <a:stretch>
            <a:fillRect/>
          </a:stretch>
        </p:blipFill>
        <p:spPr>
          <a:xfrm>
            <a:off x="1558990" y="1412267"/>
            <a:ext cx="9305860" cy="4906868"/>
          </a:xfrm>
          <a:prstGeom prst="rect">
            <a:avLst/>
          </a:prstGeom>
        </p:spPr>
      </p:pic>
      <p:pic>
        <p:nvPicPr>
          <p:cNvPr id="4" name="图片 3">
            <a:extLst>
              <a:ext uri="{FF2B5EF4-FFF2-40B4-BE49-F238E27FC236}">
                <a16:creationId xmlns:a16="http://schemas.microsoft.com/office/drawing/2014/main" id="{7252CF94-C83C-4371-A495-274A5ADBBDE4}"/>
              </a:ext>
            </a:extLst>
          </p:cNvPr>
          <p:cNvPicPr>
            <a:picLocks noChangeAspect="1"/>
          </p:cNvPicPr>
          <p:nvPr/>
        </p:nvPicPr>
        <p:blipFill rotWithShape="1">
          <a:blip r:embed="rId4">
            <a:extLst>
              <a:ext uri="{28A0092B-C50C-407E-A947-70E740481C1C}">
                <a14:useLocalDpi xmlns:a14="http://schemas.microsoft.com/office/drawing/2010/main" val="0"/>
              </a:ext>
            </a:extLst>
          </a:blip>
          <a:srcRect l="1425" t="10870" r="1041" b="3085"/>
          <a:stretch/>
        </p:blipFill>
        <p:spPr>
          <a:xfrm>
            <a:off x="301659" y="946150"/>
            <a:ext cx="11661741" cy="5635756"/>
          </a:xfrm>
          <a:prstGeom prst="rect">
            <a:avLst/>
          </a:prstGeom>
        </p:spPr>
      </p:pic>
    </p:spTree>
    <p:extLst>
      <p:ext uri="{BB962C8B-B14F-4D97-AF65-F5344CB8AC3E}">
        <p14:creationId xmlns:p14="http://schemas.microsoft.com/office/powerpoint/2010/main" val="29530929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DAA5D5E-1EB5-4BA0-961E-FD59E2648D7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Merits &amp; Defects of </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Protocol Hierarchies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BF71D953-B33A-4F7A-AC4A-8EF9BAA3580F}"/>
              </a:ext>
            </a:extLst>
          </p:cNvPr>
          <p:cNvSpPr txBox="1"/>
          <p:nvPr/>
        </p:nvSpPr>
        <p:spPr>
          <a:xfrm>
            <a:off x="722049" y="1384968"/>
            <a:ext cx="10623975" cy="4093428"/>
          </a:xfrm>
          <a:prstGeom prst="rect">
            <a:avLst/>
          </a:prstGeom>
          <a:noFill/>
        </p:spPr>
        <p:txBody>
          <a:bodyPr wrap="square">
            <a:spAutoFit/>
          </a:bodyPr>
          <a:lstStyle/>
          <a:p>
            <a:pPr marL="342900" indent="-342900" algn="l" latinLnBrk="0">
              <a:buFont typeface="Arial" panose="020B0604020202020204" pitchFamily="34" charset="0"/>
              <a:buChar char="•"/>
            </a:pPr>
            <a:r>
              <a:rPr lang="en-US" altLang="zh-CN" sz="2000" b="1" i="0" dirty="0">
                <a:solidFill>
                  <a:srgbClr val="000000"/>
                </a:solidFill>
                <a:effectLst/>
                <a:latin typeface="Arial" panose="020B0604020202020204" pitchFamily="34" charset="0"/>
                <a:ea typeface="微软雅黑" panose="020B0503020204020204" pitchFamily="34" charset="-122"/>
              </a:rPr>
              <a:t>Merit of Protocol Hierarchies</a:t>
            </a:r>
            <a:r>
              <a:rPr lang="en-US" altLang="zh-CN" sz="2000" b="1" dirty="0">
                <a:solidFill>
                  <a:srgbClr val="000000"/>
                </a:solidFill>
                <a:latin typeface="Arial" panose="020B0604020202020204" pitchFamily="34" charset="0"/>
                <a:ea typeface="微软雅黑" panose="020B0503020204020204" pitchFamily="34" charset="-122"/>
              </a:rPr>
              <a:t> </a:t>
            </a:r>
            <a:r>
              <a:rPr lang="en-US" altLang="zh-CN" sz="2000" b="1" i="0" dirty="0">
                <a:solidFill>
                  <a:srgbClr val="000000"/>
                </a:solidFill>
                <a:effectLst/>
                <a:latin typeface="Arial" panose="020B0604020202020204" pitchFamily="34" charset="0"/>
                <a:ea typeface="微软雅黑" panose="020B0503020204020204" pitchFamily="34" charset="-122"/>
              </a:rPr>
              <a:t>(</a:t>
            </a:r>
            <a:r>
              <a:rPr lang="zh-CN" altLang="en-US" sz="2000" b="1" i="0" dirty="0">
                <a:solidFill>
                  <a:srgbClr val="000000"/>
                </a:solidFill>
                <a:effectLst/>
                <a:latin typeface="Arial" panose="020B0604020202020204" pitchFamily="34" charset="0"/>
                <a:ea typeface="微软雅黑" panose="020B0503020204020204" pitchFamily="34" charset="-122"/>
              </a:rPr>
              <a:t>分层的优点</a:t>
            </a:r>
            <a:r>
              <a:rPr lang="en-US" altLang="zh-CN" sz="2000" b="1" i="0" dirty="0">
                <a:solidFill>
                  <a:srgbClr val="000000"/>
                </a:solidFill>
                <a:effectLst/>
                <a:latin typeface="Arial" panose="020B0604020202020204" pitchFamily="34" charset="0"/>
                <a:ea typeface="微软雅黑" panose="020B0503020204020204" pitchFamily="34" charset="-122"/>
              </a:rPr>
              <a:t>) </a:t>
            </a:r>
          </a:p>
          <a:p>
            <a:pPr marL="914400" lvl="1" indent="-457200">
              <a:buFont typeface="+mj-lt"/>
              <a:buAutoNum type="arabicPeriod"/>
            </a:pPr>
            <a:r>
              <a:rPr lang="en-US" altLang="zh-CN" sz="2000" b="0" i="0" dirty="0">
                <a:solidFill>
                  <a:srgbClr val="000000"/>
                </a:solidFill>
                <a:effectLst/>
                <a:latin typeface="Arial" panose="020B0604020202020204" pitchFamily="34" charset="0"/>
                <a:ea typeface="微软雅黑" panose="020B0503020204020204" pitchFamily="34" charset="-122"/>
              </a:rPr>
              <a:t>Independence of layers: These layers are relative independence.(</a:t>
            </a:r>
            <a:r>
              <a:rPr lang="zh-CN" altLang="en-US" sz="2000" b="0" i="0" dirty="0">
                <a:solidFill>
                  <a:srgbClr val="000000"/>
                </a:solidFill>
                <a:effectLst/>
                <a:latin typeface="Arial" panose="020B0604020202020204" pitchFamily="34" charset="0"/>
                <a:ea typeface="微软雅黑" panose="020B0503020204020204" pitchFamily="34" charset="-122"/>
              </a:rPr>
              <a:t>各层之间是相对独立的</a:t>
            </a:r>
            <a:r>
              <a:rPr lang="en-US" altLang="zh-CN" sz="2000" b="0" i="0" dirty="0">
                <a:solidFill>
                  <a:srgbClr val="000000"/>
                </a:solidFill>
                <a:effectLst/>
                <a:latin typeface="Arial" panose="020B0604020202020204" pitchFamily="34" charset="0"/>
                <a:ea typeface="微软雅黑" panose="020B0503020204020204" pitchFamily="34" charset="-122"/>
              </a:rPr>
              <a:t>) </a:t>
            </a:r>
          </a:p>
          <a:p>
            <a:pPr marL="914400" lvl="1" indent="-457200">
              <a:buFont typeface="+mj-lt"/>
              <a:buAutoNum type="arabicPeriod"/>
            </a:pPr>
            <a:r>
              <a:rPr lang="en-US" altLang="zh-CN" sz="2000" b="0" i="0" dirty="0">
                <a:solidFill>
                  <a:srgbClr val="000000"/>
                </a:solidFill>
                <a:effectLst/>
                <a:latin typeface="Arial" panose="020B0604020202020204" pitchFamily="34" charset="0"/>
                <a:ea typeface="微软雅黑" panose="020B0503020204020204" pitchFamily="34" charset="-122"/>
              </a:rPr>
              <a:t>If any layer is changed, other layers are not affected, so far </a:t>
            </a:r>
            <a:r>
              <a:rPr lang="zh-CN" altLang="en-US" sz="2000" b="0" i="0" dirty="0">
                <a:solidFill>
                  <a:srgbClr val="000000"/>
                </a:solidFill>
                <a:effectLst/>
                <a:latin typeface="Arial" panose="020B0604020202020204" pitchFamily="34" charset="0"/>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当某一层协议发生改变时不影响上下层协议</a:t>
            </a:r>
            <a:r>
              <a:rPr lang="zh-CN" altLang="en-US" sz="2000" b="0" i="0" dirty="0">
                <a:solidFill>
                  <a:srgbClr val="000000"/>
                </a:solidFill>
                <a:effectLst/>
                <a:latin typeface="Arial" panose="020B0604020202020204" pitchFamily="34" charset="0"/>
                <a:ea typeface="微软雅黑" panose="020B0503020204020204" pitchFamily="34" charset="-122"/>
              </a:rPr>
              <a:t>）</a:t>
            </a:r>
            <a:endParaRPr lang="en-US" altLang="zh-CN" sz="2000" b="0" i="0" dirty="0">
              <a:solidFill>
                <a:srgbClr val="000000"/>
              </a:solidFill>
              <a:effectLst/>
              <a:latin typeface="Arial" panose="020B0604020202020204" pitchFamily="34" charset="0"/>
              <a:ea typeface="微软雅黑" panose="020B0503020204020204" pitchFamily="34" charset="-122"/>
            </a:endParaRPr>
          </a:p>
          <a:p>
            <a:pPr marL="914400" lvl="1" indent="-457200">
              <a:buFont typeface="+mj-lt"/>
              <a:buAutoNum type="arabicPeriod"/>
            </a:pPr>
            <a:r>
              <a:rPr lang="en-US" altLang="zh-CN" sz="2000" b="0" i="0" dirty="0">
                <a:solidFill>
                  <a:srgbClr val="000000"/>
                </a:solidFill>
                <a:effectLst/>
                <a:latin typeface="Arial" panose="020B0604020202020204" pitchFamily="34" charset="0"/>
                <a:ea typeface="微软雅黑" panose="020B0503020204020204" pitchFamily="34" charset="-122"/>
              </a:rPr>
              <a:t>as not changing interface.  (</a:t>
            </a:r>
            <a:r>
              <a:rPr lang="zh-CN" altLang="en-US" sz="2000" b="0" i="0" dirty="0">
                <a:solidFill>
                  <a:srgbClr val="000000"/>
                </a:solidFill>
                <a:effectLst/>
                <a:latin typeface="Arial" panose="020B0604020202020204" pitchFamily="34" charset="0"/>
                <a:ea typeface="微软雅黑" panose="020B0503020204020204" pitchFamily="34" charset="-122"/>
              </a:rPr>
              <a:t>灵活性好</a:t>
            </a:r>
            <a:r>
              <a:rPr lang="en-US" altLang="zh-CN" sz="2000" b="0" i="0" dirty="0">
                <a:solidFill>
                  <a:srgbClr val="000000"/>
                </a:solidFill>
                <a:effectLst/>
                <a:latin typeface="Arial" panose="020B0604020202020204" pitchFamily="34" charset="0"/>
                <a:ea typeface="微软雅黑" panose="020B0503020204020204" pitchFamily="34" charset="-122"/>
              </a:rPr>
              <a:t>) </a:t>
            </a:r>
          </a:p>
          <a:p>
            <a:pPr marL="914400" lvl="1" indent="-457200">
              <a:buFont typeface="+mj-lt"/>
              <a:buAutoNum type="arabicPeriod"/>
            </a:pPr>
            <a:r>
              <a:rPr lang="en-US" altLang="zh-CN" sz="2000" b="0" i="0" dirty="0">
                <a:solidFill>
                  <a:srgbClr val="000000"/>
                </a:solidFill>
                <a:effectLst/>
                <a:latin typeface="Arial" panose="020B0604020202020204" pitchFamily="34" charset="0"/>
                <a:ea typeface="微软雅黑" panose="020B0503020204020204" pitchFamily="34" charset="-122"/>
              </a:rPr>
              <a:t>Each layer can be realized in right technology.(</a:t>
            </a:r>
            <a:r>
              <a:rPr lang="zh-CN" altLang="en-US" sz="2000" b="0" i="0" dirty="0">
                <a:solidFill>
                  <a:srgbClr val="000000"/>
                </a:solidFill>
                <a:effectLst/>
                <a:latin typeface="Arial" panose="020B0604020202020204" pitchFamily="34" charset="0"/>
                <a:ea typeface="微软雅黑" panose="020B0503020204020204" pitchFamily="34" charset="-122"/>
              </a:rPr>
              <a:t>结构上可以分割开</a:t>
            </a:r>
            <a:r>
              <a:rPr lang="en-US" altLang="zh-CN" sz="2000" b="0" i="0" dirty="0">
                <a:solidFill>
                  <a:srgbClr val="000000"/>
                </a:solidFill>
                <a:effectLst/>
                <a:latin typeface="Arial" panose="020B0604020202020204" pitchFamily="34" charset="0"/>
                <a:ea typeface="微软雅黑" panose="020B0503020204020204" pitchFamily="34" charset="-122"/>
              </a:rPr>
              <a:t>) </a:t>
            </a:r>
          </a:p>
          <a:p>
            <a:pPr marL="914400" lvl="1" indent="-457200">
              <a:buFont typeface="+mj-lt"/>
              <a:buAutoNum type="arabicPeriod"/>
            </a:pPr>
            <a:r>
              <a:rPr lang="en-US" altLang="zh-CN" sz="2000" b="0" i="0" dirty="0">
                <a:solidFill>
                  <a:srgbClr val="000000"/>
                </a:solidFill>
                <a:effectLst/>
                <a:latin typeface="Arial" panose="020B0604020202020204" pitchFamily="34" charset="0"/>
                <a:ea typeface="微软雅黑" panose="020B0503020204020204" pitchFamily="34" charset="-122"/>
              </a:rPr>
              <a:t>It is easy to realize and maintain. (</a:t>
            </a:r>
            <a:r>
              <a:rPr lang="zh-CN" altLang="en-US" sz="2000" b="0" i="0" dirty="0">
                <a:solidFill>
                  <a:srgbClr val="000000"/>
                </a:solidFill>
                <a:effectLst/>
                <a:latin typeface="Arial" panose="020B0604020202020204" pitchFamily="34" charset="0"/>
                <a:ea typeface="微软雅黑" panose="020B0503020204020204" pitchFamily="34" charset="-122"/>
              </a:rPr>
              <a:t>易于实现和维护</a:t>
            </a:r>
            <a:r>
              <a:rPr lang="en-US" altLang="zh-CN" sz="2000" b="0" i="0" dirty="0">
                <a:solidFill>
                  <a:srgbClr val="000000"/>
                </a:solidFill>
                <a:effectLst/>
                <a:latin typeface="Arial" panose="020B0604020202020204" pitchFamily="34" charset="0"/>
                <a:ea typeface="微软雅黑" panose="020B0503020204020204" pitchFamily="34" charset="-122"/>
              </a:rPr>
              <a:t>) </a:t>
            </a:r>
          </a:p>
          <a:p>
            <a:pPr marL="914400" lvl="1" indent="-457200">
              <a:buFont typeface="+mj-lt"/>
              <a:buAutoNum type="arabicPeriod"/>
            </a:pPr>
            <a:r>
              <a:rPr lang="en-US" altLang="zh-CN" sz="2000" b="0" i="0" dirty="0">
                <a:solidFill>
                  <a:srgbClr val="000000"/>
                </a:solidFill>
                <a:effectLst/>
                <a:latin typeface="Arial" panose="020B0604020202020204" pitchFamily="34" charset="0"/>
                <a:ea typeface="微软雅黑" panose="020B0503020204020204" pitchFamily="34" charset="-122"/>
              </a:rPr>
              <a:t>Standardization (</a:t>
            </a:r>
            <a:r>
              <a:rPr lang="zh-CN" altLang="en-US" sz="2000" b="0" i="0" dirty="0">
                <a:solidFill>
                  <a:srgbClr val="000000"/>
                </a:solidFill>
                <a:effectLst/>
                <a:latin typeface="Arial" panose="020B0604020202020204" pitchFamily="34" charset="0"/>
                <a:ea typeface="微软雅黑" panose="020B0503020204020204" pitchFamily="34" charset="-122"/>
              </a:rPr>
              <a:t>能促进标准化工作</a:t>
            </a:r>
            <a:r>
              <a:rPr lang="en-US" altLang="zh-CN" sz="2000" b="0" i="0" dirty="0">
                <a:solidFill>
                  <a:srgbClr val="000000"/>
                </a:solidFill>
                <a:effectLst/>
                <a:latin typeface="Arial" panose="020B0604020202020204" pitchFamily="34" charset="0"/>
                <a:ea typeface="微软雅黑" panose="020B0503020204020204" pitchFamily="34" charset="-122"/>
              </a:rPr>
              <a:t>)</a:t>
            </a:r>
          </a:p>
          <a:p>
            <a:pPr algn="l" latinLnBrk="0"/>
            <a:endParaRPr lang="en-US" altLang="zh-CN" sz="2000" dirty="0">
              <a:solidFill>
                <a:srgbClr val="000000"/>
              </a:solidFill>
              <a:latin typeface="Arial" panose="020B0604020202020204" pitchFamily="34" charset="0"/>
              <a:ea typeface="微软雅黑" panose="020B0503020204020204" pitchFamily="34" charset="-122"/>
            </a:endParaRPr>
          </a:p>
          <a:p>
            <a:pPr marL="342900" indent="-342900" algn="l" latinLnBrk="0">
              <a:buFont typeface="Arial" panose="020B0604020202020204" pitchFamily="34" charset="0"/>
              <a:buChar char="•"/>
            </a:pPr>
            <a:r>
              <a:rPr lang="en-US" altLang="zh-CN" sz="2000" b="1" i="0" dirty="0">
                <a:solidFill>
                  <a:srgbClr val="000000"/>
                </a:solidFill>
                <a:effectLst/>
                <a:latin typeface="Arial" panose="020B0604020202020204" pitchFamily="34" charset="0"/>
                <a:ea typeface="微软雅黑" panose="020B0503020204020204" pitchFamily="34" charset="-122"/>
              </a:rPr>
              <a:t>Defect of Protocol Hierarchies:(</a:t>
            </a:r>
            <a:r>
              <a:rPr lang="zh-CN" altLang="en-US" sz="2000" b="1" i="0" dirty="0">
                <a:solidFill>
                  <a:srgbClr val="000000"/>
                </a:solidFill>
                <a:effectLst/>
                <a:latin typeface="Arial" panose="020B0604020202020204" pitchFamily="34" charset="0"/>
                <a:ea typeface="微软雅黑" panose="020B0503020204020204" pitchFamily="34" charset="-122"/>
              </a:rPr>
              <a:t>分层的缺点</a:t>
            </a:r>
            <a:r>
              <a:rPr lang="en-US" altLang="zh-CN" sz="2000" b="1" i="0" dirty="0">
                <a:solidFill>
                  <a:srgbClr val="000000"/>
                </a:solidFill>
                <a:effectLst/>
                <a:latin typeface="Arial" panose="020B0604020202020204" pitchFamily="34" charset="0"/>
                <a:ea typeface="微软雅黑" panose="020B0503020204020204" pitchFamily="34" charset="-122"/>
              </a:rPr>
              <a:t>) </a:t>
            </a:r>
          </a:p>
          <a:p>
            <a:pPr marL="914400" lvl="1" indent="-457200">
              <a:buFont typeface="+mj-lt"/>
              <a:buAutoNum type="arabicPeriod"/>
            </a:pPr>
            <a:r>
              <a:rPr lang="en-US" altLang="zh-CN" sz="2000" b="0" i="0" dirty="0">
                <a:solidFill>
                  <a:srgbClr val="000000"/>
                </a:solidFill>
                <a:effectLst/>
                <a:latin typeface="Arial" panose="020B0604020202020204" pitchFamily="34" charset="0"/>
                <a:ea typeface="微软雅黑" panose="020B0503020204020204" pitchFamily="34" charset="-122"/>
              </a:rPr>
              <a:t>Some functions may be realized reduplicatively.(</a:t>
            </a:r>
            <a:r>
              <a:rPr lang="zh-CN" altLang="en-US" sz="2000" b="0" i="0" dirty="0">
                <a:solidFill>
                  <a:srgbClr val="000000"/>
                </a:solidFill>
                <a:effectLst/>
                <a:latin typeface="Arial" panose="020B0604020202020204" pitchFamily="34" charset="0"/>
                <a:ea typeface="微软雅黑" panose="020B0503020204020204" pitchFamily="34" charset="-122"/>
              </a:rPr>
              <a:t>功能重复实现，资源浪费</a:t>
            </a:r>
            <a:r>
              <a:rPr lang="en-US" altLang="zh-CN" sz="2000" b="0" i="0" dirty="0">
                <a:solidFill>
                  <a:srgbClr val="000000"/>
                </a:solidFill>
                <a:effectLst/>
                <a:latin typeface="Arial" panose="020B0604020202020204" pitchFamily="34" charset="0"/>
                <a:ea typeface="微软雅黑" panose="020B0503020204020204" pitchFamily="34" charset="-122"/>
              </a:rPr>
              <a:t>) </a:t>
            </a:r>
          </a:p>
          <a:p>
            <a:pPr marL="914400" lvl="1" indent="-457200">
              <a:buFont typeface="+mj-lt"/>
              <a:buAutoNum type="arabicPeriod"/>
            </a:pPr>
            <a:r>
              <a:rPr lang="en-US" altLang="zh-CN" sz="2000" b="0" i="0" dirty="0">
                <a:solidFill>
                  <a:srgbClr val="000000"/>
                </a:solidFill>
                <a:effectLst/>
                <a:latin typeface="Arial" panose="020B0604020202020204" pitchFamily="34" charset="0"/>
                <a:ea typeface="微软雅黑" panose="020B0503020204020204" pitchFamily="34" charset="-122"/>
              </a:rPr>
              <a:t>The number of layer is not certain.(</a:t>
            </a:r>
            <a:r>
              <a:rPr lang="zh-CN" altLang="en-US" sz="2000" b="0" i="0" dirty="0">
                <a:solidFill>
                  <a:srgbClr val="000000"/>
                </a:solidFill>
                <a:effectLst/>
                <a:latin typeface="Arial" panose="020B0604020202020204" pitchFamily="34" charset="0"/>
                <a:ea typeface="微软雅黑" panose="020B0503020204020204" pitchFamily="34" charset="-122"/>
              </a:rPr>
              <a:t>层次数难以确定</a:t>
            </a:r>
            <a:r>
              <a:rPr lang="en-US" altLang="zh-CN" sz="2000" b="0" i="0" dirty="0">
                <a:solidFill>
                  <a:srgbClr val="000000"/>
                </a:solidFill>
                <a:effectLst/>
                <a:latin typeface="Arial" panose="020B0604020202020204" pitchFamily="34" charset="0"/>
                <a:ea typeface="微软雅黑" panose="020B0503020204020204" pitchFamily="34" charset="-122"/>
              </a:rPr>
              <a:t>)</a:t>
            </a:r>
          </a:p>
        </p:txBody>
      </p:sp>
    </p:spTree>
    <p:extLst>
      <p:ext uri="{BB962C8B-B14F-4D97-AF65-F5344CB8AC3E}">
        <p14:creationId xmlns:p14="http://schemas.microsoft.com/office/powerpoint/2010/main" val="40175264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14340" name="Content Placeholder 2"/>
          <p:cNvSpPr>
            <a:spLocks noGrp="1"/>
          </p:cNvSpPr>
          <p:nvPr>
            <p:ph idx="1"/>
          </p:nvPr>
        </p:nvSpPr>
        <p:spPr>
          <a:xfrm>
            <a:off x="671946" y="1177923"/>
            <a:ext cx="11111345" cy="4598987"/>
          </a:xfrm>
        </p:spPr>
        <p:txBody>
          <a:bodyPr/>
          <a:lstStyle/>
          <a:p>
            <a:pPr marL="685800" indent="-457200">
              <a:buFont typeface="Arial" panose="020B0604020202020204" pitchFamily="34" charset="0"/>
              <a:buChar char="•"/>
            </a:pPr>
            <a:r>
              <a:rPr lang="en-US" altLang="zh-CN" dirty="0">
                <a:ea typeface="宋体" panose="02010600030101010101" pitchFamily="2" charset="-122"/>
              </a:rPr>
              <a:t>Each layer solves a particular problem but must include mechanisms to address a set of recurring design issues</a:t>
            </a:r>
          </a:p>
        </p:txBody>
      </p:sp>
      <p:graphicFrame>
        <p:nvGraphicFramePr>
          <p:cNvPr id="5" name="Table 4"/>
          <p:cNvGraphicFramePr>
            <a:graphicFrameLocks noGrp="1"/>
          </p:cNvGraphicFramePr>
          <p:nvPr>
            <p:extLst>
              <p:ext uri="{D42A27DB-BD31-4B8C-83A1-F6EECF244321}">
                <p14:modId xmlns:p14="http://schemas.microsoft.com/office/powerpoint/2010/main" val="2710805672"/>
              </p:ext>
            </p:extLst>
          </p:nvPr>
        </p:nvGraphicFramePr>
        <p:xfrm>
          <a:off x="2257425" y="2460788"/>
          <a:ext cx="7677150" cy="2982913"/>
        </p:xfrm>
        <a:graphic>
          <a:graphicData uri="http://schemas.openxmlformats.org/drawingml/2006/table">
            <a:tbl>
              <a:tblPr/>
              <a:tblGrid>
                <a:gridCol w="2576513">
                  <a:extLst>
                    <a:ext uri="{9D8B030D-6E8A-4147-A177-3AD203B41FA5}">
                      <a16:colId xmlns:a16="http://schemas.microsoft.com/office/drawing/2014/main" val="20000"/>
                    </a:ext>
                  </a:extLst>
                </a:gridCol>
                <a:gridCol w="5100637">
                  <a:extLst>
                    <a:ext uri="{9D8B030D-6E8A-4147-A177-3AD203B41FA5}">
                      <a16:colId xmlns:a16="http://schemas.microsoft.com/office/drawing/2014/main" val="20001"/>
                    </a:ext>
                  </a:extLst>
                </a:gridCol>
              </a:tblGrid>
              <a:tr h="365760">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Issue</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Example mechanisms at different layers</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0080">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Reliability despite failures</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Codes for error detection/correction (§3.2, 3.3)</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Routing around failures (§5.2)</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0080">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Network growth             and evolution</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Addressing (§5.6) and naming (§7.1)</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Protocol layering (§1.3)</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96913">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Allocation of resources like bandwidth </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Multiple access (§4.2)</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Congestion control (§5.3, 6.3)</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0080">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Security against various threats</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tc>
                  <a:txBody>
                    <a:bodyPr/>
                    <a:lstStyle>
                      <a:lvl1pPr>
                        <a:spcBef>
                          <a:spcPts val="18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Confidentiality of messages (§8.2, 8.6)</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Authentication of communicating parties (§8.7)</a:t>
                      </a:r>
                    </a:p>
                  </a:txBody>
                  <a:tcPr horzOverflow="overflow">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19050" cap="flat" cmpd="sng" algn="ctr">
                      <a:solidFill>
                        <a:srgbClr val="7F7F7F"/>
                      </a:solidFill>
                      <a:prstDash val="solid"/>
                      <a:round/>
                      <a:headEnd type="none" w="med" len="med"/>
                      <a:tailEnd type="none" w="med" len="med"/>
                    </a:lnT>
                    <a:lnB w="190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矩形 1">
            <a:extLst>
              <a:ext uri="{FF2B5EF4-FFF2-40B4-BE49-F238E27FC236}">
                <a16:creationId xmlns:a16="http://schemas.microsoft.com/office/drawing/2014/main" id="{74414208-8400-4D10-B607-3B86F94B4D07}"/>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Design Issues for the Layers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458057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531845" y="1143001"/>
            <a:ext cx="11420669" cy="1270517"/>
          </a:xfrm>
        </p:spPr>
        <p:txBody>
          <a:bodyPr>
            <a:normAutofit/>
          </a:bodyPr>
          <a:lstStyle/>
          <a:p>
            <a:r>
              <a:rPr lang="en-US" altLang="zh-CN" sz="2400" dirty="0">
                <a:ea typeface="宋体" panose="02010600030101010101" pitchFamily="2" charset="-122"/>
              </a:rPr>
              <a:t>Service provided by a layer may be kinds of either:</a:t>
            </a:r>
          </a:p>
          <a:p>
            <a:pPr lvl="1"/>
            <a:r>
              <a:rPr lang="en-US" altLang="zh-CN" sz="2000" dirty="0">
                <a:ea typeface="宋体" panose="02010600030101010101" pitchFamily="2" charset="-122"/>
              </a:rPr>
              <a:t>Connection-oriented, must be set up for ongoing use (and torn down after use), e.g., phone call</a:t>
            </a:r>
          </a:p>
          <a:p>
            <a:pPr lvl="1"/>
            <a:r>
              <a:rPr lang="en-US" altLang="zh-CN" sz="2000" dirty="0">
                <a:ea typeface="宋体" panose="02010600030101010101" pitchFamily="2" charset="-122"/>
              </a:rPr>
              <a:t>Connectionless, messages are handled separately, e.g., postal delivery</a:t>
            </a:r>
          </a:p>
        </p:txBody>
      </p:sp>
      <p:sp>
        <p:nvSpPr>
          <p:cNvPr id="16388"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grpSp>
        <p:nvGrpSpPr>
          <p:cNvPr id="16389" name="Group 12"/>
          <p:cNvGrpSpPr>
            <a:grpSpLocks/>
          </p:cNvGrpSpPr>
          <p:nvPr/>
        </p:nvGrpSpPr>
        <p:grpSpPr bwMode="auto">
          <a:xfrm>
            <a:off x="4593868" y="2304139"/>
            <a:ext cx="5999486" cy="3044696"/>
            <a:chOff x="1762125" y="3114675"/>
            <a:chExt cx="5629275" cy="2847975"/>
          </a:xfrm>
        </p:grpSpPr>
        <p:pic>
          <p:nvPicPr>
            <p:cNvPr id="16391" name="Picture 2"/>
            <p:cNvPicPr>
              <a:picLocks noChangeAspect="1" noChangeArrowheads="1"/>
            </p:cNvPicPr>
            <p:nvPr/>
          </p:nvPicPr>
          <p:blipFill>
            <a:blip r:embed="rId3">
              <a:extLst>
                <a:ext uri="{28A0092B-C50C-407E-A947-70E740481C1C}">
                  <a14:useLocalDpi xmlns:a14="http://schemas.microsoft.com/office/drawing/2010/main" val="0"/>
                </a:ext>
              </a:extLst>
            </a:blip>
            <a:srcRect t="4855" r="3746" b="4395"/>
            <a:stretch>
              <a:fillRect/>
            </a:stretch>
          </p:blipFill>
          <p:spPr bwMode="auto">
            <a:xfrm>
              <a:off x="1762125" y="3114675"/>
              <a:ext cx="5629275"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2" name="Rectangle 10"/>
            <p:cNvSpPr>
              <a:spLocks noChangeArrowheads="1"/>
            </p:cNvSpPr>
            <p:nvPr/>
          </p:nvSpPr>
          <p:spPr bwMode="auto">
            <a:xfrm>
              <a:off x="2762250" y="3152775"/>
              <a:ext cx="133350" cy="15621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16393" name="Left Brace 9"/>
            <p:cNvSpPr>
              <a:spLocks/>
            </p:cNvSpPr>
            <p:nvPr/>
          </p:nvSpPr>
          <p:spPr bwMode="auto">
            <a:xfrm>
              <a:off x="2752725" y="3590925"/>
              <a:ext cx="133350" cy="1133475"/>
            </a:xfrm>
            <a:prstGeom prst="leftBrace">
              <a:avLst>
                <a:gd name="adj1" fmla="val 8343"/>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sp>
        <p:nvSpPr>
          <p:cNvPr id="16390" name="Text Box 5"/>
          <p:cNvSpPr txBox="1">
            <a:spLocks noChangeArrowheads="1"/>
          </p:cNvSpPr>
          <p:nvPr/>
        </p:nvSpPr>
        <p:spPr bwMode="auto">
          <a:xfrm>
            <a:off x="468994" y="2457358"/>
            <a:ext cx="4052626"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285750" indent="-285750" eaLnBrk="1" hangingPunct="1">
              <a:spcBef>
                <a:spcPct val="0"/>
              </a:spcBef>
              <a:buFont typeface="Arial" panose="020B0604020202020204" pitchFamily="34" charset="0"/>
              <a:buChar char="•"/>
            </a:pPr>
            <a:r>
              <a:rPr lang="zh-CN" altLang="en-US" sz="1600" b="1" dirty="0">
                <a:latin typeface="微软雅黑" panose="020B0503020204020204" pitchFamily="34" charset="-122"/>
                <a:ea typeface="微软雅黑" panose="020B0503020204020204" pitchFamily="34" charset="-122"/>
              </a:rPr>
              <a:t>面向连接的服务：</a:t>
            </a:r>
            <a:r>
              <a:rPr lang="zh-CN" altLang="en-US" sz="1600" dirty="0">
                <a:latin typeface="微软雅黑" panose="020B0503020204020204" pitchFamily="34" charset="-122"/>
                <a:ea typeface="微软雅黑" panose="020B0503020204020204" pitchFamily="34" charset="-122"/>
              </a:rPr>
              <a:t>建立连接（需要协商）、保持顺序。但是</a:t>
            </a:r>
            <a:r>
              <a:rPr lang="en-US" altLang="zh-CN" sz="1600" dirty="0">
                <a:latin typeface="微软雅黑" panose="020B0503020204020204" pitchFamily="34" charset="-122"/>
                <a:ea typeface="微软雅黑" panose="020B0503020204020204" pitchFamily="34" charset="-122"/>
              </a:rPr>
              <a:t>ACK</a:t>
            </a:r>
            <a:r>
              <a:rPr lang="zh-CN" altLang="en-US" sz="1600" dirty="0">
                <a:latin typeface="微软雅黑" panose="020B0503020204020204" pitchFamily="34" charset="-122"/>
                <a:ea typeface="微软雅黑" panose="020B0503020204020204" pitchFamily="34" charset="-122"/>
              </a:rPr>
              <a:t>过程会引入额外开销和时延。</a:t>
            </a:r>
          </a:p>
          <a:p>
            <a:pPr marL="285750" indent="-285750" eaLnBrk="1" hangingPunct="1">
              <a:spcBef>
                <a:spcPct val="0"/>
              </a:spcBef>
              <a:buFont typeface="Arial" panose="020B0604020202020204" pitchFamily="34" charset="0"/>
              <a:buChar char="•"/>
            </a:pPr>
            <a:r>
              <a:rPr lang="zh-CN" altLang="en-US" sz="1600" b="1" dirty="0">
                <a:latin typeface="微软雅黑" panose="020B0503020204020204" pitchFamily="34" charset="-122"/>
                <a:ea typeface="微软雅黑" panose="020B0503020204020204" pitchFamily="34" charset="-122"/>
              </a:rPr>
              <a:t>无连接的服务：</a:t>
            </a:r>
            <a:r>
              <a:rPr lang="zh-CN" altLang="en-US" sz="1600" dirty="0">
                <a:latin typeface="微软雅黑" panose="020B0503020204020204" pitchFamily="34" charset="-122"/>
                <a:ea typeface="微软雅黑" panose="020B0503020204020204" pitchFamily="34" charset="-122"/>
              </a:rPr>
              <a:t>不建连，不可靠，每个包独立进行路由选择，可能走不同的路径到达顺序可能不同，顺序性差。</a:t>
            </a:r>
          </a:p>
          <a:p>
            <a:pPr marL="285750" indent="-285750" eaLnBrk="1" hangingPunct="1">
              <a:spcBef>
                <a:spcPct val="0"/>
              </a:spcBef>
              <a:buFont typeface="Arial" panose="020B0604020202020204" pitchFamily="34" charset="0"/>
              <a:buChar char="•"/>
            </a:pPr>
            <a:r>
              <a:rPr lang="zh-CN" altLang="en-US" sz="1600" b="1" dirty="0">
                <a:latin typeface="微软雅黑" panose="020B0503020204020204" pitchFamily="34" charset="-122"/>
                <a:ea typeface="微软雅黑" panose="020B0503020204020204" pitchFamily="34" charset="-122"/>
              </a:rPr>
              <a:t>可靠：</a:t>
            </a:r>
            <a:r>
              <a:rPr lang="zh-CN" altLang="en-US" sz="1600" dirty="0">
                <a:latin typeface="微软雅黑" panose="020B0503020204020204" pitchFamily="34" charset="-122"/>
                <a:ea typeface="微软雅黑" panose="020B0503020204020204" pitchFamily="34" charset="-122"/>
              </a:rPr>
              <a:t>有确认和丢失处理</a:t>
            </a:r>
          </a:p>
          <a:p>
            <a:pPr marL="285750" indent="-285750" eaLnBrk="1" hangingPunct="1">
              <a:spcBef>
                <a:spcPct val="0"/>
              </a:spcBef>
              <a:buFont typeface="Arial" panose="020B0604020202020204" pitchFamily="34" charset="0"/>
              <a:buChar char="•"/>
            </a:pPr>
            <a:r>
              <a:rPr lang="zh-CN" altLang="en-US" sz="1600" b="1" dirty="0">
                <a:latin typeface="微软雅黑" panose="020B0503020204020204" pitchFamily="34" charset="-122"/>
                <a:ea typeface="微软雅黑" panose="020B0503020204020204" pitchFamily="34" charset="-122"/>
              </a:rPr>
              <a:t>不可靠：</a:t>
            </a:r>
            <a:r>
              <a:rPr lang="zh-CN" altLang="en-US" sz="1600" dirty="0">
                <a:latin typeface="微软雅黑" panose="020B0503020204020204" pitchFamily="34" charset="-122"/>
                <a:ea typeface="微软雅黑" panose="020B0503020204020204" pitchFamily="34" charset="-122"/>
              </a:rPr>
              <a:t>无确认，发送完就结束</a:t>
            </a:r>
          </a:p>
          <a:p>
            <a:pPr marL="285750" indent="-285750" eaLnBrk="1" hangingPunct="1">
              <a:spcBef>
                <a:spcPct val="0"/>
              </a:spcBef>
              <a:buFont typeface="Arial" panose="020B0604020202020204" pitchFamily="34" charset="0"/>
              <a:buChar char="•"/>
            </a:pPr>
            <a:r>
              <a:rPr lang="en-US" altLang="zh-CN" sz="1600" b="1" dirty="0" err="1">
                <a:latin typeface="微软雅黑" panose="020B0503020204020204" pitchFamily="34" charset="-122"/>
                <a:ea typeface="微软雅黑" panose="020B0503020204020204" pitchFamily="34" charset="-122"/>
              </a:rPr>
              <a:t>Qos</a:t>
            </a:r>
            <a:r>
              <a:rPr lang="zh-CN" altLang="en-US"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时延、抖动、传输时间、丢包率</a:t>
            </a:r>
            <a:r>
              <a:rPr lang="en-US" altLang="zh-CN" sz="1600" dirty="0">
                <a:latin typeface="微软雅黑" panose="020B0503020204020204" pitchFamily="34" charset="-122"/>
                <a:ea typeface="微软雅黑" panose="020B0503020204020204" pitchFamily="34" charset="-122"/>
              </a:rPr>
              <a:t>……</a:t>
            </a:r>
          </a:p>
        </p:txBody>
      </p:sp>
      <p:sp>
        <p:nvSpPr>
          <p:cNvPr id="2" name="矩形 1">
            <a:extLst>
              <a:ext uri="{FF2B5EF4-FFF2-40B4-BE49-F238E27FC236}">
                <a16:creationId xmlns:a16="http://schemas.microsoft.com/office/drawing/2014/main" id="{1691AB5B-BC7A-4D69-823A-28B6F35E18F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Connection-Oriented vs. Connectionless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A34D9379-0BD2-4472-9BC9-CBD09EC6B0C7}"/>
              </a:ext>
            </a:extLst>
          </p:cNvPr>
          <p:cNvSpPr txBox="1"/>
          <p:nvPr/>
        </p:nvSpPr>
        <p:spPr>
          <a:xfrm>
            <a:off x="396746" y="5348835"/>
            <a:ext cx="11795254" cy="1077218"/>
          </a:xfrm>
          <a:prstGeom prst="rect">
            <a:avLst/>
          </a:prstGeom>
          <a:noFill/>
        </p:spPr>
        <p:txBody>
          <a:bodyPr wrap="square">
            <a:spAutoFit/>
          </a:bodyPr>
          <a:lstStyle/>
          <a:p>
            <a:pPr marL="285750" indent="-285750">
              <a:spcBef>
                <a:spcPct val="0"/>
              </a:spcBef>
              <a:buFont typeface="Arial" panose="020B0604020202020204" pitchFamily="34" charset="0"/>
              <a:buChar char="•"/>
            </a:pPr>
            <a:r>
              <a:rPr lang="en-US" altLang="zh-CN" sz="1600" dirty="0"/>
              <a:t>TCP (Transmission Control Protocol) is a connection-oriented transport protocol providing a reliable </a:t>
            </a:r>
            <a:r>
              <a:rPr lang="en-US" altLang="zh-CN" sz="1600" dirty="0" err="1">
                <a:solidFill>
                  <a:srgbClr val="FF0000"/>
                </a:solidFill>
              </a:rPr>
              <a:t>bytesteam</a:t>
            </a:r>
            <a:r>
              <a:rPr lang="en-US" altLang="zh-CN" sz="1600" dirty="0"/>
              <a:t> service at the Transport layer, while UDP (User Datagram Protocol) is a connectionless network protocol. Both operate over IP.</a:t>
            </a:r>
          </a:p>
          <a:p>
            <a:pPr marL="285750" indent="-285750">
              <a:spcBef>
                <a:spcPct val="0"/>
              </a:spcBef>
              <a:buFont typeface="Arial" panose="020B0604020202020204" pitchFamily="34" charset="0"/>
              <a:buChar char="•"/>
            </a:pPr>
            <a:r>
              <a:rPr lang="en-US" altLang="zh-CN" sz="1600" dirty="0">
                <a:solidFill>
                  <a:srgbClr val="FF0000"/>
                </a:solidFill>
              </a:rPr>
              <a:t>IP provides unreliable datagram service at the Network layer.</a:t>
            </a:r>
          </a:p>
          <a:p>
            <a:pPr marL="285750" indent="-285750">
              <a:spcBef>
                <a:spcPct val="0"/>
              </a:spcBef>
              <a:buFont typeface="Arial" panose="020B0604020202020204" pitchFamily="34" charset="0"/>
              <a:buChar char="•"/>
            </a:pPr>
            <a:r>
              <a:rPr lang="en-US" altLang="zh-CN" sz="1600" dirty="0"/>
              <a:t>More examples: RTP (used to carry VoIP data) provides unreliable connection service; </a:t>
            </a:r>
          </a:p>
        </p:txBody>
      </p:sp>
    </p:spTree>
    <p:extLst>
      <p:ext uri="{BB962C8B-B14F-4D97-AF65-F5344CB8AC3E}">
        <p14:creationId xmlns:p14="http://schemas.microsoft.com/office/powerpoint/2010/main" val="27986393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DAA5D5E-1EB5-4BA0-961E-FD59E2648D7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Number of Layers?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BF71D953-B33A-4F7A-AC4A-8EF9BAA3580F}"/>
              </a:ext>
            </a:extLst>
          </p:cNvPr>
          <p:cNvSpPr txBox="1"/>
          <p:nvPr/>
        </p:nvSpPr>
        <p:spPr>
          <a:xfrm>
            <a:off x="784011" y="1488877"/>
            <a:ext cx="10623975" cy="461665"/>
          </a:xfrm>
          <a:prstGeom prst="rect">
            <a:avLst/>
          </a:prstGeom>
          <a:noFill/>
        </p:spPr>
        <p:txBody>
          <a:bodyPr wrap="square">
            <a:spAutoFit/>
          </a:bodyPr>
          <a:lstStyle/>
          <a:p>
            <a:pPr marL="342900" indent="-342900" algn="l" latinLnBrk="0">
              <a:spcBef>
                <a:spcPts val="1800"/>
              </a:spcBef>
              <a:buFont typeface="Arial" panose="020B0604020202020204" pitchFamily="34" charset="0"/>
              <a:buChar char="•"/>
            </a:pPr>
            <a:r>
              <a:rPr lang="zh-CN" altLang="en-US" sz="2400" b="1" dirty="0">
                <a:solidFill>
                  <a:srgbClr val="000000"/>
                </a:solidFill>
                <a:latin typeface="Arial" panose="020B0604020202020204" pitchFamily="34" charset="0"/>
                <a:ea typeface="微软雅黑" panose="020B0503020204020204" pitchFamily="34" charset="-122"/>
              </a:rPr>
              <a:t>若层数太少，就会使每一层的协议太复杂；</a:t>
            </a:r>
            <a:endParaRPr lang="en-US" altLang="zh-CN" sz="2400" b="1" dirty="0">
              <a:solidFill>
                <a:srgbClr val="000000"/>
              </a:solidFill>
              <a:latin typeface="Arial" panose="020B0604020202020204" pitchFamily="34" charset="0"/>
              <a:ea typeface="微软雅黑" panose="020B0503020204020204" pitchFamily="34" charset="-122"/>
            </a:endParaRPr>
          </a:p>
        </p:txBody>
      </p:sp>
      <p:sp>
        <p:nvSpPr>
          <p:cNvPr id="4" name="文本框 3">
            <a:extLst>
              <a:ext uri="{FF2B5EF4-FFF2-40B4-BE49-F238E27FC236}">
                <a16:creationId xmlns:a16="http://schemas.microsoft.com/office/drawing/2014/main" id="{6133D7FE-84CC-4F14-A561-D0588C3E6089}"/>
              </a:ext>
            </a:extLst>
          </p:cNvPr>
          <p:cNvSpPr txBox="1"/>
          <p:nvPr/>
        </p:nvSpPr>
        <p:spPr>
          <a:xfrm>
            <a:off x="784011" y="2120125"/>
            <a:ext cx="10623975" cy="830997"/>
          </a:xfrm>
          <a:prstGeom prst="rect">
            <a:avLst/>
          </a:prstGeom>
          <a:noFill/>
        </p:spPr>
        <p:txBody>
          <a:bodyPr wrap="square">
            <a:spAutoFit/>
          </a:bodyPr>
          <a:lstStyle/>
          <a:p>
            <a:pPr marL="342900" indent="-342900" algn="l" latinLnBrk="0">
              <a:spcBef>
                <a:spcPts val="1800"/>
              </a:spcBef>
              <a:buFont typeface="Arial" panose="020B0604020202020204" pitchFamily="34" charset="0"/>
              <a:buChar char="•"/>
            </a:pPr>
            <a:r>
              <a:rPr lang="zh-CN" altLang="en-US" sz="2400" b="1" i="0" dirty="0">
                <a:solidFill>
                  <a:srgbClr val="000000"/>
                </a:solidFill>
                <a:effectLst/>
                <a:latin typeface="Arial" panose="020B0604020202020204" pitchFamily="34" charset="0"/>
                <a:ea typeface="微软雅黑" panose="020B0503020204020204" pitchFamily="34" charset="-122"/>
              </a:rPr>
              <a:t>若层数太多，又会在描述和综合各层功能的系统工程任务时遇到较多的困难，实现复杂。</a:t>
            </a:r>
            <a:endParaRPr lang="en-US" altLang="zh-CN" sz="2400" b="1" i="0" dirty="0">
              <a:solidFill>
                <a:srgbClr val="000000"/>
              </a:solidFill>
              <a:effectLst/>
              <a:latin typeface="Arial" panose="020B0604020202020204" pitchFamily="34" charset="0"/>
              <a:ea typeface="微软雅黑" panose="020B0503020204020204" pitchFamily="34" charset="-122"/>
            </a:endParaRPr>
          </a:p>
        </p:txBody>
      </p:sp>
      <p:sp>
        <p:nvSpPr>
          <p:cNvPr id="6" name="文本框 5">
            <a:extLst>
              <a:ext uri="{FF2B5EF4-FFF2-40B4-BE49-F238E27FC236}">
                <a16:creationId xmlns:a16="http://schemas.microsoft.com/office/drawing/2014/main" id="{143DBCEF-AA93-4610-BB38-ADE893A0293B}"/>
              </a:ext>
            </a:extLst>
          </p:cNvPr>
          <p:cNvSpPr txBox="1"/>
          <p:nvPr/>
        </p:nvSpPr>
        <p:spPr>
          <a:xfrm>
            <a:off x="784010" y="3068613"/>
            <a:ext cx="10623975" cy="461665"/>
          </a:xfrm>
          <a:prstGeom prst="rect">
            <a:avLst/>
          </a:prstGeom>
          <a:noFill/>
        </p:spPr>
        <p:txBody>
          <a:bodyPr wrap="square">
            <a:spAutoFit/>
          </a:bodyPr>
          <a:lstStyle/>
          <a:p>
            <a:pPr marL="342900" indent="-342900" algn="l" latinLnBrk="0">
              <a:spcBef>
                <a:spcPts val="1800"/>
              </a:spcBef>
              <a:buFont typeface="Arial" panose="020B0604020202020204" pitchFamily="34" charset="0"/>
              <a:buChar char="•"/>
            </a:pPr>
            <a:r>
              <a:rPr lang="zh-CN" altLang="en-US" sz="2400" b="1" dirty="0">
                <a:solidFill>
                  <a:srgbClr val="000000"/>
                </a:solidFill>
                <a:latin typeface="Arial" panose="020B0604020202020204" pitchFamily="34" charset="0"/>
                <a:ea typeface="微软雅黑" panose="020B0503020204020204" pitchFamily="34" charset="-122"/>
              </a:rPr>
              <a:t>主流：</a:t>
            </a:r>
            <a:r>
              <a:rPr lang="en-US" altLang="zh-CN" sz="2400" b="1" dirty="0">
                <a:solidFill>
                  <a:srgbClr val="000000"/>
                </a:solidFill>
                <a:latin typeface="Arial" panose="020B0604020202020204" pitchFamily="34" charset="0"/>
                <a:ea typeface="微软雅黑" panose="020B0503020204020204" pitchFamily="34" charset="-122"/>
              </a:rPr>
              <a:t>OSI </a:t>
            </a:r>
            <a:r>
              <a:rPr lang="zh-CN" altLang="en-US" sz="2400" b="1" dirty="0">
                <a:solidFill>
                  <a:srgbClr val="000000"/>
                </a:solidFill>
                <a:latin typeface="Arial" panose="020B0604020202020204" pitchFamily="34" charset="0"/>
                <a:ea typeface="微软雅黑" panose="020B0503020204020204" pitchFamily="34" charset="-122"/>
              </a:rPr>
              <a:t>七层模型和</a:t>
            </a:r>
            <a:r>
              <a:rPr lang="en-US" altLang="zh-CN" sz="2400" b="1" dirty="0">
                <a:solidFill>
                  <a:srgbClr val="000000"/>
                </a:solidFill>
                <a:latin typeface="Arial" panose="020B0604020202020204" pitchFamily="34" charset="0"/>
                <a:ea typeface="微软雅黑" panose="020B0503020204020204" pitchFamily="34" charset="-122"/>
              </a:rPr>
              <a:t>TCP/IP</a:t>
            </a:r>
            <a:r>
              <a:rPr lang="zh-CN" altLang="en-US" sz="2400" b="1" dirty="0">
                <a:solidFill>
                  <a:srgbClr val="000000"/>
                </a:solidFill>
                <a:latin typeface="Arial" panose="020B0604020202020204" pitchFamily="34" charset="0"/>
                <a:ea typeface="微软雅黑" panose="020B0503020204020204" pitchFamily="34" charset="-122"/>
              </a:rPr>
              <a:t> 四层模型</a:t>
            </a:r>
            <a:endParaRPr lang="en-US" altLang="zh-CN" sz="2400" b="1" i="0" dirty="0">
              <a:solidFill>
                <a:srgbClr val="000000"/>
              </a:solidFill>
              <a:effectLst/>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89776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P spid="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DAA5D5E-1EB5-4BA0-961E-FD59E2648D7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zh-CN" altLang="en-US" sz="2800" b="1" kern="0" dirty="0">
                <a:solidFill>
                  <a:srgbClr val="C00000"/>
                </a:solidFill>
                <a:latin typeface="微软雅黑" panose="020B0503020204020204" pitchFamily="34" charset="-122"/>
                <a:ea typeface="微软雅黑" panose="020B0503020204020204" pitchFamily="34" charset="-122"/>
              </a:rPr>
              <a:t>网络体系结构的基本概念</a:t>
            </a:r>
          </a:p>
        </p:txBody>
      </p:sp>
      <p:pic>
        <p:nvPicPr>
          <p:cNvPr id="3" name="图片 2">
            <a:extLst>
              <a:ext uri="{FF2B5EF4-FFF2-40B4-BE49-F238E27FC236}">
                <a16:creationId xmlns:a16="http://schemas.microsoft.com/office/drawing/2014/main" id="{95198753-9F02-405E-A2FE-1E6428D71737}"/>
              </a:ext>
            </a:extLst>
          </p:cNvPr>
          <p:cNvPicPr>
            <a:picLocks noChangeAspect="1"/>
          </p:cNvPicPr>
          <p:nvPr/>
        </p:nvPicPr>
        <p:blipFill>
          <a:blip r:embed="rId3"/>
          <a:stretch>
            <a:fillRect/>
          </a:stretch>
        </p:blipFill>
        <p:spPr>
          <a:xfrm>
            <a:off x="1034087" y="1499739"/>
            <a:ext cx="6653261" cy="4191031"/>
          </a:xfrm>
          <a:prstGeom prst="rect">
            <a:avLst/>
          </a:prstGeom>
        </p:spPr>
      </p:pic>
    </p:spTree>
    <p:extLst>
      <p:ext uri="{BB962C8B-B14F-4D97-AF65-F5344CB8AC3E}">
        <p14:creationId xmlns:p14="http://schemas.microsoft.com/office/powerpoint/2010/main" val="11494690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DAA5D5E-1EB5-4BA0-961E-FD59E2648D7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zh-CN" altLang="en-US" sz="2800" b="1" kern="0" dirty="0">
                <a:solidFill>
                  <a:srgbClr val="C00000"/>
                </a:solidFill>
                <a:latin typeface="微软雅黑" panose="020B0503020204020204" pitchFamily="34" charset="-122"/>
                <a:ea typeface="微软雅黑" panose="020B0503020204020204" pitchFamily="34" charset="-122"/>
              </a:rPr>
              <a:t>网络体系结构的基本概念</a:t>
            </a:r>
          </a:p>
        </p:txBody>
      </p:sp>
      <p:pic>
        <p:nvPicPr>
          <p:cNvPr id="5" name="图片 4">
            <a:extLst>
              <a:ext uri="{FF2B5EF4-FFF2-40B4-BE49-F238E27FC236}">
                <a16:creationId xmlns:a16="http://schemas.microsoft.com/office/drawing/2014/main" id="{28C47760-55C4-4290-A5A1-733C4861A603}"/>
              </a:ext>
            </a:extLst>
          </p:cNvPr>
          <p:cNvPicPr>
            <a:picLocks noChangeAspect="1"/>
          </p:cNvPicPr>
          <p:nvPr/>
        </p:nvPicPr>
        <p:blipFill>
          <a:blip r:embed="rId3"/>
          <a:stretch>
            <a:fillRect/>
          </a:stretch>
        </p:blipFill>
        <p:spPr>
          <a:xfrm>
            <a:off x="1616842" y="1231305"/>
            <a:ext cx="7308949" cy="4882094"/>
          </a:xfrm>
          <a:prstGeom prst="rect">
            <a:avLst/>
          </a:prstGeom>
        </p:spPr>
      </p:pic>
    </p:spTree>
    <p:extLst>
      <p:ext uri="{BB962C8B-B14F-4D97-AF65-F5344CB8AC3E}">
        <p14:creationId xmlns:p14="http://schemas.microsoft.com/office/powerpoint/2010/main" val="39125793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DAA5D5E-1EB5-4BA0-961E-FD59E2648D7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zh-CN" altLang="en-US" sz="2800" b="1" kern="0" dirty="0">
                <a:solidFill>
                  <a:srgbClr val="C00000"/>
                </a:solidFill>
                <a:latin typeface="微软雅黑" panose="020B0503020204020204" pitchFamily="34" charset="-122"/>
                <a:ea typeface="微软雅黑" panose="020B0503020204020204" pitchFamily="34" charset="-122"/>
              </a:rPr>
              <a:t>网络体系结构的基本概念</a:t>
            </a:r>
          </a:p>
        </p:txBody>
      </p:sp>
      <p:pic>
        <p:nvPicPr>
          <p:cNvPr id="3" name="图片 2">
            <a:extLst>
              <a:ext uri="{FF2B5EF4-FFF2-40B4-BE49-F238E27FC236}">
                <a16:creationId xmlns:a16="http://schemas.microsoft.com/office/drawing/2014/main" id="{0793D195-5778-44B2-B46B-9AFFE50ACBA2}"/>
              </a:ext>
            </a:extLst>
          </p:cNvPr>
          <p:cNvPicPr>
            <a:picLocks noChangeAspect="1"/>
          </p:cNvPicPr>
          <p:nvPr/>
        </p:nvPicPr>
        <p:blipFill>
          <a:blip r:embed="rId3"/>
          <a:stretch>
            <a:fillRect/>
          </a:stretch>
        </p:blipFill>
        <p:spPr>
          <a:xfrm>
            <a:off x="1719017" y="1275467"/>
            <a:ext cx="7700606" cy="4605788"/>
          </a:xfrm>
          <a:prstGeom prst="rect">
            <a:avLst/>
          </a:prstGeom>
        </p:spPr>
      </p:pic>
    </p:spTree>
    <p:extLst>
      <p:ext uri="{BB962C8B-B14F-4D97-AF65-F5344CB8AC3E}">
        <p14:creationId xmlns:p14="http://schemas.microsoft.com/office/powerpoint/2010/main" val="21793197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DAA5D5E-1EB5-4BA0-961E-FD59E2648D7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zh-CN" altLang="en-US" sz="2800" b="1" kern="0" dirty="0">
                <a:solidFill>
                  <a:srgbClr val="C00000"/>
                </a:solidFill>
                <a:latin typeface="微软雅黑" panose="020B0503020204020204" pitchFamily="34" charset="-122"/>
                <a:ea typeface="微软雅黑" panose="020B0503020204020204" pitchFamily="34" charset="-122"/>
              </a:rPr>
              <a:t>网络体系结构的基本概念</a:t>
            </a:r>
          </a:p>
        </p:txBody>
      </p:sp>
      <p:pic>
        <p:nvPicPr>
          <p:cNvPr id="4" name="图片 3">
            <a:extLst>
              <a:ext uri="{FF2B5EF4-FFF2-40B4-BE49-F238E27FC236}">
                <a16:creationId xmlns:a16="http://schemas.microsoft.com/office/drawing/2014/main" id="{10C81F27-ACD3-40B8-BD9C-1684C90D8F91}"/>
              </a:ext>
            </a:extLst>
          </p:cNvPr>
          <p:cNvPicPr>
            <a:picLocks noChangeAspect="1"/>
          </p:cNvPicPr>
          <p:nvPr/>
        </p:nvPicPr>
        <p:blipFill>
          <a:blip r:embed="rId3"/>
          <a:stretch>
            <a:fillRect/>
          </a:stretch>
        </p:blipFill>
        <p:spPr>
          <a:xfrm>
            <a:off x="2038323" y="1334999"/>
            <a:ext cx="7200953" cy="4395820"/>
          </a:xfrm>
          <a:prstGeom prst="rect">
            <a:avLst/>
          </a:prstGeom>
        </p:spPr>
      </p:pic>
    </p:spTree>
    <p:extLst>
      <p:ext uri="{BB962C8B-B14F-4D97-AF65-F5344CB8AC3E}">
        <p14:creationId xmlns:p14="http://schemas.microsoft.com/office/powerpoint/2010/main" val="228602415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DAA5D5E-1EB5-4BA0-961E-FD59E2648D7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zh-CN" altLang="en-US" sz="2800" b="1" kern="0" dirty="0">
                <a:solidFill>
                  <a:srgbClr val="C00000"/>
                </a:solidFill>
                <a:latin typeface="微软雅黑" panose="020B0503020204020204" pitchFamily="34" charset="-122"/>
                <a:ea typeface="微软雅黑" panose="020B0503020204020204" pitchFamily="34" charset="-122"/>
              </a:rPr>
              <a:t>网络体系结构的基本概念</a:t>
            </a:r>
          </a:p>
        </p:txBody>
      </p:sp>
      <p:pic>
        <p:nvPicPr>
          <p:cNvPr id="3" name="图片 2">
            <a:extLst>
              <a:ext uri="{FF2B5EF4-FFF2-40B4-BE49-F238E27FC236}">
                <a16:creationId xmlns:a16="http://schemas.microsoft.com/office/drawing/2014/main" id="{85FE7921-ABA8-4B68-B7DB-26315D40261A}"/>
              </a:ext>
            </a:extLst>
          </p:cNvPr>
          <p:cNvPicPr>
            <a:picLocks noChangeAspect="1"/>
          </p:cNvPicPr>
          <p:nvPr/>
        </p:nvPicPr>
        <p:blipFill>
          <a:blip r:embed="rId3"/>
          <a:stretch>
            <a:fillRect/>
          </a:stretch>
        </p:blipFill>
        <p:spPr>
          <a:xfrm>
            <a:off x="1756037" y="1058528"/>
            <a:ext cx="6702163" cy="2966743"/>
          </a:xfrm>
          <a:prstGeom prst="rect">
            <a:avLst/>
          </a:prstGeom>
        </p:spPr>
      </p:pic>
      <p:pic>
        <p:nvPicPr>
          <p:cNvPr id="6" name="图片 5">
            <a:extLst>
              <a:ext uri="{FF2B5EF4-FFF2-40B4-BE49-F238E27FC236}">
                <a16:creationId xmlns:a16="http://schemas.microsoft.com/office/drawing/2014/main" id="{EE46F5DA-3067-49C3-AE00-2D77AB044172}"/>
              </a:ext>
            </a:extLst>
          </p:cNvPr>
          <p:cNvPicPr>
            <a:picLocks noChangeAspect="1"/>
          </p:cNvPicPr>
          <p:nvPr/>
        </p:nvPicPr>
        <p:blipFill>
          <a:blip r:embed="rId4"/>
          <a:stretch>
            <a:fillRect/>
          </a:stretch>
        </p:blipFill>
        <p:spPr>
          <a:xfrm>
            <a:off x="2198251" y="4025271"/>
            <a:ext cx="5685203" cy="2485171"/>
          </a:xfrm>
          <a:prstGeom prst="rect">
            <a:avLst/>
          </a:prstGeom>
        </p:spPr>
      </p:pic>
    </p:spTree>
    <p:extLst>
      <p:ext uri="{BB962C8B-B14F-4D97-AF65-F5344CB8AC3E}">
        <p14:creationId xmlns:p14="http://schemas.microsoft.com/office/powerpoint/2010/main" val="30828082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Content Placeholder 2"/>
          <p:cNvSpPr>
            <a:spLocks noGrp="1"/>
          </p:cNvSpPr>
          <p:nvPr>
            <p:ph idx="1"/>
          </p:nvPr>
        </p:nvSpPr>
        <p:spPr>
          <a:xfrm>
            <a:off x="301659" y="1004337"/>
            <a:ext cx="11716652" cy="2503363"/>
          </a:xfrm>
        </p:spPr>
        <p:txBody>
          <a:bodyPr>
            <a:normAutofit/>
          </a:bodyPr>
          <a:lstStyle/>
          <a:p>
            <a:r>
              <a:rPr lang="en-US" altLang="zh-CN" sz="1800" dirty="0">
                <a:latin typeface="Arial" panose="020B0604020202020204" pitchFamily="34" charset="0"/>
                <a:ea typeface="宋体" panose="02010600030101010101" pitchFamily="2" charset="-122"/>
                <a:cs typeface="Arial" panose="020B0604020202020204" pitchFamily="34" charset="0"/>
              </a:rPr>
              <a:t>A service is provided to the layer above as primitives</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服务在形式上是由一组接口原语（或操作）来描述的。</a:t>
            </a:r>
            <a:endParaRPr lang="en-US" altLang="zh-CN" sz="1800" dirty="0">
              <a:latin typeface="微软雅黑" panose="020B0503020204020204" pitchFamily="34" charset="-122"/>
              <a:ea typeface="微软雅黑" panose="020B0503020204020204" pitchFamily="34" charset="-122"/>
              <a:cs typeface="Arial" panose="020B0604020202020204" pitchFamily="34" charset="0"/>
            </a:endParaRPr>
          </a:p>
          <a:p>
            <a:r>
              <a:rPr lang="en-US" altLang="zh-CN" sz="1800" dirty="0">
                <a:latin typeface="Arial" panose="020B0604020202020204" pitchFamily="34" charset="0"/>
                <a:ea typeface="宋体" panose="02010600030101010101" pitchFamily="2" charset="-122"/>
                <a:cs typeface="Arial" panose="020B0604020202020204" pitchFamily="34" charset="0"/>
              </a:rPr>
              <a:t>Each protocol which communicates in a layered architecture (e.g. based on the OSI Reference Model) communicates in a peer-to-peer manner with its remote protocol entity. </a:t>
            </a:r>
            <a:r>
              <a:rPr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rPr>
              <a:t>Communication between adjacent protocol layers (i.e. within the same communications node) are managed by calling functions, called primitives, between the layers. </a:t>
            </a:r>
          </a:p>
          <a:p>
            <a:r>
              <a:rPr lang="en-US" altLang="zh-CN" sz="1800" dirty="0">
                <a:latin typeface="Arial" panose="020B0604020202020204" pitchFamily="34" charset="0"/>
                <a:ea typeface="宋体" panose="02010600030101010101" pitchFamily="2" charset="-122"/>
                <a:cs typeface="Arial" panose="020B0604020202020204" pitchFamily="34" charset="0"/>
              </a:rPr>
              <a:t>The primitives are called at the client and server by the higher layer using the service. </a:t>
            </a:r>
          </a:p>
          <a:p>
            <a:r>
              <a:rPr lang="en-US" altLang="zh-CN" sz="1800" dirty="0">
                <a:latin typeface="Arial" panose="020B0604020202020204" pitchFamily="34" charset="0"/>
                <a:ea typeface="宋体" panose="02010600030101010101" pitchFamily="2" charset="-122"/>
                <a:cs typeface="Arial" panose="020B0604020202020204" pitchFamily="34" charset="0"/>
              </a:rPr>
              <a:t>Hypothetical example of service primitives that may provide a reliable byte stream (connection-oriented) service:</a:t>
            </a:r>
          </a:p>
        </p:txBody>
      </p:sp>
      <p:sp>
        <p:nvSpPr>
          <p:cNvPr id="18436"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pic>
        <p:nvPicPr>
          <p:cNvPr id="1843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2792" y="3616409"/>
            <a:ext cx="6606073" cy="2631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706A850-CA71-4BAC-A613-6E5A1D20A5A7}"/>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Service Primitives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132711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Content Placeholder 2"/>
          <p:cNvSpPr>
            <a:spLocks noGrp="1"/>
          </p:cNvSpPr>
          <p:nvPr>
            <p:ph idx="1"/>
          </p:nvPr>
        </p:nvSpPr>
        <p:spPr>
          <a:xfrm>
            <a:off x="684049" y="1116270"/>
            <a:ext cx="11078741" cy="967859"/>
          </a:xfrm>
        </p:spPr>
        <p:txBody>
          <a:bodyPr>
            <a:normAutofit/>
          </a:bodyPr>
          <a:lstStyle/>
          <a:p>
            <a:r>
              <a:rPr lang="en-US" altLang="zh-CN" sz="2400" dirty="0">
                <a:ea typeface="宋体" panose="02010600030101010101" pitchFamily="2" charset="-122"/>
              </a:rPr>
              <a:t>Hypothetical example of how these primitives may be used for a client-server interaction</a:t>
            </a:r>
          </a:p>
        </p:txBody>
      </p:sp>
      <p:sp>
        <p:nvSpPr>
          <p:cNvPr id="1946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grpSp>
        <p:nvGrpSpPr>
          <p:cNvPr id="19461" name="Group 40"/>
          <p:cNvGrpSpPr>
            <a:grpSpLocks/>
          </p:cNvGrpSpPr>
          <p:nvPr/>
        </p:nvGrpSpPr>
        <p:grpSpPr bwMode="auto">
          <a:xfrm>
            <a:off x="6964471" y="2401085"/>
            <a:ext cx="4581250" cy="3266290"/>
            <a:chOff x="587126" y="2124075"/>
            <a:chExt cx="7045680" cy="3543300"/>
          </a:xfrm>
        </p:grpSpPr>
        <p:grpSp>
          <p:nvGrpSpPr>
            <p:cNvPr id="19462" name="Group 37"/>
            <p:cNvGrpSpPr>
              <a:grpSpLocks/>
            </p:cNvGrpSpPr>
            <p:nvPr/>
          </p:nvGrpSpPr>
          <p:grpSpPr bwMode="auto">
            <a:xfrm>
              <a:off x="587126" y="2124075"/>
              <a:ext cx="6974968" cy="3543300"/>
              <a:chOff x="349001" y="1828800"/>
              <a:chExt cx="6974968" cy="3543300"/>
            </a:xfrm>
          </p:grpSpPr>
          <p:cxnSp>
            <p:nvCxnSpPr>
              <p:cNvPr id="19465" name="Straight Connector 5"/>
              <p:cNvCxnSpPr>
                <a:cxnSpLocks noChangeShapeType="1"/>
              </p:cNvCxnSpPr>
              <p:nvPr/>
            </p:nvCxnSpPr>
            <p:spPr bwMode="auto">
              <a:xfrm rot="5400000">
                <a:off x="1138238" y="3776662"/>
                <a:ext cx="319087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9466" name="Straight Connector 6"/>
              <p:cNvCxnSpPr>
                <a:cxnSpLocks noChangeShapeType="1"/>
              </p:cNvCxnSpPr>
              <p:nvPr/>
            </p:nvCxnSpPr>
            <p:spPr bwMode="auto">
              <a:xfrm rot="5400000">
                <a:off x="3890962" y="3767139"/>
                <a:ext cx="317182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9467" name="TextBox 7"/>
              <p:cNvSpPr txBox="1">
                <a:spLocks noChangeArrowheads="1"/>
              </p:cNvSpPr>
              <p:nvPr/>
            </p:nvSpPr>
            <p:spPr bwMode="auto">
              <a:xfrm>
                <a:off x="2352675" y="1838325"/>
                <a:ext cx="719859" cy="367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Client</a:t>
                </a:r>
              </a:p>
            </p:txBody>
          </p:sp>
          <p:sp>
            <p:nvSpPr>
              <p:cNvPr id="19468" name="TextBox 8"/>
              <p:cNvSpPr txBox="1">
                <a:spLocks noChangeArrowheads="1"/>
              </p:cNvSpPr>
              <p:nvPr/>
            </p:nvSpPr>
            <p:spPr bwMode="auto">
              <a:xfrm>
                <a:off x="5038725" y="1828800"/>
                <a:ext cx="803072" cy="367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Server</a:t>
                </a:r>
              </a:p>
            </p:txBody>
          </p:sp>
          <p:cxnSp>
            <p:nvCxnSpPr>
              <p:cNvPr id="19469" name="Straight Arrow Connector 10"/>
              <p:cNvCxnSpPr>
                <a:cxnSpLocks noChangeShapeType="1"/>
              </p:cNvCxnSpPr>
              <p:nvPr/>
            </p:nvCxnSpPr>
            <p:spPr bwMode="auto">
              <a:xfrm>
                <a:off x="2733675" y="2771775"/>
                <a:ext cx="2743200" cy="152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9470" name="Straight Arrow Connector 11"/>
              <p:cNvCxnSpPr>
                <a:cxnSpLocks noChangeShapeType="1"/>
              </p:cNvCxnSpPr>
              <p:nvPr/>
            </p:nvCxnSpPr>
            <p:spPr bwMode="auto">
              <a:xfrm flipH="1">
                <a:off x="2724150" y="3000375"/>
                <a:ext cx="2743200" cy="152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9471" name="Straight Arrow Connector 12"/>
              <p:cNvCxnSpPr>
                <a:cxnSpLocks noChangeShapeType="1"/>
              </p:cNvCxnSpPr>
              <p:nvPr/>
            </p:nvCxnSpPr>
            <p:spPr bwMode="auto">
              <a:xfrm>
                <a:off x="2743200" y="3705225"/>
                <a:ext cx="2743200" cy="152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9472" name="Straight Arrow Connector 13"/>
              <p:cNvCxnSpPr>
                <a:cxnSpLocks noChangeShapeType="1"/>
              </p:cNvCxnSpPr>
              <p:nvPr/>
            </p:nvCxnSpPr>
            <p:spPr bwMode="auto">
              <a:xfrm flipH="1">
                <a:off x="2733675" y="4038600"/>
                <a:ext cx="2743200" cy="152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9473" name="Straight Arrow Connector 14"/>
              <p:cNvCxnSpPr>
                <a:cxnSpLocks noChangeShapeType="1"/>
              </p:cNvCxnSpPr>
              <p:nvPr/>
            </p:nvCxnSpPr>
            <p:spPr bwMode="auto">
              <a:xfrm>
                <a:off x="2771775" y="4686300"/>
                <a:ext cx="2743200" cy="152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9474" name="Straight Arrow Connector 15"/>
              <p:cNvCxnSpPr>
                <a:cxnSpLocks noChangeShapeType="1"/>
              </p:cNvCxnSpPr>
              <p:nvPr/>
            </p:nvCxnSpPr>
            <p:spPr bwMode="auto">
              <a:xfrm flipH="1">
                <a:off x="2762250" y="4914900"/>
                <a:ext cx="2743200" cy="152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9475" name="TextBox 16"/>
              <p:cNvSpPr txBox="1">
                <a:spLocks noChangeArrowheads="1"/>
              </p:cNvSpPr>
              <p:nvPr/>
            </p:nvSpPr>
            <p:spPr bwMode="auto">
              <a:xfrm>
                <a:off x="5648325" y="2238375"/>
                <a:ext cx="1100021"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LISTEN (0)</a:t>
                </a:r>
              </a:p>
            </p:txBody>
          </p:sp>
          <p:sp>
            <p:nvSpPr>
              <p:cNvPr id="19476" name="TextBox 17"/>
              <p:cNvSpPr txBox="1">
                <a:spLocks noChangeArrowheads="1"/>
              </p:cNvSpPr>
              <p:nvPr/>
            </p:nvSpPr>
            <p:spPr bwMode="auto">
              <a:xfrm>
                <a:off x="5657850" y="2781300"/>
                <a:ext cx="977587"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ACCEPT </a:t>
                </a:r>
              </a:p>
            </p:txBody>
          </p:sp>
          <p:sp>
            <p:nvSpPr>
              <p:cNvPr id="19477" name="TextBox 18"/>
              <p:cNvSpPr txBox="1">
                <a:spLocks noChangeArrowheads="1"/>
              </p:cNvSpPr>
              <p:nvPr/>
            </p:nvSpPr>
            <p:spPr bwMode="auto">
              <a:xfrm>
                <a:off x="5648325" y="2981325"/>
                <a:ext cx="992336"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RECEIVE</a:t>
                </a:r>
              </a:p>
            </p:txBody>
          </p:sp>
          <p:sp>
            <p:nvSpPr>
              <p:cNvPr id="19478" name="TextBox 19"/>
              <p:cNvSpPr txBox="1">
                <a:spLocks noChangeArrowheads="1"/>
              </p:cNvSpPr>
              <p:nvPr/>
            </p:nvSpPr>
            <p:spPr bwMode="auto">
              <a:xfrm>
                <a:off x="5667374" y="3819525"/>
                <a:ext cx="969494"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SEND (4)</a:t>
                </a:r>
              </a:p>
            </p:txBody>
          </p:sp>
          <p:sp>
            <p:nvSpPr>
              <p:cNvPr id="19479" name="TextBox 20"/>
              <p:cNvSpPr txBox="1">
                <a:spLocks noChangeArrowheads="1"/>
              </p:cNvSpPr>
              <p:nvPr/>
            </p:nvSpPr>
            <p:spPr bwMode="auto">
              <a:xfrm>
                <a:off x="5657850" y="4733925"/>
                <a:ext cx="1666119"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DISCONNECT (6)</a:t>
                </a:r>
              </a:p>
            </p:txBody>
          </p:sp>
          <p:sp>
            <p:nvSpPr>
              <p:cNvPr id="19480" name="TextBox 22"/>
              <p:cNvSpPr txBox="1">
                <a:spLocks noChangeArrowheads="1"/>
              </p:cNvSpPr>
              <p:nvPr/>
            </p:nvSpPr>
            <p:spPr bwMode="auto">
              <a:xfrm>
                <a:off x="730000" y="2581275"/>
                <a:ext cx="1361011"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dirty="0">
                    <a:ea typeface="宋体" panose="02010600030101010101" pitchFamily="2" charset="-122"/>
                  </a:rPr>
                  <a:t>CONNECT (1)</a:t>
                </a:r>
              </a:p>
            </p:txBody>
          </p:sp>
          <p:sp>
            <p:nvSpPr>
              <p:cNvPr id="19481" name="TextBox 23"/>
              <p:cNvSpPr txBox="1">
                <a:spLocks noChangeArrowheads="1"/>
              </p:cNvSpPr>
              <p:nvPr/>
            </p:nvSpPr>
            <p:spPr bwMode="auto">
              <a:xfrm>
                <a:off x="1234826" y="3491984"/>
                <a:ext cx="697017"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SEND</a:t>
                </a:r>
              </a:p>
            </p:txBody>
          </p:sp>
          <p:sp>
            <p:nvSpPr>
              <p:cNvPr id="19482" name="TextBox 24"/>
              <p:cNvSpPr txBox="1">
                <a:spLocks noChangeArrowheads="1"/>
              </p:cNvSpPr>
              <p:nvPr/>
            </p:nvSpPr>
            <p:spPr bwMode="auto">
              <a:xfrm>
                <a:off x="853826" y="3724275"/>
                <a:ext cx="992336"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RECEIVE</a:t>
                </a:r>
              </a:p>
            </p:txBody>
          </p:sp>
          <p:sp>
            <p:nvSpPr>
              <p:cNvPr id="19483" name="TextBox 26"/>
              <p:cNvSpPr txBox="1">
                <a:spLocks noChangeArrowheads="1"/>
              </p:cNvSpPr>
              <p:nvPr/>
            </p:nvSpPr>
            <p:spPr bwMode="auto">
              <a:xfrm>
                <a:off x="349001" y="4476750"/>
                <a:ext cx="1666118"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dirty="0">
                    <a:ea typeface="宋体" panose="02010600030101010101" pitchFamily="2" charset="-122"/>
                  </a:rPr>
                  <a:t>DISCONNECT (5)</a:t>
                </a:r>
              </a:p>
            </p:txBody>
          </p:sp>
          <p:sp>
            <p:nvSpPr>
              <p:cNvPr id="19484" name="TextBox 27"/>
              <p:cNvSpPr txBox="1">
                <a:spLocks noChangeArrowheads="1"/>
              </p:cNvSpPr>
              <p:nvPr/>
            </p:nvSpPr>
            <p:spPr bwMode="auto">
              <a:xfrm>
                <a:off x="3143250" y="2495549"/>
                <a:ext cx="1524236"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Connect request</a:t>
                </a:r>
              </a:p>
            </p:txBody>
          </p:sp>
          <p:sp>
            <p:nvSpPr>
              <p:cNvPr id="19485" name="TextBox 28"/>
              <p:cNvSpPr txBox="1">
                <a:spLocks noChangeArrowheads="1"/>
              </p:cNvSpPr>
              <p:nvPr/>
            </p:nvSpPr>
            <p:spPr bwMode="auto">
              <a:xfrm>
                <a:off x="3181350" y="3048000"/>
                <a:ext cx="1545446"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Accept response</a:t>
                </a:r>
              </a:p>
            </p:txBody>
          </p:sp>
          <p:sp>
            <p:nvSpPr>
              <p:cNvPr id="19486" name="TextBox 29"/>
              <p:cNvSpPr txBox="1">
                <a:spLocks noChangeArrowheads="1"/>
              </p:cNvSpPr>
              <p:nvPr/>
            </p:nvSpPr>
            <p:spPr bwMode="auto">
              <a:xfrm>
                <a:off x="3162300" y="3409950"/>
                <a:ext cx="1534026"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dirty="0">
                    <a:ea typeface="宋体" panose="02010600030101010101" pitchFamily="2" charset="-122"/>
                  </a:rPr>
                  <a:t>Request for data</a:t>
                </a:r>
              </a:p>
            </p:txBody>
          </p:sp>
          <p:sp>
            <p:nvSpPr>
              <p:cNvPr id="19487" name="TextBox 30"/>
              <p:cNvSpPr txBox="1">
                <a:spLocks noChangeArrowheads="1"/>
              </p:cNvSpPr>
              <p:nvPr/>
            </p:nvSpPr>
            <p:spPr bwMode="auto">
              <a:xfrm>
                <a:off x="3619500" y="4067175"/>
                <a:ext cx="654596"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Reply</a:t>
                </a:r>
              </a:p>
            </p:txBody>
          </p:sp>
          <p:sp>
            <p:nvSpPr>
              <p:cNvPr id="19488" name="TextBox 31"/>
              <p:cNvSpPr txBox="1">
                <a:spLocks noChangeArrowheads="1"/>
              </p:cNvSpPr>
              <p:nvPr/>
            </p:nvSpPr>
            <p:spPr bwMode="auto">
              <a:xfrm>
                <a:off x="3390900" y="4419600"/>
                <a:ext cx="1090232"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Disconnect</a:t>
                </a:r>
              </a:p>
            </p:txBody>
          </p:sp>
          <p:sp>
            <p:nvSpPr>
              <p:cNvPr id="19489" name="TextBox 32"/>
              <p:cNvSpPr txBox="1">
                <a:spLocks noChangeArrowheads="1"/>
              </p:cNvSpPr>
              <p:nvPr/>
            </p:nvSpPr>
            <p:spPr bwMode="auto">
              <a:xfrm>
                <a:off x="3390900" y="4953000"/>
                <a:ext cx="1090232"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Disconnect</a:t>
                </a:r>
              </a:p>
            </p:txBody>
          </p:sp>
        </p:grpSp>
        <p:sp>
          <p:nvSpPr>
            <p:cNvPr id="19463" name="TextBox 38"/>
            <p:cNvSpPr txBox="1">
              <a:spLocks noChangeArrowheads="1"/>
            </p:cNvSpPr>
            <p:nvPr/>
          </p:nvSpPr>
          <p:spPr bwMode="auto">
            <a:xfrm>
              <a:off x="7222950" y="3164443"/>
              <a:ext cx="409856"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dirty="0">
                  <a:ea typeface="宋体" panose="02010600030101010101" pitchFamily="2" charset="-122"/>
                </a:rPr>
                <a:t>(2)</a:t>
              </a:r>
            </a:p>
          </p:txBody>
        </p:sp>
        <p:sp>
          <p:nvSpPr>
            <p:cNvPr id="19464" name="TextBox 39"/>
            <p:cNvSpPr txBox="1">
              <a:spLocks noChangeArrowheads="1"/>
            </p:cNvSpPr>
            <p:nvPr/>
          </p:nvSpPr>
          <p:spPr bwMode="auto">
            <a:xfrm>
              <a:off x="2409185" y="3905995"/>
              <a:ext cx="409856" cy="33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dirty="0">
                  <a:ea typeface="宋体" panose="02010600030101010101" pitchFamily="2" charset="-122"/>
                </a:rPr>
                <a:t>(3)</a:t>
              </a:r>
            </a:p>
          </p:txBody>
        </p:sp>
      </p:grpSp>
      <p:sp>
        <p:nvSpPr>
          <p:cNvPr id="2" name="矩形 1">
            <a:extLst>
              <a:ext uri="{FF2B5EF4-FFF2-40B4-BE49-F238E27FC236}">
                <a16:creationId xmlns:a16="http://schemas.microsoft.com/office/drawing/2014/main" id="{B01CC355-F168-4710-AC2C-481A388E3BB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Service Primitives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Picture 4" descr="1-18">
            <a:extLst>
              <a:ext uri="{FF2B5EF4-FFF2-40B4-BE49-F238E27FC236}">
                <a16:creationId xmlns:a16="http://schemas.microsoft.com/office/drawing/2014/main" id="{BC91B38A-0DAB-4C99-8682-1BDB2D8F89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133" y="3015709"/>
            <a:ext cx="6591869" cy="2258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48896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1508" name="Rectangle 3"/>
          <p:cNvSpPr>
            <a:spLocks noGrp="1" noChangeArrowheads="1"/>
          </p:cNvSpPr>
          <p:nvPr>
            <p:ph idx="1"/>
          </p:nvPr>
        </p:nvSpPr>
        <p:spPr>
          <a:xfrm>
            <a:off x="1154470" y="1040786"/>
            <a:ext cx="9163049" cy="1298087"/>
          </a:xfrm>
        </p:spPr>
        <p:txBody>
          <a:bodyPr>
            <a:normAutofit/>
          </a:bodyPr>
          <a:lstStyle/>
          <a:p>
            <a:r>
              <a:rPr lang="en-US" altLang="zh-CN" sz="2400" dirty="0">
                <a:ea typeface="宋体" panose="02010600030101010101" pitchFamily="2" charset="-122"/>
              </a:rPr>
              <a:t>Recap:</a:t>
            </a:r>
          </a:p>
          <a:p>
            <a:pPr lvl="1"/>
            <a:r>
              <a:rPr lang="en-US" altLang="zh-CN" sz="2000" dirty="0">
                <a:ea typeface="宋体" panose="02010600030101010101" pitchFamily="2" charset="-122"/>
              </a:rPr>
              <a:t>A layer provides a </a:t>
            </a:r>
            <a:r>
              <a:rPr lang="en-US" altLang="zh-CN" sz="2000" u="sng" dirty="0">
                <a:ea typeface="宋体" panose="02010600030101010101" pitchFamily="2" charset="-122"/>
              </a:rPr>
              <a:t>service</a:t>
            </a:r>
            <a:r>
              <a:rPr lang="en-US" altLang="zh-CN" sz="2000" dirty="0">
                <a:ea typeface="宋体" panose="02010600030101010101" pitchFamily="2" charset="-122"/>
              </a:rPr>
              <a:t> to the one above	[vertical]</a:t>
            </a:r>
          </a:p>
          <a:p>
            <a:pPr lvl="1"/>
            <a:r>
              <a:rPr lang="en-US" altLang="zh-CN" sz="2000" dirty="0">
                <a:ea typeface="宋体" panose="02010600030101010101" pitchFamily="2" charset="-122"/>
              </a:rPr>
              <a:t>A layer talks to its peer using a </a:t>
            </a:r>
            <a:r>
              <a:rPr lang="en-US" altLang="zh-CN" sz="2000" u="sng" dirty="0">
                <a:ea typeface="宋体" panose="02010600030101010101" pitchFamily="2" charset="-122"/>
              </a:rPr>
              <a:t>protocol</a:t>
            </a:r>
            <a:r>
              <a:rPr lang="en-US" altLang="zh-CN" sz="2000" dirty="0">
                <a:ea typeface="宋体" panose="02010600030101010101" pitchFamily="2" charset="-122"/>
              </a:rPr>
              <a:t>   	[horizontal]</a:t>
            </a:r>
            <a:endParaRPr lang="en-US" altLang="zh-CN" sz="2000" u="sng" dirty="0">
              <a:ea typeface="宋体" panose="02010600030101010101" pitchFamily="2" charset="-122"/>
            </a:endParaRPr>
          </a:p>
        </p:txBody>
      </p:sp>
      <p:sp>
        <p:nvSpPr>
          <p:cNvPr id="2" name="矩形 1">
            <a:extLst>
              <a:ext uri="{FF2B5EF4-FFF2-40B4-BE49-F238E27FC236}">
                <a16:creationId xmlns:a16="http://schemas.microsoft.com/office/drawing/2014/main" id="{A98A17BF-0BEA-44D4-BFE0-3A14AC289CAC}"/>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Relationship of Services to Protocols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E8B716DE-AA79-48C5-A92F-15E7BFC5B8A8}"/>
              </a:ext>
            </a:extLst>
          </p:cNvPr>
          <p:cNvSpPr txBox="1"/>
          <p:nvPr/>
        </p:nvSpPr>
        <p:spPr>
          <a:xfrm>
            <a:off x="429690" y="5002133"/>
            <a:ext cx="11588621" cy="1323439"/>
          </a:xfrm>
          <a:prstGeom prst="rect">
            <a:avLst/>
          </a:prstGeom>
          <a:noFill/>
        </p:spPr>
        <p:txBody>
          <a:bodyPr wrap="square">
            <a:spAutoFit/>
          </a:bodyPr>
          <a:lstStyle/>
          <a:p>
            <a:pPr marL="285750" indent="-285750" eaLnBrk="1" hangingPunct="1">
              <a:spcBef>
                <a:spcPct val="0"/>
              </a:spcBef>
              <a:buFont typeface="Arial" panose="020B0604020202020204" pitchFamily="34" charset="0"/>
              <a:buChar char="•"/>
            </a:pPr>
            <a:r>
              <a:rPr lang="en-US" altLang="zh-CN" sz="1600" b="1" dirty="0">
                <a:latin typeface="Arial" panose="020B0604020202020204" pitchFamily="34" charset="0"/>
                <a:ea typeface="微软雅黑" panose="020B0503020204020204" pitchFamily="34" charset="-122"/>
              </a:rPr>
              <a:t>Service</a:t>
            </a:r>
            <a:r>
              <a:rPr lang="en-US" altLang="zh-CN" sz="1600" dirty="0">
                <a:latin typeface="Arial" panose="020B0604020202020204" pitchFamily="34" charset="0"/>
                <a:ea typeface="微软雅黑" panose="020B0503020204020204" pitchFamily="34" charset="-122"/>
              </a:rPr>
              <a:t>: a set of primitives (operations) that a layer provides to the layer above it; it defines what operations the layer is prepared to perform on behalf of its users, but it says nothing at all about how these operations are implemented.</a:t>
            </a:r>
          </a:p>
          <a:p>
            <a:pPr marL="285750" indent="-285750" eaLnBrk="1" hangingPunct="1">
              <a:spcBef>
                <a:spcPct val="0"/>
              </a:spcBef>
              <a:buFont typeface="Arial" panose="020B0604020202020204" pitchFamily="34" charset="0"/>
              <a:buChar char="•"/>
            </a:pPr>
            <a:r>
              <a:rPr lang="en-US" altLang="zh-CN" sz="1600" b="1" dirty="0">
                <a:latin typeface="Arial" panose="020B0604020202020204" pitchFamily="34" charset="0"/>
                <a:ea typeface="微软雅黑" panose="020B0503020204020204" pitchFamily="34" charset="-122"/>
              </a:rPr>
              <a:t>Protocol</a:t>
            </a:r>
            <a:r>
              <a:rPr lang="en-US" altLang="zh-CN" sz="1600" dirty="0">
                <a:latin typeface="Arial" panose="020B0604020202020204" pitchFamily="34" charset="0"/>
                <a:ea typeface="微软雅黑" panose="020B0503020204020204" pitchFamily="34" charset="-122"/>
              </a:rPr>
              <a:t>, is a set of rules governing the format and meaning of the frames, packets, or messages that are exchanged by the peer entities </a:t>
            </a:r>
            <a:r>
              <a:rPr lang="en-US" altLang="zh-CN" sz="1600" b="1" dirty="0">
                <a:latin typeface="Arial" panose="020B0604020202020204" pitchFamily="34" charset="0"/>
                <a:ea typeface="微软雅黑" panose="020B0503020204020204" pitchFamily="34" charset="-122"/>
              </a:rPr>
              <a:t>within a layer</a:t>
            </a:r>
            <a:r>
              <a:rPr lang="en-US" altLang="zh-CN" sz="1600" dirty="0">
                <a:latin typeface="Arial" panose="020B0604020202020204" pitchFamily="34" charset="0"/>
                <a:ea typeface="微软雅黑" panose="020B0503020204020204" pitchFamily="34" charset="-122"/>
              </a:rPr>
              <a:t>.</a:t>
            </a:r>
          </a:p>
          <a:p>
            <a:pPr marL="285750" indent="-285750" eaLnBrk="1" hangingPunct="1">
              <a:spcBef>
                <a:spcPct val="0"/>
              </a:spcBef>
              <a:buFont typeface="Arial" panose="020B0604020202020204" pitchFamily="34" charset="0"/>
              <a:buChar char="•"/>
            </a:pPr>
            <a:r>
              <a:rPr lang="zh-CN" altLang="en-US" sz="1600" dirty="0">
                <a:latin typeface="Arial" panose="020B0604020202020204" pitchFamily="34" charset="0"/>
                <a:ea typeface="微软雅黑" panose="020B0503020204020204" pitchFamily="34" charset="-122"/>
              </a:rPr>
              <a:t>可以自由地改变协议，但不能改变服务，因为这些服务对于它们的用户是可见的，是提供给用户使用的。</a:t>
            </a:r>
          </a:p>
        </p:txBody>
      </p:sp>
      <p:pic>
        <p:nvPicPr>
          <p:cNvPr id="4" name="Picture 4" descr="1-19">
            <a:extLst>
              <a:ext uri="{FF2B5EF4-FFF2-40B4-BE49-F238E27FC236}">
                <a16:creationId xmlns:a16="http://schemas.microsoft.com/office/drawing/2014/main" id="{46CA3BA7-CF7F-4612-B0DE-DA2FE163D3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010" y="2511152"/>
            <a:ext cx="5616217" cy="2413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图片 2">
            <a:extLst>
              <a:ext uri="{FF2B5EF4-FFF2-40B4-BE49-F238E27FC236}">
                <a16:creationId xmlns:a16="http://schemas.microsoft.com/office/drawing/2014/main" id="{C5437750-0586-4034-8B01-4B369158376D}"/>
              </a:ext>
            </a:extLst>
          </p:cNvPr>
          <p:cNvPicPr>
            <a:picLocks noChangeAspect="1"/>
          </p:cNvPicPr>
          <p:nvPr/>
        </p:nvPicPr>
        <p:blipFill>
          <a:blip r:embed="rId4"/>
          <a:stretch>
            <a:fillRect/>
          </a:stretch>
        </p:blipFill>
        <p:spPr>
          <a:xfrm>
            <a:off x="7180119" y="2511151"/>
            <a:ext cx="4838192" cy="2230829"/>
          </a:xfrm>
          <a:prstGeom prst="rect">
            <a:avLst/>
          </a:prstGeom>
        </p:spPr>
      </p:pic>
    </p:spTree>
    <p:extLst>
      <p:ext uri="{BB962C8B-B14F-4D97-AF65-F5344CB8AC3E}">
        <p14:creationId xmlns:p14="http://schemas.microsoft.com/office/powerpoint/2010/main" val="664313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 name="矩形 1">
            <a:extLst>
              <a:ext uri="{FF2B5EF4-FFF2-40B4-BE49-F238E27FC236}">
                <a16:creationId xmlns:a16="http://schemas.microsoft.com/office/drawing/2014/main" id="{A98A17BF-0BEA-44D4-BFE0-3A14AC289CAC}"/>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Princip</a:t>
            </a:r>
            <a:r>
              <a:rPr lang="en-US" altLang="zh-CN" sz="2800" b="1" kern="0" dirty="0">
                <a:solidFill>
                  <a:srgbClr val="C00000"/>
                </a:solidFill>
                <a:latin typeface="微软雅黑" panose="020B0503020204020204" pitchFamily="34" charset="-122"/>
                <a:ea typeface="微软雅黑" panose="020B0503020204020204" pitchFamily="34" charset="-122"/>
              </a:rPr>
              <a:t>les</a:t>
            </a:r>
            <a:r>
              <a:rPr lang="zh-CN" altLang="en-US" sz="2800" b="1" kern="0" dirty="0">
                <a:solidFill>
                  <a:srgbClr val="C00000"/>
                </a:solidFill>
                <a:latin typeface="微软雅黑" panose="020B0503020204020204" pitchFamily="34" charset="-122"/>
                <a:ea typeface="微软雅黑" panose="020B0503020204020204" pitchFamily="34" charset="-122"/>
              </a:rPr>
              <a:t> </a:t>
            </a:r>
            <a:r>
              <a:rPr lang="en-US" altLang="zh-CN" sz="2800" b="1" kern="0" dirty="0">
                <a:solidFill>
                  <a:srgbClr val="C00000"/>
                </a:solidFill>
                <a:latin typeface="微软雅黑" panose="020B0503020204020204" pitchFamily="34" charset="-122"/>
                <a:ea typeface="微软雅黑" panose="020B0503020204020204" pitchFamily="34" charset="-122"/>
              </a:rPr>
              <a:t>of</a:t>
            </a:r>
            <a:r>
              <a:rPr lang="zh-CN" altLang="en-US" sz="2800" b="1" kern="0" dirty="0">
                <a:solidFill>
                  <a:srgbClr val="C00000"/>
                </a:solidFill>
                <a:latin typeface="微软雅黑" panose="020B0503020204020204" pitchFamily="34" charset="-122"/>
                <a:ea typeface="微软雅黑" panose="020B0503020204020204" pitchFamily="34" charset="-122"/>
              </a:rPr>
              <a:t> </a:t>
            </a:r>
            <a:r>
              <a:rPr lang="en-US" altLang="zh-CN" sz="2800" b="1" kern="0" dirty="0">
                <a:solidFill>
                  <a:srgbClr val="C00000"/>
                </a:solidFill>
                <a:latin typeface="微软雅黑" panose="020B0503020204020204" pitchFamily="34" charset="-122"/>
                <a:ea typeface="微软雅黑" panose="020B0503020204020204" pitchFamily="34" charset="-122"/>
              </a:rPr>
              <a:t>Layered Network Architecture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7BF6717F-E336-437D-9E71-CC639BAD9D9B}"/>
              </a:ext>
            </a:extLst>
          </p:cNvPr>
          <p:cNvPicPr>
            <a:picLocks noChangeAspect="1"/>
          </p:cNvPicPr>
          <p:nvPr/>
        </p:nvPicPr>
        <p:blipFill>
          <a:blip r:embed="rId3"/>
          <a:stretch>
            <a:fillRect/>
          </a:stretch>
        </p:blipFill>
        <p:spPr>
          <a:xfrm>
            <a:off x="215233" y="1301749"/>
            <a:ext cx="7677240" cy="4819651"/>
          </a:xfrm>
          <a:prstGeom prst="rect">
            <a:avLst/>
          </a:prstGeom>
        </p:spPr>
      </p:pic>
      <p:pic>
        <p:nvPicPr>
          <p:cNvPr id="9" name="图片 8">
            <a:extLst>
              <a:ext uri="{FF2B5EF4-FFF2-40B4-BE49-F238E27FC236}">
                <a16:creationId xmlns:a16="http://schemas.microsoft.com/office/drawing/2014/main" id="{FB29A735-CD9F-471A-8929-B4F343F62198}"/>
              </a:ext>
            </a:extLst>
          </p:cNvPr>
          <p:cNvPicPr>
            <a:picLocks noChangeAspect="1"/>
          </p:cNvPicPr>
          <p:nvPr/>
        </p:nvPicPr>
        <p:blipFill>
          <a:blip r:embed="rId4"/>
          <a:stretch>
            <a:fillRect/>
          </a:stretch>
        </p:blipFill>
        <p:spPr>
          <a:xfrm>
            <a:off x="8044873" y="1943101"/>
            <a:ext cx="4084294" cy="3478500"/>
          </a:xfrm>
          <a:prstGeom prst="rect">
            <a:avLst/>
          </a:prstGeom>
        </p:spPr>
      </p:pic>
      <p:grpSp>
        <p:nvGrpSpPr>
          <p:cNvPr id="6" name="组合 5">
            <a:extLst>
              <a:ext uri="{FF2B5EF4-FFF2-40B4-BE49-F238E27FC236}">
                <a16:creationId xmlns:a16="http://schemas.microsoft.com/office/drawing/2014/main" id="{43E9BF63-4358-4B1C-9E61-C43A3BE95F5E}"/>
              </a:ext>
            </a:extLst>
          </p:cNvPr>
          <p:cNvGrpSpPr/>
          <p:nvPr/>
        </p:nvGrpSpPr>
        <p:grpSpPr>
          <a:xfrm>
            <a:off x="152400" y="1301749"/>
            <a:ext cx="11976767" cy="4927601"/>
            <a:chOff x="152400" y="1135864"/>
            <a:chExt cx="11976767" cy="5214136"/>
          </a:xfrm>
        </p:grpSpPr>
        <p:pic>
          <p:nvPicPr>
            <p:cNvPr id="4" name="图片 3">
              <a:extLst>
                <a:ext uri="{FF2B5EF4-FFF2-40B4-BE49-F238E27FC236}">
                  <a16:creationId xmlns:a16="http://schemas.microsoft.com/office/drawing/2014/main" id="{B284323C-DEF4-4005-B527-DD3AFD2BA9A5}"/>
                </a:ext>
              </a:extLst>
            </p:cNvPr>
            <p:cNvPicPr>
              <a:picLocks noChangeAspect="1"/>
            </p:cNvPicPr>
            <p:nvPr/>
          </p:nvPicPr>
          <p:blipFill rotWithShape="1">
            <a:blip r:embed="rId5">
              <a:extLst>
                <a:ext uri="{28A0092B-C50C-407E-A947-70E740481C1C}">
                  <a14:useLocalDpi xmlns:a14="http://schemas.microsoft.com/office/drawing/2010/main" val="0"/>
                </a:ext>
              </a:extLst>
            </a:blip>
            <a:srcRect t="17110" b="3336"/>
            <a:stretch/>
          </p:blipFill>
          <p:spPr>
            <a:xfrm>
              <a:off x="152400" y="1135864"/>
              <a:ext cx="11976767" cy="5214136"/>
            </a:xfrm>
            <a:prstGeom prst="rect">
              <a:avLst/>
            </a:prstGeom>
          </p:spPr>
        </p:pic>
        <p:sp>
          <p:nvSpPr>
            <p:cNvPr id="5" name="文本框 4">
              <a:extLst>
                <a:ext uri="{FF2B5EF4-FFF2-40B4-BE49-F238E27FC236}">
                  <a16:creationId xmlns:a16="http://schemas.microsoft.com/office/drawing/2014/main" id="{3D882430-E82D-40D9-B5D7-EBB2EE860BD5}"/>
                </a:ext>
              </a:extLst>
            </p:cNvPr>
            <p:cNvSpPr txBox="1"/>
            <p:nvPr/>
          </p:nvSpPr>
          <p:spPr>
            <a:xfrm>
              <a:off x="5403850" y="4241800"/>
              <a:ext cx="1276350" cy="369332"/>
            </a:xfrm>
            <a:prstGeom prst="rect">
              <a:avLst/>
            </a:prstGeom>
            <a:solidFill>
              <a:schemeClr val="bg1"/>
            </a:solidFill>
          </p:spPr>
          <p:txBody>
            <a:bodyPr wrap="square" lIns="0" rtlCol="0">
              <a:spAutoFit/>
            </a:bodyPr>
            <a:lstStyle/>
            <a:p>
              <a:r>
                <a:rPr lang="zh-CN" altLang="en-US" dirty="0">
                  <a:latin typeface="微软雅黑" panose="020B0503020204020204" pitchFamily="34" charset="-122"/>
                  <a:ea typeface="微软雅黑" panose="020B0503020204020204" pitchFamily="34" charset="-122"/>
                </a:rPr>
                <a:t>“通信”。</a:t>
              </a:r>
            </a:p>
          </p:txBody>
        </p:sp>
      </p:grpSp>
    </p:spTree>
    <p:extLst>
      <p:ext uri="{BB962C8B-B14F-4D97-AF65-F5344CB8AC3E}">
        <p14:creationId xmlns:p14="http://schemas.microsoft.com/office/powerpoint/2010/main" val="24145503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3556" name="Rectangle 3"/>
          <p:cNvSpPr>
            <a:spLocks noGrp="1" noChangeArrowheads="1"/>
          </p:cNvSpPr>
          <p:nvPr>
            <p:ph idx="1"/>
          </p:nvPr>
        </p:nvSpPr>
        <p:spPr>
          <a:xfrm>
            <a:off x="1257301" y="1382714"/>
            <a:ext cx="10058399" cy="3938585"/>
          </a:xfrm>
        </p:spPr>
        <p:txBody>
          <a:bodyPr>
            <a:normAutofit/>
          </a:bodyPr>
          <a:lstStyle/>
          <a:p>
            <a:pPr>
              <a:lnSpc>
                <a:spcPct val="120000"/>
              </a:lnSpc>
            </a:pPr>
            <a:r>
              <a:rPr lang="en-US" altLang="zh-CN" dirty="0">
                <a:ea typeface="宋体" panose="02010600030101010101" pitchFamily="2" charset="-122"/>
              </a:rPr>
              <a:t>Reference models describe the layers in a network architecture</a:t>
            </a:r>
          </a:p>
          <a:p>
            <a:pPr lvl="3">
              <a:lnSpc>
                <a:spcPct val="120000"/>
              </a:lnSpc>
            </a:pPr>
            <a:endParaRPr lang="en-US" altLang="zh-CN" dirty="0">
              <a:ea typeface="宋体" panose="02010600030101010101" pitchFamily="2" charset="-122"/>
            </a:endParaRPr>
          </a:p>
          <a:p>
            <a:pPr lvl="1">
              <a:lnSpc>
                <a:spcPct val="120000"/>
              </a:lnSpc>
            </a:pPr>
            <a:r>
              <a:rPr lang="en-US" altLang="zh-CN" dirty="0">
                <a:ea typeface="宋体" panose="02010600030101010101" pitchFamily="2" charset="-122"/>
              </a:rPr>
              <a:t>OSI reference model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120000"/>
              </a:lnSpc>
            </a:pPr>
            <a:r>
              <a:rPr lang="en-US" altLang="zh-CN" dirty="0">
                <a:ea typeface="宋体" panose="02010600030101010101" pitchFamily="2" charset="-122"/>
              </a:rPr>
              <a:t>TCP/IP reference model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120000"/>
              </a:lnSpc>
            </a:pPr>
            <a:r>
              <a:rPr lang="en-US" altLang="zh-CN" dirty="0">
                <a:ea typeface="宋体" panose="02010600030101010101" pitchFamily="2" charset="-122"/>
              </a:rPr>
              <a:t>Model used for this text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120000"/>
              </a:lnSpc>
            </a:pPr>
            <a:r>
              <a:rPr lang="en-US" altLang="zh-CN" dirty="0">
                <a:ea typeface="宋体" panose="02010600030101010101" pitchFamily="2" charset="-122"/>
              </a:rPr>
              <a:t>Critique of OSI and TCP/IP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p:txBody>
      </p:sp>
      <p:sp>
        <p:nvSpPr>
          <p:cNvPr id="2" name="矩形 1">
            <a:extLst>
              <a:ext uri="{FF2B5EF4-FFF2-40B4-BE49-F238E27FC236}">
                <a16:creationId xmlns:a16="http://schemas.microsoft.com/office/drawing/2014/main" id="{9FCF9F3E-CD10-4656-A7B2-CAC998EA6EE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Reference Models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773703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dirty="0">
                <a:ea typeface="宋体" panose="02010600030101010101" pitchFamily="2" charset="-122"/>
              </a:rPr>
              <a:t>Computer Networks, Chapter 1 Introduction</a:t>
            </a:r>
          </a:p>
        </p:txBody>
      </p:sp>
      <p:sp>
        <p:nvSpPr>
          <p:cNvPr id="2" name="矩形 1">
            <a:extLst>
              <a:ext uri="{FF2B5EF4-FFF2-40B4-BE49-F238E27FC236}">
                <a16:creationId xmlns:a16="http://schemas.microsoft.com/office/drawing/2014/main" id="{8274C24A-1EF6-4A30-9977-420A53FE86F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OSI Reference Model</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5" name="Picture 4" descr="1-20">
            <a:extLst>
              <a:ext uri="{FF2B5EF4-FFF2-40B4-BE49-F238E27FC236}">
                <a16:creationId xmlns:a16="http://schemas.microsoft.com/office/drawing/2014/main" id="{8AA95852-969C-4DA7-94B5-6EF1A60CE9A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10777" y="1579114"/>
            <a:ext cx="6098416" cy="5002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a:extLst>
              <a:ext uri="{FF2B5EF4-FFF2-40B4-BE49-F238E27FC236}">
                <a16:creationId xmlns:a16="http://schemas.microsoft.com/office/drawing/2014/main" id="{9FA169BA-E025-492F-AE7D-72AAA4F0019E}"/>
              </a:ext>
            </a:extLst>
          </p:cNvPr>
          <p:cNvSpPr>
            <a:spLocks noGrp="1" noChangeArrowheads="1"/>
          </p:cNvSpPr>
          <p:nvPr>
            <p:ph idx="1"/>
          </p:nvPr>
        </p:nvSpPr>
        <p:spPr>
          <a:xfrm>
            <a:off x="590550" y="1055894"/>
            <a:ext cx="11370611" cy="523220"/>
          </a:xfrm>
        </p:spPr>
        <p:txBody>
          <a:bodyPr>
            <a:normAutofit/>
          </a:bodyPr>
          <a:lstStyle/>
          <a:p>
            <a:r>
              <a:rPr lang="en-US" altLang="zh-CN" sz="2400" dirty="0">
                <a:ea typeface="宋体" panose="02010600030101010101" pitchFamily="2" charset="-122"/>
              </a:rPr>
              <a:t>A principled, international standard, seven layer model to connect different systems</a:t>
            </a:r>
          </a:p>
        </p:txBody>
      </p:sp>
      <p:sp>
        <p:nvSpPr>
          <p:cNvPr id="3" name="文本框 2">
            <a:extLst>
              <a:ext uri="{FF2B5EF4-FFF2-40B4-BE49-F238E27FC236}">
                <a16:creationId xmlns:a16="http://schemas.microsoft.com/office/drawing/2014/main" id="{0D2C821E-B1D0-49B9-A5AE-5EE150CEF7EC}"/>
              </a:ext>
            </a:extLst>
          </p:cNvPr>
          <p:cNvSpPr txBox="1"/>
          <p:nvPr/>
        </p:nvSpPr>
        <p:spPr>
          <a:xfrm>
            <a:off x="9443567" y="2956185"/>
            <a:ext cx="2574744" cy="338554"/>
          </a:xfrm>
          <a:prstGeom prst="rect">
            <a:avLst/>
          </a:prstGeom>
          <a:noFill/>
        </p:spPr>
        <p:txBody>
          <a:bodyPr wrap="none" rtlCol="0">
            <a:spAutoFit/>
          </a:bodyPr>
          <a:lstStyle/>
          <a:p>
            <a:r>
              <a:rPr lang="en-US" altLang="zh-CN" sz="1600" dirty="0"/>
              <a:t>*PDU</a:t>
            </a:r>
            <a:r>
              <a:rPr lang="zh-CN" altLang="en-US" sz="1600" dirty="0"/>
              <a:t>：</a:t>
            </a:r>
            <a:r>
              <a:rPr lang="en-US" altLang="zh-CN" sz="1600" dirty="0"/>
              <a:t>*Protocol Data Unit</a:t>
            </a:r>
            <a:endParaRPr lang="zh-CN" altLang="en-US" sz="1600" dirty="0"/>
          </a:p>
        </p:txBody>
      </p:sp>
    </p:spTree>
    <p:extLst>
      <p:ext uri="{BB962C8B-B14F-4D97-AF65-F5344CB8AC3E}">
        <p14:creationId xmlns:p14="http://schemas.microsoft.com/office/powerpoint/2010/main" val="15200143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673608" y="1139031"/>
            <a:ext cx="10515600" cy="4351338"/>
          </a:xfrm>
        </p:spPr>
        <p:txBody>
          <a:bodyPr/>
          <a:lstStyle/>
          <a:p>
            <a:r>
              <a:rPr lang="en-US" altLang="zh-CN" dirty="0">
                <a:ea typeface="宋体" panose="02010600030101010101" pitchFamily="2" charset="-122"/>
              </a:rPr>
              <a:t>A four layer model derived from experimentation; omits some OSI layers and uses the IP as the network layer.</a:t>
            </a:r>
          </a:p>
        </p:txBody>
      </p:sp>
      <p:sp>
        <p:nvSpPr>
          <p:cNvPr id="25604"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grpSp>
        <p:nvGrpSpPr>
          <p:cNvPr id="25605" name="Group 22"/>
          <p:cNvGrpSpPr>
            <a:grpSpLocks/>
          </p:cNvGrpSpPr>
          <p:nvPr/>
        </p:nvGrpSpPr>
        <p:grpSpPr bwMode="auto">
          <a:xfrm>
            <a:off x="2149475" y="2381250"/>
            <a:ext cx="7226300" cy="3028950"/>
            <a:chOff x="959085" y="2409825"/>
            <a:chExt cx="7225830" cy="3028950"/>
          </a:xfrm>
        </p:grpSpPr>
        <p:pic>
          <p:nvPicPr>
            <p:cNvPr id="25610" name="Picture 2"/>
            <p:cNvPicPr>
              <a:picLocks noChangeAspect="1" noChangeArrowheads="1"/>
            </p:cNvPicPr>
            <p:nvPr/>
          </p:nvPicPr>
          <p:blipFill>
            <a:blip r:embed="rId3">
              <a:extLst>
                <a:ext uri="{28A0092B-C50C-407E-A947-70E740481C1C}">
                  <a14:useLocalDpi xmlns:a14="http://schemas.microsoft.com/office/drawing/2010/main" val="0"/>
                </a:ext>
              </a:extLst>
            </a:blip>
            <a:srcRect t="5247"/>
            <a:stretch>
              <a:fillRect/>
            </a:stretch>
          </p:blipFill>
          <p:spPr bwMode="auto">
            <a:xfrm>
              <a:off x="959085" y="2409825"/>
              <a:ext cx="722583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1" name="Freeform 14"/>
            <p:cNvSpPr>
              <a:spLocks/>
            </p:cNvSpPr>
            <p:nvPr/>
          </p:nvSpPr>
          <p:spPr bwMode="auto">
            <a:xfrm>
              <a:off x="2714625" y="2524126"/>
              <a:ext cx="823912" cy="2647950"/>
            </a:xfrm>
            <a:custGeom>
              <a:avLst/>
              <a:gdLst>
                <a:gd name="T0" fmla="*/ 0 w 862012"/>
                <a:gd name="T1" fmla="*/ 0 h 2647950"/>
                <a:gd name="T2" fmla="*/ 166340 w 862012"/>
                <a:gd name="T3" fmla="*/ 704850 h 2647950"/>
                <a:gd name="T4" fmla="*/ 365949 w 862012"/>
                <a:gd name="T5" fmla="*/ 1066800 h 2647950"/>
                <a:gd name="T6" fmla="*/ 657043 w 862012"/>
                <a:gd name="T7" fmla="*/ 1343025 h 2647950"/>
                <a:gd name="T8" fmla="*/ 748531 w 862012"/>
                <a:gd name="T9" fmla="*/ 1590675 h 2647950"/>
                <a:gd name="T10" fmla="*/ 681995 w 862012"/>
                <a:gd name="T11" fmla="*/ 1819275 h 2647950"/>
                <a:gd name="T12" fmla="*/ 490703 w 862012"/>
                <a:gd name="T13" fmla="*/ 1943100 h 2647950"/>
                <a:gd name="T14" fmla="*/ 282779 w 862012"/>
                <a:gd name="T15" fmla="*/ 2028825 h 2647950"/>
                <a:gd name="T16" fmla="*/ 83170 w 862012"/>
                <a:gd name="T17" fmla="*/ 2181225 h 2647950"/>
                <a:gd name="T18" fmla="*/ 32908 w 862012"/>
                <a:gd name="T19" fmla="*/ 2457450 h 2647950"/>
                <a:gd name="T20" fmla="*/ 24591 w 862012"/>
                <a:gd name="T21" fmla="*/ 2647950 h 2647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62012" h="2647950">
                  <a:moveTo>
                    <a:pt x="0" y="0"/>
                  </a:moveTo>
                  <a:cubicBezTo>
                    <a:pt x="56356" y="256381"/>
                    <a:pt x="120650" y="527050"/>
                    <a:pt x="190500" y="704850"/>
                  </a:cubicBezTo>
                  <a:cubicBezTo>
                    <a:pt x="260350" y="882650"/>
                    <a:pt x="325437" y="960437"/>
                    <a:pt x="419100" y="1066800"/>
                  </a:cubicBezTo>
                  <a:cubicBezTo>
                    <a:pt x="512763" y="1173163"/>
                    <a:pt x="679450" y="1255713"/>
                    <a:pt x="752475" y="1343025"/>
                  </a:cubicBezTo>
                  <a:cubicBezTo>
                    <a:pt x="825500" y="1430338"/>
                    <a:pt x="852488" y="1511300"/>
                    <a:pt x="857250" y="1590675"/>
                  </a:cubicBezTo>
                  <a:cubicBezTo>
                    <a:pt x="862012" y="1670050"/>
                    <a:pt x="830263" y="1760538"/>
                    <a:pt x="781050" y="1819275"/>
                  </a:cubicBezTo>
                  <a:cubicBezTo>
                    <a:pt x="731838" y="1878013"/>
                    <a:pt x="638175" y="1908175"/>
                    <a:pt x="561975" y="1943100"/>
                  </a:cubicBezTo>
                  <a:cubicBezTo>
                    <a:pt x="485775" y="1978025"/>
                    <a:pt x="401638" y="1989138"/>
                    <a:pt x="323850" y="2028825"/>
                  </a:cubicBezTo>
                  <a:cubicBezTo>
                    <a:pt x="246063" y="2068513"/>
                    <a:pt x="142944" y="2109787"/>
                    <a:pt x="95250" y="2181225"/>
                  </a:cubicBezTo>
                  <a:cubicBezTo>
                    <a:pt x="47556" y="2252663"/>
                    <a:pt x="48869" y="2379663"/>
                    <a:pt x="37688" y="2457450"/>
                  </a:cubicBezTo>
                  <a:cubicBezTo>
                    <a:pt x="26507" y="2535237"/>
                    <a:pt x="30147" y="2608263"/>
                    <a:pt x="28163" y="2647950"/>
                  </a:cubicBezTo>
                </a:path>
              </a:pathLst>
            </a:custGeom>
            <a:solidFill>
              <a:schemeClr val="bg1"/>
            </a:solidFill>
            <a:ln w="9525" cap="flat" cmpd="sng" algn="ctr">
              <a:solidFill>
                <a:schemeClr val="tx1"/>
              </a:solidFill>
              <a:prstDash val="solid"/>
              <a:round/>
              <a:headEnd type="none" w="med" len="med"/>
              <a:tailEnd type="none" w="med" len="med"/>
            </a:ln>
          </p:spPr>
          <p:txBody>
            <a:bodyPr/>
            <a:lstStyle/>
            <a:p>
              <a:endParaRPr lang="zh-CN" altLang="en-US"/>
            </a:p>
          </p:txBody>
        </p:sp>
        <p:sp>
          <p:nvSpPr>
            <p:cNvPr id="25612" name="Rectangle 15"/>
            <p:cNvSpPr>
              <a:spLocks noChangeArrowheads="1"/>
            </p:cNvSpPr>
            <p:nvPr/>
          </p:nvSpPr>
          <p:spPr bwMode="auto">
            <a:xfrm>
              <a:off x="2638425" y="2543175"/>
              <a:ext cx="85725" cy="26955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5613" name="Freeform 16"/>
            <p:cNvSpPr>
              <a:spLocks/>
            </p:cNvSpPr>
            <p:nvPr/>
          </p:nvSpPr>
          <p:spPr bwMode="auto">
            <a:xfrm flipH="1">
              <a:off x="6229350" y="2505076"/>
              <a:ext cx="823912" cy="2647950"/>
            </a:xfrm>
            <a:custGeom>
              <a:avLst/>
              <a:gdLst>
                <a:gd name="T0" fmla="*/ 0 w 862012"/>
                <a:gd name="T1" fmla="*/ 0 h 2647950"/>
                <a:gd name="T2" fmla="*/ 166340 w 862012"/>
                <a:gd name="T3" fmla="*/ 704850 h 2647950"/>
                <a:gd name="T4" fmla="*/ 365949 w 862012"/>
                <a:gd name="T5" fmla="*/ 1066800 h 2647950"/>
                <a:gd name="T6" fmla="*/ 657043 w 862012"/>
                <a:gd name="T7" fmla="*/ 1343025 h 2647950"/>
                <a:gd name="T8" fmla="*/ 748531 w 862012"/>
                <a:gd name="T9" fmla="*/ 1590675 h 2647950"/>
                <a:gd name="T10" fmla="*/ 681995 w 862012"/>
                <a:gd name="T11" fmla="*/ 1819275 h 2647950"/>
                <a:gd name="T12" fmla="*/ 490703 w 862012"/>
                <a:gd name="T13" fmla="*/ 1943100 h 2647950"/>
                <a:gd name="T14" fmla="*/ 282779 w 862012"/>
                <a:gd name="T15" fmla="*/ 2028825 h 2647950"/>
                <a:gd name="T16" fmla="*/ 83170 w 862012"/>
                <a:gd name="T17" fmla="*/ 2181225 h 2647950"/>
                <a:gd name="T18" fmla="*/ 32908 w 862012"/>
                <a:gd name="T19" fmla="*/ 2457450 h 2647950"/>
                <a:gd name="T20" fmla="*/ 24591 w 862012"/>
                <a:gd name="T21" fmla="*/ 2647950 h 2647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62012" h="2647950">
                  <a:moveTo>
                    <a:pt x="0" y="0"/>
                  </a:moveTo>
                  <a:cubicBezTo>
                    <a:pt x="56356" y="256381"/>
                    <a:pt x="120650" y="527050"/>
                    <a:pt x="190500" y="704850"/>
                  </a:cubicBezTo>
                  <a:cubicBezTo>
                    <a:pt x="260350" y="882650"/>
                    <a:pt x="325437" y="960437"/>
                    <a:pt x="419100" y="1066800"/>
                  </a:cubicBezTo>
                  <a:cubicBezTo>
                    <a:pt x="512763" y="1173163"/>
                    <a:pt x="679450" y="1255713"/>
                    <a:pt x="752475" y="1343025"/>
                  </a:cubicBezTo>
                  <a:cubicBezTo>
                    <a:pt x="825500" y="1430338"/>
                    <a:pt x="852488" y="1511300"/>
                    <a:pt x="857250" y="1590675"/>
                  </a:cubicBezTo>
                  <a:cubicBezTo>
                    <a:pt x="862012" y="1670050"/>
                    <a:pt x="830263" y="1760538"/>
                    <a:pt x="781050" y="1819275"/>
                  </a:cubicBezTo>
                  <a:cubicBezTo>
                    <a:pt x="731838" y="1878013"/>
                    <a:pt x="638175" y="1908175"/>
                    <a:pt x="561975" y="1943100"/>
                  </a:cubicBezTo>
                  <a:cubicBezTo>
                    <a:pt x="485775" y="1978025"/>
                    <a:pt x="401638" y="1989138"/>
                    <a:pt x="323850" y="2028825"/>
                  </a:cubicBezTo>
                  <a:cubicBezTo>
                    <a:pt x="246063" y="2068513"/>
                    <a:pt x="142944" y="2109787"/>
                    <a:pt x="95250" y="2181225"/>
                  </a:cubicBezTo>
                  <a:cubicBezTo>
                    <a:pt x="47556" y="2252663"/>
                    <a:pt x="48869" y="2379663"/>
                    <a:pt x="37688" y="2457450"/>
                  </a:cubicBezTo>
                  <a:cubicBezTo>
                    <a:pt x="26507" y="2535237"/>
                    <a:pt x="30147" y="2608263"/>
                    <a:pt x="28163" y="2647950"/>
                  </a:cubicBezTo>
                </a:path>
              </a:pathLst>
            </a:custGeom>
            <a:solidFill>
              <a:schemeClr val="bg1"/>
            </a:solidFill>
            <a:ln w="9525" cap="flat" cmpd="sng" algn="ctr">
              <a:solidFill>
                <a:schemeClr val="tx1"/>
              </a:solidFill>
              <a:prstDash val="solid"/>
              <a:round/>
              <a:headEnd type="none" w="med" len="med"/>
              <a:tailEnd type="none" w="med" len="med"/>
            </a:ln>
          </p:spPr>
          <p:txBody>
            <a:bodyPr/>
            <a:lstStyle/>
            <a:p>
              <a:endParaRPr lang="zh-CN" altLang="en-US"/>
            </a:p>
          </p:txBody>
        </p:sp>
        <p:sp>
          <p:nvSpPr>
            <p:cNvPr id="25614" name="Rectangle 17"/>
            <p:cNvSpPr>
              <a:spLocks noChangeArrowheads="1"/>
            </p:cNvSpPr>
            <p:nvPr/>
          </p:nvSpPr>
          <p:spPr bwMode="auto">
            <a:xfrm flipH="1">
              <a:off x="7029448" y="2743200"/>
              <a:ext cx="1019176" cy="26955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5615" name="Rectangle 18"/>
            <p:cNvSpPr>
              <a:spLocks noChangeArrowheads="1"/>
            </p:cNvSpPr>
            <p:nvPr/>
          </p:nvSpPr>
          <p:spPr bwMode="auto">
            <a:xfrm flipH="1">
              <a:off x="6029324" y="4048125"/>
              <a:ext cx="200025" cy="1524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5616" name="Rectangle 19"/>
            <p:cNvSpPr>
              <a:spLocks noChangeArrowheads="1"/>
            </p:cNvSpPr>
            <p:nvPr/>
          </p:nvSpPr>
          <p:spPr bwMode="auto">
            <a:xfrm flipH="1">
              <a:off x="6229350" y="3467100"/>
              <a:ext cx="342898" cy="1905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5617" name="Rectangle 20"/>
            <p:cNvSpPr>
              <a:spLocks noChangeArrowheads="1"/>
            </p:cNvSpPr>
            <p:nvPr/>
          </p:nvSpPr>
          <p:spPr bwMode="auto">
            <a:xfrm flipH="1">
              <a:off x="6457950" y="3057524"/>
              <a:ext cx="342898" cy="1238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5618" name="Rectangle 21"/>
            <p:cNvSpPr>
              <a:spLocks noChangeArrowheads="1"/>
            </p:cNvSpPr>
            <p:nvPr/>
          </p:nvSpPr>
          <p:spPr bwMode="auto">
            <a:xfrm flipH="1">
              <a:off x="6743700" y="3200400"/>
              <a:ext cx="95248" cy="9144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cxnSp>
        <p:nvCxnSpPr>
          <p:cNvPr id="25" name="Straight Arrow Connector 24"/>
          <p:cNvCxnSpPr>
            <a:stCxn id="25607" idx="1"/>
          </p:cNvCxnSpPr>
          <p:nvPr/>
        </p:nvCxnSpPr>
        <p:spPr bwMode="auto">
          <a:xfrm rot="10800000" flipV="1">
            <a:off x="7505700" y="3929063"/>
            <a:ext cx="628650" cy="157162"/>
          </a:xfrm>
          <a:prstGeom prst="straightConnector1">
            <a:avLst/>
          </a:prstGeom>
          <a:solidFill>
            <a:schemeClr val="accent1"/>
          </a:solidFill>
          <a:ln w="19050" cap="flat" cmpd="sng" algn="ctr">
            <a:solidFill>
              <a:schemeClr val="accent3">
                <a:lumMod val="60000"/>
                <a:lumOff val="40000"/>
              </a:schemeClr>
            </a:solidFill>
            <a:prstDash val="solid"/>
            <a:round/>
            <a:headEnd type="none" w="med" len="med"/>
            <a:tailEnd type="triangle" w="lg" len="lg"/>
          </a:ln>
          <a:effectLst/>
        </p:spPr>
      </p:cxnSp>
      <p:sp>
        <p:nvSpPr>
          <p:cNvPr id="25607" name="TextBox 26"/>
          <p:cNvSpPr txBox="1">
            <a:spLocks noChangeArrowheads="1"/>
          </p:cNvSpPr>
          <p:nvPr/>
        </p:nvSpPr>
        <p:spPr bwMode="auto">
          <a:xfrm>
            <a:off x="8134350" y="3467101"/>
            <a:ext cx="16954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ea typeface="宋体" panose="02010600030101010101" pitchFamily="2" charset="-122"/>
              </a:rPr>
              <a:t>IP is the “narrow waist” of the Internet</a:t>
            </a:r>
          </a:p>
        </p:txBody>
      </p:sp>
      <p:sp>
        <p:nvSpPr>
          <p:cNvPr id="25608" name="Rectangle 30"/>
          <p:cNvSpPr>
            <a:spLocks noChangeArrowheads="1"/>
          </p:cNvSpPr>
          <p:nvPr/>
        </p:nvSpPr>
        <p:spPr bwMode="auto">
          <a:xfrm flipH="1">
            <a:off x="2209801" y="2305050"/>
            <a:ext cx="828675" cy="29527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5609" name="TextBox 31"/>
          <p:cNvSpPr txBox="1">
            <a:spLocks noChangeArrowheads="1"/>
          </p:cNvSpPr>
          <p:nvPr/>
        </p:nvSpPr>
        <p:spPr bwMode="auto">
          <a:xfrm>
            <a:off x="3410385" y="5429251"/>
            <a:ext cx="5195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ea typeface="宋体" panose="02010600030101010101" pitchFamily="2" charset="-122"/>
              </a:rPr>
              <a:t>Protocols are shown in their respective layers</a:t>
            </a:r>
          </a:p>
        </p:txBody>
      </p:sp>
      <p:sp>
        <p:nvSpPr>
          <p:cNvPr id="2" name="矩形 1">
            <a:extLst>
              <a:ext uri="{FF2B5EF4-FFF2-40B4-BE49-F238E27FC236}">
                <a16:creationId xmlns:a16="http://schemas.microsoft.com/office/drawing/2014/main" id="{C02B2A6F-AD2A-4510-9776-792313F84A2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TCP/IP Reference Model</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2885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 name="矩形 1">
            <a:extLst>
              <a:ext uri="{FF2B5EF4-FFF2-40B4-BE49-F238E27FC236}">
                <a16:creationId xmlns:a16="http://schemas.microsoft.com/office/drawing/2014/main" id="{616B6D8C-C8E3-44B1-B772-019E0FBE2C4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The TCP/IP Model vs. OSI</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8AF09AC9-551E-4615-9D7F-CD6C7CC73410}"/>
              </a:ext>
            </a:extLst>
          </p:cNvPr>
          <p:cNvPicPr>
            <a:picLocks noChangeAspect="1"/>
          </p:cNvPicPr>
          <p:nvPr/>
        </p:nvPicPr>
        <p:blipFill>
          <a:blip r:embed="rId2"/>
          <a:stretch>
            <a:fillRect/>
          </a:stretch>
        </p:blipFill>
        <p:spPr>
          <a:xfrm>
            <a:off x="2161368" y="1122054"/>
            <a:ext cx="8130700" cy="4967595"/>
          </a:xfrm>
          <a:prstGeom prst="rect">
            <a:avLst/>
          </a:prstGeom>
        </p:spPr>
      </p:pic>
    </p:spTree>
    <p:extLst>
      <p:ext uri="{BB962C8B-B14F-4D97-AF65-F5344CB8AC3E}">
        <p14:creationId xmlns:p14="http://schemas.microsoft.com/office/powerpoint/2010/main" val="20624976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7652" name="Rectangle 3"/>
          <p:cNvSpPr>
            <a:spLocks noGrp="1" noChangeArrowheads="1"/>
          </p:cNvSpPr>
          <p:nvPr>
            <p:ph idx="1"/>
          </p:nvPr>
        </p:nvSpPr>
        <p:spPr>
          <a:xfrm>
            <a:off x="737616" y="1217803"/>
            <a:ext cx="10372344" cy="953643"/>
          </a:xfrm>
        </p:spPr>
        <p:txBody>
          <a:bodyPr/>
          <a:lstStyle/>
          <a:p>
            <a:pPr marL="685800" indent="-457200">
              <a:buFont typeface="Arial" panose="020B0604020202020204" pitchFamily="34" charset="0"/>
              <a:buChar char="•"/>
            </a:pPr>
            <a:r>
              <a:rPr lang="en-US" altLang="zh-CN" dirty="0">
                <a:ea typeface="宋体" panose="02010600030101010101" pitchFamily="2" charset="-122"/>
              </a:rPr>
              <a:t>It is based on the TCP/IP model but we include the physical layer and look beyond Internet protocols.</a:t>
            </a:r>
          </a:p>
        </p:txBody>
      </p:sp>
      <p:pic>
        <p:nvPicPr>
          <p:cNvPr id="2765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2245781"/>
            <a:ext cx="3035300" cy="2987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16B6D8C-C8E3-44B1-B772-019E0FBE2C4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Hybrid Model Used in this Book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112587ED-67D3-4627-B3C1-FC64BEFE1D3F}"/>
              </a:ext>
            </a:extLst>
          </p:cNvPr>
          <p:cNvSpPr txBox="1"/>
          <p:nvPr/>
        </p:nvSpPr>
        <p:spPr>
          <a:xfrm>
            <a:off x="2344127" y="5333149"/>
            <a:ext cx="7159321" cy="461665"/>
          </a:xfrm>
          <a:prstGeom prst="rect">
            <a:avLst/>
          </a:prstGeom>
          <a:noFill/>
        </p:spPr>
        <p:txBody>
          <a:bodyPr wrap="square">
            <a:spAutoFit/>
          </a:bodyPr>
          <a:lstStyle/>
          <a:p>
            <a:pPr eaLnBrk="1" hangingPunct="1"/>
            <a:r>
              <a:rPr lang="en-US" altLang="zh-CN" sz="2400" dirty="0">
                <a:ea typeface="宋体" panose="02010600030101010101" pitchFamily="2" charset="-122"/>
              </a:rPr>
              <a:t>The hybrid reference model to be used in this book.</a:t>
            </a:r>
          </a:p>
        </p:txBody>
      </p:sp>
    </p:spTree>
    <p:extLst>
      <p:ext uri="{BB962C8B-B14F-4D97-AF65-F5344CB8AC3E}">
        <p14:creationId xmlns:p14="http://schemas.microsoft.com/office/powerpoint/2010/main" val="20740125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 name="矩形 1">
            <a:extLst>
              <a:ext uri="{FF2B5EF4-FFF2-40B4-BE49-F238E27FC236}">
                <a16:creationId xmlns:a16="http://schemas.microsoft.com/office/drawing/2014/main" id="{616B6D8C-C8E3-44B1-B772-019E0FBE2C4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Hybrid Model: Physical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AFB12797-F247-418C-B166-39F776B1E861}"/>
              </a:ext>
            </a:extLst>
          </p:cNvPr>
          <p:cNvPicPr>
            <a:picLocks noChangeAspect="1"/>
          </p:cNvPicPr>
          <p:nvPr/>
        </p:nvPicPr>
        <p:blipFill>
          <a:blip r:embed="rId2"/>
          <a:stretch>
            <a:fillRect/>
          </a:stretch>
        </p:blipFill>
        <p:spPr>
          <a:xfrm>
            <a:off x="426706" y="1544230"/>
            <a:ext cx="6029403" cy="3816984"/>
          </a:xfrm>
          <a:prstGeom prst="rect">
            <a:avLst/>
          </a:prstGeom>
        </p:spPr>
      </p:pic>
      <p:pic>
        <p:nvPicPr>
          <p:cNvPr id="5" name="图片 4">
            <a:extLst>
              <a:ext uri="{FF2B5EF4-FFF2-40B4-BE49-F238E27FC236}">
                <a16:creationId xmlns:a16="http://schemas.microsoft.com/office/drawing/2014/main" id="{B992182B-7706-4A34-A6AF-854A2089A7F7}"/>
              </a:ext>
            </a:extLst>
          </p:cNvPr>
          <p:cNvPicPr>
            <a:picLocks noChangeAspect="1"/>
          </p:cNvPicPr>
          <p:nvPr/>
        </p:nvPicPr>
        <p:blipFill>
          <a:blip r:embed="rId3"/>
          <a:stretch>
            <a:fillRect/>
          </a:stretch>
        </p:blipFill>
        <p:spPr>
          <a:xfrm>
            <a:off x="7066948" y="1544230"/>
            <a:ext cx="4899732" cy="2937689"/>
          </a:xfrm>
          <a:prstGeom prst="rect">
            <a:avLst/>
          </a:prstGeom>
        </p:spPr>
      </p:pic>
    </p:spTree>
    <p:extLst>
      <p:ext uri="{BB962C8B-B14F-4D97-AF65-F5344CB8AC3E}">
        <p14:creationId xmlns:p14="http://schemas.microsoft.com/office/powerpoint/2010/main" val="7091864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 name="矩形 1">
            <a:extLst>
              <a:ext uri="{FF2B5EF4-FFF2-40B4-BE49-F238E27FC236}">
                <a16:creationId xmlns:a16="http://schemas.microsoft.com/office/drawing/2014/main" id="{616B6D8C-C8E3-44B1-B772-019E0FBE2C4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Hybrid Model: Data Link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grpSp>
        <p:nvGrpSpPr>
          <p:cNvPr id="7" name="组合 6">
            <a:extLst>
              <a:ext uri="{FF2B5EF4-FFF2-40B4-BE49-F238E27FC236}">
                <a16:creationId xmlns:a16="http://schemas.microsoft.com/office/drawing/2014/main" id="{A6AA6616-7E97-48E2-8F7F-E5323DC0C580}"/>
              </a:ext>
            </a:extLst>
          </p:cNvPr>
          <p:cNvGrpSpPr/>
          <p:nvPr/>
        </p:nvGrpSpPr>
        <p:grpSpPr>
          <a:xfrm>
            <a:off x="1221699" y="1134480"/>
            <a:ext cx="9391872" cy="5058585"/>
            <a:chOff x="1455742" y="1297765"/>
            <a:chExt cx="8067734" cy="4262469"/>
          </a:xfrm>
        </p:grpSpPr>
        <p:pic>
          <p:nvPicPr>
            <p:cNvPr id="3" name="图片 2">
              <a:extLst>
                <a:ext uri="{FF2B5EF4-FFF2-40B4-BE49-F238E27FC236}">
                  <a16:creationId xmlns:a16="http://schemas.microsoft.com/office/drawing/2014/main" id="{6F25A63C-57D1-4F51-B52D-09BF9461944B}"/>
                </a:ext>
              </a:extLst>
            </p:cNvPr>
            <p:cNvPicPr>
              <a:picLocks noChangeAspect="1"/>
            </p:cNvPicPr>
            <p:nvPr/>
          </p:nvPicPr>
          <p:blipFill>
            <a:blip r:embed="rId3"/>
            <a:stretch>
              <a:fillRect/>
            </a:stretch>
          </p:blipFill>
          <p:spPr>
            <a:xfrm>
              <a:off x="1455742" y="1297765"/>
              <a:ext cx="8067734" cy="4262469"/>
            </a:xfrm>
            <a:prstGeom prst="rect">
              <a:avLst/>
            </a:prstGeom>
          </p:spPr>
        </p:pic>
        <p:pic>
          <p:nvPicPr>
            <p:cNvPr id="6" name="图片 5">
              <a:extLst>
                <a:ext uri="{FF2B5EF4-FFF2-40B4-BE49-F238E27FC236}">
                  <a16:creationId xmlns:a16="http://schemas.microsoft.com/office/drawing/2014/main" id="{1A075A4C-1F4D-4E4F-AE5C-ACF36D211B09}"/>
                </a:ext>
              </a:extLst>
            </p:cNvPr>
            <p:cNvPicPr>
              <a:picLocks noChangeAspect="1"/>
            </p:cNvPicPr>
            <p:nvPr/>
          </p:nvPicPr>
          <p:blipFill>
            <a:blip r:embed="rId4"/>
            <a:stretch>
              <a:fillRect/>
            </a:stretch>
          </p:blipFill>
          <p:spPr>
            <a:xfrm>
              <a:off x="7879553" y="1297765"/>
              <a:ext cx="1120067" cy="633081"/>
            </a:xfrm>
            <a:prstGeom prst="rect">
              <a:avLst/>
            </a:prstGeom>
          </p:spPr>
        </p:pic>
        <p:pic>
          <p:nvPicPr>
            <p:cNvPr id="8" name="图片 7">
              <a:extLst>
                <a:ext uri="{FF2B5EF4-FFF2-40B4-BE49-F238E27FC236}">
                  <a16:creationId xmlns:a16="http://schemas.microsoft.com/office/drawing/2014/main" id="{2E2980D1-BC46-4C93-8A4B-57450DCAF6DC}"/>
                </a:ext>
              </a:extLst>
            </p:cNvPr>
            <p:cNvPicPr>
              <a:picLocks noChangeAspect="1"/>
            </p:cNvPicPr>
            <p:nvPr/>
          </p:nvPicPr>
          <p:blipFill>
            <a:blip r:embed="rId4"/>
            <a:stretch>
              <a:fillRect/>
            </a:stretch>
          </p:blipFill>
          <p:spPr>
            <a:xfrm>
              <a:off x="8403409" y="1297765"/>
              <a:ext cx="1120067" cy="633081"/>
            </a:xfrm>
            <a:prstGeom prst="rect">
              <a:avLst/>
            </a:prstGeom>
          </p:spPr>
        </p:pic>
        <p:pic>
          <p:nvPicPr>
            <p:cNvPr id="9" name="图片 8">
              <a:extLst>
                <a:ext uri="{FF2B5EF4-FFF2-40B4-BE49-F238E27FC236}">
                  <a16:creationId xmlns:a16="http://schemas.microsoft.com/office/drawing/2014/main" id="{43B650F3-1155-4FBE-9C1E-0486BC43A36F}"/>
                </a:ext>
              </a:extLst>
            </p:cNvPr>
            <p:cNvPicPr>
              <a:picLocks noChangeAspect="1"/>
            </p:cNvPicPr>
            <p:nvPr/>
          </p:nvPicPr>
          <p:blipFill rotWithShape="1">
            <a:blip r:embed="rId4"/>
            <a:srcRect t="17354"/>
            <a:stretch/>
          </p:blipFill>
          <p:spPr>
            <a:xfrm>
              <a:off x="8403408" y="1906077"/>
              <a:ext cx="1120067" cy="523220"/>
            </a:xfrm>
            <a:prstGeom prst="rect">
              <a:avLst/>
            </a:prstGeom>
          </p:spPr>
        </p:pic>
      </p:grpSp>
    </p:spTree>
    <p:extLst>
      <p:ext uri="{BB962C8B-B14F-4D97-AF65-F5344CB8AC3E}">
        <p14:creationId xmlns:p14="http://schemas.microsoft.com/office/powerpoint/2010/main" val="31186574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 name="矩形 1">
            <a:extLst>
              <a:ext uri="{FF2B5EF4-FFF2-40B4-BE49-F238E27FC236}">
                <a16:creationId xmlns:a16="http://schemas.microsoft.com/office/drawing/2014/main" id="{616B6D8C-C8E3-44B1-B772-019E0FBE2C4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Hybrid Model: Network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grpSp>
        <p:nvGrpSpPr>
          <p:cNvPr id="10" name="组合 9">
            <a:extLst>
              <a:ext uri="{FF2B5EF4-FFF2-40B4-BE49-F238E27FC236}">
                <a16:creationId xmlns:a16="http://schemas.microsoft.com/office/drawing/2014/main" id="{6649FD18-2ED0-4C3D-95CC-4894EA8558F8}"/>
              </a:ext>
            </a:extLst>
          </p:cNvPr>
          <p:cNvGrpSpPr/>
          <p:nvPr/>
        </p:nvGrpSpPr>
        <p:grpSpPr>
          <a:xfrm>
            <a:off x="438601" y="1369659"/>
            <a:ext cx="5221054" cy="3712479"/>
            <a:chOff x="2309762" y="1084645"/>
            <a:chExt cx="7135948" cy="4986374"/>
          </a:xfrm>
        </p:grpSpPr>
        <p:pic>
          <p:nvPicPr>
            <p:cNvPr id="4" name="图片 3">
              <a:extLst>
                <a:ext uri="{FF2B5EF4-FFF2-40B4-BE49-F238E27FC236}">
                  <a16:creationId xmlns:a16="http://schemas.microsoft.com/office/drawing/2014/main" id="{A43FC8F8-BD66-496B-AD65-08FDEF40C10B}"/>
                </a:ext>
              </a:extLst>
            </p:cNvPr>
            <p:cNvPicPr>
              <a:picLocks noChangeAspect="1"/>
            </p:cNvPicPr>
            <p:nvPr/>
          </p:nvPicPr>
          <p:blipFill>
            <a:blip r:embed="rId3"/>
            <a:stretch>
              <a:fillRect/>
            </a:stretch>
          </p:blipFill>
          <p:spPr>
            <a:xfrm>
              <a:off x="2309762" y="1084645"/>
              <a:ext cx="7110464" cy="4986374"/>
            </a:xfrm>
            <a:prstGeom prst="rect">
              <a:avLst/>
            </a:prstGeom>
          </p:spPr>
        </p:pic>
        <p:pic>
          <p:nvPicPr>
            <p:cNvPr id="5" name="图片 4">
              <a:extLst>
                <a:ext uri="{FF2B5EF4-FFF2-40B4-BE49-F238E27FC236}">
                  <a16:creationId xmlns:a16="http://schemas.microsoft.com/office/drawing/2014/main" id="{DF6CAE9D-2FD8-480C-AF29-5704109B2F58}"/>
                </a:ext>
              </a:extLst>
            </p:cNvPr>
            <p:cNvPicPr>
              <a:picLocks noChangeAspect="1"/>
            </p:cNvPicPr>
            <p:nvPr/>
          </p:nvPicPr>
          <p:blipFill>
            <a:blip r:embed="rId4"/>
            <a:stretch>
              <a:fillRect/>
            </a:stretch>
          </p:blipFill>
          <p:spPr>
            <a:xfrm>
              <a:off x="8701177" y="1084645"/>
              <a:ext cx="719049" cy="455397"/>
            </a:xfrm>
            <a:prstGeom prst="rect">
              <a:avLst/>
            </a:prstGeom>
          </p:spPr>
        </p:pic>
        <p:pic>
          <p:nvPicPr>
            <p:cNvPr id="11" name="图片 10">
              <a:extLst>
                <a:ext uri="{FF2B5EF4-FFF2-40B4-BE49-F238E27FC236}">
                  <a16:creationId xmlns:a16="http://schemas.microsoft.com/office/drawing/2014/main" id="{B2ACAE5C-3302-49E1-9E16-613284B32ACA}"/>
                </a:ext>
              </a:extLst>
            </p:cNvPr>
            <p:cNvPicPr>
              <a:picLocks noChangeAspect="1"/>
            </p:cNvPicPr>
            <p:nvPr/>
          </p:nvPicPr>
          <p:blipFill rotWithShape="1">
            <a:blip r:embed="rId4"/>
            <a:srcRect t="67636"/>
            <a:stretch/>
          </p:blipFill>
          <p:spPr>
            <a:xfrm>
              <a:off x="8874433" y="1540042"/>
              <a:ext cx="563494" cy="115503"/>
            </a:xfrm>
            <a:prstGeom prst="rect">
              <a:avLst/>
            </a:prstGeom>
          </p:spPr>
        </p:pic>
        <p:pic>
          <p:nvPicPr>
            <p:cNvPr id="12" name="图片 11">
              <a:extLst>
                <a:ext uri="{FF2B5EF4-FFF2-40B4-BE49-F238E27FC236}">
                  <a16:creationId xmlns:a16="http://schemas.microsoft.com/office/drawing/2014/main" id="{059AB058-C740-4D53-87E3-9CB719385B96}"/>
                </a:ext>
              </a:extLst>
            </p:cNvPr>
            <p:cNvPicPr>
              <a:picLocks noChangeAspect="1"/>
            </p:cNvPicPr>
            <p:nvPr/>
          </p:nvPicPr>
          <p:blipFill rotWithShape="1">
            <a:blip r:embed="rId4"/>
            <a:srcRect t="67636"/>
            <a:stretch/>
          </p:blipFill>
          <p:spPr>
            <a:xfrm rot="16200000">
              <a:off x="9106212" y="1883124"/>
              <a:ext cx="563494" cy="115503"/>
            </a:xfrm>
            <a:prstGeom prst="rect">
              <a:avLst/>
            </a:prstGeom>
          </p:spPr>
        </p:pic>
      </p:grpSp>
      <p:pic>
        <p:nvPicPr>
          <p:cNvPr id="13" name="图片 12">
            <a:extLst>
              <a:ext uri="{FF2B5EF4-FFF2-40B4-BE49-F238E27FC236}">
                <a16:creationId xmlns:a16="http://schemas.microsoft.com/office/drawing/2014/main" id="{B275A228-E31A-45E0-A8A3-F3AA2328B16D}"/>
              </a:ext>
            </a:extLst>
          </p:cNvPr>
          <p:cNvPicPr>
            <a:picLocks noChangeAspect="1"/>
          </p:cNvPicPr>
          <p:nvPr/>
        </p:nvPicPr>
        <p:blipFill>
          <a:blip r:embed="rId5"/>
          <a:stretch>
            <a:fillRect/>
          </a:stretch>
        </p:blipFill>
        <p:spPr>
          <a:xfrm>
            <a:off x="6532346" y="1369659"/>
            <a:ext cx="5467572" cy="3914610"/>
          </a:xfrm>
          <a:prstGeom prst="rect">
            <a:avLst/>
          </a:prstGeom>
        </p:spPr>
      </p:pic>
      <p:cxnSp>
        <p:nvCxnSpPr>
          <p:cNvPr id="15" name="直接连接符 14">
            <a:extLst>
              <a:ext uri="{FF2B5EF4-FFF2-40B4-BE49-F238E27FC236}">
                <a16:creationId xmlns:a16="http://schemas.microsoft.com/office/drawing/2014/main" id="{7329A7E6-D022-4E1D-BEE7-34FCD16A991D}"/>
              </a:ext>
            </a:extLst>
          </p:cNvPr>
          <p:cNvCxnSpPr/>
          <p:nvPr/>
        </p:nvCxnSpPr>
        <p:spPr>
          <a:xfrm>
            <a:off x="6096000" y="1106905"/>
            <a:ext cx="0" cy="471637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911528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 name="矩形 1">
            <a:extLst>
              <a:ext uri="{FF2B5EF4-FFF2-40B4-BE49-F238E27FC236}">
                <a16:creationId xmlns:a16="http://schemas.microsoft.com/office/drawing/2014/main" id="{616B6D8C-C8E3-44B1-B772-019E0FBE2C4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Hybrid Model: Transport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cxnSp>
        <p:nvCxnSpPr>
          <p:cNvPr id="15" name="直接连接符 14">
            <a:extLst>
              <a:ext uri="{FF2B5EF4-FFF2-40B4-BE49-F238E27FC236}">
                <a16:creationId xmlns:a16="http://schemas.microsoft.com/office/drawing/2014/main" id="{7329A7E6-D022-4E1D-BEE7-34FCD16A991D}"/>
              </a:ext>
            </a:extLst>
          </p:cNvPr>
          <p:cNvCxnSpPr/>
          <p:nvPr/>
        </p:nvCxnSpPr>
        <p:spPr>
          <a:xfrm>
            <a:off x="6096000" y="1106905"/>
            <a:ext cx="0" cy="471637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7" name="组合 6">
            <a:extLst>
              <a:ext uri="{FF2B5EF4-FFF2-40B4-BE49-F238E27FC236}">
                <a16:creationId xmlns:a16="http://schemas.microsoft.com/office/drawing/2014/main" id="{2CE31E5F-27F1-4BA9-B4F1-7EAD6F7FDFA2}"/>
              </a:ext>
            </a:extLst>
          </p:cNvPr>
          <p:cNvGrpSpPr/>
          <p:nvPr/>
        </p:nvGrpSpPr>
        <p:grpSpPr>
          <a:xfrm>
            <a:off x="182884" y="1714923"/>
            <a:ext cx="5524898" cy="3500341"/>
            <a:chOff x="163632" y="1674017"/>
            <a:chExt cx="5590575" cy="3500341"/>
          </a:xfrm>
        </p:grpSpPr>
        <p:pic>
          <p:nvPicPr>
            <p:cNvPr id="3" name="图片 2">
              <a:extLst>
                <a:ext uri="{FF2B5EF4-FFF2-40B4-BE49-F238E27FC236}">
                  <a16:creationId xmlns:a16="http://schemas.microsoft.com/office/drawing/2014/main" id="{01DC29EF-5A8C-4F9A-BC49-E55E9F156F53}"/>
                </a:ext>
              </a:extLst>
            </p:cNvPr>
            <p:cNvPicPr>
              <a:picLocks noChangeAspect="1"/>
            </p:cNvPicPr>
            <p:nvPr/>
          </p:nvPicPr>
          <p:blipFill>
            <a:blip r:embed="rId3"/>
            <a:stretch>
              <a:fillRect/>
            </a:stretch>
          </p:blipFill>
          <p:spPr>
            <a:xfrm>
              <a:off x="163632" y="1683641"/>
              <a:ext cx="5590575" cy="3490717"/>
            </a:xfrm>
            <a:prstGeom prst="rect">
              <a:avLst/>
            </a:prstGeom>
          </p:spPr>
        </p:pic>
        <p:pic>
          <p:nvPicPr>
            <p:cNvPr id="6" name="图片 5">
              <a:extLst>
                <a:ext uri="{FF2B5EF4-FFF2-40B4-BE49-F238E27FC236}">
                  <a16:creationId xmlns:a16="http://schemas.microsoft.com/office/drawing/2014/main" id="{AE6E4717-B7B3-4C01-B8EA-1C7E7DED943F}"/>
                </a:ext>
              </a:extLst>
            </p:cNvPr>
            <p:cNvPicPr>
              <a:picLocks noChangeAspect="1"/>
            </p:cNvPicPr>
            <p:nvPr/>
          </p:nvPicPr>
          <p:blipFill>
            <a:blip r:embed="rId4"/>
            <a:stretch>
              <a:fillRect/>
            </a:stretch>
          </p:blipFill>
          <p:spPr>
            <a:xfrm>
              <a:off x="5141719" y="1674017"/>
              <a:ext cx="612488" cy="780426"/>
            </a:xfrm>
            <a:prstGeom prst="rect">
              <a:avLst/>
            </a:prstGeom>
          </p:spPr>
        </p:pic>
      </p:grpSp>
      <p:pic>
        <p:nvPicPr>
          <p:cNvPr id="8" name="图片 7">
            <a:extLst>
              <a:ext uri="{FF2B5EF4-FFF2-40B4-BE49-F238E27FC236}">
                <a16:creationId xmlns:a16="http://schemas.microsoft.com/office/drawing/2014/main" id="{D6E7F0FC-D6C6-4418-BABE-869F920EA2DB}"/>
              </a:ext>
            </a:extLst>
          </p:cNvPr>
          <p:cNvPicPr>
            <a:picLocks noChangeAspect="1"/>
          </p:cNvPicPr>
          <p:nvPr/>
        </p:nvPicPr>
        <p:blipFill>
          <a:blip r:embed="rId5"/>
          <a:stretch>
            <a:fillRect/>
          </a:stretch>
        </p:blipFill>
        <p:spPr>
          <a:xfrm>
            <a:off x="6649551" y="1674017"/>
            <a:ext cx="5189524" cy="3665036"/>
          </a:xfrm>
          <a:prstGeom prst="rect">
            <a:avLst/>
          </a:prstGeom>
        </p:spPr>
      </p:pic>
    </p:spTree>
    <p:extLst>
      <p:ext uri="{BB962C8B-B14F-4D97-AF65-F5344CB8AC3E}">
        <p14:creationId xmlns:p14="http://schemas.microsoft.com/office/powerpoint/2010/main" val="25960742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 name="矩形 1">
            <a:extLst>
              <a:ext uri="{FF2B5EF4-FFF2-40B4-BE49-F238E27FC236}">
                <a16:creationId xmlns:a16="http://schemas.microsoft.com/office/drawing/2014/main" id="{616B6D8C-C8E3-44B1-B772-019E0FBE2C4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Hybrid Model: Application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1B3E5B31-75E2-4007-925C-7A101159A54B}"/>
              </a:ext>
            </a:extLst>
          </p:cNvPr>
          <p:cNvPicPr>
            <a:picLocks noChangeAspect="1"/>
          </p:cNvPicPr>
          <p:nvPr/>
        </p:nvPicPr>
        <p:blipFill>
          <a:blip r:embed="rId3"/>
          <a:stretch>
            <a:fillRect/>
          </a:stretch>
        </p:blipFill>
        <p:spPr>
          <a:xfrm>
            <a:off x="2126183" y="1225082"/>
            <a:ext cx="7380824" cy="5034204"/>
          </a:xfrm>
          <a:prstGeom prst="rect">
            <a:avLst/>
          </a:prstGeom>
        </p:spPr>
      </p:pic>
    </p:spTree>
    <p:extLst>
      <p:ext uri="{BB962C8B-B14F-4D97-AF65-F5344CB8AC3E}">
        <p14:creationId xmlns:p14="http://schemas.microsoft.com/office/powerpoint/2010/main" val="23527534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 name="矩形 1">
            <a:extLst>
              <a:ext uri="{FF2B5EF4-FFF2-40B4-BE49-F238E27FC236}">
                <a16:creationId xmlns:a16="http://schemas.microsoft.com/office/drawing/2014/main" id="{616B6D8C-C8E3-44B1-B772-019E0FBE2C4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Host 1 sending data to Host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639F4AD4-43D5-413F-8DAB-DD07D00785F1}"/>
              </a:ext>
            </a:extLst>
          </p:cNvPr>
          <p:cNvPicPr>
            <a:picLocks noChangeAspect="1"/>
          </p:cNvPicPr>
          <p:nvPr/>
        </p:nvPicPr>
        <p:blipFill>
          <a:blip r:embed="rId3"/>
          <a:stretch>
            <a:fillRect/>
          </a:stretch>
        </p:blipFill>
        <p:spPr>
          <a:xfrm>
            <a:off x="1704301" y="1226408"/>
            <a:ext cx="8958256" cy="4999216"/>
          </a:xfrm>
          <a:prstGeom prst="rect">
            <a:avLst/>
          </a:prstGeom>
        </p:spPr>
      </p:pic>
    </p:spTree>
    <p:extLst>
      <p:ext uri="{BB962C8B-B14F-4D97-AF65-F5344CB8AC3E}">
        <p14:creationId xmlns:p14="http://schemas.microsoft.com/office/powerpoint/2010/main" val="605330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 name="矩形 1">
            <a:extLst>
              <a:ext uri="{FF2B5EF4-FFF2-40B4-BE49-F238E27FC236}">
                <a16:creationId xmlns:a16="http://schemas.microsoft.com/office/drawing/2014/main" id="{616B6D8C-C8E3-44B1-B772-019E0FBE2C4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Host 1 sending data to Host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F454DC2A-8145-429F-8BCA-9E3937AA87BB}"/>
              </a:ext>
            </a:extLst>
          </p:cNvPr>
          <p:cNvPicPr>
            <a:picLocks noChangeAspect="1"/>
          </p:cNvPicPr>
          <p:nvPr/>
        </p:nvPicPr>
        <p:blipFill>
          <a:blip r:embed="rId3"/>
          <a:stretch>
            <a:fillRect/>
          </a:stretch>
        </p:blipFill>
        <p:spPr>
          <a:xfrm>
            <a:off x="1195156" y="1838960"/>
            <a:ext cx="7457955" cy="3966236"/>
          </a:xfrm>
          <a:prstGeom prst="rect">
            <a:avLst/>
          </a:prstGeom>
        </p:spPr>
      </p:pic>
      <p:sp>
        <p:nvSpPr>
          <p:cNvPr id="5" name="文本框 4">
            <a:extLst>
              <a:ext uri="{FF2B5EF4-FFF2-40B4-BE49-F238E27FC236}">
                <a16:creationId xmlns:a16="http://schemas.microsoft.com/office/drawing/2014/main" id="{6CD3C6CE-C4C6-4EA5-90E3-231FD398BCC1}"/>
              </a:ext>
            </a:extLst>
          </p:cNvPr>
          <p:cNvSpPr txBox="1"/>
          <p:nvPr/>
        </p:nvSpPr>
        <p:spPr>
          <a:xfrm>
            <a:off x="943276" y="1229773"/>
            <a:ext cx="3352200" cy="400110"/>
          </a:xfrm>
          <a:prstGeom prst="rect">
            <a:avLst/>
          </a:prstGeom>
          <a:noFill/>
        </p:spPr>
        <p:txBody>
          <a:bodyPr wrap="none" rtlCol="0">
            <a:spAutoFit/>
          </a:bodyPr>
          <a:lstStyle/>
          <a:p>
            <a:pPr marL="342900" indent="-342900">
              <a:buFont typeface="Arial" panose="020B0604020202020204" pitchFamily="34" charset="0"/>
              <a:buChar char="•"/>
            </a:pPr>
            <a:r>
              <a:rPr lang="zh-CN" altLang="en-US" sz="2000" b="1" dirty="0">
                <a:solidFill>
                  <a:srgbClr val="C00000"/>
                </a:solidFill>
                <a:latin typeface="微软雅黑" panose="020B0503020204020204" pitchFamily="34" charset="-122"/>
                <a:ea typeface="微软雅黑" panose="020B0503020204020204" pitchFamily="34" charset="-122"/>
              </a:rPr>
              <a:t>从层次上来看数据的流动</a:t>
            </a:r>
          </a:p>
        </p:txBody>
      </p:sp>
      <p:sp>
        <p:nvSpPr>
          <p:cNvPr id="7" name="文本框 6">
            <a:extLst>
              <a:ext uri="{FF2B5EF4-FFF2-40B4-BE49-F238E27FC236}">
                <a16:creationId xmlns:a16="http://schemas.microsoft.com/office/drawing/2014/main" id="{E6FD93A8-9F1E-48A4-A804-65AEC4FD9EE3}"/>
              </a:ext>
            </a:extLst>
          </p:cNvPr>
          <p:cNvSpPr txBox="1"/>
          <p:nvPr/>
        </p:nvSpPr>
        <p:spPr>
          <a:xfrm>
            <a:off x="8941869" y="2643880"/>
            <a:ext cx="2855061" cy="923330"/>
          </a:xfrm>
          <a:prstGeom prst="rect">
            <a:avLst/>
          </a:prstGeom>
          <a:noFill/>
        </p:spPr>
        <p:txBody>
          <a:bodyPr wrap="square" rtlCol="0">
            <a:spAutoFit/>
          </a:bodyPr>
          <a:lstStyle/>
          <a:p>
            <a:pPr marL="342900" indent="-3429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路由器在转发分组时最高只用到网络层，而没有使用运输层和应用层</a:t>
            </a:r>
          </a:p>
        </p:txBody>
      </p:sp>
    </p:spTree>
    <p:extLst>
      <p:ext uri="{BB962C8B-B14F-4D97-AF65-F5344CB8AC3E}">
        <p14:creationId xmlns:p14="http://schemas.microsoft.com/office/powerpoint/2010/main" val="358905032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8676" name="Rectangle 3"/>
          <p:cNvSpPr>
            <a:spLocks noGrp="1" noChangeArrowheads="1"/>
          </p:cNvSpPr>
          <p:nvPr>
            <p:ph idx="1"/>
          </p:nvPr>
        </p:nvSpPr>
        <p:spPr>
          <a:xfrm>
            <a:off x="484414" y="1109435"/>
            <a:ext cx="11128467" cy="5246915"/>
          </a:xfrm>
        </p:spPr>
        <p:txBody>
          <a:bodyPr>
            <a:normAutofit fontScale="92500" lnSpcReduction="20000"/>
          </a:bodyPr>
          <a:lstStyle/>
          <a:p>
            <a:r>
              <a:rPr lang="en-US" altLang="zh-CN" b="1" dirty="0">
                <a:ea typeface="宋体" panose="02010600030101010101" pitchFamily="2" charset="-122"/>
              </a:rPr>
              <a:t>OSI:</a:t>
            </a:r>
          </a:p>
          <a:p>
            <a:pPr lvl="2">
              <a:buFont typeface="Arial" panose="020B0604020202020204" pitchFamily="34" charset="0"/>
              <a:buChar char="+"/>
            </a:pPr>
            <a:r>
              <a:rPr lang="en-US" altLang="zh-CN" dirty="0">
                <a:ea typeface="宋体" panose="02010600030101010101" pitchFamily="2" charset="-122"/>
              </a:rPr>
              <a:t>Very influential model with clear concepts</a:t>
            </a:r>
          </a:p>
          <a:p>
            <a:pPr lvl="2">
              <a:buFont typeface="等线" panose="02010600030101010101" pitchFamily="2" charset="-122"/>
              <a:buChar char="–"/>
            </a:pPr>
            <a:r>
              <a:rPr lang="en-US" altLang="zh-CN" dirty="0">
                <a:ea typeface="宋体" panose="02010600030101010101" pitchFamily="2" charset="-122"/>
              </a:rPr>
              <a:t>Models, protocols and adoption all bogged down by politics and complexity</a:t>
            </a:r>
          </a:p>
          <a:p>
            <a:pPr lvl="3">
              <a:lnSpc>
                <a:spcPct val="120000"/>
              </a:lnSpc>
              <a:buFont typeface="等线" panose="02010600030101010101" pitchFamily="2" charset="-122"/>
              <a:buChar char="–"/>
            </a:pPr>
            <a:r>
              <a:rPr lang="en-US" altLang="zh-CN" b="1" i="0" dirty="0">
                <a:solidFill>
                  <a:srgbClr val="1A1A1A"/>
                </a:solidFill>
                <a:effectLst/>
                <a:latin typeface="Arial" panose="020B0604020202020204" pitchFamily="34" charset="0"/>
                <a:ea typeface="微软雅黑" panose="020B0503020204020204" pitchFamily="34" charset="-122"/>
              </a:rPr>
              <a:t>Bad timing</a:t>
            </a:r>
            <a:r>
              <a:rPr lang="en-US" altLang="zh-CN" b="0" i="0" dirty="0">
                <a:solidFill>
                  <a:srgbClr val="1A1A1A"/>
                </a:solidFill>
                <a:effectLst/>
                <a:latin typeface="Arial" panose="020B0604020202020204" pitchFamily="34" charset="0"/>
                <a:ea typeface="微软雅黑" panose="020B0503020204020204" pitchFamily="34" charset="-122"/>
              </a:rPr>
              <a:t>: OSI</a:t>
            </a:r>
            <a:r>
              <a:rPr lang="zh-CN" altLang="en-US" b="0" i="0" dirty="0">
                <a:solidFill>
                  <a:srgbClr val="1A1A1A"/>
                </a:solidFill>
                <a:effectLst/>
                <a:latin typeface="Arial" panose="020B0604020202020204" pitchFamily="34" charset="0"/>
                <a:ea typeface="微软雅黑" panose="020B0503020204020204" pitchFamily="34" charset="-122"/>
              </a:rPr>
              <a:t>提出时，</a:t>
            </a:r>
            <a:r>
              <a:rPr lang="en-US" altLang="zh-CN" b="0" i="0" dirty="0">
                <a:solidFill>
                  <a:srgbClr val="1A1A1A"/>
                </a:solidFill>
                <a:effectLst/>
                <a:latin typeface="Arial" panose="020B0604020202020204" pitchFamily="34" charset="0"/>
                <a:ea typeface="微软雅黑" panose="020B0503020204020204" pitchFamily="34" charset="-122"/>
              </a:rPr>
              <a:t>TCP</a:t>
            </a:r>
            <a:r>
              <a:rPr lang="en-US" altLang="zh-CN" dirty="0">
                <a:solidFill>
                  <a:srgbClr val="1A1A1A"/>
                </a:solidFill>
                <a:latin typeface="Arial" panose="020B0604020202020204" pitchFamily="34" charset="0"/>
                <a:ea typeface="微软雅黑" panose="020B0503020204020204" pitchFamily="34" charset="-122"/>
              </a:rPr>
              <a:t>/IP</a:t>
            </a:r>
            <a:r>
              <a:rPr lang="zh-CN" altLang="en-US" dirty="0">
                <a:solidFill>
                  <a:srgbClr val="1A1A1A"/>
                </a:solidFill>
                <a:latin typeface="Arial" panose="020B0604020202020204" pitchFamily="34" charset="0"/>
                <a:ea typeface="微软雅黑" panose="020B0503020204020204" pitchFamily="34" charset="-122"/>
              </a:rPr>
              <a:t>已经被研究机构和大学广泛使用，并有很成熟的应用。生产商和公司不愿再投资支持第二种协议栈；</a:t>
            </a:r>
            <a:endParaRPr lang="en-US" altLang="zh-CN" dirty="0">
              <a:solidFill>
                <a:srgbClr val="1A1A1A"/>
              </a:solidFill>
              <a:latin typeface="Arial" panose="020B0604020202020204" pitchFamily="34" charset="0"/>
              <a:ea typeface="微软雅黑" panose="020B0503020204020204" pitchFamily="34" charset="-122"/>
            </a:endParaRPr>
          </a:p>
          <a:p>
            <a:pPr lvl="3">
              <a:lnSpc>
                <a:spcPct val="120000"/>
              </a:lnSpc>
              <a:buFont typeface="等线" panose="02010600030101010101" pitchFamily="2" charset="-122"/>
              <a:buChar char="–"/>
            </a:pPr>
            <a:r>
              <a:rPr lang="en-US" altLang="zh-CN" b="1" dirty="0">
                <a:latin typeface="Arial" panose="020B0604020202020204" pitchFamily="34" charset="0"/>
                <a:ea typeface="微软雅黑" panose="020B0503020204020204" pitchFamily="34" charset="-122"/>
              </a:rPr>
              <a:t>Bad technology</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对比</a:t>
            </a:r>
            <a:r>
              <a:rPr lang="en-US" altLang="zh-CN" dirty="0">
                <a:latin typeface="Arial" panose="020B0604020202020204" pitchFamily="34" charset="0"/>
                <a:ea typeface="微软雅黑" panose="020B0503020204020204" pitchFamily="34" charset="-122"/>
              </a:rPr>
              <a:t>TCP/IP</a:t>
            </a:r>
            <a:r>
              <a:rPr lang="zh-CN" altLang="en-US" dirty="0">
                <a:latin typeface="Arial" panose="020B0604020202020204" pitchFamily="34" charset="0"/>
                <a:ea typeface="微软雅黑" panose="020B0503020204020204" pitchFamily="34" charset="-122"/>
              </a:rPr>
              <a:t>，</a:t>
            </a:r>
            <a:r>
              <a:rPr lang="en-US" altLang="zh-CN" dirty="0">
                <a:latin typeface="Arial" panose="020B0604020202020204" pitchFamily="34" charset="0"/>
                <a:ea typeface="微软雅黑" panose="020B0503020204020204" pitchFamily="34" charset="-122"/>
              </a:rPr>
              <a:t>OSI</a:t>
            </a:r>
            <a:r>
              <a:rPr lang="zh-CN" altLang="en-US" dirty="0">
                <a:latin typeface="Arial" panose="020B0604020202020204" pitchFamily="34" charset="0"/>
                <a:ea typeface="微软雅黑" panose="020B0503020204020204" pitchFamily="34" charset="-122"/>
              </a:rPr>
              <a:t>有应用层、表示层、会话层。但是，表示层、会话层对应的协议非常少，而且本身</a:t>
            </a:r>
            <a:r>
              <a:rPr lang="en-US" altLang="zh-CN" dirty="0">
                <a:latin typeface="Arial" panose="020B0604020202020204" pitchFamily="34" charset="0"/>
                <a:ea typeface="微软雅黑" panose="020B0503020204020204" pitchFamily="34" charset="-122"/>
              </a:rPr>
              <a:t>7</a:t>
            </a:r>
            <a:r>
              <a:rPr lang="zh-CN" altLang="en-US" dirty="0">
                <a:latin typeface="Arial" panose="020B0604020202020204" pitchFamily="34" charset="0"/>
                <a:ea typeface="微软雅黑" panose="020B0503020204020204" pitchFamily="34" charset="-122"/>
              </a:rPr>
              <a:t>层分的不是很均匀。层数的增多增加了理解和实现的难度。</a:t>
            </a:r>
            <a:endParaRPr lang="en-US" altLang="zh-CN" dirty="0">
              <a:latin typeface="Arial" panose="020B0604020202020204" pitchFamily="34" charset="0"/>
              <a:ea typeface="微软雅黑" panose="020B0503020204020204" pitchFamily="34" charset="-122"/>
            </a:endParaRPr>
          </a:p>
          <a:p>
            <a:pPr lvl="3">
              <a:lnSpc>
                <a:spcPct val="120000"/>
              </a:lnSpc>
              <a:buFont typeface="等线" panose="02010600030101010101" pitchFamily="2" charset="-122"/>
              <a:buChar char="–"/>
            </a:pPr>
            <a:r>
              <a:rPr lang="en-US" altLang="zh-CN" b="1" dirty="0">
                <a:latin typeface="Arial" panose="020B0604020202020204" pitchFamily="34" charset="0"/>
                <a:ea typeface="微软雅黑" panose="020B0503020204020204" pitchFamily="34" charset="-122"/>
              </a:rPr>
              <a:t>Bad implementation</a:t>
            </a:r>
            <a:r>
              <a:rPr lang="en-US" altLang="zh-CN" dirty="0">
                <a:latin typeface="Arial" panose="020B0604020202020204" pitchFamily="34" charset="0"/>
                <a:ea typeface="微软雅黑" panose="020B0503020204020204" pitchFamily="34" charset="-122"/>
              </a:rPr>
              <a:t>:</a:t>
            </a:r>
            <a:r>
              <a:rPr lang="zh-CN" altLang="en-US" dirty="0">
                <a:latin typeface="Arial" panose="020B0604020202020204" pitchFamily="34" charset="0"/>
                <a:ea typeface="微软雅黑" panose="020B0503020204020204" pitchFamily="34" charset="-122"/>
              </a:rPr>
              <a:t> </a:t>
            </a:r>
            <a:r>
              <a:rPr lang="en-US" altLang="zh-CN" dirty="0">
                <a:latin typeface="Arial" panose="020B0604020202020204" pitchFamily="34" charset="0"/>
                <a:ea typeface="微软雅黑" panose="020B0503020204020204" pitchFamily="34" charset="-122"/>
              </a:rPr>
              <a:t>OSI</a:t>
            </a:r>
            <a:r>
              <a:rPr lang="zh-CN" altLang="en-US" dirty="0">
                <a:latin typeface="Arial" panose="020B0604020202020204" pitchFamily="34" charset="0"/>
                <a:ea typeface="微软雅黑" panose="020B0503020204020204" pitchFamily="34" charset="-122"/>
              </a:rPr>
              <a:t>层数更多，设计更复杂，效率低下，并且出现的较晚，导致其初期的实现代价比较高，而且质量很差。</a:t>
            </a:r>
            <a:endParaRPr lang="en-US" altLang="zh-CN" dirty="0">
              <a:latin typeface="Arial" panose="020B0604020202020204" pitchFamily="34" charset="0"/>
              <a:ea typeface="微软雅黑" panose="020B0503020204020204" pitchFamily="34" charset="-122"/>
            </a:endParaRPr>
          </a:p>
          <a:p>
            <a:pPr lvl="3">
              <a:lnSpc>
                <a:spcPct val="120000"/>
              </a:lnSpc>
              <a:buFont typeface="等线" panose="02010600030101010101" pitchFamily="2" charset="-122"/>
              <a:buChar char="–"/>
            </a:pPr>
            <a:r>
              <a:rPr lang="en-US" altLang="zh-CN" b="1" dirty="0">
                <a:latin typeface="Arial" panose="020B0604020202020204" pitchFamily="34" charset="0"/>
                <a:ea typeface="微软雅黑" panose="020B0503020204020204" pitchFamily="34" charset="-122"/>
              </a:rPr>
              <a:t>Bad politics</a:t>
            </a:r>
            <a:r>
              <a:rPr lang="en-US" altLang="zh-CN" dirty="0">
                <a:latin typeface="Arial" panose="020B0604020202020204" pitchFamily="34" charset="0"/>
                <a:ea typeface="微软雅黑" panose="020B0503020204020204" pitchFamily="34" charset="-122"/>
              </a:rPr>
              <a:t>: OSI</a:t>
            </a:r>
            <a:r>
              <a:rPr lang="zh-CN" altLang="en-US" dirty="0">
                <a:latin typeface="Arial" panose="020B0604020202020204" pitchFamily="34" charset="0"/>
                <a:ea typeface="微软雅黑" panose="020B0503020204020204" pitchFamily="34" charset="-122"/>
              </a:rPr>
              <a:t>早期有欧美政府参与推广，包括</a:t>
            </a:r>
            <a:r>
              <a:rPr lang="en-US" altLang="zh-CN" dirty="0" err="1">
                <a:latin typeface="Arial" panose="020B0604020202020204" pitchFamily="34" charset="0"/>
                <a:ea typeface="微软雅黑" panose="020B0503020204020204" pitchFamily="34" charset="-122"/>
              </a:rPr>
              <a:t>european</a:t>
            </a:r>
            <a:r>
              <a:rPr lang="en-US" altLang="zh-CN" dirty="0">
                <a:latin typeface="Arial" panose="020B0604020202020204" pitchFamily="34" charset="0"/>
                <a:ea typeface="微软雅黑" panose="020B0503020204020204" pitchFamily="34" charset="-122"/>
              </a:rPr>
              <a:t> telecommunication ministries </a:t>
            </a:r>
            <a:r>
              <a:rPr lang="zh-CN" altLang="en-US" dirty="0">
                <a:latin typeface="Arial" panose="020B0604020202020204" pitchFamily="34" charset="0"/>
                <a:ea typeface="微软雅黑" panose="020B0503020204020204" pitchFamily="34" charset="-122"/>
              </a:rPr>
              <a:t>、</a:t>
            </a:r>
            <a:r>
              <a:rPr lang="en-US" altLang="zh-CN" dirty="0">
                <a:latin typeface="Arial" panose="020B0604020202020204" pitchFamily="34" charset="0"/>
                <a:ea typeface="微软雅黑" panose="020B0503020204020204" pitchFamily="34" charset="-122"/>
              </a:rPr>
              <a:t> European community</a:t>
            </a:r>
            <a:r>
              <a:rPr lang="zh-CN" altLang="en-US" dirty="0">
                <a:latin typeface="Arial" panose="020B0604020202020204" pitchFamily="34" charset="0"/>
                <a:ea typeface="微软雅黑" panose="020B0503020204020204" pitchFamily="34" charset="-122"/>
              </a:rPr>
              <a:t>、</a:t>
            </a:r>
            <a:r>
              <a:rPr lang="en-US" altLang="zh-CN" dirty="0">
                <a:latin typeface="Arial" panose="020B0604020202020204" pitchFamily="34" charset="0"/>
                <a:ea typeface="微软雅黑" panose="020B0503020204020204" pitchFamily="34" charset="-122"/>
              </a:rPr>
              <a:t>US Gov</a:t>
            </a:r>
            <a:r>
              <a:rPr lang="zh-CN" altLang="en-US" dirty="0">
                <a:latin typeface="Arial" panose="020B0604020202020204" pitchFamily="34" charset="0"/>
                <a:ea typeface="微软雅黑" panose="020B0503020204020204" pitchFamily="34" charset="-122"/>
              </a:rPr>
              <a:t>。政府部门强推这种质量很差的技术，引起了欧美从事网络的技术人员和科研人员的强烈反感和抵触。</a:t>
            </a:r>
            <a:endParaRPr lang="en-US" altLang="zh-CN" dirty="0">
              <a:latin typeface="Arial" panose="020B0604020202020204" pitchFamily="34" charset="0"/>
              <a:ea typeface="微软雅黑" panose="020B0503020204020204" pitchFamily="34" charset="-122"/>
            </a:endParaRPr>
          </a:p>
          <a:p>
            <a:endParaRPr lang="en-US" altLang="zh-CN" dirty="0">
              <a:ea typeface="宋体" panose="02010600030101010101" pitchFamily="2" charset="-122"/>
            </a:endParaRPr>
          </a:p>
          <a:p>
            <a:r>
              <a:rPr lang="en-US" altLang="zh-CN" b="1" dirty="0">
                <a:ea typeface="宋体" panose="02010600030101010101" pitchFamily="2" charset="-122"/>
              </a:rPr>
              <a:t>TCP/IP:</a:t>
            </a:r>
          </a:p>
          <a:p>
            <a:pPr lvl="2">
              <a:buFont typeface="Arial" panose="020B0604020202020204" pitchFamily="34" charset="0"/>
              <a:buChar char="+"/>
            </a:pPr>
            <a:r>
              <a:rPr lang="en-US" altLang="zh-CN" dirty="0">
                <a:ea typeface="宋体" panose="02010600030101010101" pitchFamily="2" charset="-122"/>
              </a:rPr>
              <a:t>Very successful protocols that worked well and thrived</a:t>
            </a:r>
          </a:p>
          <a:p>
            <a:pPr lvl="2">
              <a:buFont typeface="等线" panose="02010600030101010101" pitchFamily="2" charset="-122"/>
              <a:buChar char="–"/>
            </a:pPr>
            <a:r>
              <a:rPr lang="en-US" altLang="zh-CN" dirty="0">
                <a:ea typeface="宋体" panose="02010600030101010101" pitchFamily="2" charset="-122"/>
              </a:rPr>
              <a:t>Weak model derived after the fact from protocols</a:t>
            </a:r>
          </a:p>
          <a:p>
            <a:pPr lvl="3">
              <a:buFont typeface="等线" panose="02010600030101010101" pitchFamily="2" charset="-122"/>
              <a:buChar char="–"/>
            </a:pPr>
            <a:r>
              <a:rPr lang="en-US" altLang="zh-CN" dirty="0">
                <a:latin typeface="Arial" panose="020B0604020202020204" pitchFamily="34" charset="0"/>
                <a:ea typeface="微软雅黑" panose="020B0503020204020204" pitchFamily="34" charset="-122"/>
              </a:rPr>
              <a:t>Not general: </a:t>
            </a:r>
            <a:r>
              <a:rPr lang="zh-CN" altLang="en-US" dirty="0">
                <a:latin typeface="Arial" panose="020B0604020202020204" pitchFamily="34" charset="0"/>
                <a:ea typeface="微软雅黑" panose="020B0503020204020204" pitchFamily="34" charset="-122"/>
              </a:rPr>
              <a:t>不适用于描述其他非</a:t>
            </a:r>
            <a:r>
              <a:rPr lang="en-US" altLang="zh-CN" dirty="0">
                <a:latin typeface="Arial" panose="020B0604020202020204" pitchFamily="34" charset="0"/>
                <a:ea typeface="微软雅黑" panose="020B0503020204020204" pitchFamily="34" charset="-122"/>
              </a:rPr>
              <a:t>TCP/IP</a:t>
            </a:r>
            <a:r>
              <a:rPr lang="zh-CN" altLang="en-US" dirty="0">
                <a:latin typeface="Arial" panose="020B0604020202020204" pitchFamily="34" charset="0"/>
                <a:ea typeface="微软雅黑" panose="020B0503020204020204" pitchFamily="34" charset="-122"/>
              </a:rPr>
              <a:t>的协议栈，比如</a:t>
            </a:r>
            <a:r>
              <a:rPr lang="en-US" altLang="zh-CN" dirty="0">
                <a:latin typeface="Arial" panose="020B0604020202020204" pitchFamily="34" charset="0"/>
                <a:ea typeface="微软雅黑" panose="020B0503020204020204" pitchFamily="34" charset="-122"/>
              </a:rPr>
              <a:t>Bluetooth</a:t>
            </a:r>
            <a:r>
              <a:rPr lang="zh-CN" altLang="en-US" dirty="0">
                <a:latin typeface="Arial" panose="020B0604020202020204" pitchFamily="34" charset="0"/>
                <a:ea typeface="微软雅黑" panose="020B0503020204020204" pitchFamily="34" charset="-122"/>
              </a:rPr>
              <a:t>。</a:t>
            </a:r>
            <a:endParaRPr lang="en-US" altLang="zh-CN" dirty="0">
              <a:latin typeface="Arial" panose="020B0604020202020204" pitchFamily="34" charset="0"/>
              <a:ea typeface="微软雅黑" panose="020B0503020204020204" pitchFamily="34" charset="-122"/>
            </a:endParaRPr>
          </a:p>
          <a:p>
            <a:pPr marL="1371600" lvl="3" indent="0">
              <a:buNone/>
            </a:pPr>
            <a:endParaRPr lang="en-US" altLang="zh-CN" dirty="0">
              <a:ea typeface="宋体" panose="02010600030101010101" pitchFamily="2" charset="-122"/>
            </a:endParaRPr>
          </a:p>
        </p:txBody>
      </p:sp>
      <p:sp>
        <p:nvSpPr>
          <p:cNvPr id="2" name="矩形 1">
            <a:extLst>
              <a:ext uri="{FF2B5EF4-FFF2-40B4-BE49-F238E27FC236}">
                <a16:creationId xmlns:a16="http://schemas.microsoft.com/office/drawing/2014/main" id="{E3880E2F-B6AE-4C8C-ADE8-D77CD61ADAC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Critique of OSI &amp; TCP/IP</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3812923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30724" name="Rectangle 3"/>
          <p:cNvSpPr>
            <a:spLocks noGrp="1" noChangeArrowheads="1"/>
          </p:cNvSpPr>
          <p:nvPr>
            <p:ph idx="1"/>
          </p:nvPr>
        </p:nvSpPr>
        <p:spPr>
          <a:xfrm>
            <a:off x="2905125" y="1990724"/>
            <a:ext cx="7315200" cy="2200275"/>
          </a:xfrm>
        </p:spPr>
        <p:txBody>
          <a:bodyPr>
            <a:normAutofit/>
          </a:bodyPr>
          <a:lstStyle/>
          <a:p>
            <a:pPr lvl="1">
              <a:lnSpc>
                <a:spcPct val="100000"/>
              </a:lnSpc>
            </a:pPr>
            <a:r>
              <a:rPr lang="en-US" altLang="zh-CN" sz="2800" dirty="0">
                <a:ea typeface="宋体" panose="02010600030101010101" pitchFamily="2" charset="-122"/>
              </a:rPr>
              <a:t>The Internet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lnSpc>
                <a:spcPct val="100000"/>
              </a:lnSpc>
            </a:pPr>
            <a:r>
              <a:rPr lang="en-US" altLang="zh-CN" sz="2800" dirty="0">
                <a:ea typeface="宋体" panose="02010600030101010101" pitchFamily="2" charset="-122"/>
              </a:rPr>
              <a:t>3G mobile phone networks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lnSpc>
                <a:spcPct val="100000"/>
              </a:lnSpc>
            </a:pPr>
            <a:r>
              <a:rPr lang="en-US" altLang="zh-CN" sz="2800" dirty="0">
                <a:ea typeface="宋体" panose="02010600030101010101" pitchFamily="2" charset="-122"/>
              </a:rPr>
              <a:t>Wireless LANs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lnSpc>
                <a:spcPct val="100000"/>
              </a:lnSpc>
            </a:pPr>
            <a:r>
              <a:rPr lang="en-US" altLang="zh-CN" sz="2800" dirty="0">
                <a:ea typeface="宋体" panose="02010600030101010101" pitchFamily="2" charset="-122"/>
              </a:rPr>
              <a:t>RFID and sensor networks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p:txBody>
      </p:sp>
      <p:sp>
        <p:nvSpPr>
          <p:cNvPr id="2" name="矩形 1">
            <a:extLst>
              <a:ext uri="{FF2B5EF4-FFF2-40B4-BE49-F238E27FC236}">
                <a16:creationId xmlns:a16="http://schemas.microsoft.com/office/drawing/2014/main" id="{8FEE4BE9-169F-44E5-B9BF-F6B0DA8ECD8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Example Networks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912175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dirty="0"/>
              <a:t>Computer Networks, Chapter 1 Introduction</a:t>
            </a:r>
          </a:p>
        </p:txBody>
      </p:sp>
      <p:sp>
        <p:nvSpPr>
          <p:cNvPr id="31748" name="Rectangle 3"/>
          <p:cNvSpPr>
            <a:spLocks noGrp="1" noChangeArrowheads="1"/>
          </p:cNvSpPr>
          <p:nvPr>
            <p:ph idx="1"/>
          </p:nvPr>
        </p:nvSpPr>
        <p:spPr>
          <a:xfrm>
            <a:off x="-13563" y="1219931"/>
            <a:ext cx="6501952" cy="5136419"/>
          </a:xfrm>
        </p:spPr>
        <p:txBody>
          <a:bodyPr>
            <a:noAutofit/>
          </a:bodyPr>
          <a:lstStyle/>
          <a:p>
            <a:pPr marL="685800" indent="-457200">
              <a:lnSpc>
                <a:spcPct val="105000"/>
              </a:lnSpc>
              <a:spcBef>
                <a:spcPts val="1800"/>
              </a:spcBef>
              <a:buFont typeface="Arial" panose="020B0604020202020204" pitchFamily="34" charset="0"/>
              <a:buChar char="•"/>
            </a:pPr>
            <a:r>
              <a:rPr lang="en-US" altLang="zh-CN" sz="1600" dirty="0">
                <a:latin typeface="Arial" panose="020B0604020202020204" pitchFamily="34" charset="0"/>
                <a:ea typeface="微软雅黑" panose="020B0503020204020204" pitchFamily="34" charset="-122"/>
              </a:rPr>
              <a:t>Before the Internet was the ARPANET (20</a:t>
            </a:r>
            <a:r>
              <a:rPr lang="zh-CN" altLang="en-US" sz="1600" dirty="0">
                <a:latin typeface="Arial" panose="020B0604020202020204" pitchFamily="34" charset="0"/>
                <a:ea typeface="微软雅黑" panose="020B0503020204020204" pitchFamily="34" charset="-122"/>
              </a:rPr>
              <a:t>世纪</a:t>
            </a:r>
            <a:r>
              <a:rPr lang="en-US" altLang="zh-CN" sz="1600" dirty="0">
                <a:latin typeface="Arial" panose="020B0604020202020204" pitchFamily="34" charset="0"/>
                <a:ea typeface="微软雅黑" panose="020B0503020204020204" pitchFamily="34" charset="-122"/>
              </a:rPr>
              <a:t>50</a:t>
            </a:r>
            <a:r>
              <a:rPr lang="zh-CN" altLang="en-US" sz="1600" dirty="0">
                <a:latin typeface="Arial" panose="020B0604020202020204" pitchFamily="34" charset="0"/>
                <a:ea typeface="微软雅黑" panose="020B0503020204020204" pitchFamily="34" charset="-122"/>
              </a:rPr>
              <a:t>年代末由美国国防部高级研究计划局（</a:t>
            </a:r>
            <a:r>
              <a:rPr lang="en-US" altLang="zh-CN" sz="1600" dirty="0">
                <a:latin typeface="Arial" panose="020B0604020202020204" pitchFamily="34" charset="0"/>
                <a:ea typeface="微软雅黑" panose="020B0503020204020204" pitchFamily="34" charset="-122"/>
              </a:rPr>
              <a:t>ARPA</a:t>
            </a:r>
            <a:r>
              <a:rPr lang="zh-CN" altLang="en-US" sz="1600" dirty="0">
                <a:latin typeface="Arial" panose="020B0604020202020204" pitchFamily="34" charset="0"/>
                <a:ea typeface="微软雅黑" panose="020B0503020204020204" pitchFamily="34" charset="-122"/>
              </a:rPr>
              <a:t>）主持研制的</a:t>
            </a:r>
            <a:r>
              <a:rPr lang="en-US" altLang="zh-CN" sz="1600" dirty="0">
                <a:latin typeface="Arial" panose="020B0604020202020204" pitchFamily="34" charset="0"/>
                <a:ea typeface="微软雅黑" panose="020B0503020204020204" pitchFamily="34" charset="-122"/>
              </a:rPr>
              <a:t>), a decentralized, packet-switched network based on Baran’s ideas.</a:t>
            </a:r>
          </a:p>
          <a:p>
            <a:pPr marL="685800" indent="-457200">
              <a:lnSpc>
                <a:spcPct val="105000"/>
              </a:lnSpc>
              <a:spcBef>
                <a:spcPts val="1800"/>
              </a:spcBef>
              <a:buFont typeface="Arial" panose="020B0604020202020204" pitchFamily="34" charset="0"/>
              <a:buChar char="•"/>
            </a:pPr>
            <a:r>
              <a:rPr lang="en-US" altLang="zh-CN" sz="1600" dirty="0">
                <a:latin typeface="Arial" panose="020B0604020202020204" pitchFamily="34" charset="0"/>
                <a:ea typeface="微软雅黑" panose="020B0503020204020204" pitchFamily="34" charset="-122"/>
              </a:rPr>
              <a:t>ARPANET</a:t>
            </a:r>
            <a:r>
              <a:rPr lang="zh-CN" altLang="en-US" sz="1600" dirty="0">
                <a:latin typeface="Arial" panose="020B0604020202020204" pitchFamily="34" charset="0"/>
                <a:ea typeface="微软雅黑" panose="020B0503020204020204" pitchFamily="34" charset="-122"/>
              </a:rPr>
              <a:t>于</a:t>
            </a:r>
            <a:r>
              <a:rPr lang="en-US" altLang="zh-CN" sz="1600" dirty="0">
                <a:latin typeface="Arial" panose="020B0604020202020204" pitchFamily="34" charset="0"/>
                <a:ea typeface="微软雅黑" panose="020B0503020204020204" pitchFamily="34" charset="-122"/>
              </a:rPr>
              <a:t>1969</a:t>
            </a:r>
            <a:r>
              <a:rPr lang="zh-CN" altLang="en-US" sz="1600" dirty="0">
                <a:latin typeface="Arial" panose="020B0604020202020204" pitchFamily="34" charset="0"/>
                <a:ea typeface="微软雅黑" panose="020B0503020204020204" pitchFamily="34" charset="-122"/>
              </a:rPr>
              <a:t>年正式启用，当时仅连接了</a:t>
            </a:r>
            <a:r>
              <a:rPr lang="en-US" altLang="zh-CN" sz="1600" dirty="0">
                <a:latin typeface="Arial" panose="020B0604020202020204" pitchFamily="34" charset="0"/>
                <a:ea typeface="微软雅黑" panose="020B0503020204020204" pitchFamily="34" charset="-122"/>
              </a:rPr>
              <a:t>4</a:t>
            </a:r>
            <a:r>
              <a:rPr lang="zh-CN" altLang="en-US" sz="1600" dirty="0">
                <a:latin typeface="Arial" panose="020B0604020202020204" pitchFamily="34" charset="0"/>
                <a:ea typeface="微软雅黑" panose="020B0503020204020204" pitchFamily="34" charset="-122"/>
              </a:rPr>
              <a:t>台计算机，供科学家们进行计算机联网实验用，这就是因特网的前身。</a:t>
            </a:r>
            <a:endParaRPr lang="en-US" altLang="zh-CN" sz="1600" dirty="0">
              <a:latin typeface="Arial" panose="020B0604020202020204" pitchFamily="34" charset="0"/>
              <a:ea typeface="微软雅黑" panose="020B0503020204020204" pitchFamily="34" charset="-122"/>
            </a:endParaRPr>
          </a:p>
          <a:p>
            <a:pPr marL="685800" indent="-457200">
              <a:lnSpc>
                <a:spcPct val="105000"/>
              </a:lnSpc>
              <a:spcBef>
                <a:spcPts val="1800"/>
              </a:spcBef>
              <a:buFont typeface="Arial" panose="020B0604020202020204" pitchFamily="34" charset="0"/>
              <a:buChar char="•"/>
            </a:pPr>
            <a:r>
              <a:rPr lang="zh-CN" altLang="en-US" sz="1600" b="0" i="0" dirty="0">
                <a:solidFill>
                  <a:srgbClr val="333333"/>
                </a:solidFill>
                <a:effectLst/>
                <a:latin typeface="Arial" panose="020B0604020202020204" pitchFamily="34" charset="0"/>
                <a:ea typeface="微软雅黑" panose="020B0503020204020204" pitchFamily="34" charset="-122"/>
              </a:rPr>
              <a:t>到</a:t>
            </a:r>
            <a:r>
              <a:rPr lang="en-US" altLang="zh-CN" sz="1600" b="0" i="0" dirty="0">
                <a:solidFill>
                  <a:srgbClr val="333333"/>
                </a:solidFill>
                <a:effectLst/>
                <a:latin typeface="Arial" panose="020B0604020202020204" pitchFamily="34" charset="0"/>
                <a:ea typeface="微软雅黑" panose="020B0503020204020204" pitchFamily="34" charset="-122"/>
              </a:rPr>
              <a:t>70</a:t>
            </a:r>
            <a:r>
              <a:rPr lang="zh-CN" altLang="en-US" sz="1600" b="0" i="0" dirty="0">
                <a:solidFill>
                  <a:srgbClr val="333333"/>
                </a:solidFill>
                <a:effectLst/>
                <a:latin typeface="Arial" panose="020B0604020202020204" pitchFamily="34" charset="0"/>
                <a:ea typeface="微软雅黑" panose="020B0503020204020204" pitchFamily="34" charset="-122"/>
              </a:rPr>
              <a:t>年代，</a:t>
            </a:r>
            <a:r>
              <a:rPr lang="en-US" altLang="zh-CN" sz="1600" b="0" i="0" dirty="0">
                <a:solidFill>
                  <a:srgbClr val="333333"/>
                </a:solidFill>
                <a:effectLst/>
                <a:latin typeface="Arial" panose="020B0604020202020204" pitchFamily="34" charset="0"/>
                <a:ea typeface="微软雅黑" panose="020B0503020204020204" pitchFamily="34" charset="-122"/>
              </a:rPr>
              <a:t>ARPAnet</a:t>
            </a:r>
            <a:r>
              <a:rPr lang="zh-CN" altLang="en-US" sz="1600" b="0" i="0" dirty="0">
                <a:solidFill>
                  <a:srgbClr val="333333"/>
                </a:solidFill>
                <a:effectLst/>
                <a:latin typeface="Arial" panose="020B0604020202020204" pitchFamily="34" charset="0"/>
                <a:ea typeface="微软雅黑" panose="020B0503020204020204" pitchFamily="34" charset="-122"/>
              </a:rPr>
              <a:t>已经有了好几十个计算机网络，但是每个网络只能在网络内部的计算机之间互联通信，不同计算机网络之间仍然不能互通。为此， </a:t>
            </a:r>
            <a:r>
              <a:rPr lang="en-US" altLang="zh-CN" sz="1600" b="0" i="0" dirty="0">
                <a:solidFill>
                  <a:srgbClr val="333333"/>
                </a:solidFill>
                <a:effectLst/>
                <a:latin typeface="Arial" panose="020B0604020202020204" pitchFamily="34" charset="0"/>
                <a:ea typeface="微软雅黑" panose="020B0503020204020204" pitchFamily="34" charset="-122"/>
              </a:rPr>
              <a:t>ARPA</a:t>
            </a:r>
            <a:r>
              <a:rPr lang="zh-CN" altLang="en-US" sz="1600" b="0" i="0" dirty="0">
                <a:solidFill>
                  <a:srgbClr val="333333"/>
                </a:solidFill>
                <a:effectLst/>
                <a:latin typeface="Arial" panose="020B0604020202020204" pitchFamily="34" charset="0"/>
                <a:ea typeface="微软雅黑" panose="020B0503020204020204" pitchFamily="34" charset="-122"/>
              </a:rPr>
              <a:t>又设立了新的研究项目，支持学术界和工业界进行有关的研究，研究的主要内容就是想用一种新的方法将不同的计算机局域网互联，形成“</a:t>
            </a:r>
            <a:r>
              <a:rPr lang="zh-CN" altLang="en-US" sz="1600" b="0" i="0" u="none" strike="noStrike" dirty="0">
                <a:solidFill>
                  <a:srgbClr val="136EC2"/>
                </a:solidFill>
                <a:effectLst/>
                <a:latin typeface="Arial" panose="020B0604020202020204" pitchFamily="34" charset="0"/>
                <a:ea typeface="微软雅黑" panose="020B0503020204020204" pitchFamily="34" charset="-122"/>
              </a:rPr>
              <a:t>互联网</a:t>
            </a:r>
            <a:r>
              <a:rPr lang="zh-CN" altLang="en-US" sz="1600" b="0" i="0" dirty="0">
                <a:solidFill>
                  <a:srgbClr val="333333"/>
                </a:solidFill>
                <a:effectLst/>
                <a:latin typeface="Arial" panose="020B0604020202020204" pitchFamily="34" charset="0"/>
                <a:ea typeface="微软雅黑" panose="020B0503020204020204" pitchFamily="34" charset="-122"/>
              </a:rPr>
              <a:t>”。研究人员称之为“</a:t>
            </a:r>
            <a:r>
              <a:rPr lang="en-US" altLang="zh-CN" sz="1600" b="0" i="0" dirty="0">
                <a:solidFill>
                  <a:srgbClr val="333333"/>
                </a:solidFill>
                <a:effectLst/>
                <a:latin typeface="Arial" panose="020B0604020202020204" pitchFamily="34" charset="0"/>
                <a:ea typeface="微软雅黑" panose="020B0503020204020204" pitchFamily="34" charset="-122"/>
              </a:rPr>
              <a:t>internetwork”</a:t>
            </a:r>
            <a:r>
              <a:rPr lang="zh-CN" altLang="en-US" sz="1600" b="0" i="0" dirty="0">
                <a:solidFill>
                  <a:srgbClr val="333333"/>
                </a:solidFill>
                <a:effectLst/>
                <a:latin typeface="Arial" panose="020B0604020202020204" pitchFamily="34" charset="0"/>
                <a:ea typeface="微软雅黑" panose="020B0503020204020204" pitchFamily="34" charset="-122"/>
              </a:rPr>
              <a:t>，简称“</a:t>
            </a:r>
            <a:r>
              <a:rPr lang="en-US" altLang="zh-CN" sz="1600" b="0" i="0" dirty="0">
                <a:solidFill>
                  <a:srgbClr val="333333"/>
                </a:solidFill>
                <a:effectLst/>
                <a:latin typeface="Arial" panose="020B0604020202020204" pitchFamily="34" charset="0"/>
                <a:ea typeface="微软雅黑" panose="020B0503020204020204" pitchFamily="34" charset="-122"/>
              </a:rPr>
              <a:t>Internet”</a:t>
            </a:r>
            <a:r>
              <a:rPr lang="zh-CN" altLang="en-US" sz="1600" b="0" i="0" dirty="0">
                <a:solidFill>
                  <a:srgbClr val="333333"/>
                </a:solidFill>
                <a:effectLst/>
                <a:latin typeface="Arial" panose="020B0604020202020204" pitchFamily="34" charset="0"/>
                <a:ea typeface="微软雅黑" panose="020B0503020204020204" pitchFamily="34" charset="-122"/>
              </a:rPr>
              <a:t>，这个名词就一直沿用到现在。</a:t>
            </a:r>
            <a:endParaRPr lang="en-US" altLang="zh-CN" sz="1600" b="0" i="0" dirty="0">
              <a:solidFill>
                <a:srgbClr val="333333"/>
              </a:solidFill>
              <a:effectLst/>
              <a:latin typeface="Arial" panose="020B0604020202020204" pitchFamily="34" charset="0"/>
              <a:ea typeface="微软雅黑" panose="020B0503020204020204" pitchFamily="34" charset="-122"/>
            </a:endParaRPr>
          </a:p>
          <a:p>
            <a:pPr marL="685800" indent="-457200">
              <a:lnSpc>
                <a:spcPct val="105000"/>
              </a:lnSpc>
              <a:spcBef>
                <a:spcPts val="1800"/>
              </a:spcBef>
              <a:buFont typeface="Arial" panose="020B0604020202020204" pitchFamily="34" charset="0"/>
              <a:buChar char="•"/>
            </a:pPr>
            <a:r>
              <a:rPr lang="en-US" altLang="zh-CN" sz="1600" dirty="0">
                <a:solidFill>
                  <a:srgbClr val="333333"/>
                </a:solidFill>
                <a:latin typeface="Arial" panose="020B0604020202020204" pitchFamily="34" charset="0"/>
                <a:ea typeface="微软雅黑" panose="020B0503020204020204" pitchFamily="34" charset="-122"/>
              </a:rPr>
              <a:t>1974</a:t>
            </a:r>
            <a:r>
              <a:rPr lang="zh-CN" altLang="en-US" sz="1600" dirty="0">
                <a:solidFill>
                  <a:srgbClr val="333333"/>
                </a:solidFill>
                <a:latin typeface="Arial" panose="020B0604020202020204" pitchFamily="34" charset="0"/>
                <a:ea typeface="微软雅黑" panose="020B0503020204020204" pitchFamily="34" charset="-122"/>
              </a:rPr>
              <a:t>年，出现了连接分组网络的协议（</a:t>
            </a:r>
            <a:r>
              <a:rPr lang="en-US" altLang="zh-CN" sz="1600" dirty="0">
                <a:solidFill>
                  <a:srgbClr val="333333"/>
                </a:solidFill>
                <a:latin typeface="Arial" panose="020B0604020202020204" pitchFamily="34" charset="0"/>
                <a:ea typeface="微软雅黑" panose="020B0503020204020204" pitchFamily="34" charset="-122"/>
              </a:rPr>
              <a:t>Pioneered by </a:t>
            </a:r>
            <a:r>
              <a:rPr lang="en-US" altLang="zh-CN" sz="1600" dirty="0" err="1">
                <a:solidFill>
                  <a:srgbClr val="333333"/>
                </a:solidFill>
                <a:latin typeface="Arial" panose="020B0604020202020204" pitchFamily="34" charset="0"/>
                <a:ea typeface="微软雅黑" panose="020B0503020204020204" pitchFamily="34" charset="-122"/>
              </a:rPr>
              <a:t>Vint</a:t>
            </a:r>
            <a:r>
              <a:rPr lang="en-US" altLang="zh-CN" sz="1600" dirty="0">
                <a:solidFill>
                  <a:srgbClr val="333333"/>
                </a:solidFill>
                <a:latin typeface="Arial" panose="020B0604020202020204" pitchFamily="34" charset="0"/>
                <a:ea typeface="微软雅黑" panose="020B0503020204020204" pitchFamily="34" charset="-122"/>
              </a:rPr>
              <a:t> Cerf &amp; Bob Kahn</a:t>
            </a:r>
            <a:r>
              <a:rPr lang="zh-CN" altLang="en-US" sz="1600" dirty="0">
                <a:solidFill>
                  <a:srgbClr val="333333"/>
                </a:solidFill>
                <a:latin typeface="Arial" panose="020B0604020202020204" pitchFamily="34" charset="0"/>
                <a:ea typeface="微软雅黑" panose="020B0503020204020204" pitchFamily="34" charset="-122"/>
              </a:rPr>
              <a:t>，互联网之父），后续演变为了</a:t>
            </a:r>
            <a:r>
              <a:rPr lang="en-US" altLang="zh-CN" sz="1600" dirty="0">
                <a:solidFill>
                  <a:srgbClr val="333333"/>
                </a:solidFill>
                <a:latin typeface="Arial" panose="020B0604020202020204" pitchFamily="34" charset="0"/>
                <a:ea typeface="微软雅黑" panose="020B0503020204020204" pitchFamily="34" charset="-122"/>
              </a:rPr>
              <a:t>TCP/IP</a:t>
            </a:r>
            <a:r>
              <a:rPr lang="zh-CN" altLang="en-US" sz="1600" dirty="0">
                <a:solidFill>
                  <a:srgbClr val="333333"/>
                </a:solidFill>
                <a:latin typeface="Arial" panose="020B0604020202020204" pitchFamily="34" charset="0"/>
                <a:ea typeface="微软雅黑" panose="020B0503020204020204" pitchFamily="34" charset="-122"/>
              </a:rPr>
              <a:t>。</a:t>
            </a:r>
            <a:r>
              <a:rPr lang="en-US" altLang="zh-CN" sz="1600" dirty="0">
                <a:solidFill>
                  <a:srgbClr val="333333"/>
                </a:solidFill>
                <a:latin typeface="Arial" panose="020B0604020202020204" pitchFamily="34" charset="0"/>
                <a:ea typeface="微软雅黑" panose="020B0503020204020204" pitchFamily="34" charset="-122"/>
              </a:rPr>
              <a:t>ARPA</a:t>
            </a:r>
            <a:r>
              <a:rPr lang="zh-CN" altLang="en-US" sz="1600" dirty="0">
                <a:solidFill>
                  <a:srgbClr val="333333"/>
                </a:solidFill>
                <a:latin typeface="Arial" panose="020B0604020202020204" pitchFamily="34" charset="0"/>
                <a:ea typeface="微软雅黑" panose="020B0503020204020204" pitchFamily="34" charset="-122"/>
              </a:rPr>
              <a:t>在</a:t>
            </a:r>
            <a:r>
              <a:rPr lang="en-US" altLang="zh-CN" sz="1600" dirty="0">
                <a:solidFill>
                  <a:srgbClr val="333333"/>
                </a:solidFill>
                <a:latin typeface="Arial" panose="020B0604020202020204" pitchFamily="34" charset="0"/>
                <a:ea typeface="微软雅黑" panose="020B0503020204020204" pitchFamily="34" charset="-122"/>
              </a:rPr>
              <a:t>1982</a:t>
            </a:r>
            <a:r>
              <a:rPr lang="zh-CN" altLang="en-US" sz="1600" dirty="0">
                <a:solidFill>
                  <a:srgbClr val="333333"/>
                </a:solidFill>
                <a:latin typeface="Arial" panose="020B0604020202020204" pitchFamily="34" charset="0"/>
                <a:ea typeface="微软雅黑" panose="020B0503020204020204" pitchFamily="34" charset="-122"/>
              </a:rPr>
              <a:t>年接受了</a:t>
            </a:r>
            <a:r>
              <a:rPr lang="en-US" altLang="zh-CN" sz="1600" dirty="0">
                <a:solidFill>
                  <a:srgbClr val="333333"/>
                </a:solidFill>
                <a:latin typeface="Arial" panose="020B0604020202020204" pitchFamily="34" charset="0"/>
                <a:ea typeface="微软雅黑" panose="020B0503020204020204" pitchFamily="34" charset="-122"/>
              </a:rPr>
              <a:t>TCP/IP</a:t>
            </a:r>
            <a:r>
              <a:rPr lang="zh-CN" altLang="en-US" sz="1600" dirty="0">
                <a:solidFill>
                  <a:srgbClr val="333333"/>
                </a:solidFill>
                <a:latin typeface="Arial" panose="020B0604020202020204" pitchFamily="34" charset="0"/>
                <a:ea typeface="微软雅黑" panose="020B0503020204020204" pitchFamily="34" charset="-122"/>
              </a:rPr>
              <a:t>，选定</a:t>
            </a:r>
            <a:r>
              <a:rPr lang="en-US" altLang="zh-CN" sz="1600" dirty="0">
                <a:solidFill>
                  <a:srgbClr val="333333"/>
                </a:solidFill>
                <a:latin typeface="Arial" panose="020B0604020202020204" pitchFamily="34" charset="0"/>
                <a:ea typeface="微软雅黑" panose="020B0503020204020204" pitchFamily="34" charset="-122"/>
              </a:rPr>
              <a:t>Internet</a:t>
            </a:r>
            <a:r>
              <a:rPr lang="zh-CN" altLang="en-US" sz="1600" dirty="0">
                <a:solidFill>
                  <a:srgbClr val="333333"/>
                </a:solidFill>
                <a:latin typeface="Arial" panose="020B0604020202020204" pitchFamily="34" charset="0"/>
                <a:ea typeface="微软雅黑" panose="020B0503020204020204" pitchFamily="34" charset="-122"/>
              </a:rPr>
              <a:t>为主要的计算机通信系统，并把其它的军用计算机网络都转换到</a:t>
            </a:r>
            <a:r>
              <a:rPr lang="en-US" altLang="zh-CN" sz="1600" dirty="0">
                <a:solidFill>
                  <a:srgbClr val="333333"/>
                </a:solidFill>
                <a:latin typeface="Arial" panose="020B0604020202020204" pitchFamily="34" charset="0"/>
                <a:ea typeface="微软雅黑" panose="020B0503020204020204" pitchFamily="34" charset="-122"/>
              </a:rPr>
              <a:t>TCP/IP</a:t>
            </a:r>
            <a:r>
              <a:rPr lang="zh-CN" altLang="en-US" sz="1600" dirty="0">
                <a:solidFill>
                  <a:srgbClr val="333333"/>
                </a:solidFill>
                <a:latin typeface="Arial" panose="020B0604020202020204" pitchFamily="34" charset="0"/>
                <a:ea typeface="微软雅黑" panose="020B0503020204020204" pitchFamily="34" charset="-122"/>
              </a:rPr>
              <a:t>。</a:t>
            </a:r>
            <a:endParaRPr lang="en-US" altLang="zh-CN" sz="1600" dirty="0">
              <a:latin typeface="Arial" panose="020B0604020202020204" pitchFamily="34" charset="0"/>
              <a:ea typeface="微软雅黑" panose="020B0503020204020204" pitchFamily="34" charset="-122"/>
            </a:endParaRPr>
          </a:p>
        </p:txBody>
      </p:sp>
      <p:pic>
        <p:nvPicPr>
          <p:cNvPr id="31749" name="Picture 2"/>
          <p:cNvPicPr>
            <a:picLocks noChangeAspect="1" noChangeArrowheads="1"/>
          </p:cNvPicPr>
          <p:nvPr/>
        </p:nvPicPr>
        <p:blipFill>
          <a:blip r:embed="rId3">
            <a:extLst>
              <a:ext uri="{28A0092B-C50C-407E-A947-70E740481C1C}">
                <a14:useLocalDpi xmlns:a14="http://schemas.microsoft.com/office/drawing/2010/main" val="0"/>
              </a:ext>
            </a:extLst>
          </a:blip>
          <a:srcRect l="49458" t="6250" b="10156"/>
          <a:stretch>
            <a:fillRect/>
          </a:stretch>
        </p:blipFill>
        <p:spPr bwMode="auto">
          <a:xfrm>
            <a:off x="8440908" y="3722624"/>
            <a:ext cx="3143251" cy="2195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TextBox 9"/>
          <p:cNvSpPr txBox="1">
            <a:spLocks noChangeArrowheads="1"/>
          </p:cNvSpPr>
          <p:nvPr/>
        </p:nvSpPr>
        <p:spPr bwMode="auto">
          <a:xfrm>
            <a:off x="8849884" y="6048573"/>
            <a:ext cx="284828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ARPANET topology in Sept 1972.</a:t>
            </a:r>
          </a:p>
        </p:txBody>
      </p:sp>
      <p:sp>
        <p:nvSpPr>
          <p:cNvPr id="11" name="Freeform 10"/>
          <p:cNvSpPr/>
          <p:nvPr/>
        </p:nvSpPr>
        <p:spPr bwMode="auto">
          <a:xfrm rot="20755412">
            <a:off x="8032634" y="4780043"/>
            <a:ext cx="533400" cy="115887"/>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chemeClr val="accent3">
                <a:lumMod val="60000"/>
                <a:lumOff val="40000"/>
              </a:schemeClr>
            </a:solidFill>
            <a:prstDash val="solid"/>
            <a:round/>
            <a:headEnd type="none" w="med" len="med"/>
            <a:tailEnd type="triangle" w="lg" len="lg"/>
          </a:ln>
          <a:effectLst/>
        </p:spPr>
        <p:txBody>
          <a:bodyPr/>
          <a:lstStyle/>
          <a:p>
            <a:pPr algn="ctr" eaLnBrk="1" hangingPunct="1">
              <a:defRPr/>
            </a:pPr>
            <a:endParaRPr lang="en-US">
              <a:latin typeface="Arial" charset="0"/>
              <a:cs typeface="Arial" charset="0"/>
            </a:endParaRPr>
          </a:p>
        </p:txBody>
      </p:sp>
      <p:sp>
        <p:nvSpPr>
          <p:cNvPr id="31752" name="TextBox 11"/>
          <p:cNvSpPr txBox="1">
            <a:spLocks noChangeArrowheads="1"/>
          </p:cNvSpPr>
          <p:nvPr/>
        </p:nvSpPr>
        <p:spPr bwMode="auto">
          <a:xfrm>
            <a:off x="6591130" y="4620071"/>
            <a:ext cx="170820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Nodes are IMPs, or early routers, linked to hosts</a:t>
            </a:r>
          </a:p>
        </p:txBody>
      </p:sp>
      <p:sp>
        <p:nvSpPr>
          <p:cNvPr id="13" name="Freeform 12"/>
          <p:cNvSpPr/>
          <p:nvPr/>
        </p:nvSpPr>
        <p:spPr bwMode="auto">
          <a:xfrm rot="20755412">
            <a:off x="8065874" y="5460743"/>
            <a:ext cx="533400" cy="115887"/>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chemeClr val="accent3">
                <a:lumMod val="60000"/>
                <a:lumOff val="40000"/>
              </a:schemeClr>
            </a:solidFill>
            <a:prstDash val="solid"/>
            <a:round/>
            <a:headEnd type="none" w="med" len="med"/>
            <a:tailEnd type="triangle" w="lg" len="lg"/>
          </a:ln>
          <a:effectLst/>
        </p:spPr>
        <p:txBody>
          <a:bodyPr/>
          <a:lstStyle/>
          <a:p>
            <a:pPr algn="ctr" eaLnBrk="1" hangingPunct="1">
              <a:defRPr/>
            </a:pPr>
            <a:endParaRPr lang="en-US">
              <a:latin typeface="Arial" charset="0"/>
              <a:cs typeface="Arial" charset="0"/>
            </a:endParaRPr>
          </a:p>
        </p:txBody>
      </p:sp>
      <p:sp>
        <p:nvSpPr>
          <p:cNvPr id="31754" name="TextBox 13"/>
          <p:cNvSpPr txBox="1">
            <a:spLocks noChangeArrowheads="1"/>
          </p:cNvSpPr>
          <p:nvPr/>
        </p:nvSpPr>
        <p:spPr bwMode="auto">
          <a:xfrm>
            <a:off x="6787536" y="5520465"/>
            <a:ext cx="13542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dirty="0">
                <a:ea typeface="宋体" panose="02010600030101010101" pitchFamily="2" charset="-122"/>
              </a:rPr>
              <a:t>56 kbps links</a:t>
            </a:r>
          </a:p>
        </p:txBody>
      </p:sp>
      <p:sp>
        <p:nvSpPr>
          <p:cNvPr id="2" name="矩形 1">
            <a:extLst>
              <a:ext uri="{FF2B5EF4-FFF2-40B4-BE49-F238E27FC236}">
                <a16:creationId xmlns:a16="http://schemas.microsoft.com/office/drawing/2014/main" id="{EBB55121-B49E-4171-BDD3-1805561D05EC}"/>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Picture 7">
            <a:extLst>
              <a:ext uri="{FF2B5EF4-FFF2-40B4-BE49-F238E27FC236}">
                <a16:creationId xmlns:a16="http://schemas.microsoft.com/office/drawing/2014/main" id="{B4B59394-DC73-4A07-9F8C-55238DE93C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55488" y="1114727"/>
            <a:ext cx="1514077" cy="167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9">
            <a:extLst>
              <a:ext uri="{FF2B5EF4-FFF2-40B4-BE49-F238E27FC236}">
                <a16:creationId xmlns:a16="http://schemas.microsoft.com/office/drawing/2014/main" id="{205E50C6-53BF-4655-9681-D3FFFEB5BA40}"/>
              </a:ext>
            </a:extLst>
          </p:cNvPr>
          <p:cNvSpPr txBox="1">
            <a:spLocks noChangeArrowheads="1"/>
          </p:cNvSpPr>
          <p:nvPr/>
        </p:nvSpPr>
        <p:spPr bwMode="auto">
          <a:xfrm>
            <a:off x="8797585" y="2950161"/>
            <a:ext cx="24298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dirty="0">
                <a:ea typeface="宋体" panose="02010600030101010101" pitchFamily="2" charset="-122"/>
              </a:rPr>
              <a:t>ARPANET topology in 1969.</a:t>
            </a:r>
          </a:p>
        </p:txBody>
      </p:sp>
      <p:pic>
        <p:nvPicPr>
          <p:cNvPr id="6" name="图片 5">
            <a:extLst>
              <a:ext uri="{FF2B5EF4-FFF2-40B4-BE49-F238E27FC236}">
                <a16:creationId xmlns:a16="http://schemas.microsoft.com/office/drawing/2014/main" id="{3448ED81-D172-4EC0-814C-1F659BA1B9C9}"/>
              </a:ext>
            </a:extLst>
          </p:cNvPr>
          <p:cNvPicPr>
            <a:picLocks noChangeAspect="1"/>
          </p:cNvPicPr>
          <p:nvPr/>
        </p:nvPicPr>
        <p:blipFill rotWithShape="1">
          <a:blip r:embed="rId5">
            <a:extLst>
              <a:ext uri="{28A0092B-C50C-407E-A947-70E740481C1C}">
                <a14:useLocalDpi xmlns:a14="http://schemas.microsoft.com/office/drawing/2010/main" val="0"/>
              </a:ext>
            </a:extLst>
          </a:blip>
          <a:srcRect t="8505" b="1991"/>
          <a:stretch/>
        </p:blipFill>
        <p:spPr>
          <a:xfrm>
            <a:off x="301659" y="893268"/>
            <a:ext cx="11396505" cy="5964732"/>
          </a:xfrm>
          <a:prstGeom prst="rect">
            <a:avLst/>
          </a:prstGeom>
        </p:spPr>
      </p:pic>
    </p:spTree>
    <p:extLst>
      <p:ext uri="{BB962C8B-B14F-4D97-AF65-F5344CB8AC3E}">
        <p14:creationId xmlns:p14="http://schemas.microsoft.com/office/powerpoint/2010/main" val="15121255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33796" name="Rectangle 3"/>
          <p:cNvSpPr>
            <a:spLocks noGrp="1" noChangeArrowheads="1"/>
          </p:cNvSpPr>
          <p:nvPr>
            <p:ph idx="1"/>
          </p:nvPr>
        </p:nvSpPr>
        <p:spPr>
          <a:xfrm>
            <a:off x="301658" y="1047423"/>
            <a:ext cx="11464961" cy="2381577"/>
          </a:xfrm>
        </p:spPr>
        <p:txBody>
          <a:bodyPr>
            <a:noAutofit/>
          </a:bodyPr>
          <a:lstStyle/>
          <a:p>
            <a:pPr marL="685800" indent="-457200">
              <a:buFont typeface="Arial" panose="020B0604020202020204" pitchFamily="34" charset="0"/>
              <a:buChar char="•"/>
            </a:pPr>
            <a:r>
              <a:rPr lang="en-US" altLang="zh-CN" sz="1800" dirty="0">
                <a:latin typeface="Arial" panose="020B0604020202020204" pitchFamily="34" charset="0"/>
                <a:ea typeface="微软雅黑" panose="020B0503020204020204" pitchFamily="34" charset="-122"/>
              </a:rPr>
              <a:t>The early Internet used </a:t>
            </a:r>
            <a:r>
              <a:rPr lang="en-US" altLang="zh-CN" sz="1800" dirty="0" err="1">
                <a:latin typeface="Arial" panose="020B0604020202020204" pitchFamily="34" charset="0"/>
                <a:ea typeface="微软雅黑" panose="020B0503020204020204" pitchFamily="34" charset="-122"/>
              </a:rPr>
              <a:t>NSFnet</a:t>
            </a:r>
            <a:r>
              <a:rPr lang="en-US" altLang="zh-CN" sz="1800" dirty="0">
                <a:latin typeface="Arial" panose="020B0604020202020204" pitchFamily="34" charset="0"/>
                <a:ea typeface="微软雅黑" panose="020B0503020204020204" pitchFamily="34" charset="-122"/>
              </a:rPr>
              <a:t> (1985-1995) as its backbone; universities connected to get on the Internet</a:t>
            </a:r>
          </a:p>
          <a:p>
            <a:pPr marL="1143000" lvl="1" indent="-457200">
              <a:lnSpc>
                <a:spcPct val="100000"/>
              </a:lnSpc>
              <a:buFont typeface="Wingdings" panose="05000000000000000000" pitchFamily="2" charset="2"/>
              <a:buChar char="ü"/>
            </a:pPr>
            <a:r>
              <a:rPr lang="en-US" altLang="zh-CN" sz="1500" b="0" i="0" dirty="0">
                <a:solidFill>
                  <a:srgbClr val="333333"/>
                </a:solidFill>
                <a:effectLst/>
                <a:latin typeface="Arial" panose="020B0604020202020204" pitchFamily="34" charset="0"/>
                <a:ea typeface="微软雅黑" panose="020B0503020204020204" pitchFamily="34" charset="-122"/>
              </a:rPr>
              <a:t>1986</a:t>
            </a:r>
            <a:r>
              <a:rPr lang="zh-CN" altLang="en-US" sz="1500" b="0" i="0" dirty="0">
                <a:solidFill>
                  <a:srgbClr val="333333"/>
                </a:solidFill>
                <a:effectLst/>
                <a:latin typeface="Arial" panose="020B0604020202020204" pitchFamily="34" charset="0"/>
                <a:ea typeface="微软雅黑" panose="020B0503020204020204" pitchFamily="34" charset="-122"/>
              </a:rPr>
              <a:t>年，美国国家</a:t>
            </a:r>
            <a:r>
              <a:rPr lang="zh-CN" altLang="en-US" sz="1500" b="0" i="0" u="none" strike="noStrike" dirty="0">
                <a:effectLst/>
                <a:latin typeface="Arial" panose="020B0604020202020204" pitchFamily="34" charset="0"/>
                <a:ea typeface="微软雅黑" panose="020B0503020204020204" pitchFamily="34" charset="-122"/>
              </a:rPr>
              <a:t>科学</a:t>
            </a:r>
            <a:r>
              <a:rPr lang="zh-CN" altLang="en-US" sz="1500" b="0" i="0" dirty="0">
                <a:solidFill>
                  <a:srgbClr val="333333"/>
                </a:solidFill>
                <a:effectLst/>
                <a:latin typeface="Arial" panose="020B0604020202020204" pitchFamily="34" charset="0"/>
                <a:ea typeface="微软雅黑" panose="020B0503020204020204" pitchFamily="34" charset="-122"/>
              </a:rPr>
              <a:t>基金组织（</a:t>
            </a:r>
            <a:r>
              <a:rPr lang="en-US" altLang="zh-CN" sz="1500" b="0" i="0" dirty="0">
                <a:solidFill>
                  <a:srgbClr val="333333"/>
                </a:solidFill>
                <a:effectLst/>
                <a:latin typeface="Arial" panose="020B0604020202020204" pitchFamily="34" charset="0"/>
                <a:ea typeface="微软雅黑" panose="020B0503020204020204" pitchFamily="34" charset="-122"/>
              </a:rPr>
              <a:t>NSF</a:t>
            </a:r>
            <a:r>
              <a:rPr lang="zh-CN" altLang="en-US" sz="1500" b="0" i="0" dirty="0">
                <a:solidFill>
                  <a:srgbClr val="333333"/>
                </a:solidFill>
                <a:effectLst/>
                <a:latin typeface="Arial" panose="020B0604020202020204" pitchFamily="34" charset="0"/>
                <a:ea typeface="微软雅黑" panose="020B0503020204020204" pitchFamily="34" charset="-122"/>
              </a:rPr>
              <a:t>）将分布在美国各地的</a:t>
            </a:r>
            <a:r>
              <a:rPr lang="en-US" altLang="zh-CN" sz="1500" b="0" i="0" dirty="0">
                <a:solidFill>
                  <a:srgbClr val="333333"/>
                </a:solidFill>
                <a:effectLst/>
                <a:latin typeface="Arial" panose="020B0604020202020204" pitchFamily="34" charset="0"/>
                <a:ea typeface="微软雅黑" panose="020B0503020204020204" pitchFamily="34" charset="-122"/>
              </a:rPr>
              <a:t>5</a:t>
            </a:r>
            <a:r>
              <a:rPr lang="zh-CN" altLang="en-US" sz="1500" b="0" i="0" dirty="0">
                <a:solidFill>
                  <a:srgbClr val="333333"/>
                </a:solidFill>
                <a:effectLst/>
                <a:latin typeface="Arial" panose="020B0604020202020204" pitchFamily="34" charset="0"/>
                <a:ea typeface="微软雅黑" panose="020B0503020204020204" pitchFamily="34" charset="-122"/>
              </a:rPr>
              <a:t>个为科研教育服务的超级计算机中心互联，并支持地区网络，形成</a:t>
            </a:r>
            <a:r>
              <a:rPr lang="en-US" altLang="zh-CN" sz="1500" b="0" i="0" dirty="0" err="1">
                <a:solidFill>
                  <a:srgbClr val="333333"/>
                </a:solidFill>
                <a:effectLst/>
                <a:latin typeface="Arial" panose="020B0604020202020204" pitchFamily="34" charset="0"/>
                <a:ea typeface="微软雅黑" panose="020B0503020204020204" pitchFamily="34" charset="-122"/>
              </a:rPr>
              <a:t>NSFnet</a:t>
            </a:r>
            <a:r>
              <a:rPr lang="zh-CN" altLang="en-US" sz="1500" b="0" i="0" dirty="0">
                <a:solidFill>
                  <a:srgbClr val="333333"/>
                </a:solidFill>
                <a:effectLst/>
                <a:latin typeface="Arial" panose="020B0604020202020204" pitchFamily="34" charset="0"/>
                <a:ea typeface="微软雅黑" panose="020B0503020204020204" pitchFamily="34" charset="-122"/>
              </a:rPr>
              <a:t>。</a:t>
            </a:r>
            <a:endParaRPr lang="en-US" altLang="zh-CN" sz="1500" b="0" i="0" dirty="0">
              <a:solidFill>
                <a:srgbClr val="333333"/>
              </a:solidFill>
              <a:effectLst/>
              <a:latin typeface="Arial" panose="020B0604020202020204" pitchFamily="34" charset="0"/>
              <a:ea typeface="微软雅黑" panose="020B0503020204020204" pitchFamily="34" charset="-122"/>
            </a:endParaRPr>
          </a:p>
          <a:p>
            <a:pPr marL="1143000" lvl="1" indent="-457200">
              <a:lnSpc>
                <a:spcPct val="100000"/>
              </a:lnSpc>
              <a:buFont typeface="Wingdings" panose="05000000000000000000" pitchFamily="2" charset="2"/>
              <a:buChar char="ü"/>
            </a:pPr>
            <a:r>
              <a:rPr lang="en-US" altLang="zh-CN" sz="1500" b="0" i="0" dirty="0">
                <a:solidFill>
                  <a:srgbClr val="333333"/>
                </a:solidFill>
                <a:effectLst/>
                <a:latin typeface="Arial" panose="020B0604020202020204" pitchFamily="34" charset="0"/>
                <a:ea typeface="微软雅黑" panose="020B0503020204020204" pitchFamily="34" charset="-122"/>
              </a:rPr>
              <a:t>1988 </a:t>
            </a:r>
            <a:r>
              <a:rPr lang="zh-CN" altLang="en-US" sz="1500" b="0" i="0" dirty="0">
                <a:solidFill>
                  <a:srgbClr val="333333"/>
                </a:solidFill>
                <a:effectLst/>
                <a:latin typeface="Arial" panose="020B0604020202020204" pitchFamily="34" charset="0"/>
                <a:ea typeface="微软雅黑" panose="020B0503020204020204" pitchFamily="34" charset="-122"/>
              </a:rPr>
              <a:t>年，</a:t>
            </a:r>
            <a:r>
              <a:rPr lang="en-US" altLang="zh-CN" sz="1500" b="0" i="0" dirty="0" err="1">
                <a:solidFill>
                  <a:srgbClr val="333333"/>
                </a:solidFill>
                <a:effectLst/>
                <a:latin typeface="Arial" panose="020B0604020202020204" pitchFamily="34" charset="0"/>
                <a:ea typeface="微软雅黑" panose="020B0503020204020204" pitchFamily="34" charset="-122"/>
              </a:rPr>
              <a:t>NSFnet</a:t>
            </a:r>
            <a:r>
              <a:rPr lang="zh-CN" altLang="en-US" sz="1500" b="0" i="0" dirty="0">
                <a:solidFill>
                  <a:srgbClr val="333333"/>
                </a:solidFill>
                <a:effectLst/>
                <a:latin typeface="Arial" panose="020B0604020202020204" pitchFamily="34" charset="0"/>
                <a:ea typeface="微软雅黑" panose="020B0503020204020204" pitchFamily="34" charset="-122"/>
              </a:rPr>
              <a:t>替代</a:t>
            </a:r>
            <a:r>
              <a:rPr lang="en-US" altLang="zh-CN" sz="1500" b="0" i="0" dirty="0">
                <a:solidFill>
                  <a:srgbClr val="333333"/>
                </a:solidFill>
                <a:effectLst/>
                <a:latin typeface="Arial" panose="020B0604020202020204" pitchFamily="34" charset="0"/>
                <a:ea typeface="微软雅黑" panose="020B0503020204020204" pitchFamily="34" charset="-122"/>
              </a:rPr>
              <a:t>ARPAnet</a:t>
            </a:r>
            <a:r>
              <a:rPr lang="zh-CN" altLang="en-US" sz="1500" b="0" i="0" dirty="0">
                <a:solidFill>
                  <a:srgbClr val="333333"/>
                </a:solidFill>
                <a:effectLst/>
                <a:latin typeface="Arial" panose="020B0604020202020204" pitchFamily="34" charset="0"/>
                <a:ea typeface="微软雅黑" panose="020B0503020204020204" pitchFamily="34" charset="-122"/>
              </a:rPr>
              <a:t>成为</a:t>
            </a:r>
            <a:r>
              <a:rPr lang="en-US" altLang="zh-CN" sz="1500" b="0" i="0" dirty="0">
                <a:solidFill>
                  <a:srgbClr val="333333"/>
                </a:solidFill>
                <a:effectLst/>
                <a:latin typeface="Arial" panose="020B0604020202020204" pitchFamily="34" charset="0"/>
                <a:ea typeface="微软雅黑" panose="020B0503020204020204" pitchFamily="34" charset="-122"/>
              </a:rPr>
              <a:t>Internet</a:t>
            </a:r>
            <a:r>
              <a:rPr lang="zh-CN" altLang="en-US" sz="1500" b="0" i="0" dirty="0">
                <a:solidFill>
                  <a:srgbClr val="333333"/>
                </a:solidFill>
                <a:effectLst/>
                <a:latin typeface="Arial" panose="020B0604020202020204" pitchFamily="34" charset="0"/>
                <a:ea typeface="微软雅黑" panose="020B0503020204020204" pitchFamily="34" charset="-122"/>
              </a:rPr>
              <a:t>的主干网。</a:t>
            </a:r>
            <a:r>
              <a:rPr lang="en-US" altLang="zh-CN" sz="1500" b="0" i="0" dirty="0" err="1">
                <a:solidFill>
                  <a:srgbClr val="333333"/>
                </a:solidFill>
                <a:effectLst/>
                <a:latin typeface="Arial" panose="020B0604020202020204" pitchFamily="34" charset="0"/>
                <a:ea typeface="微软雅黑" panose="020B0503020204020204" pitchFamily="34" charset="-122"/>
              </a:rPr>
              <a:t>NSFnet</a:t>
            </a:r>
            <a:r>
              <a:rPr lang="zh-CN" altLang="en-US" sz="1500" b="0" i="0" dirty="0">
                <a:solidFill>
                  <a:srgbClr val="333333"/>
                </a:solidFill>
                <a:effectLst/>
                <a:latin typeface="Arial" panose="020B0604020202020204" pitchFamily="34" charset="0"/>
                <a:ea typeface="微软雅黑" panose="020B0503020204020204" pitchFamily="34" charset="-122"/>
              </a:rPr>
              <a:t>主干网利用了在</a:t>
            </a:r>
            <a:r>
              <a:rPr lang="en-US" altLang="zh-CN" sz="1500" b="0" i="0" dirty="0">
                <a:solidFill>
                  <a:srgbClr val="333333"/>
                </a:solidFill>
                <a:effectLst/>
                <a:latin typeface="Arial" panose="020B0604020202020204" pitchFamily="34" charset="0"/>
                <a:ea typeface="微软雅黑" panose="020B0503020204020204" pitchFamily="34" charset="-122"/>
              </a:rPr>
              <a:t>ARPAnet</a:t>
            </a:r>
            <a:r>
              <a:rPr lang="zh-CN" altLang="en-US" sz="1500" b="0" i="0" dirty="0">
                <a:solidFill>
                  <a:srgbClr val="333333"/>
                </a:solidFill>
                <a:effectLst/>
                <a:latin typeface="Arial" panose="020B0604020202020204" pitchFamily="34" charset="0"/>
                <a:ea typeface="微软雅黑" panose="020B0503020204020204" pitchFamily="34" charset="-122"/>
              </a:rPr>
              <a:t>中已证明是非常成功的</a:t>
            </a:r>
            <a:r>
              <a:rPr lang="en-US" altLang="zh-CN" sz="1500" b="0" i="0" dirty="0">
                <a:solidFill>
                  <a:srgbClr val="333333"/>
                </a:solidFill>
                <a:effectLst/>
                <a:latin typeface="Arial" panose="020B0604020202020204" pitchFamily="34" charset="0"/>
                <a:ea typeface="微软雅黑" panose="020B0503020204020204" pitchFamily="34" charset="-122"/>
              </a:rPr>
              <a:t>TCP/IP</a:t>
            </a:r>
            <a:r>
              <a:rPr lang="zh-CN" altLang="en-US" sz="1500" b="0" i="0" dirty="0">
                <a:solidFill>
                  <a:srgbClr val="333333"/>
                </a:solidFill>
                <a:effectLst/>
                <a:latin typeface="Arial" panose="020B0604020202020204" pitchFamily="34" charset="0"/>
                <a:ea typeface="微软雅黑" panose="020B0503020204020204" pitchFamily="34" charset="-122"/>
              </a:rPr>
              <a:t>技术，准许各大学、政府或私人科研机构的网络加入。</a:t>
            </a:r>
            <a:endParaRPr lang="en-US" altLang="zh-CN" sz="1500" b="0" i="0" dirty="0">
              <a:solidFill>
                <a:srgbClr val="333333"/>
              </a:solidFill>
              <a:effectLst/>
              <a:latin typeface="Arial" panose="020B0604020202020204" pitchFamily="34" charset="0"/>
              <a:ea typeface="微软雅黑" panose="020B0503020204020204" pitchFamily="34" charset="-122"/>
            </a:endParaRPr>
          </a:p>
          <a:p>
            <a:pPr marL="1143000" lvl="1" indent="-457200">
              <a:lnSpc>
                <a:spcPct val="100000"/>
              </a:lnSpc>
              <a:buFont typeface="Wingdings" panose="05000000000000000000" pitchFamily="2" charset="2"/>
              <a:buChar char="ü"/>
            </a:pPr>
            <a:r>
              <a:rPr lang="en-US" altLang="zh-CN" sz="1500" b="0" i="0" dirty="0">
                <a:solidFill>
                  <a:srgbClr val="333333"/>
                </a:solidFill>
                <a:effectLst/>
                <a:latin typeface="Arial" panose="020B0604020202020204" pitchFamily="34" charset="0"/>
                <a:ea typeface="微软雅黑" panose="020B0503020204020204" pitchFamily="34" charset="-122"/>
              </a:rPr>
              <a:t>1989</a:t>
            </a:r>
            <a:r>
              <a:rPr lang="zh-CN" altLang="en-US" sz="1500" b="0" i="0" dirty="0">
                <a:solidFill>
                  <a:srgbClr val="333333"/>
                </a:solidFill>
                <a:effectLst/>
                <a:latin typeface="Arial" panose="020B0604020202020204" pitchFamily="34" charset="0"/>
                <a:ea typeface="微软雅黑" panose="020B0503020204020204" pitchFamily="34" charset="-122"/>
              </a:rPr>
              <a:t>年，</a:t>
            </a:r>
            <a:r>
              <a:rPr lang="en-US" altLang="zh-CN" sz="1500" b="0" i="0" dirty="0">
                <a:solidFill>
                  <a:srgbClr val="333333"/>
                </a:solidFill>
                <a:effectLst/>
                <a:latin typeface="Arial" panose="020B0604020202020204" pitchFamily="34" charset="0"/>
                <a:ea typeface="微软雅黑" panose="020B0503020204020204" pitchFamily="34" charset="-122"/>
              </a:rPr>
              <a:t>ARPAnet</a:t>
            </a:r>
            <a:r>
              <a:rPr lang="zh-CN" altLang="en-US" sz="1500" b="0" i="0" dirty="0">
                <a:solidFill>
                  <a:srgbClr val="333333"/>
                </a:solidFill>
                <a:effectLst/>
                <a:latin typeface="Arial" panose="020B0604020202020204" pitchFamily="34" charset="0"/>
                <a:ea typeface="微软雅黑" panose="020B0503020204020204" pitchFamily="34" charset="-122"/>
              </a:rPr>
              <a:t>解散，</a:t>
            </a:r>
            <a:r>
              <a:rPr lang="en-US" altLang="zh-CN" sz="1500" b="0" i="0" dirty="0">
                <a:solidFill>
                  <a:srgbClr val="333333"/>
                </a:solidFill>
                <a:effectLst/>
                <a:latin typeface="Arial" panose="020B0604020202020204" pitchFamily="34" charset="0"/>
                <a:ea typeface="微软雅黑" panose="020B0503020204020204" pitchFamily="34" charset="-122"/>
              </a:rPr>
              <a:t>Internet</a:t>
            </a:r>
            <a:r>
              <a:rPr lang="zh-CN" altLang="en-US" sz="1500" b="0" i="0" dirty="0">
                <a:solidFill>
                  <a:srgbClr val="333333"/>
                </a:solidFill>
                <a:effectLst/>
                <a:latin typeface="Arial" panose="020B0604020202020204" pitchFamily="34" charset="0"/>
                <a:ea typeface="微软雅黑" panose="020B0503020204020204" pitchFamily="34" charset="-122"/>
              </a:rPr>
              <a:t>从军用转向民用。</a:t>
            </a:r>
            <a:endParaRPr lang="en-US" altLang="zh-CN" sz="1500" b="0" i="0" dirty="0">
              <a:solidFill>
                <a:srgbClr val="333333"/>
              </a:solidFill>
              <a:effectLst/>
              <a:latin typeface="Arial" panose="020B0604020202020204" pitchFamily="34" charset="0"/>
              <a:ea typeface="微软雅黑" panose="020B0503020204020204" pitchFamily="34" charset="-122"/>
            </a:endParaRPr>
          </a:p>
          <a:p>
            <a:pPr marL="1143000" lvl="1" indent="-457200">
              <a:lnSpc>
                <a:spcPct val="100000"/>
              </a:lnSpc>
              <a:buFont typeface="Wingdings" panose="05000000000000000000" pitchFamily="2" charset="2"/>
              <a:buChar char="ü"/>
            </a:pPr>
            <a:r>
              <a:rPr lang="en-US" altLang="zh-CN" sz="1500" b="0" i="0" dirty="0">
                <a:solidFill>
                  <a:srgbClr val="333333"/>
                </a:solidFill>
                <a:effectLst/>
                <a:latin typeface="Arial" panose="020B0604020202020204" pitchFamily="34" charset="0"/>
                <a:ea typeface="微软雅黑" panose="020B0503020204020204" pitchFamily="34" charset="-122"/>
              </a:rPr>
              <a:t>1995</a:t>
            </a:r>
            <a:r>
              <a:rPr lang="zh-CN" altLang="en-US" sz="1500" b="0" i="0" dirty="0">
                <a:solidFill>
                  <a:srgbClr val="333333"/>
                </a:solidFill>
                <a:effectLst/>
                <a:latin typeface="Arial" panose="020B0604020202020204" pitchFamily="34" charset="0"/>
                <a:ea typeface="微软雅黑" panose="020B0503020204020204" pitchFamily="34" charset="-122"/>
              </a:rPr>
              <a:t>年</a:t>
            </a:r>
            <a:r>
              <a:rPr lang="en-US" altLang="zh-CN" sz="1500" b="0" i="0" dirty="0">
                <a:solidFill>
                  <a:srgbClr val="333333"/>
                </a:solidFill>
                <a:effectLst/>
                <a:latin typeface="Arial" panose="020B0604020202020204" pitchFamily="34" charset="0"/>
                <a:ea typeface="微软雅黑" panose="020B0503020204020204" pitchFamily="34" charset="-122"/>
              </a:rPr>
              <a:t>4</a:t>
            </a:r>
            <a:r>
              <a:rPr lang="zh-CN" altLang="en-US" sz="1500" b="0" i="0" dirty="0">
                <a:solidFill>
                  <a:srgbClr val="333333"/>
                </a:solidFill>
                <a:effectLst/>
                <a:latin typeface="Arial" panose="020B0604020202020204" pitchFamily="34" charset="0"/>
                <a:ea typeface="微软雅黑" panose="020B0503020204020204" pitchFamily="34" charset="-122"/>
              </a:rPr>
              <a:t>月</a:t>
            </a:r>
            <a:r>
              <a:rPr lang="en-US" altLang="zh-CN" sz="1500" b="0" i="0" dirty="0">
                <a:solidFill>
                  <a:srgbClr val="333333"/>
                </a:solidFill>
                <a:effectLst/>
                <a:latin typeface="Arial" panose="020B0604020202020204" pitchFamily="34" charset="0"/>
                <a:ea typeface="微软雅黑" panose="020B0503020204020204" pitchFamily="34" charset="-122"/>
              </a:rPr>
              <a:t>30</a:t>
            </a:r>
            <a:r>
              <a:rPr lang="zh-CN" altLang="en-US" sz="1500" b="0" i="0" dirty="0">
                <a:solidFill>
                  <a:srgbClr val="333333"/>
                </a:solidFill>
                <a:effectLst/>
                <a:latin typeface="Arial" panose="020B0604020202020204" pitchFamily="34" charset="0"/>
                <a:ea typeface="微软雅黑" panose="020B0503020204020204" pitchFamily="34" charset="-122"/>
              </a:rPr>
              <a:t>日，</a:t>
            </a:r>
            <a:r>
              <a:rPr lang="en-US" altLang="zh-CN" sz="1500" b="0" i="0" dirty="0" err="1">
                <a:solidFill>
                  <a:srgbClr val="333333"/>
                </a:solidFill>
                <a:effectLst/>
                <a:latin typeface="Arial" panose="020B0604020202020204" pitchFamily="34" charset="0"/>
                <a:ea typeface="微软雅黑" panose="020B0503020204020204" pitchFamily="34" charset="-122"/>
              </a:rPr>
              <a:t>NSFnet</a:t>
            </a:r>
            <a:r>
              <a:rPr lang="zh-CN" altLang="en-US" sz="1500" b="0" i="0" dirty="0">
                <a:solidFill>
                  <a:srgbClr val="333333"/>
                </a:solidFill>
                <a:effectLst/>
                <a:latin typeface="Arial" panose="020B0604020202020204" pitchFamily="34" charset="0"/>
                <a:ea typeface="微软雅黑" panose="020B0503020204020204" pitchFamily="34" charset="-122"/>
              </a:rPr>
              <a:t>正式宣布停止运作。而此时</a:t>
            </a:r>
            <a:r>
              <a:rPr lang="en-US" altLang="zh-CN" sz="1500" b="0" i="0" dirty="0">
                <a:solidFill>
                  <a:srgbClr val="333333"/>
                </a:solidFill>
                <a:effectLst/>
                <a:latin typeface="Arial" panose="020B0604020202020204" pitchFamily="34" charset="0"/>
                <a:ea typeface="微软雅黑" panose="020B0503020204020204" pitchFamily="34" charset="-122"/>
              </a:rPr>
              <a:t>Internet</a:t>
            </a:r>
            <a:r>
              <a:rPr lang="zh-CN" altLang="en-US" sz="1500" b="0" i="0" dirty="0">
                <a:solidFill>
                  <a:srgbClr val="333333"/>
                </a:solidFill>
                <a:effectLst/>
                <a:latin typeface="Arial" panose="020B0604020202020204" pitchFamily="34" charset="0"/>
                <a:ea typeface="微软雅黑" panose="020B0503020204020204" pitchFamily="34" charset="-122"/>
              </a:rPr>
              <a:t>的骨干网已经覆盖了全球</a:t>
            </a:r>
            <a:r>
              <a:rPr lang="en-US" altLang="zh-CN" sz="1500" b="0" i="0" dirty="0">
                <a:solidFill>
                  <a:srgbClr val="333333"/>
                </a:solidFill>
                <a:effectLst/>
                <a:latin typeface="Arial" panose="020B0604020202020204" pitchFamily="34" charset="0"/>
                <a:ea typeface="微软雅黑" panose="020B0503020204020204" pitchFamily="34" charset="-122"/>
              </a:rPr>
              <a:t>91</a:t>
            </a:r>
            <a:r>
              <a:rPr lang="zh-CN" altLang="en-US" sz="1500" b="0" i="0" dirty="0">
                <a:solidFill>
                  <a:srgbClr val="333333"/>
                </a:solidFill>
                <a:effectLst/>
                <a:latin typeface="Arial" panose="020B0604020202020204" pitchFamily="34" charset="0"/>
                <a:ea typeface="微软雅黑" panose="020B0503020204020204" pitchFamily="34" charset="-122"/>
              </a:rPr>
              <a:t>个</a:t>
            </a:r>
            <a:r>
              <a:rPr lang="zh-CN" altLang="en-US" sz="1500" b="0" i="0" u="none" strike="noStrike" dirty="0">
                <a:effectLst/>
                <a:latin typeface="Arial" panose="020B0604020202020204" pitchFamily="34" charset="0"/>
                <a:ea typeface="微软雅黑" panose="020B0503020204020204" pitchFamily="34" charset="-122"/>
              </a:rPr>
              <a:t>国家</a:t>
            </a:r>
            <a:r>
              <a:rPr lang="zh-CN" altLang="en-US" sz="1500" b="0" i="0" dirty="0">
                <a:solidFill>
                  <a:srgbClr val="333333"/>
                </a:solidFill>
                <a:effectLst/>
                <a:latin typeface="Arial" panose="020B0604020202020204" pitchFamily="34" charset="0"/>
                <a:ea typeface="微软雅黑" panose="020B0503020204020204" pitchFamily="34" charset="-122"/>
              </a:rPr>
              <a:t>，主机已超过</a:t>
            </a:r>
            <a:r>
              <a:rPr lang="en-US" altLang="zh-CN" sz="1500" b="0" i="0" dirty="0">
                <a:solidFill>
                  <a:srgbClr val="333333"/>
                </a:solidFill>
                <a:effectLst/>
                <a:latin typeface="Arial" panose="020B0604020202020204" pitchFamily="34" charset="0"/>
                <a:ea typeface="微软雅黑" panose="020B0503020204020204" pitchFamily="34" charset="-122"/>
              </a:rPr>
              <a:t>400</a:t>
            </a:r>
            <a:r>
              <a:rPr lang="zh-CN" altLang="en-US" sz="1500" b="0" i="0" dirty="0">
                <a:solidFill>
                  <a:srgbClr val="333333"/>
                </a:solidFill>
                <a:effectLst/>
                <a:latin typeface="Arial" panose="020B0604020202020204" pitchFamily="34" charset="0"/>
                <a:ea typeface="微软雅黑" panose="020B0503020204020204" pitchFamily="34" charset="-122"/>
              </a:rPr>
              <a:t>万台。</a:t>
            </a:r>
            <a:endParaRPr lang="en-US" altLang="zh-CN" sz="1500" dirty="0">
              <a:latin typeface="Arial" panose="020B0604020202020204" pitchFamily="34" charset="0"/>
              <a:ea typeface="微软雅黑" panose="020B0503020204020204" pitchFamily="34" charset="-122"/>
            </a:endParaRPr>
          </a:p>
          <a:p>
            <a:pPr marL="685800" indent="-457200">
              <a:buFont typeface="Arial" panose="020B0604020202020204" pitchFamily="34" charset="0"/>
              <a:buChar char="•"/>
            </a:pPr>
            <a:endParaRPr lang="en-US" altLang="zh-CN" sz="1800" dirty="0">
              <a:latin typeface="Arial" panose="020B0604020202020204" pitchFamily="34" charset="0"/>
              <a:ea typeface="微软雅黑" panose="020B0503020204020204" pitchFamily="34" charset="-122"/>
            </a:endParaRPr>
          </a:p>
        </p:txBody>
      </p:sp>
      <p:pic>
        <p:nvPicPr>
          <p:cNvPr id="3379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0097" y="3429000"/>
            <a:ext cx="5038064" cy="2463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TextBox 9"/>
          <p:cNvSpPr txBox="1">
            <a:spLocks noChangeArrowheads="1"/>
          </p:cNvSpPr>
          <p:nvPr/>
        </p:nvSpPr>
        <p:spPr bwMode="auto">
          <a:xfrm>
            <a:off x="4816098" y="5823336"/>
            <a:ext cx="25598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NSFNET topology in 1988</a:t>
            </a:r>
          </a:p>
        </p:txBody>
      </p:sp>
      <p:sp>
        <p:nvSpPr>
          <p:cNvPr id="11" name="Freeform 10"/>
          <p:cNvSpPr/>
          <p:nvPr/>
        </p:nvSpPr>
        <p:spPr bwMode="auto">
          <a:xfrm rot="20755412">
            <a:off x="3776182" y="4909658"/>
            <a:ext cx="533400" cy="115887"/>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chemeClr val="accent3">
                <a:lumMod val="60000"/>
                <a:lumOff val="40000"/>
              </a:schemeClr>
            </a:solidFill>
            <a:prstDash val="solid"/>
            <a:round/>
            <a:headEnd type="none" w="med" len="med"/>
            <a:tailEnd type="triangle" w="lg" len="lg"/>
          </a:ln>
          <a:effectLst/>
        </p:spPr>
        <p:txBody>
          <a:bodyPr/>
          <a:lstStyle/>
          <a:p>
            <a:pPr algn="ctr" eaLnBrk="1" hangingPunct="1">
              <a:defRPr/>
            </a:pPr>
            <a:endParaRPr lang="en-US">
              <a:latin typeface="Arial" charset="0"/>
              <a:cs typeface="Arial" charset="0"/>
            </a:endParaRPr>
          </a:p>
        </p:txBody>
      </p:sp>
      <p:sp>
        <p:nvSpPr>
          <p:cNvPr id="33800" name="TextBox 11"/>
          <p:cNvSpPr txBox="1">
            <a:spLocks noChangeArrowheads="1"/>
          </p:cNvSpPr>
          <p:nvPr/>
        </p:nvSpPr>
        <p:spPr bwMode="auto">
          <a:xfrm>
            <a:off x="2846618" y="5151441"/>
            <a:ext cx="1969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dirty="0">
                <a:ea typeface="宋体" panose="02010600030101010101" pitchFamily="2" charset="-122"/>
              </a:rPr>
              <a:t>1.5 Mbps links</a:t>
            </a:r>
          </a:p>
        </p:txBody>
      </p:sp>
      <p:sp>
        <p:nvSpPr>
          <p:cNvPr id="4" name="矩形 3">
            <a:extLst>
              <a:ext uri="{FF2B5EF4-FFF2-40B4-BE49-F238E27FC236}">
                <a16:creationId xmlns:a16="http://schemas.microsoft.com/office/drawing/2014/main" id="{B6475E6E-5642-46CC-BB5C-2A5F6AC9601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2971733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35844" name="Content Placeholder 3"/>
          <p:cNvSpPr>
            <a:spLocks noGrp="1"/>
          </p:cNvSpPr>
          <p:nvPr>
            <p:ph idx="1"/>
          </p:nvPr>
        </p:nvSpPr>
        <p:spPr>
          <a:xfrm>
            <a:off x="904352" y="1325564"/>
            <a:ext cx="10520623" cy="4070401"/>
          </a:xfrm>
        </p:spPr>
        <p:txBody>
          <a:bodyPr/>
          <a:lstStyle/>
          <a:p>
            <a:r>
              <a:rPr lang="en-US" altLang="zh-CN" dirty="0">
                <a:ea typeface="宋体" panose="02010600030101010101" pitchFamily="2" charset="-122"/>
              </a:rPr>
              <a:t>The modern Internet is more complex:</a:t>
            </a:r>
          </a:p>
          <a:p>
            <a:pPr lvl="1"/>
            <a:r>
              <a:rPr lang="en-US" altLang="zh-CN" dirty="0">
                <a:ea typeface="宋体" panose="02010600030101010101" pitchFamily="2" charset="-122"/>
              </a:rPr>
              <a:t>ISP networks serve as the Internet backbone</a:t>
            </a:r>
          </a:p>
          <a:p>
            <a:pPr lvl="1"/>
            <a:r>
              <a:rPr lang="en-US" altLang="zh-CN" dirty="0">
                <a:ea typeface="宋体" panose="02010600030101010101" pitchFamily="2" charset="-122"/>
              </a:rPr>
              <a:t>ISPs connect or peer to exchange traffic at IXPs</a:t>
            </a:r>
          </a:p>
          <a:p>
            <a:pPr lvl="1"/>
            <a:r>
              <a:rPr lang="en-US" altLang="zh-CN" dirty="0">
                <a:ea typeface="宋体" panose="02010600030101010101" pitchFamily="2" charset="-122"/>
              </a:rPr>
              <a:t>Within each network routers switch packets</a:t>
            </a:r>
          </a:p>
          <a:p>
            <a:pPr lvl="1"/>
            <a:r>
              <a:rPr lang="en-US" altLang="zh-CN" dirty="0">
                <a:ea typeface="宋体" panose="02010600030101010101" pitchFamily="2" charset="-122"/>
              </a:rPr>
              <a:t>Between networks, traffic exchange is set by business agreements</a:t>
            </a:r>
          </a:p>
          <a:p>
            <a:pPr lvl="1"/>
            <a:r>
              <a:rPr lang="en-US" altLang="zh-CN" dirty="0">
                <a:ea typeface="宋体" panose="02010600030101010101" pitchFamily="2" charset="-122"/>
              </a:rPr>
              <a:t>Customers connect at the edge by many means</a:t>
            </a:r>
          </a:p>
          <a:p>
            <a:pPr lvl="2"/>
            <a:r>
              <a:rPr lang="en-US" altLang="zh-CN" dirty="0">
                <a:ea typeface="宋体" panose="02010600030101010101" pitchFamily="2" charset="-122"/>
              </a:rPr>
              <a:t>Cable, DSL, Fiber-to-the-Home, 3G/4G wireless, dialup</a:t>
            </a:r>
          </a:p>
          <a:p>
            <a:pPr lvl="1"/>
            <a:r>
              <a:rPr lang="en-US" altLang="zh-CN" dirty="0">
                <a:ea typeface="宋体" panose="02010600030101010101" pitchFamily="2" charset="-122"/>
              </a:rPr>
              <a:t>Data centers concentrate many servers (“the cloud”)</a:t>
            </a:r>
          </a:p>
          <a:p>
            <a:pPr lvl="1"/>
            <a:r>
              <a:rPr lang="en-US" altLang="zh-CN" dirty="0">
                <a:ea typeface="宋体" panose="02010600030101010101" pitchFamily="2" charset="-122"/>
              </a:rPr>
              <a:t>Most traffic is content from data centers (esp. video)</a:t>
            </a:r>
          </a:p>
          <a:p>
            <a:pPr lvl="1"/>
            <a:r>
              <a:rPr lang="en-US" altLang="zh-CN" dirty="0">
                <a:ea typeface="宋体" panose="02010600030101010101" pitchFamily="2" charset="-122"/>
              </a:rPr>
              <a:t>The architecture continues to evolve</a:t>
            </a:r>
          </a:p>
        </p:txBody>
      </p:sp>
      <p:sp>
        <p:nvSpPr>
          <p:cNvPr id="2" name="矩形 1">
            <a:extLst>
              <a:ext uri="{FF2B5EF4-FFF2-40B4-BE49-F238E27FC236}">
                <a16:creationId xmlns:a16="http://schemas.microsoft.com/office/drawing/2014/main" id="{C4C587D9-3568-4F0F-A991-A37AF536F89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718396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sp>
        <p:nvSpPr>
          <p:cNvPr id="37893" name="TextBox 9"/>
          <p:cNvSpPr txBox="1">
            <a:spLocks noChangeArrowheads="1"/>
          </p:cNvSpPr>
          <p:nvPr/>
        </p:nvSpPr>
        <p:spPr bwMode="auto">
          <a:xfrm>
            <a:off x="4454512" y="5873420"/>
            <a:ext cx="34109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a:ea typeface="宋体" panose="02010600030101010101" pitchFamily="2" charset="-122"/>
              </a:rPr>
              <a:t>Architecture of the Internet</a:t>
            </a:r>
          </a:p>
        </p:txBody>
      </p:sp>
      <p:sp>
        <p:nvSpPr>
          <p:cNvPr id="2" name="矩形 1">
            <a:extLst>
              <a:ext uri="{FF2B5EF4-FFF2-40B4-BE49-F238E27FC236}">
                <a16:creationId xmlns:a16="http://schemas.microsoft.com/office/drawing/2014/main" id="{FB93AEF0-C7E5-4C04-B7E9-99B7049EC71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(4)</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Picture 6">
            <a:extLst>
              <a:ext uri="{FF2B5EF4-FFF2-40B4-BE49-F238E27FC236}">
                <a16:creationId xmlns:a16="http://schemas.microsoft.com/office/drawing/2014/main" id="{D3429858-FC2C-4B5E-980C-1E994B3B05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0888" y="1067399"/>
            <a:ext cx="9250493" cy="47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8C9DE412-F98E-4CE7-B973-5B482FF0AD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25747532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38916" name="Rectangle 3"/>
          <p:cNvSpPr>
            <a:spLocks noGrp="1" noChangeArrowheads="1"/>
          </p:cNvSpPr>
          <p:nvPr>
            <p:ph idx="1"/>
          </p:nvPr>
        </p:nvSpPr>
        <p:spPr>
          <a:xfrm>
            <a:off x="529214" y="1154026"/>
            <a:ext cx="11053185" cy="885914"/>
          </a:xfrm>
        </p:spPr>
        <p:txBody>
          <a:bodyPr/>
          <a:lstStyle/>
          <a:p>
            <a:pPr indent="0"/>
            <a:r>
              <a:rPr lang="en-US" altLang="zh-CN" dirty="0">
                <a:ea typeface="宋体" panose="02010600030101010101" pitchFamily="2" charset="-122"/>
              </a:rPr>
              <a:t>3G network is based on spatial cells; each cell provides wireless service to mobiles within it via a base station</a:t>
            </a:r>
          </a:p>
        </p:txBody>
      </p:sp>
      <p:pic>
        <p:nvPicPr>
          <p:cNvPr id="38917" name="Picture 7" descr="01-3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800" y="2593976"/>
            <a:ext cx="5486400" cy="320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1886F83A-A050-4C5C-A6D2-D3108951D7A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3G Mobile Phone Networks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3423199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547980" y="993776"/>
            <a:ext cx="11224009" cy="923925"/>
          </a:xfrm>
        </p:spPr>
        <p:txBody>
          <a:bodyPr/>
          <a:lstStyle/>
          <a:p>
            <a:r>
              <a:rPr lang="en-US" altLang="zh-CN" dirty="0">
                <a:ea typeface="宋体" panose="02010600030101010101" pitchFamily="2" charset="-122"/>
              </a:rPr>
              <a:t>Base stations connect to the core network to find other mobiles and send data to the phone network and Internet</a:t>
            </a:r>
          </a:p>
        </p:txBody>
      </p:sp>
      <p:sp>
        <p:nvSpPr>
          <p:cNvPr id="39940"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1 Introduction</a:t>
            </a:r>
          </a:p>
        </p:txBody>
      </p:sp>
      <p:pic>
        <p:nvPicPr>
          <p:cNvPr id="3994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4926" y="2066926"/>
            <a:ext cx="7269163"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5B1B7447-6D28-4A97-A1DA-DF115B9B284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3G Mobile Phone Networks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2203860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40964" name="Rectangle 3"/>
          <p:cNvSpPr>
            <a:spLocks noGrp="1" noChangeArrowheads="1"/>
          </p:cNvSpPr>
          <p:nvPr>
            <p:ph idx="1"/>
          </p:nvPr>
        </p:nvSpPr>
        <p:spPr>
          <a:xfrm>
            <a:off x="439721" y="1091000"/>
            <a:ext cx="10912510" cy="874711"/>
          </a:xfrm>
        </p:spPr>
        <p:txBody>
          <a:bodyPr/>
          <a:lstStyle/>
          <a:p>
            <a:pPr marL="685800" indent="-457200">
              <a:buFont typeface="Arial" panose="020B0604020202020204" pitchFamily="34" charset="0"/>
              <a:buChar char="•"/>
            </a:pPr>
            <a:r>
              <a:rPr lang="en-US" altLang="zh-CN" dirty="0">
                <a:ea typeface="宋体" panose="02010600030101010101" pitchFamily="2" charset="-122"/>
              </a:rPr>
              <a:t>As mobiles move, base stations hand them off from one cell to the next, and the network tracks their location</a:t>
            </a:r>
          </a:p>
        </p:txBody>
      </p:sp>
      <p:sp>
        <p:nvSpPr>
          <p:cNvPr id="2" name="矩形 1">
            <a:extLst>
              <a:ext uri="{FF2B5EF4-FFF2-40B4-BE49-F238E27FC236}">
                <a16:creationId xmlns:a16="http://schemas.microsoft.com/office/drawing/2014/main" id="{04318B88-8DFA-4FFE-843A-46AEDC6CCABC}"/>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3G Mobile Phone Networks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grpSp>
        <p:nvGrpSpPr>
          <p:cNvPr id="22" name="Group 19">
            <a:extLst>
              <a:ext uri="{FF2B5EF4-FFF2-40B4-BE49-F238E27FC236}">
                <a16:creationId xmlns:a16="http://schemas.microsoft.com/office/drawing/2014/main" id="{5BB228E2-EDB2-4E5A-8B0C-7F9C27A13DEE}"/>
              </a:ext>
            </a:extLst>
          </p:cNvPr>
          <p:cNvGrpSpPr>
            <a:grpSpLocks/>
          </p:cNvGrpSpPr>
          <p:nvPr/>
        </p:nvGrpSpPr>
        <p:grpSpPr bwMode="auto">
          <a:xfrm>
            <a:off x="4038600" y="2391191"/>
            <a:ext cx="3271837" cy="2798762"/>
            <a:chOff x="509588" y="1830388"/>
            <a:chExt cx="3271837" cy="2798762"/>
          </a:xfrm>
        </p:grpSpPr>
        <p:pic>
          <p:nvPicPr>
            <p:cNvPr id="23" name="Picture 7" descr="01-32">
              <a:extLst>
                <a:ext uri="{FF2B5EF4-FFF2-40B4-BE49-F238E27FC236}">
                  <a16:creationId xmlns:a16="http://schemas.microsoft.com/office/drawing/2014/main" id="{32BC2A36-A89D-47A6-8671-C186646827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59731" b="12463"/>
            <a:stretch>
              <a:fillRect/>
            </a:stretch>
          </p:blipFill>
          <p:spPr bwMode="auto">
            <a:xfrm>
              <a:off x="509588" y="1830388"/>
              <a:ext cx="3271837" cy="279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9">
              <a:extLst>
                <a:ext uri="{FF2B5EF4-FFF2-40B4-BE49-F238E27FC236}">
                  <a16:creationId xmlns:a16="http://schemas.microsoft.com/office/drawing/2014/main" id="{46F0E7B2-35CF-4A3A-A644-A11859E0C7F7}"/>
                </a:ext>
              </a:extLst>
            </p:cNvPr>
            <p:cNvSpPr/>
            <p:nvPr/>
          </p:nvSpPr>
          <p:spPr bwMode="auto">
            <a:xfrm>
              <a:off x="2619375" y="2981325"/>
              <a:ext cx="419100" cy="895350"/>
            </a:xfrm>
            <a:custGeom>
              <a:avLst/>
              <a:gdLst>
                <a:gd name="connsiteX0" fmla="*/ 419100 w 419100"/>
                <a:gd name="connsiteY0" fmla="*/ 0 h 895350"/>
                <a:gd name="connsiteX1" fmla="*/ 0 w 419100"/>
                <a:gd name="connsiteY1" fmla="*/ 619125 h 895350"/>
                <a:gd name="connsiteX2" fmla="*/ 342900 w 419100"/>
                <a:gd name="connsiteY2" fmla="*/ 466725 h 895350"/>
                <a:gd name="connsiteX3" fmla="*/ 28575 w 419100"/>
                <a:gd name="connsiteY3" fmla="*/ 895350 h 895350"/>
              </a:gdLst>
              <a:ahLst/>
              <a:cxnLst>
                <a:cxn ang="0">
                  <a:pos x="connsiteX0" y="connsiteY0"/>
                </a:cxn>
                <a:cxn ang="0">
                  <a:pos x="connsiteX1" y="connsiteY1"/>
                </a:cxn>
                <a:cxn ang="0">
                  <a:pos x="connsiteX2" y="connsiteY2"/>
                </a:cxn>
                <a:cxn ang="0">
                  <a:pos x="connsiteX3" y="connsiteY3"/>
                </a:cxn>
              </a:cxnLst>
              <a:rect l="l" t="t" r="r" b="b"/>
              <a:pathLst>
                <a:path w="419100" h="895350">
                  <a:moveTo>
                    <a:pt x="419100" y="0"/>
                  </a:moveTo>
                  <a:lnTo>
                    <a:pt x="0" y="619125"/>
                  </a:lnTo>
                  <a:lnTo>
                    <a:pt x="342900" y="466725"/>
                  </a:lnTo>
                  <a:lnTo>
                    <a:pt x="28575" y="895350"/>
                  </a:lnTo>
                </a:path>
              </a:pathLst>
            </a:custGeom>
            <a:noFill/>
            <a:ln w="28575" cap="flat" cmpd="sng" algn="ctr">
              <a:solidFill>
                <a:srgbClr val="9C007F">
                  <a:lumMod val="60000"/>
                  <a:lumOff val="40000"/>
                </a:srgbClr>
              </a:solidFill>
              <a:prstDash val="solid"/>
              <a:round/>
              <a:headEnd type="none" w="med" len="med"/>
              <a:tailEnd type="non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25" name="Rectangle 11">
              <a:extLst>
                <a:ext uri="{FF2B5EF4-FFF2-40B4-BE49-F238E27FC236}">
                  <a16:creationId xmlns:a16="http://schemas.microsoft.com/office/drawing/2014/main" id="{9FB271AD-5DAE-425E-9341-28F68FD35E8C}"/>
                </a:ext>
              </a:extLst>
            </p:cNvPr>
            <p:cNvSpPr>
              <a:spLocks noChangeArrowheads="1"/>
            </p:cNvSpPr>
            <p:nvPr/>
          </p:nvSpPr>
          <p:spPr bwMode="auto">
            <a:xfrm>
              <a:off x="1638300" y="2981325"/>
              <a:ext cx="571500" cy="819150"/>
            </a:xfrm>
            <a:prstGeom prst="rect">
              <a:avLst/>
            </a:prstGeom>
            <a:solidFill>
              <a:sysClr val="window" lastClr="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zh-CN"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6" name="Freeform 10">
              <a:extLst>
                <a:ext uri="{FF2B5EF4-FFF2-40B4-BE49-F238E27FC236}">
                  <a16:creationId xmlns:a16="http://schemas.microsoft.com/office/drawing/2014/main" id="{AB4F5B2D-2D0B-4863-AF5D-AFDCB2ACF299}"/>
                </a:ext>
              </a:extLst>
            </p:cNvPr>
            <p:cNvSpPr>
              <a:spLocks/>
            </p:cNvSpPr>
            <p:nvPr/>
          </p:nvSpPr>
          <p:spPr bwMode="auto">
            <a:xfrm>
              <a:off x="1666875" y="2905125"/>
              <a:ext cx="533400" cy="914400"/>
            </a:xfrm>
            <a:custGeom>
              <a:avLst/>
              <a:gdLst>
                <a:gd name="T0" fmla="*/ 0 w 533400"/>
                <a:gd name="T1" fmla="*/ 0 h 914400"/>
                <a:gd name="T2" fmla="*/ 247650 w 533400"/>
                <a:gd name="T3" fmla="*/ 685800 h 914400"/>
                <a:gd name="T4" fmla="*/ 323850 w 533400"/>
                <a:gd name="T5" fmla="*/ 342900 h 914400"/>
                <a:gd name="T6" fmla="*/ 533400 w 533400"/>
                <a:gd name="T7" fmla="*/ 914400 h 9144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33400" h="914400">
                  <a:moveTo>
                    <a:pt x="0" y="0"/>
                  </a:moveTo>
                  <a:lnTo>
                    <a:pt x="247650" y="685800"/>
                  </a:lnTo>
                  <a:lnTo>
                    <a:pt x="323850" y="342900"/>
                  </a:lnTo>
                  <a:lnTo>
                    <a:pt x="533400" y="914400"/>
                  </a:lnTo>
                </a:path>
              </a:pathLst>
            </a:custGeom>
            <a:solidFill>
              <a:sysClr val="window" lastClr="FFFFFF"/>
            </a:solidFill>
            <a:ln w="28575" cap="flat" cmpd="sng" algn="ctr">
              <a:solidFill>
                <a:sysClr val="windowText" lastClr="000000"/>
              </a:solidFill>
              <a:prstDash val="sysDash"/>
              <a:round/>
              <a:headEnd type="none" w="med" len="med"/>
              <a:tailEnd type="none" w="med" len="me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27" name="Freeform 12">
              <a:extLst>
                <a:ext uri="{FF2B5EF4-FFF2-40B4-BE49-F238E27FC236}">
                  <a16:creationId xmlns:a16="http://schemas.microsoft.com/office/drawing/2014/main" id="{0BA66D1A-A771-4F19-AA18-DFDE32AB5F37}"/>
                </a:ext>
              </a:extLst>
            </p:cNvPr>
            <p:cNvSpPr/>
            <p:nvPr/>
          </p:nvSpPr>
          <p:spPr bwMode="auto">
            <a:xfrm>
              <a:off x="2143125" y="3179763"/>
              <a:ext cx="533400" cy="115887"/>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rgbClr val="9C007F">
                  <a:lumMod val="60000"/>
                  <a:lumOff val="40000"/>
                </a:srgbClr>
              </a:solidFill>
              <a:prstDash val="solid"/>
              <a:round/>
              <a:headEnd type="none" w="med" len="med"/>
              <a:tailEnd type="triangle" w="lg" len="lg"/>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28" name="TextBox 13">
              <a:extLst>
                <a:ext uri="{FF2B5EF4-FFF2-40B4-BE49-F238E27FC236}">
                  <a16:creationId xmlns:a16="http://schemas.microsoft.com/office/drawing/2014/main" id="{19448916-E5AE-4249-A16B-2012805CB680}"/>
                </a:ext>
              </a:extLst>
            </p:cNvPr>
            <p:cNvSpPr txBox="1">
              <a:spLocks noChangeArrowheads="1"/>
            </p:cNvSpPr>
            <p:nvPr/>
          </p:nvSpPr>
          <p:spPr bwMode="auto">
            <a:xfrm>
              <a:off x="1828800" y="2847975"/>
              <a:ext cx="11849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Handover</a:t>
              </a:r>
            </a:p>
          </p:txBody>
        </p:sp>
        <p:cxnSp>
          <p:nvCxnSpPr>
            <p:cNvPr id="29" name="Straight Arrow Connector 15">
              <a:extLst>
                <a:ext uri="{FF2B5EF4-FFF2-40B4-BE49-F238E27FC236}">
                  <a16:creationId xmlns:a16="http://schemas.microsoft.com/office/drawing/2014/main" id="{44118D94-26F9-496B-B615-80528F05A93B}"/>
                </a:ext>
              </a:extLst>
            </p:cNvPr>
            <p:cNvCxnSpPr>
              <a:cxnSpLocks noChangeShapeType="1"/>
            </p:cNvCxnSpPr>
            <p:nvPr/>
          </p:nvCxnSpPr>
          <p:spPr bwMode="auto">
            <a:xfrm>
              <a:off x="2676525" y="4095750"/>
              <a:ext cx="466725" cy="1588"/>
            </a:xfrm>
            <a:prstGeom prst="straightConnector1">
              <a:avLst/>
            </a:prstGeom>
            <a:noFill/>
            <a:ln w="19050" algn="ctr">
              <a:solidFill>
                <a:sysClr val="windowText" lastClr="000000"/>
              </a:solidFill>
              <a:round/>
              <a:headEnd/>
              <a:tailEnd type="arrow"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69347141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41988" name="Rectangle 3"/>
          <p:cNvSpPr>
            <a:spLocks noGrp="1" noChangeArrowheads="1"/>
          </p:cNvSpPr>
          <p:nvPr>
            <p:ph idx="1"/>
          </p:nvPr>
        </p:nvSpPr>
        <p:spPr>
          <a:xfrm>
            <a:off x="602902" y="1175746"/>
            <a:ext cx="10711541" cy="1021354"/>
          </a:xfrm>
        </p:spPr>
        <p:txBody>
          <a:bodyPr/>
          <a:lstStyle/>
          <a:p>
            <a:pPr indent="0"/>
            <a:r>
              <a:rPr lang="en-US" altLang="zh-CN" dirty="0">
                <a:ea typeface="宋体" panose="02010600030101010101" pitchFamily="2" charset="-122"/>
              </a:rPr>
              <a:t>In 802.11, clients communicate via an AP (Access Point) that is wired to the rest of the network.</a:t>
            </a:r>
          </a:p>
        </p:txBody>
      </p:sp>
      <p:pic>
        <p:nvPicPr>
          <p:cNvPr id="41989" name="Picture 2"/>
          <p:cNvPicPr>
            <a:picLocks noChangeAspect="1" noChangeArrowheads="1"/>
          </p:cNvPicPr>
          <p:nvPr/>
        </p:nvPicPr>
        <p:blipFill>
          <a:blip r:embed="rId2">
            <a:extLst>
              <a:ext uri="{28A0092B-C50C-407E-A947-70E740481C1C}">
                <a14:useLocalDpi xmlns:a14="http://schemas.microsoft.com/office/drawing/2010/main" val="0"/>
              </a:ext>
            </a:extLst>
          </a:blip>
          <a:srcRect t="6773" r="47746" b="12457"/>
          <a:stretch>
            <a:fillRect/>
          </a:stretch>
        </p:blipFill>
        <p:spPr bwMode="auto">
          <a:xfrm>
            <a:off x="4181475" y="2615204"/>
            <a:ext cx="3829050"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0BA94420-C625-40DE-BCD0-B525E82D592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Wireless LANs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1</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0611090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43012" name="Rectangle 3"/>
          <p:cNvSpPr>
            <a:spLocks noGrp="1" noChangeArrowheads="1"/>
          </p:cNvSpPr>
          <p:nvPr>
            <p:ph idx="1"/>
          </p:nvPr>
        </p:nvSpPr>
        <p:spPr>
          <a:xfrm>
            <a:off x="562708" y="1182689"/>
            <a:ext cx="10812026" cy="4598987"/>
          </a:xfrm>
        </p:spPr>
        <p:txBody>
          <a:bodyPr/>
          <a:lstStyle/>
          <a:p>
            <a:pPr indent="0"/>
            <a:r>
              <a:rPr lang="en-US" altLang="zh-CN" dirty="0">
                <a:ea typeface="宋体" panose="02010600030101010101" pitchFamily="2" charset="-122"/>
              </a:rPr>
              <a:t>Signals in the 2.4GHz ISM band vary in strength due to many effects, such as multipath fading due to reflections</a:t>
            </a:r>
          </a:p>
          <a:p>
            <a:pPr lvl="1" indent="0"/>
            <a:r>
              <a:rPr lang="en-US" altLang="zh-CN" dirty="0">
                <a:ea typeface="宋体" panose="02010600030101010101" pitchFamily="2" charset="-122"/>
              </a:rPr>
              <a:t> requires complex transmission schemes, e.g., OFDM</a:t>
            </a:r>
          </a:p>
        </p:txBody>
      </p:sp>
      <p:pic>
        <p:nvPicPr>
          <p:cNvPr id="4301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1289" y="2852739"/>
            <a:ext cx="7000875" cy="292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BC367442-A92E-43CB-9903-6421FC5B0A7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Wireless LANs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2</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3281529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44036" name="Rectangle 3"/>
          <p:cNvSpPr>
            <a:spLocks noGrp="1" noChangeArrowheads="1"/>
          </p:cNvSpPr>
          <p:nvPr>
            <p:ph idx="1"/>
          </p:nvPr>
        </p:nvSpPr>
        <p:spPr>
          <a:xfrm>
            <a:off x="633047" y="1048065"/>
            <a:ext cx="10440237" cy="1523772"/>
          </a:xfrm>
        </p:spPr>
        <p:txBody>
          <a:bodyPr>
            <a:normAutofit/>
          </a:bodyPr>
          <a:lstStyle/>
          <a:p>
            <a:pPr indent="0">
              <a:lnSpc>
                <a:spcPct val="100000"/>
              </a:lnSpc>
            </a:pPr>
            <a:r>
              <a:rPr lang="en-US" altLang="zh-CN" dirty="0">
                <a:ea typeface="宋体" panose="02010600030101010101" pitchFamily="2" charset="-122"/>
              </a:rPr>
              <a:t>Radio broadcasts interfere with each other, and radio ranges may incompletely overlap</a:t>
            </a:r>
          </a:p>
          <a:p>
            <a:pPr lvl="1" indent="0">
              <a:lnSpc>
                <a:spcPct val="100000"/>
              </a:lnSpc>
            </a:pPr>
            <a:r>
              <a:rPr lang="en-US" altLang="zh-CN" dirty="0">
                <a:ea typeface="宋体" panose="02010600030101010101" pitchFamily="2" charset="-122"/>
              </a:rPr>
              <a:t>CSMA (Carrier Sense Multiple Access </a:t>
            </a:r>
            <a:r>
              <a:rPr lang="zh-CN" altLang="en-US" sz="2000" b="0" i="0" dirty="0">
                <a:solidFill>
                  <a:srgbClr val="333333"/>
                </a:solidFill>
                <a:effectLst/>
                <a:latin typeface="微软雅黑" panose="020B0503020204020204" pitchFamily="34" charset="-122"/>
                <a:ea typeface="微软雅黑" panose="020B0503020204020204" pitchFamily="34" charset="-122"/>
              </a:rPr>
              <a:t>载波监听多路访问</a:t>
            </a:r>
            <a:r>
              <a:rPr lang="en-US" altLang="zh-CN" dirty="0">
                <a:ea typeface="宋体" panose="02010600030101010101" pitchFamily="2" charset="-122"/>
              </a:rPr>
              <a:t>) designs are used</a:t>
            </a:r>
          </a:p>
        </p:txBody>
      </p:sp>
      <p:pic>
        <p:nvPicPr>
          <p:cNvPr id="4403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7100" y="3041651"/>
            <a:ext cx="5295900" cy="320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BB62BE35-C2DD-45E3-8A41-D0F2E507108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Wireless LANs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3</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4022359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46084" name="Rectangle 3"/>
          <p:cNvSpPr>
            <a:spLocks noGrp="1" noChangeArrowheads="1"/>
          </p:cNvSpPr>
          <p:nvPr>
            <p:ph idx="1"/>
          </p:nvPr>
        </p:nvSpPr>
        <p:spPr>
          <a:xfrm>
            <a:off x="830664" y="1129506"/>
            <a:ext cx="10815375" cy="4598987"/>
          </a:xfrm>
        </p:spPr>
        <p:txBody>
          <a:bodyPr/>
          <a:lstStyle/>
          <a:p>
            <a:r>
              <a:rPr lang="en-US" altLang="zh-CN" dirty="0">
                <a:ea typeface="宋体" panose="02010600030101010101" pitchFamily="2" charset="-122"/>
              </a:rPr>
              <a:t>Passive UHF RFID</a:t>
            </a:r>
            <a:r>
              <a:rPr lang="zh-CN" altLang="en-US" dirty="0">
                <a:ea typeface="宋体" panose="02010600030101010101" pitchFamily="2" charset="-122"/>
              </a:rPr>
              <a:t>（</a:t>
            </a:r>
            <a:r>
              <a:rPr lang="zh-CN" altLang="en-US" sz="2000" dirty="0">
                <a:latin typeface="微软雅黑" panose="020B0503020204020204" pitchFamily="34" charset="-122"/>
                <a:ea typeface="微软雅黑" panose="020B0503020204020204" pitchFamily="34" charset="-122"/>
              </a:rPr>
              <a:t>无源 特高频 射频识别</a:t>
            </a:r>
            <a:r>
              <a:rPr lang="zh-CN" altLang="en-US" dirty="0">
                <a:ea typeface="宋体" panose="02010600030101010101" pitchFamily="2" charset="-122"/>
              </a:rPr>
              <a:t>）</a:t>
            </a:r>
            <a:r>
              <a:rPr lang="en-US" altLang="zh-CN" dirty="0">
                <a:ea typeface="宋体" panose="02010600030101010101" pitchFamily="2" charset="-122"/>
              </a:rPr>
              <a:t> networks everyday objects:</a:t>
            </a:r>
          </a:p>
          <a:p>
            <a:pPr lvl="1"/>
            <a:r>
              <a:rPr lang="en-US" altLang="zh-CN" dirty="0">
                <a:ea typeface="宋体" panose="02010600030101010101" pitchFamily="2" charset="-122"/>
              </a:rPr>
              <a:t>Tags (stickers with not even a battery) are placed on objects</a:t>
            </a:r>
          </a:p>
          <a:p>
            <a:pPr lvl="1"/>
            <a:r>
              <a:rPr lang="en-US" altLang="zh-CN" dirty="0">
                <a:ea typeface="宋体" panose="02010600030101010101" pitchFamily="2" charset="-122"/>
              </a:rPr>
              <a:t>Readers send signals that the tags reflect to communicate</a:t>
            </a:r>
          </a:p>
          <a:p>
            <a:pPr lvl="2"/>
            <a:endParaRPr lang="en-US" altLang="zh-CN" dirty="0">
              <a:ea typeface="宋体" panose="02010600030101010101" pitchFamily="2" charset="-122"/>
            </a:endParaRPr>
          </a:p>
        </p:txBody>
      </p:sp>
      <p:pic>
        <p:nvPicPr>
          <p:cNvPr id="46085" name="Picture 7" descr="01-3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7672" y="2948563"/>
            <a:ext cx="6524625" cy="213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7013260C-612F-44F3-99A8-0FA11270C45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RFID and Sensor Networks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0014082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47108" name="Rectangle 3"/>
          <p:cNvSpPr>
            <a:spLocks noGrp="1" noChangeArrowheads="1"/>
          </p:cNvSpPr>
          <p:nvPr>
            <p:ph idx="1"/>
          </p:nvPr>
        </p:nvSpPr>
        <p:spPr>
          <a:xfrm>
            <a:off x="669891" y="1129506"/>
            <a:ext cx="10513925" cy="4598987"/>
          </a:xfrm>
        </p:spPr>
        <p:txBody>
          <a:bodyPr/>
          <a:lstStyle/>
          <a:p>
            <a:r>
              <a:rPr lang="en-US" altLang="zh-CN" dirty="0">
                <a:ea typeface="宋体" panose="02010600030101010101" pitchFamily="2" charset="-122"/>
              </a:rPr>
              <a:t>Sensor networks spread small devices over an area:</a:t>
            </a:r>
          </a:p>
          <a:p>
            <a:pPr lvl="1"/>
            <a:r>
              <a:rPr lang="en-US" altLang="zh-CN" dirty="0">
                <a:ea typeface="宋体" panose="02010600030101010101" pitchFamily="2" charset="-122"/>
              </a:rPr>
              <a:t>Devices send sensed data to collector via wireless hops  </a:t>
            </a:r>
          </a:p>
        </p:txBody>
      </p:sp>
      <p:pic>
        <p:nvPicPr>
          <p:cNvPr id="4710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9134" y="2488174"/>
            <a:ext cx="6675438" cy="325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F44B141-3D8F-449D-A66B-6FF938576FC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RFID and Sensor Networks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9710694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48132" name="Rectangle 3"/>
          <p:cNvSpPr>
            <a:spLocks noGrp="1" noChangeArrowheads="1"/>
          </p:cNvSpPr>
          <p:nvPr>
            <p:ph idx="1"/>
          </p:nvPr>
        </p:nvSpPr>
        <p:spPr>
          <a:xfrm>
            <a:off x="823965" y="1219429"/>
            <a:ext cx="9545934" cy="1011305"/>
          </a:xfrm>
        </p:spPr>
        <p:txBody>
          <a:bodyPr/>
          <a:lstStyle/>
          <a:p>
            <a:pPr lvl="1"/>
            <a:r>
              <a:rPr lang="en-US" altLang="zh-CN" dirty="0">
                <a:ea typeface="宋体" panose="02010600030101010101" pitchFamily="2" charset="-122"/>
              </a:rPr>
              <a:t>Standards define what is needed for </a:t>
            </a:r>
            <a:r>
              <a:rPr lang="en-US" altLang="zh-CN" u="sng" dirty="0">
                <a:ea typeface="宋体" panose="02010600030101010101" pitchFamily="2" charset="-122"/>
              </a:rPr>
              <a:t>interoperability</a:t>
            </a:r>
          </a:p>
          <a:p>
            <a:pPr lvl="1"/>
            <a:r>
              <a:rPr lang="en-US" altLang="zh-CN" dirty="0">
                <a:ea typeface="宋体" panose="02010600030101010101" pitchFamily="2" charset="-122"/>
              </a:rPr>
              <a:t>Some of the many standards bodies:</a:t>
            </a:r>
          </a:p>
          <a:p>
            <a:pPr lvl="1">
              <a:buFont typeface="Arial" panose="020B0604020202020204" pitchFamily="34" charset="0"/>
              <a:buNone/>
            </a:pPr>
            <a:endParaRPr lang="en-US" altLang="zh-CN" dirty="0">
              <a:ea typeface="宋体" panose="02010600030101010101" pitchFamily="2" charset="-122"/>
            </a:endParaRPr>
          </a:p>
        </p:txBody>
      </p:sp>
      <p:graphicFrame>
        <p:nvGraphicFramePr>
          <p:cNvPr id="9" name="Table 8"/>
          <p:cNvGraphicFramePr>
            <a:graphicFrameLocks noGrp="1"/>
          </p:cNvGraphicFramePr>
          <p:nvPr>
            <p:extLst>
              <p:ext uri="{D42A27DB-BD31-4B8C-83A1-F6EECF244321}">
                <p14:modId xmlns:p14="http://schemas.microsoft.com/office/powerpoint/2010/main" val="879502262"/>
              </p:ext>
            </p:extLst>
          </p:nvPr>
        </p:nvGraphicFramePr>
        <p:xfrm>
          <a:off x="1547446" y="2230734"/>
          <a:ext cx="9435402" cy="3571910"/>
        </p:xfrm>
        <a:graphic>
          <a:graphicData uri="http://schemas.openxmlformats.org/drawingml/2006/table">
            <a:tbl>
              <a:tblPr firstRow="1" bandRow="1">
                <a:tableStyleId>{5C22544A-7EE6-4342-B048-85BDC9FD1C3A}</a:tableStyleId>
              </a:tblPr>
              <a:tblGrid>
                <a:gridCol w="864158">
                  <a:extLst>
                    <a:ext uri="{9D8B030D-6E8A-4147-A177-3AD203B41FA5}">
                      <a16:colId xmlns:a16="http://schemas.microsoft.com/office/drawing/2014/main" val="20000"/>
                    </a:ext>
                  </a:extLst>
                </a:gridCol>
                <a:gridCol w="2090058">
                  <a:extLst>
                    <a:ext uri="{9D8B030D-6E8A-4147-A177-3AD203B41FA5}">
                      <a16:colId xmlns:a16="http://schemas.microsoft.com/office/drawing/2014/main" val="20001"/>
                    </a:ext>
                  </a:extLst>
                </a:gridCol>
                <a:gridCol w="2220685">
                  <a:extLst>
                    <a:ext uri="{9D8B030D-6E8A-4147-A177-3AD203B41FA5}">
                      <a16:colId xmlns:a16="http://schemas.microsoft.com/office/drawing/2014/main" val="20002"/>
                    </a:ext>
                  </a:extLst>
                </a:gridCol>
                <a:gridCol w="4260501">
                  <a:extLst>
                    <a:ext uri="{9D8B030D-6E8A-4147-A177-3AD203B41FA5}">
                      <a16:colId xmlns:a16="http://schemas.microsoft.com/office/drawing/2014/main" val="2063587226"/>
                    </a:ext>
                  </a:extLst>
                </a:gridCol>
              </a:tblGrid>
              <a:tr h="292477">
                <a:tc>
                  <a:txBody>
                    <a:bodyPr/>
                    <a:lstStyle/>
                    <a:p>
                      <a:pPr algn="l"/>
                      <a:r>
                        <a:rPr lang="en-US" sz="1600" b="1" dirty="0">
                          <a:solidFill>
                            <a:schemeClr val="tx1"/>
                          </a:solidFill>
                          <a:latin typeface="Arial" pitchFamily="34" charset="0"/>
                          <a:cs typeface="Arial" pitchFamily="34" charset="0"/>
                        </a:rPr>
                        <a:t>Body</a:t>
                      </a: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sz="1600" b="1" dirty="0">
                          <a:solidFill>
                            <a:schemeClr val="tx1"/>
                          </a:solidFill>
                          <a:latin typeface="Arial" pitchFamily="34" charset="0"/>
                          <a:cs typeface="Arial" pitchFamily="34" charset="0"/>
                        </a:rPr>
                        <a:t>Area</a:t>
                      </a: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sz="1600" b="1" dirty="0">
                          <a:solidFill>
                            <a:schemeClr val="tx1"/>
                          </a:solidFill>
                          <a:latin typeface="Arial" pitchFamily="34" charset="0"/>
                          <a:cs typeface="Arial" pitchFamily="34" charset="0"/>
                        </a:rPr>
                        <a:t>Examples</a:t>
                      </a: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altLang="zh-CN" sz="1800" b="1" dirty="0">
                          <a:solidFill>
                            <a:schemeClr val="tx1"/>
                          </a:solidFill>
                          <a:latin typeface="Arial" pitchFamily="34" charset="0"/>
                          <a:cs typeface="Arial" pitchFamily="34" charset="0"/>
                        </a:rPr>
                        <a:t>Notes</a:t>
                      </a:r>
                      <a:endParaRPr lang="en-US" sz="1800" b="1" dirty="0">
                        <a:solidFill>
                          <a:schemeClr val="tx1"/>
                        </a:solidFill>
                        <a:latin typeface="Arial" pitchFamily="34" charset="0"/>
                        <a:cs typeface="Arial" pitchFamily="34" charset="0"/>
                      </a:endParaRP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0"/>
                  </a:ext>
                </a:extLst>
              </a:tr>
              <a:tr h="584974">
                <a:tc>
                  <a:txBody>
                    <a:bodyPr/>
                    <a:lstStyle/>
                    <a:p>
                      <a:pPr algn="l"/>
                      <a:r>
                        <a:rPr lang="en-US" sz="1600" b="0" dirty="0">
                          <a:solidFill>
                            <a:schemeClr val="tx1"/>
                          </a:solidFill>
                          <a:latin typeface="Arial" pitchFamily="34" charset="0"/>
                          <a:cs typeface="Arial" pitchFamily="34" charset="0"/>
                        </a:rPr>
                        <a:t>ITU</a:t>
                      </a: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sz="1600" b="0" dirty="0">
                          <a:solidFill>
                            <a:schemeClr val="tx1"/>
                          </a:solidFill>
                          <a:latin typeface="Arial" pitchFamily="34" charset="0"/>
                          <a:cs typeface="Arial" pitchFamily="34" charset="0"/>
                        </a:rPr>
                        <a:t>Telecommunications</a:t>
                      </a: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sz="1600" b="0" dirty="0">
                          <a:solidFill>
                            <a:schemeClr val="tx1"/>
                          </a:solidFill>
                          <a:latin typeface="Arial" pitchFamily="34" charset="0"/>
                          <a:cs typeface="Arial" pitchFamily="34" charset="0"/>
                        </a:rPr>
                        <a:t>G.992, ADSL</a:t>
                      </a:r>
                    </a:p>
                    <a:p>
                      <a:r>
                        <a:rPr lang="en-US" sz="1600" b="0" dirty="0">
                          <a:solidFill>
                            <a:schemeClr val="tx1"/>
                          </a:solidFill>
                          <a:latin typeface="Arial" pitchFamily="34" charset="0"/>
                          <a:cs typeface="Arial" pitchFamily="34" charset="0"/>
                        </a:rPr>
                        <a:t>H.264,</a:t>
                      </a:r>
                      <a:r>
                        <a:rPr lang="en-US" sz="1600" b="0" baseline="0" dirty="0">
                          <a:solidFill>
                            <a:schemeClr val="tx1"/>
                          </a:solidFill>
                          <a:latin typeface="Arial" pitchFamily="34" charset="0"/>
                          <a:cs typeface="Arial" pitchFamily="34" charset="0"/>
                        </a:rPr>
                        <a:t> MPEG4</a:t>
                      </a:r>
                      <a:endParaRPr lang="en-US" sz="1600" b="0" dirty="0">
                        <a:solidFill>
                          <a:schemeClr val="tx1"/>
                        </a:solidFill>
                        <a:latin typeface="Arial" pitchFamily="34" charset="0"/>
                        <a:cs typeface="Arial" pitchFamily="34" charset="0"/>
                      </a:endParaRP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400" b="0" i="0" kern="1200" dirty="0">
                          <a:solidFill>
                            <a:schemeClr val="dk1"/>
                          </a:solidFill>
                          <a:effectLst/>
                          <a:latin typeface="微软雅黑" panose="020B0503020204020204" pitchFamily="34" charset="-122"/>
                          <a:ea typeface="微软雅黑" panose="020B0503020204020204" pitchFamily="34" charset="-122"/>
                          <a:cs typeface="+mn-cs"/>
                        </a:rPr>
                        <a:t>国际电信联盟，是联合国的一个重要专门机构，也是联合国机构中历史最长的一个国际组织</a:t>
                      </a:r>
                      <a:endParaRPr lang="en-US" sz="1400" b="0" dirty="0">
                        <a:solidFill>
                          <a:schemeClr val="tx1"/>
                        </a:solidFill>
                        <a:latin typeface="微软雅黑" panose="020B0503020204020204" pitchFamily="34" charset="-122"/>
                        <a:ea typeface="微软雅黑" panose="020B0503020204020204" pitchFamily="34" charset="-122"/>
                        <a:cs typeface="Arial" pitchFamily="34" charset="0"/>
                      </a:endParaRP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926221">
                <a:tc>
                  <a:txBody>
                    <a:bodyPr/>
                    <a:lstStyle/>
                    <a:p>
                      <a:pPr algn="l"/>
                      <a:r>
                        <a:rPr lang="en-US" sz="1600" b="0" dirty="0">
                          <a:solidFill>
                            <a:schemeClr val="tx1"/>
                          </a:solidFill>
                          <a:latin typeface="Arial" pitchFamily="34" charset="0"/>
                          <a:cs typeface="Arial" pitchFamily="34" charset="0"/>
                        </a:rPr>
                        <a:t>IEEE</a:t>
                      </a: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sz="1600" b="0" dirty="0">
                          <a:solidFill>
                            <a:schemeClr val="tx1"/>
                          </a:solidFill>
                          <a:latin typeface="Arial" pitchFamily="34" charset="0"/>
                          <a:cs typeface="Arial" pitchFamily="34" charset="0"/>
                        </a:rPr>
                        <a:t>Communications</a:t>
                      </a: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sz="1600" b="0" dirty="0">
                          <a:solidFill>
                            <a:schemeClr val="tx1"/>
                          </a:solidFill>
                          <a:latin typeface="Arial" pitchFamily="34" charset="0"/>
                          <a:cs typeface="Arial" pitchFamily="34" charset="0"/>
                        </a:rPr>
                        <a:t>802.3,</a:t>
                      </a:r>
                      <a:r>
                        <a:rPr lang="en-US" sz="1600" b="0" baseline="0" dirty="0">
                          <a:solidFill>
                            <a:schemeClr val="tx1"/>
                          </a:solidFill>
                          <a:latin typeface="Arial" pitchFamily="34" charset="0"/>
                          <a:cs typeface="Arial" pitchFamily="34" charset="0"/>
                        </a:rPr>
                        <a:t> Ethernet</a:t>
                      </a:r>
                    </a:p>
                    <a:p>
                      <a:r>
                        <a:rPr lang="en-US" sz="1600" b="0" baseline="0" dirty="0">
                          <a:solidFill>
                            <a:schemeClr val="tx1"/>
                          </a:solidFill>
                          <a:latin typeface="Arial" pitchFamily="34" charset="0"/>
                          <a:cs typeface="Arial" pitchFamily="34" charset="0"/>
                        </a:rPr>
                        <a:t>802.11, </a:t>
                      </a:r>
                      <a:r>
                        <a:rPr lang="en-US" sz="1600" b="0" baseline="0" dirty="0" err="1">
                          <a:solidFill>
                            <a:schemeClr val="tx1"/>
                          </a:solidFill>
                          <a:latin typeface="Arial" pitchFamily="34" charset="0"/>
                          <a:cs typeface="Arial" pitchFamily="34" charset="0"/>
                        </a:rPr>
                        <a:t>WiFi</a:t>
                      </a:r>
                      <a:endParaRPr lang="en-US" sz="1600" b="0" dirty="0">
                        <a:solidFill>
                          <a:schemeClr val="tx1"/>
                        </a:solidFill>
                        <a:latin typeface="Arial" pitchFamily="34" charset="0"/>
                        <a:cs typeface="Arial" pitchFamily="34" charset="0"/>
                      </a:endParaRP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400" b="0" i="0" kern="1200" dirty="0">
                          <a:solidFill>
                            <a:schemeClr val="dk1"/>
                          </a:solidFill>
                          <a:effectLst/>
                          <a:latin typeface="微软雅黑" panose="020B0503020204020204" pitchFamily="34" charset="-122"/>
                          <a:ea typeface="微软雅黑" panose="020B0503020204020204" pitchFamily="34" charset="-122"/>
                          <a:cs typeface="+mn-cs"/>
                        </a:rPr>
                        <a:t>电气和电子工程师协会，是一个美国的电子技术与信息科学工程师的协会，是世界上最大的非营利性专业技术学会，其会员人数超过</a:t>
                      </a:r>
                      <a:r>
                        <a:rPr lang="en-US" altLang="zh-CN" sz="1400" b="0" i="0" kern="1200" dirty="0">
                          <a:solidFill>
                            <a:schemeClr val="dk1"/>
                          </a:solidFill>
                          <a:effectLst/>
                          <a:latin typeface="微软雅黑" panose="020B0503020204020204" pitchFamily="34" charset="-122"/>
                          <a:ea typeface="微软雅黑" panose="020B0503020204020204" pitchFamily="34" charset="-122"/>
                          <a:cs typeface="+mn-cs"/>
                        </a:rPr>
                        <a:t>40</a:t>
                      </a:r>
                      <a:r>
                        <a:rPr lang="zh-CN" altLang="en-US" sz="1400" b="0" i="0" kern="1200" dirty="0">
                          <a:solidFill>
                            <a:schemeClr val="dk1"/>
                          </a:solidFill>
                          <a:effectLst/>
                          <a:latin typeface="微软雅黑" panose="020B0503020204020204" pitchFamily="34" charset="-122"/>
                          <a:ea typeface="微软雅黑" panose="020B0503020204020204" pitchFamily="34" charset="-122"/>
                          <a:cs typeface="+mn-cs"/>
                        </a:rPr>
                        <a:t>万人，遍布</a:t>
                      </a:r>
                      <a:r>
                        <a:rPr lang="en-US" altLang="zh-CN" sz="1400" b="0" i="0" kern="1200" dirty="0">
                          <a:solidFill>
                            <a:schemeClr val="dk1"/>
                          </a:solidFill>
                          <a:effectLst/>
                          <a:latin typeface="微软雅黑" panose="020B0503020204020204" pitchFamily="34" charset="-122"/>
                          <a:ea typeface="微软雅黑" panose="020B0503020204020204" pitchFamily="34" charset="-122"/>
                          <a:cs typeface="+mn-cs"/>
                        </a:rPr>
                        <a:t>160</a:t>
                      </a:r>
                      <a:r>
                        <a:rPr lang="zh-CN" altLang="en-US" sz="1400" b="0" i="0" kern="1200" dirty="0">
                          <a:solidFill>
                            <a:schemeClr val="dk1"/>
                          </a:solidFill>
                          <a:effectLst/>
                          <a:latin typeface="微软雅黑" panose="020B0503020204020204" pitchFamily="34" charset="-122"/>
                          <a:ea typeface="微软雅黑" panose="020B0503020204020204" pitchFamily="34" charset="-122"/>
                          <a:cs typeface="+mn-cs"/>
                        </a:rPr>
                        <a:t>多个国家</a:t>
                      </a:r>
                      <a:endParaRPr lang="en-US" sz="1400" b="0" i="0" kern="1200" dirty="0">
                        <a:solidFill>
                          <a:schemeClr val="dk1"/>
                        </a:solidFill>
                        <a:effectLst/>
                        <a:latin typeface="微软雅黑" panose="020B0503020204020204" pitchFamily="34" charset="-122"/>
                        <a:ea typeface="微软雅黑" panose="020B0503020204020204" pitchFamily="34" charset="-122"/>
                        <a:cs typeface="+mn-cs"/>
                      </a:endParaRP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511849">
                <a:tc>
                  <a:txBody>
                    <a:bodyPr/>
                    <a:lstStyle/>
                    <a:p>
                      <a:pPr algn="l"/>
                      <a:r>
                        <a:rPr lang="en-US" sz="1600" b="0" dirty="0">
                          <a:solidFill>
                            <a:schemeClr val="tx1"/>
                          </a:solidFill>
                          <a:latin typeface="Arial" pitchFamily="34" charset="0"/>
                          <a:cs typeface="Arial" pitchFamily="34" charset="0"/>
                        </a:rPr>
                        <a:t>IETF</a:t>
                      </a: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sz="1600" b="0" dirty="0">
                          <a:solidFill>
                            <a:schemeClr val="tx1"/>
                          </a:solidFill>
                          <a:latin typeface="Arial" pitchFamily="34" charset="0"/>
                          <a:cs typeface="Arial" pitchFamily="34" charset="0"/>
                        </a:rPr>
                        <a:t>Internet</a:t>
                      </a: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sz="1600" b="0" dirty="0">
                          <a:solidFill>
                            <a:schemeClr val="tx1"/>
                          </a:solidFill>
                          <a:latin typeface="Arial" pitchFamily="34" charset="0"/>
                          <a:cs typeface="Arial" pitchFamily="34" charset="0"/>
                        </a:rPr>
                        <a:t>RFC 2616, HTTP/1.1</a:t>
                      </a:r>
                    </a:p>
                    <a:p>
                      <a:r>
                        <a:rPr lang="en-US" sz="1600" b="0" dirty="0">
                          <a:solidFill>
                            <a:schemeClr val="tx1"/>
                          </a:solidFill>
                          <a:latin typeface="Arial" pitchFamily="34" charset="0"/>
                          <a:cs typeface="Arial" pitchFamily="34" charset="0"/>
                        </a:rPr>
                        <a:t>RFC</a:t>
                      </a:r>
                      <a:r>
                        <a:rPr lang="en-US" sz="1600" b="0" baseline="0" dirty="0">
                          <a:solidFill>
                            <a:schemeClr val="tx1"/>
                          </a:solidFill>
                          <a:latin typeface="Arial" pitchFamily="34" charset="0"/>
                          <a:cs typeface="Arial" pitchFamily="34" charset="0"/>
                        </a:rPr>
                        <a:t> 1034/1035, DNS</a:t>
                      </a:r>
                      <a:endParaRPr lang="en-US" sz="1600" b="0" dirty="0">
                        <a:solidFill>
                          <a:schemeClr val="tx1"/>
                        </a:solidFill>
                        <a:latin typeface="Arial" pitchFamily="34" charset="0"/>
                        <a:cs typeface="Arial" pitchFamily="34" charset="0"/>
                      </a:endParaRP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400" b="0" i="0" kern="1200" dirty="0">
                          <a:solidFill>
                            <a:schemeClr val="dk1"/>
                          </a:solidFill>
                          <a:effectLst/>
                          <a:latin typeface="微软雅黑" panose="020B0503020204020204" pitchFamily="34" charset="-122"/>
                          <a:ea typeface="微软雅黑" panose="020B0503020204020204" pitchFamily="34" charset="-122"/>
                          <a:cs typeface="+mn-cs"/>
                        </a:rPr>
                        <a:t>互联网工程任务组，成立于</a:t>
                      </a:r>
                      <a:r>
                        <a:rPr lang="en-US" altLang="zh-CN" sz="1400" b="0" i="0" kern="1200" dirty="0">
                          <a:solidFill>
                            <a:schemeClr val="dk1"/>
                          </a:solidFill>
                          <a:effectLst/>
                          <a:latin typeface="微软雅黑" panose="020B0503020204020204" pitchFamily="34" charset="-122"/>
                          <a:ea typeface="微软雅黑" panose="020B0503020204020204" pitchFamily="34" charset="-122"/>
                          <a:cs typeface="+mn-cs"/>
                        </a:rPr>
                        <a:t>1985</a:t>
                      </a:r>
                      <a:r>
                        <a:rPr lang="zh-CN" altLang="en-US" sz="1400" b="0" i="0" kern="1200" dirty="0">
                          <a:solidFill>
                            <a:schemeClr val="dk1"/>
                          </a:solidFill>
                          <a:effectLst/>
                          <a:latin typeface="微软雅黑" panose="020B0503020204020204" pitchFamily="34" charset="-122"/>
                          <a:ea typeface="微软雅黑" panose="020B0503020204020204" pitchFamily="34" charset="-122"/>
                          <a:cs typeface="+mn-cs"/>
                        </a:rPr>
                        <a:t>年底，是全球互联网最具权威的技术标准化组织，主要任务是负责互联网相关技术规范的研发和制定，当前绝大多数国际互联网技术标准出自</a:t>
                      </a:r>
                      <a:r>
                        <a:rPr lang="en-US" altLang="zh-CN" sz="1400" b="0" i="0" kern="1200" dirty="0">
                          <a:solidFill>
                            <a:schemeClr val="dk1"/>
                          </a:solidFill>
                          <a:effectLst/>
                          <a:latin typeface="微软雅黑" panose="020B0503020204020204" pitchFamily="34" charset="-122"/>
                          <a:ea typeface="微软雅黑" panose="020B0503020204020204" pitchFamily="34" charset="-122"/>
                          <a:cs typeface="+mn-cs"/>
                        </a:rPr>
                        <a:t>IETF</a:t>
                      </a:r>
                      <a:endParaRPr lang="en-US" sz="1400" b="0" i="0" kern="1200" dirty="0">
                        <a:solidFill>
                          <a:schemeClr val="dk1"/>
                        </a:solidFill>
                        <a:effectLst/>
                        <a:latin typeface="微软雅黑" panose="020B0503020204020204" pitchFamily="34" charset="-122"/>
                        <a:ea typeface="微软雅黑" panose="020B0503020204020204" pitchFamily="34" charset="-122"/>
                        <a:cs typeface="+mn-cs"/>
                      </a:endParaRP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511849">
                <a:tc>
                  <a:txBody>
                    <a:bodyPr/>
                    <a:lstStyle/>
                    <a:p>
                      <a:pPr algn="l"/>
                      <a:r>
                        <a:rPr lang="en-US" sz="1600" b="0" dirty="0">
                          <a:solidFill>
                            <a:schemeClr val="tx1"/>
                          </a:solidFill>
                          <a:latin typeface="Arial" pitchFamily="34" charset="0"/>
                          <a:cs typeface="Arial" pitchFamily="34" charset="0"/>
                        </a:rPr>
                        <a:t>W3C</a:t>
                      </a: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sz="1600" b="0" dirty="0">
                          <a:solidFill>
                            <a:schemeClr val="tx1"/>
                          </a:solidFill>
                          <a:latin typeface="Arial" pitchFamily="34" charset="0"/>
                          <a:cs typeface="Arial" pitchFamily="34" charset="0"/>
                        </a:rPr>
                        <a:t>Web</a:t>
                      </a: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sz="1600" b="0" dirty="0">
                          <a:solidFill>
                            <a:schemeClr val="tx1"/>
                          </a:solidFill>
                          <a:latin typeface="Arial" pitchFamily="34" charset="0"/>
                          <a:cs typeface="Arial" pitchFamily="34" charset="0"/>
                        </a:rPr>
                        <a:t>HTML5 standard</a:t>
                      </a:r>
                    </a:p>
                    <a:p>
                      <a:r>
                        <a:rPr lang="en-US" sz="1600" b="0" dirty="0">
                          <a:solidFill>
                            <a:schemeClr val="tx1"/>
                          </a:solidFill>
                          <a:latin typeface="Arial" pitchFamily="34" charset="0"/>
                          <a:cs typeface="Arial" pitchFamily="34" charset="0"/>
                        </a:rPr>
                        <a:t>CSS standard</a:t>
                      </a: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altLang="zh-CN" sz="1400" b="0" i="0" kern="1200" dirty="0">
                          <a:solidFill>
                            <a:schemeClr val="dk1"/>
                          </a:solidFill>
                          <a:effectLst/>
                          <a:latin typeface="微软雅黑" panose="020B0503020204020204" pitchFamily="34" charset="-122"/>
                          <a:ea typeface="微软雅黑" panose="020B0503020204020204" pitchFamily="34" charset="-122"/>
                          <a:cs typeface="+mn-cs"/>
                        </a:rPr>
                        <a:t>World Wide Web Consortium</a:t>
                      </a:r>
                      <a:r>
                        <a:rPr lang="zh-CN" altLang="en-US" sz="1400" b="0" i="0" kern="1200" dirty="0">
                          <a:solidFill>
                            <a:schemeClr val="dk1"/>
                          </a:solidFill>
                          <a:effectLst/>
                          <a:latin typeface="微软雅黑" panose="020B0503020204020204" pitchFamily="34" charset="-122"/>
                          <a:ea typeface="微软雅黑" panose="020B0503020204020204" pitchFamily="34" charset="-122"/>
                          <a:cs typeface="+mn-cs"/>
                        </a:rPr>
                        <a:t>，万维网联盟，创建于</a:t>
                      </a:r>
                      <a:r>
                        <a:rPr lang="en-US" altLang="zh-CN" sz="1400" b="0" i="0" kern="1200" dirty="0">
                          <a:solidFill>
                            <a:schemeClr val="dk1"/>
                          </a:solidFill>
                          <a:effectLst/>
                          <a:latin typeface="微软雅黑" panose="020B0503020204020204" pitchFamily="34" charset="-122"/>
                          <a:ea typeface="微软雅黑" panose="020B0503020204020204" pitchFamily="34" charset="-122"/>
                          <a:cs typeface="+mn-cs"/>
                        </a:rPr>
                        <a:t>1994</a:t>
                      </a:r>
                      <a:r>
                        <a:rPr lang="zh-CN" altLang="en-US" sz="1400" b="0" i="0" kern="1200" dirty="0">
                          <a:solidFill>
                            <a:schemeClr val="dk1"/>
                          </a:solidFill>
                          <a:effectLst/>
                          <a:latin typeface="微软雅黑" panose="020B0503020204020204" pitchFamily="34" charset="-122"/>
                          <a:ea typeface="微软雅黑" panose="020B0503020204020204" pitchFamily="34" charset="-122"/>
                          <a:cs typeface="+mn-cs"/>
                        </a:rPr>
                        <a:t>年，是</a:t>
                      </a:r>
                      <a:r>
                        <a:rPr lang="en-US" altLang="zh-CN" sz="1400" b="0" i="0" kern="1200" dirty="0">
                          <a:solidFill>
                            <a:schemeClr val="dk1"/>
                          </a:solidFill>
                          <a:effectLst/>
                          <a:latin typeface="微软雅黑" panose="020B0503020204020204" pitchFamily="34" charset="-122"/>
                          <a:ea typeface="微软雅黑" panose="020B0503020204020204" pitchFamily="34" charset="-122"/>
                          <a:cs typeface="+mn-cs"/>
                        </a:rPr>
                        <a:t>Web</a:t>
                      </a:r>
                      <a:r>
                        <a:rPr lang="zh-CN" altLang="en-US" sz="1400" b="0" i="0" kern="1200" dirty="0">
                          <a:solidFill>
                            <a:schemeClr val="dk1"/>
                          </a:solidFill>
                          <a:effectLst/>
                          <a:latin typeface="微软雅黑" panose="020B0503020204020204" pitchFamily="34" charset="-122"/>
                          <a:ea typeface="微软雅黑" panose="020B0503020204020204" pitchFamily="34" charset="-122"/>
                          <a:cs typeface="+mn-cs"/>
                        </a:rPr>
                        <a:t>技术领域最具权威和影响力的国际中立性技术标准机构</a:t>
                      </a:r>
                      <a:endParaRPr lang="en-US" sz="1400" b="0" i="0" kern="1200" dirty="0">
                        <a:solidFill>
                          <a:schemeClr val="dk1"/>
                        </a:solidFill>
                        <a:effectLst/>
                        <a:latin typeface="微软雅黑" panose="020B0503020204020204" pitchFamily="34" charset="-122"/>
                        <a:ea typeface="微软雅黑" panose="020B0503020204020204" pitchFamily="34" charset="-122"/>
                        <a:cs typeface="+mn-cs"/>
                      </a:endParaRPr>
                    </a:p>
                  </a:txBody>
                  <a:tcPr marT="45707" marB="45707">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矩形 1">
            <a:extLst>
              <a:ext uri="{FF2B5EF4-FFF2-40B4-BE49-F238E27FC236}">
                <a16:creationId xmlns:a16="http://schemas.microsoft.com/office/drawing/2014/main" id="{C80E43EF-5D82-4688-84E8-B1450010679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Network Standardization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7624892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2" name="矩形 1">
            <a:extLst>
              <a:ext uri="{FF2B5EF4-FFF2-40B4-BE49-F238E27FC236}">
                <a16:creationId xmlns:a16="http://schemas.microsoft.com/office/drawing/2014/main" id="{C80E43EF-5D82-4688-84E8-B1450010679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IEEE 802 Standards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5" name="Picture 4" descr="1-38">
            <a:extLst>
              <a:ext uri="{FF2B5EF4-FFF2-40B4-BE49-F238E27FC236}">
                <a16:creationId xmlns:a16="http://schemas.microsoft.com/office/drawing/2014/main" id="{E1FEFEA1-95A7-414A-9A2B-542689BCF1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363" y="1048324"/>
            <a:ext cx="5864225" cy="448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
            <a:extLst>
              <a:ext uri="{FF2B5EF4-FFF2-40B4-BE49-F238E27FC236}">
                <a16:creationId xmlns:a16="http://schemas.microsoft.com/office/drawing/2014/main" id="{820DB811-FC34-49C5-B77A-A720F163A97E}"/>
              </a:ext>
            </a:extLst>
          </p:cNvPr>
          <p:cNvSpPr txBox="1">
            <a:spLocks noChangeArrowheads="1"/>
          </p:cNvSpPr>
          <p:nvPr/>
        </p:nvSpPr>
        <p:spPr bwMode="auto">
          <a:xfrm>
            <a:off x="2694129" y="5653087"/>
            <a:ext cx="662523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20000"/>
              </a:spcBef>
              <a:buClr>
                <a:schemeClr val="accent2"/>
              </a:buCl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eaLnBrk="1" hangingPunct="1">
              <a:spcBef>
                <a:spcPct val="50000"/>
              </a:spcBef>
              <a:buClrTx/>
            </a:pPr>
            <a:r>
              <a:rPr lang="en-US" altLang="zh-CN" sz="1600" dirty="0">
                <a:solidFill>
                  <a:srgbClr val="000000"/>
                </a:solidFill>
                <a:ea typeface="宋体" panose="02010600030101010101" pitchFamily="2" charset="-122"/>
              </a:rPr>
              <a:t>The 802 working groups.  The important ones are marked with *.  The ones marked with </a:t>
            </a:r>
            <a:r>
              <a:rPr lang="en-US" altLang="zh-CN" sz="1600" dirty="0">
                <a:solidFill>
                  <a:srgbClr val="000000"/>
                </a:solidFill>
                <a:ea typeface="宋体" panose="02010600030101010101" pitchFamily="2" charset="-122"/>
                <a:sym typeface="Wingdings" panose="05000000000000000000" pitchFamily="2" charset="2"/>
              </a:rPr>
              <a:t> are hibernating(</a:t>
            </a:r>
            <a:r>
              <a:rPr lang="zh-CN" altLang="en-US" sz="140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休眠</a:t>
            </a:r>
            <a:r>
              <a:rPr lang="en-US" altLang="zh-CN" sz="1600" dirty="0">
                <a:solidFill>
                  <a:srgbClr val="000000"/>
                </a:solidFill>
                <a:ea typeface="宋体" panose="02010600030101010101" pitchFamily="2" charset="-122"/>
                <a:sym typeface="Wingdings" panose="05000000000000000000" pitchFamily="2" charset="2"/>
              </a:rPr>
              <a:t>).  The one marked with  † gave up.</a:t>
            </a:r>
          </a:p>
        </p:txBody>
      </p:sp>
    </p:spTree>
    <p:extLst>
      <p:ext uri="{BB962C8B-B14F-4D97-AF65-F5344CB8AC3E}">
        <p14:creationId xmlns:p14="http://schemas.microsoft.com/office/powerpoint/2010/main" val="166010156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58371" name="Rectangle 3"/>
          <p:cNvSpPr>
            <a:spLocks noGrp="1" noChangeArrowheads="1"/>
          </p:cNvSpPr>
          <p:nvPr>
            <p:ph idx="1"/>
          </p:nvPr>
        </p:nvSpPr>
        <p:spPr>
          <a:xfrm>
            <a:off x="966509" y="1065547"/>
            <a:ext cx="10386952" cy="5012910"/>
          </a:xfrm>
          <a:ln>
            <a:miter lim="800000"/>
            <a:headEnd/>
            <a:tailEnd/>
          </a:ln>
        </p:spPr>
        <p:txBody>
          <a:bodyPr>
            <a:normAutofit/>
          </a:bodyPr>
          <a:lstStyle/>
          <a:p>
            <a:pPr>
              <a:defRPr/>
            </a:pPr>
            <a:r>
              <a:rPr lang="en-US" dirty="0"/>
              <a:t>The main prefixes we use:</a:t>
            </a:r>
          </a:p>
          <a:p>
            <a:pPr lvl="1">
              <a:defRPr/>
            </a:pPr>
            <a:endParaRPr lang="en-US" dirty="0"/>
          </a:p>
          <a:p>
            <a:pPr lvl="1">
              <a:defRPr/>
            </a:pPr>
            <a:endParaRPr lang="en-US" dirty="0"/>
          </a:p>
          <a:p>
            <a:pPr lvl="5">
              <a:buFontTx/>
              <a:buNone/>
              <a:defRPr/>
            </a:pPr>
            <a:endParaRPr lang="en-US" dirty="0"/>
          </a:p>
          <a:p>
            <a:pPr lvl="5">
              <a:buFontTx/>
              <a:buNone/>
              <a:defRPr/>
            </a:pPr>
            <a:endParaRPr lang="en-US" dirty="0"/>
          </a:p>
          <a:p>
            <a:pPr lvl="5">
              <a:buFontTx/>
              <a:buNone/>
              <a:defRPr/>
            </a:pPr>
            <a:endParaRPr lang="en-US" dirty="0"/>
          </a:p>
          <a:p>
            <a:pPr lvl="5">
              <a:buFontTx/>
              <a:buNone/>
              <a:defRPr/>
            </a:pPr>
            <a:endParaRPr lang="en-US" dirty="0"/>
          </a:p>
          <a:p>
            <a:pPr lvl="1">
              <a:defRPr/>
            </a:pPr>
            <a:endParaRPr lang="en-US" dirty="0"/>
          </a:p>
          <a:p>
            <a:pPr lvl="1">
              <a:defRPr/>
            </a:pPr>
            <a:endParaRPr lang="en-US" dirty="0"/>
          </a:p>
          <a:p>
            <a:pPr marL="457200" lvl="1" indent="0">
              <a:buNone/>
              <a:defRPr/>
            </a:pPr>
            <a:endParaRPr lang="en-US" dirty="0"/>
          </a:p>
          <a:p>
            <a:pPr lvl="1">
              <a:defRPr/>
            </a:pPr>
            <a:r>
              <a:rPr lang="en-US" dirty="0"/>
              <a:t>Use powers of 10 for rates, powers of 2 for storage</a:t>
            </a:r>
          </a:p>
          <a:p>
            <a:pPr lvl="2">
              <a:defRPr/>
            </a:pPr>
            <a:r>
              <a:rPr lang="en-US" dirty="0"/>
              <a:t>E.g., 1 Mbps = 1,000,000 bps, 1 KB = 1024 bytes</a:t>
            </a:r>
          </a:p>
          <a:p>
            <a:pPr lvl="1">
              <a:defRPr/>
            </a:pPr>
            <a:r>
              <a:rPr lang="en-US" dirty="0"/>
              <a:t>“B” is for bytes, “b” is for bits</a:t>
            </a:r>
          </a:p>
        </p:txBody>
      </p:sp>
      <p:sp>
        <p:nvSpPr>
          <p:cNvPr id="2" name="矩形 1">
            <a:extLst>
              <a:ext uri="{FF2B5EF4-FFF2-40B4-BE49-F238E27FC236}">
                <a16:creationId xmlns:a16="http://schemas.microsoft.com/office/drawing/2014/main" id="{AF964C3E-55B5-4628-8246-9AF75336D47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Metric Units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1025" name="Picture 1">
            <a:extLst>
              <a:ext uri="{FF2B5EF4-FFF2-40B4-BE49-F238E27FC236}">
                <a16:creationId xmlns:a16="http://schemas.microsoft.com/office/drawing/2014/main" id="{F831838F-880D-4AC6-93F2-DC502F5109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6193" y="1596168"/>
            <a:ext cx="8410575" cy="3019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52212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58371" name="Rectangle 3"/>
          <p:cNvSpPr>
            <a:spLocks noGrp="1" noChangeArrowheads="1"/>
          </p:cNvSpPr>
          <p:nvPr>
            <p:ph idx="1"/>
          </p:nvPr>
        </p:nvSpPr>
        <p:spPr>
          <a:xfrm>
            <a:off x="377365" y="1209103"/>
            <a:ext cx="10906652" cy="1162628"/>
          </a:xfrm>
          <a:solidFill>
            <a:schemeClr val="accent2">
              <a:lumMod val="40000"/>
              <a:lumOff val="60000"/>
            </a:schemeClr>
          </a:solidFill>
          <a:ln>
            <a:miter lim="800000"/>
            <a:headEnd/>
            <a:tailEnd/>
          </a:ln>
        </p:spPr>
        <p:txBody>
          <a:bodyPr>
            <a:noAutofit/>
          </a:bodyPr>
          <a:lstStyle/>
          <a:p>
            <a:pPr marL="0" lvl="2" indent="0">
              <a:lnSpc>
                <a:spcPct val="120000"/>
              </a:lnSpc>
              <a:buNone/>
              <a:defRPr/>
            </a:pPr>
            <a:r>
              <a:rPr lang="en-US" altLang="zh-CN" sz="1400" b="1" dirty="0">
                <a:latin typeface="微软雅黑" panose="020B0503020204020204" pitchFamily="34" charset="-122"/>
                <a:ea typeface="微软雅黑" panose="020B0503020204020204" pitchFamily="34" charset="-122"/>
              </a:rPr>
              <a:t>P</a:t>
            </a:r>
            <a:r>
              <a:rPr lang="en-US" sz="1400" b="1" dirty="0">
                <a:latin typeface="微软雅黑" panose="020B0503020204020204" pitchFamily="34" charset="-122"/>
                <a:ea typeface="微软雅黑" panose="020B0503020204020204" pitchFamily="34" charset="-122"/>
              </a:rPr>
              <a:t>1. </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Imagine that you have trained your St. Bernard, Bernie, to carry a box of three 8-mm tapes instead of a flask of brandy. (When your disk fills up, you consider that an emergency.) These tapes each contain 7 gigabytes. The dog can travel to your side, wherever you may be, at 18 km/hour. For what range of distances does Bernie have a higher data rate than a transmission line whose data rate (excluding overhead) is 150 Mbps? </a:t>
            </a:r>
            <a:endParaRPr lang="en-US" sz="14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AF964C3E-55B5-4628-8246-9AF75336D47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Selected Problems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0DEA52E2-E4F2-428D-B774-A6C8E24B8A18}"/>
              </a:ext>
            </a:extLst>
          </p:cNvPr>
          <p:cNvSpPr txBox="1"/>
          <p:nvPr/>
        </p:nvSpPr>
        <p:spPr>
          <a:xfrm>
            <a:off x="377365" y="2424433"/>
            <a:ext cx="10948216" cy="307777"/>
          </a:xfrm>
          <a:prstGeom prst="rect">
            <a:avLst/>
          </a:prstGeom>
          <a:noFill/>
        </p:spPr>
        <p:txBody>
          <a:bodyPr wrap="square">
            <a:spAutoFit/>
          </a:bodyPr>
          <a:lstStyle/>
          <a:p>
            <a:r>
              <a:rPr lang="en-US" altLang="zh-CN" sz="1400" b="1" kern="100" dirty="0">
                <a:latin typeface="微软雅黑" panose="020B0503020204020204" pitchFamily="34" charset="-122"/>
                <a:ea typeface="微软雅黑" panose="020B0503020204020204" pitchFamily="34" charset="-122"/>
                <a:cs typeface="Times New Roman" panose="02020603050405020304" pitchFamily="18" charset="0"/>
              </a:rPr>
              <a:t>Ans:</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11" name="Rectangle 3">
            <a:extLst>
              <a:ext uri="{FF2B5EF4-FFF2-40B4-BE49-F238E27FC236}">
                <a16:creationId xmlns:a16="http://schemas.microsoft.com/office/drawing/2014/main" id="{208BF929-83AC-4E86-A631-E27A465823C4}"/>
              </a:ext>
            </a:extLst>
          </p:cNvPr>
          <p:cNvSpPr txBox="1">
            <a:spLocks noChangeArrowheads="1"/>
          </p:cNvSpPr>
          <p:nvPr/>
        </p:nvSpPr>
        <p:spPr>
          <a:xfrm>
            <a:off x="377365" y="3087925"/>
            <a:ext cx="10906652" cy="544163"/>
          </a:xfrm>
          <a:prstGeom prst="rect">
            <a:avLst/>
          </a:prstGeom>
          <a:solidFill>
            <a:schemeClr val="accent2">
              <a:lumMod val="40000"/>
              <a:lumOff val="60000"/>
            </a:schemeClr>
          </a:solidFill>
          <a:ln>
            <a:miter lim="800000"/>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buNone/>
              <a:defRPr/>
            </a:pPr>
            <a:r>
              <a:rPr lang="en-US" altLang="zh-CN" sz="1400" b="1" dirty="0">
                <a:latin typeface="微软雅黑" panose="020B0503020204020204" pitchFamily="34" charset="-122"/>
                <a:ea typeface="微软雅黑" panose="020B0503020204020204" pitchFamily="34" charset="-122"/>
              </a:rPr>
              <a:t>P2. </a:t>
            </a:r>
            <a:r>
              <a:rPr lang="en-US" altLang="zh-CN" sz="1400" dirty="0">
                <a:latin typeface="微软雅黑" panose="020B0503020204020204" pitchFamily="34" charset="-122"/>
                <a:ea typeface="微软雅黑" panose="020B0503020204020204" pitchFamily="34" charset="-122"/>
              </a:rPr>
              <a:t>A client-server system uses a satellite network, with the satellite at a height of 40,000 km. What is the best-case delay in response to a request?</a:t>
            </a:r>
          </a:p>
        </p:txBody>
      </p:sp>
      <p:sp>
        <p:nvSpPr>
          <p:cNvPr id="12" name="文本框 11">
            <a:extLst>
              <a:ext uri="{FF2B5EF4-FFF2-40B4-BE49-F238E27FC236}">
                <a16:creationId xmlns:a16="http://schemas.microsoft.com/office/drawing/2014/main" id="{C7F3053B-3426-45EC-8792-607B1C02A7D3}"/>
              </a:ext>
            </a:extLst>
          </p:cNvPr>
          <p:cNvSpPr txBox="1"/>
          <p:nvPr/>
        </p:nvSpPr>
        <p:spPr>
          <a:xfrm>
            <a:off x="377365" y="3644150"/>
            <a:ext cx="10728614" cy="307777"/>
          </a:xfrm>
          <a:prstGeom prst="rect">
            <a:avLst/>
          </a:prstGeom>
          <a:noFill/>
        </p:spPr>
        <p:txBody>
          <a:bodyPr wrap="square">
            <a:spAutoFit/>
          </a:bodyPr>
          <a:lstStyle/>
          <a:p>
            <a:r>
              <a:rPr lang="en-US" altLang="zh-CN" sz="1400" b="1" dirty="0">
                <a:latin typeface="微软雅黑" panose="020B0503020204020204" pitchFamily="34" charset="-122"/>
                <a:ea typeface="微软雅黑" panose="020B0503020204020204" pitchFamily="34" charset="-122"/>
              </a:rPr>
              <a:t>Ans:</a:t>
            </a:r>
            <a:endParaRPr lang="en-US" altLang="zh-CN" sz="1400" dirty="0">
              <a:latin typeface="微软雅黑" panose="020B0503020204020204" pitchFamily="34" charset="-122"/>
              <a:ea typeface="微软雅黑" panose="020B0503020204020204" pitchFamily="34" charset="-122"/>
            </a:endParaRPr>
          </a:p>
        </p:txBody>
      </p:sp>
      <p:sp>
        <p:nvSpPr>
          <p:cNvPr id="13" name="Rectangle 3">
            <a:extLst>
              <a:ext uri="{FF2B5EF4-FFF2-40B4-BE49-F238E27FC236}">
                <a16:creationId xmlns:a16="http://schemas.microsoft.com/office/drawing/2014/main" id="{80195222-509A-4A26-AC5C-DFA8EA0350AA}"/>
              </a:ext>
            </a:extLst>
          </p:cNvPr>
          <p:cNvSpPr txBox="1">
            <a:spLocks noChangeArrowheads="1"/>
          </p:cNvSpPr>
          <p:nvPr/>
        </p:nvSpPr>
        <p:spPr>
          <a:xfrm>
            <a:off x="377365" y="4284917"/>
            <a:ext cx="10906652" cy="421986"/>
          </a:xfrm>
          <a:prstGeom prst="rect">
            <a:avLst/>
          </a:prstGeom>
          <a:solidFill>
            <a:schemeClr val="accent2">
              <a:lumMod val="40000"/>
              <a:lumOff val="60000"/>
            </a:schemeClr>
          </a:solidFill>
          <a:ln>
            <a:miter lim="800000"/>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buNone/>
              <a:defRPr/>
            </a:pPr>
            <a:r>
              <a:rPr lang="en-US" altLang="zh-CN" sz="1400" b="1" dirty="0">
                <a:latin typeface="微软雅黑" panose="020B0503020204020204" pitchFamily="34" charset="-122"/>
                <a:ea typeface="微软雅黑" panose="020B0503020204020204" pitchFamily="34" charset="-122"/>
              </a:rPr>
              <a:t>P3. </a:t>
            </a:r>
            <a:r>
              <a:rPr lang="en-US" altLang="zh-CN" sz="1400" dirty="0">
                <a:latin typeface="微软雅黑" panose="020B0503020204020204" pitchFamily="34" charset="-122"/>
                <a:ea typeface="微软雅黑" panose="020B0503020204020204" pitchFamily="34" charset="-122"/>
              </a:rPr>
              <a:t>What are two reasons for using layered protocols? What is one possible disadvantage of using layered protocols?</a:t>
            </a:r>
          </a:p>
        </p:txBody>
      </p:sp>
      <p:sp>
        <p:nvSpPr>
          <p:cNvPr id="14" name="文本框 13">
            <a:extLst>
              <a:ext uri="{FF2B5EF4-FFF2-40B4-BE49-F238E27FC236}">
                <a16:creationId xmlns:a16="http://schemas.microsoft.com/office/drawing/2014/main" id="{26E645EC-D582-404C-801D-FE9D54ACACE9}"/>
              </a:ext>
            </a:extLst>
          </p:cNvPr>
          <p:cNvSpPr txBox="1"/>
          <p:nvPr/>
        </p:nvSpPr>
        <p:spPr>
          <a:xfrm>
            <a:off x="377365" y="4727472"/>
            <a:ext cx="10728614" cy="307777"/>
          </a:xfrm>
          <a:prstGeom prst="rect">
            <a:avLst/>
          </a:prstGeom>
          <a:noFill/>
        </p:spPr>
        <p:txBody>
          <a:bodyPr wrap="square">
            <a:spAutoFit/>
          </a:bodyPr>
          <a:lstStyle/>
          <a:p>
            <a:r>
              <a:rPr lang="en-US" altLang="zh-CN" sz="1400" b="1" kern="100" dirty="0">
                <a:latin typeface="微软雅黑" panose="020B0503020204020204" pitchFamily="34" charset="-122"/>
                <a:ea typeface="微软雅黑" panose="020B0503020204020204" pitchFamily="34" charset="-122"/>
                <a:cs typeface="Times New Roman" panose="02020603050405020304" pitchFamily="18" charset="0"/>
              </a:rPr>
              <a:t>Ans:</a:t>
            </a:r>
            <a:endParaRPr lang="zh-CN" altLang="en-US" sz="1400" dirty="0">
              <a:latin typeface="微软雅黑" panose="020B0503020204020204" pitchFamily="34" charset="-122"/>
              <a:ea typeface="微软雅黑" panose="020B0503020204020204" pitchFamily="34" charset="-122"/>
            </a:endParaRPr>
          </a:p>
        </p:txBody>
      </p:sp>
      <p:sp>
        <p:nvSpPr>
          <p:cNvPr id="15" name="Rectangle 3">
            <a:extLst>
              <a:ext uri="{FF2B5EF4-FFF2-40B4-BE49-F238E27FC236}">
                <a16:creationId xmlns:a16="http://schemas.microsoft.com/office/drawing/2014/main" id="{D3E40A7C-F111-4681-8CD7-57ED0B9268ED}"/>
              </a:ext>
            </a:extLst>
          </p:cNvPr>
          <p:cNvSpPr txBox="1">
            <a:spLocks noChangeArrowheads="1"/>
          </p:cNvSpPr>
          <p:nvPr/>
        </p:nvSpPr>
        <p:spPr>
          <a:xfrm>
            <a:off x="377365" y="5427218"/>
            <a:ext cx="10906652" cy="421986"/>
          </a:xfrm>
          <a:prstGeom prst="rect">
            <a:avLst/>
          </a:prstGeom>
          <a:solidFill>
            <a:schemeClr val="accent2">
              <a:lumMod val="40000"/>
              <a:lumOff val="60000"/>
            </a:schemeClr>
          </a:solidFill>
          <a:ln>
            <a:miter lim="800000"/>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buNone/>
              <a:defRPr/>
            </a:pPr>
            <a:r>
              <a:rPr lang="en-US" altLang="zh-CN" sz="1400" b="1" dirty="0">
                <a:latin typeface="微软雅黑" panose="020B0503020204020204" pitchFamily="34" charset="-122"/>
                <a:ea typeface="微软雅黑" panose="020B0503020204020204" pitchFamily="34" charset="-122"/>
              </a:rPr>
              <a:t>P4. </a:t>
            </a:r>
            <a:r>
              <a:rPr lang="en-US" altLang="zh-CN" sz="1400" dirty="0">
                <a:latin typeface="微软雅黑" panose="020B0503020204020204" pitchFamily="34" charset="-122"/>
                <a:ea typeface="微软雅黑" panose="020B0503020204020204" pitchFamily="34" charset="-122"/>
              </a:rPr>
              <a:t>What is the main difference between TCP and UDP?</a:t>
            </a:r>
          </a:p>
        </p:txBody>
      </p:sp>
      <p:sp>
        <p:nvSpPr>
          <p:cNvPr id="16" name="文本框 15">
            <a:extLst>
              <a:ext uri="{FF2B5EF4-FFF2-40B4-BE49-F238E27FC236}">
                <a16:creationId xmlns:a16="http://schemas.microsoft.com/office/drawing/2014/main" id="{1F8413D3-D41A-4111-B868-CC941DA8E57A}"/>
              </a:ext>
            </a:extLst>
          </p:cNvPr>
          <p:cNvSpPr txBox="1"/>
          <p:nvPr/>
        </p:nvSpPr>
        <p:spPr>
          <a:xfrm>
            <a:off x="377365" y="5901405"/>
            <a:ext cx="10728614" cy="307777"/>
          </a:xfrm>
          <a:prstGeom prst="rect">
            <a:avLst/>
          </a:prstGeom>
          <a:noFill/>
        </p:spPr>
        <p:txBody>
          <a:bodyPr wrap="square">
            <a:spAutoFit/>
          </a:bodyPr>
          <a:lstStyle/>
          <a:p>
            <a:r>
              <a:rPr lang="en-US" altLang="zh-CN" sz="1400" b="1" dirty="0">
                <a:latin typeface="微软雅黑" panose="020B0503020204020204" pitchFamily="34" charset="-122"/>
                <a:ea typeface="微软雅黑" panose="020B0503020204020204" pitchFamily="34" charset="-122"/>
              </a:rPr>
              <a:t>Ans:</a:t>
            </a: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69284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Vertic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arn(inVertical)">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barn(inVertical)">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animBg="1"/>
      <p:bldP spid="8" grpId="0"/>
      <p:bldP spid="11" grpId="0" animBg="1"/>
      <p:bldP spid="12" grpId="0"/>
      <p:bldP spid="13" grpId="0" animBg="1"/>
      <p:bldP spid="14" grpId="0"/>
      <p:bldP spid="15" grpId="0" animBg="1"/>
      <p:bldP spid="16"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dirty="0"/>
              <a:t>Computer Networks, Chapter 1 Introduction</a:t>
            </a:r>
          </a:p>
        </p:txBody>
      </p:sp>
      <p:sp>
        <p:nvSpPr>
          <p:cNvPr id="2" name="矩形 1">
            <a:extLst>
              <a:ext uri="{FF2B5EF4-FFF2-40B4-BE49-F238E27FC236}">
                <a16:creationId xmlns:a16="http://schemas.microsoft.com/office/drawing/2014/main" id="{AF964C3E-55B5-4628-8246-9AF75336D47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Selected Problems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3" name="Rectangle 3">
            <a:extLst>
              <a:ext uri="{FF2B5EF4-FFF2-40B4-BE49-F238E27FC236}">
                <a16:creationId xmlns:a16="http://schemas.microsoft.com/office/drawing/2014/main" id="{9CD54D7F-23C2-41A1-A736-A80E6773F083}"/>
              </a:ext>
            </a:extLst>
          </p:cNvPr>
          <p:cNvSpPr>
            <a:spLocks noGrp="1" noChangeArrowheads="1"/>
          </p:cNvSpPr>
          <p:nvPr>
            <p:ph idx="1"/>
          </p:nvPr>
        </p:nvSpPr>
        <p:spPr>
          <a:xfrm>
            <a:off x="446809" y="1138671"/>
            <a:ext cx="10906652" cy="944706"/>
          </a:xfrm>
          <a:solidFill>
            <a:schemeClr val="accent2">
              <a:lumMod val="40000"/>
              <a:lumOff val="60000"/>
            </a:schemeClr>
          </a:solidFill>
          <a:ln>
            <a:miter lim="800000"/>
            <a:headEnd/>
            <a:tailEnd/>
          </a:ln>
        </p:spPr>
        <p:txBody>
          <a:bodyPr>
            <a:normAutofit fontScale="92500" lnSpcReduction="10000"/>
          </a:bodyPr>
          <a:lstStyle/>
          <a:p>
            <a:pPr marL="0" lvl="2" indent="0" algn="just">
              <a:lnSpc>
                <a:spcPct val="110000"/>
              </a:lnSpc>
              <a:buNone/>
              <a:defRPr/>
            </a:pPr>
            <a:r>
              <a:rPr lang="en-US" altLang="zh-CN" sz="1400" b="1" dirty="0">
                <a:latin typeface="微软雅黑" panose="020B0503020204020204" pitchFamily="34" charset="-122"/>
                <a:ea typeface="微软雅黑" panose="020B0503020204020204" pitchFamily="34" charset="-122"/>
              </a:rPr>
              <a:t>P</a:t>
            </a:r>
            <a:r>
              <a:rPr lang="en-US" sz="1400" b="1" dirty="0">
                <a:latin typeface="微软雅黑" panose="020B0503020204020204" pitchFamily="34" charset="-122"/>
                <a:ea typeface="微软雅黑" panose="020B0503020204020204" pitchFamily="34" charset="-122"/>
              </a:rPr>
              <a:t>5. </a:t>
            </a:r>
            <a:r>
              <a:rPr lang="en-US" sz="1400" dirty="0">
                <a:latin typeface="微软雅黑" panose="020B0503020204020204" pitchFamily="34" charset="-122"/>
                <a:ea typeface="微软雅黑" panose="020B0503020204020204" pitchFamily="34" charset="-122"/>
              </a:rPr>
              <a:t>When a file is transferred between two computers, two acknowledgement strategies are possible. In the first one, the file is chopped up into packets, which are individually acknowledged by the receiver, but the file transfer as a whole is not acknowledged. In the second one, the packets are not acknowledged individually, but the entire file is acknowledged when it arrives. Discuss these two approaches.</a:t>
            </a:r>
          </a:p>
        </p:txBody>
      </p:sp>
      <p:sp>
        <p:nvSpPr>
          <p:cNvPr id="14" name="文本框 13">
            <a:extLst>
              <a:ext uri="{FF2B5EF4-FFF2-40B4-BE49-F238E27FC236}">
                <a16:creationId xmlns:a16="http://schemas.microsoft.com/office/drawing/2014/main" id="{19DE1784-B819-4D14-995E-CEED73E86E6D}"/>
              </a:ext>
            </a:extLst>
          </p:cNvPr>
          <p:cNvSpPr txBox="1"/>
          <p:nvPr/>
        </p:nvSpPr>
        <p:spPr>
          <a:xfrm>
            <a:off x="446808" y="2159226"/>
            <a:ext cx="10906651" cy="307777"/>
          </a:xfrm>
          <a:prstGeom prst="rect">
            <a:avLst/>
          </a:prstGeom>
          <a:noFill/>
        </p:spPr>
        <p:txBody>
          <a:bodyPr wrap="square">
            <a:spAutoFit/>
          </a:bodyPr>
          <a:lstStyle/>
          <a:p>
            <a:pPr algn="just" hangingPunct="0"/>
            <a:r>
              <a:rPr lang="en-US" altLang="zh-CN" sz="1400" b="1" kern="100" dirty="0">
                <a:latin typeface="微软雅黑" panose="020B0503020204020204" pitchFamily="34" charset="-122"/>
                <a:ea typeface="微软雅黑" panose="020B0503020204020204" pitchFamily="34" charset="-122"/>
                <a:cs typeface="Times New Roman" panose="02020603050405020304" pitchFamily="18" charset="0"/>
              </a:rPr>
              <a:t>Ans:</a:t>
            </a:r>
            <a:endPar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Rectangle 3">
            <a:extLst>
              <a:ext uri="{FF2B5EF4-FFF2-40B4-BE49-F238E27FC236}">
                <a16:creationId xmlns:a16="http://schemas.microsoft.com/office/drawing/2014/main" id="{50A97F16-DE5B-4400-8980-54902D3113FE}"/>
              </a:ext>
            </a:extLst>
          </p:cNvPr>
          <p:cNvSpPr txBox="1">
            <a:spLocks noChangeArrowheads="1"/>
          </p:cNvSpPr>
          <p:nvPr/>
        </p:nvSpPr>
        <p:spPr>
          <a:xfrm>
            <a:off x="446808" y="2965733"/>
            <a:ext cx="10906652" cy="581024"/>
          </a:xfrm>
          <a:prstGeom prst="rect">
            <a:avLst/>
          </a:prstGeom>
          <a:solidFill>
            <a:schemeClr val="accent2">
              <a:lumMod val="40000"/>
              <a:lumOff val="60000"/>
            </a:schemeClr>
          </a:solidFill>
          <a:ln>
            <a:miter lim="800000"/>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lgn="just">
              <a:buFont typeface="Arial" panose="020B0604020202020204" pitchFamily="34" charset="0"/>
              <a:buNone/>
              <a:defRPr/>
            </a:pPr>
            <a:r>
              <a:rPr lang="en-US" altLang="zh-CN" sz="1400" b="1" dirty="0">
                <a:latin typeface="微软雅黑" panose="020B0503020204020204" pitchFamily="34" charset="-122"/>
                <a:ea typeface="微软雅黑" panose="020B0503020204020204" pitchFamily="34" charset="-122"/>
              </a:rPr>
              <a:t>P6</a:t>
            </a:r>
            <a:r>
              <a:rPr lang="en-US" sz="1400" b="1" dirty="0">
                <a:latin typeface="微软雅黑" panose="020B0503020204020204" pitchFamily="34" charset="-122"/>
                <a:ea typeface="微软雅黑" panose="020B0503020204020204" pitchFamily="34" charset="-122"/>
              </a:rPr>
              <a:t>. </a:t>
            </a:r>
            <a:r>
              <a:rPr lang="en-US" sz="1400" dirty="0">
                <a:latin typeface="微软雅黑" panose="020B0503020204020204" pitchFamily="34" charset="-122"/>
                <a:ea typeface="微软雅黑" panose="020B0503020204020204" pitchFamily="34" charset="-122"/>
              </a:rPr>
              <a:t>A system has an n-layer protocol hierarchy. Applications generate messages of length M bytes. At each of the layers, an h-byte header is added. What fraction of the network bandwidth is filled with headers?</a:t>
            </a:r>
          </a:p>
        </p:txBody>
      </p:sp>
      <p:sp>
        <p:nvSpPr>
          <p:cNvPr id="18" name="文本框 17">
            <a:extLst>
              <a:ext uri="{FF2B5EF4-FFF2-40B4-BE49-F238E27FC236}">
                <a16:creationId xmlns:a16="http://schemas.microsoft.com/office/drawing/2014/main" id="{BFC1C518-F699-4123-8894-94EFF0218096}"/>
              </a:ext>
            </a:extLst>
          </p:cNvPr>
          <p:cNvSpPr txBox="1"/>
          <p:nvPr/>
        </p:nvSpPr>
        <p:spPr>
          <a:xfrm>
            <a:off x="446808" y="3673026"/>
            <a:ext cx="10728614" cy="307777"/>
          </a:xfrm>
          <a:prstGeom prst="rect">
            <a:avLst/>
          </a:prstGeom>
          <a:noFill/>
        </p:spPr>
        <p:txBody>
          <a:bodyPr wrap="square">
            <a:spAutoFit/>
          </a:bodyPr>
          <a:lstStyle/>
          <a:p>
            <a:pPr algn="just" hangingPunct="0"/>
            <a:r>
              <a:rPr lang="en-US" altLang="zh-CN" sz="1400" b="1" kern="100" dirty="0">
                <a:latin typeface="微软雅黑" panose="020B0503020204020204" pitchFamily="34" charset="-122"/>
                <a:ea typeface="微软雅黑" panose="020B0503020204020204" pitchFamily="34" charset="-122"/>
                <a:cs typeface="Times New Roman" panose="02020603050405020304" pitchFamily="18" charset="0"/>
              </a:rPr>
              <a:t>Ans:</a:t>
            </a:r>
            <a:endPar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898981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arn(inVertical)">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7">
                                            <p:bg/>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barn(inVertical)">
                                      <p:cBhvr>
                                        <p:cTn id="2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nimBg="1"/>
      <p:bldP spid="14" grpId="0"/>
      <p:bldP spid="17" grpId="0" build="p" animBg="1"/>
      <p:bldP spid="18" grpId="0"/>
    </p:bldLst>
  </p:timing>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8FFDC80-2AC2-4EF1-920A-D0EA20D35232}"/>
              </a:ext>
            </a:extLst>
          </p:cNvPr>
          <p:cNvSpPr txBox="1"/>
          <p:nvPr/>
        </p:nvSpPr>
        <p:spPr>
          <a:xfrm>
            <a:off x="0" y="1491615"/>
            <a:ext cx="12192000" cy="3676186"/>
          </a:xfrm>
          <a:prstGeom prst="rect">
            <a:avLst/>
          </a:prstGeom>
          <a:solidFill>
            <a:schemeClr val="bg2">
              <a:lumMod val="20000"/>
              <a:lumOff val="80000"/>
            </a:schemeClr>
          </a:solidFill>
        </p:spPr>
        <p:txBody>
          <a:bodyPr wrap="square" rtlCol="0" anchor="ctr">
            <a:noAutofit/>
          </a:bodyPr>
          <a:lstStyle/>
          <a:p>
            <a:pPr algn="ctr" defTabSz="1097280" fontAlgn="base">
              <a:spcBef>
                <a:spcPts val="1440"/>
              </a:spcBef>
              <a:spcAft>
                <a:spcPts val="1440"/>
              </a:spcAft>
            </a:pPr>
            <a:r>
              <a:rPr lang="en-US" altLang="zh-CN" sz="4800" b="1" dirty="0">
                <a:solidFill>
                  <a:srgbClr val="C00000"/>
                </a:solidFill>
                <a:latin typeface="微软雅黑" panose="020B0503020204020204" pitchFamily="34" charset="-122"/>
                <a:ea typeface="微软雅黑" panose="020B0503020204020204" pitchFamily="34" charset="-122"/>
              </a:rPr>
              <a:t>End</a:t>
            </a:r>
          </a:p>
          <a:p>
            <a:pPr algn="ctr" fontAlgn="base">
              <a:lnSpc>
                <a:spcPct val="90000"/>
              </a:lnSpc>
              <a:spcBef>
                <a:spcPts val="1000"/>
              </a:spcBef>
              <a:spcAft>
                <a:spcPts val="1440"/>
              </a:spcAft>
              <a:defRPr/>
            </a:pPr>
            <a:r>
              <a:rPr lang="en-US" altLang="zh-CN" sz="2800" dirty="0">
                <a:solidFill>
                  <a:schemeClr val="bg1">
                    <a:lumMod val="50000"/>
                  </a:schemeClr>
                </a:solidFill>
                <a:latin typeface="Arial" charset="0"/>
                <a:cs typeface="Arial" charset="0"/>
              </a:rPr>
              <a:t>Chapter 1</a:t>
            </a:r>
          </a:p>
        </p:txBody>
      </p:sp>
      <p:pic>
        <p:nvPicPr>
          <p:cNvPr id="5" name="Picture 2">
            <a:extLst>
              <a:ext uri="{FF2B5EF4-FFF2-40B4-BE49-F238E27FC236}">
                <a16:creationId xmlns:a16="http://schemas.microsoft.com/office/drawing/2014/main" id="{C5359447-7FF0-47D1-A892-FF658CBED8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263843" y="1"/>
            <a:ext cx="2388870" cy="8111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31762</TotalTime>
  <Words>6762</Words>
  <Application>Microsoft Office PowerPoint</Application>
  <PresentationFormat>宽屏</PresentationFormat>
  <Paragraphs>977</Paragraphs>
  <Slides>104</Slides>
  <Notes>79</Notes>
  <HiddenSlides>1</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104</vt:i4>
      </vt:variant>
    </vt:vector>
  </HeadingPairs>
  <TitlesOfParts>
    <vt:vector size="119" baseType="lpstr">
      <vt:lpstr>FrutigerNext LT Medium</vt:lpstr>
      <vt:lpstr>Noto Sans CJK SC</vt:lpstr>
      <vt:lpstr>Noto Sans SC</vt:lpstr>
      <vt:lpstr>source-serif-pro</vt:lpstr>
      <vt:lpstr>等线</vt:lpstr>
      <vt:lpstr>等线 Light</vt:lpstr>
      <vt:lpstr>黑体</vt:lpstr>
      <vt:lpstr>微软雅黑</vt:lpstr>
      <vt:lpstr>arial</vt:lpstr>
      <vt:lpstr>arial</vt:lpstr>
      <vt:lpstr>Calibri</vt:lpstr>
      <vt:lpstr>Times New Roman</vt:lpstr>
      <vt:lpstr>Wingdings</vt:lpstr>
      <vt:lpstr>Office 主题​​</vt:lpstr>
      <vt:lpstr>2_自定义设计方案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Question: What are the differences between various communication networks?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工业互联网创新中心筹备进展及项目情况</dc:title>
  <dc:creator>tingw</dc:creator>
  <cp:lastModifiedBy>tingwang1122@gmail.com</cp:lastModifiedBy>
  <cp:revision>1093</cp:revision>
  <dcterms:created xsi:type="dcterms:W3CDTF">2016-09-26T01:53:00Z</dcterms:created>
  <dcterms:modified xsi:type="dcterms:W3CDTF">2026-09-20T14:42:22Z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2052-11.1.0.8888</vt:lpwstr>
  </property>
</Properties>
</file>