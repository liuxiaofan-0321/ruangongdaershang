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60" r:id="rId4"/>
    <p:sldId id="262" r:id="rId5"/>
    <p:sldId id="264" r:id="rId6"/>
    <p:sldId id="266" r:id="rId7"/>
    <p:sldId id="268" r:id="rId8"/>
    <p:sldId id="270" r:id="rId9"/>
    <p:sldId id="272" r:id="rId10"/>
    <p:sldId id="27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4660" autoAdjust="0"/>
  </p:normalViewPr>
  <p:slideViewPr>
    <p:cSldViewPr snapToGrid="0">
      <p:cViewPr varScale="1">
        <p:scale>
          <a:sx n="83" d="100"/>
          <a:sy n="83" d="100"/>
        </p:scale>
        <p:origin x="408" y="5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5B6E3-FDEE-4CAD-B566-361A8835683C}" type="datetimeFigureOut">
              <a:rPr lang="zh-CN" altLang="en-US" smtClean="0"/>
              <a:t>2024/11/6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A3D4B9-632A-4161-A0E8-EE02AD47039C}" type="slidenum">
              <a:rPr lang="zh-CN" altLang="en-US" smtClean="0"/>
              <a:t>‹#›</a:t>
            </a:fld>
            <a:endParaRPr lang="zh-CN" altLang="en-US"/>
          </a:p>
        </p:txBody>
      </p:sp>
    </p:spTree>
    <p:extLst>
      <p:ext uri="{BB962C8B-B14F-4D97-AF65-F5344CB8AC3E}">
        <p14:creationId xmlns:p14="http://schemas.microsoft.com/office/powerpoint/2010/main" val="3714113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DA3D4B9-632A-4161-A0E8-EE02AD47039C}" type="slidenum">
              <a:rPr lang="zh-CN" altLang="en-US" smtClean="0"/>
              <a:t>7</a:t>
            </a:fld>
            <a:endParaRPr lang="zh-CN" altLang="en-US"/>
          </a:p>
        </p:txBody>
      </p:sp>
    </p:spTree>
    <p:extLst>
      <p:ext uri="{BB962C8B-B14F-4D97-AF65-F5344CB8AC3E}">
        <p14:creationId xmlns:p14="http://schemas.microsoft.com/office/powerpoint/2010/main" val="3676303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3D3018-1828-4B6F-B4E0-C0530264824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481EF58-4B77-455B-ABFE-A0CF97D5E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8CB5C0-BA85-45BD-92CC-CA2CB879FBA5}"/>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90D83D04-02A7-4BB8-8CDA-3BD664B690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A26B3C-1358-4D0A-94DF-CC72592BC229}"/>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896000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9AB7D-DC4B-4391-AE0D-050387272392}"/>
              </a:ext>
            </a:extLst>
          </p:cNvPr>
          <p:cNvSpPr>
            <a:spLocks noGrp="1"/>
          </p:cNvSpPr>
          <p:nvPr>
            <p:ph type="title"/>
          </p:nvPr>
        </p:nvSpPr>
        <p:spPr>
          <a:xfrm>
            <a:off x="838200" y="365126"/>
            <a:ext cx="10515600" cy="597720"/>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48DA88-5F1A-4D88-A10F-0763DF72AD11}"/>
              </a:ext>
            </a:extLst>
          </p:cNvPr>
          <p:cNvSpPr>
            <a:spLocks noGrp="1"/>
          </p:cNvSpPr>
          <p:nvPr>
            <p:ph idx="1"/>
          </p:nvPr>
        </p:nvSpPr>
        <p:spPr>
          <a:xfrm>
            <a:off x="838200" y="1096069"/>
            <a:ext cx="10515600" cy="5080894"/>
          </a:xfrm>
        </p:spPr>
        <p:txBody>
          <a:bodyPr>
            <a:normAutofit/>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6620C7-2CBB-4F9A-AF7F-8FFB7AC2620C}"/>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29D5A154-049B-4E8D-B1E6-D5A881D9FB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1AFEE7-4E37-4A67-A4AE-70D12DFFFDAE}"/>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170665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61F4CB-9865-41ED-9917-1091252F60B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4330D3A-A111-48BF-88E3-E937B689D7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8F16183F-328C-42E0-85C2-50CE54E8B398}"/>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4BB2CF2D-952E-464F-ACF7-0573660138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0F57AB-406D-43C2-9A32-BF540AC095B7}"/>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8875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C99FA-CB91-4B09-863F-63334005FB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E12B744-2428-4CF7-9FE7-3AA6C8BD0428}"/>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D446D06F-F2A7-4D18-A259-9B678F45661C}"/>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D745E66E-F0C8-42C3-9FBE-902DA1B2656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E079B466-E39B-43E1-B2F8-8E79E04B9D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C045159-564B-4158-A2C8-B6530C861ED2}"/>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790626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E3FB15-53E7-44D0-9070-6342236BC9C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E7B694-611A-49E3-BE81-C382D198B6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DE8536F-E014-4BB7-B6B7-0CB6A9BC6D68}"/>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7CE2264-418C-4047-AE0A-B9FAB2FB76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B4114B3-BFDB-45A5-9619-402985BFAA4F}"/>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9BFEA3CE-7BC8-4819-AFEE-0BFB7B847CC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8" name="页脚占位符 7">
            <a:extLst>
              <a:ext uri="{FF2B5EF4-FFF2-40B4-BE49-F238E27FC236}">
                <a16:creationId xmlns:a16="http://schemas.microsoft.com/office/drawing/2014/main" id="{EC115F62-2068-47C8-8753-7D5B385A337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2C6CB00-132D-41F1-8DAD-7299D3C56B1C}"/>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25017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BC289D-8CB3-403E-AAC9-CE568450C03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35283D9-AB37-4AE2-A6CA-47552841FFD3}"/>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4" name="页脚占位符 3">
            <a:extLst>
              <a:ext uri="{FF2B5EF4-FFF2-40B4-BE49-F238E27FC236}">
                <a16:creationId xmlns:a16="http://schemas.microsoft.com/office/drawing/2014/main" id="{A29E63A0-7B5A-4FD4-9F4C-2EBB9D4106E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147B981-4722-4856-A57C-FA35B9BB50AA}"/>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491300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9803F5B-AC40-4841-8C02-C7D2852E6FB7}"/>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3" name="页脚占位符 2">
            <a:extLst>
              <a:ext uri="{FF2B5EF4-FFF2-40B4-BE49-F238E27FC236}">
                <a16:creationId xmlns:a16="http://schemas.microsoft.com/office/drawing/2014/main" id="{CAB87A62-BF0C-4D01-B7BC-2266A4F61CA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226C2E1-BE6E-43AC-BC3C-916FF0FBE66C}"/>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2298596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C85866-63BC-44DE-9188-AAC716D4A2C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74E88F-3A90-4C93-B811-3FD951730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2C88E7B4-4BCC-4437-ACB6-40A22D2C2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729DE17-FA06-4116-B014-0DE730ADF096}"/>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8A87D0EA-2790-43D3-AB98-CAC857DBE6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297FF2-8E5C-43CF-9280-55CAF44FE59B}"/>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342499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9B7A88-7ECE-4618-BDE5-3875BC39B3F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0A449F1-21C6-4855-A143-091DF90EFD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BCF0AAC-EB93-456C-AAE6-4BA62F1646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DC678AF3-FB81-4CFD-B851-713100498E82}"/>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6" name="页脚占位符 5">
            <a:extLst>
              <a:ext uri="{FF2B5EF4-FFF2-40B4-BE49-F238E27FC236}">
                <a16:creationId xmlns:a16="http://schemas.microsoft.com/office/drawing/2014/main" id="{74004D81-E96C-4727-9E3D-03DCEB32A9E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018DBA3-F8F7-4EDC-A7E9-11E52256D98E}"/>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3423842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106141-AE83-42BA-AA4C-5C292346BCB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856D1E2-8E7B-4343-8953-DB43CC1B11B1}"/>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1ED9F55-D2AA-4B59-B8EC-1516BEA27AA4}"/>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E875E8E2-4C4C-42EA-A4CE-F200C112C7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D9612D-E8E2-49A1-A071-BB708E25AEED}"/>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401977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8F133F-33D8-4D26-AC36-C6656ADB2D6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2BA62F1-287C-4992-8BC4-EBFF864F629C}"/>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E62B4A5-9304-43EA-BE7C-DC7E266321D7}"/>
              </a:ext>
            </a:extLst>
          </p:cNvPr>
          <p:cNvSpPr>
            <a:spLocks noGrp="1"/>
          </p:cNvSpPr>
          <p:nvPr>
            <p:ph type="dt" sz="half" idx="10"/>
          </p:nvPr>
        </p:nvSpPr>
        <p:spPr/>
        <p:txBody>
          <a:body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86DF0D29-B8E4-45F3-BBC1-F3BFA4E1E6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75C7BA-9012-43CD-BCE2-CB0791497A11}"/>
              </a:ext>
            </a:extLst>
          </p:cNvPr>
          <p:cNvSpPr>
            <a:spLocks noGrp="1"/>
          </p:cNvSpPr>
          <p:nvPr>
            <p:ph type="sldNum" sz="quarter" idx="12"/>
          </p:nvPr>
        </p:nvSpPr>
        <p:spPr/>
        <p:txBody>
          <a:body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244640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811D461-20F2-4DD3-B302-96FF8103D5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BFB92FB-5C14-4558-84C8-4CB4076DEF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14D9EB8-48CC-4DD0-9174-70FF03DEF8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CB9DE-A4CE-4CF5-B7AC-4A932A2C08EC}" type="datetimeFigureOut">
              <a:rPr lang="zh-CN" altLang="en-US" smtClean="0"/>
              <a:t>2024/11/6</a:t>
            </a:fld>
            <a:endParaRPr lang="zh-CN" altLang="en-US"/>
          </a:p>
        </p:txBody>
      </p:sp>
      <p:sp>
        <p:nvSpPr>
          <p:cNvPr id="5" name="页脚占位符 4">
            <a:extLst>
              <a:ext uri="{FF2B5EF4-FFF2-40B4-BE49-F238E27FC236}">
                <a16:creationId xmlns:a16="http://schemas.microsoft.com/office/drawing/2014/main" id="{95BBA2CB-BBA9-454A-B256-4BE39FBDC5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AB2AD71-6E7E-4837-9D3F-112B146164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B4DAE-0F3E-49E4-B5E1-9F92A668F247}" type="slidenum">
              <a:rPr lang="zh-CN" altLang="en-US" smtClean="0"/>
              <a:t>‹#›</a:t>
            </a:fld>
            <a:endParaRPr lang="zh-CN" altLang="en-US"/>
          </a:p>
        </p:txBody>
      </p:sp>
    </p:spTree>
    <p:extLst>
      <p:ext uri="{BB962C8B-B14F-4D97-AF65-F5344CB8AC3E}">
        <p14:creationId xmlns:p14="http://schemas.microsoft.com/office/powerpoint/2010/main" val="1088748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35B915-ED34-473B-BCD3-D2BC37EC7FAA}"/>
              </a:ext>
            </a:extLst>
          </p:cNvPr>
          <p:cNvSpPr>
            <a:spLocks noGrp="1"/>
          </p:cNvSpPr>
          <p:nvPr>
            <p:ph type="title"/>
          </p:nvPr>
        </p:nvSpPr>
        <p:spPr/>
        <p:txBody>
          <a:bodyPr>
            <a:normAutofit fontScale="90000"/>
          </a:bodyPr>
          <a:lstStyle/>
          <a:p>
            <a:r>
              <a:rPr lang="en-US" altLang="zh-CN" dirty="0"/>
              <a:t>1-1</a:t>
            </a:r>
            <a:endParaRPr lang="zh-CN" altLang="en-US" dirty="0"/>
          </a:p>
        </p:txBody>
      </p:sp>
      <p:sp>
        <p:nvSpPr>
          <p:cNvPr id="3" name="副标题 2">
            <a:extLst>
              <a:ext uri="{FF2B5EF4-FFF2-40B4-BE49-F238E27FC236}">
                <a16:creationId xmlns:a16="http://schemas.microsoft.com/office/drawing/2014/main" id="{5D62E379-1341-4B98-940A-221608CF6262}"/>
              </a:ext>
            </a:extLst>
          </p:cNvPr>
          <p:cNvSpPr>
            <a:spLocks noGrp="1"/>
          </p:cNvSpPr>
          <p:nvPr>
            <p:ph idx="1"/>
          </p:nvPr>
        </p:nvSpPr>
        <p:spPr/>
        <p:txBody>
          <a:bodyPr>
            <a:normAutofit lnSpcReduction="10000"/>
          </a:bodyPr>
          <a:lstStyle/>
          <a:p>
            <a:r>
              <a:rPr lang="en-US" altLang="zh-CN" dirty="0"/>
              <a:t>The performance of a client-server system is strongly influenced by two major network characteristics: the bandwidth of the network (that is, how many bits/sec it can transport) and the latency (that is, how many seconds it takes for the first bit to get from the client to the server). Give an example of a network that exhibits high bandwidth but also high latency. Then give an example of one that has both low bandwidth and low latency.</a:t>
            </a:r>
          </a:p>
          <a:p>
            <a:endParaRPr lang="zh-CN" altLang="en-US" dirty="0"/>
          </a:p>
          <a:p>
            <a:r>
              <a:rPr lang="en-US" altLang="zh-CN" dirty="0">
                <a:solidFill>
                  <a:srgbClr val="0000FF"/>
                </a:solidFill>
              </a:rPr>
              <a:t>A transcontinental fiber link might have many gigabits/sec of bandwidth, but the latency will also be high due to the speed of light propagation over thousands of kilometers. Similarly, a satellite link may run at megabits/sec but have a high latency to send a signal into orbit and back. </a:t>
            </a:r>
          </a:p>
          <a:p>
            <a:r>
              <a:rPr lang="en-US" altLang="zh-CN" dirty="0">
                <a:solidFill>
                  <a:srgbClr val="0000FF"/>
                </a:solidFill>
              </a:rPr>
              <a:t>In contrast, a 56-kbps modem calling a computer in the same building has low bandwidth and low latency. So do low-end local and personal area wireless technologies such as Zigbee.</a:t>
            </a:r>
          </a:p>
        </p:txBody>
      </p:sp>
    </p:spTree>
    <p:extLst>
      <p:ext uri="{BB962C8B-B14F-4D97-AF65-F5344CB8AC3E}">
        <p14:creationId xmlns:p14="http://schemas.microsoft.com/office/powerpoint/2010/main" val="3586120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0BF3E-517B-47A7-9F37-51B9D439190B}"/>
              </a:ext>
            </a:extLst>
          </p:cNvPr>
          <p:cNvSpPr>
            <a:spLocks noGrp="1"/>
          </p:cNvSpPr>
          <p:nvPr>
            <p:ph type="title"/>
          </p:nvPr>
        </p:nvSpPr>
        <p:spPr/>
        <p:txBody>
          <a:bodyPr>
            <a:normAutofit fontScale="90000"/>
          </a:bodyPr>
          <a:lstStyle/>
          <a:p>
            <a:r>
              <a:rPr lang="en-US" altLang="zh-CN" dirty="0"/>
              <a:t>1-2</a:t>
            </a:r>
            <a:endParaRPr lang="zh-CN" altLang="en-US" dirty="0"/>
          </a:p>
        </p:txBody>
      </p:sp>
      <p:sp>
        <p:nvSpPr>
          <p:cNvPr id="3" name="副标题 2">
            <a:extLst>
              <a:ext uri="{FF2B5EF4-FFF2-40B4-BE49-F238E27FC236}">
                <a16:creationId xmlns:a16="http://schemas.microsoft.com/office/drawing/2014/main" id="{256DE83E-0AA4-4466-8436-ECF23A395247}"/>
              </a:ext>
            </a:extLst>
          </p:cNvPr>
          <p:cNvSpPr>
            <a:spLocks noGrp="1"/>
          </p:cNvSpPr>
          <p:nvPr>
            <p:ph idx="1"/>
          </p:nvPr>
        </p:nvSpPr>
        <p:spPr/>
        <p:txBody>
          <a:bodyPr>
            <a:normAutofit/>
          </a:bodyPr>
          <a:lstStyle/>
          <a:p>
            <a:r>
              <a:rPr lang="en-US" altLang="zh-CN" dirty="0"/>
              <a:t>Besides bandwidth and latency, what other parameter is needed to give a good characterization of the quality of service offered by a network used for (</a:t>
            </a:r>
            <a:r>
              <a:rPr lang="en-US" altLang="zh-CN" dirty="0" err="1"/>
              <a:t>i</a:t>
            </a:r>
            <a:r>
              <a:rPr lang="en-US" altLang="zh-CN" dirty="0"/>
              <a:t>) digitized voice traffic? (ii) video traffic? (iii) financial transaction traffic?</a:t>
            </a:r>
          </a:p>
          <a:p>
            <a:endParaRPr lang="zh-CN" altLang="en-US" dirty="0"/>
          </a:p>
          <a:p>
            <a:r>
              <a:rPr lang="en-US" altLang="zh-CN" dirty="0">
                <a:solidFill>
                  <a:srgbClr val="0000FF"/>
                </a:solidFill>
              </a:rPr>
              <a:t>A uniform delivery time is needed for voice as well as video, so the amount of </a:t>
            </a:r>
            <a:r>
              <a:rPr lang="en-US" altLang="zh-CN" b="1" dirty="0">
                <a:solidFill>
                  <a:srgbClr val="0000FF"/>
                </a:solidFill>
              </a:rPr>
              <a:t>jitter</a:t>
            </a:r>
            <a:r>
              <a:rPr lang="en-US" altLang="zh-CN" dirty="0">
                <a:solidFill>
                  <a:srgbClr val="0000FF"/>
                </a:solidFill>
              </a:rPr>
              <a:t> in the network is important. This could be expressed as the standard deviation</a:t>
            </a:r>
            <a:r>
              <a:rPr lang="zh-CN" altLang="en-US" dirty="0">
                <a:solidFill>
                  <a:srgbClr val="0000FF"/>
                </a:solidFill>
              </a:rPr>
              <a:t>（标准差）</a:t>
            </a:r>
            <a:r>
              <a:rPr lang="en-US" altLang="zh-CN" dirty="0">
                <a:solidFill>
                  <a:srgbClr val="0000FF"/>
                </a:solidFill>
              </a:rPr>
              <a:t> of the delivery time. Having short delay but large variability is actually worse than a somewhat longer delay and low variability. </a:t>
            </a:r>
          </a:p>
          <a:p>
            <a:r>
              <a:rPr lang="en-US" altLang="zh-CN" dirty="0">
                <a:solidFill>
                  <a:srgbClr val="0000FF"/>
                </a:solidFill>
              </a:rPr>
              <a:t>For financial transaction traffic, </a:t>
            </a:r>
            <a:r>
              <a:rPr lang="en-US" altLang="zh-CN" b="1" dirty="0">
                <a:solidFill>
                  <a:srgbClr val="0000FF"/>
                </a:solidFill>
              </a:rPr>
              <a:t>reliability</a:t>
            </a:r>
            <a:r>
              <a:rPr lang="en-US" altLang="zh-CN" dirty="0">
                <a:solidFill>
                  <a:srgbClr val="0000FF"/>
                </a:solidFill>
              </a:rPr>
              <a:t> and </a:t>
            </a:r>
            <a:r>
              <a:rPr lang="en-US" altLang="zh-CN" b="1" dirty="0">
                <a:solidFill>
                  <a:srgbClr val="0000FF"/>
                </a:solidFill>
              </a:rPr>
              <a:t>security</a:t>
            </a:r>
            <a:r>
              <a:rPr lang="en-US" altLang="zh-CN" dirty="0">
                <a:solidFill>
                  <a:srgbClr val="0000FF"/>
                </a:solidFill>
              </a:rPr>
              <a:t> are very important.</a:t>
            </a:r>
          </a:p>
        </p:txBody>
      </p:sp>
    </p:spTree>
    <p:extLst>
      <p:ext uri="{BB962C8B-B14F-4D97-AF65-F5344CB8AC3E}">
        <p14:creationId xmlns:p14="http://schemas.microsoft.com/office/powerpoint/2010/main" val="1223557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B2405A-AF61-417D-924F-4D0C0B342E0F}"/>
              </a:ext>
            </a:extLst>
          </p:cNvPr>
          <p:cNvSpPr>
            <a:spLocks noGrp="1"/>
          </p:cNvSpPr>
          <p:nvPr>
            <p:ph type="title"/>
          </p:nvPr>
        </p:nvSpPr>
        <p:spPr/>
        <p:txBody>
          <a:bodyPr>
            <a:normAutofit fontScale="90000"/>
          </a:bodyPr>
          <a:lstStyle/>
          <a:p>
            <a:r>
              <a:rPr lang="en-US" altLang="zh-CN" dirty="0"/>
              <a:t>1-3</a:t>
            </a:r>
            <a:endParaRPr lang="zh-CN" altLang="en-US" dirty="0"/>
          </a:p>
        </p:txBody>
      </p:sp>
      <p:sp>
        <p:nvSpPr>
          <p:cNvPr id="3" name="副标题 2">
            <a:extLst>
              <a:ext uri="{FF2B5EF4-FFF2-40B4-BE49-F238E27FC236}">
                <a16:creationId xmlns:a16="http://schemas.microsoft.com/office/drawing/2014/main" id="{68E534F5-FA98-4072-A125-4372DE27845B}"/>
              </a:ext>
            </a:extLst>
          </p:cNvPr>
          <p:cNvSpPr>
            <a:spLocks noGrp="1"/>
          </p:cNvSpPr>
          <p:nvPr>
            <p:ph idx="1"/>
          </p:nvPr>
        </p:nvSpPr>
        <p:spPr/>
        <p:txBody>
          <a:bodyPr/>
          <a:lstStyle/>
          <a:p>
            <a:r>
              <a:rPr lang="en-US" altLang="zh-CN" dirty="0"/>
              <a:t>A client-server system uses a satellite network, with the satellite at a height of 40,000 km. What is the best-case delay in response to a request? </a:t>
            </a:r>
          </a:p>
          <a:p>
            <a:endParaRPr lang="zh-CN" altLang="en-US" dirty="0"/>
          </a:p>
          <a:p>
            <a:r>
              <a:rPr lang="en-US" altLang="zh-CN" dirty="0">
                <a:solidFill>
                  <a:srgbClr val="0000FF"/>
                </a:solidFill>
              </a:rPr>
              <a:t>The request has to go up and down, and the response has to go up and down. The total path length traversed is thus 160,000 km. The speed of light in air and vacuum is 300,000 km/sec, so the propagation delay alone is 160,000/300,000 sec or about 533 msec.</a:t>
            </a:r>
          </a:p>
        </p:txBody>
      </p:sp>
    </p:spTree>
    <p:extLst>
      <p:ext uri="{BB962C8B-B14F-4D97-AF65-F5344CB8AC3E}">
        <p14:creationId xmlns:p14="http://schemas.microsoft.com/office/powerpoint/2010/main" val="166558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BAF862-D0CA-4E12-A700-DA223629BCF9}"/>
              </a:ext>
            </a:extLst>
          </p:cNvPr>
          <p:cNvSpPr>
            <a:spLocks noGrp="1"/>
          </p:cNvSpPr>
          <p:nvPr>
            <p:ph type="title"/>
          </p:nvPr>
        </p:nvSpPr>
        <p:spPr/>
        <p:txBody>
          <a:bodyPr>
            <a:normAutofit fontScale="90000"/>
          </a:bodyPr>
          <a:lstStyle/>
          <a:p>
            <a:r>
              <a:rPr lang="en-US" altLang="zh-CN" dirty="0"/>
              <a:t>1-4</a:t>
            </a:r>
            <a:endParaRPr lang="zh-CN" altLang="en-US" dirty="0"/>
          </a:p>
        </p:txBody>
      </p:sp>
      <p:sp>
        <p:nvSpPr>
          <p:cNvPr id="3" name="副标题 2">
            <a:extLst>
              <a:ext uri="{FF2B5EF4-FFF2-40B4-BE49-F238E27FC236}">
                <a16:creationId xmlns:a16="http://schemas.microsoft.com/office/drawing/2014/main" id="{B117B8FA-4F47-4EED-ADD6-9ED515B34DE7}"/>
              </a:ext>
            </a:extLst>
          </p:cNvPr>
          <p:cNvSpPr>
            <a:spLocks noGrp="1"/>
          </p:cNvSpPr>
          <p:nvPr>
            <p:ph idx="1"/>
          </p:nvPr>
        </p:nvSpPr>
        <p:spPr/>
        <p:txBody>
          <a:bodyPr>
            <a:normAutofit/>
          </a:bodyPr>
          <a:lstStyle/>
          <a:p>
            <a:r>
              <a:rPr lang="en-US" altLang="zh-CN" dirty="0"/>
              <a:t>Five routers are to be connected in a point-to-point subnet. Between each pair of routers, the designers may put </a:t>
            </a:r>
            <a:r>
              <a:rPr lang="en-US" altLang="zh-CN" b="1" dirty="0"/>
              <a:t>a high-speed line, a medium-speed line, a low-speed line, or no line.</a:t>
            </a:r>
            <a:r>
              <a:rPr lang="en-US" altLang="zh-CN" dirty="0"/>
              <a:t> If it takes 50 </a:t>
            </a:r>
            <a:r>
              <a:rPr lang="en-US" altLang="zh-CN" dirty="0" err="1"/>
              <a:t>ms</a:t>
            </a:r>
            <a:r>
              <a:rPr lang="en-US" altLang="zh-CN" dirty="0"/>
              <a:t> of computer time to generate and inspect each topology, how long will it take to inspect all of them? </a:t>
            </a:r>
          </a:p>
          <a:p>
            <a:endParaRPr lang="zh-CN" altLang="en-US" dirty="0"/>
          </a:p>
          <a:p>
            <a:r>
              <a:rPr lang="en-US" altLang="zh-CN" dirty="0">
                <a:solidFill>
                  <a:srgbClr val="0000FF"/>
                </a:solidFill>
              </a:rPr>
              <a:t>Call the routers A, B, C, D, and E. </a:t>
            </a:r>
          </a:p>
          <a:p>
            <a:r>
              <a:rPr lang="en-US" altLang="zh-CN" dirty="0">
                <a:solidFill>
                  <a:srgbClr val="0000FF"/>
                </a:solidFill>
              </a:rPr>
              <a:t>There are ten potential lines: AB, AC, AD, AE, BC, BD, BE, CD, CE, and DE. </a:t>
            </a:r>
          </a:p>
          <a:p>
            <a:r>
              <a:rPr lang="en-US" altLang="zh-CN" dirty="0">
                <a:solidFill>
                  <a:srgbClr val="0000FF"/>
                </a:solidFill>
              </a:rPr>
              <a:t>Each of these has four possibilities (three speeds or no line), so the total number of topologies is 4</a:t>
            </a:r>
            <a:r>
              <a:rPr lang="en-US" altLang="zh-CN" baseline="30000" dirty="0">
                <a:solidFill>
                  <a:srgbClr val="0000FF"/>
                </a:solidFill>
              </a:rPr>
              <a:t>10</a:t>
            </a:r>
            <a:r>
              <a:rPr lang="en-US" altLang="zh-CN" dirty="0">
                <a:solidFill>
                  <a:srgbClr val="0000FF"/>
                </a:solidFill>
              </a:rPr>
              <a:t> = 1, 048, 576. </a:t>
            </a:r>
          </a:p>
          <a:p>
            <a:r>
              <a:rPr lang="en-US" altLang="zh-CN" dirty="0">
                <a:solidFill>
                  <a:srgbClr val="0000FF"/>
                </a:solidFill>
              </a:rPr>
              <a:t>At 100 </a:t>
            </a:r>
            <a:r>
              <a:rPr lang="en-US" altLang="zh-CN" dirty="0" err="1">
                <a:solidFill>
                  <a:srgbClr val="0000FF"/>
                </a:solidFill>
              </a:rPr>
              <a:t>ms</a:t>
            </a:r>
            <a:r>
              <a:rPr lang="en-US" altLang="zh-CN" dirty="0">
                <a:solidFill>
                  <a:srgbClr val="0000FF"/>
                </a:solidFill>
              </a:rPr>
              <a:t> each, it takes 104,857.6 sec, or slightly more than 29 hours to inspect them all.</a:t>
            </a:r>
          </a:p>
        </p:txBody>
      </p:sp>
    </p:spTree>
    <p:extLst>
      <p:ext uri="{BB962C8B-B14F-4D97-AF65-F5344CB8AC3E}">
        <p14:creationId xmlns:p14="http://schemas.microsoft.com/office/powerpoint/2010/main" val="111564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B7825-911F-4693-8042-2D824C25E719}"/>
              </a:ext>
            </a:extLst>
          </p:cNvPr>
          <p:cNvSpPr>
            <a:spLocks noGrp="1"/>
          </p:cNvSpPr>
          <p:nvPr>
            <p:ph type="title"/>
          </p:nvPr>
        </p:nvSpPr>
        <p:spPr/>
        <p:txBody>
          <a:bodyPr>
            <a:normAutofit fontScale="90000"/>
          </a:bodyPr>
          <a:lstStyle/>
          <a:p>
            <a:r>
              <a:rPr lang="en-US" altLang="zh-CN" dirty="0"/>
              <a:t>1-5</a:t>
            </a:r>
            <a:endParaRPr lang="zh-CN" altLang="en-US" dirty="0"/>
          </a:p>
        </p:txBody>
      </p:sp>
      <p:sp>
        <p:nvSpPr>
          <p:cNvPr id="3" name="副标题 2">
            <a:extLst>
              <a:ext uri="{FF2B5EF4-FFF2-40B4-BE49-F238E27FC236}">
                <a16:creationId xmlns:a16="http://schemas.microsoft.com/office/drawing/2014/main" id="{7032F7F0-A9F6-4634-A7EE-9855C4A5BA1E}"/>
              </a:ext>
            </a:extLst>
          </p:cNvPr>
          <p:cNvSpPr>
            <a:spLocks noGrp="1"/>
          </p:cNvSpPr>
          <p:nvPr>
            <p:ph idx="1"/>
          </p:nvPr>
        </p:nvSpPr>
        <p:spPr/>
        <p:txBody>
          <a:bodyPr>
            <a:normAutofit/>
          </a:bodyPr>
          <a:lstStyle/>
          <a:p>
            <a:r>
              <a:rPr lang="en-US" altLang="zh-CN" dirty="0"/>
              <a:t>A group of 2</a:t>
            </a:r>
            <a:r>
              <a:rPr lang="zh-CN" altLang="en-US" baseline="30000" dirty="0"/>
              <a:t>𝑛</a:t>
            </a:r>
            <a:r>
              <a:rPr lang="zh-CN" altLang="en-US" dirty="0"/>
              <a:t>−</a:t>
            </a:r>
            <a:r>
              <a:rPr lang="en-US" altLang="zh-CN" dirty="0"/>
              <a:t>1 routers are interconnected in a centralized binary tree, with a router at each tree node. Router </a:t>
            </a:r>
            <a:r>
              <a:rPr lang="en-US" altLang="zh-CN" dirty="0" err="1"/>
              <a:t>i</a:t>
            </a:r>
            <a:r>
              <a:rPr lang="en-US" altLang="zh-CN" dirty="0"/>
              <a:t> communicates with router j by sending a message to the root of the tree. The root then sends the message back down to j. Derive an approximate expression for the mean number of hops per message for large n, assuming that all router pairs are equally likely. </a:t>
            </a:r>
          </a:p>
          <a:p>
            <a:endParaRPr lang="zh-CN" altLang="en-US" dirty="0"/>
          </a:p>
        </p:txBody>
      </p:sp>
      <p:pic>
        <p:nvPicPr>
          <p:cNvPr id="5" name="图片 4">
            <a:extLst>
              <a:ext uri="{FF2B5EF4-FFF2-40B4-BE49-F238E27FC236}">
                <a16:creationId xmlns:a16="http://schemas.microsoft.com/office/drawing/2014/main" id="{9EFAE4CD-8F31-42FF-BF87-F506B7AA08E1}"/>
              </a:ext>
            </a:extLst>
          </p:cNvPr>
          <p:cNvPicPr/>
          <p:nvPr/>
        </p:nvPicPr>
        <p:blipFill>
          <a:blip r:embed="rId2"/>
          <a:stretch>
            <a:fillRect/>
          </a:stretch>
        </p:blipFill>
        <p:spPr>
          <a:xfrm>
            <a:off x="838200" y="2886974"/>
            <a:ext cx="7366958" cy="3469219"/>
          </a:xfrm>
          <a:prstGeom prst="rect">
            <a:avLst/>
          </a:prstGeom>
        </p:spPr>
      </p:pic>
      <p:sp>
        <p:nvSpPr>
          <p:cNvPr id="7" name="文本框 6">
            <a:extLst>
              <a:ext uri="{FF2B5EF4-FFF2-40B4-BE49-F238E27FC236}">
                <a16:creationId xmlns:a16="http://schemas.microsoft.com/office/drawing/2014/main" id="{AA85C7F3-9136-CCA2-5765-334C0F3114EB}"/>
              </a:ext>
            </a:extLst>
          </p:cNvPr>
          <p:cNvSpPr txBox="1"/>
          <p:nvPr/>
        </p:nvSpPr>
        <p:spPr>
          <a:xfrm>
            <a:off x="8689675" y="3347049"/>
            <a:ext cx="3071004" cy="2031325"/>
          </a:xfrm>
          <a:prstGeom prst="rect">
            <a:avLst/>
          </a:prstGeom>
          <a:noFill/>
        </p:spPr>
        <p:txBody>
          <a:bodyPr wrap="square" rtlCol="0">
            <a:spAutoFit/>
          </a:bodyPr>
          <a:lstStyle/>
          <a:p>
            <a:r>
              <a:rPr lang="en-US" altLang="zh-CN" dirty="0"/>
              <a:t>L1                 r1</a:t>
            </a:r>
          </a:p>
          <a:p>
            <a:r>
              <a:rPr lang="en-US" altLang="zh-CN" dirty="0"/>
              <a:t>                  /       \</a:t>
            </a:r>
          </a:p>
          <a:p>
            <a:r>
              <a:rPr lang="en-US" altLang="zh-CN" dirty="0"/>
              <a:t>L2            r2          r3</a:t>
            </a:r>
          </a:p>
          <a:p>
            <a:r>
              <a:rPr lang="en-US" altLang="zh-CN" dirty="0"/>
              <a:t>              /    \      /    \</a:t>
            </a:r>
          </a:p>
          <a:p>
            <a:r>
              <a:rPr lang="en-US" altLang="zh-CN" dirty="0"/>
              <a:t>L3       r4     r5   r6     r7</a:t>
            </a:r>
          </a:p>
          <a:p>
            <a:r>
              <a:rPr lang="en-US" altLang="zh-CN" dirty="0"/>
              <a:t>…</a:t>
            </a:r>
          </a:p>
          <a:p>
            <a:r>
              <a:rPr lang="en-US" altLang="zh-CN" dirty="0"/>
              <a:t>Ln      	      …</a:t>
            </a:r>
            <a:endParaRPr lang="zh-CN" altLang="en-US" dirty="0"/>
          </a:p>
        </p:txBody>
      </p:sp>
      <p:cxnSp>
        <p:nvCxnSpPr>
          <p:cNvPr id="9" name="直接连接符 8">
            <a:extLst>
              <a:ext uri="{FF2B5EF4-FFF2-40B4-BE49-F238E27FC236}">
                <a16:creationId xmlns:a16="http://schemas.microsoft.com/office/drawing/2014/main" id="{32B1FB8D-893F-9EC9-06C1-56FBC87B1526}"/>
              </a:ext>
            </a:extLst>
          </p:cNvPr>
          <p:cNvCxnSpPr/>
          <p:nvPr/>
        </p:nvCxnSpPr>
        <p:spPr>
          <a:xfrm>
            <a:off x="925902" y="3134264"/>
            <a:ext cx="60269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09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6EE0F-4C98-4133-BF64-AB5148154150}"/>
              </a:ext>
            </a:extLst>
          </p:cNvPr>
          <p:cNvSpPr>
            <a:spLocks noGrp="1"/>
          </p:cNvSpPr>
          <p:nvPr>
            <p:ph type="title"/>
          </p:nvPr>
        </p:nvSpPr>
        <p:spPr/>
        <p:txBody>
          <a:bodyPr>
            <a:normAutofit fontScale="90000"/>
          </a:bodyPr>
          <a:lstStyle/>
          <a:p>
            <a:r>
              <a:rPr lang="en-US" altLang="zh-CN" dirty="0"/>
              <a:t>1-6</a:t>
            </a:r>
            <a:endParaRPr lang="zh-CN" altLang="en-US" dirty="0"/>
          </a:p>
        </p:txBody>
      </p:sp>
      <p:sp>
        <p:nvSpPr>
          <p:cNvPr id="3" name="副标题 2">
            <a:extLst>
              <a:ext uri="{FF2B5EF4-FFF2-40B4-BE49-F238E27FC236}">
                <a16:creationId xmlns:a16="http://schemas.microsoft.com/office/drawing/2014/main" id="{061C4EF7-4592-4860-B54D-0AE07D767EBA}"/>
              </a:ext>
            </a:extLst>
          </p:cNvPr>
          <p:cNvSpPr>
            <a:spLocks noGrp="1"/>
          </p:cNvSpPr>
          <p:nvPr>
            <p:ph idx="1"/>
          </p:nvPr>
        </p:nvSpPr>
        <p:spPr/>
        <p:txBody>
          <a:bodyPr>
            <a:normAutofit/>
          </a:bodyPr>
          <a:lstStyle/>
          <a:p>
            <a:r>
              <a:rPr lang="en-US" altLang="zh-CN" dirty="0"/>
              <a:t>What is the principal difference between connectionless communication and connection-oriented communication? Give one example of a protocol that uses (</a:t>
            </a:r>
            <a:r>
              <a:rPr lang="en-US" altLang="zh-CN" dirty="0" err="1"/>
              <a:t>i</a:t>
            </a:r>
            <a:r>
              <a:rPr lang="en-US" altLang="zh-CN" dirty="0"/>
              <a:t>) connectionless communication; (ii) connection-oriented communication. </a:t>
            </a:r>
          </a:p>
          <a:p>
            <a:endParaRPr lang="zh-CN" altLang="en-US" dirty="0"/>
          </a:p>
          <a:p>
            <a:r>
              <a:rPr lang="en-US" altLang="zh-CN" dirty="0">
                <a:solidFill>
                  <a:srgbClr val="0000FF"/>
                </a:solidFill>
              </a:rPr>
              <a:t>Connection-oriented communication has </a:t>
            </a:r>
            <a:r>
              <a:rPr lang="en-US" altLang="zh-CN" b="1" dirty="0">
                <a:solidFill>
                  <a:srgbClr val="0000FF"/>
                </a:solidFill>
              </a:rPr>
              <a:t>three phases</a:t>
            </a:r>
            <a:r>
              <a:rPr lang="en-US" altLang="zh-CN" dirty="0">
                <a:solidFill>
                  <a:srgbClr val="0000FF"/>
                </a:solidFill>
              </a:rPr>
              <a:t>. In the establishment phase a request is made to set up a connection. Only after this phase has been successfully completed can the data transfer phase be started and data trans ported. Then comes the release phase. </a:t>
            </a:r>
          </a:p>
          <a:p>
            <a:r>
              <a:rPr lang="en-US" altLang="zh-CN" dirty="0">
                <a:solidFill>
                  <a:srgbClr val="0000FF"/>
                </a:solidFill>
              </a:rPr>
              <a:t>Connectionless communication does not have these phases. It just sends the data.</a:t>
            </a:r>
          </a:p>
        </p:txBody>
      </p:sp>
    </p:spTree>
    <p:extLst>
      <p:ext uri="{BB962C8B-B14F-4D97-AF65-F5344CB8AC3E}">
        <p14:creationId xmlns:p14="http://schemas.microsoft.com/office/powerpoint/2010/main" val="211769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4C548-CEE3-4492-BBE3-066DD14DED4B}"/>
              </a:ext>
            </a:extLst>
          </p:cNvPr>
          <p:cNvSpPr>
            <a:spLocks noGrp="1"/>
          </p:cNvSpPr>
          <p:nvPr>
            <p:ph type="title"/>
          </p:nvPr>
        </p:nvSpPr>
        <p:spPr/>
        <p:txBody>
          <a:bodyPr>
            <a:normAutofit fontScale="90000"/>
          </a:bodyPr>
          <a:lstStyle/>
          <a:p>
            <a:r>
              <a:rPr lang="en-US" altLang="zh-CN" dirty="0"/>
              <a:t>1-7</a:t>
            </a:r>
            <a:endParaRPr lang="zh-CN" altLang="en-US" dirty="0"/>
          </a:p>
        </p:txBody>
      </p:sp>
      <p:sp>
        <p:nvSpPr>
          <p:cNvPr id="3" name="副标题 2">
            <a:extLst>
              <a:ext uri="{FF2B5EF4-FFF2-40B4-BE49-F238E27FC236}">
                <a16:creationId xmlns:a16="http://schemas.microsoft.com/office/drawing/2014/main" id="{08ACBE0C-7D7D-44D8-83A2-14D1856901BD}"/>
              </a:ext>
            </a:extLst>
          </p:cNvPr>
          <p:cNvSpPr>
            <a:spLocks noGrp="1"/>
          </p:cNvSpPr>
          <p:nvPr>
            <p:ph idx="1"/>
          </p:nvPr>
        </p:nvSpPr>
        <p:spPr/>
        <p:txBody>
          <a:bodyPr>
            <a:normAutofit fontScale="92500"/>
          </a:bodyPr>
          <a:lstStyle/>
          <a:p>
            <a:r>
              <a:rPr lang="en-US" altLang="zh-CN" dirty="0"/>
              <a:t>Two networks each provide reliable connection-oriented service. One of them offers a reliable byte stream and the other offers a reliable message stream. Are these identical? If so, why is the distinction made? If not, give an example of how they differ. </a:t>
            </a:r>
          </a:p>
          <a:p>
            <a:endParaRPr lang="zh-CN" altLang="en-US" dirty="0"/>
          </a:p>
          <a:p>
            <a:r>
              <a:rPr lang="en-US" altLang="zh-CN" dirty="0">
                <a:solidFill>
                  <a:srgbClr val="0000FF"/>
                </a:solidFill>
              </a:rPr>
              <a:t>Message and byte streams are different. </a:t>
            </a:r>
          </a:p>
          <a:p>
            <a:pPr marL="342900" indent="-342900">
              <a:buFont typeface="Arial" panose="020B0604020202020204" pitchFamily="34" charset="0"/>
              <a:buChar char="•"/>
            </a:pPr>
            <a:r>
              <a:rPr lang="en-US" altLang="zh-CN" dirty="0">
                <a:solidFill>
                  <a:srgbClr val="0000FF"/>
                </a:solidFill>
              </a:rPr>
              <a:t>In a message stream, the network </a:t>
            </a:r>
            <a:r>
              <a:rPr lang="en-US" altLang="zh-CN" b="1" dirty="0">
                <a:solidFill>
                  <a:srgbClr val="0000FF"/>
                </a:solidFill>
              </a:rPr>
              <a:t>keeps track of message boundaries</a:t>
            </a:r>
            <a:r>
              <a:rPr lang="en-US" altLang="zh-CN" dirty="0">
                <a:solidFill>
                  <a:srgbClr val="0000FF"/>
                </a:solidFill>
              </a:rPr>
              <a:t>. </a:t>
            </a:r>
          </a:p>
          <a:p>
            <a:pPr marL="342900" indent="-342900">
              <a:buFont typeface="Arial" panose="020B0604020202020204" pitchFamily="34" charset="0"/>
              <a:buChar char="•"/>
            </a:pPr>
            <a:r>
              <a:rPr lang="en-US" altLang="zh-CN" dirty="0">
                <a:solidFill>
                  <a:srgbClr val="0000FF"/>
                </a:solidFill>
              </a:rPr>
              <a:t>In a byte stream, it does not. </a:t>
            </a:r>
          </a:p>
          <a:p>
            <a:r>
              <a:rPr lang="en-US" altLang="zh-CN" dirty="0">
                <a:solidFill>
                  <a:srgbClr val="0000FF"/>
                </a:solidFill>
              </a:rPr>
              <a:t>For example, suppose a process writes 1024 bytes to a connection and then a little later writes another 1024 bytes. The receiver then does a read for 2048 bytes. </a:t>
            </a:r>
          </a:p>
          <a:p>
            <a:pPr marL="342900" indent="-342900">
              <a:buFont typeface="Arial" panose="020B0604020202020204" pitchFamily="34" charset="0"/>
              <a:buChar char="•"/>
            </a:pPr>
            <a:r>
              <a:rPr lang="en-US" altLang="zh-CN" dirty="0">
                <a:solidFill>
                  <a:srgbClr val="0000FF"/>
                </a:solidFill>
              </a:rPr>
              <a:t>With a message stream, the receiver will get two messages, of 1024 bytes each. </a:t>
            </a:r>
          </a:p>
          <a:p>
            <a:pPr marL="342900" indent="-342900">
              <a:buFont typeface="Arial" panose="020B0604020202020204" pitchFamily="34" charset="0"/>
              <a:buChar char="•"/>
            </a:pPr>
            <a:r>
              <a:rPr lang="en-US" altLang="zh-CN" dirty="0">
                <a:solidFill>
                  <a:srgbClr val="0000FF"/>
                </a:solidFill>
              </a:rPr>
              <a:t>With a byte stream, the message boundaries do not count and the receiver will get the full 2048 bytes as a single unit. The fact that there were originally two distinct messages is lost.</a:t>
            </a:r>
          </a:p>
        </p:txBody>
      </p:sp>
    </p:spTree>
    <p:extLst>
      <p:ext uri="{BB962C8B-B14F-4D97-AF65-F5344CB8AC3E}">
        <p14:creationId xmlns:p14="http://schemas.microsoft.com/office/powerpoint/2010/main" val="257296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337923-B776-44E7-9127-9AA17F7D41EB}"/>
              </a:ext>
            </a:extLst>
          </p:cNvPr>
          <p:cNvSpPr>
            <a:spLocks noGrp="1"/>
          </p:cNvSpPr>
          <p:nvPr>
            <p:ph type="title"/>
          </p:nvPr>
        </p:nvSpPr>
        <p:spPr/>
        <p:txBody>
          <a:bodyPr>
            <a:normAutofit fontScale="90000"/>
          </a:bodyPr>
          <a:lstStyle/>
          <a:p>
            <a:r>
              <a:rPr lang="en-US" altLang="zh-CN" dirty="0"/>
              <a:t>1-8</a:t>
            </a:r>
            <a:endParaRPr lang="zh-CN" altLang="en-US" dirty="0"/>
          </a:p>
        </p:txBody>
      </p:sp>
      <p:sp>
        <p:nvSpPr>
          <p:cNvPr id="3" name="副标题 2">
            <a:extLst>
              <a:ext uri="{FF2B5EF4-FFF2-40B4-BE49-F238E27FC236}">
                <a16:creationId xmlns:a16="http://schemas.microsoft.com/office/drawing/2014/main" id="{DA51FDAD-35DD-421C-A3CC-A86B19EA322E}"/>
              </a:ext>
            </a:extLst>
          </p:cNvPr>
          <p:cNvSpPr>
            <a:spLocks noGrp="1"/>
          </p:cNvSpPr>
          <p:nvPr>
            <p:ph idx="1"/>
          </p:nvPr>
        </p:nvSpPr>
        <p:spPr/>
        <p:txBody>
          <a:bodyPr>
            <a:normAutofit/>
          </a:bodyPr>
          <a:lstStyle/>
          <a:p>
            <a:r>
              <a:rPr lang="en-US" altLang="zh-CN" dirty="0"/>
              <a:t>A system has an n-layer protocol hierarchy. Applications generate messages of length M bytes. At each of the layers, an h-byte header is added. What fraction of the network bandwidth is filled with headers? </a:t>
            </a:r>
          </a:p>
          <a:p>
            <a:endParaRPr lang="zh-CN" altLang="en-US" dirty="0"/>
          </a:p>
          <a:p>
            <a:r>
              <a:rPr lang="en-US" altLang="zh-CN" dirty="0">
                <a:solidFill>
                  <a:srgbClr val="0000FF"/>
                </a:solidFill>
              </a:rPr>
              <a:t>With n layers and h bytes added per layer, the total number of header bytes per message is ℎ</a:t>
            </a:r>
            <a:r>
              <a:rPr lang="zh-CN" altLang="en-US" dirty="0">
                <a:solidFill>
                  <a:srgbClr val="0000FF"/>
                </a:solidFill>
              </a:rPr>
              <a:t>𝑛</a:t>
            </a:r>
            <a:r>
              <a:rPr lang="en-US" altLang="zh-CN" dirty="0">
                <a:solidFill>
                  <a:srgbClr val="0000FF"/>
                </a:solidFill>
              </a:rPr>
              <a:t>, so the space wasted on headers is ℎ</a:t>
            </a:r>
            <a:r>
              <a:rPr lang="zh-CN" altLang="en-US" dirty="0">
                <a:solidFill>
                  <a:srgbClr val="0000FF"/>
                </a:solidFill>
              </a:rPr>
              <a:t>𝑛</a:t>
            </a:r>
            <a:r>
              <a:rPr lang="en-US" altLang="zh-CN" dirty="0">
                <a:solidFill>
                  <a:srgbClr val="0000FF"/>
                </a:solidFill>
              </a:rPr>
              <a:t>. The total message size is </a:t>
            </a:r>
            <a:r>
              <a:rPr lang="zh-CN" altLang="en-US" dirty="0">
                <a:solidFill>
                  <a:srgbClr val="0000FF"/>
                </a:solidFill>
              </a:rPr>
              <a:t>𝑀 </a:t>
            </a:r>
            <a:r>
              <a:rPr lang="en-US" altLang="zh-CN" dirty="0">
                <a:solidFill>
                  <a:srgbClr val="0000FF"/>
                </a:solidFill>
              </a:rPr>
              <a:t>+</a:t>
            </a:r>
            <a:r>
              <a:rPr lang="zh-CN" altLang="en-US" dirty="0">
                <a:solidFill>
                  <a:srgbClr val="0000FF"/>
                </a:solidFill>
              </a:rPr>
              <a:t>𝑛</a:t>
            </a:r>
            <a:r>
              <a:rPr lang="en-US" altLang="zh-CN" dirty="0">
                <a:solidFill>
                  <a:srgbClr val="0000FF"/>
                </a:solidFill>
              </a:rPr>
              <a:t>ℎ, so the fraction of bandwidth wasted on headers is ℎ</a:t>
            </a:r>
            <a:r>
              <a:rPr lang="zh-CN" altLang="en-US" dirty="0">
                <a:solidFill>
                  <a:srgbClr val="0000FF"/>
                </a:solidFill>
              </a:rPr>
              <a:t>𝑛</a:t>
            </a:r>
            <a:r>
              <a:rPr lang="en-US" altLang="zh-CN" dirty="0">
                <a:solidFill>
                  <a:srgbClr val="0000FF"/>
                </a:solidFill>
              </a:rPr>
              <a:t>/(</a:t>
            </a:r>
            <a:r>
              <a:rPr lang="zh-CN" altLang="en-US" dirty="0">
                <a:solidFill>
                  <a:srgbClr val="0000FF"/>
                </a:solidFill>
              </a:rPr>
              <a:t>𝑀 </a:t>
            </a:r>
            <a:r>
              <a:rPr lang="en-US" altLang="zh-CN" dirty="0">
                <a:solidFill>
                  <a:srgbClr val="0000FF"/>
                </a:solidFill>
              </a:rPr>
              <a:t>+ ℎ</a:t>
            </a:r>
            <a:r>
              <a:rPr lang="zh-CN" altLang="en-US" dirty="0">
                <a:solidFill>
                  <a:srgbClr val="0000FF"/>
                </a:solidFill>
              </a:rPr>
              <a:t>𝑛</a:t>
            </a:r>
            <a:r>
              <a:rPr lang="en-US" altLang="zh-CN" dirty="0">
                <a:solidFill>
                  <a:srgbClr val="0000FF"/>
                </a:solidFill>
              </a:rPr>
              <a:t>). </a:t>
            </a:r>
          </a:p>
          <a:p>
            <a:r>
              <a:rPr lang="en-US" altLang="zh-CN" dirty="0">
                <a:solidFill>
                  <a:srgbClr val="0000FF"/>
                </a:solidFill>
              </a:rPr>
              <a:t>This estimate does not take into account fragmentation (one higher layer message is sent as multiple lower layer messages) or aggregation (multiple higher layer messages are carried as one lower layer message) that may be present. If frag mentation is used, it will raise the overhead. If aggregation is used, it will lower the overhead.</a:t>
            </a:r>
          </a:p>
        </p:txBody>
      </p:sp>
    </p:spTree>
    <p:extLst>
      <p:ext uri="{BB962C8B-B14F-4D97-AF65-F5344CB8AC3E}">
        <p14:creationId xmlns:p14="http://schemas.microsoft.com/office/powerpoint/2010/main" val="56326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7D2E49-BE53-4935-B65A-39EE0EBFE5ED}"/>
              </a:ext>
            </a:extLst>
          </p:cNvPr>
          <p:cNvSpPr>
            <a:spLocks noGrp="1"/>
          </p:cNvSpPr>
          <p:nvPr>
            <p:ph type="title"/>
          </p:nvPr>
        </p:nvSpPr>
        <p:spPr/>
        <p:txBody>
          <a:bodyPr>
            <a:normAutofit fontScale="90000"/>
          </a:bodyPr>
          <a:lstStyle/>
          <a:p>
            <a:r>
              <a:rPr lang="en-US" altLang="zh-CN" dirty="0"/>
              <a:t>1-9</a:t>
            </a:r>
            <a:endParaRPr lang="zh-CN" altLang="en-US" dirty="0"/>
          </a:p>
        </p:txBody>
      </p:sp>
      <p:sp>
        <p:nvSpPr>
          <p:cNvPr id="3" name="副标题 2">
            <a:extLst>
              <a:ext uri="{FF2B5EF4-FFF2-40B4-BE49-F238E27FC236}">
                <a16:creationId xmlns:a16="http://schemas.microsoft.com/office/drawing/2014/main" id="{99F1C317-9E04-4AC4-9DB5-0DE3DCB5FF97}"/>
              </a:ext>
            </a:extLst>
          </p:cNvPr>
          <p:cNvSpPr>
            <a:spLocks noGrp="1"/>
          </p:cNvSpPr>
          <p:nvPr>
            <p:ph idx="1"/>
          </p:nvPr>
        </p:nvSpPr>
        <p:spPr/>
        <p:txBody>
          <a:bodyPr>
            <a:normAutofit/>
          </a:bodyPr>
          <a:lstStyle/>
          <a:p>
            <a:r>
              <a:rPr lang="en-US" altLang="zh-CN" dirty="0"/>
              <a:t>When a file is transferred between two computers, two acknowledgement strategies are possible. In the first one, the file is chopped up into packets, which are individually acknowledged by the receiver, but the file transfer as a whole is not acknowledged. In the second one, the packets are not acknowledged individually, but the entire file is acknowledged when it arrives. Discuss these two approaches. </a:t>
            </a:r>
          </a:p>
          <a:p>
            <a:endParaRPr lang="zh-CN" altLang="en-US" dirty="0"/>
          </a:p>
          <a:p>
            <a:r>
              <a:rPr lang="en-US" altLang="zh-CN" dirty="0">
                <a:solidFill>
                  <a:srgbClr val="0000FF"/>
                </a:solidFill>
              </a:rPr>
              <a:t>If the network tends to lose packets, it is better to acknowledge each one separately, so the lost packets can be retransmitted. </a:t>
            </a:r>
          </a:p>
          <a:p>
            <a:r>
              <a:rPr lang="en-US" altLang="zh-CN" dirty="0">
                <a:solidFill>
                  <a:srgbClr val="0000FF"/>
                </a:solidFill>
              </a:rPr>
              <a:t>If the network is highly reliable, sending one acknowledgement at the end of the entire transfer saves bandwidth in the normal case (but requires the entire file to be retransmitted if even a single packet is lost).</a:t>
            </a:r>
          </a:p>
        </p:txBody>
      </p:sp>
    </p:spTree>
    <p:extLst>
      <p:ext uri="{BB962C8B-B14F-4D97-AF65-F5344CB8AC3E}">
        <p14:creationId xmlns:p14="http://schemas.microsoft.com/office/powerpoint/2010/main" val="369597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A33F00-2F1C-4634-B6A7-AB4F5B35AF6A}"/>
              </a:ext>
            </a:extLst>
          </p:cNvPr>
          <p:cNvSpPr>
            <a:spLocks noGrp="1"/>
          </p:cNvSpPr>
          <p:nvPr>
            <p:ph type="title"/>
          </p:nvPr>
        </p:nvSpPr>
        <p:spPr/>
        <p:txBody>
          <a:bodyPr>
            <a:normAutofit fontScale="90000"/>
          </a:bodyPr>
          <a:lstStyle/>
          <a:p>
            <a:r>
              <a:rPr lang="en-US" altLang="zh-CN" dirty="0"/>
              <a:t>1-10</a:t>
            </a:r>
            <a:endParaRPr lang="zh-CN" altLang="en-US" dirty="0"/>
          </a:p>
        </p:txBody>
      </p:sp>
      <p:sp>
        <p:nvSpPr>
          <p:cNvPr id="3" name="副标题 2">
            <a:extLst>
              <a:ext uri="{FF2B5EF4-FFF2-40B4-BE49-F238E27FC236}">
                <a16:creationId xmlns:a16="http://schemas.microsoft.com/office/drawing/2014/main" id="{334A667E-5E9E-40F9-99CE-A8D423B33A2C}"/>
              </a:ext>
            </a:extLst>
          </p:cNvPr>
          <p:cNvSpPr>
            <a:spLocks noGrp="1"/>
          </p:cNvSpPr>
          <p:nvPr>
            <p:ph idx="1"/>
          </p:nvPr>
        </p:nvSpPr>
        <p:spPr/>
        <p:txBody>
          <a:bodyPr>
            <a:normAutofit/>
          </a:bodyPr>
          <a:lstStyle/>
          <a:p>
            <a:r>
              <a:rPr lang="en-US" altLang="zh-CN" dirty="0"/>
              <a:t>The ping program allows you to send a test packet to a given location and see how long it takes to get there and back. Try using ping to see how long it takes to get from your location to several known locations. From these data, plot the one-way transit time over the Internet as a function of distance. It is best to use universities since the location of their servers is known very accurately. For example, berkeley.edu is in Berkeley, California; mit.edu is in Cambridge, Massachusetts; vu.nl is in Amsterdam; The Netherlands; www.usyd.edu.au is in Sydney, Australia; and www.uct.ac.za is in Cape Town, South Africa. </a:t>
            </a:r>
          </a:p>
          <a:p>
            <a:endParaRPr lang="zh-CN" altLang="en-US" dirty="0"/>
          </a:p>
        </p:txBody>
      </p:sp>
    </p:spTree>
    <p:extLst>
      <p:ext uri="{BB962C8B-B14F-4D97-AF65-F5344CB8AC3E}">
        <p14:creationId xmlns:p14="http://schemas.microsoft.com/office/powerpoint/2010/main" val="23155448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TotalTime>
  <Words>1340</Words>
  <Application>Microsoft Office PowerPoint</Application>
  <PresentationFormat>宽屏</PresentationFormat>
  <Paragraphs>57</Paragraphs>
  <Slides>10</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等线</vt:lpstr>
      <vt:lpstr>等线 Light</vt:lpstr>
      <vt:lpstr>Arial</vt:lpstr>
      <vt:lpstr>Office 主题​​</vt:lpstr>
      <vt:lpstr>1-1</vt:lpstr>
      <vt:lpstr>1-2</vt:lpstr>
      <vt:lpstr>1-3</vt:lpstr>
      <vt:lpstr>1-4</vt:lpstr>
      <vt:lpstr>1-5</vt:lpstr>
      <vt:lpstr>1-6</vt:lpstr>
      <vt:lpstr>1-7</vt:lpstr>
      <vt:lpstr>1-8</vt:lpstr>
      <vt:lpstr>1-9</vt:lpstr>
      <vt:lpstr>1-10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dc:title>
  <dc:creator>YUE</dc:creator>
  <cp:lastModifiedBy>Yue Zhang</cp:lastModifiedBy>
  <cp:revision>8</cp:revision>
  <dcterms:created xsi:type="dcterms:W3CDTF">2024-09-10T00:43:31Z</dcterms:created>
  <dcterms:modified xsi:type="dcterms:W3CDTF">2024-11-06T00:26:13Z</dcterms:modified>
</cp:coreProperties>
</file>