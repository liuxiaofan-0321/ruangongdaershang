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8"/>
  </p:notesMasterIdLst>
  <p:sldIdLst>
    <p:sldId id="1391" r:id="rId3"/>
    <p:sldId id="371" r:id="rId4"/>
    <p:sldId id="386" r:id="rId5"/>
    <p:sldId id="387" r:id="rId6"/>
    <p:sldId id="432" r:id="rId7"/>
    <p:sldId id="388" r:id="rId8"/>
    <p:sldId id="1386" r:id="rId9"/>
    <p:sldId id="1394" r:id="rId10"/>
    <p:sldId id="1387" r:id="rId11"/>
    <p:sldId id="1393" r:id="rId12"/>
    <p:sldId id="1388" r:id="rId13"/>
    <p:sldId id="1389" r:id="rId14"/>
    <p:sldId id="1392" r:id="rId15"/>
    <p:sldId id="1390" r:id="rId16"/>
    <p:sldId id="1385"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2" autoAdjust="0"/>
    <p:restoredTop sz="85102" autoAdjust="0"/>
  </p:normalViewPr>
  <p:slideViewPr>
    <p:cSldViewPr snapToGrid="0" showGuides="1">
      <p:cViewPr varScale="1">
        <p:scale>
          <a:sx n="90" d="100"/>
          <a:sy n="90" d="100"/>
        </p:scale>
        <p:origin x="363" y="57"/>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zh-CN" altLang="en-US" b="1" dirty="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zh-CN"/>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8.5324179666311589E-2"/>
          <c:y val="0.1895556312656255"/>
          <c:w val="0.91467582033368844"/>
          <c:h val="0.71906889780951022"/>
        </c:manualLayout>
      </c:layout>
      <c:pie3DChart>
        <c:varyColors val="1"/>
        <c:ser>
          <c:idx val="0"/>
          <c:order val="0"/>
          <c:tx>
            <c:strRef>
              <c:f>Sheet1!$B$1</c:f>
              <c:strCache>
                <c:ptCount val="1"/>
                <c:pt idx="0">
                  <c:v>成绩分布</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4C05-4647-940B-DD02F304C04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4C05-4647-940B-DD02F304C04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4C05-4647-940B-DD02F304C04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4C05-4647-940B-DD02F304C04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4C05-4647-940B-DD02F304C04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4C05-4647-940B-DD02F304C045}"/>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期末</c:v>
                </c:pt>
                <c:pt idx="1">
                  <c:v>期中</c:v>
                </c:pt>
                <c:pt idx="2">
                  <c:v>作业</c:v>
                </c:pt>
                <c:pt idx="3">
                  <c:v>出勤</c:v>
                </c:pt>
                <c:pt idx="4">
                  <c:v>自测题</c:v>
                </c:pt>
                <c:pt idx="5">
                  <c:v>课堂参与度</c:v>
                </c:pt>
              </c:strCache>
            </c:strRef>
          </c:cat>
          <c:val>
            <c:numRef>
              <c:f>Sheet1!$B$2:$B$7</c:f>
              <c:numCache>
                <c:formatCode>0%</c:formatCode>
                <c:ptCount val="6"/>
                <c:pt idx="0">
                  <c:v>0.4</c:v>
                </c:pt>
                <c:pt idx="1">
                  <c:v>0.2</c:v>
                </c:pt>
                <c:pt idx="2">
                  <c:v>0.1</c:v>
                </c:pt>
                <c:pt idx="3">
                  <c:v>0.1</c:v>
                </c:pt>
                <c:pt idx="4">
                  <c:v>0.1</c:v>
                </c:pt>
                <c:pt idx="5">
                  <c:v>0.1</c:v>
                </c:pt>
              </c:numCache>
            </c:numRef>
          </c:val>
          <c:extLst>
            <c:ext xmlns:c16="http://schemas.microsoft.com/office/drawing/2014/chart" uri="{C3380CC4-5D6E-409C-BE32-E72D297353CC}">
              <c16:uniqueId val="{0000000C-4C05-4647-940B-DD02F304C045}"/>
            </c:ext>
          </c:extLst>
        </c:ser>
        <c:dLbls>
          <c:showLegendKey val="0"/>
          <c:showVal val="0"/>
          <c:showCatName val="0"/>
          <c:showSerName val="0"/>
          <c:showPercent val="1"/>
          <c:showBubbleSize val="0"/>
          <c:showLeaderLines val="1"/>
        </c:dLbls>
      </c:pie3DChart>
      <c:spPr>
        <a:noFill/>
        <a:ln>
          <a:noFill/>
        </a:ln>
        <a:effectLst/>
      </c:spPr>
    </c:plotArea>
    <c:legend>
      <c:legendPos val="t"/>
      <c:layout>
        <c:manualLayout>
          <c:xMode val="edge"/>
          <c:yMode val="edge"/>
          <c:x val="5.5652966663834735E-2"/>
          <c:y val="3.051774166736616E-3"/>
          <c:w val="0.85922990038143909"/>
          <c:h val="0.22579112908402335"/>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047091939594508"/>
          <c:y val="0.18404821689328663"/>
          <c:w val="0.74939632545931756"/>
          <c:h val="0.64578228581645458"/>
        </c:manualLayout>
      </c:layout>
      <c:pie3DChart>
        <c:varyColors val="1"/>
        <c:ser>
          <c:idx val="0"/>
          <c:order val="0"/>
          <c:tx>
            <c:strRef>
              <c:f>Sheet1!$B$1</c:f>
              <c:strCache>
                <c:ptCount val="1"/>
                <c:pt idx="0">
                  <c:v>占比</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F51A-436A-8685-AA238F3A8FFD}"/>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F51A-436A-8685-AA238F3A8FFD}"/>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出勤表现</c:v>
                </c:pt>
                <c:pt idx="1">
                  <c:v>实验报告</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F51A-436A-8685-AA238F3A8FFD}"/>
            </c:ext>
          </c:extLst>
        </c:ser>
        <c:dLbls>
          <c:showLegendKey val="0"/>
          <c:showVal val="0"/>
          <c:showCatName val="0"/>
          <c:showSerName val="0"/>
          <c:showPercent val="1"/>
          <c:showBubbleSize val="0"/>
          <c:showLeaderLines val="1"/>
        </c:dLbls>
      </c:pie3DChart>
      <c:spPr>
        <a:noFill/>
        <a:ln>
          <a:noFill/>
        </a:ln>
        <a:effectLst/>
      </c:spPr>
    </c:plotArea>
    <c:legend>
      <c:legendPos val="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2026/9/14</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B1A510CD-771F-4539-B6B2-A6394AF3A787}"/>
              </a:ext>
            </a:extLst>
          </p:cNvPr>
          <p:cNvSpPr>
            <a:spLocks noGrp="1"/>
          </p:cNvSpPr>
          <p:nvPr>
            <p:ph type="body" idx="1"/>
          </p:nvPr>
        </p:nvSpPr>
        <p:spPr/>
        <p:txBody>
          <a:bodyPr/>
          <a:lstStyle/>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BED19DE7-5826-4440-A6DD-20C629464834}"/>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a:t>
            </a:fld>
            <a:endParaRPr lang="zh-CN" altLang="en-US"/>
          </a:p>
        </p:txBody>
      </p:sp>
    </p:spTree>
    <p:extLst>
      <p:ext uri="{BB962C8B-B14F-4D97-AF65-F5344CB8AC3E}">
        <p14:creationId xmlns:p14="http://schemas.microsoft.com/office/powerpoint/2010/main" val="905337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EDDE2BC-6670-4D6C-95A8-2EFF736E70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656565"/>
              </a:solidFill>
              <a:effectLst/>
              <a:latin typeface="Gotha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a:t>
            </a:fld>
            <a:endParaRPr lang="zh-CN" altLang="en-US"/>
          </a:p>
        </p:txBody>
      </p:sp>
    </p:spTree>
    <p:extLst>
      <p:ext uri="{BB962C8B-B14F-4D97-AF65-F5344CB8AC3E}">
        <p14:creationId xmlns:p14="http://schemas.microsoft.com/office/powerpoint/2010/main" val="1805439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a:t>
            </a:fld>
            <a:endParaRPr lang="zh-CN" altLang="en-US"/>
          </a:p>
        </p:txBody>
      </p:sp>
    </p:spTree>
    <p:extLst>
      <p:ext uri="{BB962C8B-B14F-4D97-AF65-F5344CB8AC3E}">
        <p14:creationId xmlns:p14="http://schemas.microsoft.com/office/powerpoint/2010/main" val="349107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a:t>
            </a:fld>
            <a:endParaRPr lang="zh-CN" altLang="en-US"/>
          </a:p>
        </p:txBody>
      </p:sp>
    </p:spTree>
    <p:extLst>
      <p:ext uri="{BB962C8B-B14F-4D97-AF65-F5344CB8AC3E}">
        <p14:creationId xmlns:p14="http://schemas.microsoft.com/office/powerpoint/2010/main" val="112361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2026/9/14</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2026/9/14</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5" name="直接连接符 4"/>
          <p:cNvCxnSpPr/>
          <p:nvPr userDrawn="1"/>
        </p:nvCxnSpPr>
        <p:spPr>
          <a:xfrm>
            <a:off x="1280161" y="600376"/>
            <a:ext cx="162666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圆角 7"/>
          <p:cNvSpPr/>
          <p:nvPr userDrawn="1"/>
        </p:nvSpPr>
        <p:spPr>
          <a:xfrm>
            <a:off x="1288266" y="302457"/>
            <a:ext cx="1826519" cy="316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日期占位符 3"/>
          <p:cNvSpPr>
            <a:spLocks noGrp="1"/>
          </p:cNvSpPr>
          <p:nvPr>
            <p:ph type="dt" sz="half" idx="10"/>
          </p:nvPr>
        </p:nvSpPr>
        <p:spPr>
          <a:xfrm>
            <a:off x="838200" y="6356350"/>
            <a:ext cx="2743200" cy="365125"/>
          </a:xfrm>
          <a:prstGeom prst="rect">
            <a:avLst/>
          </a:prstGeom>
        </p:spPr>
        <p:txBody>
          <a:bodyPr/>
          <a:lstStyle/>
          <a:p>
            <a:fld id="{D5B39E98-3F53-48B9-AA36-959170E8AC6C}" type="datetimeFigureOut">
              <a:rPr lang="zh-CN" altLang="en-US" smtClean="0">
                <a:solidFill>
                  <a:prstClr val="black">
                    <a:tint val="75000"/>
                  </a:prstClr>
                </a:solidFill>
              </a:rPr>
              <a:t>2026/9/14</a:t>
            </a:fld>
            <a:endParaRPr lang="zh-CN" altLang="en-US">
              <a:solidFill>
                <a:prstClr val="black">
                  <a:tint val="75000"/>
                </a:prstClr>
              </a:solidFill>
            </a:endParaRPr>
          </a:p>
        </p:txBody>
      </p:sp>
      <p:sp>
        <p:nvSpPr>
          <p:cNvPr id="11" name="页脚占位符 4"/>
          <p:cNvSpPr>
            <a:spLocks noGrp="1"/>
          </p:cNvSpPr>
          <p:nvPr>
            <p:ph type="ftr" sz="quarter" idx="11"/>
          </p:nvPr>
        </p:nvSpPr>
        <p:spPr>
          <a:xfrm>
            <a:off x="4038600" y="6356350"/>
            <a:ext cx="4114800" cy="365125"/>
          </a:xfrm>
          <a:prstGeom prst="rect">
            <a:avLst/>
          </a:prstGeom>
        </p:spPr>
        <p:txBody>
          <a:bodyPr/>
          <a:lstStyle/>
          <a:p>
            <a:endParaRPr lang="zh-CN" altLang="en-US">
              <a:solidFill>
                <a:prstClr val="black">
                  <a:tint val="75000"/>
                </a:prstClr>
              </a:solidFill>
            </a:endParaRPr>
          </a:p>
        </p:txBody>
      </p:sp>
      <p:sp>
        <p:nvSpPr>
          <p:cNvPr id="12" name="灯片编号占位符 5"/>
          <p:cNvSpPr>
            <a:spLocks noGrp="1"/>
          </p:cNvSpPr>
          <p:nvPr>
            <p:ph type="sldNum" sz="quarter" idx="12"/>
          </p:nvPr>
        </p:nvSpPr>
        <p:spPr>
          <a:xfrm>
            <a:off x="8610600" y="6356350"/>
            <a:ext cx="2743200" cy="365125"/>
          </a:xfrm>
          <a:prstGeom prst="rect">
            <a:avLst/>
          </a:prstGeom>
        </p:spPr>
        <p:txBody>
          <a:bodyPr/>
          <a:lstStyle/>
          <a:p>
            <a:fld id="{63023474-2D70-4FFC-BEDA-FAEF84E7081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2107916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2026/9/14</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hyperlink" Target="https://tingwang1122.github.io/"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mailto:51290713071@stu.ecnu.edu.cn"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hyperlink" Target="mailto:52305902027@stu.ecnu.edu.cn" TargetMode="External"/><Relationship Id="rId4" Type="http://schemas.openxmlformats.org/officeDocument/2006/relationships/hyperlink" Target="mailto:52295902002@stu.ecnu.edu.c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forum.huawei.com/enterprise/zh/forum.php?mod=collection&amp;action=view&amp;ctid=341" TargetMode="External"/><Relationship Id="rId2" Type="http://schemas.openxmlformats.org/officeDocument/2006/relationships/hyperlink" Target="https://reproducingnetworkresearch.wordpress.com/" TargetMode="Externa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7.e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package" Target="../embeddings/Microsoft_PowerPoint_Presentation.pptx"/><Relationship Id="rId5" Type="http://schemas.openxmlformats.org/officeDocument/2006/relationships/image" Target="../media/image2.png"/><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C40FF23-4722-48AA-B2FF-07D739834DC9}"/>
              </a:ext>
            </a:extLst>
          </p:cNvPr>
          <p:cNvSpPr txBox="1"/>
          <p:nvPr/>
        </p:nvSpPr>
        <p:spPr>
          <a:xfrm>
            <a:off x="6892915" y="2572966"/>
            <a:ext cx="4480714" cy="1569660"/>
          </a:xfrm>
          <a:prstGeom prst="rect">
            <a:avLst/>
          </a:prstGeom>
          <a:noFill/>
        </p:spPr>
        <p:txBody>
          <a:bodyPr wrap="none" rtlCol="0">
            <a:spAutoFit/>
          </a:bodyPr>
          <a:lstStyle/>
          <a:p>
            <a:pPr algn="ctr"/>
            <a:r>
              <a:rPr lang="zh-CN" altLang="en-US" sz="3200" b="1" dirty="0">
                <a:latin typeface="微软雅黑" panose="020B0503020204020204" pitchFamily="34" charset="-122"/>
                <a:ea typeface="微软雅黑" panose="020B0503020204020204" pitchFamily="34" charset="-122"/>
              </a:rPr>
              <a:t>计算机网络</a:t>
            </a:r>
            <a:r>
              <a:rPr lang="en-US" altLang="zh-CN" sz="3200" b="1" dirty="0">
                <a:latin typeface="微软雅黑" panose="020B0503020204020204" pitchFamily="34" charset="-122"/>
                <a:ea typeface="微软雅黑" panose="020B0503020204020204" pitchFamily="34" charset="-122"/>
              </a:rPr>
              <a:t>2026</a:t>
            </a:r>
            <a:r>
              <a:rPr lang="zh-CN" altLang="en-US" sz="3200" b="1" dirty="0">
                <a:latin typeface="微软雅黑" panose="020B0503020204020204" pitchFamily="34" charset="-122"/>
                <a:ea typeface="微软雅黑" panose="020B0503020204020204" pitchFamily="34" charset="-122"/>
              </a:rPr>
              <a:t>课程群</a:t>
            </a:r>
            <a:endParaRPr lang="en-US" altLang="zh-CN" sz="3200" b="1" dirty="0">
              <a:latin typeface="微软雅黑" panose="020B0503020204020204" pitchFamily="34" charset="-122"/>
              <a:ea typeface="微软雅黑" panose="020B0503020204020204" pitchFamily="34" charset="-122"/>
            </a:endParaRPr>
          </a:p>
          <a:p>
            <a:pPr algn="ctr"/>
            <a:endParaRPr lang="en-US" altLang="zh-CN" sz="3200" b="1" dirty="0">
              <a:latin typeface="微软雅黑" panose="020B0503020204020204" pitchFamily="34" charset="-122"/>
              <a:ea typeface="微软雅黑" panose="020B0503020204020204" pitchFamily="34" charset="-122"/>
            </a:endParaRPr>
          </a:p>
          <a:p>
            <a:pPr algn="ctr"/>
            <a:r>
              <a:rPr lang="zh-CN" altLang="en-US" sz="3200" b="1" dirty="0">
                <a:latin typeface="微软雅黑" panose="020B0503020204020204" pitchFamily="34" charset="-122"/>
                <a:ea typeface="微软雅黑" panose="020B0503020204020204" pitchFamily="34" charset="-122"/>
              </a:rPr>
              <a:t>请扫码入群</a:t>
            </a:r>
          </a:p>
        </p:txBody>
      </p:sp>
      <p:pic>
        <p:nvPicPr>
          <p:cNvPr id="3" name="图片 2">
            <a:extLst>
              <a:ext uri="{FF2B5EF4-FFF2-40B4-BE49-F238E27FC236}">
                <a16:creationId xmlns:a16="http://schemas.microsoft.com/office/drawing/2014/main" id="{656BB732-E5CB-4366-A412-031C1D6CE9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175" y="147947"/>
            <a:ext cx="4690560" cy="6562105"/>
          </a:xfrm>
          <a:prstGeom prst="rect">
            <a:avLst/>
          </a:prstGeom>
        </p:spPr>
      </p:pic>
    </p:spTree>
    <p:extLst>
      <p:ext uri="{BB962C8B-B14F-4D97-AF65-F5344CB8AC3E}">
        <p14:creationId xmlns:p14="http://schemas.microsoft.com/office/powerpoint/2010/main" val="3972835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pic>
        <p:nvPicPr>
          <p:cNvPr id="2" name="Picture 2">
            <a:extLst>
              <a:ext uri="{FF2B5EF4-FFF2-40B4-BE49-F238E27FC236}">
                <a16:creationId xmlns:a16="http://schemas.microsoft.com/office/drawing/2014/main" id="{2A91224E-8D99-478D-9B94-A1B66880B3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Biography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矩形 9">
            <a:extLst>
              <a:ext uri="{FF2B5EF4-FFF2-40B4-BE49-F238E27FC236}">
                <a16:creationId xmlns:a16="http://schemas.microsoft.com/office/drawing/2014/main" id="{BE0D3192-0758-43DB-A342-5703AAB21736}"/>
              </a:ext>
            </a:extLst>
          </p:cNvPr>
          <p:cNvSpPr>
            <a:spLocks noChangeArrowheads="1"/>
          </p:cNvSpPr>
          <p:nvPr/>
        </p:nvSpPr>
        <p:spPr bwMode="auto">
          <a:xfrm>
            <a:off x="911102" y="1303873"/>
            <a:ext cx="10392438" cy="3774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133" tIns="40067" rIns="80133" bIns="40067">
            <a:spAutoFit/>
          </a:bodyPr>
          <a:lstStyle>
            <a:lvl1pPr marL="325438" indent="-325438" defTabSz="871538">
              <a:defRPr>
                <a:solidFill>
                  <a:schemeClr val="tx1"/>
                </a:solidFill>
                <a:latin typeface="Arial" panose="020B0604020202020204" pitchFamily="34" charset="0"/>
                <a:ea typeface="宋体" panose="02010600030101010101" pitchFamily="2" charset="-122"/>
              </a:defRPr>
            </a:lvl1pPr>
            <a:lvl2pPr marL="742950" indent="-285750" defTabSz="871538">
              <a:defRPr>
                <a:solidFill>
                  <a:schemeClr val="tx1"/>
                </a:solidFill>
                <a:latin typeface="Arial" panose="020B0604020202020204" pitchFamily="34" charset="0"/>
                <a:ea typeface="宋体" panose="02010600030101010101" pitchFamily="2" charset="-122"/>
              </a:defRPr>
            </a:lvl2pPr>
            <a:lvl3pPr marL="1143000" indent="-228600" defTabSz="871538">
              <a:defRPr>
                <a:solidFill>
                  <a:schemeClr val="tx1"/>
                </a:solidFill>
                <a:latin typeface="Arial" panose="020B0604020202020204" pitchFamily="34" charset="0"/>
                <a:ea typeface="宋体" panose="02010600030101010101" pitchFamily="2" charset="-122"/>
              </a:defRPr>
            </a:lvl3pPr>
            <a:lvl4pPr marL="1600200" indent="-228600" defTabSz="871538">
              <a:defRPr>
                <a:solidFill>
                  <a:schemeClr val="tx1"/>
                </a:solidFill>
                <a:latin typeface="Arial" panose="020B0604020202020204" pitchFamily="34" charset="0"/>
                <a:ea typeface="宋体" panose="02010600030101010101" pitchFamily="2" charset="-122"/>
              </a:defRPr>
            </a:lvl4pPr>
            <a:lvl5pPr marL="2057400" indent="-228600" defTabSz="871538">
              <a:defRPr>
                <a:solidFill>
                  <a:schemeClr val="tx1"/>
                </a:solidFill>
                <a:latin typeface="Arial" panose="020B0604020202020204" pitchFamily="34" charset="0"/>
                <a:ea typeface="宋体" panose="02010600030101010101" pitchFamily="2" charset="-122"/>
              </a:defRPr>
            </a:lvl5pPr>
            <a:lvl6pPr marL="25146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715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姓  名</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王廷</a:t>
            </a: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单  位</a:t>
            </a:r>
            <a:r>
              <a:rPr lang="en-US" altLang="zh-CN" sz="2000" b="1"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软件工程学院</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en-US" altLang="zh-CN" sz="2000" b="1" dirty="0">
                <a:solidFill>
                  <a:srgbClr val="000000"/>
                </a:solidFill>
                <a:latin typeface="微软雅黑" panose="020B0503020204020204" pitchFamily="34" charset="-122"/>
                <a:ea typeface="微软雅黑" panose="020B0503020204020204" pitchFamily="34" charset="-122"/>
              </a:rPr>
              <a:t>Email:</a:t>
            </a:r>
            <a:r>
              <a:rPr lang="en-US" altLang="zh-CN" sz="2000" dirty="0">
                <a:latin typeface="微软雅黑" panose="020B0503020204020204" pitchFamily="34" charset="-122"/>
                <a:ea typeface="微软雅黑" panose="020B0503020204020204" pitchFamily="34" charset="-122"/>
                <a:cs typeface="Calibri" panose="020F0502020204030204" pitchFamily="34" charset="0"/>
              </a:rPr>
              <a:t>  </a:t>
            </a:r>
            <a:r>
              <a:rPr lang="en-US" altLang="zh-CN" sz="2000" dirty="0">
                <a:solidFill>
                  <a:srgbClr val="000000"/>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rPr>
              <a:t>twang@sei.ecnu.edu.cn</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r>
              <a:rPr lang="en-US" altLang="zh-CN" sz="2000" b="1" dirty="0">
                <a:solidFill>
                  <a:srgbClr val="000000"/>
                </a:solidFill>
                <a:latin typeface="微软雅黑" panose="020B0503020204020204" pitchFamily="34" charset="-122"/>
                <a:ea typeface="微软雅黑" panose="020B0503020204020204" pitchFamily="34" charset="-122"/>
              </a:rPr>
              <a:t>Office</a:t>
            </a:r>
            <a:r>
              <a:rPr lang="zh-CN" altLang="en-US" sz="2000" b="1"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理科大楼</a:t>
            </a:r>
            <a:r>
              <a:rPr lang="en-US" altLang="zh-CN" sz="2000" dirty="0">
                <a:solidFill>
                  <a:srgbClr val="000000"/>
                </a:solidFill>
                <a:latin typeface="微软雅黑" panose="020B0503020204020204" pitchFamily="34" charset="-122"/>
                <a:ea typeface="微软雅黑" panose="020B0503020204020204" pitchFamily="34" charset="-122"/>
              </a:rPr>
              <a:t>B1116</a:t>
            </a:r>
          </a:p>
          <a:p>
            <a:pPr marL="342900" indent="-342900" algn="just">
              <a:spcBef>
                <a:spcPct val="20000"/>
              </a:spcBef>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个人主页：</a:t>
            </a:r>
            <a:r>
              <a:rPr lang="en-US" altLang="zh-CN" sz="2000" dirty="0">
                <a:latin typeface="微软雅黑" panose="020B0503020204020204" pitchFamily="34" charset="-122"/>
                <a:ea typeface="微软雅黑" panose="020B0503020204020204" pitchFamily="34" charset="-122"/>
                <a:hlinkClick r:id="rId4"/>
              </a:rPr>
              <a:t> https://tingwang1122.github.io/</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lgn="just">
              <a:spcBef>
                <a:spcPct val="20000"/>
              </a:spcBef>
              <a:buFont typeface="Arial" panose="020B0604020202020204" pitchFamily="34" charset="0"/>
              <a:buChar char="•"/>
            </a:pPr>
            <a:endParaRPr lang="en-US" altLang="zh-CN" sz="2000" b="1"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个人简介：</a:t>
            </a:r>
            <a:r>
              <a:rPr lang="en-US" altLang="zh-CN" sz="2000" dirty="0">
                <a:solidFill>
                  <a:srgbClr val="000000"/>
                </a:solidFill>
                <a:latin typeface="微软雅黑" panose="020B0503020204020204" pitchFamily="34" charset="-122"/>
                <a:ea typeface="微软雅黑" panose="020B0503020204020204" pitchFamily="34" charset="-122"/>
              </a:rPr>
              <a:t>2015</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8</a:t>
            </a:r>
            <a:r>
              <a:rPr lang="zh-CN" altLang="en-US" sz="2000" dirty="0">
                <a:solidFill>
                  <a:srgbClr val="000000"/>
                </a:solidFill>
                <a:latin typeface="微软雅黑" panose="020B0503020204020204" pitchFamily="34" charset="-122"/>
                <a:ea typeface="微软雅黑" panose="020B0503020204020204" pitchFamily="34" charset="-122"/>
              </a:rPr>
              <a:t>月博士毕业于香港科技大学，计算机科学与工程专业。</a:t>
            </a:r>
            <a:r>
              <a:rPr lang="en-US" altLang="zh-CN" sz="2000" dirty="0">
                <a:solidFill>
                  <a:srgbClr val="000000"/>
                </a:solidFill>
                <a:latin typeface="微软雅黑" panose="020B0503020204020204" pitchFamily="34" charset="-122"/>
                <a:ea typeface="微软雅黑" panose="020B0503020204020204" pitchFamily="34" charset="-122"/>
              </a:rPr>
              <a:t>2016</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-2017</a:t>
            </a:r>
            <a:r>
              <a:rPr lang="zh-CN" altLang="en-US" sz="2000" dirty="0">
                <a:solidFill>
                  <a:srgbClr val="000000"/>
                </a:solidFill>
                <a:latin typeface="微软雅黑" panose="020B0503020204020204" pitchFamily="34" charset="-122"/>
                <a:ea typeface="微软雅黑" panose="020B0503020204020204" pitchFamily="34" charset="-122"/>
              </a:rPr>
              <a:t>年就职于贝尔实验室，任职研究科学家；</a:t>
            </a:r>
            <a:r>
              <a:rPr lang="en-US" altLang="zh-CN" sz="2000" dirty="0">
                <a:solidFill>
                  <a:srgbClr val="000000"/>
                </a:solidFill>
                <a:latin typeface="微软雅黑" panose="020B0503020204020204" pitchFamily="34" charset="-122"/>
                <a:ea typeface="微软雅黑" panose="020B0503020204020204" pitchFamily="34" charset="-122"/>
              </a:rPr>
              <a:t>2017</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-2020</a:t>
            </a:r>
            <a:r>
              <a:rPr lang="zh-CN" altLang="en-US" sz="2000" dirty="0">
                <a:solidFill>
                  <a:srgbClr val="000000"/>
                </a:solidFill>
                <a:latin typeface="微软雅黑" panose="020B0503020204020204" pitchFamily="34" charset="-122"/>
                <a:ea typeface="微软雅黑" panose="020B0503020204020204" pitchFamily="34" charset="-122"/>
              </a:rPr>
              <a:t>年就职于华为上海研究院。</a:t>
            </a:r>
            <a:r>
              <a:rPr lang="en-US" altLang="zh-CN" sz="2000" dirty="0">
                <a:solidFill>
                  <a:srgbClr val="000000"/>
                </a:solidFill>
                <a:latin typeface="微软雅黑" panose="020B0503020204020204" pitchFamily="34" charset="-122"/>
                <a:ea typeface="微软雅黑" panose="020B0503020204020204" pitchFamily="34" charset="-122"/>
              </a:rPr>
              <a:t>2020</a:t>
            </a:r>
            <a:r>
              <a:rPr lang="zh-CN" altLang="en-US" sz="2000" dirty="0">
                <a:solidFill>
                  <a:srgbClr val="000000"/>
                </a:solidFill>
                <a:latin typeface="微软雅黑" panose="020B0503020204020204" pitchFamily="34" charset="-122"/>
                <a:ea typeface="微软雅黑" panose="020B0503020204020204" pitchFamily="34" charset="-122"/>
              </a:rPr>
              <a:t>年</a:t>
            </a:r>
            <a:r>
              <a:rPr lang="en-US" altLang="zh-CN" sz="2000" dirty="0">
                <a:solidFill>
                  <a:srgbClr val="000000"/>
                </a:solidFill>
                <a:latin typeface="微软雅黑" panose="020B0503020204020204" pitchFamily="34" charset="-122"/>
                <a:ea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rPr>
              <a:t>月加入华东师范大学软件工程学院。</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000" b="1" dirty="0">
              <a:solidFill>
                <a:srgbClr val="0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solidFill>
                  <a:srgbClr val="000000"/>
                </a:solidFill>
                <a:latin typeface="微软雅黑" panose="020B0503020204020204" pitchFamily="34" charset="-122"/>
                <a:ea typeface="微软雅黑" panose="020B0503020204020204" pitchFamily="34" charset="-122"/>
              </a:rPr>
              <a:t>研究方向：</a:t>
            </a:r>
            <a:r>
              <a:rPr lang="zh-CN" altLang="en-US" sz="2000" dirty="0">
                <a:solidFill>
                  <a:srgbClr val="000000"/>
                </a:solidFill>
                <a:latin typeface="微软雅黑" panose="020B0503020204020204" pitchFamily="34" charset="-122"/>
                <a:ea typeface="微软雅黑" panose="020B0503020204020204" pitchFamily="34" charset="-122"/>
              </a:rPr>
              <a:t>人工智能理论、边缘</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云计算、智能信息网络、天基算力网络等</a:t>
            </a:r>
            <a:endParaRPr lang="en-US" altLang="zh-CN" sz="2000" dirty="0">
              <a:solidFill>
                <a:srgbClr val="000000"/>
              </a:solidFill>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F334021E-4FD0-4EB1-B976-767A2BE61A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292231" y="266667"/>
            <a:ext cx="1172607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Information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3" name="Rectangle 3">
            <a:extLst>
              <a:ext uri="{FF2B5EF4-FFF2-40B4-BE49-F238E27FC236}">
                <a16:creationId xmlns:a16="http://schemas.microsoft.com/office/drawing/2014/main" id="{54866CCC-F70D-42D6-9166-CD9CCF380AE4}"/>
              </a:ext>
            </a:extLst>
          </p:cNvPr>
          <p:cNvSpPr txBox="1">
            <a:spLocks noChangeArrowheads="1"/>
          </p:cNvSpPr>
          <p:nvPr/>
        </p:nvSpPr>
        <p:spPr>
          <a:xfrm>
            <a:off x="877055" y="1399492"/>
            <a:ext cx="9780826" cy="50970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 Lecture Schedule</a:t>
            </a:r>
          </a:p>
          <a:p>
            <a:pPr lvl="1">
              <a:lnSpc>
                <a:spcPct val="100000"/>
              </a:lnSpc>
            </a:pPr>
            <a:r>
              <a:rPr lang="zh-CN" altLang="en-US" sz="2000" dirty="0">
                <a:latin typeface="Arial" panose="020B0604020202020204" pitchFamily="34" charset="0"/>
                <a:ea typeface="微软雅黑" panose="020B0503020204020204" pitchFamily="34" charset="-122"/>
              </a:rPr>
              <a:t>时间：周二</a:t>
            </a:r>
            <a:r>
              <a:rPr lang="en-US" altLang="zh-CN" sz="2000" dirty="0">
                <a:latin typeface="Arial" panose="020B0604020202020204" pitchFamily="34" charset="0"/>
                <a:ea typeface="微软雅黑" panose="020B0503020204020204" pitchFamily="34" charset="-122"/>
              </a:rPr>
              <a:t> 3-5</a:t>
            </a:r>
            <a:r>
              <a:rPr lang="zh-CN" altLang="en-US" sz="2000" dirty="0">
                <a:latin typeface="Arial" panose="020B0604020202020204" pitchFamily="34" charset="0"/>
                <a:ea typeface="微软雅黑" panose="020B0503020204020204" pitchFamily="34" charset="-122"/>
              </a:rPr>
              <a:t>节，</a:t>
            </a:r>
            <a:r>
              <a:rPr lang="en-US" altLang="zh-CN" sz="2000" dirty="0">
                <a:latin typeface="Arial" panose="020B0604020202020204" pitchFamily="34" charset="0"/>
                <a:ea typeface="微软雅黑" panose="020B0503020204020204" pitchFamily="34" charset="-122"/>
              </a:rPr>
              <a:t>9:50-12:15</a:t>
            </a:r>
            <a:r>
              <a:rPr lang="zh-CN" altLang="en-US" sz="2000" dirty="0">
                <a:latin typeface="Arial" panose="020B0604020202020204" pitchFamily="34" charset="0"/>
                <a:ea typeface="微软雅黑" panose="020B0503020204020204" pitchFamily="34" charset="-122"/>
              </a:rPr>
              <a:t>，</a:t>
            </a:r>
            <a:r>
              <a:rPr lang="zh-CN" altLang="en-US" sz="2000" dirty="0">
                <a:solidFill>
                  <a:srgbClr val="FF0000"/>
                </a:solidFill>
                <a:latin typeface="Arial" panose="020B0604020202020204" pitchFamily="34" charset="0"/>
                <a:ea typeface="微软雅黑" panose="020B0503020204020204" pitchFamily="34" charset="-122"/>
              </a:rPr>
              <a:t>（</a:t>
            </a:r>
            <a:r>
              <a:rPr lang="en-US" altLang="zh-CN" sz="2000" dirty="0">
                <a:solidFill>
                  <a:srgbClr val="FF0000"/>
                </a:solidFill>
                <a:latin typeface="Arial" panose="020B0604020202020204" pitchFamily="34" charset="0"/>
                <a:ea typeface="微软雅黑" panose="020B0503020204020204" pitchFamily="34" charset="-122"/>
              </a:rPr>
              <a:t>1-16</a:t>
            </a:r>
            <a:r>
              <a:rPr lang="zh-CN" altLang="en-US" sz="2000" dirty="0">
                <a:solidFill>
                  <a:srgbClr val="FF0000"/>
                </a:solidFill>
                <a:latin typeface="Arial" panose="020B0604020202020204" pitchFamily="34" charset="0"/>
                <a:ea typeface="微软雅黑" panose="020B0503020204020204" pitchFamily="34" charset="-122"/>
              </a:rPr>
              <a:t>周）</a:t>
            </a:r>
            <a:endParaRPr lang="en-US" altLang="zh-CN" sz="2400" b="1" dirty="0">
              <a:latin typeface="Arial" panose="020B0604020202020204" pitchFamily="34" charset="0"/>
              <a:ea typeface="微软雅黑" panose="020B0503020204020204" pitchFamily="34" charset="-122"/>
            </a:endParaRPr>
          </a:p>
          <a:p>
            <a:pPr lvl="1">
              <a:lnSpc>
                <a:spcPct val="100000"/>
              </a:lnSpc>
            </a:pPr>
            <a:r>
              <a:rPr lang="zh-CN" altLang="en-US" sz="2000" dirty="0">
                <a:latin typeface="Arial" panose="020B0604020202020204" pitchFamily="34" charset="0"/>
                <a:ea typeface="微软雅黑" panose="020B0503020204020204" pitchFamily="34" charset="-122"/>
              </a:rPr>
              <a:t>地点：教书院</a:t>
            </a:r>
            <a:r>
              <a:rPr lang="en-US" altLang="zh-CN" sz="2000" dirty="0">
                <a:latin typeface="Arial" panose="020B0604020202020204" pitchFamily="34" charset="0"/>
                <a:ea typeface="微软雅黑" panose="020B0503020204020204" pitchFamily="34" charset="-122"/>
              </a:rPr>
              <a:t>223</a:t>
            </a:r>
          </a:p>
          <a:p>
            <a:pPr lvl="1">
              <a:lnSpc>
                <a:spcPct val="100000"/>
              </a:lnSpc>
            </a:pPr>
            <a:endParaRPr lang="en-US" altLang="zh-CN" sz="2400" b="1" dirty="0">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Lab</a:t>
            </a:r>
          </a:p>
          <a:p>
            <a:pPr lvl="1">
              <a:lnSpc>
                <a:spcPct val="100000"/>
              </a:lnSpc>
            </a:pPr>
            <a:r>
              <a:rPr lang="zh-CN" altLang="en-US" sz="2000" dirty="0">
                <a:latin typeface="Arial" panose="020B0604020202020204" pitchFamily="34" charset="0"/>
                <a:ea typeface="微软雅黑" panose="020B0503020204020204" pitchFamily="34" charset="-122"/>
              </a:rPr>
              <a:t>时间：周二</a:t>
            </a:r>
            <a:r>
              <a:rPr lang="en-US" altLang="zh-CN" sz="2000" dirty="0">
                <a:latin typeface="Arial" panose="020B0604020202020204" pitchFamily="34" charset="0"/>
                <a:ea typeface="微软雅黑" panose="020B0503020204020204" pitchFamily="34" charset="-122"/>
              </a:rPr>
              <a:t> 8-9</a:t>
            </a:r>
            <a:r>
              <a:rPr lang="zh-CN" altLang="en-US" sz="2000" dirty="0">
                <a:latin typeface="Arial" panose="020B0604020202020204" pitchFamily="34" charset="0"/>
                <a:ea typeface="微软雅黑" panose="020B0503020204020204" pitchFamily="34" charset="-122"/>
              </a:rPr>
              <a:t>节，</a:t>
            </a:r>
            <a:r>
              <a:rPr lang="en-US" altLang="zh-CN" sz="2000" dirty="0">
                <a:latin typeface="Arial" panose="020B0604020202020204" pitchFamily="34" charset="0"/>
                <a:ea typeface="微软雅黑" panose="020B0503020204020204" pitchFamily="34" charset="-122"/>
              </a:rPr>
              <a:t>14:50-16:25</a:t>
            </a:r>
            <a:r>
              <a:rPr lang="zh-CN" altLang="en-US" sz="2000" dirty="0">
                <a:latin typeface="Arial" panose="020B0604020202020204" pitchFamily="34" charset="0"/>
                <a:ea typeface="微软雅黑" panose="020B0503020204020204" pitchFamily="34" charset="-122"/>
              </a:rPr>
              <a:t>，</a:t>
            </a:r>
            <a:r>
              <a:rPr lang="zh-CN" altLang="en-US" sz="2000" dirty="0">
                <a:solidFill>
                  <a:srgbClr val="FF0000"/>
                </a:solidFill>
                <a:latin typeface="Arial" panose="020B0604020202020204" pitchFamily="34" charset="0"/>
                <a:ea typeface="微软雅黑" panose="020B0503020204020204" pitchFamily="34" charset="-122"/>
              </a:rPr>
              <a:t>（</a:t>
            </a:r>
            <a:r>
              <a:rPr lang="en-US" altLang="zh-CN" sz="2000" dirty="0">
                <a:solidFill>
                  <a:srgbClr val="FF0000"/>
                </a:solidFill>
                <a:latin typeface="Arial" panose="020B0604020202020204" pitchFamily="34" charset="0"/>
                <a:ea typeface="微软雅黑" panose="020B0503020204020204" pitchFamily="34" charset="-122"/>
              </a:rPr>
              <a:t>1-15</a:t>
            </a:r>
            <a:r>
              <a:rPr lang="zh-CN" altLang="en-US" sz="2000" dirty="0">
                <a:solidFill>
                  <a:srgbClr val="FF0000"/>
                </a:solidFill>
                <a:latin typeface="Arial" panose="020B0604020202020204" pitchFamily="34" charset="0"/>
                <a:ea typeface="微软雅黑" panose="020B0503020204020204" pitchFamily="34" charset="-122"/>
              </a:rPr>
              <a:t>单周）</a:t>
            </a:r>
            <a:endParaRPr lang="en-US" altLang="zh-CN" sz="2400" b="1" dirty="0">
              <a:latin typeface="Arial" panose="020B0604020202020204" pitchFamily="34" charset="0"/>
              <a:ea typeface="微软雅黑" panose="020B0503020204020204" pitchFamily="34" charset="-122"/>
            </a:endParaRPr>
          </a:p>
          <a:p>
            <a:pPr lvl="1">
              <a:lnSpc>
                <a:spcPct val="100000"/>
              </a:lnSpc>
            </a:pPr>
            <a:r>
              <a:rPr lang="zh-CN" altLang="en-US" sz="2000" dirty="0">
                <a:latin typeface="Arial" panose="020B0604020202020204" pitchFamily="34" charset="0"/>
                <a:ea typeface="微软雅黑" panose="020B0503020204020204" pitchFamily="34" charset="-122"/>
              </a:rPr>
              <a:t>地点：理科大楼</a:t>
            </a:r>
            <a:r>
              <a:rPr lang="en-US" altLang="zh-CN" sz="2000" dirty="0">
                <a:latin typeface="Arial" panose="020B0604020202020204" pitchFamily="34" charset="0"/>
                <a:ea typeface="微软雅黑" panose="020B0503020204020204" pitchFamily="34" charset="-122"/>
              </a:rPr>
              <a:t>A228</a:t>
            </a:r>
            <a:endParaRPr lang="en-US" altLang="zh-CN" sz="2000" dirty="0">
              <a:solidFill>
                <a:srgbClr val="FF0000"/>
              </a:solidFill>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endParaRPr lang="en-US" altLang="zh-CN" sz="2400" b="1" dirty="0">
              <a:latin typeface="Arial" panose="020B0604020202020204" pitchFamily="34" charset="0"/>
              <a:ea typeface="微软雅黑" panose="020B0503020204020204" pitchFamily="34" charset="-122"/>
            </a:endParaRPr>
          </a:p>
          <a:p>
            <a:pPr>
              <a:lnSpc>
                <a:spcPct val="100000"/>
              </a:lnSpc>
              <a:buFont typeface="Wingdings" panose="05000000000000000000" pitchFamily="2" charset="2"/>
              <a:buChar char="Ø"/>
            </a:pPr>
            <a:r>
              <a:rPr lang="en-US" altLang="zh-CN" sz="2400" b="1" dirty="0">
                <a:latin typeface="Arial" panose="020B0604020202020204" pitchFamily="34" charset="0"/>
                <a:ea typeface="微软雅黑" panose="020B0503020204020204" pitchFamily="34" charset="-122"/>
              </a:rPr>
              <a:t>Teaching Assistant</a:t>
            </a:r>
          </a:p>
          <a:p>
            <a:pPr lvl="1">
              <a:lnSpc>
                <a:spcPct val="100000"/>
              </a:lnSpc>
            </a:pPr>
            <a:r>
              <a:rPr lang="zh-CN" altLang="en-US" sz="2000" dirty="0">
                <a:latin typeface="Arial" panose="020B0604020202020204" pitchFamily="34" charset="0"/>
                <a:ea typeface="微软雅黑" panose="020B0503020204020204" pitchFamily="34" charset="-122"/>
              </a:rPr>
              <a:t>理论课：丁方骏 </a:t>
            </a:r>
            <a:r>
              <a:rPr lang="en-US" altLang="zh-CN" sz="2000" dirty="0">
                <a:solidFill>
                  <a:srgbClr val="0563C1"/>
                </a:solidFill>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51290713071@stu.ecnu.edu.</a:t>
            </a:r>
            <a:r>
              <a:rPr lang="en-US" altLang="zh-CN" sz="2000" dirty="0">
                <a:solidFill>
                  <a:schemeClr val="accent1"/>
                </a:solidFill>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cn</a:t>
            </a:r>
            <a:r>
              <a:rPr lang="en-US" altLang="zh-CN" sz="2000" dirty="0">
                <a:solidFill>
                  <a:schemeClr val="accent1"/>
                </a:solidFill>
                <a:latin typeface="Arial" panose="020B0604020202020204" pitchFamily="34" charset="0"/>
                <a:ea typeface="微软雅黑" panose="020B0503020204020204" pitchFamily="34" charset="-122"/>
              </a:rPr>
              <a:t> </a:t>
            </a:r>
          </a:p>
          <a:p>
            <a:pPr lvl="1">
              <a:lnSpc>
                <a:spcPct val="100000"/>
              </a:lnSpc>
            </a:pPr>
            <a:r>
              <a:rPr lang="zh-CN" altLang="en-US" sz="2000" dirty="0">
                <a:latin typeface="Arial" panose="020B0604020202020204" pitchFamily="34" charset="0"/>
                <a:ea typeface="微软雅黑" panose="020B0503020204020204" pitchFamily="34" charset="-122"/>
              </a:rPr>
              <a:t>实践课：郭延杰 </a:t>
            </a:r>
            <a:r>
              <a:rPr lang="en-US" altLang="zh-CN" sz="2000" dirty="0">
                <a:solidFill>
                  <a:schemeClr val="accent1"/>
                </a:solidFill>
                <a:latin typeface="Arial" panose="020B0604020202020204" pitchFamily="34" charset="0"/>
                <a:ea typeface="微软雅黑" panose="020B0503020204020204" pitchFamily="34" charset="-122"/>
                <a:hlinkClick r:id="rId4">
                  <a:extLst>
                    <a:ext uri="{A12FA001-AC4F-418D-AE19-62706E023703}">
                      <ahyp:hlinkClr xmlns:ahyp="http://schemas.microsoft.com/office/drawing/2018/hyperlinkcolor" val="tx"/>
                    </a:ext>
                  </a:extLst>
                </a:hlinkClick>
              </a:rPr>
              <a:t>52295902002@stu.ecnu.edu.cn</a:t>
            </a:r>
            <a:r>
              <a:rPr lang="en-US" altLang="zh-CN" sz="2000" dirty="0">
                <a:solidFill>
                  <a:schemeClr val="accent1"/>
                </a:solidFill>
                <a:latin typeface="Arial" panose="020B0604020202020204" pitchFamily="34" charset="0"/>
                <a:ea typeface="微软雅黑" panose="020B0503020204020204" pitchFamily="34" charset="-122"/>
              </a:rPr>
              <a:t>  </a:t>
            </a:r>
          </a:p>
          <a:p>
            <a:pPr marL="457200" lvl="1" indent="0">
              <a:lnSpc>
                <a:spcPct val="100000"/>
              </a:lnSpc>
              <a:buNone/>
            </a:pPr>
            <a:r>
              <a:rPr lang="en-US" altLang="zh-CN" sz="2000" dirty="0">
                <a:latin typeface="Arial" panose="020B0604020202020204" pitchFamily="34" charset="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朱思蕾 </a:t>
            </a:r>
            <a:r>
              <a:rPr lang="en-US" altLang="zh-CN" sz="2000" dirty="0">
                <a:latin typeface="Arial" panose="020B0604020202020204" pitchFamily="34" charset="0"/>
                <a:ea typeface="微软雅黑" panose="020B0503020204020204" pitchFamily="34" charset="-122"/>
                <a:hlinkClick r:id="rId5"/>
              </a:rPr>
              <a:t>52305902027@stu.ecnu.edu.cn</a:t>
            </a:r>
            <a:r>
              <a:rPr lang="en-US" altLang="zh-CN" sz="2000" dirty="0">
                <a:latin typeface="Arial" panose="020B0604020202020204" pitchFamily="34" charset="0"/>
                <a:ea typeface="微软雅黑" panose="020B0503020204020204" pitchFamily="34" charset="-122"/>
              </a:rPr>
              <a:t> </a:t>
            </a:r>
          </a:p>
          <a:p>
            <a:pPr lvl="1">
              <a:lnSpc>
                <a:spcPct val="100000"/>
              </a:lnSpc>
            </a:pPr>
            <a:endParaRPr lang="en-US" altLang="zh-CN" sz="2000" dirty="0">
              <a:latin typeface="Arial" panose="020B0604020202020204" pitchFamily="34" charset="0"/>
              <a:ea typeface="微软雅黑" panose="020B0503020204020204" pitchFamily="34" charset="-122"/>
            </a:endParaRPr>
          </a:p>
        </p:txBody>
      </p:sp>
      <p:pic>
        <p:nvPicPr>
          <p:cNvPr id="2" name="Picture 2">
            <a:extLst>
              <a:ext uri="{FF2B5EF4-FFF2-40B4-BE49-F238E27FC236}">
                <a16:creationId xmlns:a16="http://schemas.microsoft.com/office/drawing/2014/main" id="{C882AE43-B80A-47DC-8F0C-527BBB6527C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FB91489-68D6-4FFD-8AFB-7A8061E719B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Textbook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2483E9EC-ECBF-42EF-9A07-7578AEAE9009}"/>
              </a:ext>
            </a:extLst>
          </p:cNvPr>
          <p:cNvSpPr txBox="1">
            <a:spLocks noChangeArrowheads="1"/>
          </p:cNvSpPr>
          <p:nvPr/>
        </p:nvSpPr>
        <p:spPr>
          <a:xfrm>
            <a:off x="770031" y="1472144"/>
            <a:ext cx="10394155" cy="9042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Computer Networks. (Sixth Edition)</a:t>
            </a:r>
            <a:r>
              <a:rPr lang="zh-CN" altLang="zh-CN"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Andrew </a:t>
            </a:r>
            <a:r>
              <a:rPr lang="en-US" altLang="zh-CN" sz="2400" dirty="0" err="1">
                <a:latin typeface="Arial" panose="020B0604020202020204" pitchFamily="34" charset="0"/>
                <a:cs typeface="Arial" panose="020B0604020202020204" pitchFamily="34" charset="0"/>
              </a:rPr>
              <a:t>S.Tanenbaum</a:t>
            </a:r>
            <a:r>
              <a:rPr lang="en-US" altLang="zh-CN" sz="2400" dirty="0">
                <a:latin typeface="Arial" panose="020B0604020202020204" pitchFamily="34" charset="0"/>
                <a:cs typeface="Arial" panose="020B0604020202020204" pitchFamily="34" charset="0"/>
              </a:rPr>
              <a:t>, David </a:t>
            </a:r>
            <a:r>
              <a:rPr lang="en-US" altLang="zh-CN" sz="2400" dirty="0" err="1">
                <a:latin typeface="Arial" panose="020B0604020202020204" pitchFamily="34" charset="0"/>
                <a:cs typeface="Arial" panose="020B0604020202020204" pitchFamily="34" charset="0"/>
              </a:rPr>
              <a:t>J.Wetherall</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a:t>
            </a:r>
            <a:endParaRPr lang="en-US" altLang="zh-CN" sz="2400" dirty="0">
              <a:latin typeface="Arial" panose="020B0604020202020204" pitchFamily="34" charset="0"/>
              <a:cs typeface="Arial" panose="020B0604020202020204" pitchFamily="34" charset="0"/>
            </a:endParaRPr>
          </a:p>
        </p:txBody>
      </p:sp>
      <p:pic>
        <p:nvPicPr>
          <p:cNvPr id="7" name="Picture 7" descr="220px-AndrewTanenbaum">
            <a:extLst>
              <a:ext uri="{FF2B5EF4-FFF2-40B4-BE49-F238E27FC236}">
                <a16:creationId xmlns:a16="http://schemas.microsoft.com/office/drawing/2014/main" id="{23369EFD-5AFC-464D-8508-1353ACD17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298" y="2581431"/>
            <a:ext cx="4757396" cy="3568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DE91756D-7E15-4BFC-89F5-F48B0399839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A5B12CB6-0C06-4B09-9C45-BD04AE75A868}"/>
              </a:ext>
            </a:extLst>
          </p:cNvPr>
          <p:cNvPicPr>
            <a:picLocks noChangeAspect="1"/>
          </p:cNvPicPr>
          <p:nvPr/>
        </p:nvPicPr>
        <p:blipFill>
          <a:blip r:embed="rId5"/>
          <a:stretch>
            <a:fillRect/>
          </a:stretch>
        </p:blipFill>
        <p:spPr>
          <a:xfrm>
            <a:off x="6901775" y="2581431"/>
            <a:ext cx="3394953" cy="3568045"/>
          </a:xfrm>
          <a:prstGeom prst="rect">
            <a:avLst/>
          </a:prstGeom>
        </p:spPr>
      </p:pic>
    </p:spTree>
    <p:extLst>
      <p:ext uri="{BB962C8B-B14F-4D97-AF65-F5344CB8AC3E}">
        <p14:creationId xmlns:p14="http://schemas.microsoft.com/office/powerpoint/2010/main" val="410235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References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47" name="Rectangle 3">
            <a:extLst>
              <a:ext uri="{FF2B5EF4-FFF2-40B4-BE49-F238E27FC236}">
                <a16:creationId xmlns:a16="http://schemas.microsoft.com/office/drawing/2014/main" id="{3183B277-59B7-466D-BB26-E3DD3EE7BDCB}"/>
              </a:ext>
            </a:extLst>
          </p:cNvPr>
          <p:cNvSpPr txBox="1">
            <a:spLocks noChangeArrowheads="1"/>
          </p:cNvSpPr>
          <p:nvPr/>
        </p:nvSpPr>
        <p:spPr>
          <a:xfrm>
            <a:off x="530157" y="1391422"/>
            <a:ext cx="4139119" cy="11474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Behrouz </a:t>
            </a:r>
            <a:r>
              <a:rPr lang="en-US" altLang="zh-CN" sz="2000" dirty="0" err="1">
                <a:latin typeface="Arial" panose="020B0604020202020204" pitchFamily="34" charset="0"/>
                <a:cs typeface="Arial" panose="020B0604020202020204" pitchFamily="34" charset="0"/>
              </a:rPr>
              <a:t>A.Forouzan</a:t>
            </a:r>
            <a:r>
              <a:rPr lang="en-US" altLang="zh-CN" sz="2000" dirty="0">
                <a:latin typeface="Arial" panose="020B0604020202020204" pitchFamily="34" charset="0"/>
                <a:cs typeface="Arial" panose="020B0604020202020204" pitchFamily="34" charset="0"/>
              </a:rPr>
              <a:t>, </a:t>
            </a:r>
            <a:r>
              <a:rPr lang="en-US" altLang="zh-CN" sz="2000" b="1" i="1" dirty="0">
                <a:latin typeface="Arial" panose="020B0604020202020204" pitchFamily="34" charset="0"/>
                <a:cs typeface="Arial" panose="020B0604020202020204" pitchFamily="34" charset="0"/>
              </a:rPr>
              <a:t>Data Communications Networking </a:t>
            </a:r>
            <a:r>
              <a:rPr lang="en-US" altLang="zh-CN" sz="2000" dirty="0">
                <a:latin typeface="Arial" panose="020B0604020202020204" pitchFamily="34" charset="0"/>
                <a:cs typeface="Arial" panose="020B0604020202020204" pitchFamily="34" charset="0"/>
              </a:rPr>
              <a:t>(5</a:t>
            </a:r>
            <a:r>
              <a:rPr lang="en-US" altLang="zh-CN" sz="2000" baseline="30000" dirty="0">
                <a:latin typeface="Arial" panose="020B0604020202020204" pitchFamily="34" charset="0"/>
                <a:cs typeface="Arial" panose="020B0604020202020204" pitchFamily="34" charset="0"/>
              </a:rPr>
              <a:t>th</a:t>
            </a:r>
            <a:r>
              <a:rPr lang="en-US" altLang="zh-CN" sz="2000" dirty="0">
                <a:latin typeface="Arial" panose="020B0604020202020204" pitchFamily="34" charset="0"/>
                <a:cs typeface="Arial" panose="020B0604020202020204" pitchFamily="34" charset="0"/>
              </a:rPr>
              <a:t> Edition), McGraw-Hill, 2013.</a:t>
            </a:r>
          </a:p>
          <a:p>
            <a:endParaRPr lang="zh-CN" altLang="en-US" sz="2000" dirty="0">
              <a:latin typeface="Arial" panose="020B0604020202020204" pitchFamily="34" charset="0"/>
              <a:cs typeface="Arial" panose="020B0604020202020204" pitchFamily="34" charset="0"/>
            </a:endParaRPr>
          </a:p>
        </p:txBody>
      </p:sp>
      <p:pic>
        <p:nvPicPr>
          <p:cNvPr id="148" name="图片 1">
            <a:extLst>
              <a:ext uri="{FF2B5EF4-FFF2-40B4-BE49-F238E27FC236}">
                <a16:creationId xmlns:a16="http://schemas.microsoft.com/office/drawing/2014/main" id="{3B7C1A21-5C92-405A-BBC6-38C0E747D8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5061" y="3004558"/>
            <a:ext cx="2012816" cy="2903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Rectangle 3">
            <a:extLst>
              <a:ext uri="{FF2B5EF4-FFF2-40B4-BE49-F238E27FC236}">
                <a16:creationId xmlns:a16="http://schemas.microsoft.com/office/drawing/2014/main" id="{D0DEC995-5590-4D1A-9B29-7A3EBAEA6E61}"/>
              </a:ext>
            </a:extLst>
          </p:cNvPr>
          <p:cNvSpPr txBox="1">
            <a:spLocks noChangeArrowheads="1"/>
          </p:cNvSpPr>
          <p:nvPr/>
        </p:nvSpPr>
        <p:spPr>
          <a:xfrm>
            <a:off x="4888149" y="1391422"/>
            <a:ext cx="6773694" cy="10700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James F. Kurose and Keith W. Ross, </a:t>
            </a:r>
            <a:r>
              <a:rPr lang="en-US" altLang="zh-CN" sz="2000" b="1" i="1" dirty="0">
                <a:latin typeface="Arial" panose="020B0604020202020204" pitchFamily="34" charset="0"/>
                <a:cs typeface="Arial" panose="020B0604020202020204" pitchFamily="34" charset="0"/>
              </a:rPr>
              <a:t>Computer Networking: A Top-Down Approach</a:t>
            </a:r>
            <a:r>
              <a:rPr lang="en-US" altLang="zh-CN" sz="2000" dirty="0">
                <a:latin typeface="Arial" panose="020B0604020202020204" pitchFamily="34" charset="0"/>
                <a:cs typeface="Arial" panose="020B0604020202020204" pitchFamily="34" charset="0"/>
              </a:rPr>
              <a:t> (8th Edition), Addison Wesley, 2020.</a:t>
            </a:r>
          </a:p>
        </p:txBody>
      </p:sp>
      <p:pic>
        <p:nvPicPr>
          <p:cNvPr id="150" name="Picture 5" descr="Dean_Kurose_2">
            <a:extLst>
              <a:ext uri="{FF2B5EF4-FFF2-40B4-BE49-F238E27FC236}">
                <a16:creationId xmlns:a16="http://schemas.microsoft.com/office/drawing/2014/main" id="{7A467EEE-A1CC-48C5-8D5C-5CF7E04AF3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5153" y="3099035"/>
            <a:ext cx="1979803" cy="267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6" descr="Keith W">
            <a:extLst>
              <a:ext uri="{FF2B5EF4-FFF2-40B4-BE49-F238E27FC236}">
                <a16:creationId xmlns:a16="http://schemas.microsoft.com/office/drawing/2014/main" id="{25A248B4-D768-409F-BC6E-D2570C013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9653" y="3099035"/>
            <a:ext cx="2725553" cy="2676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图片 1">
            <a:extLst>
              <a:ext uri="{FF2B5EF4-FFF2-40B4-BE49-F238E27FC236}">
                <a16:creationId xmlns:a16="http://schemas.microsoft.com/office/drawing/2014/main" id="{C078260D-1A6F-4CD7-95A7-7C20C0F8FC9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57303" y="3099035"/>
            <a:ext cx="2223851" cy="267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3B5012CD-11AE-4803-B5E7-7142647270D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5355AABE-3667-4518-9045-298164BBE296}"/>
              </a:ext>
            </a:extLst>
          </p:cNvPr>
          <p:cNvPicPr>
            <a:picLocks noChangeAspect="1"/>
          </p:cNvPicPr>
          <p:nvPr/>
        </p:nvPicPr>
        <p:blipFill>
          <a:blip r:embed="rId8"/>
          <a:stretch>
            <a:fillRect/>
          </a:stretch>
        </p:blipFill>
        <p:spPr>
          <a:xfrm>
            <a:off x="9249653" y="3099035"/>
            <a:ext cx="2725552" cy="2727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AD0471A-95EC-468B-8897-F11F3ECBCF60}"/>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References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5" name="Picture 5" descr="谢希仁">
            <a:extLst>
              <a:ext uri="{FF2B5EF4-FFF2-40B4-BE49-F238E27FC236}">
                <a16:creationId xmlns:a16="http://schemas.microsoft.com/office/drawing/2014/main" id="{220A0AE4-7521-45B9-AECF-771B790BB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97" y="2812309"/>
            <a:ext cx="2241477" cy="202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1">
            <a:extLst>
              <a:ext uri="{FF2B5EF4-FFF2-40B4-BE49-F238E27FC236}">
                <a16:creationId xmlns:a16="http://schemas.microsoft.com/office/drawing/2014/main" id="{07D27DE4-E511-45FE-8AE2-DEBD7AB59FB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06768" y="2812308"/>
            <a:ext cx="1432653" cy="202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F3834882-2F14-416D-900A-62C9AF196AE9}"/>
              </a:ext>
            </a:extLst>
          </p:cNvPr>
          <p:cNvSpPr txBox="1">
            <a:spLocks noChangeArrowheads="1"/>
          </p:cNvSpPr>
          <p:nvPr/>
        </p:nvSpPr>
        <p:spPr>
          <a:xfrm>
            <a:off x="316897" y="1453305"/>
            <a:ext cx="3733530" cy="9396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谢希仁</a:t>
            </a:r>
            <a:r>
              <a:rPr lang="en-US" altLang="zh-CN"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计算机网络</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版</a:t>
            </a:r>
            <a:r>
              <a:rPr lang="en-US" altLang="zh-CN"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电子工业出版社</a:t>
            </a:r>
            <a:r>
              <a:rPr lang="en-US" altLang="zh-CN" sz="2000" dirty="0">
                <a:latin typeface="微软雅黑" panose="020B0503020204020204" pitchFamily="34" charset="-122"/>
                <a:ea typeface="微软雅黑" panose="020B0503020204020204" pitchFamily="34" charset="-122"/>
              </a:rPr>
              <a:t>, 2013.</a:t>
            </a:r>
            <a:endParaRPr lang="zh-CN" altLang="en-US" sz="2000" dirty="0">
              <a:latin typeface="微软雅黑" panose="020B0503020204020204" pitchFamily="34" charset="-122"/>
              <a:ea typeface="微软雅黑" panose="020B0503020204020204" pitchFamily="34" charset="-122"/>
            </a:endParaRPr>
          </a:p>
        </p:txBody>
      </p:sp>
      <p:sp>
        <p:nvSpPr>
          <p:cNvPr id="11" name="Rectangle 3">
            <a:extLst>
              <a:ext uri="{FF2B5EF4-FFF2-40B4-BE49-F238E27FC236}">
                <a16:creationId xmlns:a16="http://schemas.microsoft.com/office/drawing/2014/main" id="{831136DB-2DC5-4E87-89A4-271DB76B4739}"/>
              </a:ext>
            </a:extLst>
          </p:cNvPr>
          <p:cNvSpPr txBox="1">
            <a:spLocks noChangeArrowheads="1"/>
          </p:cNvSpPr>
          <p:nvPr/>
        </p:nvSpPr>
        <p:spPr>
          <a:xfrm>
            <a:off x="5341476" y="1453305"/>
            <a:ext cx="5802190" cy="11230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latin typeface="Arial" panose="020B0604020202020204" pitchFamily="34" charset="0"/>
                <a:cs typeface="Arial" panose="020B0604020202020204" pitchFamily="34" charset="0"/>
              </a:rPr>
              <a:t>Larry </a:t>
            </a:r>
            <a:r>
              <a:rPr lang="en-US" altLang="zh-CN" sz="2000" dirty="0" err="1">
                <a:latin typeface="Arial" panose="020B0604020202020204" pitchFamily="34" charset="0"/>
                <a:cs typeface="Arial" panose="020B0604020202020204" pitchFamily="34" charset="0"/>
              </a:rPr>
              <a:t>L.Peterson</a:t>
            </a:r>
            <a:r>
              <a:rPr lang="en-US" altLang="zh-CN" sz="2000" dirty="0">
                <a:latin typeface="Arial" panose="020B0604020202020204" pitchFamily="34" charset="0"/>
                <a:cs typeface="Arial" panose="020B0604020202020204" pitchFamily="34" charset="0"/>
              </a:rPr>
              <a:t>, Bruce </a:t>
            </a:r>
            <a:r>
              <a:rPr lang="en-US" altLang="zh-CN" sz="2000" dirty="0" err="1">
                <a:latin typeface="Arial" panose="020B0604020202020204" pitchFamily="34" charset="0"/>
                <a:cs typeface="Arial" panose="020B0604020202020204" pitchFamily="34" charset="0"/>
              </a:rPr>
              <a:t>S.Davie</a:t>
            </a:r>
            <a:r>
              <a:rPr lang="zh-CN" altLang="en-US" sz="2000" dirty="0">
                <a:latin typeface="Arial" panose="020B0604020202020204" pitchFamily="34" charset="0"/>
                <a:cs typeface="Arial" panose="020B0604020202020204" pitchFamily="34" charset="0"/>
              </a:rPr>
              <a:t>， </a:t>
            </a:r>
            <a:r>
              <a:rPr lang="en-US" altLang="zh-CN" sz="2000" b="1" i="1" dirty="0">
                <a:latin typeface="Arial" panose="020B0604020202020204" pitchFamily="34" charset="0"/>
                <a:cs typeface="Arial" panose="020B0604020202020204" pitchFamily="34" charset="0"/>
              </a:rPr>
              <a:t>Computer Networks: A Systems Approach</a:t>
            </a:r>
            <a:r>
              <a:rPr lang="en-US" altLang="zh-CN" sz="2000" dirty="0">
                <a:latin typeface="Arial" panose="020B0604020202020204" pitchFamily="34" charset="0"/>
                <a:cs typeface="Arial" panose="020B0604020202020204" pitchFamily="34" charset="0"/>
              </a:rPr>
              <a:t> (5th Edition)</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Morgan Kaufmann, 2012.</a:t>
            </a:r>
            <a:endParaRPr lang="zh-CN" altLang="en-US" sz="2000" dirty="0">
              <a:latin typeface="Arial" panose="020B0604020202020204" pitchFamily="34" charset="0"/>
              <a:cs typeface="Arial" panose="020B0604020202020204" pitchFamily="34" charset="0"/>
            </a:endParaRPr>
          </a:p>
        </p:txBody>
      </p:sp>
      <p:pic>
        <p:nvPicPr>
          <p:cNvPr id="12" name="Picture 4" descr="计算机网络：系统方法(中文4ed)">
            <a:extLst>
              <a:ext uri="{FF2B5EF4-FFF2-40B4-BE49-F238E27FC236}">
                <a16:creationId xmlns:a16="http://schemas.microsoft.com/office/drawing/2014/main" id="{D1A8C5EB-4EFB-4F33-9D8E-0592FFB745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0820" y="2812308"/>
            <a:ext cx="1376953" cy="198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计算机网络：系统方法(英文版">
            <a:extLst>
              <a:ext uri="{FF2B5EF4-FFF2-40B4-BE49-F238E27FC236}">
                <a16:creationId xmlns:a16="http://schemas.microsoft.com/office/drawing/2014/main" id="{1841236C-05F3-4309-958E-F4D9C71473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6611" y="2812308"/>
            <a:ext cx="1525509"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Bruce S">
            <a:extLst>
              <a:ext uri="{FF2B5EF4-FFF2-40B4-BE49-F238E27FC236}">
                <a16:creationId xmlns:a16="http://schemas.microsoft.com/office/drawing/2014/main" id="{D55A8255-FA14-47C7-ACDB-A97010A8F7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6475" y="2812308"/>
            <a:ext cx="1591543"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Larry Peterson">
            <a:extLst>
              <a:ext uri="{FF2B5EF4-FFF2-40B4-BE49-F238E27FC236}">
                <a16:creationId xmlns:a16="http://schemas.microsoft.com/office/drawing/2014/main" id="{BA42F0CA-D3E9-44DA-836A-007FCF7AFC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2403" y="2812308"/>
            <a:ext cx="1520146" cy="198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BC097313-9D05-41D9-8233-1C2433F27E8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110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C183068-0FDD-4163-97B4-FC0B9CE0F306}"/>
              </a:ext>
            </a:extLst>
          </p:cNvPr>
          <p:cNvPicPr>
            <a:picLocks noChangeAspect="1"/>
          </p:cNvPicPr>
          <p:nvPr/>
        </p:nvPicPr>
        <p:blipFill>
          <a:blip r:embed="rId2"/>
          <a:stretch>
            <a:fillRect/>
          </a:stretch>
        </p:blipFill>
        <p:spPr>
          <a:xfrm>
            <a:off x="332267" y="2564229"/>
            <a:ext cx="11410507" cy="2906822"/>
          </a:xfrm>
          <a:prstGeom prst="rect">
            <a:avLst/>
          </a:prstGeom>
        </p:spPr>
      </p:pic>
      <p:sp>
        <p:nvSpPr>
          <p:cNvPr id="4" name="矩形 3">
            <a:extLst>
              <a:ext uri="{FF2B5EF4-FFF2-40B4-BE49-F238E27FC236}">
                <a16:creationId xmlns:a16="http://schemas.microsoft.com/office/drawing/2014/main" id="{AC84EA24-1AC8-4897-B3C7-1F3C56CB5100}"/>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Resources</a:t>
            </a:r>
            <a:r>
              <a:rPr lang="zh-CN" altLang="en-US" sz="2800" b="1" kern="0" dirty="0">
                <a:solidFill>
                  <a:srgbClr val="C00000"/>
                </a:solidFill>
                <a:latin typeface="微软雅黑" panose="020B0503020204020204" pitchFamily="34" charset="-122"/>
                <a:ea typeface="微软雅黑" panose="020B0503020204020204" pitchFamily="34" charset="-122"/>
              </a:rPr>
              <a:t>：超星平台</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A5E7EAC7-FB99-4BBE-B1AD-06F6DDD0690F}"/>
              </a:ext>
            </a:extLst>
          </p:cNvPr>
          <p:cNvSpPr txBox="1"/>
          <p:nvPr/>
        </p:nvSpPr>
        <p:spPr>
          <a:xfrm>
            <a:off x="2966483" y="1717157"/>
            <a:ext cx="604461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网址：</a:t>
            </a:r>
            <a:r>
              <a:rPr lang="en-US" altLang="zh-CN" dirty="0">
                <a:latin typeface="微软雅黑" panose="020B0503020204020204" pitchFamily="34" charset="-122"/>
                <a:ea typeface="微软雅黑" panose="020B0503020204020204" pitchFamily="34" charset="-122"/>
              </a:rPr>
              <a:t> https://ecnu.fanya.chaoxing.com/portal</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8127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Other Resources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内容占位符 2">
            <a:extLst>
              <a:ext uri="{FF2B5EF4-FFF2-40B4-BE49-F238E27FC236}">
                <a16:creationId xmlns:a16="http://schemas.microsoft.com/office/drawing/2014/main" id="{F2EA7BDD-6B67-4B93-8A4D-A7C3F38A7408}"/>
              </a:ext>
            </a:extLst>
          </p:cNvPr>
          <p:cNvSpPr txBox="1">
            <a:spLocks/>
          </p:cNvSpPr>
          <p:nvPr/>
        </p:nvSpPr>
        <p:spPr>
          <a:xfrm>
            <a:off x="565750" y="1267844"/>
            <a:ext cx="11338741" cy="5123228"/>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pPr>
            <a:r>
              <a:rPr lang="en-US" altLang="zh-CN" sz="2200" b="1" dirty="0">
                <a:latin typeface="Arial" panose="020B0604020202020204" pitchFamily="34" charset="0"/>
                <a:ea typeface="微软雅黑" panose="020B0503020204020204" pitchFamily="34" charset="-122"/>
              </a:rPr>
              <a:t>REPRODUCING NETWORK RESEARCH</a:t>
            </a:r>
          </a:p>
          <a:p>
            <a:pPr lvl="1">
              <a:spcBef>
                <a:spcPts val="1200"/>
              </a:spcBef>
              <a:spcAft>
                <a:spcPts val="600"/>
              </a:spcAft>
            </a:pPr>
            <a:r>
              <a:rPr lang="en-US" altLang="zh-CN" sz="2200" dirty="0">
                <a:latin typeface="Arial" panose="020B0604020202020204" pitchFamily="34" charset="0"/>
                <a:ea typeface="微软雅黑" panose="020B0503020204020204" pitchFamily="34" charset="-122"/>
                <a:hlinkClick r:id="rId2">
                  <a:extLst>
                    <a:ext uri="{A12FA001-AC4F-418D-AE19-62706E023703}">
                      <ahyp:hlinkClr xmlns:ahyp="http://schemas.microsoft.com/office/drawing/2018/hyperlinkcolor" val="tx"/>
                    </a:ext>
                  </a:extLst>
                </a:hlinkClick>
              </a:rPr>
              <a:t>https://reproducingnetworkresearch.wordpress.com/</a:t>
            </a:r>
            <a:endParaRPr lang="en-US" altLang="zh-CN" sz="2200" dirty="0">
              <a:latin typeface="Arial" panose="020B0604020202020204" pitchFamily="34" charset="0"/>
              <a:ea typeface="微软雅黑" panose="020B0503020204020204" pitchFamily="34" charset="-122"/>
            </a:endParaRP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期刊杂志：</a:t>
            </a:r>
            <a:endParaRPr lang="en-US" altLang="zh-CN" sz="2200" b="1" dirty="0">
              <a:latin typeface="Arial" panose="020B0604020202020204" pitchFamily="34" charset="0"/>
              <a:ea typeface="微软雅黑" panose="020B0503020204020204" pitchFamily="34" charset="-122"/>
            </a:endParaRPr>
          </a:p>
          <a:p>
            <a:pPr lvl="1">
              <a:lnSpc>
                <a:spcPct val="120000"/>
              </a:lnSpc>
              <a:spcBef>
                <a:spcPts val="1200"/>
              </a:spcBef>
              <a:spcAft>
                <a:spcPts val="600"/>
              </a:spcAft>
            </a:pPr>
            <a:r>
              <a:rPr lang="en-US" altLang="zh-CN" sz="2200" dirty="0">
                <a:latin typeface="Arial" panose="020B0604020202020204" pitchFamily="34" charset="0"/>
                <a:ea typeface="微软雅黑" panose="020B0503020204020204" pitchFamily="34" charset="-122"/>
              </a:rPr>
              <a:t>IEEE Communication Mag., ACM/IEEE Transactions on Networking</a:t>
            </a:r>
            <a:r>
              <a:rPr lang="zh-CN" altLang="en-US" sz="2200" dirty="0">
                <a:latin typeface="Arial" panose="020B0604020202020204" pitchFamily="34" charset="0"/>
                <a:ea typeface="微软雅黑" panose="020B0503020204020204" pitchFamily="34" charset="-122"/>
              </a:rPr>
              <a:t>，</a:t>
            </a:r>
            <a:r>
              <a:rPr lang="en-US" altLang="zh-CN" sz="2200" dirty="0">
                <a:latin typeface="Arial" panose="020B0604020202020204" pitchFamily="34" charset="0"/>
                <a:ea typeface="微软雅黑" panose="020B0503020204020204" pitchFamily="34" charset="-122"/>
              </a:rPr>
              <a:t>IEEE JSAC, IEEE TMC, Computer Networks, IEEE TWC,</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IEEE</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TCC,</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IEEE</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TPDS…</a:t>
            </a: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知名会议：</a:t>
            </a:r>
            <a:endParaRPr lang="en-US" altLang="zh-CN" sz="2200" b="1" dirty="0">
              <a:latin typeface="Arial" panose="020B0604020202020204" pitchFamily="34" charset="0"/>
              <a:ea typeface="微软雅黑" panose="020B0503020204020204" pitchFamily="34" charset="-122"/>
            </a:endParaRPr>
          </a:p>
          <a:p>
            <a:pPr lvl="1">
              <a:spcBef>
                <a:spcPts val="1200"/>
              </a:spcBef>
              <a:spcAft>
                <a:spcPts val="600"/>
              </a:spcAft>
            </a:pPr>
            <a:r>
              <a:rPr lang="en-US" altLang="zh-CN" sz="2200" dirty="0">
                <a:latin typeface="Arial" panose="020B0604020202020204" pitchFamily="34" charset="0"/>
                <a:ea typeface="微软雅黑" panose="020B0503020204020204" pitchFamily="34" charset="-122"/>
              </a:rPr>
              <a:t>SIGCOMM, NSDI, INFOCOM,</a:t>
            </a:r>
            <a:r>
              <a:rPr lang="zh-CN" altLang="en-US" sz="2200" dirty="0">
                <a:latin typeface="Arial" panose="020B0604020202020204" pitchFamily="34" charset="0"/>
                <a:ea typeface="微软雅黑" panose="020B0503020204020204" pitchFamily="34" charset="-122"/>
              </a:rPr>
              <a:t> </a:t>
            </a:r>
            <a:r>
              <a:rPr lang="en-US" altLang="zh-CN" sz="2200" dirty="0" err="1">
                <a:latin typeface="Arial" panose="020B0604020202020204" pitchFamily="34" charset="0"/>
                <a:ea typeface="微软雅黑" panose="020B0503020204020204" pitchFamily="34" charset="-122"/>
              </a:rPr>
              <a:t>MobiCom</a:t>
            </a:r>
            <a:r>
              <a:rPr lang="en-US" altLang="zh-CN" sz="2200" dirty="0">
                <a:latin typeface="Arial" panose="020B0604020202020204" pitchFamily="34" charset="0"/>
                <a:ea typeface="微软雅黑" panose="020B0503020204020204" pitchFamily="34" charset="-122"/>
              </a:rPr>
              <a:t>,</a:t>
            </a:r>
            <a:r>
              <a:rPr lang="zh-CN" altLang="en-US" sz="2200" dirty="0">
                <a:latin typeface="Arial" panose="020B0604020202020204" pitchFamily="34" charset="0"/>
                <a:ea typeface="微软雅黑" panose="020B0503020204020204" pitchFamily="34" charset="-122"/>
              </a:rPr>
              <a:t> </a:t>
            </a:r>
            <a:r>
              <a:rPr lang="en-US" altLang="zh-CN" sz="2200" dirty="0" err="1">
                <a:latin typeface="Arial" panose="020B0604020202020204" pitchFamily="34" charset="0"/>
                <a:ea typeface="微软雅黑" panose="020B0503020204020204" pitchFamily="34" charset="-122"/>
              </a:rPr>
              <a:t>CoNext</a:t>
            </a:r>
            <a:r>
              <a:rPr lang="en-US" altLang="zh-CN" sz="2200" dirty="0">
                <a:latin typeface="Arial" panose="020B0604020202020204" pitchFamily="34" charset="0"/>
                <a:ea typeface="微软雅黑" panose="020B0503020204020204" pitchFamily="34" charset="-122"/>
              </a:rPr>
              <a:t>, ICNP, </a:t>
            </a:r>
            <a:r>
              <a:rPr lang="en-US" altLang="zh-CN" sz="2200" dirty="0" err="1">
                <a:latin typeface="Arial" panose="020B0604020202020204" pitchFamily="34" charset="0"/>
                <a:ea typeface="微软雅黑" panose="020B0503020204020204" pitchFamily="34" charset="-122"/>
              </a:rPr>
              <a:t>IWQoS</a:t>
            </a:r>
            <a:r>
              <a:rPr lang="en-US" altLang="zh-CN" sz="2200" dirty="0">
                <a:latin typeface="Arial" panose="020B0604020202020204" pitchFamily="34" charset="0"/>
                <a:ea typeface="微软雅黑" panose="020B0503020204020204" pitchFamily="34" charset="-122"/>
              </a:rPr>
              <a:t>,</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SECON,</a:t>
            </a:r>
            <a:r>
              <a:rPr lang="zh-CN" altLang="en-US" sz="2200" dirty="0">
                <a:latin typeface="Arial" panose="020B0604020202020204" pitchFamily="34" charset="0"/>
                <a:ea typeface="微软雅黑" panose="020B0503020204020204" pitchFamily="34" charset="-122"/>
              </a:rPr>
              <a:t> </a:t>
            </a:r>
            <a:r>
              <a:rPr lang="en-US" altLang="zh-CN" sz="2200" dirty="0">
                <a:latin typeface="Arial" panose="020B0604020202020204" pitchFamily="34" charset="0"/>
                <a:ea typeface="微软雅黑" panose="020B0503020204020204" pitchFamily="34" charset="-122"/>
              </a:rPr>
              <a:t>ICC, </a:t>
            </a:r>
            <a:r>
              <a:rPr lang="en-US" altLang="zh-CN" sz="2200" dirty="0" err="1">
                <a:latin typeface="Arial" panose="020B0604020202020204" pitchFamily="34" charset="0"/>
                <a:ea typeface="微软雅黑" panose="020B0503020204020204" pitchFamily="34" charset="-122"/>
              </a:rPr>
              <a:t>Globecom</a:t>
            </a:r>
            <a:r>
              <a:rPr lang="en-US" altLang="zh-CN" sz="2200" dirty="0">
                <a:latin typeface="Arial" panose="020B0604020202020204" pitchFamily="34" charset="0"/>
                <a:ea typeface="微软雅黑" panose="020B0503020204020204" pitchFamily="34" charset="-122"/>
              </a:rPr>
              <a:t>…</a:t>
            </a:r>
          </a:p>
          <a:p>
            <a:pPr>
              <a:spcBef>
                <a:spcPts val="1200"/>
              </a:spcBef>
              <a:spcAft>
                <a:spcPts val="600"/>
              </a:spcAft>
            </a:pPr>
            <a:r>
              <a:rPr lang="zh-CN" altLang="en-US" sz="2200" b="1" dirty="0">
                <a:latin typeface="Arial" panose="020B0604020202020204" pitchFamily="34" charset="0"/>
                <a:ea typeface="微软雅黑" panose="020B0503020204020204" pitchFamily="34" charset="-122"/>
              </a:rPr>
              <a:t>网络资源：</a:t>
            </a:r>
            <a:endParaRPr lang="en-US" altLang="zh-CN" sz="2200" b="1" dirty="0">
              <a:latin typeface="Arial" panose="020B0604020202020204" pitchFamily="34" charset="0"/>
              <a:ea typeface="微软雅黑" panose="020B0503020204020204" pitchFamily="34" charset="-122"/>
            </a:endParaRPr>
          </a:p>
          <a:p>
            <a:pPr lvl="1">
              <a:lnSpc>
                <a:spcPct val="120000"/>
              </a:lnSpc>
              <a:spcBef>
                <a:spcPts val="1200"/>
              </a:spcBef>
              <a:spcAft>
                <a:spcPts val="600"/>
              </a:spcAft>
            </a:pPr>
            <a:r>
              <a:rPr lang="en-US" altLang="zh-CN" sz="1800" dirty="0">
                <a:latin typeface="Arial" panose="020B0604020202020204" pitchFamily="34" charset="0"/>
                <a:ea typeface="微软雅黑" panose="020B0503020204020204" pitchFamily="34" charset="-122"/>
              </a:rPr>
              <a:t>IP</a:t>
            </a:r>
            <a:r>
              <a:rPr lang="zh-CN" altLang="en-US" sz="1800" dirty="0">
                <a:latin typeface="Arial" panose="020B0604020202020204" pitchFamily="34" charset="0"/>
                <a:ea typeface="微软雅黑" panose="020B0503020204020204" pitchFamily="34" charset="-122"/>
              </a:rPr>
              <a:t>基础系列</a:t>
            </a:r>
            <a:r>
              <a:rPr lang="en-US" altLang="zh-CN" sz="1800" dirty="0">
                <a:latin typeface="Arial" panose="020B0604020202020204" pitchFamily="34" charset="0"/>
                <a:ea typeface="微软雅黑" panose="020B0503020204020204" pitchFamily="34" charset="-122"/>
              </a:rPr>
              <a:t>MOOC</a:t>
            </a:r>
            <a:r>
              <a:rPr lang="zh-CN" altLang="en-US" sz="1800" dirty="0">
                <a:latin typeface="Arial" panose="020B0604020202020204" pitchFamily="34" charset="0"/>
                <a:ea typeface="微软雅黑" panose="020B0503020204020204" pitchFamily="34" charset="-122"/>
              </a:rPr>
              <a:t>视频（华为，朱仕耿）：</a:t>
            </a:r>
            <a:r>
              <a:rPr lang="en-US" altLang="zh-CN" sz="2200" dirty="0">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https://forum.huawei.com/enterprise/zh/forum.php?mod=collection&amp;action=view&amp;ctid=341</a:t>
            </a:r>
            <a:endParaRPr lang="zh-CN" altLang="en-US" sz="2200" dirty="0">
              <a:latin typeface="Arial" panose="020B0604020202020204" pitchFamily="34" charset="0"/>
              <a:ea typeface="微软雅黑" panose="020B0503020204020204" pitchFamily="34" charset="-122"/>
            </a:endParaRPr>
          </a:p>
          <a:p>
            <a:pPr lvl="1">
              <a:spcBef>
                <a:spcPts val="1200"/>
              </a:spcBef>
              <a:spcAft>
                <a:spcPts val="600"/>
              </a:spcAft>
            </a:pPr>
            <a:r>
              <a:rPr lang="en-US" altLang="zh-CN" sz="1800" dirty="0">
                <a:latin typeface="Arial" panose="020B0604020202020204" pitchFamily="34" charset="0"/>
                <a:ea typeface="微软雅黑" panose="020B0503020204020204" pitchFamily="34" charset="-122"/>
              </a:rPr>
              <a:t>《</a:t>
            </a:r>
            <a:r>
              <a:rPr lang="zh-CN" altLang="en-US" sz="1800" dirty="0">
                <a:latin typeface="Arial" panose="020B0604020202020204" pitchFamily="34" charset="0"/>
                <a:ea typeface="微软雅黑" panose="020B0503020204020204" pitchFamily="34" charset="-122"/>
              </a:rPr>
              <a:t>一个报文的路由器之旅</a:t>
            </a:r>
            <a:r>
              <a:rPr lang="en-US" altLang="zh-CN" sz="1800" dirty="0">
                <a:latin typeface="Arial" panose="020B0604020202020204" pitchFamily="34" charset="0"/>
                <a:ea typeface="微软雅黑" panose="020B0503020204020204" pitchFamily="34" charset="-122"/>
              </a:rPr>
              <a:t>》</a:t>
            </a:r>
            <a:r>
              <a:rPr lang="zh-CN" altLang="en-US" sz="1800" dirty="0">
                <a:latin typeface="Arial" panose="020B0604020202020204" pitchFamily="34" charset="0"/>
                <a:ea typeface="微软雅黑" panose="020B0503020204020204" pitchFamily="34" charset="-122"/>
              </a:rPr>
              <a:t>华为</a:t>
            </a:r>
            <a:endParaRPr lang="en-US" altLang="zh-CN" sz="1800" dirty="0">
              <a:latin typeface="Arial" panose="020B0604020202020204" pitchFamily="34" charset="0"/>
              <a:ea typeface="微软雅黑" panose="020B0503020204020204" pitchFamily="34" charset="-122"/>
            </a:endParaRPr>
          </a:p>
        </p:txBody>
      </p:sp>
      <p:pic>
        <p:nvPicPr>
          <p:cNvPr id="2" name="Picture 2">
            <a:extLst>
              <a:ext uri="{FF2B5EF4-FFF2-40B4-BE49-F238E27FC236}">
                <a16:creationId xmlns:a16="http://schemas.microsoft.com/office/drawing/2014/main" id="{F8CC3027-9624-4A50-A225-B296DCC800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46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Grading Criteria</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5" name="内容占位符 14">
            <a:extLst>
              <a:ext uri="{FF2B5EF4-FFF2-40B4-BE49-F238E27FC236}">
                <a16:creationId xmlns:a16="http://schemas.microsoft.com/office/drawing/2014/main" id="{874C15FD-2046-47A3-A6DC-6C179EBB6588}"/>
              </a:ext>
            </a:extLst>
          </p:cNvPr>
          <p:cNvGraphicFramePr>
            <a:graphicFrameLocks/>
          </p:cNvGraphicFramePr>
          <p:nvPr>
            <p:extLst>
              <p:ext uri="{D42A27DB-BD31-4B8C-83A1-F6EECF244321}">
                <p14:modId xmlns:p14="http://schemas.microsoft.com/office/powerpoint/2010/main" val="2488207768"/>
              </p:ext>
            </p:extLst>
          </p:nvPr>
        </p:nvGraphicFramePr>
        <p:xfrm>
          <a:off x="7297050" y="2461438"/>
          <a:ext cx="4898707" cy="3113944"/>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a:extLst>
              <a:ext uri="{FF2B5EF4-FFF2-40B4-BE49-F238E27FC236}">
                <a16:creationId xmlns:a16="http://schemas.microsoft.com/office/drawing/2014/main" id="{45787278-99DC-434D-B8C2-85DE37893A13}"/>
              </a:ext>
            </a:extLst>
          </p:cNvPr>
          <p:cNvSpPr txBox="1"/>
          <p:nvPr/>
        </p:nvSpPr>
        <p:spPr>
          <a:xfrm>
            <a:off x="459423" y="1303884"/>
            <a:ext cx="6725985" cy="4866204"/>
          </a:xfrm>
          <a:prstGeom prst="rect">
            <a:avLst/>
          </a:prstGeom>
          <a:noFill/>
        </p:spPr>
        <p:txBody>
          <a:bodyPr wrap="square" rtlCol="0">
            <a:spAutoFit/>
          </a:bodyPr>
          <a:lstStyle/>
          <a:p>
            <a:pPr marL="342900" indent="-342900" algn="just">
              <a:lnSpc>
                <a:spcPct val="125000"/>
              </a:lnSpc>
              <a:buFont typeface="Wingdings" panose="05000000000000000000" pitchFamily="2" charset="2"/>
              <a:buChar char="Ø"/>
            </a:pPr>
            <a:r>
              <a:rPr lang="zh-CN" altLang="en-US" sz="2000" b="1" kern="100" spc="100" dirty="0">
                <a:latin typeface="微软雅黑" panose="020B0503020204020204" pitchFamily="34" charset="-122"/>
                <a:ea typeface="微软雅黑" panose="020B0503020204020204" pitchFamily="34" charset="-122"/>
              </a:rPr>
              <a:t>理论课</a:t>
            </a:r>
            <a:r>
              <a:rPr lang="zh-CN" altLang="zh-CN" sz="2000" b="1" kern="100" spc="100" dirty="0">
                <a:effectLst/>
                <a:latin typeface="微软雅黑" panose="020B0503020204020204" pitchFamily="34" charset="-122"/>
                <a:ea typeface="微软雅黑" panose="020B0503020204020204" pitchFamily="34" charset="-122"/>
              </a:rPr>
              <a:t>考核方式与评价结构比例：</a:t>
            </a:r>
            <a:endParaRPr lang="zh-CN" altLang="zh-CN" sz="2000" b="1" kern="100" dirty="0">
              <a:effectLst/>
              <a:latin typeface="微软雅黑" panose="020B0503020204020204" pitchFamily="34" charset="-122"/>
              <a:ea typeface="微软雅黑" panose="020B0503020204020204" pitchFamily="34" charset="-122"/>
            </a:endParaRPr>
          </a:p>
          <a:p>
            <a:pPr marL="800100" lvl="1" indent="-342900" algn="just">
              <a:lnSpc>
                <a:spcPct val="125000"/>
              </a:lnSpc>
              <a:buFont typeface="+mj-lt"/>
              <a:buAutoNum type="arabicPeriod"/>
              <a:tabLst>
                <a:tab pos="533400" algn="l"/>
              </a:tabLst>
            </a:pPr>
            <a:r>
              <a:rPr lang="zh-CN" altLang="zh-CN" sz="2000" b="1" kern="100" spc="100" dirty="0">
                <a:effectLst/>
                <a:latin typeface="微软雅黑" panose="020B0503020204020204" pitchFamily="34" charset="-122"/>
                <a:ea typeface="微软雅黑" panose="020B0503020204020204" pitchFamily="34" charset="-122"/>
              </a:rPr>
              <a:t>平时成绩：</a:t>
            </a:r>
            <a:r>
              <a:rPr lang="en-US" altLang="zh-CN" sz="2000" b="1" kern="100" spc="100" dirty="0">
                <a:latin typeface="微软雅黑" panose="020B0503020204020204" pitchFamily="34" charset="-122"/>
                <a:ea typeface="微软雅黑" panose="020B0503020204020204" pitchFamily="34" charset="-122"/>
              </a:rPr>
              <a:t>6</a:t>
            </a:r>
            <a:r>
              <a:rPr lang="en-US" altLang="zh-CN" sz="2000" b="1" kern="100" spc="100" dirty="0">
                <a:effectLst/>
                <a:latin typeface="微软雅黑" panose="020B0503020204020204" pitchFamily="34" charset="-122"/>
                <a:ea typeface="微软雅黑" panose="020B0503020204020204" pitchFamily="34" charset="-122"/>
              </a:rPr>
              <a:t>0</a:t>
            </a:r>
            <a:r>
              <a:rPr lang="en-US" altLang="zh-CN" sz="2000" b="1" kern="100" spc="100" dirty="0">
                <a:latin typeface="微软雅黑" panose="020B0503020204020204" pitchFamily="34" charset="-122"/>
                <a:ea typeface="微软雅黑" panose="020B0503020204020204" pitchFamily="34" charset="-122"/>
              </a:rPr>
              <a:t>%</a:t>
            </a:r>
            <a:endParaRPr lang="en-US" altLang="zh-CN" sz="2000" b="1" kern="100" spc="100" dirty="0">
              <a:effectLst/>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出勤</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缺勤</a:t>
            </a:r>
            <a:r>
              <a:rPr lang="en-US" altLang="zh-CN" b="1" dirty="0">
                <a:solidFill>
                  <a:srgbClr val="FF0000"/>
                </a:solidFill>
                <a:latin typeface="微软雅黑" panose="020B0503020204020204" pitchFamily="34" charset="-122"/>
                <a:ea typeface="微软雅黑" panose="020B0503020204020204" pitchFamily="34" charset="-122"/>
              </a:rPr>
              <a:t>1/3</a:t>
            </a:r>
            <a:r>
              <a:rPr lang="zh-CN" altLang="en-US" dirty="0">
                <a:latin typeface="微软雅黑" panose="020B0503020204020204" pitchFamily="34" charset="-122"/>
                <a:ea typeface="微软雅黑" panose="020B0503020204020204" pitchFamily="34" charset="-122"/>
              </a:rPr>
              <a:t>课程以上者，</a:t>
            </a:r>
            <a:r>
              <a:rPr lang="zh-CN" altLang="en-US" b="1" dirty="0">
                <a:solidFill>
                  <a:srgbClr val="FF0000"/>
                </a:solidFill>
                <a:latin typeface="微软雅黑" panose="020B0503020204020204" pitchFamily="34" charset="-122"/>
                <a:ea typeface="微软雅黑" panose="020B0503020204020204" pitchFamily="34" charset="-122"/>
              </a:rPr>
              <a:t>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sz="2000" kern="100" spc="100" dirty="0">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自测题</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线上自测，</a:t>
            </a:r>
            <a:r>
              <a:rPr lang="en-US" altLang="zh-CN" dirty="0">
                <a:latin typeface="微软雅黑" panose="020B0503020204020204" pitchFamily="34" charset="-122"/>
                <a:ea typeface="微软雅黑" panose="020B0503020204020204" pitchFamily="34" charset="-122"/>
              </a:rPr>
              <a:t>20-30</a:t>
            </a:r>
            <a:r>
              <a:rPr lang="zh-CN" altLang="en-US" dirty="0">
                <a:latin typeface="微软雅黑" panose="020B0503020204020204" pitchFamily="34" charset="-122"/>
                <a:ea typeface="微软雅黑" panose="020B0503020204020204" pitchFamily="34" charset="-122"/>
              </a:rPr>
              <a:t>道单项选择题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章，共</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次。截至期末考试前有</a:t>
            </a:r>
            <a:r>
              <a:rPr lang="en-US" altLang="zh-CN" b="1" dirty="0">
                <a:solidFill>
                  <a:srgbClr val="FF0000"/>
                </a:solidFill>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以上自测题未提交者，</a:t>
            </a:r>
            <a:r>
              <a:rPr lang="zh-CN" altLang="en-US" b="1" dirty="0">
                <a:solidFill>
                  <a:srgbClr val="FF0000"/>
                </a:solidFill>
                <a:latin typeface="微软雅黑" panose="020B0503020204020204" pitchFamily="34" charset="-122"/>
                <a:ea typeface="微软雅黑" panose="020B0503020204020204" pitchFamily="34" charset="-122"/>
              </a:rPr>
              <a:t>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dirty="0">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latin typeface="微软雅黑" panose="020B0503020204020204" pitchFamily="34" charset="-122"/>
                <a:ea typeface="微软雅黑" panose="020B0503020204020204" pitchFamily="34" charset="-122"/>
              </a:rPr>
              <a:t>平时作业</a:t>
            </a:r>
            <a:r>
              <a:rPr lang="en-US" altLang="zh-CN" sz="2000" b="1" kern="100" spc="100" dirty="0">
                <a:latin typeface="微软雅黑" panose="020B0503020204020204" pitchFamily="34" charset="-122"/>
                <a:ea typeface="微软雅黑" panose="020B0503020204020204" pitchFamily="34" charset="-122"/>
              </a:rPr>
              <a:t>10%</a:t>
            </a:r>
            <a:r>
              <a:rPr lang="zh-CN" altLang="en-US" sz="2000" kern="100" spc="100"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8-10</a:t>
            </a:r>
            <a:r>
              <a:rPr lang="zh-CN" altLang="en-US" dirty="0">
                <a:latin typeface="微软雅黑" panose="020B0503020204020204" pitchFamily="34" charset="-122"/>
                <a:ea typeface="微软雅黑" panose="020B0503020204020204" pitchFamily="34" charset="-122"/>
              </a:rPr>
              <a:t>道作业题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章，共</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次。截至期末考试前有</a:t>
            </a:r>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次</a:t>
            </a:r>
            <a:r>
              <a:rPr lang="zh-CN" altLang="en-US" dirty="0">
                <a:latin typeface="微软雅黑" panose="020B0503020204020204" pitchFamily="34" charset="-122"/>
                <a:ea typeface="微软雅黑" panose="020B0503020204020204" pitchFamily="34" charset="-122"/>
              </a:rPr>
              <a:t>以上作业未提交者，平时成绩为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b="1" dirty="0">
              <a:solidFill>
                <a:srgbClr val="FF0000"/>
              </a:solidFill>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en-US" sz="2000" b="1" kern="100" spc="100" dirty="0">
                <a:effectLst/>
                <a:latin typeface="微软雅黑" panose="020B0503020204020204" pitchFamily="34" charset="-122"/>
                <a:ea typeface="微软雅黑" panose="020B0503020204020204" pitchFamily="34" charset="-122"/>
              </a:rPr>
              <a:t>课题参与度</a:t>
            </a:r>
            <a:r>
              <a:rPr lang="en-US" altLang="zh-CN" sz="2000" b="1" kern="100" spc="100" dirty="0">
                <a:effectLst/>
                <a:latin typeface="微软雅黑" panose="020B0503020204020204" pitchFamily="34" charset="-122"/>
                <a:ea typeface="微软雅黑" panose="020B0503020204020204" pitchFamily="34" charset="-122"/>
              </a:rPr>
              <a:t>10%</a:t>
            </a:r>
            <a:r>
              <a:rPr lang="zh-CN" altLang="en-US" sz="2000" b="1" kern="100" spc="100" dirty="0">
                <a:effectLst/>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前沿论文调研与讨论任务。截至期末考试前未提交者，</a:t>
            </a:r>
            <a:r>
              <a:rPr lang="zh-CN" altLang="en-US" b="1" dirty="0">
                <a:solidFill>
                  <a:srgbClr val="FF0000"/>
                </a:solidFill>
                <a:latin typeface="微软雅黑" panose="020B0503020204020204" pitchFamily="34" charset="-122"/>
                <a:ea typeface="微软雅黑" panose="020B0503020204020204" pitchFamily="34" charset="-122"/>
              </a:rPr>
              <a:t>课程参与度为</a:t>
            </a:r>
            <a:r>
              <a:rPr lang="en-US" altLang="zh-CN" b="1" dirty="0">
                <a:solidFill>
                  <a:srgbClr val="FF0000"/>
                </a:solidFill>
                <a:latin typeface="微软雅黑" panose="020B0503020204020204" pitchFamily="34" charset="-122"/>
                <a:ea typeface="微软雅黑" panose="020B0503020204020204" pitchFamily="34" charset="-122"/>
              </a:rPr>
              <a:t>0</a:t>
            </a:r>
            <a:r>
              <a:rPr lang="zh-CN" altLang="en-US" b="1" dirty="0">
                <a:solidFill>
                  <a:srgbClr val="FF0000"/>
                </a:solidFill>
                <a:latin typeface="微软雅黑" panose="020B0503020204020204" pitchFamily="34" charset="-122"/>
                <a:ea typeface="微软雅黑" panose="020B0503020204020204" pitchFamily="34" charset="-122"/>
              </a:rPr>
              <a:t>分</a:t>
            </a:r>
            <a:endParaRPr lang="en-US" altLang="zh-CN" dirty="0">
              <a:solidFill>
                <a:srgbClr val="FF0000"/>
              </a:solidFill>
              <a:latin typeface="微软雅黑" panose="020B0503020204020204" pitchFamily="34" charset="-122"/>
              <a:ea typeface="微软雅黑" panose="020B0503020204020204" pitchFamily="34" charset="-122"/>
            </a:endParaRPr>
          </a:p>
          <a:p>
            <a:pPr marL="1371600" lvl="2" indent="-457200" algn="just">
              <a:lnSpc>
                <a:spcPct val="125000"/>
              </a:lnSpc>
              <a:buFont typeface="+mj-ea"/>
              <a:buAutoNum type="circleNumDbPlain"/>
              <a:tabLst>
                <a:tab pos="533400" algn="l"/>
              </a:tabLst>
            </a:pPr>
            <a:r>
              <a:rPr lang="zh-CN" altLang="zh-CN" sz="2000" b="1" kern="100" spc="100" dirty="0">
                <a:latin typeface="微软雅黑" panose="020B0503020204020204" pitchFamily="34" charset="-122"/>
                <a:ea typeface="微软雅黑" panose="020B0503020204020204" pitchFamily="34" charset="-122"/>
              </a:rPr>
              <a:t>期中考试：</a:t>
            </a:r>
            <a:r>
              <a:rPr lang="en-US" altLang="zh-CN" sz="2000" b="1" kern="100" spc="100" dirty="0">
                <a:latin typeface="微软雅黑" panose="020B0503020204020204" pitchFamily="34" charset="-122"/>
                <a:ea typeface="微软雅黑" panose="020B0503020204020204" pitchFamily="34" charset="-122"/>
              </a:rPr>
              <a:t>20%</a:t>
            </a:r>
            <a:r>
              <a:rPr lang="zh-CN" altLang="en-US" sz="2000" kern="100" spc="100" dirty="0">
                <a:latin typeface="微软雅黑" panose="020B0503020204020204" pitchFamily="34" charset="-122"/>
                <a:ea typeface="微软雅黑" panose="020B0503020204020204" pitchFamily="34" charset="-122"/>
              </a:rPr>
              <a:t>，闭卷考试，</a:t>
            </a:r>
            <a:r>
              <a:rPr lang="en-US" altLang="zh-CN" sz="2000" kern="100" spc="100" dirty="0">
                <a:latin typeface="微软雅黑" panose="020B0503020204020204" pitchFamily="34" charset="-122"/>
                <a:ea typeface="微软雅黑" panose="020B0503020204020204" pitchFamily="34" charset="-122"/>
              </a:rPr>
              <a:t>120</a:t>
            </a:r>
            <a:r>
              <a:rPr lang="zh-CN" altLang="en-US" sz="2000" kern="100" spc="100" dirty="0">
                <a:latin typeface="微软雅黑" panose="020B0503020204020204" pitchFamily="34" charset="-122"/>
                <a:ea typeface="微软雅黑" panose="020B0503020204020204" pitchFamily="34" charset="-122"/>
              </a:rPr>
              <a:t>分钟</a:t>
            </a:r>
            <a:endParaRPr lang="zh-CN" altLang="zh-CN" sz="2000" kern="100" spc="100" dirty="0">
              <a:latin typeface="微软雅黑" panose="020B0503020204020204" pitchFamily="34" charset="-122"/>
              <a:ea typeface="微软雅黑" panose="020B0503020204020204" pitchFamily="34" charset="-122"/>
            </a:endParaRPr>
          </a:p>
          <a:p>
            <a:pPr marL="800100" lvl="1" indent="-342900" algn="just">
              <a:lnSpc>
                <a:spcPct val="125000"/>
              </a:lnSpc>
              <a:buFont typeface="+mj-lt"/>
              <a:buAutoNum type="arabicPeriod"/>
              <a:tabLst>
                <a:tab pos="533400" algn="l"/>
              </a:tabLst>
            </a:pPr>
            <a:r>
              <a:rPr lang="zh-CN" altLang="zh-CN" sz="2000" b="1" kern="100" spc="100" dirty="0">
                <a:latin typeface="微软雅黑" panose="020B0503020204020204" pitchFamily="34" charset="-122"/>
                <a:ea typeface="微软雅黑" panose="020B0503020204020204" pitchFamily="34" charset="-122"/>
              </a:rPr>
              <a:t>期末考试：</a:t>
            </a:r>
            <a:r>
              <a:rPr lang="en-US" altLang="zh-CN" sz="2000" b="1" kern="100" spc="100" dirty="0">
                <a:latin typeface="微软雅黑" panose="020B0503020204020204" pitchFamily="34" charset="-122"/>
                <a:ea typeface="微软雅黑" panose="020B0503020204020204" pitchFamily="34" charset="-122"/>
              </a:rPr>
              <a:t>40%</a:t>
            </a:r>
            <a:r>
              <a:rPr lang="zh-CN" altLang="en-US" sz="2000" kern="100" spc="100" dirty="0">
                <a:latin typeface="微软雅黑" panose="020B0503020204020204" pitchFamily="34" charset="-122"/>
                <a:ea typeface="微软雅黑" panose="020B0503020204020204" pitchFamily="34" charset="-122"/>
              </a:rPr>
              <a:t>，闭卷考试，</a:t>
            </a:r>
            <a:r>
              <a:rPr lang="en-US" altLang="zh-CN" sz="2000" kern="100" spc="100" dirty="0">
                <a:latin typeface="微软雅黑" panose="020B0503020204020204" pitchFamily="34" charset="-122"/>
                <a:ea typeface="微软雅黑" panose="020B0503020204020204" pitchFamily="34" charset="-122"/>
              </a:rPr>
              <a:t>120</a:t>
            </a:r>
            <a:r>
              <a:rPr lang="zh-CN" altLang="en-US" sz="2000" kern="100" spc="100" dirty="0">
                <a:latin typeface="微软雅黑" panose="020B0503020204020204" pitchFamily="34" charset="-122"/>
                <a:ea typeface="微软雅黑" panose="020B0503020204020204" pitchFamily="34" charset="-122"/>
              </a:rPr>
              <a:t>分钟</a:t>
            </a:r>
            <a:endParaRPr lang="zh-CN" altLang="zh-CN" sz="2000" kern="100" spc="100" dirty="0">
              <a:latin typeface="微软雅黑" panose="020B0503020204020204" pitchFamily="34" charset="-122"/>
              <a:ea typeface="微软雅黑" panose="020B0503020204020204" pitchFamily="34" charset="-122"/>
            </a:endParaRPr>
          </a:p>
        </p:txBody>
      </p:sp>
      <p:pic>
        <p:nvPicPr>
          <p:cNvPr id="2" name="Picture 2">
            <a:extLst>
              <a:ext uri="{FF2B5EF4-FFF2-40B4-BE49-F238E27FC236}">
                <a16:creationId xmlns:a16="http://schemas.microsoft.com/office/drawing/2014/main" id="{C5D0E0C9-37F8-4958-9F21-2ACF7266FC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对象 3">
            <a:hlinkClick r:id="" action="ppaction://ole?verb=0"/>
            <a:extLst>
              <a:ext uri="{FF2B5EF4-FFF2-40B4-BE49-F238E27FC236}">
                <a16:creationId xmlns:a16="http://schemas.microsoft.com/office/drawing/2014/main" id="{8B5A1ACE-8539-4839-A390-47A1F3A98566}"/>
              </a:ext>
            </a:extLst>
          </p:cNvPr>
          <p:cNvGraphicFramePr>
            <a:graphicFrameLocks noChangeAspect="1"/>
          </p:cNvGraphicFramePr>
          <p:nvPr>
            <p:extLst>
              <p:ext uri="{D42A27DB-BD31-4B8C-83A1-F6EECF244321}">
                <p14:modId xmlns:p14="http://schemas.microsoft.com/office/powerpoint/2010/main" val="2549721536"/>
              </p:ext>
            </p:extLst>
          </p:nvPr>
        </p:nvGraphicFramePr>
        <p:xfrm>
          <a:off x="9550612" y="5680559"/>
          <a:ext cx="1063793" cy="797845"/>
        </p:xfrm>
        <a:graphic>
          <a:graphicData uri="http://schemas.openxmlformats.org/presentationml/2006/ole">
            <mc:AlternateContent xmlns:mc="http://schemas.openxmlformats.org/markup-compatibility/2006">
              <mc:Choice xmlns:v="urn:schemas-microsoft-com:vml" Requires="v">
                <p:oleObj spid="_x0000_s1026" name="Presentation" r:id="rId6" imgW="4571967" imgH="3429060" progId="PowerPoint.Show.12">
                  <p:embed/>
                </p:oleObj>
              </mc:Choice>
              <mc:Fallback>
                <p:oleObj name="Presentation" r:id="rId6" imgW="4571967" imgH="3429060" progId="PowerPoint.Show.12">
                  <p:embed/>
                  <p:pic>
                    <p:nvPicPr>
                      <p:cNvPr id="0" name=""/>
                      <p:cNvPicPr/>
                      <p:nvPr/>
                    </p:nvPicPr>
                    <p:blipFill>
                      <a:blip r:embed="rId7"/>
                      <a:stretch>
                        <a:fillRect/>
                      </a:stretch>
                    </p:blipFill>
                    <p:spPr>
                      <a:xfrm>
                        <a:off x="9550612" y="5680559"/>
                        <a:ext cx="1063793" cy="797845"/>
                      </a:xfrm>
                      <a:prstGeom prst="rect">
                        <a:avLst/>
                      </a:prstGeom>
                      <a:solidFill>
                        <a:schemeClr val="accent1"/>
                      </a:solidFill>
                      <a:ln>
                        <a:solidFill>
                          <a:schemeClr val="accent1"/>
                        </a:solidFill>
                      </a:ln>
                    </p:spPr>
                  </p:pic>
                </p:oleObj>
              </mc:Fallback>
            </mc:AlternateContent>
          </a:graphicData>
        </a:graphic>
      </p:graphicFrame>
    </p:spTree>
    <p:extLst>
      <p:ext uri="{BB962C8B-B14F-4D97-AF65-F5344CB8AC3E}">
        <p14:creationId xmlns:p14="http://schemas.microsoft.com/office/powerpoint/2010/main" val="733982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Grading Criteria</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6DB4B53-D70B-4F7D-BF61-333D7B7FA8CA}"/>
              </a:ext>
            </a:extLst>
          </p:cNvPr>
          <p:cNvSpPr txBox="1"/>
          <p:nvPr/>
        </p:nvSpPr>
        <p:spPr>
          <a:xfrm>
            <a:off x="959582" y="1438058"/>
            <a:ext cx="5839939" cy="3247043"/>
          </a:xfrm>
          <a:prstGeom prst="rect">
            <a:avLst/>
          </a:prstGeom>
          <a:noFill/>
        </p:spPr>
        <p:txBody>
          <a:bodyPr wrap="square" rtlCol="0">
            <a:spAutoFit/>
          </a:bodyPr>
          <a:lstStyle/>
          <a:p>
            <a:pPr marL="342900" indent="-342900" algn="just">
              <a:lnSpc>
                <a:spcPct val="125000"/>
              </a:lnSpc>
              <a:spcBef>
                <a:spcPts val="1200"/>
              </a:spcBef>
              <a:buFont typeface="Wingdings" panose="05000000000000000000" pitchFamily="2" charset="2"/>
              <a:buChar char="Ø"/>
            </a:pPr>
            <a:r>
              <a:rPr lang="zh-CN" altLang="en-US" sz="2000" b="1" kern="100" spc="100" dirty="0">
                <a:latin typeface="微软雅黑" panose="020B0503020204020204" pitchFamily="34" charset="-122"/>
                <a:ea typeface="微软雅黑" panose="020B0503020204020204" pitchFamily="34" charset="-122"/>
              </a:rPr>
              <a:t>实验课</a:t>
            </a:r>
            <a:r>
              <a:rPr lang="zh-CN" altLang="zh-CN" sz="2000" b="1" kern="100" spc="100" dirty="0">
                <a:effectLst/>
                <a:latin typeface="微软雅黑" panose="020B0503020204020204" pitchFamily="34" charset="-122"/>
                <a:ea typeface="微软雅黑" panose="020B0503020204020204" pitchFamily="34" charset="-122"/>
              </a:rPr>
              <a:t>考核方式与评价结构比例：</a:t>
            </a:r>
            <a:endParaRPr lang="zh-CN" altLang="zh-CN" sz="2000" b="1" kern="100" dirty="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mj-lt"/>
              <a:buAutoNum type="arabicPeriod"/>
              <a:tabLst>
                <a:tab pos="533400" algn="l"/>
              </a:tabLst>
            </a:pPr>
            <a:r>
              <a:rPr lang="zh-CN" altLang="en-US" sz="2000" kern="100" spc="100" dirty="0">
                <a:effectLst/>
                <a:latin typeface="微软雅黑" panose="020B0503020204020204" pitchFamily="34" charset="-122"/>
                <a:ea typeface="微软雅黑" panose="020B0503020204020204" pitchFamily="34" charset="-122"/>
              </a:rPr>
              <a:t>出勤及课堂表现</a:t>
            </a:r>
            <a:r>
              <a:rPr lang="zh-CN" altLang="zh-CN" sz="2000" kern="100" spc="100" dirty="0">
                <a:effectLst/>
                <a:latin typeface="微软雅黑" panose="020B0503020204020204" pitchFamily="34" charset="-122"/>
                <a:ea typeface="微软雅黑" panose="020B0503020204020204" pitchFamily="34" charset="-122"/>
              </a:rPr>
              <a:t>：</a:t>
            </a:r>
            <a:r>
              <a:rPr lang="en-US" altLang="zh-CN" sz="2000" kern="100" spc="100" dirty="0">
                <a:effectLst/>
                <a:latin typeface="微软雅黑" panose="020B0503020204020204" pitchFamily="34" charset="-122"/>
                <a:ea typeface="微软雅黑" panose="020B0503020204020204" pitchFamily="34" charset="-122"/>
              </a:rPr>
              <a:t>50</a:t>
            </a:r>
            <a:r>
              <a:rPr lang="en-US" altLang="zh-CN" sz="2000" kern="100" spc="100" dirty="0">
                <a:latin typeface="微软雅黑" panose="020B0503020204020204" pitchFamily="34" charset="-122"/>
                <a:ea typeface="微软雅黑" panose="020B0503020204020204" pitchFamily="34" charset="-122"/>
              </a:rPr>
              <a:t>%</a:t>
            </a:r>
          </a:p>
          <a:p>
            <a:pPr marL="800100" lvl="1" indent="-342900" algn="just">
              <a:lnSpc>
                <a:spcPct val="125000"/>
              </a:lnSpc>
              <a:spcBef>
                <a:spcPts val="1200"/>
              </a:spcBef>
              <a:buFont typeface="+mj-lt"/>
              <a:buAutoNum type="arabicPeriod"/>
              <a:tabLst>
                <a:tab pos="533400" algn="l"/>
              </a:tabLst>
            </a:pPr>
            <a:r>
              <a:rPr lang="zh-CN" altLang="en-US" sz="2000" kern="100" spc="100" dirty="0">
                <a:effectLst/>
                <a:latin typeface="微软雅黑" panose="020B0503020204020204" pitchFamily="34" charset="-122"/>
                <a:ea typeface="微软雅黑" panose="020B0503020204020204" pitchFamily="34" charset="-122"/>
              </a:rPr>
              <a:t>实验报告：</a:t>
            </a:r>
            <a:r>
              <a:rPr lang="en-US" altLang="zh-CN" sz="2000" kern="100" spc="100" dirty="0">
                <a:effectLst/>
                <a:latin typeface="微软雅黑" panose="020B0503020204020204" pitchFamily="34" charset="-122"/>
                <a:ea typeface="微软雅黑" panose="020B0503020204020204" pitchFamily="34" charset="-122"/>
              </a:rPr>
              <a:t>50%</a:t>
            </a:r>
          </a:p>
          <a:p>
            <a:pPr marL="1257300" lvl="2" indent="-342900">
              <a:spcBef>
                <a:spcPts val="1200"/>
              </a:spcBef>
              <a:buFont typeface="Arial" panose="020B0604020202020204" pitchFamily="34" charset="0"/>
              <a:buChar char="•"/>
            </a:pPr>
            <a:r>
              <a:rPr lang="zh-CN" altLang="en-US" sz="2000" kern="100" spc="100" dirty="0">
                <a:latin typeface="微软雅黑" panose="020B0503020204020204" pitchFamily="34" charset="-122"/>
                <a:ea typeface="微软雅黑" panose="020B0503020204020204" pitchFamily="34" charset="-122"/>
              </a:rPr>
              <a:t>未提交，当次成绩为</a:t>
            </a:r>
            <a:r>
              <a:rPr lang="en-US" altLang="zh-CN" sz="2000" kern="100" spc="100" dirty="0">
                <a:latin typeface="微软雅黑" panose="020B0503020204020204" pitchFamily="34" charset="-122"/>
                <a:ea typeface="微软雅黑" panose="020B0503020204020204" pitchFamily="34" charset="-122"/>
              </a:rPr>
              <a:t>0</a:t>
            </a:r>
            <a:r>
              <a:rPr lang="zh-CN" altLang="en-US" sz="2000" kern="100" spc="100" dirty="0">
                <a:latin typeface="微软雅黑" panose="020B0503020204020204" pitchFamily="34" charset="-122"/>
                <a:ea typeface="微软雅黑" panose="020B0503020204020204" pitchFamily="34" charset="-122"/>
              </a:rPr>
              <a:t>分。 </a:t>
            </a:r>
            <a:endParaRPr lang="en-US" altLang="zh-CN" sz="2000" kern="100" spc="100" dirty="0">
              <a:latin typeface="微软雅黑" panose="020B0503020204020204" pitchFamily="34" charset="-122"/>
              <a:ea typeface="微软雅黑" panose="020B0503020204020204" pitchFamily="34" charset="-122"/>
            </a:endParaRPr>
          </a:p>
          <a:p>
            <a:pPr marL="1257300" lvl="2" indent="-342900">
              <a:spcBef>
                <a:spcPts val="1200"/>
              </a:spcBef>
              <a:buFont typeface="Arial" panose="020B0604020202020204" pitchFamily="34" charset="0"/>
              <a:buChar char="•"/>
            </a:pPr>
            <a:r>
              <a:rPr lang="zh-CN" altLang="en-US" sz="2000" kern="100" spc="100" dirty="0">
                <a:latin typeface="微软雅黑" panose="020B0503020204020204" pitchFamily="34" charset="-122"/>
                <a:ea typeface="微软雅黑" panose="020B0503020204020204" pitchFamily="34" charset="-122"/>
              </a:rPr>
              <a:t>截至期末考试前，有</a:t>
            </a:r>
            <a:r>
              <a:rPr lang="en-US" altLang="zh-CN" sz="2000" b="1" kern="100" spc="100" dirty="0">
                <a:solidFill>
                  <a:srgbClr val="FF0000"/>
                </a:solidFill>
                <a:latin typeface="微软雅黑" panose="020B0503020204020204" pitchFamily="34" charset="-122"/>
                <a:ea typeface="微软雅黑" panose="020B0503020204020204" pitchFamily="34" charset="-122"/>
              </a:rPr>
              <a:t>3</a:t>
            </a:r>
            <a:r>
              <a:rPr lang="zh-CN" altLang="en-US" sz="2000" b="1" kern="100" spc="100" dirty="0">
                <a:solidFill>
                  <a:srgbClr val="FF0000"/>
                </a:solidFill>
                <a:latin typeface="微软雅黑" panose="020B0503020204020204" pitchFamily="34" charset="-122"/>
                <a:ea typeface="微软雅黑" panose="020B0503020204020204" pitchFamily="34" charset="-122"/>
              </a:rPr>
              <a:t>次以上</a:t>
            </a:r>
            <a:r>
              <a:rPr lang="zh-CN" altLang="en-US" sz="2000" kern="100" spc="100" dirty="0">
                <a:latin typeface="微软雅黑" panose="020B0503020204020204" pitchFamily="34" charset="-122"/>
                <a:ea typeface="微软雅黑" panose="020B0503020204020204" pitchFamily="34" charset="-122"/>
              </a:rPr>
              <a:t>实验报告未提交者，</a:t>
            </a:r>
            <a:r>
              <a:rPr lang="zh-CN" altLang="en-US" sz="2000" b="1" kern="100" spc="100" dirty="0">
                <a:solidFill>
                  <a:srgbClr val="FF0000"/>
                </a:solidFill>
                <a:latin typeface="微软雅黑" panose="020B0503020204020204" pitchFamily="34" charset="-122"/>
                <a:ea typeface="微软雅黑" panose="020B0503020204020204" pitchFamily="34" charset="-122"/>
              </a:rPr>
              <a:t>实践总评成绩</a:t>
            </a:r>
            <a:r>
              <a:rPr lang="zh-CN" altLang="en-US" sz="2000" kern="100" spc="100" dirty="0">
                <a:latin typeface="微软雅黑" panose="020B0503020204020204" pitchFamily="34" charset="-122"/>
                <a:ea typeface="微软雅黑" panose="020B0503020204020204" pitchFamily="34" charset="-122"/>
              </a:rPr>
              <a:t>为</a:t>
            </a:r>
            <a:r>
              <a:rPr lang="en-US" altLang="zh-CN" sz="2000" kern="100" spc="100" dirty="0">
                <a:latin typeface="微软雅黑" panose="020B0503020204020204" pitchFamily="34" charset="-122"/>
                <a:ea typeface="微软雅黑" panose="020B0503020204020204" pitchFamily="34" charset="-122"/>
              </a:rPr>
              <a:t>0</a:t>
            </a:r>
            <a:r>
              <a:rPr lang="zh-CN" altLang="en-US" sz="2000" kern="100" spc="100" dirty="0">
                <a:latin typeface="微软雅黑" panose="020B0503020204020204" pitchFamily="34" charset="-122"/>
                <a:ea typeface="微软雅黑" panose="020B0503020204020204" pitchFamily="34" charset="-122"/>
              </a:rPr>
              <a:t>分。</a:t>
            </a:r>
            <a:endParaRPr lang="en-US" altLang="zh-CN" sz="2000" kern="100" spc="100" dirty="0">
              <a:latin typeface="微软雅黑" panose="020B0503020204020204" pitchFamily="34" charset="-122"/>
              <a:ea typeface="微软雅黑" panose="020B0503020204020204" pitchFamily="34" charset="-122"/>
            </a:endParaRPr>
          </a:p>
          <a:p>
            <a:pPr marL="1257300" lvl="2" indent="-342900">
              <a:spcBef>
                <a:spcPts val="1200"/>
              </a:spcBef>
              <a:buFont typeface="Arial" panose="020B0604020202020204" pitchFamily="34" charset="0"/>
              <a:buChar char="•"/>
            </a:pPr>
            <a:r>
              <a:rPr lang="zh-CN" altLang="en-US" sz="2000" b="1" kern="100" spc="100" dirty="0">
                <a:solidFill>
                  <a:srgbClr val="FF0000"/>
                </a:solidFill>
                <a:latin typeface="微软雅黑" panose="020B0503020204020204" pitchFamily="34" charset="-122"/>
                <a:ea typeface="微软雅黑" panose="020B0503020204020204" pitchFamily="34" charset="-122"/>
              </a:rPr>
              <a:t>严禁抄袭！</a:t>
            </a:r>
            <a:r>
              <a:rPr lang="zh-CN" altLang="en-US" sz="2000" kern="100" spc="100" dirty="0">
                <a:latin typeface="微软雅黑" panose="020B0503020204020204" pitchFamily="34" charset="-122"/>
                <a:ea typeface="微软雅黑" panose="020B0503020204020204" pitchFamily="34" charset="-122"/>
              </a:rPr>
              <a:t>一经发现将严肃处理</a:t>
            </a:r>
            <a:endParaRPr lang="en-US" altLang="zh-CN" sz="2000" kern="100" spc="100" dirty="0">
              <a:latin typeface="微软雅黑" panose="020B0503020204020204" pitchFamily="34" charset="-122"/>
              <a:ea typeface="微软雅黑" panose="020B0503020204020204" pitchFamily="34" charset="-122"/>
            </a:endParaRPr>
          </a:p>
        </p:txBody>
      </p:sp>
      <p:graphicFrame>
        <p:nvGraphicFramePr>
          <p:cNvPr id="8" name="内容占位符 10">
            <a:extLst>
              <a:ext uri="{FF2B5EF4-FFF2-40B4-BE49-F238E27FC236}">
                <a16:creationId xmlns:a16="http://schemas.microsoft.com/office/drawing/2014/main" id="{27CB068F-98D1-4BC8-BF5E-02AB25EF652D}"/>
              </a:ext>
            </a:extLst>
          </p:cNvPr>
          <p:cNvGraphicFramePr>
            <a:graphicFrameLocks/>
          </p:cNvGraphicFramePr>
          <p:nvPr>
            <p:extLst>
              <p:ext uri="{D42A27DB-BD31-4B8C-83A1-F6EECF244321}">
                <p14:modId xmlns:p14="http://schemas.microsoft.com/office/powerpoint/2010/main" val="3533856954"/>
              </p:ext>
            </p:extLst>
          </p:nvPr>
        </p:nvGraphicFramePr>
        <p:xfrm>
          <a:off x="6597503" y="1806745"/>
          <a:ext cx="5368280" cy="2433076"/>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2">
            <a:extLst>
              <a:ext uri="{FF2B5EF4-FFF2-40B4-BE49-F238E27FC236}">
                <a16:creationId xmlns:a16="http://schemas.microsoft.com/office/drawing/2014/main" id="{C5D0E0C9-37F8-4958-9F21-2ACF7266FC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787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Outline – </a:t>
            </a:r>
            <a:r>
              <a:rPr lang="zh-CN" altLang="en-US" sz="2800" b="1" kern="0" dirty="0">
                <a:solidFill>
                  <a:srgbClr val="C00000"/>
                </a:solidFill>
                <a:latin typeface="微软雅黑" panose="020B0503020204020204" pitchFamily="34" charset="-122"/>
                <a:ea typeface="微软雅黑" panose="020B0503020204020204" pitchFamily="34" charset="-122"/>
              </a:rPr>
              <a:t>理论课</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2" name="表格 7">
            <a:extLst>
              <a:ext uri="{FF2B5EF4-FFF2-40B4-BE49-F238E27FC236}">
                <a16:creationId xmlns:a16="http://schemas.microsoft.com/office/drawing/2014/main" id="{A71ED2C0-B4FC-4796-B596-54249B705675}"/>
              </a:ext>
            </a:extLst>
          </p:cNvPr>
          <p:cNvGraphicFramePr>
            <a:graphicFrameLocks noGrp="1"/>
          </p:cNvGraphicFramePr>
          <p:nvPr>
            <p:extLst>
              <p:ext uri="{D42A27DB-BD31-4B8C-83A1-F6EECF244321}">
                <p14:modId xmlns:p14="http://schemas.microsoft.com/office/powerpoint/2010/main" val="3893729616"/>
              </p:ext>
            </p:extLst>
          </p:nvPr>
        </p:nvGraphicFramePr>
        <p:xfrm>
          <a:off x="743699" y="1372823"/>
          <a:ext cx="10637663" cy="4762993"/>
        </p:xfrm>
        <a:graphic>
          <a:graphicData uri="http://schemas.openxmlformats.org/drawingml/2006/table">
            <a:tbl>
              <a:tblPr firstRow="1" bandRow="1">
                <a:tableStyleId>{5C22544A-7EE6-4342-B048-85BDC9FD1C3A}</a:tableStyleId>
              </a:tblPr>
              <a:tblGrid>
                <a:gridCol w="1715722">
                  <a:extLst>
                    <a:ext uri="{9D8B030D-6E8A-4147-A177-3AD203B41FA5}">
                      <a16:colId xmlns:a16="http://schemas.microsoft.com/office/drawing/2014/main" val="1748180576"/>
                    </a:ext>
                  </a:extLst>
                </a:gridCol>
                <a:gridCol w="8250732">
                  <a:extLst>
                    <a:ext uri="{9D8B030D-6E8A-4147-A177-3AD203B41FA5}">
                      <a16:colId xmlns:a16="http://schemas.microsoft.com/office/drawing/2014/main" val="2840025556"/>
                    </a:ext>
                  </a:extLst>
                </a:gridCol>
                <a:gridCol w="671209">
                  <a:extLst>
                    <a:ext uri="{9D8B030D-6E8A-4147-A177-3AD203B41FA5}">
                      <a16:colId xmlns:a16="http://schemas.microsoft.com/office/drawing/2014/main" val="1423424912"/>
                    </a:ext>
                  </a:extLst>
                </a:gridCol>
              </a:tblGrid>
              <a:tr h="435406">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章节</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主要内容</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学时</a:t>
                      </a:r>
                    </a:p>
                  </a:txBody>
                  <a:tcPr/>
                </a:tc>
                <a:extLst>
                  <a:ext uri="{0D108BD9-81ED-4DB2-BD59-A6C34878D82A}">
                    <a16:rowId xmlns:a16="http://schemas.microsoft.com/office/drawing/2014/main" val="513138213"/>
                  </a:ext>
                </a:extLst>
              </a:tr>
              <a:tr h="625618">
                <a:tc>
                  <a:txBody>
                    <a:bodyPr/>
                    <a:lstStyle/>
                    <a:p>
                      <a:pPr>
                        <a:lnSpc>
                          <a:spcPct val="120000"/>
                        </a:lnSpc>
                      </a:pP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1. </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引论</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阐述计算机网络的定义、用途、分类、软硬件构成、参考模型及一些典型的示例网络。需要重点掌握的是计算机网络的软硬件构成和参考模型</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279773825"/>
                  </a:ext>
                </a:extLst>
              </a:tr>
              <a:tr h="899321">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2.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物理层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en-US" sz="1400" b="0" i="0" kern="1200" dirty="0">
                          <a:solidFill>
                            <a:schemeClr val="dk1"/>
                          </a:solidFill>
                          <a:effectLst/>
                          <a:latin typeface="微软雅黑" panose="020B0503020204020204" pitchFamily="34" charset="-122"/>
                          <a:ea typeface="微软雅黑" panose="020B0503020204020204" pitchFamily="34" charset="-122"/>
                          <a:cs typeface="+mn-cs"/>
                        </a:rPr>
                        <a:t>物理层关注于比特流在传输介质上的传输过程，包括比特在传输介质上的信号形式、传输速率、提升传输速率的手段、传输介质的特征等。本章阐述了数据通信的基础理论、传输介质、调制和多路复用技术、交换技术，并介绍了公共交换电话网络、移动电话系统、有线电视网络的主要技术特征</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12679016"/>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3.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数据链路层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成帧技术，差错检测及纠正，流量控制的基本方法，协议及其验证，滑动窗口协议，</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HDLC</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及</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PPP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协议</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7</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34511147"/>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4.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介质访问子层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动、静态信道分配技术，多路访问协议，以太网，无线网，网桥、数据链路层交换，虚拟局域网</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44796863"/>
                  </a:ext>
                </a:extLst>
              </a:tr>
              <a:tr h="625618">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5.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网络层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存储</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转发交换，面向连接服务和无连接服务，路由算法，拥塞控制，服务质量，</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IP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协议与</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IP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地址，因特网控制协议</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10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81346960"/>
                  </a:ext>
                </a:extLst>
              </a:tr>
              <a:tr h="435406">
                <a:tc>
                  <a:txBody>
                    <a:bodyPr/>
                    <a:lstStyle/>
                    <a:p>
                      <a:pPr>
                        <a:lnSpc>
                          <a:spcPct val="120000"/>
                        </a:lnSpc>
                      </a:pPr>
                      <a:r>
                        <a:rPr lang="en-US" altLang="zh-CN" sz="1400" kern="1200" dirty="0">
                          <a:solidFill>
                            <a:schemeClr val="tx1"/>
                          </a:solidFill>
                          <a:effectLst/>
                          <a:latin typeface="微软雅黑" panose="020B0503020204020204" pitchFamily="34" charset="-122"/>
                          <a:ea typeface="微软雅黑" panose="020B0503020204020204" pitchFamily="34" charset="-122"/>
                          <a:cs typeface="+mn-cs"/>
                        </a:rPr>
                        <a:t>6. </a:t>
                      </a:r>
                      <a:r>
                        <a:rPr lang="zh-CN" altLang="zh-CN" sz="1400" kern="1200" dirty="0">
                          <a:solidFill>
                            <a:schemeClr val="tx1"/>
                          </a:solidFill>
                          <a:effectLst/>
                          <a:latin typeface="微软雅黑" panose="020B0503020204020204" pitchFamily="34" charset="-122"/>
                          <a:ea typeface="微软雅黑" panose="020B0503020204020204" pitchFamily="34" charset="-122"/>
                          <a:cs typeface="+mn-cs"/>
                        </a:rPr>
                        <a:t>传输层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nSpc>
                          <a:spcPct val="120000"/>
                        </a:lnSpc>
                      </a:pP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传输服务，传输协议，链接的建立与释放，</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UDP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400" kern="1200" dirty="0">
                          <a:solidFill>
                            <a:schemeClr val="dk1"/>
                          </a:solidFill>
                          <a:effectLst/>
                          <a:latin typeface="微软雅黑" panose="020B0503020204020204" pitchFamily="34" charset="-122"/>
                          <a:ea typeface="微软雅黑" panose="020B0503020204020204" pitchFamily="34" charset="-122"/>
                          <a:cs typeface="+mn-cs"/>
                        </a:rPr>
                        <a:t>TCP</a:t>
                      </a:r>
                      <a:r>
                        <a:rPr lang="zh-CN" altLang="zh-CN" sz="1400" kern="1200" dirty="0">
                          <a:solidFill>
                            <a:schemeClr val="dk1"/>
                          </a:solidFill>
                          <a:effectLst/>
                          <a:latin typeface="微软雅黑" panose="020B0503020204020204" pitchFamily="34" charset="-122"/>
                          <a:ea typeface="微软雅黑" panose="020B0503020204020204" pitchFamily="34" charset="-122"/>
                          <a:cs typeface="+mn-cs"/>
                        </a:rPr>
                        <a:t>，性能</a:t>
                      </a:r>
                      <a:endParaRPr lang="zh-CN" altLang="en-US" sz="1400"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12</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54130211"/>
                  </a:ext>
                </a:extLst>
              </a:tr>
              <a:tr h="435406">
                <a:tc>
                  <a:txBody>
                    <a:bodyPr/>
                    <a:lstStyle/>
                    <a:p>
                      <a:pPr>
                        <a:lnSpc>
                          <a:spcPct val="120000"/>
                        </a:lnSpc>
                      </a:pPr>
                      <a:r>
                        <a:rPr lang="zh-CN" altLang="en-US" sz="1400" dirty="0">
                          <a:solidFill>
                            <a:schemeClr val="tx1"/>
                          </a:solidFill>
                          <a:latin typeface="微软雅黑" panose="020B0503020204020204" pitchFamily="34" charset="-122"/>
                          <a:ea typeface="微软雅黑" panose="020B0503020204020204" pitchFamily="34" charset="-122"/>
                        </a:rPr>
                        <a:t>期中考试</a:t>
                      </a:r>
                    </a:p>
                  </a:txBody>
                  <a:tcPr/>
                </a:tc>
                <a:tc>
                  <a:txBody>
                    <a:bodyPr/>
                    <a:lstStyle/>
                    <a:p>
                      <a:pPr>
                        <a:lnSpc>
                          <a:spcPct val="120000"/>
                        </a:lnSpc>
                      </a:pPr>
                      <a:r>
                        <a:rPr lang="zh-CN" altLang="en-US" sz="1400" dirty="0">
                          <a:latin typeface="微软雅黑" panose="020B0503020204020204" pitchFamily="34" charset="-122"/>
                          <a:ea typeface="微软雅黑" panose="020B0503020204020204" pitchFamily="34" charset="-122"/>
                        </a:rPr>
                        <a:t>预计第</a:t>
                      </a:r>
                      <a:r>
                        <a:rPr lang="en-US" altLang="zh-CN" sz="1400" dirty="0">
                          <a:latin typeface="微软雅黑" panose="020B0503020204020204" pitchFamily="34" charset="-122"/>
                          <a:ea typeface="微软雅黑" panose="020B0503020204020204" pitchFamily="34" charset="-122"/>
                        </a:rPr>
                        <a:t>10</a:t>
                      </a:r>
                      <a:r>
                        <a:rPr lang="zh-CN" altLang="en-US" sz="1400" dirty="0">
                          <a:latin typeface="微软雅黑" panose="020B0503020204020204" pitchFamily="34" charset="-122"/>
                          <a:ea typeface="微软雅黑" panose="020B0503020204020204" pitchFamily="34" charset="-122"/>
                        </a:rPr>
                        <a:t>周</a:t>
                      </a:r>
                    </a:p>
                  </a:txBody>
                  <a:tcPr/>
                </a:tc>
                <a:tc>
                  <a:txBody>
                    <a:bodyPr/>
                    <a:lstStyle/>
                    <a:p>
                      <a:pPr>
                        <a:lnSpc>
                          <a:spcPct val="120000"/>
                        </a:lnSpc>
                      </a:pP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553543518"/>
                  </a:ext>
                </a:extLst>
              </a:tr>
              <a:tr h="435406">
                <a:tc>
                  <a:txBody>
                    <a:bodyPr/>
                    <a:lstStyle/>
                    <a:p>
                      <a:pPr>
                        <a:lnSpc>
                          <a:spcPct val="120000"/>
                        </a:lnSpc>
                      </a:pPr>
                      <a:r>
                        <a:rPr lang="zh-CN" altLang="en-US" sz="1400" b="1" dirty="0">
                          <a:latin typeface="微软雅黑" panose="020B0503020204020204" pitchFamily="34" charset="-122"/>
                          <a:ea typeface="微软雅黑" panose="020B0503020204020204" pitchFamily="34" charset="-122"/>
                        </a:rPr>
                        <a:t>总计</a:t>
                      </a:r>
                    </a:p>
                  </a:txBody>
                  <a:tcPr/>
                </a:tc>
                <a:tc>
                  <a:txBody>
                    <a:bodyPr/>
                    <a:lstStyle/>
                    <a:p>
                      <a:pPr>
                        <a:lnSpc>
                          <a:spcPct val="120000"/>
                        </a:lnSpc>
                      </a:pPr>
                      <a:endParaRPr lang="zh-CN" altLang="en-US" sz="1400" b="1" dirty="0">
                        <a:latin typeface="微软雅黑" panose="020B0503020204020204" pitchFamily="34" charset="-122"/>
                        <a:ea typeface="微软雅黑" panose="020B0503020204020204" pitchFamily="34" charset="-122"/>
                      </a:endParaRPr>
                    </a:p>
                  </a:txBody>
                  <a:tcPr/>
                </a:tc>
                <a:tc>
                  <a:txBody>
                    <a:bodyPr/>
                    <a:lstStyle/>
                    <a:p>
                      <a:pPr>
                        <a:lnSpc>
                          <a:spcPct val="120000"/>
                        </a:lnSpc>
                      </a:pPr>
                      <a:r>
                        <a:rPr lang="en-US" altLang="zh-CN" sz="1400" b="1" dirty="0">
                          <a:latin typeface="微软雅黑" panose="020B0503020204020204" pitchFamily="34" charset="-122"/>
                          <a:ea typeface="微软雅黑" panose="020B0503020204020204" pitchFamily="34" charset="-122"/>
                        </a:rPr>
                        <a:t>54</a:t>
                      </a:r>
                      <a:endParaRPr lang="zh-CN" altLang="en-US" sz="14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548786878"/>
                  </a:ext>
                </a:extLst>
              </a:tr>
            </a:tbl>
          </a:graphicData>
        </a:graphic>
      </p:graphicFrame>
      <p:pic>
        <p:nvPicPr>
          <p:cNvPr id="5" name="Picture 2">
            <a:extLst>
              <a:ext uri="{FF2B5EF4-FFF2-40B4-BE49-F238E27FC236}">
                <a16:creationId xmlns:a16="http://schemas.microsoft.com/office/drawing/2014/main" id="{F1EDF930-3469-4561-84E8-9EDE26F725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727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9DAE91F-E0D4-4AA4-9C58-9703F0C66538}"/>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Course Outline – </a:t>
            </a:r>
            <a:r>
              <a:rPr lang="zh-CN" altLang="en-US" sz="2800" b="1" kern="0" dirty="0">
                <a:solidFill>
                  <a:srgbClr val="C00000"/>
                </a:solidFill>
                <a:latin typeface="微软雅黑" panose="020B0503020204020204" pitchFamily="34" charset="-122"/>
                <a:ea typeface="微软雅黑" panose="020B0503020204020204" pitchFamily="34" charset="-122"/>
              </a:rPr>
              <a:t>实验课</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2" name="表格 7">
            <a:extLst>
              <a:ext uri="{FF2B5EF4-FFF2-40B4-BE49-F238E27FC236}">
                <a16:creationId xmlns:a16="http://schemas.microsoft.com/office/drawing/2014/main" id="{A71ED2C0-B4FC-4796-B596-54249B705675}"/>
              </a:ext>
            </a:extLst>
          </p:cNvPr>
          <p:cNvGraphicFramePr>
            <a:graphicFrameLocks noGrp="1"/>
          </p:cNvGraphicFramePr>
          <p:nvPr>
            <p:extLst>
              <p:ext uri="{D42A27DB-BD31-4B8C-83A1-F6EECF244321}">
                <p14:modId xmlns:p14="http://schemas.microsoft.com/office/powerpoint/2010/main" val="847052378"/>
              </p:ext>
            </p:extLst>
          </p:nvPr>
        </p:nvGraphicFramePr>
        <p:xfrm>
          <a:off x="345517" y="966342"/>
          <a:ext cx="11558974" cy="5708714"/>
        </p:xfrm>
        <a:graphic>
          <a:graphicData uri="http://schemas.openxmlformats.org/drawingml/2006/table">
            <a:tbl>
              <a:tblPr firstRow="1" bandRow="1">
                <a:tableStyleId>{5C22544A-7EE6-4342-B048-85BDC9FD1C3A}</a:tableStyleId>
              </a:tblPr>
              <a:tblGrid>
                <a:gridCol w="829381">
                  <a:extLst>
                    <a:ext uri="{9D8B030D-6E8A-4147-A177-3AD203B41FA5}">
                      <a16:colId xmlns:a16="http://schemas.microsoft.com/office/drawing/2014/main" val="2998737767"/>
                    </a:ext>
                  </a:extLst>
                </a:gridCol>
                <a:gridCol w="1520455">
                  <a:extLst>
                    <a:ext uri="{9D8B030D-6E8A-4147-A177-3AD203B41FA5}">
                      <a16:colId xmlns:a16="http://schemas.microsoft.com/office/drawing/2014/main" val="1748180576"/>
                    </a:ext>
                  </a:extLst>
                </a:gridCol>
                <a:gridCol w="8484782">
                  <a:extLst>
                    <a:ext uri="{9D8B030D-6E8A-4147-A177-3AD203B41FA5}">
                      <a16:colId xmlns:a16="http://schemas.microsoft.com/office/drawing/2014/main" val="2840025556"/>
                    </a:ext>
                  </a:extLst>
                </a:gridCol>
                <a:gridCol w="724356">
                  <a:extLst>
                    <a:ext uri="{9D8B030D-6E8A-4147-A177-3AD203B41FA5}">
                      <a16:colId xmlns:a16="http://schemas.microsoft.com/office/drawing/2014/main" val="1423424912"/>
                    </a:ext>
                  </a:extLst>
                </a:gridCol>
              </a:tblGrid>
              <a:tr h="0">
                <a:tc>
                  <a:txBody>
                    <a:bodyPr/>
                    <a:lstStyle/>
                    <a:p>
                      <a:pPr>
                        <a:lnSpc>
                          <a:spcPct val="120000"/>
                        </a:lnSpc>
                      </a:pPr>
                      <a:r>
                        <a:rPr lang="zh-CN" altLang="en-US" sz="1800" dirty="0">
                          <a:latin typeface="微软雅黑" panose="020B0503020204020204" pitchFamily="34" charset="-122"/>
                          <a:ea typeface="微软雅黑" panose="020B0503020204020204" pitchFamily="34" charset="-122"/>
                        </a:rPr>
                        <a:t>序号</a:t>
                      </a:r>
                    </a:p>
                  </a:txBody>
                  <a:tcPr/>
                </a:tc>
                <a:tc>
                  <a:txBody>
                    <a:bodyPr/>
                    <a:lstStyle/>
                    <a:p>
                      <a:pPr>
                        <a:lnSpc>
                          <a:spcPct val="120000"/>
                        </a:lnSpc>
                      </a:pPr>
                      <a:r>
                        <a:rPr lang="zh-CN" altLang="en-US" sz="1800" dirty="0">
                          <a:latin typeface="微软雅黑" panose="020B0503020204020204" pitchFamily="34" charset="-122"/>
                          <a:ea typeface="微软雅黑" panose="020B0503020204020204" pitchFamily="34" charset="-122"/>
                        </a:rPr>
                        <a:t>实验</a:t>
                      </a:r>
                    </a:p>
                  </a:txBody>
                  <a:tcPr/>
                </a:tc>
                <a:tc>
                  <a:txBody>
                    <a:bodyPr/>
                    <a:lstStyle/>
                    <a:p>
                      <a:pPr>
                        <a:lnSpc>
                          <a:spcPct val="120000"/>
                        </a:lnSpc>
                      </a:pPr>
                      <a:r>
                        <a:rPr lang="zh-CN" altLang="en-US" sz="1800" dirty="0">
                          <a:latin typeface="微软雅黑" panose="020B0503020204020204" pitchFamily="34" charset="-122"/>
                          <a:ea typeface="微软雅黑" panose="020B0503020204020204" pitchFamily="34" charset="-122"/>
                        </a:rPr>
                        <a:t>主要内容</a:t>
                      </a:r>
                    </a:p>
                  </a:txBody>
                  <a:tcPr/>
                </a:tc>
                <a:tc>
                  <a:txBody>
                    <a:bodyPr/>
                    <a:lstStyle/>
                    <a:p>
                      <a:pPr>
                        <a:lnSpc>
                          <a:spcPct val="120000"/>
                        </a:lnSpc>
                      </a:pPr>
                      <a:r>
                        <a:rPr lang="zh-CN" altLang="en-US" sz="1800" dirty="0">
                          <a:latin typeface="微软雅黑" panose="020B0503020204020204" pitchFamily="34" charset="-122"/>
                          <a:ea typeface="微软雅黑" panose="020B0503020204020204" pitchFamily="34" charset="-122"/>
                        </a:rPr>
                        <a:t>学时</a:t>
                      </a:r>
                    </a:p>
                  </a:txBody>
                  <a:tcPr/>
                </a:tc>
                <a:extLst>
                  <a:ext uri="{0D108BD9-81ED-4DB2-BD59-A6C34878D82A}">
                    <a16:rowId xmlns:a16="http://schemas.microsoft.com/office/drawing/2014/main" val="513138213"/>
                  </a:ext>
                </a:extLst>
              </a:tr>
              <a:tr h="595454">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1</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Protocol Layer</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learn how protocols and layering are represented in packets. They are key concepts for structuring networks that are covered in §1.3 and §1.4.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4279773825"/>
                  </a:ext>
                </a:extLst>
              </a:tr>
              <a:tr h="595454">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Ethernet</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explore the details of Ethernet frames. Ethernet is covered in §4.3; modern computers connect to Ethernet switches (§4.3.4) rather than use classic Ethernet (§4.3.2).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4</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812679016"/>
                  </a:ext>
                </a:extLst>
              </a:tr>
              <a:tr h="850648">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3</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IPV4</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learn about the details of IP (Internet Protocol). IP is the network layer protocol used throughout the Internet. We will examine IP version 4, since it is ubiquitously deployed, while the IP version 6 is partly deployed. IP is covered in §5.6.1 to §5.6.3.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34511147"/>
                  </a:ext>
                </a:extLst>
              </a:tr>
              <a:tr h="595454">
                <a:tc>
                  <a:txBody>
                    <a:bodyPr/>
                    <a:lstStyle/>
                    <a:p>
                      <a:pPr lvl="0"/>
                      <a:r>
                        <a:rPr lang="en-US" altLang="zh-CN" sz="1700" kern="1200" dirty="0">
                          <a:solidFill>
                            <a:schemeClr val="dk1"/>
                          </a:solidFill>
                          <a:effectLst/>
                          <a:latin typeface="Arial" panose="020B0604020202020204" pitchFamily="34" charset="0"/>
                          <a:ea typeface="+mn-ea"/>
                          <a:cs typeface="Arial" panose="020B0604020202020204" pitchFamily="34" charset="0"/>
                        </a:rPr>
                        <a:t>4</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lvl="0"/>
                      <a:r>
                        <a:rPr lang="en-US" altLang="zh-CN" sz="1700" kern="1200" dirty="0">
                          <a:solidFill>
                            <a:schemeClr val="dk1"/>
                          </a:solidFill>
                          <a:effectLst/>
                          <a:latin typeface="Arial" panose="020B0604020202020204" pitchFamily="34" charset="0"/>
                          <a:ea typeface="+mn-ea"/>
                          <a:cs typeface="Arial" panose="020B0604020202020204" pitchFamily="34" charset="0"/>
                        </a:rPr>
                        <a:t>ARP</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see how ARP works. ARP is an essential glue protocol that is used to join Ethernet and IP. It is covered in §5.6.4.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444796863"/>
                  </a:ext>
                </a:extLst>
              </a:tr>
              <a:tr h="595454">
                <a:tc>
                  <a:txBody>
                    <a:bodyPr/>
                    <a:lstStyle/>
                    <a:p>
                      <a:pPr lvl="0"/>
                      <a:r>
                        <a:rPr lang="en-US" altLang="zh-CN" sz="1700" kern="1200" dirty="0">
                          <a:solidFill>
                            <a:schemeClr val="dk1"/>
                          </a:solidFill>
                          <a:effectLst/>
                          <a:latin typeface="Arial" panose="020B0604020202020204" pitchFamily="34" charset="0"/>
                          <a:ea typeface="+mn-ea"/>
                          <a:cs typeface="Arial" panose="020B0604020202020204" pitchFamily="34" charset="0"/>
                        </a:rPr>
                        <a:t>5</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lvl="0"/>
                      <a:r>
                        <a:rPr lang="en-US" altLang="zh-CN" sz="1700" kern="1200" dirty="0">
                          <a:solidFill>
                            <a:schemeClr val="dk1"/>
                          </a:solidFill>
                          <a:effectLst/>
                          <a:latin typeface="Arial" panose="020B0604020202020204" pitchFamily="34" charset="0"/>
                          <a:ea typeface="+mn-ea"/>
                          <a:cs typeface="Arial" panose="020B0604020202020204" pitchFamily="34" charset="0"/>
                        </a:rPr>
                        <a:t>UDP</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look at the details of UDP. UDP is a transport protocol used throughout the Internet as an alternative to TCP when reliability is not required. It is covered in §6.4.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281346960"/>
                  </a:ext>
                </a:extLst>
              </a:tr>
              <a:tr h="595454">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6</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TCP</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To see the details of TCP (Transmission Control Protocol). TCP is the main transport layer protocol used in the Internet. It is covered in §6.5 of your text.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4</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954130211"/>
                  </a:ext>
                </a:extLst>
              </a:tr>
              <a:tr h="677801">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7</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altLang="zh-CN" sz="1700" kern="1200" dirty="0">
                          <a:solidFill>
                            <a:schemeClr val="dk1"/>
                          </a:solidFill>
                          <a:effectLst/>
                          <a:latin typeface="Arial" panose="020B0604020202020204" pitchFamily="34" charset="0"/>
                          <a:ea typeface="+mn-ea"/>
                          <a:cs typeface="Arial" panose="020B0604020202020204" pitchFamily="34" charset="0"/>
                        </a:rPr>
                        <a:t>Socket Programming</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700" kern="1200" dirty="0">
                          <a:solidFill>
                            <a:schemeClr val="dk1"/>
                          </a:solidFill>
                          <a:effectLst/>
                          <a:latin typeface="Arial" panose="020B0604020202020204" pitchFamily="34" charset="0"/>
                          <a:ea typeface="+mn-ea"/>
                          <a:cs typeface="Arial" panose="020B0604020202020204" pitchFamily="34" charset="0"/>
                        </a:rPr>
                        <a:t>To get the details of socket programming and simple client-server interaction. It is covered in §6.1. </a:t>
                      </a:r>
                      <a:endParaRPr lang="zh-CN" altLang="zh-CN" sz="17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2</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553543518"/>
                  </a:ext>
                </a:extLst>
              </a:tr>
              <a:tr h="371568">
                <a:tc gridSpan="2">
                  <a:txBody>
                    <a:bodyPr/>
                    <a:lstStyle/>
                    <a:p>
                      <a:pPr algn="ct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Total</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tc hMerge="1">
                  <a:txBody>
                    <a:bodyPr/>
                    <a:lstStyle/>
                    <a:p>
                      <a:pPr>
                        <a:lnSpc>
                          <a:spcPct val="120000"/>
                        </a:lnSpc>
                      </a:pPr>
                      <a:r>
                        <a:rPr lang="en-US" altLang="zh-CN" sz="1800" kern="1200" dirty="0">
                          <a:solidFill>
                            <a:schemeClr val="dk1"/>
                          </a:solidFill>
                          <a:effectLst/>
                          <a:latin typeface="+mn-lt"/>
                          <a:ea typeface="+mn-ea"/>
                          <a:cs typeface="+mn-cs"/>
                        </a:rPr>
                        <a:t>Total</a:t>
                      </a:r>
                      <a:endParaRPr lang="zh-CN" altLang="en-US" sz="1800" kern="1200" dirty="0">
                        <a:solidFill>
                          <a:schemeClr val="dk1"/>
                        </a:solidFill>
                        <a:effectLst/>
                        <a:latin typeface="+mn-lt"/>
                        <a:ea typeface="+mn-ea"/>
                        <a:cs typeface="+mn-cs"/>
                      </a:endParaRPr>
                    </a:p>
                  </a:txBody>
                  <a:tcPr/>
                </a:tc>
                <a:tc>
                  <a:txBody>
                    <a:bodyPr/>
                    <a:lstStyle/>
                    <a:p>
                      <a:pPr>
                        <a:lnSpc>
                          <a:spcPct val="120000"/>
                        </a:lnSpc>
                      </a:pPr>
                      <a:endParaRPr lang="zh-CN" altLang="en-US" sz="1700" b="1" dirty="0">
                        <a:latin typeface="Arial" panose="020B0604020202020204" pitchFamily="34" charset="0"/>
                        <a:ea typeface="微软雅黑" panose="020B0503020204020204" pitchFamily="34" charset="-122"/>
                        <a:cs typeface="Arial" panose="020B0604020202020204" pitchFamily="34" charset="0"/>
                      </a:endParaRPr>
                    </a:p>
                  </a:txBody>
                  <a:tcPr/>
                </a:tc>
                <a:tc>
                  <a:txBody>
                    <a:bodyPr/>
                    <a:lstStyle/>
                    <a:p>
                      <a:pPr>
                        <a:lnSpc>
                          <a:spcPct val="120000"/>
                        </a:lnSpc>
                      </a:pPr>
                      <a:r>
                        <a:rPr lang="en-US" altLang="zh-CN" sz="1700" kern="1200" dirty="0">
                          <a:solidFill>
                            <a:schemeClr val="dk1"/>
                          </a:solidFill>
                          <a:effectLst/>
                          <a:latin typeface="Arial" panose="020B0604020202020204" pitchFamily="34" charset="0"/>
                          <a:ea typeface="+mn-ea"/>
                          <a:cs typeface="Arial" panose="020B0604020202020204" pitchFamily="34" charset="0"/>
                        </a:rPr>
                        <a:t>18</a:t>
                      </a:r>
                      <a:endParaRPr lang="zh-CN" altLang="en-US" sz="17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548786878"/>
                  </a:ext>
                </a:extLst>
              </a:tr>
            </a:tbl>
          </a:graphicData>
        </a:graphic>
      </p:graphicFrame>
      <p:pic>
        <p:nvPicPr>
          <p:cNvPr id="5" name="Picture 2">
            <a:extLst>
              <a:ext uri="{FF2B5EF4-FFF2-40B4-BE49-F238E27FC236}">
                <a16:creationId xmlns:a16="http://schemas.microsoft.com/office/drawing/2014/main" id="{F1EDF930-3469-4561-84E8-9EDE26F725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59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EDCD4C7-553F-4298-9B9C-37173BC55400}"/>
              </a:ext>
            </a:extLst>
          </p:cNvPr>
          <p:cNvSpPr/>
          <p:nvPr/>
        </p:nvSpPr>
        <p:spPr>
          <a:xfrm>
            <a:off x="229436" y="281326"/>
            <a:ext cx="11888949"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Goals</a:t>
            </a:r>
            <a:endParaRPr lang="zh-CN" altLang="en-US" sz="2800" b="1" kern="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 name="Rectangle 3">
            <a:extLst>
              <a:ext uri="{FF2B5EF4-FFF2-40B4-BE49-F238E27FC236}">
                <a16:creationId xmlns:a16="http://schemas.microsoft.com/office/drawing/2014/main" id="{9BA7F555-57A8-4EFD-B7C5-5104B81960C5}"/>
              </a:ext>
            </a:extLst>
          </p:cNvPr>
          <p:cNvSpPr txBox="1">
            <a:spLocks noChangeArrowheads="1"/>
          </p:cNvSpPr>
          <p:nvPr/>
        </p:nvSpPr>
        <p:spPr>
          <a:xfrm>
            <a:off x="633844" y="1643975"/>
            <a:ext cx="10786428" cy="43513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20000"/>
              </a:lnSpc>
            </a:pPr>
            <a:r>
              <a:rPr lang="zh-CN" altLang="zh-CN" sz="2000" dirty="0">
                <a:latin typeface="微软雅黑" panose="020B0503020204020204" pitchFamily="34" charset="-122"/>
                <a:ea typeface="微软雅黑" panose="020B0503020204020204" pitchFamily="34" charset="-122"/>
              </a:rPr>
              <a:t>能够阐述计算机网络领域的关键概念和术语，说明典型网络的技术特征，掌握计算机网络领域的核心知识；</a:t>
            </a:r>
          </a:p>
          <a:p>
            <a:pPr lvl="0">
              <a:lnSpc>
                <a:spcPct val="120000"/>
              </a:lnSpc>
            </a:pPr>
            <a:r>
              <a:rPr lang="zh-CN" altLang="zh-CN" sz="2000" dirty="0">
                <a:latin typeface="微软雅黑" panose="020B0503020204020204" pitchFamily="34" charset="-122"/>
                <a:ea typeface="微软雅黑" panose="020B0503020204020204" pitchFamily="34" charset="-122"/>
              </a:rPr>
              <a:t>能够运用计算机网络基本概念和原理，解释并对比典型网络、协议和应用的技术特征和工作原理，深入理解计算机网络、协议及应用的工作原理； </a:t>
            </a:r>
          </a:p>
          <a:p>
            <a:pPr>
              <a:lnSpc>
                <a:spcPct val="120000"/>
              </a:lnSpc>
            </a:pPr>
            <a:r>
              <a:rPr lang="zh-CN" altLang="zh-CN" sz="2000" dirty="0">
                <a:latin typeface="微软雅黑" panose="020B0503020204020204" pitchFamily="34" charset="-122"/>
                <a:ea typeface="微软雅黑" panose="020B0503020204020204" pitchFamily="34" charset="-122"/>
              </a:rPr>
              <a:t>能够运用计算机网络涉及的相关理论技术和文献资料，分析并评估计算机网络协议，制定网络规划方案，解决计算机网络领域的实际问题。</a:t>
            </a:r>
          </a:p>
        </p:txBody>
      </p:sp>
      <p:pic>
        <p:nvPicPr>
          <p:cNvPr id="2" name="Picture 2">
            <a:extLst>
              <a:ext uri="{FF2B5EF4-FFF2-40B4-BE49-F238E27FC236}">
                <a16:creationId xmlns:a16="http://schemas.microsoft.com/office/drawing/2014/main" id="{1DB5BE16-D6D3-40DB-AC8F-EF9196E0DC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5280" b="1" dirty="0">
                <a:solidFill>
                  <a:srgbClr val="C00000"/>
                </a:solidFill>
                <a:latin typeface="微软雅黑" panose="020B0503020204020204" pitchFamily="34" charset="-122"/>
                <a:ea typeface="微软雅黑" panose="020B0503020204020204" pitchFamily="34" charset="-122"/>
              </a:rPr>
              <a:t>Q &amp; A</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13047</TotalTime>
  <Words>1278</Words>
  <Application>Microsoft Office PowerPoint</Application>
  <PresentationFormat>宽屏</PresentationFormat>
  <Paragraphs>142</Paragraphs>
  <Slides>15</Slides>
  <Notes>8</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25" baseType="lpstr">
      <vt:lpstr>Gotham</vt:lpstr>
      <vt:lpstr>等线</vt:lpstr>
      <vt:lpstr>等线 Light</vt:lpstr>
      <vt:lpstr>微软雅黑</vt:lpstr>
      <vt:lpstr>Arial</vt:lpstr>
      <vt:lpstr>Calibri</vt:lpstr>
      <vt:lpstr>Wingdings</vt:lpstr>
      <vt:lpstr>Office 主题​​</vt:lpstr>
      <vt:lpstr>2_自定义设计方案</vt:lpstr>
      <vt:lpstr>Microsoft 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572</cp:revision>
  <dcterms:created xsi:type="dcterms:W3CDTF">2016-09-26T01:53:00Z</dcterms:created>
  <dcterms:modified xsi:type="dcterms:W3CDTF">2026-09-14T14:14:24Z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