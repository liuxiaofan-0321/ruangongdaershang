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1.xml" ContentType="application/vnd.openxmlformats-officedocument.presentationml.tags+xml"/>
  <Override PartName="/ppt/notesSlides/notesSlide37.xml" ContentType="application/vnd.openxmlformats-officedocument.presentationml.notesSlide+xml"/>
  <Override PartName="/ppt/tags/tag12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7" r:id="rId3"/>
    <p:sldId id="313" r:id="rId4"/>
    <p:sldId id="316" r:id="rId5"/>
    <p:sldId id="317" r:id="rId6"/>
    <p:sldId id="273" r:id="rId7"/>
    <p:sldId id="328" r:id="rId8"/>
    <p:sldId id="332" r:id="rId9"/>
    <p:sldId id="275" r:id="rId10"/>
    <p:sldId id="274" r:id="rId11"/>
    <p:sldId id="325" r:id="rId12"/>
    <p:sldId id="342" r:id="rId13"/>
    <p:sldId id="277" r:id="rId14"/>
    <p:sldId id="326" r:id="rId15"/>
    <p:sldId id="343" r:id="rId16"/>
    <p:sldId id="327" r:id="rId17"/>
    <p:sldId id="344" r:id="rId18"/>
    <p:sldId id="280" r:id="rId19"/>
    <p:sldId id="284" r:id="rId20"/>
    <p:sldId id="333" r:id="rId21"/>
    <p:sldId id="321" r:id="rId22"/>
    <p:sldId id="320" r:id="rId23"/>
    <p:sldId id="288" r:id="rId24"/>
    <p:sldId id="345" r:id="rId25"/>
    <p:sldId id="289" r:id="rId26"/>
    <p:sldId id="291" r:id="rId27"/>
    <p:sldId id="322" r:id="rId28"/>
    <p:sldId id="330" r:id="rId29"/>
    <p:sldId id="346" r:id="rId30"/>
    <p:sldId id="290" r:id="rId31"/>
    <p:sldId id="294" r:id="rId32"/>
    <p:sldId id="341" r:id="rId33"/>
    <p:sldId id="349" r:id="rId34"/>
    <p:sldId id="323" r:id="rId35"/>
    <p:sldId id="295" r:id="rId36"/>
    <p:sldId id="296" r:id="rId37"/>
    <p:sldId id="297" r:id="rId38"/>
    <p:sldId id="298" r:id="rId39"/>
    <p:sldId id="299" r:id="rId40"/>
    <p:sldId id="300" r:id="rId41"/>
    <p:sldId id="336" r:id="rId42"/>
    <p:sldId id="337" r:id="rId43"/>
    <p:sldId id="338" r:id="rId44"/>
    <p:sldId id="339" r:id="rId45"/>
    <p:sldId id="340" r:id="rId46"/>
    <p:sldId id="307" r:id="rId47"/>
    <p:sldId id="334" r:id="rId48"/>
    <p:sldId id="347" r:id="rId49"/>
    <p:sldId id="308" r:id="rId50"/>
    <p:sldId id="348" r:id="rId51"/>
    <p:sldId id="309" r:id="rId52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5F5F5"/>
    <a:srgbClr val="C41F1F"/>
    <a:srgbClr val="C52727"/>
    <a:srgbClr val="CE6B6A"/>
    <a:srgbClr val="D8A8A6"/>
    <a:srgbClr val="B80102"/>
    <a:srgbClr val="ECECEC"/>
    <a:srgbClr val="7F7F7F"/>
    <a:srgbClr val="006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99" autoAdjust="0"/>
    <p:restoredTop sz="77220" autoAdjust="0"/>
  </p:normalViewPr>
  <p:slideViewPr>
    <p:cSldViewPr snapToGrid="0">
      <p:cViewPr varScale="1">
        <p:scale>
          <a:sx n="86" d="100"/>
          <a:sy n="86" d="100"/>
        </p:scale>
        <p:origin x="966" y="2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出现频率(%)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T</c:v>
                </c:pt>
                <c:pt idx="2">
                  <c:v>A</c:v>
                </c:pt>
                <c:pt idx="3">
                  <c:v>O</c:v>
                </c:pt>
                <c:pt idx="4">
                  <c:v>I</c:v>
                </c:pt>
                <c:pt idx="5">
                  <c:v>N</c:v>
                </c:pt>
                <c:pt idx="6">
                  <c:v>S</c:v>
                </c:pt>
                <c:pt idx="7">
                  <c:v>H</c:v>
                </c:pt>
                <c:pt idx="8">
                  <c:v>R</c:v>
                </c:pt>
                <c:pt idx="9">
                  <c:v>D</c:v>
                </c:pt>
                <c:pt idx="10">
                  <c:v>L</c:v>
                </c:pt>
                <c:pt idx="11">
                  <c:v>U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12.7</c:v>
                </c:pt>
                <c:pt idx="1">
                  <c:v>9.1</c:v>
                </c:pt>
                <c:pt idx="2">
                  <c:v>8.1999999999999993</c:v>
                </c:pt>
                <c:pt idx="3">
                  <c:v>7.5</c:v>
                </c:pt>
                <c:pt idx="4">
                  <c:v>7</c:v>
                </c:pt>
                <c:pt idx="5">
                  <c:v>6.7</c:v>
                </c:pt>
                <c:pt idx="6">
                  <c:v>6.3</c:v>
                </c:pt>
                <c:pt idx="7">
                  <c:v>6.1</c:v>
                </c:pt>
                <c:pt idx="8">
                  <c:v>6</c:v>
                </c:pt>
                <c:pt idx="9">
                  <c:v>4.3</c:v>
                </c:pt>
                <c:pt idx="10">
                  <c:v>4</c:v>
                </c:pt>
                <c:pt idx="1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C-4732-8D4E-2DA7B96F6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d83dfdf-4c83-4364-85a7-203a94dc707a}"/>
      </c:ext>
    </c:extLst>
  </c:chart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9B1AB-4C61-4EAA-B981-DC4B0504F26F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1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6D625-A1DC-4EBB-A646-079D2450DB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6D625-A1DC-4EBB-A646-079D2450DB9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6D625-A1DC-4EBB-A646-079D2450DB9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8" y="1122388"/>
            <a:ext cx="9144470" cy="238765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8" y="3602118"/>
            <a:ext cx="9144470" cy="1655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-25401304" y="-2540055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37593930" y="3225870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/>
          <p:cNvGrpSpPr/>
          <p:nvPr userDrawn="1"/>
        </p:nvGrpSpPr>
        <p:grpSpPr>
          <a:xfrm>
            <a:off x="0" y="6385712"/>
            <a:ext cx="12192000" cy="508075"/>
            <a:chOff x="0" y="12669"/>
            <a:chExt cx="17007" cy="1008"/>
          </a:xfrm>
        </p:grpSpPr>
        <p:grpSp>
          <p:nvGrpSpPr>
            <p:cNvPr id="85" name="组合 84"/>
            <p:cNvGrpSpPr/>
            <p:nvPr userDrawn="1"/>
          </p:nvGrpSpPr>
          <p:grpSpPr>
            <a:xfrm>
              <a:off x="0" y="13021"/>
              <a:ext cx="15152" cy="585"/>
              <a:chOff x="0" y="13021"/>
              <a:chExt cx="15152" cy="585"/>
            </a:xfrm>
          </p:grpSpPr>
          <p:sp>
            <p:nvSpPr>
              <p:cNvPr id="45" name="矩形 44"/>
              <p:cNvSpPr/>
              <p:nvPr userDrawn="1"/>
            </p:nvSpPr>
            <p:spPr>
              <a:xfrm>
                <a:off x="0" y="13426"/>
                <a:ext cx="3726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1" name="矩形 50"/>
              <p:cNvSpPr/>
              <p:nvPr userDrawn="1"/>
            </p:nvSpPr>
            <p:spPr>
              <a:xfrm>
                <a:off x="0" y="13201"/>
                <a:ext cx="376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7" name="矩形 56"/>
              <p:cNvSpPr/>
              <p:nvPr userDrawn="1"/>
            </p:nvSpPr>
            <p:spPr>
              <a:xfrm>
                <a:off x="0" y="13021"/>
                <a:ext cx="3788" cy="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2" name="矩形 61"/>
              <p:cNvSpPr/>
              <p:nvPr userDrawn="1"/>
            </p:nvSpPr>
            <p:spPr>
              <a:xfrm>
                <a:off x="0" y="13313"/>
                <a:ext cx="374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13538"/>
                <a:ext cx="3704" cy="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grpSp>
            <p:nvGrpSpPr>
              <p:cNvPr id="81" name="组合 80"/>
              <p:cNvGrpSpPr/>
              <p:nvPr userDrawn="1"/>
            </p:nvGrpSpPr>
            <p:grpSpPr>
              <a:xfrm>
                <a:off x="3704" y="13021"/>
                <a:ext cx="3872" cy="585"/>
                <a:chOff x="3704" y="13021"/>
                <a:chExt cx="3872" cy="585"/>
              </a:xfrm>
            </p:grpSpPr>
            <p:sp>
              <p:nvSpPr>
                <p:cNvPr id="46" name="矩形 45"/>
                <p:cNvSpPr/>
                <p:nvPr userDrawn="1"/>
              </p:nvSpPr>
              <p:spPr>
                <a:xfrm>
                  <a:off x="3726" y="13426"/>
                  <a:ext cx="3726" cy="4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2" name="矩形 51"/>
                <p:cNvSpPr/>
                <p:nvPr userDrawn="1"/>
              </p:nvSpPr>
              <p:spPr>
                <a:xfrm>
                  <a:off x="3768" y="13201"/>
                  <a:ext cx="376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8" name="矩形 57"/>
                <p:cNvSpPr/>
                <p:nvPr userDrawn="1"/>
              </p:nvSpPr>
              <p:spPr>
                <a:xfrm>
                  <a:off x="3788" y="13021"/>
                  <a:ext cx="3788" cy="110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3" name="矩形 62"/>
                <p:cNvSpPr/>
                <p:nvPr userDrawn="1"/>
              </p:nvSpPr>
              <p:spPr>
                <a:xfrm>
                  <a:off x="3747" y="13313"/>
                  <a:ext cx="374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8" name="矩形 67"/>
                <p:cNvSpPr/>
                <p:nvPr userDrawn="1"/>
              </p:nvSpPr>
              <p:spPr>
                <a:xfrm>
                  <a:off x="3704" y="13538"/>
                  <a:ext cx="3704" cy="68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2" name="组合 81"/>
              <p:cNvGrpSpPr/>
              <p:nvPr userDrawn="1"/>
            </p:nvGrpSpPr>
            <p:grpSpPr>
              <a:xfrm>
                <a:off x="7408" y="13021"/>
                <a:ext cx="3956" cy="585"/>
                <a:chOff x="7408" y="13021"/>
                <a:chExt cx="3956" cy="585"/>
              </a:xfrm>
            </p:grpSpPr>
            <p:sp>
              <p:nvSpPr>
                <p:cNvPr id="47" name="矩形 46"/>
                <p:cNvSpPr/>
                <p:nvPr userDrawn="1"/>
              </p:nvSpPr>
              <p:spPr>
                <a:xfrm>
                  <a:off x="7452" y="13426"/>
                  <a:ext cx="3726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3" name="矩形 52"/>
                <p:cNvSpPr/>
                <p:nvPr userDrawn="1"/>
              </p:nvSpPr>
              <p:spPr>
                <a:xfrm>
                  <a:off x="7535" y="13201"/>
                  <a:ext cx="376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9" name="矩形 58"/>
                <p:cNvSpPr/>
                <p:nvPr userDrawn="1"/>
              </p:nvSpPr>
              <p:spPr>
                <a:xfrm>
                  <a:off x="7576" y="13021"/>
                  <a:ext cx="3788" cy="110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4" name="矩形 63"/>
                <p:cNvSpPr/>
                <p:nvPr userDrawn="1"/>
              </p:nvSpPr>
              <p:spPr>
                <a:xfrm>
                  <a:off x="7493" y="13313"/>
                  <a:ext cx="374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9" name="矩形 68"/>
                <p:cNvSpPr/>
                <p:nvPr userDrawn="1"/>
              </p:nvSpPr>
              <p:spPr>
                <a:xfrm>
                  <a:off x="7408" y="13538"/>
                  <a:ext cx="3704" cy="68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3" name="组合 82"/>
              <p:cNvGrpSpPr/>
              <p:nvPr userDrawn="1"/>
            </p:nvGrpSpPr>
            <p:grpSpPr>
              <a:xfrm>
                <a:off x="11112" y="13021"/>
                <a:ext cx="4040" cy="585"/>
                <a:chOff x="11112" y="13021"/>
                <a:chExt cx="4040" cy="585"/>
              </a:xfrm>
            </p:grpSpPr>
            <p:sp>
              <p:nvSpPr>
                <p:cNvPr id="48" name="矩形 47"/>
                <p:cNvSpPr/>
                <p:nvPr userDrawn="1"/>
              </p:nvSpPr>
              <p:spPr>
                <a:xfrm>
                  <a:off x="11178" y="13426"/>
                  <a:ext cx="3726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4" name="矩形 53"/>
                <p:cNvSpPr/>
                <p:nvPr userDrawn="1"/>
              </p:nvSpPr>
              <p:spPr>
                <a:xfrm>
                  <a:off x="11303" y="13201"/>
                  <a:ext cx="376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0" name="矩形 59"/>
                <p:cNvSpPr/>
                <p:nvPr userDrawn="1"/>
              </p:nvSpPr>
              <p:spPr>
                <a:xfrm>
                  <a:off x="11364" y="13021"/>
                  <a:ext cx="3788" cy="110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5" name="矩形 64"/>
                <p:cNvSpPr/>
                <p:nvPr userDrawn="1"/>
              </p:nvSpPr>
              <p:spPr>
                <a:xfrm>
                  <a:off x="11240" y="13313"/>
                  <a:ext cx="374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70" name="矩形 69"/>
                <p:cNvSpPr/>
                <p:nvPr userDrawn="1"/>
              </p:nvSpPr>
              <p:spPr>
                <a:xfrm>
                  <a:off x="11112" y="13538"/>
                  <a:ext cx="3704" cy="68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16123" y="13081"/>
              <a:ext cx="884" cy="518"/>
              <a:chOff x="16123" y="13021"/>
              <a:chExt cx="884" cy="518"/>
            </a:xfrm>
          </p:grpSpPr>
          <p:sp>
            <p:nvSpPr>
              <p:cNvPr id="72" name="矩形 71"/>
              <p:cNvSpPr/>
              <p:nvPr userDrawn="1"/>
            </p:nvSpPr>
            <p:spPr>
              <a:xfrm>
                <a:off x="16123" y="13379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16123" y="13021"/>
                <a:ext cx="884" cy="9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4" name="矩形 73"/>
              <p:cNvSpPr/>
              <p:nvPr userDrawn="1"/>
            </p:nvSpPr>
            <p:spPr>
              <a:xfrm>
                <a:off x="16123" y="131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5" name="矩形 74"/>
              <p:cNvSpPr/>
              <p:nvPr userDrawn="1"/>
            </p:nvSpPr>
            <p:spPr>
              <a:xfrm>
                <a:off x="16123" y="132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6" name="矩形 75"/>
              <p:cNvSpPr/>
              <p:nvPr userDrawn="1"/>
            </p:nvSpPr>
            <p:spPr>
              <a:xfrm>
                <a:off x="16123" y="13479"/>
                <a:ext cx="884" cy="6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</p:grpSp>
        <p:pic>
          <p:nvPicPr>
            <p:cNvPr id="86" name="图片 85" descr="ChatGPT Image 2026年9月7日 11_42_32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4612" y="12669"/>
              <a:ext cx="1682" cy="1009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15000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03120"/>
            <a:ext cx="9445752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i="0">
                <a:solidFill>
                  <a:srgbClr val="333333"/>
                </a:solidFill>
                <a:latin typeface="微软雅黑"/>
                <a:ea typeface="微软雅黑"/>
              </a:rPr>
              <a:t>密码与网络安全引论</a:t>
            </a:r>
            <a:endParaRPr sz="4000" b="1" i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023360" y="3291840"/>
            <a:ext cx="414223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4146" y="5067935"/>
            <a:ext cx="5280659" cy="457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1" i="0">
                <a:solidFill>
                  <a:srgbClr val="333333"/>
                </a:solidFill>
                <a:latin typeface="微软雅黑"/>
                <a:ea typeface="微软雅黑"/>
              </a:rPr>
              <a:t>第二讲</a:t>
            </a:r>
            <a:r>
              <a:rPr sz="1400" b="1" i="0" dirty="0">
                <a:solidFill>
                  <a:srgbClr val="333333"/>
                </a:solidFill>
                <a:latin typeface="微软雅黑"/>
                <a:ea typeface="微软雅黑"/>
              </a:rPr>
              <a:t> · </a:t>
            </a:r>
            <a:r>
              <a:rPr sz="1400" b="1" i="0" dirty="0" err="1">
                <a:solidFill>
                  <a:srgbClr val="333333"/>
                </a:solidFill>
                <a:latin typeface="微软雅黑"/>
                <a:ea typeface="微软雅黑"/>
              </a:rPr>
              <a:t>从古典密码走向现代密码</a:t>
            </a:r>
            <a:endParaRPr sz="14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62476" y="3709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华东师范大学软件工程学院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62476" y="44030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主讲人</a:t>
            </a:r>
            <a:r>
              <a:rPr lang="en-US" altLang="zh-CN"/>
              <a:t>：</a:t>
            </a:r>
            <a:r>
              <a:rPr lang="zh-CN" altLang="en-US"/>
              <a:t>张磊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554480"/>
            <a:ext cx="731520" cy="123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600" b="0" i="0">
                <a:solidFill>
                  <a:srgbClr val="808080"/>
                </a:solidFill>
                <a:latin typeface="微软雅黑"/>
                <a:ea typeface="微软雅黑"/>
              </a:rPr>
              <a:t>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808080"/>
                </a:solidFill>
                <a:latin typeface="微软雅黑"/>
                <a:ea typeface="微软雅黑"/>
              </a:rPr>
              <a:t>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360" y="868680"/>
            <a:ext cx="128016" cy="5120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1890967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05400" y="1774825"/>
            <a:ext cx="5120640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6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古典密码学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314604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105400" y="3036570"/>
            <a:ext cx="51206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82235" y="2665199"/>
            <a:ext cx="4826761" cy="764195"/>
            <a:chOff x="3147" y="6401"/>
            <a:chExt cx="6733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4901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古典</a:t>
              </a:r>
              <a:r>
                <a:rPr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密码学</a:t>
              </a:r>
              <a:endParaRPr lang="zh-CN" sz="4965" b="1">
                <a:solidFill>
                  <a:srgbClr val="333333"/>
                </a:solidFill>
                <a:latin typeface="微软雅黑"/>
                <a:ea typeface="微软雅黑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>
                  <a:solidFill>
                    <a:prstClr val="white"/>
                  </a:solidFill>
                  <a:latin typeface="+mj-ea"/>
                  <a:ea typeface="+mj-ea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4309959-d1f4-4416-93cb-80fbe2f4a624-17888379502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16355"/>
            <a:ext cx="3114040" cy="4352925"/>
          </a:xfrm>
          <a:prstGeom prst="rect">
            <a:avLst/>
          </a:prstGeom>
        </p:spPr>
      </p:pic>
      <p:pic>
        <p:nvPicPr>
          <p:cNvPr id="7" name="Picture 6" descr="be39e025-709e-4601-bf7d-63629881d111-1788837952893_image.png"/>
          <p:cNvPicPr>
            <a:picLocks noChangeAspect="1"/>
          </p:cNvPicPr>
          <p:nvPr/>
        </p:nvPicPr>
        <p:blipFill rotWithShape="1">
          <a:blip r:embed="rId4"/>
          <a:srcRect t="8038" b="30137"/>
          <a:stretch>
            <a:fillRect/>
          </a:stretch>
        </p:blipFill>
        <p:spPr>
          <a:xfrm>
            <a:off x="4087950" y="1320802"/>
            <a:ext cx="7598082" cy="12064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87950" y="3327945"/>
            <a:ext cx="7784736" cy="22136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小人身后的密码学</a:t>
            </a:r>
            <a:endParaRPr sz="20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柯南·道尔笔下的"跳舞小人"密码，本质是单表代换密码：每个小人对应一个字母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(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见上方对照表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)；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福尔摩斯的破法正是频率分析：先猜出现最多的小人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E，再借助词形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(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举旗小人标示词尾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)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逐字突破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思考：这套"看起来神秘"的密码，为何在频率分析面前不堪一击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37225"/>
            <a:ext cx="10789920" cy="68199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文学中的密码学：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古典密码不只是教材里的公式，也曾真实地出现在侦探小说与历史通信中——理解它，就理解了代换与频率分析的攻防。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cxnSp>
        <p:nvCxnSpPr>
          <p:cNvPr id="1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2"/>
          <p:cNvSpPr txBox="1"/>
          <p:nvPr/>
        </p:nvSpPr>
        <p:spPr>
          <a:xfrm>
            <a:off x="502920" y="830580"/>
            <a:ext cx="557593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福尔摩斯·跳舞的小人</a:t>
            </a:r>
          </a:p>
        </p:txBody>
      </p:sp>
      <p:sp>
        <p:nvSpPr>
          <p:cNvPr id="1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斯巴达的隐秘信息——Scyt</a:t>
            </a:r>
            <a:r>
              <a:rPr lang="en-US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a</a:t>
            </a: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le 棍子加密</a:t>
            </a:r>
          </a:p>
        </p:txBody>
      </p:sp>
      <p:pic>
        <p:nvPicPr>
          <p:cNvPr id="6" name="Picture 5" descr="a2be3a9d-8492-4a45-8a52-e0384eb05548-178883899583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28040"/>
            <a:ext cx="5120640" cy="3183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34440"/>
            <a:ext cx="5440680" cy="3297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8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一根木棍里的密码学</a:t>
            </a:r>
            <a:endParaRPr sz="28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斯巴达军队把羊皮纸螺旋缠绕在固定粗细的木棍上，沿棍身方向写下军令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取下羊皮纸后，字母顺序错乱、看似天书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——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只有用同样粗细的木棍重新缠绕才能读出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本质是置换密码：字母本身不变，变的只是位置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木棍的粗细就是密钥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——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一把"物理形态"的钥匙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字母不变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556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位置重排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960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棍径 = 密钥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4140200"/>
            <a:ext cx="5120640" cy="145478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安全性点评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密钥空间极小(棍子粗细)，且密文保留全部字母——难挡分析；价值在于早期的物理密钥思想。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723890"/>
            <a:ext cx="11018520" cy="67183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两页趣例收束古典密码学：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跳舞的小人 = 代换，Scytale = 置换——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古典密码主要建立在代换和置换两类基本操作之上。</a:t>
            </a:r>
          </a:p>
        </p:txBody>
      </p:sp>
      <p:cxnSp>
        <p:nvCxnSpPr>
          <p:cNvPr id="15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移位密码</a:t>
            </a:r>
            <a:r>
              <a:rPr lang="en-US" alt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1.2.1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530352" y="2314576"/>
            <a:ext cx="11128247" cy="39846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sz="24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同余具有以下基本性质</a:t>
            </a:r>
            <a:r>
              <a:rPr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</a:t>
            </a:r>
            <a:r>
              <a:rPr sz="24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教材原文</a:t>
            </a:r>
            <a:r>
              <a:rPr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)：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自反性。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对于任意整数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和正整数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m</a:t>
            </a:r>
            <a:r>
              <a:rPr lang="en-US" alt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 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 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即每个整数都与自身在模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对称性。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m)，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即如果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下也同余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传递性。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且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即如果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下同余，并且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下也同余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加法性质。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(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+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 ≡ (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+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 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即如果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下同余，并且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+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+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下也同余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乘法性质。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若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×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≡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×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(mod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即若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下同余，并且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下同余，则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×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c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和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b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× 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d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在模</a:t>
            </a: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m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下也同余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13" name="Rectangle 6"/>
          <p:cNvSpPr/>
          <p:nvPr/>
        </p:nvSpPr>
        <p:spPr>
          <a:xfrm>
            <a:off x="502920" y="1353820"/>
            <a:ext cx="11155679" cy="76009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模运算：</a:t>
            </a:r>
            <a:r>
              <a:rPr sz="2000" i="1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mod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m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表示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除以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m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的余数；模同余：</a:t>
            </a:r>
            <a:r>
              <a:rPr sz="2000" i="1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≡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b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(mod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m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) </a:t>
            </a:r>
            <a:r>
              <a:rPr sz="2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当且仅当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mod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m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=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b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mod </a:t>
            </a:r>
            <a:r>
              <a:rPr sz="200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m。</a:t>
            </a:r>
            <a:endParaRPr sz="2000" b="0" i="0" dirty="0">
              <a:solidFill>
                <a:srgbClr val="404040"/>
              </a:solidFill>
              <a:latin typeface="Times New Roman" panose="02020503050405090304" pitchFamily="18" charset="0"/>
              <a:ea typeface="微软雅黑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乘法逆元——定义与性质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5"/>
              <p:cNvSpPr/>
              <p:nvPr/>
            </p:nvSpPr>
            <p:spPr>
              <a:xfrm>
                <a:off x="730885" y="1353820"/>
                <a:ext cx="10790555" cy="887095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txBody>
              <a:bodyPr wrap="square" lIns="182880" rIns="13716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定义：设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lang="zh-CN"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。若存在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a′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lang="zh-CN" sz="200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使得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aa′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≡ 1 (mod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)，则称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模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可逆，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a′ 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称为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模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的乘法逆元(逆元)，记作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⁻¹ mod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；当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由上下文确定时，简记为 </a:t>
                </a:r>
                <a:r>
                  <a:rPr lang="zh-CN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⁻¹。</a:t>
                </a:r>
              </a:p>
            </p:txBody>
          </p:sp>
        </mc:Choice>
        <mc:Fallback xmlns="">
          <p:sp>
            <p:nvSpPr>
              <p:cNvPr id="1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85" y="1353820"/>
                <a:ext cx="10790555" cy="8870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7"/>
              <p:cNvSpPr txBox="1"/>
              <p:nvPr/>
            </p:nvSpPr>
            <p:spPr>
              <a:xfrm>
                <a:off x="731520" y="2427800"/>
                <a:ext cx="10789920" cy="33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indent="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性质</a:t>
                </a:r>
              </a:p>
              <a:p>
                <a:pPr marL="285750" indent="-28575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可逆判据：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模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 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可逆，当且仅当 gcd(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a, m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1；</a:t>
                </a:r>
              </a:p>
              <a:p>
                <a:pPr marL="285750" indent="-28575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素数情形：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如果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p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是素数，则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lang="en-US" altLang="zh-CN" sz="2000" b="0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p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上任何非零元素都有乘法逆元；</a:t>
                </a:r>
              </a:p>
              <a:p>
                <a:pPr marL="285750" indent="-28575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同余求解：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如果 gcd(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1，则同余方程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ax 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≡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b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(mod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在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lang="zh-CN" sz="2000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m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中有唯一解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(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⁻¹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b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mod </a:t>
                </a:r>
                <a:r>
                  <a:rPr lang="zh-CN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  <a:p>
                <a:pPr indent="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为什么重要</a:t>
                </a:r>
                <a:r>
                  <a:rPr lang="en-US" alt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?</a:t>
                </a:r>
                <a:endParaRPr lang="zh-CN" sz="2000" b="1" i="0" dirty="0">
                  <a:solidFill>
                    <a:srgbClr val="C00000"/>
                  </a:solidFill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endParaRPr>
              </a:p>
              <a:p>
                <a:pPr marL="285750" indent="-28575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示例：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3 × 9 = 27 ≡ 1 (mod 26)，故 3⁻¹ mod 26 = 9；</a:t>
                </a:r>
              </a:p>
              <a:p>
                <a:pPr marL="285750" indent="-285750" algn="l" fontAlgn="auto">
                  <a:spcBef>
                    <a:spcPts val="60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lang="zh-CN" sz="2000" b="1" i="0" dirty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用途：</a:t>
                </a:r>
                <a:r>
                  <a:rPr lang="zh-CN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乘法逆元是仿射密码解密与 RSA 等公钥密码的数学基础。</a:t>
                </a:r>
              </a:p>
            </p:txBody>
          </p:sp>
        </mc:Choice>
        <mc:Fallback>
          <p:sp>
            <p:nvSpPr>
              <p:cNvPr id="13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427800"/>
                <a:ext cx="10789920" cy="3300000"/>
              </a:xfrm>
              <a:prstGeom prst="rect">
                <a:avLst/>
              </a:prstGeom>
              <a:blipFill>
                <a:blip r:embed="rId4"/>
                <a:stretch>
                  <a:fillRect l="-1412" t="-2399" r="-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凯撒密码的故事——将军手中的密信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186815"/>
            <a:ext cx="10790555" cy="6172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两千多年前，盖乌斯·尤利乌斯·凯撒用"移位字母表"保护军事通信——这是西方有明确记载的最早密码实践之一。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1891030"/>
            <a:ext cx="7825740" cy="4691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将军的密信</a:t>
            </a:r>
          </a:p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战报：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高卢战争(前 58—前 50 年)中，凯撒的军令常需穿越敌区；信使可能被截获时，他便以移位后的字母书写；</a:t>
            </a:r>
          </a:p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密钥：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即使信件落入敌手，不知移位量便无从读起——移位量就是钥匙；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史家的见证</a:t>
            </a:r>
          </a:p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苏埃托尼乌斯：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《十二凯撒传》记载，凯撒若有密事相告，便以密码书写——以 D 代 A(即移位 3)；</a:t>
            </a:r>
          </a:p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奥古斯都：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继任者奥古斯都改用移位 1(以 B 代 A)，"移位量 = 密钥"的思路在皇室中延续；</a:t>
            </a:r>
          </a:p>
          <a:p>
            <a:pPr marL="285750" indent="-28575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评价：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这套密码在当时也并不安全，但"用密钥控制的映射隐藏信息"的思想，成为古典密码的起点。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14740" y="2264410"/>
            <a:ext cx="2807335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前 58 年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高卢战争军令中首次使用</a:t>
            </a:r>
          </a:p>
        </p:txBody>
      </p:sp>
      <p:sp>
        <p:nvSpPr>
          <p:cNvPr id="2" name="Rectangle 21"/>
          <p:cNvSpPr/>
          <p:nvPr/>
        </p:nvSpPr>
        <p:spPr>
          <a:xfrm>
            <a:off x="8714105" y="3514725"/>
            <a:ext cx="2807970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移位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苏埃托尼乌斯记载：以 D 代 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14105" y="4764405"/>
            <a:ext cx="2807970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移位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奥古斯都变体：以 B 代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4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39135"/>
          <a:ext cx="1078992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+3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1405890"/>
            <a:ext cx="6766560" cy="145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得名于古罗马凯撒大帝，曾用于军事与政治通信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解密只需执行逆过程：减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3 模 26(验证：K→10−3=7→H)；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等价视角：把整张字母表循环右移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3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位后查表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69365"/>
            <a:ext cx="3749039" cy="1828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课堂跟算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请算第 4、5 列：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L → 11+3=14 → 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O → 14+3=17 → 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58105"/>
            <a:ext cx="10789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HELLOWORLD → KHOORZRUOG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789920" cy="384048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dirty="0" err="1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移位密码</a:t>
            </a:r>
            <a:r>
              <a:rPr b="0" i="0" dirty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 = </a:t>
            </a:r>
            <a:r>
              <a:rPr b="0" i="0" dirty="0" err="1" smtClean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凯撒密码当</a:t>
            </a:r>
            <a:r>
              <a:rPr lang="zh-CN" altLang="en-US" dirty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密钥</a:t>
            </a:r>
            <a:r>
              <a:rPr b="0" i="0" dirty="0" smtClean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b="0" i="1" dirty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K</a:t>
            </a:r>
            <a:r>
              <a:rPr b="0" i="0" dirty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=3 </a:t>
            </a:r>
            <a:r>
              <a:rPr b="0" i="0" dirty="0" err="1" smtClean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的特例命名</a:t>
            </a:r>
            <a:r>
              <a:rPr b="0" i="0" dirty="0" smtClean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。</a:t>
            </a:r>
            <a:endParaRPr b="0" i="0" dirty="0">
              <a:solidFill>
                <a:srgbClr val="80808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移位密码</a:t>
            </a:r>
            <a:r>
              <a:rPr lang="en-US" alt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1.2.1——</a:t>
            </a:r>
            <a:r>
              <a:rPr lang="zh-CN" altLang="en-US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凯撒密码示例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2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/>
              <p:cNvSpPr txBox="1"/>
              <p:nvPr/>
            </p:nvSpPr>
            <p:spPr>
              <a:xfrm>
                <a:off x="502920" y="836168"/>
                <a:ext cx="10789920" cy="3073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定义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 1.2　</a:t>
                </a: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移位密码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(</a:t>
                </a: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教材</a:t>
                </a:r>
                <a:r>
                  <a:rPr lang="zh-CN"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定义</a:t>
                </a:r>
                <a:r>
                  <a:rPr lang="en-US" altLang="zh-CN"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1.2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)：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令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，移位密码由如下算法组成。</a:t>
                </a:r>
              </a:p>
            </p:txBody>
          </p:sp>
        </mc:Choice>
        <mc:Fallback xmlns="">
          <p:sp>
            <p:nvSpPr>
              <p:cNvPr id="23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36168"/>
                <a:ext cx="10789920" cy="307340"/>
              </a:xfrm>
              <a:prstGeom prst="rect">
                <a:avLst/>
              </a:prstGeom>
              <a:blipFill rotWithShape="1">
                <a:blip r:embed="rId3"/>
                <a:stretch>
                  <a:fillRect t="-2645" b="-153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6"/>
              <p:cNvSpPr/>
              <p:nvPr/>
            </p:nvSpPr>
            <p:spPr>
              <a:xfrm>
                <a:off x="731520" y="1359408"/>
                <a:ext cx="10789920" cy="566928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密钥生成算法。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选取密钥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e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=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d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。该密钥用于确定移位的数量。</a:t>
                </a:r>
              </a:p>
            </p:txBody>
          </p:sp>
        </mc:Choice>
        <mc:Fallback xmlns="">
          <p:sp>
            <p:nvSpPr>
              <p:cNvPr id="2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59408"/>
                <a:ext cx="10789920" cy="566928"/>
              </a:xfrm>
              <a:prstGeom prst="rect">
                <a:avLst/>
              </a:prstGeom>
              <a:blipFill rotWithShape="1">
                <a:blip r:embed="rId4"/>
                <a:stretch>
                  <a:fillRect t="-90" b="67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/>
              <p:nvPr/>
            </p:nvSpPr>
            <p:spPr>
              <a:xfrm>
                <a:off x="731520" y="2157984"/>
                <a:ext cx="10789920" cy="713232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加密算法。</a:t>
                </a:r>
                <a:r>
                  <a:rPr sz="200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对于某个明文字母，首先将其按照</a:t>
                </a:r>
                <a:r>
                  <a:rPr lang="zh-CN"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表</a:t>
                </a:r>
                <a:r>
                  <a:rPr lang="en-US" altLang="zh-CN"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1.1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转换成对应的整数 </a:t>
                </a:r>
                <a:r>
                  <a:rPr sz="200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lang="en-US" sz="2000" i="1" baseline="-2500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，其次计算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ℰ</m:t>
                        </m:r>
                      </m:e>
                      <m:sub>
                        <m: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x</a:t>
                </a:r>
                <a:r>
                  <a:rPr lang="en-US" sz="2000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(</a:t>
                </a:r>
                <a:r>
                  <a:rPr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x</a:t>
                </a:r>
                <a:r>
                  <a:rPr lang="en-US" sz="2000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+ </a:t>
                </a:r>
                <a:r>
                  <a:rPr lang="en-US" sz="2000" i="1" dirty="0" smtClean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i="0" dirty="0" smtClean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mod 26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，最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后将计算结果按照</a:t>
                </a:r>
                <a:r>
                  <a:rPr lang="zh-CN" sz="2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下表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转换成密文字母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157984"/>
                <a:ext cx="10789920" cy="713232"/>
              </a:xfrm>
              <a:prstGeom prst="rect">
                <a:avLst/>
              </a:prstGeom>
              <a:blipFill>
                <a:blip r:embed="rId5"/>
                <a:stretch>
                  <a:fillRect t="-3419" b="-145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8"/>
              <p:cNvSpPr/>
              <p:nvPr/>
            </p:nvSpPr>
            <p:spPr>
              <a:xfrm>
                <a:off x="731520" y="3102864"/>
                <a:ext cx="10789920" cy="713232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解密算法。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对于某个密文字母，首先将其按照</a:t>
                </a:r>
                <a:r>
                  <a:rPr lang="zh-CN" sz="2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表</a:t>
                </a:r>
                <a:r>
                  <a:rPr lang="en-US" altLang="zh-CN" sz="2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1.1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成整数</a:t>
                </a:r>
                <a:r>
                  <a:rPr lang="zh-CN"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串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lang="en-US" sz="200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1</a:t>
                </a:r>
                <a:r>
                  <a:rPr lang="en-US"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,y</a:t>
                </a:r>
                <a:r>
                  <a:rPr lang="en-US" sz="200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</a:t>
                </a:r>
                <a:r>
                  <a:rPr lang="en-US"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</a:t>
                </a:r>
                <a:r>
                  <a:rPr lang="en-US"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PingFang SC" panose="020B0400000000000000" charset="-122"/>
                    <a:cs typeface="Times New Roman" panose="02020503050405090304" pitchFamily="18" charset="0"/>
                  </a:rPr>
                  <a:t>···</a:t>
                </a:r>
                <a:r>
                  <a:rPr lang="en-US"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</a:t>
                </a:r>
                <a:r>
                  <a:rPr lang="en-US" sz="200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lang="en-US" sz="2000" i="1" baseline="-2500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lang="zh-CN" altLang="en-US"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</a:t>
                </a:r>
                <a:r>
                  <a:rPr sz="200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计算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𝒟</m:t>
                        </m:r>
                      </m:e>
                      <m:sub>
                        <m: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sz="2000" i="1" dirty="0" err="1">
                    <a:solidFill>
                      <a:srgbClr val="333333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lang="en-US" sz="2000" i="1" baseline="-25000" dirty="0" err="1">
                    <a:solidFill>
                      <a:srgbClr val="333333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(</a:t>
                </a:r>
                <a:r>
                  <a:rPr sz="2000" i="1" dirty="0" err="1">
                    <a:solidFill>
                      <a:srgbClr val="333333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  <a:sym typeface="+mn-ea"/>
                  </a:rPr>
                  <a:t>y</a:t>
                </a:r>
                <a:r>
                  <a:rPr lang="en-US" sz="2000" i="1" baseline="-25000" dirty="0" err="1">
                    <a:solidFill>
                      <a:srgbClr val="333333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  <a:sym typeface="+mn-ea"/>
                  </a:rPr>
                  <a:t>i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− </a:t>
                </a:r>
                <a:r>
                  <a:rPr lang="en-US" sz="2000" i="1" dirty="0" smtClean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K</a:t>
                </a:r>
                <a:r>
                  <a:rPr sz="2000" i="0" dirty="0" smtClean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</a:t>
                </a:r>
                <a:r>
                  <a:rPr sz="2000" i="0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mod 26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并将计算结果转换成对应的明文字母</a:t>
                </a:r>
                <a:r>
                  <a:rPr sz="200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102864"/>
                <a:ext cx="10789920" cy="713232"/>
              </a:xfrm>
              <a:prstGeom prst="rect">
                <a:avLst/>
              </a:prstGeom>
              <a:blipFill>
                <a:blip r:embed="rId6"/>
                <a:stretch>
                  <a:fillRect t="-3419" b="-145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5"/>
          <p:cNvGraphicFramePr>
            <a:graphicFrameLocks noGrp="1"/>
          </p:cNvGraphicFramePr>
          <p:nvPr/>
        </p:nvGraphicFramePr>
        <p:xfrm>
          <a:off x="731520" y="4554855"/>
          <a:ext cx="73152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7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F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J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6"/>
          <p:cNvSpPr/>
          <p:nvPr/>
        </p:nvSpPr>
        <p:spPr>
          <a:xfrm>
            <a:off x="8321040" y="4186555"/>
            <a:ext cx="3200400" cy="183070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算一算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37 mod 26 = 11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−3 mod 26 = 23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(负数：余数加 26)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57120" y="4186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表</a:t>
            </a:r>
            <a:r>
              <a:rPr lang="en-US" altLang="zh-CN"/>
              <a:t>1.1 </a:t>
            </a:r>
            <a:r>
              <a:rPr lang="zh-CN" altLang="en-US"/>
              <a:t>英文字母与数字对照</a:t>
            </a:r>
          </a:p>
        </p:txBody>
      </p:sp>
      <p:sp>
        <p:nvSpPr>
          <p:cNvPr id="13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移位密码例题——取 K = 11 加密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5"/>
              <p:cNvSpPr/>
              <p:nvPr/>
            </p:nvSpPr>
            <p:spPr>
              <a:xfrm>
                <a:off x="730885" y="1353820"/>
                <a:ext cx="10790555" cy="692694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txBody>
              <a:bodyPr wrap="square" lIns="182880" rIns="137160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用移位密码加密明文 we will meet at midnight，取密钥 </a:t>
                </a:r>
                <a:r>
                  <a:rPr lang="zh-CN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K</a:t>
                </a: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11。加密逐字母进行：</a:t>
                </a:r>
                <a:r>
                  <a:rPr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ℰ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(</a:t>
                </a:r>
                <a:r>
                  <a:rPr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x</a:t>
                </a:r>
                <a:r>
                  <a:rPr lang="en-US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i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) = (</a:t>
                </a:r>
                <a:r>
                  <a:rPr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x</a:t>
                </a:r>
                <a:r>
                  <a:rPr lang="en-US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i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+ </a:t>
                </a:r>
                <a:r>
                  <a:rPr lang="en-US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11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) mod 26</a:t>
                </a: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；单词间空格保留、不参与加密。</a:t>
                </a:r>
              </a:p>
            </p:txBody>
          </p:sp>
        </mc:Choice>
        <mc:Fallback xmlns="">
          <p:sp>
            <p:nvSpPr>
              <p:cNvPr id="1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85" y="1353820"/>
                <a:ext cx="10790555" cy="692694"/>
              </a:xfrm>
              <a:prstGeom prst="rect">
                <a:avLst/>
              </a:prstGeom>
              <a:blipFill>
                <a:blip r:embed="rId2"/>
                <a:stretch>
                  <a:fillRect l="-678" t="-877" r="-1073" b="-96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1520" y="2150000"/>
          <a:ext cx="10789920" cy="14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11,11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0,19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3,13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8,6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+11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22,22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23,15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15,3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23,19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14,24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19,17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18,3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8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移位密码例题——取 K = 11 加密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731520" y="4050000"/>
            <a:ext cx="1078992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逐列验证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首列：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w = 22 → (22+11) mod 26 = 7 → H；e = 4 → (4+11) mod 26 = 15 → P；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次列：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w = 22 → H；i = 8 → (8+11) mod 26 = 19 → T；其余各列同理。</a:t>
            </a:r>
          </a:p>
        </p:txBody>
      </p:sp>
      <p:sp>
        <p:nvSpPr>
          <p:cNvPr id="16" name="Rectangle 9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密文为：HP</a:t>
            </a:r>
            <a:r>
              <a:rPr lang="en-US" alt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HTWW</a:t>
            </a:r>
            <a:r>
              <a:rPr lang="en-US" alt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XPPE</a:t>
            </a:r>
            <a:r>
              <a:rPr lang="en-US" alt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LE XTOYTRSE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graphicFrame>
        <p:nvGraphicFramePr>
          <p:cNvPr id="4" name="Table 6"/>
          <p:cNvGraphicFramePr>
            <a:graphicFrameLocks noGrp="1"/>
          </p:cNvGraphicFramePr>
          <p:nvPr/>
        </p:nvGraphicFramePr>
        <p:xfrm>
          <a:off x="731520" y="2150000"/>
          <a:ext cx="10789920" cy="14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11,11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0,19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3,13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8,6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+11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22,22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23,15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15,3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23,19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14,24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19,17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18,3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/>
              <p:cNvSpPr/>
              <p:nvPr/>
            </p:nvSpPr>
            <p:spPr>
              <a:xfrm>
                <a:off x="730885" y="1353820"/>
                <a:ext cx="10790555" cy="692694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txBody>
              <a:bodyPr wrap="square" lIns="182880" rIns="137160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用移位密码加密明文 we will meet at midnight，取密钥 </a:t>
                </a:r>
                <a:r>
                  <a:rPr lang="zh-CN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K</a:t>
                </a: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11。加密逐字母进行：</a:t>
                </a:r>
                <a:r>
                  <a:rPr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ℰ</m:t>
                        </m:r>
                      </m:e>
                      <m:sub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(</a:t>
                </a:r>
                <a:r>
                  <a:rPr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x</a:t>
                </a:r>
                <a:r>
                  <a:rPr lang="en-US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i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) = (</a:t>
                </a:r>
                <a:r>
                  <a:rPr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x</a:t>
                </a:r>
                <a:r>
                  <a:rPr lang="en-US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i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+ </a:t>
                </a:r>
                <a:r>
                  <a:rPr lang="en-US"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11</a:t>
                </a:r>
                <a:r>
                  <a:rPr dirty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) mod 26</a:t>
                </a:r>
                <a:r>
                  <a:rPr lang="zh-CN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；单词间空格保留、不参与加密。</a:t>
                </a:r>
              </a:p>
            </p:txBody>
          </p:sp>
        </mc:Choice>
        <mc:Fallback xmlns=""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85" y="1353820"/>
                <a:ext cx="10790555" cy="692694"/>
              </a:xfrm>
              <a:prstGeom prst="rect">
                <a:avLst/>
              </a:prstGeom>
              <a:blipFill>
                <a:blip r:embed="rId2"/>
                <a:stretch>
                  <a:fillRect l="-678" t="-877" r="-1073" b="-96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26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种可能的密钥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 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穷举即可遍历密钥空间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单表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代换保留语言统计特征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7899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穷举攻击四步：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截获密文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150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逐一试密钥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0779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语言特征校验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5409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输出有意义明文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789920" cy="1012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甚至不需要穷举：根据语言特征就能认出正确明文；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定位：今天主要作为教学工具，帮助理解加密思想。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29780" y="4139565"/>
            <a:ext cx="3966210" cy="7797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第一条攻击范式确立：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密钥空间太小 → 穷举可行。</a:t>
            </a:r>
          </a:p>
        </p:txBody>
      </p:sp>
      <p:sp>
        <p:nvSpPr>
          <p:cNvPr id="17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移位密码为什么不安全</a:t>
            </a:r>
            <a:r>
              <a:rPr lang="en-US" alt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？</a:t>
            </a:r>
          </a:p>
        </p:txBody>
      </p:sp>
      <p:cxnSp>
        <p:nvCxnSpPr>
          <p:cNvPr id="20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8"/>
          <p:cNvSpPr/>
          <p:nvPr/>
        </p:nvSpPr>
        <p:spPr>
          <a:xfrm>
            <a:off x="731520" y="5304790"/>
            <a:ext cx="10789920" cy="7797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密钥空间大就安全吗？</a:t>
            </a:r>
            <a:endParaRPr sz="2400" b="1" i="0">
              <a:solidFill>
                <a:srgbClr val="333333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穷举攻击例题——破译移位密文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截获移位密码密文：PHHW PH DIWHU WKH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SDUWB，在不知道密钥的情况下破译它。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25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种可能密钥，逐一试用</a:t>
            </a:r>
          </a:p>
        </p:txBody>
      </p:sp>
      <p:sp>
        <p:nvSpPr>
          <p:cNvPr id="2" name="Rectangle 21"/>
          <p:cNvSpPr/>
          <p:nvPr/>
        </p:nvSpPr>
        <p:spPr>
          <a:xfrm>
            <a:off x="442816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次尝试即命中正确密钥</a:t>
            </a:r>
            <a:endParaRPr lang="zh-CN" sz="1300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812480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轮语言特征校验即可确认</a:t>
            </a:r>
            <a:endParaRPr lang="zh-CN" sz="1300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5" name="TextBox 8"/>
          <p:cNvSpPr txBox="1"/>
          <p:nvPr/>
        </p:nvSpPr>
        <p:spPr>
          <a:xfrm>
            <a:off x="731520" y="3600000"/>
            <a:ext cx="10789920" cy="1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穷举过程(节选)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KEY 1：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OGGV OG CHVGT VJG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RCTVA —— 无意义；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KEY 2：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NFFU NF BGUFS UIF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QBSUZ —— 无意义；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KEY 3：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MEET ME AFTER THE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PARTY —— 有意义的英文，命中！</a:t>
            </a:r>
          </a:p>
        </p:txBody>
      </p:sp>
      <p:sp>
        <p:nvSpPr>
          <p:cNvPr id="16" name="Rectangle 9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密钥空间只有 25，手工几分钟即可试完——密钥空间太小是移位密码的致命伤。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3585" y="1156335"/>
            <a:ext cx="3157855" cy="18624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26!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≈ 4×10²⁶ 种密钥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48430"/>
            <a:ext cx="11018520" cy="54292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感受量级：</a:t>
            </a: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即使每秒试 10¹² 个密钥，穷尽 26! 也需约 1270 万年——穷举攻击对此失效。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5"/>
              <p:cNvSpPr txBox="1"/>
              <p:nvPr/>
            </p:nvSpPr>
            <p:spPr>
              <a:xfrm>
                <a:off x="502920" y="810895"/>
                <a:ext cx="7360920" cy="30873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indent="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定义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 1.3　</a:t>
                </a: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代换密码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(</a:t>
                </a: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教材原文</a:t>
                </a: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)：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令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为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26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个英文字母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为集合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{0, 1, …, 25}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中所有可能的置换；代换密码由如下算法组成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：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密钥生成算法。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选取密钥</a:t>
                </a:r>
                <a:r>
                  <a:rPr sz="200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K</a:t>
                </a:r>
                <a:r>
                  <a:rPr sz="2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= </a:t>
                </a:r>
                <a:r>
                  <a:rPr sz="200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K</a:t>
                </a:r>
                <a:r>
                  <a:rPr sz="200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e</a:t>
                </a:r>
                <a:r>
                  <a:rPr sz="200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</a:t>
                </a:r>
                <a:r>
                  <a:rPr sz="2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= </a:t>
                </a:r>
                <a:r>
                  <a:rPr sz="200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K</a:t>
                </a:r>
                <a:r>
                  <a:rPr sz="2000" i="1" baseline="-2500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d</a:t>
                </a:r>
                <a:r>
                  <a:rPr sz="2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 ∈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  <a:sym typeface="+mn-ea"/>
                      </a:rPr>
                      <m:t>𝒦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加密算法。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对于明文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x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，计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算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ℰ</m:t>
                    </m:r>
                  </m:oMath>
                </a14:m>
                <a:r>
                  <a:rPr lang="en-US" sz="2000" i="1" baseline="-2500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K</a:t>
                </a:r>
                <a:r>
                  <a:rPr lang="en-US"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(</a:t>
                </a:r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x) = K(x)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</a:rPr>
                  <a:t>解密算法。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对于密文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  <a:sym typeface="+mn-ea"/>
                  </a:rPr>
                  <a:t>y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，计算</a:t>
                </a:r>
                <a:r>
                  <a:rPr lang="en-US"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𝒟</m:t>
                    </m:r>
                  </m:oMath>
                </a14:m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(y) = K⁻¹(y)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。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这里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K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⁻¹ 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为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i="1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/>
                  </a:rPr>
                  <a:t>K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sz="200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的逆置换</a:t>
                </a:r>
                <a:r>
                  <a:rPr sz="200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密钥空间为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26! ≈ 4×10²⁶，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能抵抗穷举攻击，但易被频率分析破解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。</a:t>
                </a:r>
              </a:p>
            </p:txBody>
          </p:sp>
        </mc:Choice>
        <mc:Fallback xmlns="">
          <p:sp>
            <p:nvSpPr>
              <p:cNvPr id="17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10895"/>
                <a:ext cx="7360920" cy="3087370"/>
              </a:xfrm>
              <a:prstGeom prst="rect">
                <a:avLst/>
              </a:prstGeom>
              <a:blipFill rotWithShape="1">
                <a:blip r:embed="rId4"/>
                <a:stretch>
                  <a:fillRect t="-247" b="-1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731520" y="4541520"/>
            <a:ext cx="10789920" cy="907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密钥 K：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A→Q  B→W  C→E  D→R  E→T  F→Y  G→U  H→I  I→O  J→P  K→A  L→S  M→D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N→F  O→G  P→H  Q→J  R→K  S→L  T→Z  U→X  V→C  W→V  X→B  Y→N  Z→M</a:t>
            </a:r>
          </a:p>
        </p:txBody>
      </p:sp>
      <p:graphicFrame>
        <p:nvGraphicFramePr>
          <p:cNvPr id="4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2920" y="5497830"/>
          <a:ext cx="11018520" cy="892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3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代换密码例题——用置换 </a:t>
            </a:r>
            <a:r>
              <a:rPr lang="en-US" altLang="zh-CN" sz="22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K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加密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5"/>
              <p:cNvSpPr/>
              <p:nvPr/>
            </p:nvSpPr>
            <p:spPr>
              <a:xfrm>
                <a:off x="730885" y="1299845"/>
                <a:ext cx="10790555" cy="155321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txBody>
              <a:bodyPr wrap="square" lIns="182880" rIns="137160" rtlCol="0" anchor="ctr"/>
              <a:lstStyle/>
              <a:p>
                <a:pPr marL="342900" indent="-34290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用代换密码加密明文 we will meet at midnight，密钥为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上的置换 </a:t>
                </a:r>
                <a:r>
                  <a:rPr lang="en-US" altLang="zh-CN" sz="200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  <a:sym typeface="+mn-ea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。</a:t>
                </a:r>
              </a:p>
              <a:p>
                <a:pPr marL="285750" indent="-28575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加密：逐字母查表；</a:t>
                </a:r>
              </a:p>
              <a:p>
                <a:pPr marL="285750" indent="-28575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解密：查逆置换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⁻¹。</a:t>
                </a:r>
              </a:p>
            </p:txBody>
          </p:sp>
        </mc:Choice>
        <mc:Fallback xmlns="">
          <p:sp>
            <p:nvSpPr>
              <p:cNvPr id="1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85" y="1299845"/>
                <a:ext cx="10790555" cy="15532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0885" y="3355975"/>
          <a:ext cx="10797540" cy="688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F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31520" y="4109720"/>
          <a:ext cx="10797540" cy="682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F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8"/>
          <p:cNvGraphicFramePr>
            <a:graphicFrameLocks noGrp="1"/>
          </p:cNvGraphicFramePr>
          <p:nvPr/>
        </p:nvGraphicFramePr>
        <p:xfrm>
          <a:off x="730885" y="501352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3845" y="3054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代换密码的密钥</a:t>
            </a:r>
            <a:r>
              <a:rPr lang="en-US" altLang="zh-CN" i="1">
                <a:latin typeface="Arial Italic" panose="020B0604020202090204" charset="0"/>
                <a:cs typeface="Arial Italic" panose="020B0604020202090204" charset="0"/>
              </a:rPr>
              <a:t>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代换密码例题——用密钥 </a:t>
            </a:r>
            <a:r>
              <a:rPr lang="en-US" altLang="zh-CN" sz="22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K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加密</a:t>
            </a:r>
          </a:p>
        </p:txBody>
      </p:sp>
      <p:graphicFrame>
        <p:nvGraphicFramePr>
          <p:cNvPr id="16" name="Table 8"/>
          <p:cNvGraphicFramePr>
            <a:graphicFrameLocks noGrp="1"/>
          </p:cNvGraphicFramePr>
          <p:nvPr/>
        </p:nvGraphicFramePr>
        <p:xfrm>
          <a:off x="730885" y="351111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BB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GM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9"/>
          <p:cNvSpPr txBox="1"/>
          <p:nvPr/>
        </p:nvSpPr>
        <p:spPr>
          <a:xfrm>
            <a:off x="731520" y="4802895"/>
            <a:ext cx="1078992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查表示例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w → K；e → H；故 WE → KH，其余同理。</a:t>
            </a:r>
          </a:p>
        </p:txBody>
      </p:sp>
      <p:sp>
        <p:nvSpPr>
          <p:cNvPr id="18" name="Rectangle 10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密文为：KHKZ BBTH HMXM TZAS ZOGM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5"/>
              <p:cNvSpPr/>
              <p:nvPr/>
            </p:nvSpPr>
            <p:spPr>
              <a:xfrm>
                <a:off x="730885" y="1299845"/>
                <a:ext cx="10790555" cy="155321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txBody>
              <a:bodyPr wrap="square" lIns="182880" rIns="137160" rtlCol="0" anchor="ctr"/>
              <a:lstStyle/>
              <a:p>
                <a:pPr marL="342900" indent="-34290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用代换密码加密明文 we will meet at midnight，密钥为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上的</a:t>
                </a:r>
                <a:r>
                  <a:rPr lang="zh-CN"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密钥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。</a:t>
                </a:r>
              </a:p>
              <a:p>
                <a:pPr marL="285750" indent="-28575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加密：逐字母查表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；</a:t>
                </a:r>
              </a:p>
              <a:p>
                <a:pPr marL="285750" indent="-28575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SzTx/>
                  <a:buFont typeface="Wingdings" panose="05000000000000000000" charset="0"/>
                  <a:buChar char=""/>
                </a:pP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解密：查逆置换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</a:rPr>
                  <a:t>⁻¹。</a:t>
                </a:r>
              </a:p>
            </p:txBody>
          </p:sp>
        </mc:Choice>
        <mc:Fallback xmlns="">
          <p:sp>
            <p:nvSpPr>
              <p:cNvPr id="12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85" y="1299845"/>
                <a:ext cx="10790555" cy="15532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1344930"/>
            <a:ext cx="6766560" cy="2407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代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换密码能抵抗穷举：26! 种密钥试不完；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但单表代换只改符号、不改统计：高频字母、常见单词、重复结构原样保留；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频率分析：统计密文字母频率，对照自然语言频率即可逐步还原密钥。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542733"/>
            <a:ext cx="3749039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频率分析三步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① 统计密文字母频率；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② 对照自然语言频率；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③ 逐步还原代换表。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0015"/>
            <a:ext cx="10789920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结论：密钥空间大 ≠ 体制安全。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安全性取决于体制是否掩盖了可被利用的结构。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两条攻击路线对照：穷举密钥(比算力) vs 利用结构(比聪明)——古典密码两条都挡不住。</a:t>
            </a:r>
          </a:p>
        </p:txBody>
      </p:sp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密钥空间很大，为什么仍然不安全</a:t>
            </a:r>
            <a:r>
              <a:rPr lang="en-US"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？</a:t>
            </a:r>
            <a:endParaRPr lang="en-US" sz="2200" b="1" i="0">
              <a:solidFill>
                <a:srgbClr val="333333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2155" y="1296035"/>
            <a:ext cx="5618480" cy="179387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同一个明文字母，永远被替换为同一个密文字母；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于是明文的频率分布被"原样复印"到密文上；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频率分析只需统计 + 对照，即可逐步还原代换表。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61665"/>
            <a:ext cx="5619750" cy="139001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360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现场观察</a:t>
            </a:r>
            <a:endParaRPr sz="2000" b="1" i="0" dirty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  <a:p>
            <a:pPr algn="ctr">
              <a:spcAft>
                <a:spcPts val="300"/>
              </a:spcAft>
            </a:pPr>
            <a:r>
              <a:rPr lang="en-US"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HELLOWORLD </a:t>
            </a:r>
            <a:r>
              <a:rPr lang="en-US"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Wingdings" panose="05000000000000000000" pitchFamily="2" charset="2"/>
              </a:rPr>
              <a:t></a:t>
            </a:r>
            <a:r>
              <a:rPr sz="2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 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ITSSGVGKSR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中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：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S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出现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3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次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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明文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L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出现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3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次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G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出现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2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次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503050405090304" pitchFamily="18" charset="0"/>
                <a:sym typeface="Wingdings" panose="05000000000000000000" pitchFamily="2" charset="2"/>
              </a:rPr>
              <a:t>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明文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O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出现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2 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次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155" y="4682490"/>
            <a:ext cx="10789920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设问：</a:t>
            </a:r>
            <a:r>
              <a:rPr sz="28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能否让同一个明文字母，在不同位置对应不同密文字母？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3626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缺陷根源：映射表只有一张。改进方向：多张表轮换——维吉尼亚密码登场。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单表代换的缺陷</a:t>
            </a:r>
          </a:p>
        </p:txBody>
      </p:sp>
      <p:graphicFrame>
        <p:nvGraphicFramePr>
          <p:cNvPr id="12" name="Chart 5"/>
          <p:cNvGraphicFramePr>
            <a:graphicFrameLocks noGrp="1"/>
          </p:cNvGraphicFramePr>
          <p:nvPr/>
        </p:nvGraphicFramePr>
        <p:xfrm>
          <a:off x="6799580" y="862965"/>
          <a:ext cx="4721860" cy="2035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6"/>
          <p:cNvSpPr txBox="1"/>
          <p:nvPr/>
        </p:nvSpPr>
        <p:spPr>
          <a:xfrm>
            <a:off x="6716966" y="3160032"/>
            <a:ext cx="4887087" cy="139001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自然语言中字母频率很不均匀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单表代换改变符号，却不改变总体统计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密码分析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≠ </a:t>
            </a: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穷举密钥：利用结构弱点更聪明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维吉尼亚密码的故事——"不可破译"的三百年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299845"/>
            <a:ext cx="10790555" cy="68008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这套密码的历史是一桩三百年的公案：发明者被遗忘、冠名者被弄错、神话最终被两位"业余者"终结。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0250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1553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贝拉索著书首述多表代换</a:t>
            </a:r>
          </a:p>
        </p:txBody>
      </p:sp>
      <p:sp>
        <p:nvSpPr>
          <p:cNvPr id="2" name="Rectangle 21"/>
          <p:cNvSpPr/>
          <p:nvPr/>
        </p:nvSpPr>
        <p:spPr>
          <a:xfrm>
            <a:off x="2918234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1586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维吉尼亚提出更强的自密钥密码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06218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19世纪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多表代换被误冠以维吉尼亚之名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94202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1854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巴贝奇秘密破译，未发表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40276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1863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卡西斯基发表间距检验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3550285"/>
            <a:ext cx="10789920" cy="2310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两个名字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真发明者：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意大利密码学家贝拉索(1553)——密钥字循环使用，正是本课所讲的方法；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冠名者：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法国外交官维吉尼亚的自密钥密码其实更强，却在 19 世纪被张冠李戴；</a:t>
            </a:r>
          </a:p>
          <a:p>
            <a:pPr indent="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神话的终结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三百年：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"不可破译的密码"(</a:t>
            </a:r>
            <a:r>
              <a:rPr lang="zh-CN" b="0" i="0">
                <a:solidFill>
                  <a:srgbClr val="404040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le chiffre indéchiffrable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)之名所向披靡约三百年；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破译者：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巴贝奇 1854 年破译却未发表；1863 年卡西斯基独立发表方法，卡西斯基检验由此得名。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0885" y="584398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密码的强弱不在于名声与传说，而在于密钥流的结构能否经受统计检验。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2920" y="1209040"/>
            <a:ext cx="4497070" cy="3231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基本思想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使用长度为 </a:t>
            </a:r>
            <a:r>
              <a:rPr sz="2000" i="1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+mn-ea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的密钥字(如 CIPHER)，循环排列铺满明文；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不同位置使用不同移位量——每个字母一张代换表，本质是多表代换；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密钥空间 26</a:t>
            </a:r>
            <a:r>
              <a:rPr sz="2000" i="1" baseline="3000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+mn-ea"/>
              </a:rPr>
              <a:t>a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，曾号称"不可破译"，真相见本单元后文。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典故：最早见于 Bellaso 1553 年著作，19 世纪被误归于 Vigenère。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99990" y="1172210"/>
          <a:ext cx="6521450" cy="2538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转换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密钥编排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密钥转换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密文计算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J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0250" y="4638040"/>
            <a:ext cx="1078992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密钥流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 = </a:t>
            </a:r>
            <a:r>
              <a:rPr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密钥字的循环复制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(CIPHERCIPH)；</a:t>
            </a:r>
            <a:r>
              <a:rPr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逐列计算，如首列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 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sym typeface="+mn-ea"/>
              </a:rPr>
              <a:t>(7+2) mod 26 = 9 → 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sym typeface="+mn-ea"/>
              </a:rPr>
              <a:t>J</a:t>
            </a:r>
            <a:r>
              <a:rPr dirty="0">
                <a:solidFill>
                  <a:srgbClr val="404040"/>
                </a:solidFill>
                <a:latin typeface="Times New Roman" panose="02020503050405090304" pitchFamily="18" charset="0"/>
                <a:ea typeface="Cambria Math" panose="02040503050406030204" pitchFamily="18" charset="0"/>
                <a:sym typeface="+mn-ea"/>
              </a:rPr>
              <a:t>。</a:t>
            </a:r>
            <a:endParaRPr b="1" i="0" dirty="0">
              <a:solidFill>
                <a:srgbClr val="333333"/>
              </a:solidFill>
              <a:latin typeface="Times New Roman" panose="020205030504050903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维吉尼亚密码</a:t>
            </a:r>
            <a:r>
              <a:rPr lang="en-US" altLang="zh-CN"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——</a:t>
            </a:r>
            <a:r>
              <a:rPr lang="zh-CN" altLang="en-US" sz="2200" b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示例</a:t>
            </a:r>
          </a:p>
        </p:txBody>
      </p:sp>
      <p:sp>
        <p:nvSpPr>
          <p:cNvPr id="11" name="Rectangle 8"/>
          <p:cNvSpPr/>
          <p:nvPr/>
        </p:nvSpPr>
        <p:spPr>
          <a:xfrm>
            <a:off x="730250" y="5374640"/>
            <a:ext cx="10790555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密钥流 = 密钥字的循环复制；位置不同，移位量不同——这就是</a:t>
            </a:r>
            <a:r>
              <a:rPr sz="2400" b="1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"多表"</a:t>
            </a:r>
            <a:r>
              <a:rPr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2920" y="827278"/>
                <a:ext cx="10789920" cy="676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定义</a:t>
                </a:r>
                <a:r>
                  <a:rPr sz="24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1.4　</a:t>
                </a:r>
                <a:r>
                  <a:rPr sz="24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维吉尼亚密码：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设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a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是一个正整数。令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</a:t>
                </a:r>
                <a:r>
                  <a:rPr sz="2000" i="1" baseline="30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a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，维吉尼亚密码由如下算法组成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27278"/>
                <a:ext cx="10789920" cy="676910"/>
              </a:xfrm>
              <a:prstGeom prst="rect">
                <a:avLst/>
              </a:prstGeom>
              <a:blipFill rotWithShape="1">
                <a:blip r:embed="rId3"/>
                <a:stretch>
                  <a:fillRect t="-1076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31520" y="1530620"/>
                <a:ext cx="10789920" cy="768727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密钥生成算法。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选取长度为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的字母串作为密钥字并按照表</a:t>
                </a:r>
                <a:r>
                  <a:rPr lang="en-US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1.1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转换成密钥 </a:t>
                </a:r>
                <a:r>
                  <a:rPr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 = </a:t>
                </a:r>
                <a:r>
                  <a:rPr sz="2000" b="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e</a:t>
                </a:r>
                <a:r>
                  <a:rPr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:r>
                  <a:rPr sz="2000" b="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d</a:t>
                </a:r>
                <a:r>
                  <a:rPr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∈</a:t>
                </a:r>
                <a:r>
                  <a:rPr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</a:t>
                </a:r>
                <a:r>
                  <a:rPr sz="2000" b="0" i="1" baseline="3000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，即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18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个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中的元素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530620"/>
                <a:ext cx="10789920" cy="768727"/>
              </a:xfrm>
              <a:prstGeom prst="rect">
                <a:avLst/>
              </a:prstGeom>
              <a:blipFill>
                <a:blip r:embed="rId4"/>
                <a:stretch>
                  <a:fillRect t="-1587" b="-103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31520" y="2376546"/>
                <a:ext cx="10789920" cy="1145798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加密算法。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对于明文，首先将其进行分组，每组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个字母，其中最后一组字母数可以少于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个。每个字母串的第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个明文字母按照表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1.1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转换成对应的整数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1" baseline="-25000" err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，其次对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计算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ℰ</m:t>
                    </m:r>
                  </m:oMath>
                </a14:m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Kᵢ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(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+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K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mod 26，最后按照表 1.1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逐一输出对应的密文字母。这里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i="1" baseline="-25000" err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  <a:sym typeface="+mn-ea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对应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中的第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个元素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76546"/>
                <a:ext cx="10789920" cy="1145798"/>
              </a:xfrm>
              <a:prstGeom prst="rect">
                <a:avLst/>
              </a:prstGeom>
              <a:blipFill rotWithShape="1">
                <a:blip r:embed="rId5"/>
                <a:stretch>
                  <a:fillRect t="-33" b="55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31520" y="3581400"/>
                <a:ext cx="10789920" cy="781685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解密算法。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对于密文，首先将其按照表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1.1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转换成对应的整数串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1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 </a:t>
                </a:r>
                <a:r>
                  <a:rPr sz="200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 …,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sz="2000" i="1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a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，计算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𝒟</m:t>
                    </m:r>
                  </m:oMath>
                </a14:m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Kᵢ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sz="2000" b="0" i="1" err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sz="2000" b="0" i="1" baseline="-25000" err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(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y</a:t>
                </a:r>
                <a:r>
                  <a:rPr sz="2000" b="0" i="1" baseline="-25000" err="1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−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mod 26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并将计算结果转换成对应的明文字母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581400"/>
                <a:ext cx="10789920" cy="78168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31520" y="4467225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与移位密码对比</a:t>
            </a:r>
            <a:endParaRPr b="1" i="0" dirty="0">
              <a:solidFill>
                <a:srgbClr val="C00000"/>
              </a:solidFill>
              <a:latin typeface="Times New Roman" panose="02020503050405090304" pitchFamily="18" charset="0"/>
              <a:ea typeface="微软雅黑"/>
              <a:cs typeface="Times New Roman" panose="02020503050405090304" pitchFamily="18" charset="0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移位：</a:t>
            </a:r>
            <a:r>
              <a:rPr b="0" i="1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K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是常数，全篇一个移位量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维吉尼亚：</a:t>
            </a:r>
            <a:r>
              <a:rPr b="0" i="1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K</a:t>
            </a:r>
            <a:r>
              <a:rPr i="1" baseline="-2500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i</a:t>
            </a:r>
            <a:r>
              <a:rPr b="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随位置周期变化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→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多表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467225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下标</a:t>
            </a:r>
            <a:r>
              <a:rPr b="1" i="0" dirty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1" i="1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i</a:t>
            </a:r>
            <a:r>
              <a:rPr b="1" i="1" dirty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的含义</a:t>
            </a:r>
            <a:endParaRPr b="1" i="0" dirty="0">
              <a:solidFill>
                <a:srgbClr val="C00000"/>
              </a:solidFill>
              <a:latin typeface="Times New Roman" panose="02020503050405090304" pitchFamily="18" charset="0"/>
              <a:ea typeface="微软雅黑"/>
              <a:cs typeface="Times New Roman" panose="02020503050405090304" pitchFamily="18" charset="0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位置决定用哪张代换表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1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Kᵢ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为密钥字第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0" i="1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i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个字母对应的整数</a:t>
            </a:r>
            <a:r>
              <a:rPr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54040"/>
            <a:ext cx="10789920" cy="5029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分组规则：明文按 </a:t>
            </a:r>
            <a:r>
              <a:rPr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个字母分组，末组可不足 </a:t>
            </a:r>
            <a:r>
              <a:rPr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a</a:t>
            </a:r>
            <a:r>
              <a:rPr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 个。</a:t>
            </a:r>
            <a:endParaRPr b="0" i="0">
              <a:solidFill>
                <a:schemeClr val="tx1"/>
              </a:solidFill>
              <a:latin typeface="Times New Roman" panose="02020503050405090304" pitchFamily="18" charset="0"/>
              <a:ea typeface="微软雅黑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31520" y="3749040"/>
            <a:ext cx="5065395" cy="873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提示：K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=10, E=4, Y=24；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23900" y="96901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 err="1" smtClean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用密钥字</a:t>
            </a:r>
            <a:r>
              <a:rPr 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(</a:t>
            </a:r>
            <a:r>
              <a:rPr lang="zh-CN" altLang="en-US" sz="2000" b="1" i="0" dirty="0" smtClean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密钥</a:t>
            </a:r>
            <a:r>
              <a:rPr lang="en-US" altLang="zh-CN" sz="2000" b="1" dirty="0" smtClean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)</a:t>
            </a:r>
            <a:r>
              <a:rPr sz="2000" b="1" i="0" dirty="0" err="1" smtClean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KEY加密明文</a:t>
            </a:r>
            <a:r>
              <a:rPr sz="2000"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：</a:t>
            </a:r>
            <a:r>
              <a:rPr lang="en-US" altLang="zh-CN" sz="2000" b="1" i="0" dirty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PLAINTEXT</a:t>
            </a:r>
            <a:endParaRPr lang="en-US" altLang="zh-CN" sz="2000" b="1" i="0" dirty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</p:txBody>
      </p:sp>
      <p:graphicFrame>
        <p:nvGraphicFramePr>
          <p:cNvPr id="9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7062204"/>
              </p:ext>
            </p:extLst>
          </p:nvPr>
        </p:nvGraphicFramePr>
        <p:xfrm>
          <a:off x="723900" y="2027555"/>
          <a:ext cx="10789285" cy="1141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2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</a:t>
                      </a:r>
                      <a:r>
                        <a:rPr lang="zh-CN" alt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流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31520" y="3749040"/>
            <a:ext cx="5065395" cy="873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提示：K=10, E=4, Y=24；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280" y="4523740"/>
            <a:ext cx="10789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err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全串参考答案：</a:t>
            </a:r>
            <a:r>
              <a:rPr lang="en-US" altLang="zh-CN" sz="2000" b="1" err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ZPYSRROBR</a:t>
            </a:r>
            <a:endParaRPr sz="2000" b="1" i="0" err="1">
              <a:solidFill>
                <a:srgbClr val="333333"/>
              </a:solidFill>
              <a:latin typeface="Times New Roman" panose="02020503050405090304" pitchFamily="18" charset="0"/>
              <a:ea typeface="微软雅黑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sp>
        <p:nvSpPr>
          <p:cNvPr id="3" name="Rectangle 5"/>
          <p:cNvSpPr/>
          <p:nvPr/>
        </p:nvSpPr>
        <p:spPr>
          <a:xfrm>
            <a:off x="723900" y="96901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</a:rPr>
              <a:t>用密钥字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503050405090304" pitchFamily="18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</a:rPr>
              <a:t>密钥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503050405090304" pitchFamily="18" charset="0"/>
              </a:rPr>
              <a:t>)KEY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</a:rPr>
              <a:t>加密明文</a:t>
            </a:r>
            <a:r>
              <a:rPr sz="2000" b="1" i="0" dirty="0" smtClean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：</a:t>
            </a:r>
            <a:r>
              <a:rPr lang="en-US" altLang="zh-CN" sz="2000" b="1" i="0" dirty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PLAINTEXT</a:t>
            </a:r>
          </a:p>
        </p:txBody>
      </p:sp>
      <p:graphicFrame>
        <p:nvGraphicFramePr>
          <p:cNvPr id="4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3900" y="2027555"/>
          <a:ext cx="10789285" cy="1141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2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1089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维吉尼亚密码是否真正安全</a:t>
            </a:r>
            <a:r>
              <a:rPr lang="en-US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0330"/>
            <a:ext cx="10789920" cy="1188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密钥空间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26</a:t>
            </a:r>
            <a:r>
              <a:rPr lang="en-US" altLang="zh-CN" sz="2000" b="0" i="1" baseline="3000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a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，远大于移位密码；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同一明文字母可对应多个密文字母，掩盖了部分频率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但密钥循环使用产生周期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——</a:t>
            </a:r>
            <a:r>
              <a:rPr sz="2000" b="0" i="0" dirty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周期一旦暴露，多表退化为若干单表</a:t>
            </a:r>
            <a:r>
              <a:rPr sz="2000" b="0" i="0" dirty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257800" cy="11887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卡西斯基检验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利用重复密文片段的间距推测密钥长度。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257800" cy="11887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重合指数法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用统计量验证猜测的密钥长度。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3484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历史注脚：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"不可破译"的神话维持约三百年，最终败于周期分析。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789920" cy="4114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启示：密钥流绝不能有短周期——这一教训直接影响现代流密码的设计。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085"/>
            <a:ext cx="10789920" cy="56769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</a:rPr>
              <a:t>古典密码的天花板至此清晰：人工规则 + 统计规律 = 可破。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5280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置换与逆置换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4310"/>
            <a:ext cx="5257800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置换 </a:t>
            </a:r>
            <a:r>
              <a:rPr sz="2000" b="1" i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</a:t>
            </a: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(教材示例 S = {1,2,3})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K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：1→3, 2→1, 3→2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{1,2,3} 重排为 {3,1,2}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置换是集合到自身的双射。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75740"/>
            <a:ext cx="5257800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逆置换 </a:t>
            </a:r>
            <a:r>
              <a:rPr sz="2000" b="1" i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K⁻</a:t>
            </a: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¹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K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⁻¹：3→1, 1→2, 2→3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{3,1,2} 恢复为 {1,2,3}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逆置换把置换的结果恢复原序。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4945"/>
            <a:ext cx="10789920" cy="1025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双射：每个输入有唯一输出，且不重不漏；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解密就是逆置换——加密重排、解密还原。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2920" y="905383"/>
                <a:ext cx="10789920" cy="676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定义</a:t>
                </a:r>
                <a:r>
                  <a:rPr sz="24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1.5　</a:t>
                </a:r>
                <a:r>
                  <a:rPr sz="24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置换密码：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设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是一个正整数。令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</a:t>
                </a:r>
                <a:r>
                  <a:rPr sz="2000" b="0" i="1" baseline="30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为集合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{1, 2, …,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} 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中所有可能的置换。置换密码由如下算法组成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905383"/>
                <a:ext cx="10789920" cy="676910"/>
              </a:xfrm>
              <a:prstGeom prst="rect">
                <a:avLst/>
              </a:prstGeom>
              <a:blipFill rotWithShape="1">
                <a:blip r:embed="rId3"/>
                <a:stretch>
                  <a:fillRect t="-1076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31520" y="1783080"/>
                <a:ext cx="10789920" cy="4572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密钥生成算法。</a:t>
                </a:r>
                <a:r>
                  <a:rPr sz="2000" b="0" i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选取密钥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e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</a:t>
                </a:r>
                <a:r>
                  <a:rPr sz="2000" b="0" i="1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1" baseline="-2500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d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783080"/>
                <a:ext cx="10789920" cy="4572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31520" y="2350008"/>
                <a:ext cx="10789920" cy="713232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加密算法。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对于明文，首先将其进行分组，每组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a 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个字母；其次对每个字母串的第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个明文字母 </a:t>
                </a:r>
                <a:r>
                  <a:rPr sz="200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x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计算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ℰ</m:t>
                    </m:r>
                  </m:oMath>
                </a14:m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ᵢ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</a:t>
                </a:r>
                <a:r>
                  <a:rPr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x</a:t>
                </a:r>
                <a:r>
                  <a:rPr sz="2000" b="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ᵢ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；最后逐一输出密文字母。这里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微软雅黑"/>
                        <a:cs typeface="DejaVu Math TeX Gyre" panose="02000503000000000000" charset="0"/>
                      </a:rPr>
                      <m:t>𝐾</m:t>
                    </m:r>
                  </m:oMath>
                </a14:m>
                <a:r>
                  <a:rPr lang="en-US" sz="200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对应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中的第 </a:t>
                </a:r>
                <a:r>
                  <a:rPr lang="en-US" sz="2000" b="0" i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个元素。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50008"/>
                <a:ext cx="10789920" cy="713232"/>
              </a:xfrm>
              <a:prstGeom prst="rect">
                <a:avLst/>
              </a:prstGeom>
              <a:blipFill rotWithShape="1">
                <a:blip r:embed="rId5"/>
                <a:stretch>
                  <a:fillRect t="-71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31520" y="3172968"/>
                <a:ext cx="10789920" cy="82296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 err="1">
                    <a:solidFill>
                      <a:srgbClr val="C0000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解密算法。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对于一组密文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lang="en-US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lang="en-US" sz="2000" b="0" i="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1</a:t>
                </a:r>
                <a:r>
                  <a:rPr lang="en-US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</a:t>
                </a:r>
                <a:r>
                  <a:rPr lang="en-US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lang="en-US" sz="2000" b="0" i="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</a:t>
                </a:r>
                <a:r>
                  <a:rPr lang="en-US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,...，</a:t>
                </a:r>
                <a:r>
                  <a:rPr lang="en-US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sz="2000" i="1" baseline="-2500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  <a:sym typeface="+mn-ea"/>
                  </a:rPr>
                  <a:t>a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，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首先对第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个密文字母计算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𝒟</m:t>
                        </m:r>
                      </m:e>
                      <m:sub>
                        <m:sSubSup>
                          <m:sSubSupPr>
                            <m:ctrlP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DejaVu Math TeX Gyre" panose="02000503000000000000" charset="0"/>
                              </a:rPr>
                              <m:t>𝐾</m:t>
                            </m:r>
                          </m:e>
                          <m:sub>
                            <m:r>
                              <a:rPr sz="2000" i="1" err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Times New Roman Italic" panose="02020503050405090304" charset="0"/>
                                <a:sym typeface="+mn-ea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宋体" charset="0"/>
                                <a:cs typeface="DejaVu Math TeX Gyre" panose="02000503000000000000" charset="0"/>
                              </a:rPr>
                              <m:t>−1</m:t>
                            </m:r>
                          </m:sup>
                        </m:sSubSup>
                      </m:sub>
                    </m:sSub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(</a:t>
                </a:r>
                <a:r>
                  <a:rPr lang="en-US" sz="2000" b="0" i="1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y</a:t>
                </a:r>
                <a:r>
                  <a:rPr lang="en-US" sz="2000" b="0" i="1" baseline="-25000" dirty="0">
                    <a:solidFill>
                      <a:srgbClr val="404040"/>
                    </a:solidFill>
                    <a:latin typeface="Times New Roman Italic" panose="02020503050405090304" charset="0"/>
                    <a:ea typeface="微软雅黑"/>
                    <a:cs typeface="Times New Roman Italic" panose="02020503050405090304" charset="0"/>
                  </a:rPr>
                  <a:t>i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sSubSup>
                          <m:sSubSupPr>
                            <m:ctrlP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DejaVu Math TeX Gyre" panose="02000503000000000000" charset="0"/>
                              </a:rPr>
                              <m:t>𝐾</m:t>
                            </m:r>
                          </m:e>
                          <m:sub>
                            <m:r>
                              <a:rPr sz="2000" i="1" err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Times New Roman Italic" panose="02020503050405090304" charset="0"/>
                                <a:sym typeface="+mn-ea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  <a:ea typeface="宋体" charset="0"/>
                                <a:cs typeface="DejaVu Math TeX Gyre" panose="02000503000000000000" charset="0"/>
                              </a:rPr>
                              <m:t>−1</m:t>
                            </m:r>
                          </m:sup>
                        </m:sSubSup>
                      </m:sub>
                    </m:sSub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；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然后逐一输出明文字母。这里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e>
                      <m:sub>
                        <m:r>
                          <a:rPr sz="2000" i="1" err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 Italic" panose="020205030504050903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sz="2000" b="0" i="1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为 K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的逆置换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微软雅黑"/>
                            <a:cs typeface="DejaVu Math TeX Gyre" panose="02000503000000000000" charset="0"/>
                          </a:rPr>
                          <m:t>𝐾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宋体" charset="0"/>
                            <a:cs typeface="DejaVu Math TeX Gyre" panose="02000503000000000000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中的第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lang="en-US" sz="2000" b="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i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个元素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172968"/>
                <a:ext cx="10789920" cy="822960"/>
              </a:xfrm>
              <a:prstGeom prst="rect">
                <a:avLst/>
              </a:prstGeom>
              <a:blipFill rotWithShape="1">
                <a:blip r:embed="rId6"/>
                <a:stretch>
                  <a:fillRect t="-62" b="62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31520" y="4160520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口诀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"第 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i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个输出，取原串第 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K</a:t>
            </a:r>
            <a:r>
              <a:rPr lang="en-US" sz="2000" i="1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i</a:t>
            </a:r>
            <a:r>
              <a:rPr lang="en-US" sz="2000" b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个"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——下标方向不再迷。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160520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易混点对比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代换：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x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→ 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K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(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x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)，改内容；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置换：</a:t>
            </a:r>
            <a:r>
              <a:rPr lang="en-US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x</a:t>
            </a:r>
            <a:r>
              <a:rPr sz="2000" i="1" baseline="-25000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  <a:sym typeface="+mn-ea"/>
              </a:rPr>
              <a:t>i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 → </a:t>
            </a:r>
            <a:r>
              <a:rPr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x</a:t>
            </a:r>
            <a:r>
              <a:rPr sz="2000" i="1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K</a:t>
            </a:r>
            <a:r>
              <a:rPr sz="200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  <a:sym typeface="+mn-ea"/>
              </a:rPr>
              <a:t>ᵢ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rPr>
              <a:t>，改位置。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31520" y="5394960"/>
                <a:ext cx="10789920" cy="50292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04040"/>
                        </a:solidFill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ℤ</m:t>
                    </m:r>
                  </m:oMath>
                </a14:m>
                <a:r>
                  <a:rPr sz="2000" b="0" i="0" baseline="-2500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)</a:t>
                </a:r>
                <a:r>
                  <a:rPr lang="en-US" altLang="zh-CN" sz="2000" i="1" baseline="30000" dirty="0">
                    <a:solidFill>
                      <a:srgbClr val="40404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a</a:t>
                </a:r>
                <a:r>
                  <a:rPr lang="en-US" altLang="zh-CN" sz="2000" i="1" dirty="0">
                    <a:solidFill>
                      <a:srgbClr val="40404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：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分组串空间；</a:t>
                </a:r>
                <a:r>
                  <a:rPr sz="2000" b="0" i="1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K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为组内位置的全部置换；示例与逆置换验证见前一页</a:t>
                </a:r>
                <a:r>
                  <a:rPr sz="2000" b="0" i="0" dirty="0">
                    <a:solidFill>
                      <a:srgbClr val="404040"/>
                    </a:solidFill>
                    <a:latin typeface="Times New Roman" panose="02020503050405090304" pitchFamily="18" charset="0"/>
                    <a:ea typeface="微软雅黑"/>
                    <a:cs typeface="Times New Roman" panose="0202050305040509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394960"/>
                <a:ext cx="10789920" cy="502920"/>
              </a:xfrm>
              <a:prstGeom prst="rect">
                <a:avLst/>
              </a:prstGeom>
              <a:blipFill rotWithShape="1">
                <a:blip r:embed="rId7"/>
                <a:stretch>
                  <a:fillRect t="-126"/>
                </a:stretch>
              </a:blip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31520" y="5989320"/>
            <a:ext cx="1078992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下标映射方向最易错，口诀 + 示例双保险。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置换密码例题——</a:t>
            </a:r>
            <a:r>
              <a:rPr lang="en-US" altLang="zh-CN" sz="22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K</a:t>
            </a:r>
            <a:r>
              <a:rPr lang="zh-CN" sz="22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 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= (3,5,1,6,4,2)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1092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输出以下密文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：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设 m = 6，置换 </a:t>
            </a:r>
            <a:r>
              <a:rPr lang="en-US" altLang="zh-CN" sz="2000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(3, 5, 1, 6, 4, 2)。用置换密码加密明文 she sells seashells by the seashore。</a:t>
            </a:r>
            <a:endParaRPr lang="en-US" altLang="zh-CN" sz="2000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置换密码例题——</a:t>
            </a:r>
            <a:r>
              <a:rPr lang="en-US" altLang="zh-CN" sz="22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K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= (3,5,1,6,4,2)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695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设 </a:t>
            </a:r>
            <a:r>
              <a:rPr 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</a:rPr>
              <a:t>m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6，置换 </a:t>
            </a:r>
            <a:r>
              <a:rPr lang="en-US" alt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(3, 5, 1, 6, 4, 2)。用置换密码加密明文 she sells seashells by the seashore。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2236525"/>
            <a:ext cx="10789920" cy="1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加密步骤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分组：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去空格后每 6 个字母一组：shesel | lsseas | hellsb | ythese | ashore；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重排：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组内第 </a:t>
            </a:r>
            <a:r>
              <a:rPr 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</a:rPr>
              <a:t>i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个输出取原组第 </a:t>
            </a:r>
            <a:r>
              <a:rPr lang="en-US" alt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K</a:t>
            </a:r>
            <a:r>
              <a:rPr 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ᵢ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个字母；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首组：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shesel → (</a:t>
            </a:r>
            <a:r>
              <a:rPr lang="zh-CN" sz="2000" b="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3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, </a:t>
            </a:r>
            <a:r>
              <a:rPr lang="zh-CN"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  <a:sym typeface="+mn-ea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5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, </a:t>
            </a:r>
            <a:r>
              <a:rPr lang="zh-CN"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  <a:sym typeface="+mn-ea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1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, </a:t>
            </a:r>
            <a:r>
              <a:rPr lang="zh-CN"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  <a:sym typeface="+mn-ea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6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, </a:t>
            </a:r>
            <a:r>
              <a:rPr lang="zh-CN"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  <a:sym typeface="+mn-ea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4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, </a:t>
            </a:r>
            <a:r>
              <a:rPr lang="zh-CN" sz="2000" i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cs typeface="Times New Roman Italic" panose="02020503050405090304" charset="0"/>
                <a:sym typeface="+mn-ea"/>
              </a:rPr>
              <a:t>x</a:t>
            </a:r>
            <a:r>
              <a:rPr lang="zh-CN" sz="2000" b="0" i="0" baseline="-2500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2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) = e, e, s, l, s, h → EESLSH。</a:t>
            </a:r>
          </a:p>
        </p:txBody>
      </p:sp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0885" y="417987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明文组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shesel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lsseas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hellsb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ythese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ashore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密文组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EESLSH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SALSES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LSHBLE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HSYEET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HRAEOS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tangle 9"/>
          <p:cNvSpPr/>
          <p:nvPr/>
        </p:nvSpPr>
        <p:spPr>
          <a:xfrm>
            <a:off x="730885" y="5549900"/>
            <a:ext cx="10790555" cy="76009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密文按 4 字母重排：EESL SHSA LSES LSHB LEHS YEET HRAE OS；解密用逆置换 </a:t>
            </a:r>
            <a:r>
              <a:rPr lang="en-US" altLang="zh-CN" sz="2000" b="1" i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cs typeface="Times New Roman Bold Italic" panose="02020503050405090304" charset="0"/>
              </a:rPr>
              <a:t>K</a:t>
            </a: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⁻¹ 重排。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64870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代换与置换的区别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1414780"/>
          <a:ext cx="926287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类型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字母本身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字母位置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代换密码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改变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通常不变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置换密码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不变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改变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380740"/>
            <a:ext cx="5257800" cy="10972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代换示例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H → I：内容变了，位置没变。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390900"/>
            <a:ext cx="5257800" cy="10972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置换示例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HELLO → ELHOL：字母没变，位置变了。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16780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记忆口诀：代换换"内容"，置换换"位置"。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49900"/>
            <a:ext cx="1078992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置换密码的安全性依赖置换规则的复杂性与密钥的保密性(教材 §1.2.4)。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3048" y="1012190"/>
            <a:ext cx="91744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四种古典密码的比较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5645" y="1430020"/>
          <a:ext cx="10789920" cy="262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密码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核心操作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主要特点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主要弱点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移位密码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固定移位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简单直观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密钥空间仅 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代换密码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单表代换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密钥空间 26!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保留频率特征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维吉尼亚密码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多表代换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隐藏部分频率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密钥周期可被检测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置换密码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重新排列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字符不变、位置变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保留字符统计特征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5328" y="4342130"/>
            <a:ext cx="10789920" cy="7315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共同结论：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加密过程相对简单，容易被统计分析、频率分析和穷举破解——古典密码已不再安全。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328" y="5356860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快答：四种密码中，属于代换族的有几个？属于置换族的有几个？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课堂习题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12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1(模运算)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计算 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58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mod 26 与 −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1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3 mod 26。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" name="Rectangle 21"/>
          <p:cNvSpPr/>
          <p:nvPr/>
        </p:nvSpPr>
        <p:spPr>
          <a:xfrm>
            <a:off x="627648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2(移位密码)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在 </a:t>
            </a:r>
            <a:r>
              <a:rPr lang="zh-CN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3 加密 HELLOWORLD 的表中，补全第 4、5 列(两个 L)的整数行与密文行，并核对全串密文。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73152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3(维吉尼亚密码)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用密钥字 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SECRET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加密明文 </a:t>
            </a: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C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RYPTOLOGY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，写出完整密文串，并对照参考答案校验。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27648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4(置换密码)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用置换 </a:t>
            </a:r>
            <a:r>
              <a:rPr lang="zh-CN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(4, 5, 3, 1, 2) 加密 HELLOWORLD：按 5 个字母分组后组内重排。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课堂习题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12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1(模运算)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计算 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58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mod 26 与 −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1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3 mod 26。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答案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：6、13</a:t>
            </a:r>
          </a:p>
        </p:txBody>
      </p:sp>
      <p:sp>
        <p:nvSpPr>
          <p:cNvPr id="2" name="Rectangle 21"/>
          <p:cNvSpPr/>
          <p:nvPr/>
        </p:nvSpPr>
        <p:spPr>
          <a:xfrm>
            <a:off x="627648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2(移位密码)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在 </a:t>
            </a:r>
            <a:r>
              <a:rPr lang="zh-CN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3 加密 HELLOWORLD 的表中，补全第 4、5 列(两个 L)的整数行与密文行，并核对全串密文。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：HKOORZRUOG</a:t>
            </a:r>
            <a:endParaRPr lang="en-US" alt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73152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3(维吉尼亚密码)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用密钥字 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SECRET</a:t>
            </a: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 加密明文 C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RYPTOLOGY</a:t>
            </a: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，写出完整密文串，并对照参考答案校验。</a:t>
            </a: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：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UVAGXHDSIP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27648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习题 4(置换密码)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用置换 </a:t>
            </a:r>
            <a:r>
              <a:rPr lang="zh-CN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K</a:t>
            </a:r>
            <a:r>
              <a:rPr 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= (4, 5, 3, 1, 2) 加密 HELLOWORLD：按 5 个字母分组后组内重排。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：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LOLHELDRWO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464940" y="2665834"/>
            <a:ext cx="7261289" cy="764195"/>
            <a:chOff x="3147" y="6401"/>
            <a:chExt cx="10129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8297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现代</a:t>
              </a:r>
              <a:r>
                <a:rPr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密码学</a:t>
              </a: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与安全性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>
                  <a:solidFill>
                    <a:prstClr val="white"/>
                  </a:solidFill>
                  <a:latin typeface="+mj-ea"/>
                  <a:ea typeface="+mj-ea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1002030"/>
            <a:ext cx="5212080" cy="313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古典密码的共同问题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主要依赖人工设计规则；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安全性缺乏严格模型；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容易暴露语言统计规律；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无法支撑大规模通信与身份认证；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密钥分发没有系统性方案。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2030"/>
            <a:ext cx="5212080" cy="313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现代密码学的转向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数学基础：信息论、数论、计算复杂性；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形式化安全目标与攻击模型；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标准化算法与协议；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可证明的安全保证；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公钥思想解决密钥分发与签名。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135" y="5423535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从"技巧"到"科学"：安全必须能被定义、被分析、被证明。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135" y="4325620"/>
            <a:ext cx="10789920" cy="91059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古典密码主要问：</a:t>
            </a:r>
            <a:r>
              <a:rPr lang="en-US" altLang="zh-CN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“</a:t>
            </a:r>
            <a:r>
              <a:rPr lang="zh-CN" altLang="en-US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别人能不能看懂？</a:t>
            </a:r>
            <a:r>
              <a:rPr lang="en-US" altLang="zh-CN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现代密码进一步问：</a:t>
            </a:r>
            <a:r>
              <a:rPr lang="en-US" altLang="zh-CN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“</a:t>
            </a:r>
            <a:r>
              <a:rPr lang="zh-CN" altLang="en-US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攻击者拥有什么能力？成功意味着什么？需要多少计算资源？</a:t>
            </a:r>
            <a:r>
              <a:rPr lang="en-US" altLang="zh-CN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”</a:t>
            </a: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23444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函数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主要支撑：完整性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典型算法：SHA-3 · SM3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对称加密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主要支撑：保密性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典型算法：AES · SM4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3444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消息认证码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主要支撑：完整+来源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典型算法：HMAC · CMAC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公钥加密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主要支撑：保密+密钥分发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典型算法：RSA · SM2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97180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数字签名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主要支撑：认证+不可否认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典型算法：RSA · DSA · SM2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97180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密钥协商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主要支撑：会话密钥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典型算法：DH · SM2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每个原语只问三个问题：解决什么？典型算法？局限在哪？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6296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函数 Hash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50" y="1461770"/>
            <a:ext cx="6729730" cy="16484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任意长度输入 → 固定长度输出(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值)；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单向性：很难从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值逆推原始输入；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用途：数据完整性验证；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典型算法：SHA-3、SM3(MD5 已退场)。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88720"/>
            <a:ext cx="3749039" cy="21945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提醒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普通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只能发现数据变化，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不能单独证明消息来自谁；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来源认证需要密钥参与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——见下页 MAC。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任意长消息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58768" y="381965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函数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76288" y="381965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固定长指纹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例：一封百万字合同与一个字节的消息，指纹长度相同；改动一字，指纹面目全非。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57520"/>
            <a:ext cx="10789920" cy="5029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单向性 = 正向容易、反向困难——</a:t>
            </a:r>
            <a:r>
              <a:rPr lang="zh-CN" sz="200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杂凑函数</a:t>
            </a:r>
            <a:r>
              <a:rPr sz="200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的第一性质。</a:t>
            </a:r>
            <a:endParaRPr sz="2000" b="0" i="0">
              <a:solidFill>
                <a:schemeClr val="tx1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9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86296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对称加密与消息认证码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12545"/>
            <a:ext cx="4134485" cy="264287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对称加密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加解密使用</a:t>
            </a: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同一密钥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效率高，适合大量数据；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典型：DES、AES、SM4；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短板：密钥分发与管理；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应用：会话数据的主力加密。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650" y="1312545"/>
            <a:ext cx="6320790" cy="264287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消息认证码 MAC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输入 = 消息 + 共享密钥；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输出固定长度认证标签；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提供完整性 + 消息来源认证；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典型：基于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的消息认证码(HMAC)、基于密文的消息认证码(CMAC)；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应用：报文防篡改与溯源。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78992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MAC </a:t>
            </a:r>
            <a:r>
              <a:rPr lang="zh-CN" altLang="en-US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与普通杂凑函数的关键区别：</a:t>
            </a:r>
            <a:r>
              <a:rPr lang="en-US" altLang="zh-CN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MAC </a:t>
            </a:r>
            <a:r>
              <a:rPr lang="zh-CN" altLang="en-US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的计算需要</a:t>
            </a:r>
            <a:r>
              <a:rPr lang="zh-CN" altLang="en-US" b="0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共享密钥</a:t>
            </a:r>
            <a:r>
              <a:rPr lang="zh-CN" altLang="en-US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  <a:endParaRPr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对称加密的效率优势使其承担数据保护；公钥加密承担密钥交换——组合使用是工程惯例。</a:t>
            </a:r>
            <a:endParaRPr b="0" i="0">
              <a:solidFill>
                <a:srgbClr val="404040"/>
              </a:solidFill>
              <a:latin typeface="Times New Roman" panose="02020503050405090304" pitchFamily="18" charset="0"/>
              <a:ea typeface="微软雅黑"/>
              <a:sym typeface="+mn-ea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58520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公钥加密与数字签名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3045"/>
            <a:ext cx="5257800" cy="215455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公钥加密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公钥加密、私钥解密；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主要提供保密性；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典型：RSA、SM2；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速度较慢，常与对称加密组合。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96060"/>
            <a:ext cx="5257800" cy="21615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数字签名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私钥签名、公钥验证；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完整性 + 来源认证 + 不可否认；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典型：RSA、DSA、SM2；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动机：手写签名易伪造、进不了数字世界。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86200"/>
            <a:ext cx="107899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口诀：加密用对方公钥，签名用自己私钥。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916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法律背书：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美国、德国、日本和我国等许多国家已颁布数字签名法，签名在电子商务与政务中具有法律效力。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公钥密码显著缓解了对称密钥预共享和分发问题</a:t>
            </a: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，但加解密速度通常较慢——二者互补。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6296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密钥协商 Key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0970"/>
            <a:ext cx="10789920" cy="15297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目标：通信双方在不安全信道上建立共享密钥；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关键：不直接传输最终会话密钥；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典型协议：DH 密钥协商、SM2 密钥协商；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建立的共享密钥通常交给后续对称加密使用。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A</a:t>
            </a:r>
            <a:r>
              <a:rPr lang="en-US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sz="2000" b="1" i="0" err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公布</a:t>
            </a: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en-US" sz="20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g</a:t>
            </a:r>
            <a:r>
              <a:rPr lang="en-US" sz="2000" b="1" i="1" baseline="30000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58768" y="329641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B</a:t>
            </a:r>
            <a:r>
              <a:rPr lang="en-US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公布 </a:t>
            </a:r>
            <a:r>
              <a:rPr lang="en-US" sz="20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  <a:sym typeface="+mn-ea"/>
              </a:rPr>
              <a:t>g</a:t>
            </a:r>
            <a:r>
              <a:rPr lang="en-US" sz="2000" b="1" i="1" baseline="30000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  <a:sym typeface="+mn-ea"/>
              </a:rPr>
              <a:t>b</a:t>
            </a:r>
            <a:endParaRPr sz="2000" b="1" i="1" baseline="30000">
              <a:solidFill>
                <a:srgbClr val="333333"/>
              </a:solidFill>
              <a:latin typeface="Times New Roman Bold Italic" panose="02020503050405090304" charset="0"/>
              <a:ea typeface="微软雅黑"/>
              <a:cs typeface="Times New Roman Bold Italic" panose="0202050305040509030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876288" y="329641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双方共得</a:t>
            </a:r>
            <a:r>
              <a:rPr lang="en-US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en-US" sz="2000" b="1" i="1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g</a:t>
            </a:r>
            <a:r>
              <a:rPr lang="en-US" sz="2000" b="1" i="1" baseline="30000">
                <a:solidFill>
                  <a:srgbClr val="333333"/>
                </a:solidFill>
                <a:latin typeface="Times New Roman Bold Italic" panose="02020503050405090304" charset="0"/>
                <a:ea typeface="微软雅黑"/>
                <a:cs typeface="Times New Roman Bold Italic" panose="02020503050405090304" charset="0"/>
              </a:rPr>
              <a:t>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</a:rPr>
              <a:t>双方各自贡献"一半"秘密，任何人只看到公开量，算不出共享值(离散对数困难)。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789920" cy="59372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实际协议通常使用短期会话密钥，并定期更新，以降低长期密钥暴露带来的风险。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52652"/>
              </p:ext>
            </p:extLst>
          </p:nvPr>
        </p:nvGraphicFramePr>
        <p:xfrm>
          <a:off x="1097280" y="2222500"/>
          <a:ext cx="999439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安全需求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主要密码学机制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数据保密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对称加密、公钥加密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数据完整性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杂凑</a:t>
                      </a:r>
                      <a:r>
                        <a:rPr sz="2000" b="0" i="0" dirty="0" err="1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函数、MAC、</a:t>
                      </a: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数字签名</a:t>
                      </a:r>
                      <a:r>
                        <a:rPr 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(PKI)</a:t>
                      </a:r>
                      <a:r>
                        <a:rPr lang="zh-CN" alt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等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消息来源认证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MAC</a:t>
                      </a:r>
                      <a:r>
                        <a:rPr sz="2000" b="0" i="0" dirty="0" err="1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、</a:t>
                      </a: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数字签名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(PKI)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身份认证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MAC</a:t>
                      </a:r>
                      <a:r>
                        <a:rPr lang="zh-CN" alt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、</a:t>
                      </a: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数字签名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(PKI)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不可否认性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数字签名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(PKI)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会话密钥建立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密钥协商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(PKI)</a:t>
                      </a:r>
                      <a:r>
                        <a:rPr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、</a:t>
                      </a: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公钥加密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(PKI)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/>
          <p:cNvSpPr txBox="1"/>
          <p:nvPr/>
        </p:nvSpPr>
        <p:spPr>
          <a:xfrm>
            <a:off x="3164205" y="1490980"/>
            <a:ext cx="586041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不同安全需求应该选择什么工具</a:t>
            </a: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188720"/>
            <a:ext cx="10789920" cy="868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设问：如果一个密码需要一百万年才能破解，它在现实中是否可以认为安全？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无条件安全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无限算力也破不了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理想标杆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计算安全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有限算力下合理时间破不了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工程现实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可证明安全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归约到公认数学难题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科学方法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64025"/>
            <a:ext cx="1078992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三者关系：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无条件安全是理想标杆，计算安全是工程现实，可证明安全是科学方法。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3621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安全观转变：从"能否破解"到"合理资源下能否破解"。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10895"/>
            <a:ext cx="6766560" cy="2005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无条件安全性</a:t>
            </a:r>
            <a:endParaRPr sz="24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又称信息论安全性：攻击者拥有无限计算资源仍无法破解；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唯一被证明者：一次性密码本(One-Time Pad)；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做法：明文与等长随机比特串做异或(XOR)。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963295"/>
            <a:ext cx="3749039" cy="1828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OTP 三条件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密钥真正随机；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密钥与消息等长；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密钥只用一次。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85135"/>
            <a:ext cx="10789920" cy="9728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异或小例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明文 0100 ⊕ 密钥 1011 = 密文 1111；无密钥时，密文与任何明文都"相容"。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20845"/>
            <a:ext cx="10789920" cy="576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主要困难：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密钥的安全分发与管理——又是密钥问题(等长、一次一用使分发成本翻倍)。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80000"/>
            <a:ext cx="10789920" cy="57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三条件任缺其一，即失去无条件安全性。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55335"/>
            <a:ext cx="10789920" cy="576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OTP 是标杆而非主力：理解它，就理解了"密钥为何是核心"。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997585"/>
            <a:ext cx="6766560" cy="20923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计算安全性</a:t>
            </a: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假设攻击者计算资源有限：合理时间内无法攻破；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通常立足于数论困难问题；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动态观：算力与攻击技术进步，会使"安全"变"脆弱"，算法需持续演进。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89920" cy="54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例：量子计算机若实用化，大整数分解变易——RSA 将面临挑战，后量子密码因此兴起。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06440"/>
            <a:ext cx="10789920" cy="54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计算安全是工程世界的现实标准：安全是成本与价值的博弈。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61055"/>
            <a:ext cx="10789920" cy="152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实际安全的三条判据(满足其一)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破译的实际计算量巨大，实际上无法实现；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破译所需时间超过被加密信息的有用生命周期；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破译费用超过被加密信息本身的价值。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88720"/>
            <a:ext cx="3749040" cy="33502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indent="0" algn="ctr" fontAlgn="auto">
              <a:spcBef>
                <a:spcPts val="0"/>
              </a:spcBef>
              <a:spcAft>
                <a:spcPts val="1700"/>
              </a:spcAft>
            </a:pPr>
            <a:r>
              <a:rPr sz="2000" b="1" i="0" err="1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两大困难问题</a:t>
            </a:r>
            <a:endParaRPr sz="2000" b="1" i="0">
              <a:solidFill>
                <a:srgbClr val="C00000"/>
              </a:solidFill>
              <a:latin typeface="Times New Roman" panose="02020503050405090304" pitchFamily="18" charset="0"/>
              <a:ea typeface="微软雅黑"/>
            </a:endParaRP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大整数分解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→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给定一个大整数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N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，求其两个或多个非平凡因子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离散对数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→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给定</a:t>
            </a:r>
            <a:r>
              <a:rPr lang="en-US" altLang="zh-CN" sz="2000" b="0" i="0" err="1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g、g</a:t>
            </a:r>
            <a:r>
              <a:rPr lang="en-US" altLang="zh-CN" sz="2000" b="0" i="1" baseline="30000" err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x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，求未知指数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</a:t>
            </a:r>
            <a:r>
              <a:rPr lang="en-US" sz="2000" b="0" i="1">
                <a:solidFill>
                  <a:srgbClr val="404040"/>
                </a:solidFill>
                <a:latin typeface="Times New Roman Italic" panose="02020503050405090304" charset="0"/>
                <a:ea typeface="微软雅黑"/>
                <a:cs typeface="Times New Roman Italic" panose="02020503050405090304" charset="0"/>
              </a:rPr>
              <a:t>x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34390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可证明安全性的基本思想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18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明确安全目标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233" y="1700657"/>
            <a:ext cx="630936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469074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建立攻击模型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793" y="1700657"/>
            <a:ext cx="630936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802830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归约到数学难题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808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安全目标举例：加密体制→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密文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保密性；签名体制→</a:t>
            </a:r>
            <a:r>
              <a:rPr 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签名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不可伪造性；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归约：若攻击者能攻破体制，则可在多项式时间内解决公认难题(如大整数分解)；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思想源于数学证明中的反证法。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8145"/>
            <a:ext cx="1078992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举例：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如果大整数分解是困难的，那么破解给定的基于大整数分解的密码体制也是困难的。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92395"/>
            <a:ext cx="10789920" cy="9144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强调：</a:t>
            </a: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可证明安全不是"绝对安全"，而是在明确假设与攻击模型下给出的安全保证；归约只说明安全性与难题相关，并未完全证明体制安全。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43280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从古典密码到现代密码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隐藏字符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588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3008376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密钥控制变换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187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5212079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统计规律攻防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929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7415783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数学困难问题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5385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9619488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形式化安全模型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古代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5224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古典–1949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1949–1976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42631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1976–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6337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Times New Roman" panose="02020503050405090304" pitchFamily="18" charset="0"/>
                <a:ea typeface="微软雅黑"/>
              </a:rPr>
              <a:t>现代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5371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古典：靠隐藏与技巧；现代：靠密钥、数学与模型；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攻击与防御交替推动密码学发展；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安全性从"感觉安全"走向"可定义、可分析、可证明"。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99355"/>
            <a:ext cx="10789920" cy="685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密码学把"信任"变成了可以计算、可以证明的对象。</a:t>
            </a:r>
          </a:p>
        </p:txBody>
      </p:sp>
      <p:cxnSp>
        <p:nvCxnSpPr>
          <p:cNvPr id="2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7073" y="810895"/>
            <a:ext cx="8234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案例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回顾</a:t>
            </a: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：设计一次安全的网络转账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5016447"/>
              </p:ext>
            </p:extLst>
          </p:nvPr>
        </p:nvGraphicFramePr>
        <p:xfrm>
          <a:off x="932815" y="2800985"/>
          <a:ext cx="1043241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安全目标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dirty="0" smtClean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可</a:t>
                      </a:r>
                      <a:r>
                        <a:rPr sz="2000" b="1" i="0" dirty="0" err="1" smtClean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选密码学机制</a:t>
                      </a:r>
                      <a:endParaRPr sz="2000" b="1" i="0" dirty="0">
                        <a:solidFill>
                          <a:srgbClr val="FFFFFF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转账内容不能被窃听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转账金额不能被篡改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接收方确认发送者身份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发送方不能事后否认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双方建立会话密钥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密钥协商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29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对称加密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3070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数字</a:t>
            </a: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签名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84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PKI 信任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932815" y="1330960"/>
            <a:ext cx="3968750" cy="1125855"/>
            <a:chOff x="1469" y="2096"/>
            <a:chExt cx="6250" cy="1773"/>
          </a:xfrm>
        </p:grpSpPr>
        <p:grpSp>
          <p:nvGrpSpPr>
            <p:cNvPr id="17" name="组合 16"/>
            <p:cNvGrpSpPr/>
            <p:nvPr/>
          </p:nvGrpSpPr>
          <p:grpSpPr>
            <a:xfrm>
              <a:off x="1469" y="2096"/>
              <a:ext cx="6250" cy="864"/>
              <a:chOff x="1721" y="1921"/>
              <a:chExt cx="6250" cy="864"/>
            </a:xfrm>
          </p:grpSpPr>
          <p:sp>
            <p:nvSpPr>
              <p:cNvPr id="2" name="Rectangle 5"/>
              <p:cNvSpPr/>
              <p:nvPr/>
            </p:nvSpPr>
            <p:spPr>
              <a:xfrm>
                <a:off x="1721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 charset="-122"/>
                  </a:rPr>
                  <a:t>汇款人 A</a:t>
                </a:r>
              </a:p>
            </p:txBody>
          </p:sp>
          <p:sp>
            <p:nvSpPr>
              <p:cNvPr id="3" name="Right Arrow 6"/>
              <p:cNvSpPr/>
              <p:nvPr/>
            </p:nvSpPr>
            <p:spPr>
              <a:xfrm>
                <a:off x="4342" y="2137"/>
                <a:ext cx="1008" cy="432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sz="2400"/>
              </a:p>
            </p:txBody>
          </p:sp>
          <p:sp>
            <p:nvSpPr>
              <p:cNvPr id="5" name="Rectangle 7"/>
              <p:cNvSpPr/>
              <p:nvPr/>
            </p:nvSpPr>
            <p:spPr>
              <a:xfrm>
                <a:off x="5523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 charset="-122"/>
                  </a:rPr>
                  <a:t>收款人 B</a:t>
                </a:r>
              </a:p>
            </p:txBody>
          </p:sp>
        </p:grpSp>
        <p:sp>
          <p:nvSpPr>
            <p:cNvPr id="13" name="Rectangle 8"/>
            <p:cNvSpPr/>
            <p:nvPr/>
          </p:nvSpPr>
          <p:spPr>
            <a:xfrm>
              <a:off x="3226" y="3149"/>
              <a:ext cx="2736" cy="7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rgbClr val="FFFFFF"/>
                  </a:solidFill>
                  <a:latin typeface="Times New Roman" panose="02020503050405090304" pitchFamily="18" charset="0"/>
                  <a:ea typeface="微软雅黑" charset="-122"/>
                </a:rPr>
                <a:t>攻击者</a:t>
              </a:r>
            </a:p>
          </p:txBody>
        </p:sp>
      </p:grpSp>
      <p:sp>
        <p:nvSpPr>
          <p:cNvPr id="14" name="TextBox 9"/>
          <p:cNvSpPr txBox="1"/>
          <p:nvPr/>
        </p:nvSpPr>
        <p:spPr>
          <a:xfrm>
            <a:off x="5561965" y="1408430"/>
            <a:ext cx="5340985" cy="9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 charset="-122"/>
              </a:rPr>
              <a:t>攻击者位于信道之中，可以：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 charset="-122"/>
              </a:rPr>
              <a:t>窃听内容 · 篡改数据 · 冒充身份 · 事后否认</a:t>
            </a:r>
          </a:p>
        </p:txBody>
      </p:sp>
      <p:sp>
        <p:nvSpPr>
          <p:cNvPr id="19" name="Rectangle 7"/>
          <p:cNvSpPr/>
          <p:nvPr/>
        </p:nvSpPr>
        <p:spPr>
          <a:xfrm>
            <a:off x="785558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杂凑</a:t>
            </a:r>
            <a:r>
              <a:rPr lang="en-US" altLang="zh-CN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/MAC</a:t>
            </a:r>
          </a:p>
        </p:txBody>
      </p:sp>
      <p:sp>
        <p:nvSpPr>
          <p:cNvPr id="20" name="Rectangle 7"/>
          <p:cNvSpPr/>
          <p:nvPr/>
        </p:nvSpPr>
        <p:spPr>
          <a:xfrm>
            <a:off x="9712325" y="5625465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公钥加密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7073" y="810895"/>
            <a:ext cx="8234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案例</a:t>
            </a: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回顾</a:t>
            </a:r>
            <a:r>
              <a:rPr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：设计一次安全的网络转账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2498536"/>
              </p:ext>
            </p:extLst>
          </p:nvPr>
        </p:nvGraphicFramePr>
        <p:xfrm>
          <a:off x="932815" y="2800985"/>
          <a:ext cx="1043241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安全目标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dirty="0" smtClean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可</a:t>
                      </a:r>
                      <a:r>
                        <a:rPr sz="2000" b="1" i="0" dirty="0" err="1" smtClean="0">
                          <a:solidFill>
                            <a:srgbClr val="FFFFFF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选密码学机制</a:t>
                      </a:r>
                      <a:endParaRPr sz="2000" b="1" i="0" dirty="0">
                        <a:solidFill>
                          <a:srgbClr val="FFFFFF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转账内容不能被窃听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对称加密(保护后续通信)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转账金额不能被篡改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MAC</a:t>
                      </a:r>
                      <a:r>
                        <a:rPr lang="en-US" altLang="zh-CN" sz="2000" b="0" i="0" dirty="0" smtClean="0">
                          <a:solidFill>
                            <a:srgbClr val="333333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/ </a:t>
                      </a:r>
                      <a:r>
                        <a:rPr lang="zh-CN" altLang="en-US" sz="2000" b="0" i="0" dirty="0" smtClean="0">
                          <a:solidFill>
                            <a:srgbClr val="333333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签名</a:t>
                      </a:r>
                      <a:r>
                        <a:rPr lang="zh-CN" alt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 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+ PKI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接收方确认发送者身份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i="0" dirty="0" smtClean="0">
                          <a:solidFill>
                            <a:srgbClr val="333333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 MAC / </a:t>
                      </a:r>
                      <a:r>
                        <a:rPr lang="zh-CN" altLang="en-US" sz="2000" b="0" i="0" dirty="0" smtClean="0">
                          <a:solidFill>
                            <a:srgbClr val="333333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签名</a:t>
                      </a:r>
                      <a:r>
                        <a:rPr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 </a:t>
                      </a:r>
                      <a:r>
                        <a:rPr sz="2000" b="0" i="0" dirty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+ PKI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发送方不能事后否认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签名</a:t>
                      </a:r>
                      <a:r>
                        <a:rPr 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 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+ PKI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双方建立会话密钥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 dirty="0" err="1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密钥协商</a:t>
                      </a:r>
                      <a:r>
                        <a:rPr lang="en-US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微软雅黑"/>
                        </a:rPr>
                        <a:t> </a:t>
                      </a:r>
                      <a:r>
                        <a:rPr lang="en-US" altLang="zh-CN" sz="2000" b="0" i="0" dirty="0" smtClean="0">
                          <a:solidFill>
                            <a:srgbClr val="404040"/>
                          </a:solidFill>
                          <a:latin typeface="Times New Roman" panose="02020503050405090304" pitchFamily="18" charset="0"/>
                          <a:ea typeface="+mn-ea"/>
                        </a:rPr>
                        <a:t>+ PKI</a:t>
                      </a:r>
                      <a:endParaRPr sz="2000" b="0" i="0" dirty="0">
                        <a:solidFill>
                          <a:srgbClr val="404040"/>
                        </a:solidFill>
                        <a:latin typeface="Times New Roman" panose="02020503050405090304" pitchFamily="18" charset="0"/>
                        <a:ea typeface="微软雅黑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34940"/>
            <a:ext cx="107899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</a:rPr>
              <a:t>实际系统中的使用次序：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① 密钥协商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6150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② 对称加密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79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③ MAC / </a:t>
            </a:r>
            <a:r>
              <a:rPr sz="2000" b="1" i="0" dirty="0" err="1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签名</a:t>
            </a:r>
            <a:endParaRPr sz="2000" b="1" i="0" dirty="0">
              <a:solidFill>
                <a:srgbClr val="333333"/>
              </a:solidFill>
              <a:latin typeface="Times New Roman" panose="02020503050405090304" pitchFamily="18" charset="0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95409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④ PKI 信任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932815" y="1330960"/>
            <a:ext cx="3968750" cy="1125855"/>
            <a:chOff x="1469" y="2096"/>
            <a:chExt cx="6250" cy="1773"/>
          </a:xfrm>
        </p:grpSpPr>
        <p:grpSp>
          <p:nvGrpSpPr>
            <p:cNvPr id="17" name="组合 16"/>
            <p:cNvGrpSpPr/>
            <p:nvPr/>
          </p:nvGrpSpPr>
          <p:grpSpPr>
            <a:xfrm>
              <a:off x="1469" y="2096"/>
              <a:ext cx="6250" cy="864"/>
              <a:chOff x="1721" y="1921"/>
              <a:chExt cx="6250" cy="864"/>
            </a:xfrm>
          </p:grpSpPr>
          <p:sp>
            <p:nvSpPr>
              <p:cNvPr id="2" name="Rectangle 5"/>
              <p:cNvSpPr/>
              <p:nvPr/>
            </p:nvSpPr>
            <p:spPr>
              <a:xfrm>
                <a:off x="1721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 charset="-122"/>
                  </a:rPr>
                  <a:t>汇款人 A</a:t>
                </a:r>
              </a:p>
            </p:txBody>
          </p:sp>
          <p:sp>
            <p:nvSpPr>
              <p:cNvPr id="3" name="Right Arrow 6"/>
              <p:cNvSpPr/>
              <p:nvPr/>
            </p:nvSpPr>
            <p:spPr>
              <a:xfrm>
                <a:off x="4342" y="2137"/>
                <a:ext cx="1008" cy="432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sz="2400"/>
              </a:p>
            </p:txBody>
          </p:sp>
          <p:sp>
            <p:nvSpPr>
              <p:cNvPr id="5" name="Rectangle 7"/>
              <p:cNvSpPr/>
              <p:nvPr/>
            </p:nvSpPr>
            <p:spPr>
              <a:xfrm>
                <a:off x="5523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Times New Roman" panose="02020503050405090304" pitchFamily="18" charset="0"/>
                    <a:ea typeface="微软雅黑" charset="-122"/>
                  </a:rPr>
                  <a:t>收款人 B</a:t>
                </a:r>
              </a:p>
            </p:txBody>
          </p:sp>
        </p:grpSp>
        <p:sp>
          <p:nvSpPr>
            <p:cNvPr id="13" name="Rectangle 8"/>
            <p:cNvSpPr/>
            <p:nvPr/>
          </p:nvSpPr>
          <p:spPr>
            <a:xfrm>
              <a:off x="3226" y="3149"/>
              <a:ext cx="2736" cy="7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rgbClr val="FFFFFF"/>
                  </a:solidFill>
                  <a:latin typeface="Times New Roman" panose="02020503050405090304" pitchFamily="18" charset="0"/>
                  <a:ea typeface="微软雅黑" charset="-122"/>
                </a:rPr>
                <a:t>攻击者</a:t>
              </a:r>
            </a:p>
          </p:txBody>
        </p:sp>
      </p:grpSp>
      <p:sp>
        <p:nvSpPr>
          <p:cNvPr id="14" name="TextBox 9"/>
          <p:cNvSpPr txBox="1"/>
          <p:nvPr/>
        </p:nvSpPr>
        <p:spPr>
          <a:xfrm>
            <a:off x="5561965" y="1408430"/>
            <a:ext cx="5340985" cy="9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 charset="-122"/>
              </a:rPr>
              <a:t>攻击者位于信道之中，可以：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 charset="-122"/>
              </a:rPr>
              <a:t>窃听内容 · 篡改数据 · 冒充身份 · 事后否认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97472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本章核心结论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6146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古典密码帮助理解加密思想，但不能满足现代安全需求；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现代密码学的安全性建立在密钥、算法、数学假设和安全模型之上；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密码学是网络安全的核心基础，但不能单独解决所有网络安全问题。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sp>
        <p:nvSpPr>
          <p:cNvPr id="7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97472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Times New Roman" panose="02020503050405090304" pitchFamily="18" charset="0"/>
                <a:ea typeface="微软雅黑"/>
              </a:rPr>
              <a:t>课程作业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61465"/>
            <a:ext cx="10789920" cy="143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1.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简述一个密码体制主要包含哪些部分。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2.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假设密钥为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“KEY”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，使用维吉尼亚密码对明文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“CRYPTOGRAPHY”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进行加密，计算对应的密文。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3.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假设代换密码使用的置换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K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如表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 1.5 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所示，密文为</a:t>
            </a:r>
            <a:r>
              <a:rPr lang="en-US" altLang="zh-CN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“VTSEGDT”</a:t>
            </a:r>
            <a:r>
              <a:rPr lang="zh-CN" altLang="en-US" sz="2000" b="0" i="0">
                <a:solidFill>
                  <a:srgbClr val="404040"/>
                </a:solidFill>
                <a:latin typeface="Times New Roman" panose="02020503050405090304" pitchFamily="18" charset="0"/>
                <a:ea typeface="微软雅黑"/>
              </a:rPr>
              <a:t>，计算对应的明文。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Times New Roman" panose="02020503050405090304" pitchFamily="18" charset="0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Times New Roman" panose="02020503050405090304" pitchFamily="18" charset="0"/>
                <a:ea typeface="微软雅黑"/>
                <a:sym typeface="+mn-ea"/>
              </a:rPr>
              <a:t>现代密码学与安全性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3832225"/>
            <a:ext cx="85725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101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微软雅黑"/>
                <a:ea typeface="微软雅黑"/>
              </a:rPr>
              <a:t>谢谢！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一切安全诉求，最终落到密钥。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5cdf94d-2bb2-4b04-838a-86a44d3bd643"/>
  <p:tag name="COMMONDATA" val="eyJoZGlkIjoiN2NjMGRiN2MwMWUxOGQyNjI2NjFhOWNlNjA1ZDYy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7*70"/>
  <p:tag name="TABLE_ENDDRAG_RECT" val="39*432*867*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53"/>
  <p:tag name="TABLE_ENDDRAG_RECT" val="57*264*849*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53"/>
  <p:tag name="TABLE_ENDDRAG_RECT" val="57*323*849*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3*198"/>
  <p:tag name="TABLE_ENDDRAG_RECT" val="393*77*513*19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89"/>
  <p:tag name="TABLE_ENDDRAG_RECT" val="57*159*849*8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89"/>
  <p:tag name="TABLE_ENDDRAG_RECT" val="57*159*849*8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207"/>
  <p:tag name="TABLE_ENDDRAG_RECT" val="56*112*849*20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1*184"/>
  <p:tag name="TABLE_ENDDRAG_RECT" val="72*225*821*18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1*184"/>
  <p:tag name="TABLE_ENDDRAG_RECT" val="72*225*821*184"/>
</p:tagLst>
</file>

<file path=ppt/theme/theme1.xml><?xml version="1.0" encoding="utf-8"?>
<a:theme xmlns:a="http://schemas.openxmlformats.org/drawingml/2006/main" name="主题1">
  <a:themeElements>
    <a:clrScheme name="Calligraphy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40</TotalTime>
  <Words>4774</Words>
  <Application>Microsoft Office PowerPoint</Application>
  <PresentationFormat>宽屏</PresentationFormat>
  <Paragraphs>1070</Paragraphs>
  <Slides>51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DejaVu Math TeX Gyre</vt:lpstr>
      <vt:lpstr>PingFang SC</vt:lpstr>
      <vt:lpstr>Times New Roman Regular</vt:lpstr>
      <vt:lpstr>等线</vt:lpstr>
      <vt:lpstr>宋体</vt:lpstr>
      <vt:lpstr>微软雅黑</vt:lpstr>
      <vt:lpstr>Arial</vt:lpstr>
      <vt:lpstr>Arial Black</vt:lpstr>
      <vt:lpstr>Arial Italic</vt:lpstr>
      <vt:lpstr>Calibri</vt:lpstr>
      <vt:lpstr>Cambria Math</vt:lpstr>
      <vt:lpstr>Times New Roman</vt:lpstr>
      <vt:lpstr>Times New Roman Bold Italic</vt:lpstr>
      <vt:lpstr>Times New Roman Italic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吴鸿轩</dc:creator>
  <cp:lastModifiedBy>Windows 用户</cp:lastModifiedBy>
  <cp:revision>938</cp:revision>
  <dcterms:created xsi:type="dcterms:W3CDTF">2026-09-24T14:24:34Z</dcterms:created>
  <dcterms:modified xsi:type="dcterms:W3CDTF">2026-09-25T02:08:52Z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97FDD4BDAAAEC699DD2AB56AA0BEA440_43</vt:lpwstr>
  </property>
  <property fmtid="{D5CDD505-2E9C-101B-9397-08002B2CF9AE}" pid="3" name="KSOProductBuildVer">
    <vt:lpwstr>2052-7.3.1.8967</vt:lpwstr>
  </property>
</Properties>
</file>