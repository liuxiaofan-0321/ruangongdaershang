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0"/>
  </p:notesMasterIdLst>
  <p:handoutMasterIdLst>
    <p:handoutMasterId r:id="rId51"/>
  </p:handoutMasterIdLst>
  <p:sldIdLst>
    <p:sldId id="1001" r:id="rId2"/>
    <p:sldId id="1002" r:id="rId3"/>
    <p:sldId id="1003" r:id="rId4"/>
    <p:sldId id="1004" r:id="rId5"/>
    <p:sldId id="1005" r:id="rId6"/>
    <p:sldId id="1006" r:id="rId7"/>
    <p:sldId id="1007" r:id="rId8"/>
    <p:sldId id="1008" r:id="rId9"/>
    <p:sldId id="1009" r:id="rId10"/>
    <p:sldId id="1010" r:id="rId11"/>
    <p:sldId id="1011" r:id="rId12"/>
    <p:sldId id="1012" r:id="rId13"/>
    <p:sldId id="1053" r:id="rId14"/>
    <p:sldId id="1054" r:id="rId15"/>
    <p:sldId id="1015" r:id="rId16"/>
    <p:sldId id="1016" r:id="rId17"/>
    <p:sldId id="1017" r:id="rId18"/>
    <p:sldId id="1018" r:id="rId19"/>
    <p:sldId id="1019" r:id="rId20"/>
    <p:sldId id="1020" r:id="rId21"/>
    <p:sldId id="1050" r:id="rId22"/>
    <p:sldId id="1022" r:id="rId23"/>
    <p:sldId id="1023" r:id="rId24"/>
    <p:sldId id="1051" r:id="rId25"/>
    <p:sldId id="1052" r:id="rId26"/>
    <p:sldId id="1026" r:id="rId27"/>
    <p:sldId id="1027" r:id="rId28"/>
    <p:sldId id="1028" r:id="rId29"/>
    <p:sldId id="1055" r:id="rId30"/>
    <p:sldId id="1030" r:id="rId31"/>
    <p:sldId id="1031" r:id="rId32"/>
    <p:sldId id="1056" r:id="rId33"/>
    <p:sldId id="1033" r:id="rId34"/>
    <p:sldId id="1034" r:id="rId35"/>
    <p:sldId id="1035" r:id="rId36"/>
    <p:sldId id="1036" r:id="rId37"/>
    <p:sldId id="1037" r:id="rId38"/>
    <p:sldId id="1038" r:id="rId39"/>
    <p:sldId id="1039" r:id="rId40"/>
    <p:sldId id="1040" r:id="rId41"/>
    <p:sldId id="1057" r:id="rId42"/>
    <p:sldId id="1042" r:id="rId43"/>
    <p:sldId id="1043" r:id="rId44"/>
    <p:sldId id="1044" r:id="rId45"/>
    <p:sldId id="1045" r:id="rId46"/>
    <p:sldId id="1046" r:id="rId47"/>
    <p:sldId id="1047" r:id="rId48"/>
    <p:sldId id="1048" r:id="rId49"/>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5F5F5"/>
    <a:srgbClr val="FBF1F1"/>
    <a:srgbClr val="7F7B7B"/>
    <a:srgbClr val="C41F1F"/>
    <a:srgbClr val="C52727"/>
    <a:srgbClr val="CE6B6A"/>
    <a:srgbClr val="D8A8A6"/>
    <a:srgbClr val="B80102"/>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72" autoAdjust="0"/>
    <p:restoredTop sz="83294" autoAdjust="0"/>
  </p:normalViewPr>
  <p:slideViewPr>
    <p:cSldViewPr snapToGrid="0">
      <p:cViewPr varScale="1">
        <p:scale>
          <a:sx n="93" d="100"/>
          <a:sy n="93" d="100"/>
        </p:scale>
        <p:origin x="210" y="22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2026/10/11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D9B1AB-4C61-4EAA-B981-DC4B0504F26F}"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1"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6D625-A1DC-4EBB-A646-079D2450DB9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smtClean="0"/>
              <a:t>本</a:t>
            </a:r>
            <a:r>
              <a:rPr lang="zh-CN" altLang="en-US" dirty="0"/>
              <a:t>讲依次讨论三个问题：长消息如何使用分组密码加密（工作模式）；如何按比特连续加密（流密码）；如何发现消息被篡改（消息认证码）。</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三部分的逻辑：CFB、OFB、CTR 已经用分组密码产生密钥流，由此过渡到专门设计的流密码 ZUC；加密只保证机密性，由此引出消息认证码。</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本节对应教材 2.4.5 节，介绍 ECB、CBC、CFB、OFB、CTR 五种模式。</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 2.4.5 节只给出五种模式的文字概述，后面各页的示意图和公式是对教材文字的展开。强调工作模式不是新的分组密码算法，而是使用分组密码的方法。</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左侧两种模式每个分组都要经过 E_K；右侧三种模式中 E_K 只负责产生密钥流。这一分类为后面引出流密码做铺垫。</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教材：ECB 将每个明文块独立地加密为对应的密文块，相同的明文块始终加密为相同的密文块。三个分支互不依赖，因此可并行。</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用位图示意：同色区域在 ECB 下得到同样的密文，轮廓得以保留；CBC 等模式引入链接或计数器后，密文呈现随机外观。</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教材：CBC 对前一个密文块与当前明文块进行异或运算，然后进行加密；需要使用 IV 作为第一个明文块对应的“密文块”输入。图中折线表示 C_{i−1} 进入下一组的异或，而不是直接进入 E_K。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教材：CFB 是一种将分组密码转换为流密码的操作模式。本页为整块反馈（反馈长度等于分组长度）的形式；按 s 位反馈的一般形式不展开。注意反馈取自异或之后的密文。</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教材：OFB 中第 i 个密文块为第 i 个明文块与对 IV 进行连续 i 次加密后的输出的异或。与 CFB 的区别在于反馈取自加密输出 O_i，而不是密文。</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教材：CTR 模式首先使用计数器和密钥作为加密算法的输入，然后将输出的结果与明文块进行异或运算；计数器通常是递增的。三列之间没有连线，直观说明可并行。</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五种基本模式都只提供机密性，不提供消息认证；认证问题在第三部分讨论。</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课堂练习约 </a:t>
            </a:r>
            <a:r>
              <a:rPr lang="zh-CN" altLang="en-US" dirty="0" smtClean="0"/>
              <a:t>3</a:t>
            </a:r>
            <a:r>
              <a:rPr lang="en-US" altLang="zh-CN" smtClean="0"/>
              <a:t>-5</a:t>
            </a:r>
            <a:r>
              <a:rPr lang="zh-CN" altLang="en-US" smtClean="0"/>
              <a:t> </a:t>
            </a:r>
            <a:r>
              <a:rPr lang="zh-CN" altLang="en-US" dirty="0"/>
              <a:t>分钟：先算 ECB 一列，再算 CBC。</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答案：ECB 为 0110、0110、1111；CBC 依次为 M⊕C 1111、0011、0110，密文 1010、0011、1001。</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过渡：CFB、OFB、CTR 已经把分组密码变成“密钥流生成器”。本节先从一次性密码本讲起，说明流密码的思想与安全要求，再详细介绍我国的 ZUC 流密码算法和基于 ZUC 的机密性算法。</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回扣第 1 章“无条件安全与计算安全”。一次性密码本需要同时满足真随机、等长、一次一密；流密码放宽前两项，用伪随机数生成器换取实用性，安全性转而依赖密钥流的不可预测性。</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对照教材图 2.9。强调两点：一是加密和解密是同一个异或运算；二是两端各自运行一个密钥流生成器，依靠伪随机数生成器的确定性（同一种子产生同一序列）保持同步。</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教材在 2.4.6.1 中给出周期要求（如 2^128 或 2^256），并指出设计关键在于生成安全的密钥流；“难以预测”“接近随机”对应 2.2 节伪随机数的安全性要求。密钥流重复使用的推导是教学补充，ZUC 中由 IV 保证每条消息的密钥流不同。</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流密码特别适合移动通信这类对时延和硬件资源敏感、且误码率较高的场景——1 比特错误不扩散。这也是 ZUC 被选为 LTE 标准算法的背景。</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时间线与教材一致：2011 年 LTE 国际标准、2012 年行业标准、2016 年国家标准、2020 年 ISO/IEC 国际标准。可补充：128-EEA3/128-EIA3 是 3GPP 的命名，E 表示加密，I 表示完整性。</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符号较多，建议本页快速浏览，后面每页用到时再强调。重点是区分两种加法：LFSR 中是模 2^31−1 加法，F 中的 ⊞ 是模 2^32 加法。</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对照教材图 2.10。逻辑上分上、中、下三层：上层 LFSR 负责“长周期、好统计特性”，中层 BR 负责“把 31 比特单元转换为 32 比特字”，下层 F 负责“非线性”。后面六页按这一顺序展开（LFSR 层 3 页，BR 层、非线性函数 F、运行流程各 1 页），页面上方的导航条标示当前位置。</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密钥装入是 LFSR 赋值的第一步：每个 31 比特单元由 8 比特密钥字节、15 比特常量 d_i 和 8 比特 IV 字节拼接而成。三段长度不在 4 比特边界上，所以先写成二进制再拼接，结果按 32 比特字存放（最高位为 0），再写成十六进制。这与标准参考实现一致：s_i = key_i·2^23 + d_i·2^8 + iv_i，其中 d_0 的十六进制为 0x44D7。第二步“最终赋值”（初始化模式与工作模式）见下一页。</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对应教材第 33—34 页：LFSR 的赋值分两步，第一步为密钥装入，第二步为最终赋值，后者分为初始化模式和工作模式。两种模式只差是否加入 u。“若为 0 则置 2^31−1”使单元取值始终落在 1～2^31−1 中（模 2^31−1 下 0 与 2^31−1 同余）。反馈系数都是 2 的幂次或 1+2^8，乘法可用循环移位实现，见下一页。</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对应教材第 34 页“提示”框：初始化模式和工作模式的计算过程均涉及模 2^31−1 乘法和模 2^31−1 加法，教材给出了二者的快速实现。乘法：因为 2^31 ≡ 1，左移溢出的高位等价于回到低位，所以乘 2^k 就是 31 比特循环左移 k 位；汉明重量低的乘数只需少量移位和加法。加法例子验算：0x7FFFFFF0 = 2^31−16，加 32 得 2^31+16，模 2^31−1 等于 17 = 0x11。</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X0 按 GB/T 33133.1—2016 标准写作 s15H ‖ s14L；教材第 34 页印作 s15L ‖ s14H，以标准为准。H 取第 30～15 位，L 取第 15～0 位，两者在第 15 位重叠，这是标准中的规定。</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W2 = R2 ⊕ X2 按标准为异或（与教材图 2.10 一致；教材第 35 页正文印作 ⊞，以标准为准）。L1、L2 的结构与 SM4 中的线性变换 L 类似，可以回扣上一讲。</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左侧是流程，右侧是每一步调用的三个子过程。强调：初始化 32 轮的目的是让 KEY 和 IV 的每一比特都充分影响 LFSR 状态和 R1、R2，然后才开始输出密钥流。</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这就是“流密码中 IV 不可重复”在工程中的落实：COUNT 随数据包递增，BEARER 区分不同承载，DIRECTION 区分上行和下行。教材写“ck_i、key_i 长度都为 8 字节”，应为 8 比特（16 段共 128 比特）。</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LENGTH 不必是 32 的整数倍，最后一个密钥字只用到前若干比特。把四个阶段映射回上一讲的 SE = (Gen, Enc, Dec)，帮助学生把具体算法与形式化定义联系起来。</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课堂</a:t>
            </a:r>
            <a:r>
              <a:rPr lang="zh-CN" altLang="en-US" dirty="0" smtClean="0"/>
              <a:t>练习3</a:t>
            </a:r>
            <a:r>
              <a:rPr lang="en-US" altLang="zh-CN" dirty="0" smtClean="0"/>
              <a:t>-5</a:t>
            </a:r>
            <a:r>
              <a:rPr lang="zh-CN" altLang="en-US" dirty="0" smtClean="0"/>
              <a:t> </a:t>
            </a:r>
            <a:r>
              <a:rPr lang="zh-CN" altLang="en-US" dirty="0"/>
              <a:t>分钟。</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答案：iv0~iv15 = 66 03 54 92 78 00 00 00 66 03 54 92 78 00 00 00；L = 32，最后一个字用 8 比特。</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作为第三部分的引入：攻击者不需要破解密钥，只要知道明文格式（如金额字段的位置），就能定向修改。</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本节对应教材 2.5 节：消息认证码的概述与定义、HMAC 与 CBC-MAC 两种构造，以及密钥派生函数。</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教材 2.5.1：消息认证码可以防止消息被篡改、插入、删除等。强调加密与认证是两个不同的安全目标，实际系统往往同时需要。</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对照教材图 2.11。要点：MAC 算法是确定性的，所以同一 (K, M) 两端算出的标签一致；攻击者没有 K，改了 M 之后算不出与之匹配的新标签。</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与上一讲对称加密方案 SE = (Gen, Enc, Dec) 的定义对照阅读：MAC 同样有密钥空间、消息空间，但输出是“标签”而不是“密文”，验证算法只输出 1 比特。密钥生成算法此处省略，通常为随机选取。</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对照教材图 2.12。ipad = 0x36（二进制 00110110），opad = 0x5C（01011100），两者相差多个比特，使内外两层使用的“密钥”明显不同。HMAC 的安全性可以归约到所用哈希函数压缩函数的伪随机性。</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密钥过长时先哈希压缩，因此 HMAC 接受任意长度的密钥；但密钥短于哈希输出长度会降低安全性，一般建议密钥长度不少于哈希输出长度（SM3 为 32 字节）。</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lang="zh-CN"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答案：20 字节 K‖44 个 0x00；64 字节 K′ = K；100 字节 H(K)‖32 个 0x00；0x7D、0x17。</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要点：基本 CBC-MAC 的标签 T 就是最后一个链接值，攻击者可以利用它把已知消息“接长”并得到有效标签，因此只适用于定长消息。具体构造留作课后习题 3(2)，课堂上只点出原因即可。CMAC 对最后一块额外异或一个由密钥派生的子密钥来解决这一问题。</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典型场景：从用户口令派生加密密钥（如 PBKDF2，含盐和大量迭代）；从密钥协商得到的共享秘密派生多把会话密钥（如 HKDF）。盐值防止彩虹表等预计算攻击。</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info 独立于密钥派生材料，可以为空，也可以写入应用或协议信息（如“client key”“server key”），这样同一个 prk 可以为不同用途派生出互不相关的密钥。教材中将 prk 记作 pkr，含义相同（pseudorandom key）。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lang="zh-CN"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lang="zh-CN"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endParaRPr lang="zh-CN" altLang="en-US"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p:spPr>
      </p:sp>
      <p:sp>
        <p:nvSpPr>
          <p:cNvPr id="3" name="Notes Placeholder 2"/>
          <p:cNvSpPr>
            <a:spLocks noGrp="1"/>
          </p:cNvSpPr>
          <p:nvPr>
            <p:ph type="body" sz="quarter" idx="3"/>
          </p:nvPr>
        </p:nvSpPr>
        <p:spPr/>
        <p:txBody>
          <a:bodyPr/>
          <a:lstStyle/>
          <a:p>
            <a:r>
              <a:rPr lang="zh-CN" altLang="en-US" dirty="0"/>
              <a:t>结束。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8" y="1122388"/>
            <a:ext cx="9144470" cy="2387653"/>
          </a:xfrm>
          <a:prstGeom prst="rect">
            <a:avLst/>
          </a:prstGeo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78" y="3602118"/>
            <a:ext cx="9144470" cy="1655798"/>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935" indent="0" algn="ctr">
              <a:buNone/>
              <a:defRPr sz="1200"/>
            </a:lvl8pPr>
            <a:lvl9pPr marL="2743200" indent="0" algn="ctr">
              <a:buNone/>
              <a:defRPr sz="1200"/>
            </a:lvl9pPr>
          </a:lstStyle>
          <a:p>
            <a:r>
              <a:rPr lang="zh-CN" altLang="en-US"/>
              <a:t>单击此处编辑母版副标题样式</a:t>
            </a: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a:xfrm>
            <a:off x="3124200" y="6356350"/>
            <a:ext cx="2895600" cy="365125"/>
          </a:xfrm>
        </p:spPr>
        <p:txBody>
          <a:bodyPr/>
          <a:lstStyle/>
          <a:p>
            <a:endParaRPr lang="en-US"/>
          </a:p>
        </p:txBody>
      </p:sp>
      <p:sp>
        <p:nvSpPr>
          <p:cNvPr id="4" name="Slide Number Placeholder 3"/>
          <p:cNvSpPr>
            <a:spLocks noGrp="1"/>
          </p:cNvSpPr>
          <p:nvPr>
            <p:ph type="sldNum" sz="quarter" idx="12"/>
          </p:nvPr>
        </p:nvSpPr>
        <p:spPr>
          <a:xfrm>
            <a:off x="6553200" y="6356350"/>
            <a:ext cx="2133600" cy="365125"/>
          </a:xfrm>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 name="矩形 7"/>
          <p:cNvSpPr/>
          <p:nvPr userDrawn="1">
            <p:custDataLst>
              <p:tags r:id="rId4"/>
            </p:custDataLst>
          </p:nvPr>
        </p:nvSpPr>
        <p:spPr>
          <a:xfrm>
            <a:off x="-25401304" y="-25400558"/>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custDataLst>
              <p:tags r:id="rId5"/>
            </p:custDataLst>
          </p:nvPr>
        </p:nvSpPr>
        <p:spPr>
          <a:xfrm>
            <a:off x="37593930" y="32258709"/>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组合 86"/>
          <p:cNvGrpSpPr/>
          <p:nvPr userDrawn="1"/>
        </p:nvGrpSpPr>
        <p:grpSpPr>
          <a:xfrm>
            <a:off x="0" y="6385712"/>
            <a:ext cx="12192000" cy="508075"/>
            <a:chOff x="0" y="12669"/>
            <a:chExt cx="17007" cy="1008"/>
          </a:xfrm>
        </p:grpSpPr>
        <p:grpSp>
          <p:nvGrpSpPr>
            <p:cNvPr id="85" name="组合 84"/>
            <p:cNvGrpSpPr/>
            <p:nvPr userDrawn="1"/>
          </p:nvGrpSpPr>
          <p:grpSpPr>
            <a:xfrm>
              <a:off x="0" y="13021"/>
              <a:ext cx="15152" cy="585"/>
              <a:chOff x="0" y="13021"/>
              <a:chExt cx="15152" cy="585"/>
            </a:xfrm>
          </p:grpSpPr>
          <p:sp>
            <p:nvSpPr>
              <p:cNvPr id="45" name="矩形 44"/>
              <p:cNvSpPr/>
              <p:nvPr userDrawn="1"/>
            </p:nvSpPr>
            <p:spPr>
              <a:xfrm>
                <a:off x="0" y="13426"/>
                <a:ext cx="3726" cy="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1" name="矩形 50"/>
              <p:cNvSpPr/>
              <p:nvPr userDrawn="1"/>
            </p:nvSpPr>
            <p:spPr>
              <a:xfrm>
                <a:off x="0" y="13201"/>
                <a:ext cx="3767" cy="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7" name="矩形 56"/>
              <p:cNvSpPr/>
              <p:nvPr userDrawn="1"/>
            </p:nvSpPr>
            <p:spPr>
              <a:xfrm>
                <a:off x="0" y="13021"/>
                <a:ext cx="3788" cy="11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2" name="矩形 61"/>
              <p:cNvSpPr/>
              <p:nvPr userDrawn="1"/>
            </p:nvSpPr>
            <p:spPr>
              <a:xfrm>
                <a:off x="0" y="13313"/>
                <a:ext cx="3747" cy="4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7" name="矩形 66"/>
              <p:cNvSpPr/>
              <p:nvPr userDrawn="1"/>
            </p:nvSpPr>
            <p:spPr>
              <a:xfrm>
                <a:off x="0" y="13538"/>
                <a:ext cx="3704" cy="6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grpSp>
            <p:nvGrpSpPr>
              <p:cNvPr id="81" name="组合 80"/>
              <p:cNvGrpSpPr/>
              <p:nvPr userDrawn="1"/>
            </p:nvGrpSpPr>
            <p:grpSpPr>
              <a:xfrm>
                <a:off x="3704" y="13021"/>
                <a:ext cx="3872" cy="585"/>
                <a:chOff x="3704" y="13021"/>
                <a:chExt cx="3872" cy="585"/>
              </a:xfrm>
            </p:grpSpPr>
            <p:sp>
              <p:nvSpPr>
                <p:cNvPr id="46" name="矩形 45"/>
                <p:cNvSpPr/>
                <p:nvPr userDrawn="1"/>
              </p:nvSpPr>
              <p:spPr>
                <a:xfrm>
                  <a:off x="3726" y="13426"/>
                  <a:ext cx="3726" cy="4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2" name="矩形 51"/>
                <p:cNvSpPr/>
                <p:nvPr userDrawn="1"/>
              </p:nvSpPr>
              <p:spPr>
                <a:xfrm>
                  <a:off x="3768" y="13201"/>
                  <a:ext cx="3767" cy="43"/>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8" name="矩形 57"/>
                <p:cNvSpPr/>
                <p:nvPr userDrawn="1"/>
              </p:nvSpPr>
              <p:spPr>
                <a:xfrm>
                  <a:off x="3788" y="13021"/>
                  <a:ext cx="3788" cy="110"/>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3" name="矩形 62"/>
                <p:cNvSpPr/>
                <p:nvPr userDrawn="1"/>
              </p:nvSpPr>
              <p:spPr>
                <a:xfrm>
                  <a:off x="3747" y="13313"/>
                  <a:ext cx="3747" cy="43"/>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8" name="矩形 67"/>
                <p:cNvSpPr/>
                <p:nvPr userDrawn="1"/>
              </p:nvSpPr>
              <p:spPr>
                <a:xfrm>
                  <a:off x="3704" y="13538"/>
                  <a:ext cx="3704" cy="68"/>
                </a:xfrm>
                <a:prstGeom prst="rect">
                  <a:avLst/>
                </a:prstGeom>
                <a:solidFill>
                  <a:srgbClr val="D8A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grpSp>
          <p:grpSp>
            <p:nvGrpSpPr>
              <p:cNvPr id="82" name="组合 81"/>
              <p:cNvGrpSpPr/>
              <p:nvPr userDrawn="1"/>
            </p:nvGrpSpPr>
            <p:grpSpPr>
              <a:xfrm>
                <a:off x="7408" y="13021"/>
                <a:ext cx="3956" cy="585"/>
                <a:chOff x="7408" y="13021"/>
                <a:chExt cx="3956" cy="585"/>
              </a:xfrm>
            </p:grpSpPr>
            <p:sp>
              <p:nvSpPr>
                <p:cNvPr id="47" name="矩形 46"/>
                <p:cNvSpPr/>
                <p:nvPr userDrawn="1"/>
              </p:nvSpPr>
              <p:spPr>
                <a:xfrm>
                  <a:off x="7452" y="13426"/>
                  <a:ext cx="3726" cy="4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3" name="矩形 52"/>
                <p:cNvSpPr/>
                <p:nvPr userDrawn="1"/>
              </p:nvSpPr>
              <p:spPr>
                <a:xfrm>
                  <a:off x="7535" y="13201"/>
                  <a:ext cx="3767" cy="4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9" name="矩形 58"/>
                <p:cNvSpPr/>
                <p:nvPr userDrawn="1"/>
              </p:nvSpPr>
              <p:spPr>
                <a:xfrm>
                  <a:off x="7576" y="13021"/>
                  <a:ext cx="3788" cy="110"/>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4" name="矩形 63"/>
                <p:cNvSpPr/>
                <p:nvPr userDrawn="1"/>
              </p:nvSpPr>
              <p:spPr>
                <a:xfrm>
                  <a:off x="7493" y="13313"/>
                  <a:ext cx="3747" cy="43"/>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9" name="矩形 68"/>
                <p:cNvSpPr/>
                <p:nvPr userDrawn="1"/>
              </p:nvSpPr>
              <p:spPr>
                <a:xfrm>
                  <a:off x="7408" y="13538"/>
                  <a:ext cx="3704" cy="68"/>
                </a:xfrm>
                <a:prstGeom prst="rect">
                  <a:avLst/>
                </a:prstGeom>
                <a:solidFill>
                  <a:srgbClr val="CE6B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grpSp>
          <p:grpSp>
            <p:nvGrpSpPr>
              <p:cNvPr id="83" name="组合 82"/>
              <p:cNvGrpSpPr/>
              <p:nvPr userDrawn="1"/>
            </p:nvGrpSpPr>
            <p:grpSpPr>
              <a:xfrm>
                <a:off x="11112" y="13021"/>
                <a:ext cx="4040" cy="585"/>
                <a:chOff x="11112" y="13021"/>
                <a:chExt cx="4040" cy="585"/>
              </a:xfrm>
            </p:grpSpPr>
            <p:sp>
              <p:nvSpPr>
                <p:cNvPr id="48" name="矩形 47"/>
                <p:cNvSpPr/>
                <p:nvPr userDrawn="1"/>
              </p:nvSpPr>
              <p:spPr>
                <a:xfrm>
                  <a:off x="11178" y="13426"/>
                  <a:ext cx="3726" cy="4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54" name="矩形 53"/>
                <p:cNvSpPr/>
                <p:nvPr userDrawn="1"/>
              </p:nvSpPr>
              <p:spPr>
                <a:xfrm>
                  <a:off x="11303" y="13201"/>
                  <a:ext cx="3767" cy="4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0" name="矩形 59"/>
                <p:cNvSpPr/>
                <p:nvPr userDrawn="1"/>
              </p:nvSpPr>
              <p:spPr>
                <a:xfrm>
                  <a:off x="11364" y="13021"/>
                  <a:ext cx="3788" cy="110"/>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65" name="矩形 64"/>
                <p:cNvSpPr/>
                <p:nvPr userDrawn="1"/>
              </p:nvSpPr>
              <p:spPr>
                <a:xfrm>
                  <a:off x="11240" y="13313"/>
                  <a:ext cx="3747" cy="43"/>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70" name="矩形 69"/>
                <p:cNvSpPr/>
                <p:nvPr userDrawn="1"/>
              </p:nvSpPr>
              <p:spPr>
                <a:xfrm>
                  <a:off x="11112" y="13538"/>
                  <a:ext cx="3704" cy="68"/>
                </a:xfrm>
                <a:prstGeom prst="rect">
                  <a:avLst/>
                </a:prstGeom>
                <a:solidFill>
                  <a:srgbClr val="C52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grpSp>
        </p:grpSp>
        <p:grpSp>
          <p:nvGrpSpPr>
            <p:cNvPr id="84" name="组合 83"/>
            <p:cNvGrpSpPr/>
            <p:nvPr userDrawn="1"/>
          </p:nvGrpSpPr>
          <p:grpSpPr>
            <a:xfrm>
              <a:off x="16123" y="13081"/>
              <a:ext cx="884" cy="518"/>
              <a:chOff x="16123" y="13021"/>
              <a:chExt cx="884" cy="518"/>
            </a:xfrm>
          </p:grpSpPr>
          <p:sp>
            <p:nvSpPr>
              <p:cNvPr id="72" name="矩形 71"/>
              <p:cNvSpPr/>
              <p:nvPr userDrawn="1"/>
            </p:nvSpPr>
            <p:spPr>
              <a:xfrm>
                <a:off x="16123" y="13379"/>
                <a:ext cx="884" cy="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73" name="矩形 72"/>
              <p:cNvSpPr/>
              <p:nvPr userDrawn="1"/>
            </p:nvSpPr>
            <p:spPr>
              <a:xfrm>
                <a:off x="16123" y="13021"/>
                <a:ext cx="884" cy="9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74" name="矩形 73"/>
              <p:cNvSpPr/>
              <p:nvPr userDrawn="1"/>
            </p:nvSpPr>
            <p:spPr>
              <a:xfrm>
                <a:off x="16123" y="13180"/>
                <a:ext cx="884" cy="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75" name="矩形 74"/>
              <p:cNvSpPr/>
              <p:nvPr userDrawn="1"/>
            </p:nvSpPr>
            <p:spPr>
              <a:xfrm>
                <a:off x="16123" y="13280"/>
                <a:ext cx="884" cy="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sp>
            <p:nvSpPr>
              <p:cNvPr id="76" name="矩形 75"/>
              <p:cNvSpPr/>
              <p:nvPr userDrawn="1"/>
            </p:nvSpPr>
            <p:spPr>
              <a:xfrm>
                <a:off x="16123" y="13479"/>
                <a:ext cx="884" cy="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25"/>
              </a:p>
            </p:txBody>
          </p:sp>
        </p:grpSp>
        <p:pic>
          <p:nvPicPr>
            <p:cNvPr id="86" name="图片 85" descr="ChatGPT Image 2026年9月7日 11_42_32"/>
            <p:cNvPicPr>
              <a:picLocks noChangeAspect="1"/>
            </p:cNvPicPr>
            <p:nvPr userDrawn="1"/>
          </p:nvPicPr>
          <p:blipFill>
            <a:blip r:embed="rId6"/>
            <a:stretch>
              <a:fillRect/>
            </a:stretch>
          </p:blipFill>
          <p:spPr>
            <a:xfrm>
              <a:off x="14612" y="12669"/>
              <a:ext cx="1682" cy="1009"/>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ct val="15000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ct val="75000"/>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ct val="75000"/>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ct val="75000"/>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notesSlide" Target="../notesSlides/notesSlide5.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slideLayout" Target="../slideLayouts/slideLayout1.xml"/><Relationship Id="rId10" Type="http://schemas.openxmlformats.org/officeDocument/2006/relationships/tags" Target="../tags/tag13.xml"/><Relationship Id="rId19" Type="http://schemas.openxmlformats.org/officeDocument/2006/relationships/tags" Target="../tags/tag2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28.xml"/><Relationship Id="rId7"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notesSlide" Target="../notesSlides/notesSlide18.xml"/><Relationship Id="rId5" Type="http://schemas.openxmlformats.org/officeDocument/2006/relationships/tags" Target="../tags/tag36.xml"/><Relationship Id="rId10" Type="http://schemas.openxmlformats.org/officeDocument/2006/relationships/slideLayout" Target="../slideLayouts/slideLayout1.xml"/><Relationship Id="rId4" Type="http://schemas.openxmlformats.org/officeDocument/2006/relationships/tags" Target="../tags/tag35.xml"/><Relationship Id="rId9" Type="http://schemas.openxmlformats.org/officeDocument/2006/relationships/tags" Target="../tags/tag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tags" Target="../tags/tag58.xml"/><Relationship Id="rId3" Type="http://schemas.openxmlformats.org/officeDocument/2006/relationships/tags" Target="../tags/tag43.xml"/><Relationship Id="rId21" Type="http://schemas.openxmlformats.org/officeDocument/2006/relationships/tags" Target="../tags/tag61.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notesSlide" Target="../notesSlides/notesSlide20.xml"/><Relationship Id="rId10" Type="http://schemas.openxmlformats.org/officeDocument/2006/relationships/tags" Target="../tags/tag50.xml"/><Relationship Id="rId19" Type="http://schemas.openxmlformats.org/officeDocument/2006/relationships/tags" Target="../tags/tag59.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slideLayout" Target="../slideLayouts/slideLayout1.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tags" Target="../tags/tag73.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1371600" y="2103120"/>
            <a:ext cx="9445752" cy="615315"/>
          </a:xfrm>
          <a:prstGeom prst="rect">
            <a:avLst/>
          </a:prstGeom>
          <a:noFill/>
        </p:spPr>
        <p:txBody>
          <a:bodyPr wrap="square" lIns="0" tIns="0" rIns="0" bIns="0" anchor="t">
            <a:spAutoFit/>
          </a:bodyPr>
          <a:lstStyle/>
          <a:p>
            <a:pPr algn="ctr">
              <a:spcBef>
                <a:spcPts val="0"/>
              </a:spcBef>
              <a:spcAft>
                <a:spcPts val="0"/>
              </a:spcAft>
            </a:pPr>
            <a:r>
              <a:rPr lang="zh-CN" altLang="en-US" sz="4000" b="1" i="0">
                <a:solidFill>
                  <a:srgbClr val="333333"/>
                </a:solidFill>
                <a:latin typeface="微软雅黑" panose="020B0503020204020204" charset="-122"/>
                <a:ea typeface="微软雅黑" panose="020B0503020204020204" charset="-122"/>
                <a:cs typeface="微软雅黑" panose="020B0503020204020204" charset="-122"/>
              </a:rPr>
              <a:t>密码与网络安全引论</a:t>
            </a:r>
            <a:endParaRPr sz="4000" b="1" i="0">
              <a:solidFill>
                <a:srgbClr val="333333"/>
              </a:solidFill>
              <a:latin typeface="微软雅黑" panose="020B0503020204020204" charset="-122"/>
              <a:ea typeface="微软雅黑" panose="020B0503020204020204" charset="-122"/>
            </a:endParaRPr>
          </a:p>
        </p:txBody>
      </p:sp>
      <p:cxnSp>
        <p:nvCxnSpPr>
          <p:cNvPr id="4" name="Connector 2"/>
          <p:cNvCxnSpPr/>
          <p:nvPr/>
        </p:nvCxnSpPr>
        <p:spPr>
          <a:xfrm>
            <a:off x="4023360" y="3291840"/>
            <a:ext cx="4142232" cy="0"/>
          </a:xfrm>
          <a:prstGeom prst="line">
            <a:avLst/>
          </a:prstGeom>
          <a:ln w="19050">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Rectangle 5"/>
          <p:cNvSpPr/>
          <p:nvPr/>
        </p:nvSpPr>
        <p:spPr>
          <a:xfrm>
            <a:off x="3454146" y="5067935"/>
            <a:ext cx="5280659" cy="457200"/>
          </a:xfrm>
          <a:prstGeom prst="rect">
            <a:avLst/>
          </a:prstGeom>
          <a:solidFill>
            <a:srgbClr val="FBF1F1"/>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Bef>
                <a:spcPts val="0"/>
              </a:spcBef>
              <a:spcAft>
                <a:spcPts val="0"/>
              </a:spcAft>
            </a:pPr>
            <a:r>
              <a:rPr lang="zh-CN" altLang="en-US" sz="1400" b="1" i="0" dirty="0">
                <a:solidFill>
                  <a:srgbClr val="333333"/>
                </a:solidFill>
                <a:latin typeface="Times New Roman" panose="02020603050405020304" charset="0"/>
                <a:ea typeface="微软雅黑" panose="020B0503020204020204" charset="-122"/>
                <a:cs typeface="Times New Roman" panose="02020603050405020304" charset="0"/>
              </a:rPr>
              <a:t>第五讲 · </a:t>
            </a:r>
            <a:r>
              <a:rPr lang="zh-CN" altLang="en-US" sz="1400" b="1" dirty="0" smtClean="0">
                <a:solidFill>
                  <a:srgbClr val="333333"/>
                </a:solidFill>
                <a:latin typeface="Times New Roman" panose="02020603050405020304" charset="0"/>
                <a:ea typeface="微软雅黑" panose="020B0503020204020204" charset="-122"/>
                <a:cs typeface="Times New Roman" panose="02020603050405020304" charset="0"/>
              </a:rPr>
              <a:t>工作模式、流密码与消息认证码</a:t>
            </a:r>
            <a:endParaRPr lang="zh-CN" altLang="en-US" sz="1400" b="1" i="0" dirty="0">
              <a:solidFill>
                <a:srgbClr val="333333"/>
              </a:solidFill>
              <a:latin typeface="Times New Roman" panose="02020603050405020304" charset="0"/>
              <a:ea typeface="微软雅黑" panose="020B0503020204020204" charset="-122"/>
              <a:cs typeface="Times New Roman" panose="02020603050405020304" charset="0"/>
            </a:endParaRPr>
          </a:p>
        </p:txBody>
      </p:sp>
      <p:sp>
        <p:nvSpPr>
          <p:cNvPr id="6" name="文本框 4"/>
          <p:cNvSpPr txBox="1"/>
          <p:nvPr/>
        </p:nvSpPr>
        <p:spPr>
          <a:xfrm>
            <a:off x="4062476" y="3709035"/>
            <a:ext cx="4064000" cy="368300"/>
          </a:xfrm>
          <a:prstGeom prst="rect">
            <a:avLst/>
          </a:prstGeom>
          <a:noFill/>
        </p:spPr>
        <p:txBody>
          <a:bodyPr wrap="square" rtlCol="0">
            <a:spAutoFit/>
          </a:bodyPr>
          <a:lstStyle/>
          <a:p>
            <a:pPr algn="ctr"/>
            <a:r>
              <a:rPr lang="zh-CN" altLang="en-US"/>
              <a:t>华东师范大学软件工程学院</a:t>
            </a:r>
          </a:p>
        </p:txBody>
      </p:sp>
      <p:sp>
        <p:nvSpPr>
          <p:cNvPr id="7" name="文本框 3"/>
          <p:cNvSpPr txBox="1"/>
          <p:nvPr/>
        </p:nvSpPr>
        <p:spPr>
          <a:xfrm>
            <a:off x="4062476" y="4322445"/>
            <a:ext cx="4064000" cy="368300"/>
          </a:xfrm>
          <a:prstGeom prst="rect">
            <a:avLst/>
          </a:prstGeom>
          <a:noFill/>
        </p:spPr>
        <p:txBody>
          <a:bodyPr wrap="square" rtlCol="0">
            <a:spAutoFit/>
          </a:bodyPr>
          <a:lstStyle/>
          <a:p>
            <a:pPr algn="ctr"/>
            <a:r>
              <a:rPr lang="zh-CN" altLang="en-US"/>
              <a:t>主讲人</a:t>
            </a:r>
            <a:r>
              <a:rPr lang="en-US" altLang="zh-CN"/>
              <a:t>：</a:t>
            </a:r>
            <a:r>
              <a:rPr lang="zh-CN" altLang="en-US"/>
              <a:t>张磊</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1828800" y="1554480"/>
            <a:ext cx="731520" cy="1235710"/>
          </a:xfrm>
          <a:prstGeom prst="rect">
            <a:avLst/>
          </a:prstGeom>
          <a:noFill/>
        </p:spPr>
        <p:txBody>
          <a:bodyPr wrap="square" lIns="0" tIns="0" rIns="0" bIns="0" anchor="t">
            <a:spAutoFit/>
          </a:bodyPr>
          <a:lstStyle/>
          <a:p>
            <a:pPr algn="l">
              <a:spcBef>
                <a:spcPts val="0"/>
              </a:spcBef>
              <a:spcAft>
                <a:spcPts val="1000"/>
              </a:spcAft>
            </a:pPr>
            <a:r>
              <a:rPr sz="3600" b="0" i="0">
                <a:solidFill>
                  <a:srgbClr val="808080"/>
                </a:solidFill>
                <a:latin typeface="微软雅黑" panose="020B0503020204020204" charset="-122"/>
                <a:ea typeface="微软雅黑" panose="020B0503020204020204" charset="-122"/>
              </a:rPr>
              <a:t>目</a:t>
            </a:r>
          </a:p>
          <a:p>
            <a:pPr algn="l">
              <a:spcBef>
                <a:spcPts val="0"/>
              </a:spcBef>
              <a:spcAft>
                <a:spcPts val="0"/>
              </a:spcAft>
            </a:pPr>
            <a:r>
              <a:rPr sz="3600" b="0" i="0">
                <a:solidFill>
                  <a:srgbClr val="808080"/>
                </a:solidFill>
                <a:latin typeface="微软雅黑" panose="020B0503020204020204" charset="-122"/>
                <a:ea typeface="微软雅黑" panose="020B0503020204020204" charset="-122"/>
              </a:rPr>
              <a:t>录</a:t>
            </a:r>
          </a:p>
        </p:txBody>
      </p:sp>
      <p:sp>
        <p:nvSpPr>
          <p:cNvPr id="4" name="Rectangle 2"/>
          <p:cNvSpPr/>
          <p:nvPr/>
        </p:nvSpPr>
        <p:spPr>
          <a:xfrm>
            <a:off x="2880360" y="868680"/>
            <a:ext cx="128016" cy="5120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Rectangle 14"/>
          <p:cNvSpPr/>
          <p:nvPr/>
        </p:nvSpPr>
        <p:spPr>
          <a:xfrm>
            <a:off x="4419600" y="1990662"/>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chorCtr="0"/>
          <a:lstStyle/>
          <a:p>
            <a:pPr algn="ctr"/>
            <a:endParaRPr sz="2400"/>
          </a:p>
        </p:txBody>
      </p:sp>
      <p:sp>
        <p:nvSpPr>
          <p:cNvPr id="6" name="TextBox 15"/>
          <p:cNvSpPr txBox="1"/>
          <p:nvPr/>
        </p:nvSpPr>
        <p:spPr>
          <a:xfrm>
            <a:off x="5105400" y="1874520"/>
            <a:ext cx="6035040" cy="579755"/>
          </a:xfrm>
          <a:prstGeom prst="rect">
            <a:avLst/>
          </a:prstGeom>
          <a:noFill/>
        </p:spPr>
        <p:txBody>
          <a:bodyPr wrap="square" lIns="0" tIns="0" rIns="0" bIns="0" anchor="ctr" anchorCtr="0">
            <a:noAutofit/>
          </a:bodyPr>
          <a:lstStyle/>
          <a:p>
            <a:pPr algn="l">
              <a:spcBef>
                <a:spcPts val="0"/>
              </a:spcBef>
              <a:spcAft>
                <a:spcPts val="0"/>
              </a:spcAft>
            </a:pPr>
            <a:r>
              <a:rPr lang="zh-CN" altLang="en-US" sz="3600" b="1" i="0" dirty="0">
                <a:solidFill>
                  <a:srgbClr val="333333"/>
                </a:solidFill>
                <a:latin typeface="Times New Roman" panose="02020603050405020304" charset="0"/>
                <a:ea typeface="微软雅黑" panose="020B0503020204020204" charset="-122"/>
                <a:cs typeface="Times New Roman" panose="02020603050405020304" charset="0"/>
              </a:rPr>
              <a:t>分组密码工作模式</a:t>
            </a:r>
          </a:p>
        </p:txBody>
      </p:sp>
      <p:sp>
        <p:nvSpPr>
          <p:cNvPr id="7" name="Rectangle 3"/>
          <p:cNvSpPr/>
          <p:nvPr/>
        </p:nvSpPr>
        <p:spPr>
          <a:xfrm>
            <a:off x="4419600" y="3218434"/>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 name="TextBox 4"/>
          <p:cNvSpPr txBox="1"/>
          <p:nvPr/>
        </p:nvSpPr>
        <p:spPr>
          <a:xfrm>
            <a:off x="5105400" y="3108960"/>
            <a:ext cx="6035040" cy="566420"/>
          </a:xfrm>
          <a:prstGeom prst="rect">
            <a:avLst/>
          </a:prstGeom>
          <a:noFill/>
        </p:spPr>
        <p:txBody>
          <a:bodyPr wrap="square" lIns="0" tIns="0" rIns="0" bIns="0" anchor="t">
            <a:noAutofit/>
          </a:bodyPr>
          <a:lstStyle/>
          <a:p>
            <a:pPr algn="l">
              <a:spcBef>
                <a:spcPts val="0"/>
              </a:spcBef>
              <a:spcAft>
                <a:spcPts val="0"/>
              </a:spcAft>
            </a:pPr>
            <a:r>
              <a:rPr lang="zh-CN" altLang="en-US" sz="3600" b="1" i="0" dirty="0">
                <a:solidFill>
                  <a:srgbClr val="333333"/>
                </a:solidFill>
                <a:latin typeface="Times New Roman" panose="02020603050405020304" charset="0"/>
                <a:ea typeface="微软雅黑" panose="020B0503020204020204" charset="-122"/>
                <a:cs typeface="Times New Roman" panose="02020603050405020304" charset="0"/>
              </a:rPr>
              <a:t>流密码</a:t>
            </a:r>
          </a:p>
        </p:txBody>
      </p:sp>
      <p:sp>
        <p:nvSpPr>
          <p:cNvPr id="9" name="Rectangle 15"/>
          <p:cNvSpPr/>
          <p:nvPr/>
        </p:nvSpPr>
        <p:spPr>
          <a:xfrm>
            <a:off x="4419600" y="4452874"/>
            <a:ext cx="347472" cy="34747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10" name="TextBox 16"/>
          <p:cNvSpPr txBox="1"/>
          <p:nvPr/>
        </p:nvSpPr>
        <p:spPr>
          <a:xfrm>
            <a:off x="5105400" y="4343400"/>
            <a:ext cx="6035040" cy="566420"/>
          </a:xfrm>
          <a:prstGeom prst="rect">
            <a:avLst/>
          </a:prstGeom>
          <a:noFill/>
        </p:spPr>
        <p:txBody>
          <a:bodyPr wrap="square" lIns="0" tIns="0" rIns="0" bIns="0" anchor="t">
            <a:noAutofit/>
          </a:bodyPr>
          <a:lstStyle/>
          <a:p>
            <a:pPr algn="l">
              <a:spcBef>
                <a:spcPts val="0"/>
              </a:spcBef>
              <a:spcAft>
                <a:spcPts val="0"/>
              </a:spcAft>
            </a:pPr>
            <a:r>
              <a:rPr lang="zh-CN" altLang="en-US" sz="3600" b="1" i="0" dirty="0">
                <a:solidFill>
                  <a:srgbClr val="333333"/>
                </a:solidFill>
                <a:latin typeface="Times New Roman" panose="02020603050405020304" charset="0"/>
                <a:ea typeface="微软雅黑" panose="020B0503020204020204" charset="-122"/>
                <a:cs typeface="Times New Roman" panose="02020603050405020304" charset="0"/>
              </a:rPr>
              <a:t>消息认证码</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
          <p:cNvGrpSpPr/>
          <p:nvPr/>
        </p:nvGrpSpPr>
        <p:grpSpPr>
          <a:xfrm>
            <a:off x="1993289" y="2665199"/>
            <a:ext cx="8205422" cy="764195"/>
            <a:chOff x="3147" y="6401"/>
            <a:chExt cx="11446" cy="1066"/>
          </a:xfrm>
        </p:grpSpPr>
        <p:sp>
          <p:nvSpPr>
            <p:cNvPr id="4" name="文本占位符 5"/>
            <p:cNvSpPr txBox="1"/>
            <p:nvPr/>
          </p:nvSpPr>
          <p:spPr>
            <a:xfrm>
              <a:off x="4979" y="6401"/>
              <a:ext cx="9614" cy="1066"/>
            </a:xfrm>
            <a:prstGeom prst="rect">
              <a:avLst/>
            </a:prstGeom>
          </p:spPr>
          <p:txBody>
            <a:bodyPr vert="horz" wrap="squar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kern="1200" spc="100" baseline="0">
                  <a:solidFill>
                    <a:srgbClr val="404040"/>
                  </a:solidFill>
                  <a:latin typeface="思源黑体 CN Bold" panose="020B0800000000000000" pitchFamily="34" charset="-122"/>
                  <a:ea typeface="思源黑体 CN Bold" panose="020B0800000000000000" pitchFamily="34" charset="-122"/>
                  <a:cs typeface="+mn-cs"/>
                  <a:sym typeface="字魂111号-金榜招牌体" panose="00000500000000000000" pitchFamily="2" charset="-122"/>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spcAft>
                  <a:spcPts val="0"/>
                </a:spcAft>
              </a:pPr>
              <a:r>
                <a:rPr lang="zh-CN" altLang="en-US" sz="4965" b="1" i="0" dirty="0">
                  <a:solidFill>
                    <a:srgbClr val="333333"/>
                  </a:solidFill>
                  <a:latin typeface="Times New Roman" panose="02020603050405020304" charset="0"/>
                  <a:ea typeface="微软雅黑" panose="020B0503020204020204" charset="-122"/>
                  <a:cs typeface="Times New Roman" panose="02020603050405020304" charset="0"/>
                </a:rPr>
                <a:t>分组密码工作模式</a:t>
              </a:r>
            </a:p>
          </p:txBody>
        </p:sp>
        <p:sp>
          <p:nvSpPr>
            <p:cNvPr id="5" name="椭圆 6"/>
            <p:cNvSpPr/>
            <p:nvPr/>
          </p:nvSpPr>
          <p:spPr>
            <a:xfrm>
              <a:off x="3271" y="6401"/>
              <a:ext cx="1084" cy="1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sp>
          <p:nvSpPr>
            <p:cNvPr id="6" name="矩形 7"/>
            <p:cNvSpPr/>
            <p:nvPr/>
          </p:nvSpPr>
          <p:spPr>
            <a:xfrm>
              <a:off x="3147" y="6523"/>
              <a:ext cx="1331" cy="805"/>
            </a:xfrm>
            <a:prstGeom prst="rect">
              <a:avLst/>
            </a:prstGeom>
          </p:spPr>
          <p:txBody>
            <a:bodyPr wrap="square">
              <a:spAutoFit/>
            </a:bodyPr>
            <a:lstStyle/>
            <a:p>
              <a:pPr lvl="0" algn="ctr">
                <a:buClrTx/>
                <a:buSzTx/>
                <a:buFontTx/>
              </a:pPr>
              <a:r>
                <a:rPr lang="en-US" altLang="zh-CN" sz="3160" b="0" i="0">
                  <a:solidFill>
                    <a:prstClr val="white"/>
                  </a:solidFill>
                  <a:latin typeface="+mj-ea"/>
                  <a:ea typeface="+mj-ea"/>
                </a:rPr>
                <a:t>01</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工作模式概述</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23"/>
          <p:cNvSpPr txBox="1"/>
          <p:nvPr/>
        </p:nvSpPr>
        <p:spPr>
          <a:xfrm>
            <a:off x="685800" y="1353312"/>
            <a:ext cx="10817352" cy="73152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分组密码一次处理一个固定长度的分组：DES 为 64 比特，AES、SM4 为 128 比特。文件、图片等长消息包含多个分组，需要规定这些分组的组织与处理方式。</a:t>
            </a:r>
          </a:p>
        </p:txBody>
      </p:sp>
      <p:sp>
        <p:nvSpPr>
          <p:cNvPr id="8" name="Rectangle 47"/>
          <p:cNvSpPr/>
          <p:nvPr/>
        </p:nvSpPr>
        <p:spPr>
          <a:xfrm>
            <a:off x="594360" y="217627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是一种将分组密码应用于长于分组长度的明文的方法，它定义了如何将输入的明文分割成适当大小的明文块，并确定如何加密这些明文块。</a:t>
            </a:r>
          </a:p>
        </p:txBody>
      </p:sp>
      <p:sp>
        <p:nvSpPr>
          <p:cNvPr id="9" name="TextBox 7"/>
          <p:cNvSpPr txBox="1"/>
          <p:nvPr/>
        </p:nvSpPr>
        <p:spPr>
          <a:xfrm>
            <a:off x="685800" y="3200400"/>
            <a:ext cx="82296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将长消息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划分为若干个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n</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比特分组</a:t>
            </a:r>
          </a:p>
        </p:txBody>
      </p:sp>
      <p:sp>
        <p:nvSpPr>
          <p:cNvPr id="14" name="TextBox 23"/>
          <p:cNvSpPr txBox="1"/>
          <p:nvPr/>
        </p:nvSpPr>
        <p:spPr>
          <a:xfrm>
            <a:off x="685800" y="4395978"/>
            <a:ext cx="10817352" cy="1051560"/>
          </a:xfrm>
          <a:prstGeom prst="rect">
            <a:avLst/>
          </a:prstGeom>
          <a:noFill/>
        </p:spPr>
        <p:txBody>
          <a:bodyPr wrap="square" lIns="18288" tIns="18288" rIns="18288" bIns="18288" anchor="t">
            <a:noAutofit/>
          </a:bodyPr>
          <a:lstStyle/>
          <a:p>
            <a:pPr marL="0" indent="0" algn="l">
              <a:lnSpc>
                <a:spcPct val="11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：第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个明文分组、密文分组；⊕ 表示逐位异或。</a:t>
            </a:r>
          </a:p>
          <a:p>
            <a:pPr marL="0" indent="0" algn="l">
              <a:lnSpc>
                <a:spcPct val="11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：用密钥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对一个分组执行完整的加密、解密。</a:t>
            </a:r>
          </a:p>
          <a:p>
            <a:pPr marL="0" indent="0" algn="l">
              <a:lnSpc>
                <a:spcPct val="115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末组不足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比特时，</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需要 </a:t>
            </a: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填充</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；或者采用 CFB、OFB、CTR 等无需填充的模式。</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5" name="内容底色_6"/>
          <p:cNvSpPr/>
          <p:nvPr/>
        </p:nvSpPr>
        <p:spPr>
          <a:xfrm>
            <a:off x="594360" y="5486400"/>
            <a:ext cx="1101852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本节内容：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ECB、CBC、CFB、OFB、CTR 五种模式。</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同一分组密码可以搭配不同模式，如 AES-CBC、AES-CTR、SM4-CBC。</a:t>
            </a:r>
          </a:p>
        </p:txBody>
      </p:sp>
      <p:sp>
        <p:nvSpPr>
          <p:cNvPr id="10" name="Rectangle 15"/>
          <p:cNvSpPr/>
          <p:nvPr/>
        </p:nvSpPr>
        <p:spPr>
          <a:xfrm>
            <a:off x="822960" y="3707892"/>
            <a:ext cx="283464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消息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（任意长度）</a:t>
            </a:r>
          </a:p>
        </p:txBody>
      </p:sp>
      <p:cxnSp>
        <p:nvCxnSpPr>
          <p:cNvPr id="16" name="Connector 11"/>
          <p:cNvCxnSpPr/>
          <p:nvPr/>
        </p:nvCxnSpPr>
        <p:spPr>
          <a:xfrm>
            <a:off x="3703320" y="3936492"/>
            <a:ext cx="502920" cy="0"/>
          </a:xfrm>
          <a:prstGeom prst="line">
            <a:avLst/>
          </a:prstGeom>
          <a:ln w="15875">
            <a:solidFill>
              <a:srgbClr val="404040"/>
            </a:solidFill>
            <a:tailEnd type="triangle" w="med" len="med"/>
          </a:ln>
        </p:spPr>
      </p:cxnSp>
      <p:sp>
        <p:nvSpPr>
          <p:cNvPr id="17" name="Rectangle 15"/>
          <p:cNvSpPr/>
          <p:nvPr/>
        </p:nvSpPr>
        <p:spPr>
          <a:xfrm>
            <a:off x="4297680" y="3707892"/>
            <a:ext cx="86868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8" name="Rectangle 15"/>
          <p:cNvSpPr/>
          <p:nvPr/>
        </p:nvSpPr>
        <p:spPr>
          <a:xfrm>
            <a:off x="5257800" y="3707892"/>
            <a:ext cx="86868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9" name="Rectangle 15"/>
          <p:cNvSpPr/>
          <p:nvPr/>
        </p:nvSpPr>
        <p:spPr>
          <a:xfrm>
            <a:off x="6217920" y="3707892"/>
            <a:ext cx="86868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0" name="TextBox 23"/>
          <p:cNvSpPr txBox="1"/>
          <p:nvPr/>
        </p:nvSpPr>
        <p:spPr>
          <a:xfrm>
            <a:off x="7178040" y="3726180"/>
            <a:ext cx="548640" cy="41148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21" name="Rectangle 15"/>
          <p:cNvSpPr/>
          <p:nvPr/>
        </p:nvSpPr>
        <p:spPr>
          <a:xfrm>
            <a:off x="7772400" y="3707892"/>
            <a:ext cx="86868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222222"/>
                </a:solidFill>
                <a:latin typeface="Times New Roman" panose="02020603050405020304" charset="0"/>
                <a:ea typeface="微软雅黑" panose="020B0503020204020204" charset="-122"/>
                <a:cs typeface="Times New Roman" panose="02020603050405020304" charset="0"/>
              </a:rPr>
              <a:t>t</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2" name="Rectangle 14"/>
          <p:cNvSpPr/>
          <p:nvPr/>
        </p:nvSpPr>
        <p:spPr>
          <a:xfrm>
            <a:off x="8641080" y="3707892"/>
            <a:ext cx="868680" cy="45720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填充</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工作模式的分类</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5"/>
          <p:cNvSpPr/>
          <p:nvPr/>
        </p:nvSpPr>
        <p:spPr>
          <a:xfrm>
            <a:off x="730885" y="1271905"/>
            <a:ext cx="10790555" cy="1015365"/>
          </a:xfrm>
          <a:prstGeom prst="rect">
            <a:avLst/>
          </a:prstGeom>
          <a:solidFill>
            <a:srgbClr val="FBF1F1"/>
          </a:solidFill>
          <a:ln>
            <a:noFill/>
          </a:ln>
          <a:effectLst/>
        </p:spPr>
        <p:txBody>
          <a:bodyPr wrap="square" lIns="182880" rIns="137160" rtlCol="0" anchor="ctr"/>
          <a:lstStyle/>
          <a:p>
            <a:pPr algn="l">
              <a:lnSpc>
                <a:spcPct val="1100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按照分组密码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的使用方式，五种工作模式可分为两类：一类直接用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加密明文分组；另一类用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产生密钥流，再与明文逐位异或，相当于把分组密码作为流密码使用。</a:t>
            </a:r>
          </a:p>
        </p:txBody>
      </p:sp>
      <p:sp>
        <p:nvSpPr>
          <p:cNvPr id="8" name="Rectangle 9"/>
          <p:cNvSpPr/>
          <p:nvPr/>
        </p:nvSpPr>
        <p:spPr>
          <a:xfrm>
            <a:off x="502920" y="5858510"/>
            <a:ext cx="11182985" cy="560070"/>
          </a:xfrm>
          <a:prstGeom prst="rect">
            <a:avLst/>
          </a:prstGeom>
          <a:solidFill>
            <a:srgbClr val="FBF1F1"/>
          </a:solidFill>
          <a:ln>
            <a:noFill/>
          </a:ln>
          <a:effectLst/>
        </p:spPr>
        <p:txBody>
          <a:bodyPr wrap="square" lIns="182880" rIns="137160" rtlCol="0" anchor="ctr"/>
          <a:lstStyle/>
          <a:p>
            <a:pPr algn="l">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说明：</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右侧三种模式中，明文只参与异或运算，因此解密时同样调用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，并且末组无须填充。</a:t>
            </a:r>
          </a:p>
        </p:txBody>
      </p:sp>
      <p:sp>
        <p:nvSpPr>
          <p:cNvPr id="9" name="Shape 2"/>
          <p:cNvSpPr/>
          <p:nvPr>
            <p:custDataLst>
              <p:tags r:id="rId1"/>
            </p:custDataLst>
          </p:nvPr>
        </p:nvSpPr>
        <p:spPr>
          <a:xfrm>
            <a:off x="6108510" y="2919730"/>
            <a:ext cx="0" cy="292608"/>
          </a:xfrm>
          <a:prstGeom prst="line">
            <a:avLst/>
          </a:prstGeom>
          <a:noFill/>
          <a:ln w="15875">
            <a:solidFill>
              <a:srgbClr val="9E3338"/>
            </a:solidFill>
            <a:prstDash val="solid"/>
            <a:headEnd type="none"/>
            <a:tailEnd type="none"/>
          </a:ln>
        </p:spPr>
      </p:sp>
      <p:sp>
        <p:nvSpPr>
          <p:cNvPr id="10" name="Shape 3"/>
          <p:cNvSpPr/>
          <p:nvPr>
            <p:custDataLst>
              <p:tags r:id="rId2"/>
            </p:custDataLst>
          </p:nvPr>
        </p:nvSpPr>
        <p:spPr>
          <a:xfrm>
            <a:off x="3497898" y="3212338"/>
            <a:ext cx="5193792" cy="0"/>
          </a:xfrm>
          <a:prstGeom prst="line">
            <a:avLst/>
          </a:prstGeom>
          <a:noFill/>
          <a:ln w="15875">
            <a:solidFill>
              <a:srgbClr val="9E3338"/>
            </a:solidFill>
            <a:prstDash val="solid"/>
            <a:headEnd type="none"/>
            <a:tailEnd type="none"/>
          </a:ln>
        </p:spPr>
      </p:sp>
      <p:sp>
        <p:nvSpPr>
          <p:cNvPr id="11" name="Shape 4"/>
          <p:cNvSpPr/>
          <p:nvPr>
            <p:custDataLst>
              <p:tags r:id="rId3"/>
            </p:custDataLst>
          </p:nvPr>
        </p:nvSpPr>
        <p:spPr>
          <a:xfrm>
            <a:off x="3497898" y="3212338"/>
            <a:ext cx="0" cy="301752"/>
          </a:xfrm>
          <a:prstGeom prst="line">
            <a:avLst/>
          </a:prstGeom>
          <a:noFill/>
          <a:ln w="15875">
            <a:solidFill>
              <a:srgbClr val="9E3338"/>
            </a:solidFill>
            <a:prstDash val="solid"/>
            <a:headEnd type="none"/>
            <a:tailEnd type="triangle"/>
          </a:ln>
        </p:spPr>
      </p:sp>
      <p:sp>
        <p:nvSpPr>
          <p:cNvPr id="12" name="Shape 5"/>
          <p:cNvSpPr/>
          <p:nvPr>
            <p:custDataLst>
              <p:tags r:id="rId4"/>
            </p:custDataLst>
          </p:nvPr>
        </p:nvSpPr>
        <p:spPr>
          <a:xfrm>
            <a:off x="8691690" y="3212338"/>
            <a:ext cx="0" cy="301752"/>
          </a:xfrm>
          <a:prstGeom prst="line">
            <a:avLst/>
          </a:prstGeom>
          <a:noFill/>
          <a:ln w="15875">
            <a:solidFill>
              <a:srgbClr val="9E3338"/>
            </a:solidFill>
            <a:prstDash val="solid"/>
            <a:headEnd type="none"/>
            <a:tailEnd type="triangle"/>
          </a:ln>
        </p:spPr>
      </p:sp>
      <p:sp>
        <p:nvSpPr>
          <p:cNvPr id="13" name="Shape 6"/>
          <p:cNvSpPr/>
          <p:nvPr>
            <p:custDataLst>
              <p:tags r:id="rId5"/>
            </p:custDataLst>
          </p:nvPr>
        </p:nvSpPr>
        <p:spPr>
          <a:xfrm>
            <a:off x="3497898" y="4081018"/>
            <a:ext cx="0" cy="265176"/>
          </a:xfrm>
          <a:prstGeom prst="line">
            <a:avLst/>
          </a:prstGeom>
          <a:noFill/>
          <a:ln w="15875">
            <a:solidFill>
              <a:srgbClr val="9E3338"/>
            </a:solidFill>
            <a:prstDash val="solid"/>
            <a:headEnd type="none"/>
            <a:tailEnd type="none"/>
          </a:ln>
        </p:spPr>
      </p:sp>
      <p:sp>
        <p:nvSpPr>
          <p:cNvPr id="14" name="Shape 7"/>
          <p:cNvSpPr/>
          <p:nvPr>
            <p:custDataLst>
              <p:tags r:id="rId6"/>
            </p:custDataLst>
          </p:nvPr>
        </p:nvSpPr>
        <p:spPr>
          <a:xfrm>
            <a:off x="2231454" y="4346194"/>
            <a:ext cx="2532888" cy="0"/>
          </a:xfrm>
          <a:prstGeom prst="line">
            <a:avLst/>
          </a:prstGeom>
          <a:noFill/>
          <a:ln w="15875">
            <a:solidFill>
              <a:srgbClr val="9E3338"/>
            </a:solidFill>
            <a:prstDash val="solid"/>
            <a:headEnd type="none"/>
            <a:tailEnd type="none"/>
          </a:ln>
        </p:spPr>
      </p:sp>
      <p:sp>
        <p:nvSpPr>
          <p:cNvPr id="15" name="Shape 8"/>
          <p:cNvSpPr/>
          <p:nvPr>
            <p:custDataLst>
              <p:tags r:id="rId7"/>
            </p:custDataLst>
          </p:nvPr>
        </p:nvSpPr>
        <p:spPr>
          <a:xfrm>
            <a:off x="2231454" y="4346194"/>
            <a:ext cx="0" cy="274320"/>
          </a:xfrm>
          <a:prstGeom prst="line">
            <a:avLst/>
          </a:prstGeom>
          <a:noFill/>
          <a:ln w="15875">
            <a:solidFill>
              <a:srgbClr val="9E3338"/>
            </a:solidFill>
            <a:prstDash val="solid"/>
            <a:headEnd type="none"/>
            <a:tailEnd type="triangle"/>
          </a:ln>
        </p:spPr>
      </p:sp>
      <p:sp>
        <p:nvSpPr>
          <p:cNvPr id="16" name="Shape 9"/>
          <p:cNvSpPr/>
          <p:nvPr>
            <p:custDataLst>
              <p:tags r:id="rId8"/>
            </p:custDataLst>
          </p:nvPr>
        </p:nvSpPr>
        <p:spPr>
          <a:xfrm>
            <a:off x="4764342" y="4346194"/>
            <a:ext cx="0" cy="274320"/>
          </a:xfrm>
          <a:prstGeom prst="line">
            <a:avLst/>
          </a:prstGeom>
          <a:noFill/>
          <a:ln w="15875">
            <a:solidFill>
              <a:srgbClr val="9E3338"/>
            </a:solidFill>
            <a:prstDash val="solid"/>
            <a:headEnd type="none"/>
            <a:tailEnd type="triangle"/>
          </a:ln>
        </p:spPr>
      </p:sp>
      <p:sp>
        <p:nvSpPr>
          <p:cNvPr id="17" name="Shape 10"/>
          <p:cNvSpPr/>
          <p:nvPr>
            <p:custDataLst>
              <p:tags r:id="rId9"/>
            </p:custDataLst>
          </p:nvPr>
        </p:nvSpPr>
        <p:spPr>
          <a:xfrm>
            <a:off x="8691690" y="4081018"/>
            <a:ext cx="0" cy="265176"/>
          </a:xfrm>
          <a:prstGeom prst="line">
            <a:avLst/>
          </a:prstGeom>
          <a:noFill/>
          <a:ln w="15875">
            <a:solidFill>
              <a:srgbClr val="9E3338"/>
            </a:solidFill>
            <a:prstDash val="solid"/>
            <a:headEnd type="none"/>
            <a:tailEnd type="none"/>
          </a:ln>
        </p:spPr>
      </p:sp>
      <p:sp>
        <p:nvSpPr>
          <p:cNvPr id="18" name="Shape 11"/>
          <p:cNvSpPr/>
          <p:nvPr>
            <p:custDataLst>
              <p:tags r:id="rId10"/>
            </p:custDataLst>
          </p:nvPr>
        </p:nvSpPr>
        <p:spPr>
          <a:xfrm>
            <a:off x="7489254" y="4346194"/>
            <a:ext cx="2514600" cy="0"/>
          </a:xfrm>
          <a:prstGeom prst="line">
            <a:avLst/>
          </a:prstGeom>
          <a:noFill/>
          <a:ln w="15875">
            <a:solidFill>
              <a:srgbClr val="9E3338"/>
            </a:solidFill>
            <a:prstDash val="solid"/>
            <a:headEnd type="none"/>
            <a:tailEnd type="none"/>
          </a:ln>
        </p:spPr>
      </p:sp>
      <p:sp>
        <p:nvSpPr>
          <p:cNvPr id="19" name="Shape 12"/>
          <p:cNvSpPr/>
          <p:nvPr>
            <p:custDataLst>
              <p:tags r:id="rId11"/>
            </p:custDataLst>
          </p:nvPr>
        </p:nvSpPr>
        <p:spPr>
          <a:xfrm>
            <a:off x="7489254" y="4346194"/>
            <a:ext cx="0" cy="274320"/>
          </a:xfrm>
          <a:prstGeom prst="line">
            <a:avLst/>
          </a:prstGeom>
          <a:noFill/>
          <a:ln w="15875">
            <a:solidFill>
              <a:srgbClr val="9E3338"/>
            </a:solidFill>
            <a:prstDash val="solid"/>
            <a:headEnd type="none"/>
            <a:tailEnd type="triangle"/>
          </a:ln>
        </p:spPr>
      </p:sp>
      <p:sp>
        <p:nvSpPr>
          <p:cNvPr id="20" name="Shape 13"/>
          <p:cNvSpPr/>
          <p:nvPr/>
        </p:nvSpPr>
        <p:spPr>
          <a:xfrm>
            <a:off x="10003854" y="4346194"/>
            <a:ext cx="0" cy="274320"/>
          </a:xfrm>
          <a:prstGeom prst="line">
            <a:avLst/>
          </a:prstGeom>
          <a:noFill/>
          <a:ln w="15875">
            <a:solidFill>
              <a:srgbClr val="9E3338"/>
            </a:solidFill>
            <a:prstDash val="solid"/>
            <a:headEnd type="none"/>
            <a:tailEnd type="triangle"/>
          </a:ln>
        </p:spPr>
      </p:sp>
      <p:sp>
        <p:nvSpPr>
          <p:cNvPr id="21" name="Shape 15"/>
          <p:cNvSpPr/>
          <p:nvPr>
            <p:custDataLst>
              <p:tags r:id="rId12"/>
            </p:custDataLst>
          </p:nvPr>
        </p:nvSpPr>
        <p:spPr>
          <a:xfrm>
            <a:off x="2377758" y="3514090"/>
            <a:ext cx="2240280" cy="566928"/>
          </a:xfrm>
          <a:prstGeom prst="roundRect">
            <a:avLst>
              <a:gd name="adj" fmla="val 12903"/>
            </a:avLst>
          </a:prstGeom>
          <a:solidFill>
            <a:srgbClr val="F9EEEE"/>
          </a:solidFill>
          <a:ln w="12700">
            <a:solidFill>
              <a:srgbClr val="B75A5F"/>
            </a:solidFill>
            <a:prstDash val="solid"/>
          </a:ln>
          <a:effectLst>
            <a:outerShdw blurRad="161290000" dist="645160000" algn="bl" rotWithShape="0">
              <a:srgbClr val="999999">
                <a:alpha val="0"/>
              </a:srgbClr>
            </a:outerShdw>
          </a:effectLst>
        </p:spPr>
      </p:sp>
      <p:sp>
        <p:nvSpPr>
          <p:cNvPr id="22" name="Shape 16"/>
          <p:cNvSpPr/>
          <p:nvPr>
            <p:custDataLst>
              <p:tags r:id="rId13"/>
            </p:custDataLst>
          </p:nvPr>
        </p:nvSpPr>
        <p:spPr>
          <a:xfrm>
            <a:off x="7571550" y="3514090"/>
            <a:ext cx="2240280" cy="566928"/>
          </a:xfrm>
          <a:prstGeom prst="roundRect">
            <a:avLst>
              <a:gd name="adj" fmla="val 12903"/>
            </a:avLst>
          </a:prstGeom>
          <a:solidFill>
            <a:srgbClr val="F9EEEE"/>
          </a:solidFill>
          <a:ln w="12700">
            <a:solidFill>
              <a:srgbClr val="B75A5F"/>
            </a:solidFill>
            <a:prstDash val="solid"/>
          </a:ln>
          <a:effectLst>
            <a:outerShdw algn="bl" rotWithShape="0">
              <a:srgbClr val="999999">
                <a:alpha val="0"/>
              </a:srgbClr>
            </a:outerShdw>
          </a:effectLst>
        </p:spPr>
      </p:sp>
      <p:sp>
        <p:nvSpPr>
          <p:cNvPr id="23" name="Shape 17"/>
          <p:cNvSpPr/>
          <p:nvPr>
            <p:custDataLst>
              <p:tags r:id="rId14"/>
            </p:custDataLst>
          </p:nvPr>
        </p:nvSpPr>
        <p:spPr>
          <a:xfrm>
            <a:off x="1079310" y="4620514"/>
            <a:ext cx="2304288" cy="1024128"/>
          </a:xfrm>
          <a:prstGeom prst="roundRect">
            <a:avLst>
              <a:gd name="adj" fmla="val 7143"/>
            </a:avLst>
          </a:prstGeom>
          <a:solidFill>
            <a:srgbClr val="FFFFFF"/>
          </a:solidFill>
          <a:ln w="11430">
            <a:solidFill>
              <a:srgbClr val="C5CBD3"/>
            </a:solidFill>
            <a:prstDash val="solid"/>
          </a:ln>
          <a:effectLst>
            <a:outerShdw blurRad="12700" dist="50800" dir="2700000" algn="bl" rotWithShape="0">
              <a:srgbClr val="CCCCCC">
                <a:alpha val="10000"/>
              </a:srgbClr>
            </a:outerShdw>
          </a:effectLst>
        </p:spPr>
      </p:sp>
      <p:sp>
        <p:nvSpPr>
          <p:cNvPr id="24" name="Shape 18"/>
          <p:cNvSpPr/>
          <p:nvPr>
            <p:custDataLst>
              <p:tags r:id="rId15"/>
            </p:custDataLst>
          </p:nvPr>
        </p:nvSpPr>
        <p:spPr>
          <a:xfrm>
            <a:off x="3612198" y="4620514"/>
            <a:ext cx="2304288" cy="1024128"/>
          </a:xfrm>
          <a:prstGeom prst="roundRect">
            <a:avLst>
              <a:gd name="adj" fmla="val 7143"/>
            </a:avLst>
          </a:prstGeom>
          <a:solidFill>
            <a:srgbClr val="FFFFFF"/>
          </a:solidFill>
          <a:ln w="11430">
            <a:solidFill>
              <a:srgbClr val="C5CBD3"/>
            </a:solidFill>
            <a:prstDash val="solid"/>
          </a:ln>
          <a:effectLst>
            <a:outerShdw blurRad="12700" dist="50800" dir="2700000" algn="bl" rotWithShape="0">
              <a:srgbClr val="CCCCCC">
                <a:alpha val="10000"/>
              </a:srgbClr>
            </a:outerShdw>
          </a:effectLst>
        </p:spPr>
      </p:sp>
      <p:sp>
        <p:nvSpPr>
          <p:cNvPr id="25" name="Shape 19"/>
          <p:cNvSpPr/>
          <p:nvPr>
            <p:custDataLst>
              <p:tags r:id="rId16"/>
            </p:custDataLst>
          </p:nvPr>
        </p:nvSpPr>
        <p:spPr>
          <a:xfrm>
            <a:off x="6337110" y="4620514"/>
            <a:ext cx="2304288" cy="1024128"/>
          </a:xfrm>
          <a:prstGeom prst="roundRect">
            <a:avLst>
              <a:gd name="adj" fmla="val 7143"/>
            </a:avLst>
          </a:prstGeom>
          <a:solidFill>
            <a:srgbClr val="FFFFFF"/>
          </a:solidFill>
          <a:ln w="11430">
            <a:solidFill>
              <a:srgbClr val="C5CBD3"/>
            </a:solidFill>
            <a:prstDash val="solid"/>
          </a:ln>
          <a:effectLst>
            <a:outerShdw blurRad="12700" dist="50800" dir="2700000" algn="bl" rotWithShape="0">
              <a:srgbClr val="CCCCCC">
                <a:alpha val="10000"/>
              </a:srgbClr>
            </a:outerShdw>
          </a:effectLst>
        </p:spPr>
      </p:sp>
      <p:sp>
        <p:nvSpPr>
          <p:cNvPr id="26" name="Shape 20"/>
          <p:cNvSpPr/>
          <p:nvPr/>
        </p:nvSpPr>
        <p:spPr>
          <a:xfrm>
            <a:off x="8851710" y="4620514"/>
            <a:ext cx="2304288" cy="1024128"/>
          </a:xfrm>
          <a:prstGeom prst="roundRect">
            <a:avLst>
              <a:gd name="adj" fmla="val 7143"/>
            </a:avLst>
          </a:prstGeom>
          <a:solidFill>
            <a:srgbClr val="FFFFFF"/>
          </a:solidFill>
          <a:ln w="11430">
            <a:solidFill>
              <a:srgbClr val="C5CBD3"/>
            </a:solidFill>
            <a:prstDash val="solid"/>
          </a:ln>
          <a:effectLst>
            <a:outerShdw blurRad="12700" dist="50800" dir="2700000" algn="bl" rotWithShape="0">
              <a:srgbClr val="CCCCCC">
                <a:alpha val="10000"/>
              </a:srgbClr>
            </a:outerShdw>
          </a:effectLst>
        </p:spPr>
      </p:sp>
      <p:sp>
        <p:nvSpPr>
          <p:cNvPr id="27" name="Text 22"/>
          <p:cNvSpPr/>
          <p:nvPr>
            <p:custDataLst>
              <p:tags r:id="rId17"/>
            </p:custDataLst>
          </p:nvPr>
        </p:nvSpPr>
        <p:spPr>
          <a:xfrm>
            <a:off x="2273935" y="3573145"/>
            <a:ext cx="2449195" cy="448945"/>
          </a:xfrm>
          <a:prstGeom prst="rect">
            <a:avLst/>
          </a:prstGeom>
          <a:noFill/>
        </p:spPr>
        <p:txBody>
          <a:bodyPr wrap="square" lIns="0" tIns="0" rIns="0" bIns="0" rtlCol="0" anchor="ctr">
            <a:noAutofit/>
          </a:bodyPr>
          <a:lstStyle/>
          <a:p>
            <a:pPr marL="0" algn="ctr">
              <a:buClrTx/>
              <a:buSzTx/>
              <a:buFontTx/>
              <a:buNone/>
            </a:pPr>
            <a:r>
              <a:rPr lang="zh-CN" altLang="en-US" sz="1800" b="1" i="0" dirty="0">
                <a:solidFill>
                  <a:srgbClr val="2D2D2D"/>
                </a:solidFill>
                <a:latin typeface="Times New Roman" panose="02020603050405020304" charset="0"/>
                <a:ea typeface="微软雅黑" panose="020B0503020204020204" charset="-122"/>
                <a:cs typeface="Times New Roman" panose="02020603050405020304" charset="0"/>
              </a:rPr>
              <a:t>直接加密明文分组</a:t>
            </a:r>
          </a:p>
        </p:txBody>
      </p:sp>
      <p:sp>
        <p:nvSpPr>
          <p:cNvPr id="28" name="Text 23"/>
          <p:cNvSpPr/>
          <p:nvPr>
            <p:custDataLst>
              <p:tags r:id="rId18"/>
            </p:custDataLst>
          </p:nvPr>
        </p:nvSpPr>
        <p:spPr>
          <a:xfrm>
            <a:off x="7434580" y="3573780"/>
            <a:ext cx="2533015" cy="457200"/>
          </a:xfrm>
          <a:prstGeom prst="rect">
            <a:avLst/>
          </a:prstGeom>
          <a:noFill/>
        </p:spPr>
        <p:txBody>
          <a:bodyPr wrap="square" lIns="0" tIns="0" rIns="0" bIns="0" rtlCol="0" anchor="ctr">
            <a:noAutofit/>
          </a:bodyPr>
          <a:lstStyle/>
          <a:p>
            <a:pPr marL="0" indent="0" algn="ctr">
              <a:buNone/>
            </a:pPr>
            <a:r>
              <a:rPr lang="zh-CN" altLang="en-US" sz="1800" b="1" i="0" dirty="0">
                <a:solidFill>
                  <a:srgbClr val="2D2D2D"/>
                </a:solidFill>
                <a:latin typeface="Times New Roman" panose="02020603050405020304" charset="0"/>
                <a:ea typeface="微软雅黑" panose="020B0503020204020204" charset="-122"/>
                <a:cs typeface="Times New Roman" panose="02020603050405020304" charset="0"/>
              </a:rPr>
              <a:t>生成密钥流后异或</a:t>
            </a:r>
          </a:p>
        </p:txBody>
      </p:sp>
      <p:sp>
        <p:nvSpPr>
          <p:cNvPr id="29" name="Text 24"/>
          <p:cNvSpPr/>
          <p:nvPr>
            <p:custDataLst>
              <p:tags r:id="rId19"/>
            </p:custDataLst>
          </p:nvPr>
        </p:nvSpPr>
        <p:spPr>
          <a:xfrm>
            <a:off x="1207326" y="4816602"/>
            <a:ext cx="2048256" cy="585216"/>
          </a:xfrm>
          <a:prstGeom prst="rect">
            <a:avLst/>
          </a:prstGeom>
          <a:noFill/>
        </p:spPr>
        <p:txBody>
          <a:bodyPr wrap="square" lIns="254" tIns="254" rIns="254" bIns="254" rtlCol="0" anchor="ctr">
            <a:noAutofit/>
          </a:bodyPr>
          <a:lstStyle/>
          <a:p>
            <a:pPr indent="0" algn="ctr" fontAlgn="auto">
              <a:lnSpc>
                <a:spcPct val="100000"/>
              </a:lnSpc>
              <a:buNone/>
            </a:pPr>
            <a:r>
              <a:rPr lang="zh-CN" altLang="en-US" b="1" i="0" dirty="0">
                <a:solidFill>
                  <a:srgbClr val="C00000"/>
                </a:solidFill>
                <a:latin typeface="Times New Roman" panose="02020603050405020304" charset="0"/>
                <a:ea typeface="微软雅黑" panose="020B0503020204020204" charset="-122"/>
                <a:cs typeface="Times New Roman" panose="02020603050405020304" charset="0"/>
              </a:rPr>
              <a:t>ECB 电码本</a:t>
            </a:r>
            <a:endParaRPr lang="zh-CN" altLang="en-US" b="0" i="0" dirty="0">
              <a:solidFill>
                <a:srgbClr val="000000"/>
              </a:solidFill>
              <a:latin typeface="Times New Roman" panose="02020603050405020304" charset="0"/>
              <a:ea typeface="微软雅黑" panose="020B0503020204020204" charset="-122"/>
              <a:cs typeface="Times New Roman" panose="02020603050405020304" charset="0"/>
            </a:endParaRPr>
          </a:p>
          <a:p>
            <a:pPr indent="0" algn="ctr" fontAlgn="auto">
              <a:lnSpc>
                <a:spcPct val="100000"/>
              </a:lnSpc>
              <a:buNone/>
            </a:pP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C</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E</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K</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M</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a:t>
            </a:r>
          </a:p>
        </p:txBody>
      </p:sp>
      <p:sp>
        <p:nvSpPr>
          <p:cNvPr id="30" name="Text 25"/>
          <p:cNvSpPr/>
          <p:nvPr>
            <p:custDataLst>
              <p:tags r:id="rId20"/>
            </p:custDataLst>
          </p:nvPr>
        </p:nvSpPr>
        <p:spPr>
          <a:xfrm>
            <a:off x="3612515" y="4594860"/>
            <a:ext cx="2303780" cy="1028700"/>
          </a:xfrm>
          <a:prstGeom prst="rect">
            <a:avLst/>
          </a:prstGeom>
          <a:noFill/>
        </p:spPr>
        <p:txBody>
          <a:bodyPr wrap="square" lIns="254" tIns="254" rIns="254" bIns="254" rtlCol="0" anchor="ctr">
            <a:noAutofit/>
          </a:bodyPr>
          <a:lstStyle/>
          <a:p>
            <a:pPr indent="0" algn="ctr" fontAlgn="auto">
              <a:lnSpc>
                <a:spcPct val="100000"/>
              </a:lnSpc>
              <a:buNone/>
            </a:pPr>
            <a:r>
              <a:rPr lang="zh-CN" altLang="en-US" b="1" i="0" dirty="0">
                <a:solidFill>
                  <a:srgbClr val="C00000"/>
                </a:solidFill>
                <a:latin typeface="Times New Roman" panose="02020603050405020304" charset="0"/>
                <a:ea typeface="微软雅黑" panose="020B0503020204020204" charset="-122"/>
                <a:cs typeface="Times New Roman" panose="02020603050405020304" charset="0"/>
              </a:rPr>
              <a:t>CBC 密文分组链接</a:t>
            </a:r>
            <a:endParaRPr lang="zh-CN" altLang="en-US" b="0" i="0" dirty="0">
              <a:solidFill>
                <a:srgbClr val="000000"/>
              </a:solidFill>
              <a:latin typeface="Times New Roman" panose="02020603050405020304" charset="0"/>
              <a:ea typeface="微软雅黑" panose="020B0503020204020204" charset="-122"/>
              <a:cs typeface="Times New Roman" panose="02020603050405020304" charset="0"/>
            </a:endParaRPr>
          </a:p>
          <a:p>
            <a:pPr indent="0" algn="ctr" fontAlgn="auto">
              <a:lnSpc>
                <a:spcPct val="100000"/>
              </a:lnSpc>
              <a:buNone/>
            </a:pP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C</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E</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K</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M</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C</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baseline="-25000" dirty="0">
                <a:solidFill>
                  <a:srgbClr val="000000"/>
                </a:solidFill>
                <a:latin typeface="Times New Roman" panose="02020603050405020304" charset="0"/>
                <a:ea typeface="微软雅黑" panose="020B0503020204020204" charset="-122"/>
                <a:cs typeface="Times New Roman" panose="02020603050405020304" charset="0"/>
              </a:rPr>
              <a:t>−1</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a:t>
            </a:r>
          </a:p>
        </p:txBody>
      </p:sp>
      <p:sp>
        <p:nvSpPr>
          <p:cNvPr id="31" name="Text 25"/>
          <p:cNvSpPr/>
          <p:nvPr>
            <p:custDataLst>
              <p:tags r:id="rId21"/>
            </p:custDataLst>
          </p:nvPr>
        </p:nvSpPr>
        <p:spPr>
          <a:xfrm>
            <a:off x="6337300" y="4607560"/>
            <a:ext cx="2303780" cy="1028700"/>
          </a:xfrm>
          <a:prstGeom prst="rect">
            <a:avLst/>
          </a:prstGeom>
          <a:noFill/>
        </p:spPr>
        <p:txBody>
          <a:bodyPr wrap="square" lIns="254" tIns="254" rIns="254" bIns="254" rtlCol="0" anchor="ctr">
            <a:noAutofit/>
          </a:bodyPr>
          <a:lstStyle/>
          <a:p>
            <a:pPr indent="0" algn="ctr" fontAlgn="auto">
              <a:lnSpc>
                <a:spcPct val="100000"/>
              </a:lnSpc>
              <a:buNone/>
            </a:pPr>
            <a:r>
              <a:rPr lang="zh-CN" altLang="en-US" b="1" i="0" dirty="0">
                <a:solidFill>
                  <a:srgbClr val="C00000"/>
                </a:solidFill>
                <a:latin typeface="Times New Roman" panose="02020603050405020304" charset="0"/>
                <a:ea typeface="微软雅黑" panose="020B0503020204020204" charset="-122"/>
                <a:cs typeface="Times New Roman" panose="02020603050405020304" charset="0"/>
              </a:rPr>
              <a:t>CFB / OFB 反馈</a:t>
            </a:r>
            <a:endParaRPr lang="zh-CN" altLang="en-US" b="0" i="0" dirty="0">
              <a:solidFill>
                <a:srgbClr val="404040"/>
              </a:solidFill>
              <a:latin typeface="Times New Roman" panose="02020603050405020304" charset="0"/>
              <a:ea typeface="微软雅黑" panose="020B0503020204020204" charset="-122"/>
              <a:cs typeface="Times New Roman" panose="02020603050405020304" charset="0"/>
            </a:endParaRPr>
          </a:p>
          <a:p>
            <a:pPr indent="0" algn="ctr" fontAlgn="auto">
              <a:lnSpc>
                <a:spcPct val="100000"/>
              </a:lnSpc>
              <a:buNone/>
            </a:pP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迭代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得到密钥流</a:t>
            </a:r>
          </a:p>
        </p:txBody>
      </p:sp>
      <p:sp>
        <p:nvSpPr>
          <p:cNvPr id="32" name="Text 25"/>
          <p:cNvSpPr/>
          <p:nvPr/>
        </p:nvSpPr>
        <p:spPr>
          <a:xfrm>
            <a:off x="8852535" y="4598035"/>
            <a:ext cx="2303780" cy="1028700"/>
          </a:xfrm>
          <a:prstGeom prst="rect">
            <a:avLst/>
          </a:prstGeom>
          <a:noFill/>
        </p:spPr>
        <p:txBody>
          <a:bodyPr wrap="square" lIns="254" tIns="254" rIns="254" bIns="254" rtlCol="0" anchor="ctr">
            <a:noAutofit/>
          </a:bodyPr>
          <a:lstStyle/>
          <a:p>
            <a:pPr indent="0" algn="ctr" fontAlgn="auto">
              <a:lnSpc>
                <a:spcPct val="100000"/>
              </a:lnSpc>
              <a:buNone/>
            </a:pPr>
            <a:r>
              <a:rPr lang="zh-CN" altLang="en-US" b="1" i="0" dirty="0">
                <a:solidFill>
                  <a:srgbClr val="C00000"/>
                </a:solidFill>
                <a:latin typeface="Times New Roman" panose="02020603050405020304" charset="0"/>
                <a:ea typeface="微软雅黑" panose="020B0503020204020204" charset="-122"/>
                <a:cs typeface="Times New Roman" panose="02020603050405020304" charset="0"/>
              </a:rPr>
              <a:t>CTR 计数器</a:t>
            </a:r>
            <a:endParaRPr lang="zh-CN" altLang="en-US" b="0" i="0" dirty="0">
              <a:solidFill>
                <a:srgbClr val="000000"/>
              </a:solidFill>
              <a:latin typeface="Times New Roman" panose="02020603050405020304" charset="0"/>
              <a:ea typeface="微软雅黑" panose="020B0503020204020204" charset="-122"/>
              <a:cs typeface="Times New Roman" panose="02020603050405020304" charset="0"/>
            </a:endParaRPr>
          </a:p>
          <a:p>
            <a:pPr indent="0" algn="ctr" fontAlgn="auto">
              <a:lnSpc>
                <a:spcPct val="100000"/>
              </a:lnSpc>
              <a:buNone/>
            </a:pP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C</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M</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000000"/>
                </a:solidFill>
                <a:latin typeface="Times New Roman" panose="02020603050405020304" charset="0"/>
                <a:ea typeface="微软雅黑" panose="020B0503020204020204" charset="-122"/>
                <a:cs typeface="Times New Roman" panose="02020603050405020304" charset="0"/>
              </a:rPr>
              <a:t>E</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K</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(ctr</a:t>
            </a:r>
            <a:r>
              <a:rPr lang="zh-CN" altLang="en-US" b="0" i="1" baseline="-25000" dirty="0">
                <a:solidFill>
                  <a:srgbClr val="00000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000000"/>
                </a:solidFill>
                <a:latin typeface="Times New Roman" panose="02020603050405020304" charset="0"/>
                <a:ea typeface="微软雅黑" panose="020B0503020204020204" charset="-122"/>
                <a:cs typeface="Times New Roman" panose="02020603050405020304" charset="0"/>
              </a:rPr>
              <a:t>)</a:t>
            </a:r>
          </a:p>
        </p:txBody>
      </p:sp>
      <p:sp>
        <p:nvSpPr>
          <p:cNvPr id="33" name="Shape 15"/>
          <p:cNvSpPr/>
          <p:nvPr>
            <p:custDataLst>
              <p:tags r:id="rId22"/>
            </p:custDataLst>
          </p:nvPr>
        </p:nvSpPr>
        <p:spPr>
          <a:xfrm>
            <a:off x="4988560" y="2468245"/>
            <a:ext cx="2240280" cy="442595"/>
          </a:xfrm>
          <a:prstGeom prst="roundRect">
            <a:avLst>
              <a:gd name="adj" fmla="val 12903"/>
            </a:avLst>
          </a:prstGeom>
          <a:solidFill>
            <a:srgbClr val="F9EEEE"/>
          </a:solidFill>
          <a:ln w="12700">
            <a:solidFill>
              <a:srgbClr val="B75A5F"/>
            </a:solidFill>
            <a:prstDash val="solid"/>
          </a:ln>
          <a:effectLst>
            <a:outerShdw blurRad="161290000" dist="645160000" algn="bl" rotWithShape="0">
              <a:srgbClr val="999999">
                <a:alpha val="0"/>
              </a:srgbClr>
            </a:outerShdw>
          </a:effectLst>
        </p:spPr>
        <p:txBody>
          <a:bodyPr/>
          <a:lstStyle/>
          <a:p>
            <a:pPr algn="ctr"/>
            <a:r>
              <a:rPr lang="zh-CN" altLang="en-US" sz="1800" b="1" i="0" dirty="0">
                <a:solidFill>
                  <a:srgbClr val="2D2D2D"/>
                </a:solidFill>
                <a:latin typeface="Times New Roman" panose="02020603050405020304" charset="0"/>
                <a:ea typeface="微软雅黑" panose="020B0503020204020204" charset="-122"/>
                <a:cs typeface="Times New Roman" panose="02020603050405020304" charset="0"/>
              </a:rPr>
              <a:t>工作模式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ECB：各个分组独立加密</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11"/>
          <p:cNvSpPr/>
          <p:nvPr/>
        </p:nvSpPr>
        <p:spPr>
          <a:xfrm>
            <a:off x="502920"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12"/>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ECB</a:t>
            </a:r>
          </a:p>
        </p:txBody>
      </p:sp>
      <p:sp>
        <p:nvSpPr>
          <p:cNvPr id="9" name="内容底色_5"/>
          <p:cNvSpPr/>
          <p:nvPr/>
        </p:nvSpPr>
        <p:spPr>
          <a:xfrm>
            <a:off x="2770632"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6"/>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CBC</a:t>
            </a:r>
          </a:p>
        </p:txBody>
      </p:sp>
      <p:sp>
        <p:nvSpPr>
          <p:cNvPr id="11" name="内容底色_5"/>
          <p:cNvSpPr/>
          <p:nvPr/>
        </p:nvSpPr>
        <p:spPr>
          <a:xfrm>
            <a:off x="5038344"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6"/>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a:t>
            </a:r>
          </a:p>
        </p:txBody>
      </p:sp>
      <p:sp>
        <p:nvSpPr>
          <p:cNvPr id="13" name="内容底色_5"/>
          <p:cNvSpPr/>
          <p:nvPr/>
        </p:nvSpPr>
        <p:spPr>
          <a:xfrm>
            <a:off x="7306056"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6"/>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a:t>
            </a:r>
          </a:p>
        </p:txBody>
      </p:sp>
      <p:sp>
        <p:nvSpPr>
          <p:cNvPr id="15" name="内容底色_5"/>
          <p:cNvSpPr/>
          <p:nvPr/>
        </p:nvSpPr>
        <p:spPr>
          <a:xfrm>
            <a:off x="9573768"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6"/>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p>
        </p:txBody>
      </p:sp>
      <p:sp>
        <p:nvSpPr>
          <p:cNvPr id="17" name="TextBox 23"/>
          <p:cNvSpPr txBox="1"/>
          <p:nvPr/>
        </p:nvSpPr>
        <p:spPr>
          <a:xfrm>
            <a:off x="685800" y="1874520"/>
            <a:ext cx="10817352" cy="713232"/>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电码本（Electronic Codebook，ECB）模式：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每个明文分组使用同一密钥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独立加密。下图中第 1 组与第 3 组明文相同，对应的密文也相同。</a:t>
            </a:r>
          </a:p>
        </p:txBody>
      </p:sp>
      <p:sp>
        <p:nvSpPr>
          <p:cNvPr id="18" name="图形_底色"/>
          <p:cNvSpPr/>
          <p:nvPr/>
        </p:nvSpPr>
        <p:spPr>
          <a:xfrm>
            <a:off x="594360" y="2651760"/>
            <a:ext cx="11018520" cy="221284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9" name="Rectangle 47"/>
          <p:cNvSpPr/>
          <p:nvPr/>
        </p:nvSpPr>
        <p:spPr>
          <a:xfrm>
            <a:off x="594360" y="4983480"/>
            <a:ext cx="11018520" cy="50292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解密：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20"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特点：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相同的明文分组始终加密为相同的密文分组；加解密均可并行，但会暴露明文中的重复结构。末组不足一个分组时需按约定填充。</a:t>
            </a:r>
          </a:p>
        </p:txBody>
      </p:sp>
      <p:sp>
        <p:nvSpPr>
          <p:cNvPr id="21" name="Rectangle 14"/>
          <p:cNvSpPr/>
          <p:nvPr/>
        </p:nvSpPr>
        <p:spPr>
          <a:xfrm>
            <a:off x="1645920" y="2761488"/>
            <a:ext cx="14630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2" name="Connector 11"/>
          <p:cNvCxnSpPr/>
          <p:nvPr/>
        </p:nvCxnSpPr>
        <p:spPr>
          <a:xfrm>
            <a:off x="2377440" y="3163824"/>
            <a:ext cx="0" cy="384048"/>
          </a:xfrm>
          <a:prstGeom prst="line">
            <a:avLst/>
          </a:prstGeom>
          <a:ln w="15875">
            <a:solidFill>
              <a:srgbClr val="404040"/>
            </a:solidFill>
            <a:tailEnd type="triangle" w="med" len="med"/>
          </a:ln>
        </p:spPr>
      </p:cxnSp>
      <p:sp>
        <p:nvSpPr>
          <p:cNvPr id="23" name="Rectangle 16"/>
          <p:cNvSpPr/>
          <p:nvPr/>
        </p:nvSpPr>
        <p:spPr>
          <a:xfrm>
            <a:off x="1828800" y="3547872"/>
            <a:ext cx="1097280" cy="402336"/>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4" name="Connector 11"/>
          <p:cNvCxnSpPr/>
          <p:nvPr/>
        </p:nvCxnSpPr>
        <p:spPr>
          <a:xfrm>
            <a:off x="2377440" y="3950208"/>
            <a:ext cx="0" cy="384048"/>
          </a:xfrm>
          <a:prstGeom prst="line">
            <a:avLst/>
          </a:prstGeom>
          <a:ln w="15875">
            <a:solidFill>
              <a:srgbClr val="404040"/>
            </a:solidFill>
            <a:tailEnd type="triangle" w="med" len="med"/>
          </a:ln>
        </p:spPr>
      </p:cxnSp>
      <p:sp>
        <p:nvSpPr>
          <p:cNvPr id="25" name="Rectangle 14"/>
          <p:cNvSpPr/>
          <p:nvPr/>
        </p:nvSpPr>
        <p:spPr>
          <a:xfrm>
            <a:off x="1645920" y="4334256"/>
            <a:ext cx="14630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6" name="Rectangle 15"/>
          <p:cNvSpPr/>
          <p:nvPr/>
        </p:nvSpPr>
        <p:spPr>
          <a:xfrm>
            <a:off x="5376672" y="2761488"/>
            <a:ext cx="1463040"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7" name="Connector 11"/>
          <p:cNvCxnSpPr/>
          <p:nvPr/>
        </p:nvCxnSpPr>
        <p:spPr>
          <a:xfrm>
            <a:off x="6108192" y="3163824"/>
            <a:ext cx="0" cy="384048"/>
          </a:xfrm>
          <a:prstGeom prst="line">
            <a:avLst/>
          </a:prstGeom>
          <a:ln w="15875">
            <a:solidFill>
              <a:srgbClr val="404040"/>
            </a:solidFill>
            <a:tailEnd type="triangle" w="med" len="med"/>
          </a:ln>
        </p:spPr>
      </p:cxnSp>
      <p:sp>
        <p:nvSpPr>
          <p:cNvPr id="28" name="Rectangle 16"/>
          <p:cNvSpPr/>
          <p:nvPr/>
        </p:nvSpPr>
        <p:spPr>
          <a:xfrm>
            <a:off x="5559552" y="3547872"/>
            <a:ext cx="1097280" cy="402336"/>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9" name="Connector 11"/>
          <p:cNvCxnSpPr/>
          <p:nvPr/>
        </p:nvCxnSpPr>
        <p:spPr>
          <a:xfrm>
            <a:off x="6108192" y="3950208"/>
            <a:ext cx="0" cy="384048"/>
          </a:xfrm>
          <a:prstGeom prst="line">
            <a:avLst/>
          </a:prstGeom>
          <a:ln w="15875">
            <a:solidFill>
              <a:srgbClr val="404040"/>
            </a:solidFill>
            <a:tailEnd type="triangle" w="med" len="med"/>
          </a:ln>
        </p:spPr>
      </p:cxnSp>
      <p:sp>
        <p:nvSpPr>
          <p:cNvPr id="30" name="Rectangle 15"/>
          <p:cNvSpPr/>
          <p:nvPr/>
        </p:nvSpPr>
        <p:spPr>
          <a:xfrm>
            <a:off x="5376672" y="4334256"/>
            <a:ext cx="1463040"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1" name="Rectangle 14"/>
          <p:cNvSpPr/>
          <p:nvPr/>
        </p:nvSpPr>
        <p:spPr>
          <a:xfrm>
            <a:off x="9098280" y="2761488"/>
            <a:ext cx="14630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2" name="Connector 11"/>
          <p:cNvCxnSpPr/>
          <p:nvPr/>
        </p:nvCxnSpPr>
        <p:spPr>
          <a:xfrm>
            <a:off x="9829800" y="3163824"/>
            <a:ext cx="0" cy="384048"/>
          </a:xfrm>
          <a:prstGeom prst="line">
            <a:avLst/>
          </a:prstGeom>
          <a:ln w="15875">
            <a:solidFill>
              <a:srgbClr val="404040"/>
            </a:solidFill>
            <a:tailEnd type="triangle" w="med" len="med"/>
          </a:ln>
        </p:spPr>
      </p:cxnSp>
      <p:sp>
        <p:nvSpPr>
          <p:cNvPr id="33" name="Rectangle 16"/>
          <p:cNvSpPr/>
          <p:nvPr/>
        </p:nvSpPr>
        <p:spPr>
          <a:xfrm>
            <a:off x="9281160" y="3547872"/>
            <a:ext cx="1097280" cy="402336"/>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4" name="Connector 11"/>
          <p:cNvCxnSpPr/>
          <p:nvPr/>
        </p:nvCxnSpPr>
        <p:spPr>
          <a:xfrm>
            <a:off x="9829800" y="3950208"/>
            <a:ext cx="0" cy="384048"/>
          </a:xfrm>
          <a:prstGeom prst="line">
            <a:avLst/>
          </a:prstGeom>
          <a:ln w="15875">
            <a:solidFill>
              <a:srgbClr val="404040"/>
            </a:solidFill>
            <a:tailEnd type="triangle" w="med" len="med"/>
          </a:ln>
        </p:spPr>
      </p:cxnSp>
      <p:sp>
        <p:nvSpPr>
          <p:cNvPr id="35" name="Rectangle 14"/>
          <p:cNvSpPr/>
          <p:nvPr/>
        </p:nvSpPr>
        <p:spPr>
          <a:xfrm>
            <a:off x="9098280" y="4334256"/>
            <a:ext cx="14630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ECB：相同明文分组的泄露问题</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11"/>
          <p:cNvSpPr/>
          <p:nvPr/>
        </p:nvSpPr>
        <p:spPr>
          <a:xfrm>
            <a:off x="502920"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12"/>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ECB</a:t>
            </a:r>
          </a:p>
        </p:txBody>
      </p:sp>
      <p:sp>
        <p:nvSpPr>
          <p:cNvPr id="9" name="内容底色_5"/>
          <p:cNvSpPr/>
          <p:nvPr/>
        </p:nvSpPr>
        <p:spPr>
          <a:xfrm>
            <a:off x="2770632"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6"/>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CBC</a:t>
            </a:r>
          </a:p>
        </p:txBody>
      </p:sp>
      <p:sp>
        <p:nvSpPr>
          <p:cNvPr id="11" name="内容底色_5"/>
          <p:cNvSpPr/>
          <p:nvPr/>
        </p:nvSpPr>
        <p:spPr>
          <a:xfrm>
            <a:off x="5038344"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6"/>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a:t>
            </a:r>
          </a:p>
        </p:txBody>
      </p:sp>
      <p:sp>
        <p:nvSpPr>
          <p:cNvPr id="13" name="内容底色_5"/>
          <p:cNvSpPr/>
          <p:nvPr/>
        </p:nvSpPr>
        <p:spPr>
          <a:xfrm>
            <a:off x="7306056"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6"/>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a:t>
            </a:r>
          </a:p>
        </p:txBody>
      </p:sp>
      <p:sp>
        <p:nvSpPr>
          <p:cNvPr id="15" name="内容底色_5"/>
          <p:cNvSpPr/>
          <p:nvPr/>
        </p:nvSpPr>
        <p:spPr>
          <a:xfrm>
            <a:off x="9573768"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6"/>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p>
        </p:txBody>
      </p:sp>
      <p:sp>
        <p:nvSpPr>
          <p:cNvPr id="17" name="图形_底色"/>
          <p:cNvSpPr/>
          <p:nvPr/>
        </p:nvSpPr>
        <p:spPr>
          <a:xfrm>
            <a:off x="594360" y="1920240"/>
            <a:ext cx="3520440" cy="251460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8" name="Rectangle 9"/>
          <p:cNvSpPr/>
          <p:nvPr/>
        </p:nvSpPr>
        <p:spPr>
          <a:xfrm>
            <a:off x="125730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9" name="Rectangle 9"/>
          <p:cNvSpPr/>
          <p:nvPr/>
        </p:nvSpPr>
        <p:spPr>
          <a:xfrm>
            <a:off x="153162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0" name="Rectangle 9"/>
          <p:cNvSpPr/>
          <p:nvPr/>
        </p:nvSpPr>
        <p:spPr>
          <a:xfrm>
            <a:off x="180594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1" name="Rectangle 9"/>
          <p:cNvSpPr/>
          <p:nvPr/>
        </p:nvSpPr>
        <p:spPr>
          <a:xfrm>
            <a:off x="208026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2" name="Rectangle 9"/>
          <p:cNvSpPr/>
          <p:nvPr/>
        </p:nvSpPr>
        <p:spPr>
          <a:xfrm>
            <a:off x="235458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3" name="Rectangle 9"/>
          <p:cNvSpPr/>
          <p:nvPr/>
        </p:nvSpPr>
        <p:spPr>
          <a:xfrm>
            <a:off x="262890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4" name="Rectangle 9"/>
          <p:cNvSpPr/>
          <p:nvPr/>
        </p:nvSpPr>
        <p:spPr>
          <a:xfrm>
            <a:off x="290322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5" name="Rectangle 9"/>
          <p:cNvSpPr/>
          <p:nvPr/>
        </p:nvSpPr>
        <p:spPr>
          <a:xfrm>
            <a:off x="317754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6" name="Rectangle 9"/>
          <p:cNvSpPr/>
          <p:nvPr/>
        </p:nvSpPr>
        <p:spPr>
          <a:xfrm>
            <a:off x="125730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7" name="Rectangle 9"/>
          <p:cNvSpPr/>
          <p:nvPr/>
        </p:nvSpPr>
        <p:spPr>
          <a:xfrm>
            <a:off x="153162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8" name="Rectangle 9"/>
          <p:cNvSpPr/>
          <p:nvPr/>
        </p:nvSpPr>
        <p:spPr>
          <a:xfrm>
            <a:off x="180594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9" name="Rectangle 9"/>
          <p:cNvSpPr/>
          <p:nvPr/>
        </p:nvSpPr>
        <p:spPr>
          <a:xfrm>
            <a:off x="208026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0" name="Rectangle 9"/>
          <p:cNvSpPr/>
          <p:nvPr/>
        </p:nvSpPr>
        <p:spPr>
          <a:xfrm>
            <a:off x="235458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1" name="Rectangle 9"/>
          <p:cNvSpPr/>
          <p:nvPr/>
        </p:nvSpPr>
        <p:spPr>
          <a:xfrm>
            <a:off x="262890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2" name="Rectangle 9"/>
          <p:cNvSpPr/>
          <p:nvPr/>
        </p:nvSpPr>
        <p:spPr>
          <a:xfrm>
            <a:off x="290322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3" name="Rectangle 9"/>
          <p:cNvSpPr/>
          <p:nvPr/>
        </p:nvSpPr>
        <p:spPr>
          <a:xfrm>
            <a:off x="317754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4" name="Rectangle 9"/>
          <p:cNvSpPr/>
          <p:nvPr/>
        </p:nvSpPr>
        <p:spPr>
          <a:xfrm>
            <a:off x="125730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5" name="Rectangle 9"/>
          <p:cNvSpPr/>
          <p:nvPr/>
        </p:nvSpPr>
        <p:spPr>
          <a:xfrm>
            <a:off x="153162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6" name="Rectangle 9"/>
          <p:cNvSpPr/>
          <p:nvPr/>
        </p:nvSpPr>
        <p:spPr>
          <a:xfrm>
            <a:off x="180594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7" name="Rectangle 9"/>
          <p:cNvSpPr/>
          <p:nvPr/>
        </p:nvSpPr>
        <p:spPr>
          <a:xfrm>
            <a:off x="208026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8" name="Rectangle 9"/>
          <p:cNvSpPr/>
          <p:nvPr/>
        </p:nvSpPr>
        <p:spPr>
          <a:xfrm>
            <a:off x="235458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9" name="Rectangle 9"/>
          <p:cNvSpPr/>
          <p:nvPr/>
        </p:nvSpPr>
        <p:spPr>
          <a:xfrm>
            <a:off x="262890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0" name="Rectangle 9"/>
          <p:cNvSpPr/>
          <p:nvPr/>
        </p:nvSpPr>
        <p:spPr>
          <a:xfrm>
            <a:off x="290322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1" name="Rectangle 9"/>
          <p:cNvSpPr/>
          <p:nvPr/>
        </p:nvSpPr>
        <p:spPr>
          <a:xfrm>
            <a:off x="317754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2" name="Rectangle 9"/>
          <p:cNvSpPr/>
          <p:nvPr/>
        </p:nvSpPr>
        <p:spPr>
          <a:xfrm>
            <a:off x="1257300" y="288036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3" name="Rectangle 9"/>
          <p:cNvSpPr/>
          <p:nvPr/>
        </p:nvSpPr>
        <p:spPr>
          <a:xfrm>
            <a:off x="153162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4" name="Rectangle 9"/>
          <p:cNvSpPr/>
          <p:nvPr/>
        </p:nvSpPr>
        <p:spPr>
          <a:xfrm>
            <a:off x="180594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5" name="Rectangle 9"/>
          <p:cNvSpPr/>
          <p:nvPr/>
        </p:nvSpPr>
        <p:spPr>
          <a:xfrm>
            <a:off x="208026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6" name="Rectangle 9"/>
          <p:cNvSpPr/>
          <p:nvPr/>
        </p:nvSpPr>
        <p:spPr>
          <a:xfrm>
            <a:off x="235458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7" name="Rectangle 9"/>
          <p:cNvSpPr/>
          <p:nvPr/>
        </p:nvSpPr>
        <p:spPr>
          <a:xfrm>
            <a:off x="262890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8" name="Rectangle 9"/>
          <p:cNvSpPr/>
          <p:nvPr/>
        </p:nvSpPr>
        <p:spPr>
          <a:xfrm>
            <a:off x="290322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9" name="Rectangle 9"/>
          <p:cNvSpPr/>
          <p:nvPr/>
        </p:nvSpPr>
        <p:spPr>
          <a:xfrm>
            <a:off x="3177540" y="288036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0" name="Rectangle 9"/>
          <p:cNvSpPr/>
          <p:nvPr/>
        </p:nvSpPr>
        <p:spPr>
          <a:xfrm>
            <a:off x="1257300" y="315468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1" name="Rectangle 9"/>
          <p:cNvSpPr/>
          <p:nvPr/>
        </p:nvSpPr>
        <p:spPr>
          <a:xfrm>
            <a:off x="1531620" y="315468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2" name="Rectangle 9"/>
          <p:cNvSpPr/>
          <p:nvPr/>
        </p:nvSpPr>
        <p:spPr>
          <a:xfrm>
            <a:off x="180594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3" name="Rectangle 9"/>
          <p:cNvSpPr/>
          <p:nvPr/>
        </p:nvSpPr>
        <p:spPr>
          <a:xfrm>
            <a:off x="208026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4" name="Rectangle 9"/>
          <p:cNvSpPr/>
          <p:nvPr/>
        </p:nvSpPr>
        <p:spPr>
          <a:xfrm>
            <a:off x="235458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5" name="Rectangle 9"/>
          <p:cNvSpPr/>
          <p:nvPr/>
        </p:nvSpPr>
        <p:spPr>
          <a:xfrm>
            <a:off x="262890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6" name="Rectangle 9"/>
          <p:cNvSpPr/>
          <p:nvPr/>
        </p:nvSpPr>
        <p:spPr>
          <a:xfrm>
            <a:off x="2903220" y="315468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7" name="Rectangle 9"/>
          <p:cNvSpPr/>
          <p:nvPr/>
        </p:nvSpPr>
        <p:spPr>
          <a:xfrm>
            <a:off x="3177540" y="315468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8" name="Rectangle 9"/>
          <p:cNvSpPr/>
          <p:nvPr/>
        </p:nvSpPr>
        <p:spPr>
          <a:xfrm>
            <a:off x="125730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59" name="Rectangle 9"/>
          <p:cNvSpPr/>
          <p:nvPr/>
        </p:nvSpPr>
        <p:spPr>
          <a:xfrm>
            <a:off x="153162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0" name="Rectangle 9"/>
          <p:cNvSpPr/>
          <p:nvPr/>
        </p:nvSpPr>
        <p:spPr>
          <a:xfrm>
            <a:off x="180594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1" name="Rectangle 9"/>
          <p:cNvSpPr/>
          <p:nvPr/>
        </p:nvSpPr>
        <p:spPr>
          <a:xfrm>
            <a:off x="208026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2" name="Rectangle 9"/>
          <p:cNvSpPr/>
          <p:nvPr/>
        </p:nvSpPr>
        <p:spPr>
          <a:xfrm>
            <a:off x="235458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3" name="Rectangle 9"/>
          <p:cNvSpPr/>
          <p:nvPr/>
        </p:nvSpPr>
        <p:spPr>
          <a:xfrm>
            <a:off x="262890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4" name="Rectangle 9"/>
          <p:cNvSpPr/>
          <p:nvPr/>
        </p:nvSpPr>
        <p:spPr>
          <a:xfrm>
            <a:off x="290322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5" name="Rectangle 9"/>
          <p:cNvSpPr/>
          <p:nvPr/>
        </p:nvSpPr>
        <p:spPr>
          <a:xfrm>
            <a:off x="3177540" y="34290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6" name="TextBox 23"/>
          <p:cNvSpPr txBox="1"/>
          <p:nvPr/>
        </p:nvSpPr>
        <p:spPr>
          <a:xfrm>
            <a:off x="685800" y="3840480"/>
            <a:ext cx="3337560" cy="41148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明文图像（每格代表一个分组）</a:t>
            </a:r>
          </a:p>
        </p:txBody>
      </p:sp>
      <p:sp>
        <p:nvSpPr>
          <p:cNvPr id="67" name="图形_底色"/>
          <p:cNvSpPr/>
          <p:nvPr/>
        </p:nvSpPr>
        <p:spPr>
          <a:xfrm>
            <a:off x="4343400" y="1920240"/>
            <a:ext cx="3520440" cy="251460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68" name="Rectangle 9"/>
          <p:cNvSpPr/>
          <p:nvPr/>
        </p:nvSpPr>
        <p:spPr>
          <a:xfrm>
            <a:off x="500634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69" name="Rectangle 9"/>
          <p:cNvSpPr/>
          <p:nvPr/>
        </p:nvSpPr>
        <p:spPr>
          <a:xfrm>
            <a:off x="528066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0" name="Rectangle 9"/>
          <p:cNvSpPr/>
          <p:nvPr/>
        </p:nvSpPr>
        <p:spPr>
          <a:xfrm>
            <a:off x="555498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1" name="Rectangle 9"/>
          <p:cNvSpPr/>
          <p:nvPr/>
        </p:nvSpPr>
        <p:spPr>
          <a:xfrm>
            <a:off x="582930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2" name="Rectangle 9"/>
          <p:cNvSpPr/>
          <p:nvPr/>
        </p:nvSpPr>
        <p:spPr>
          <a:xfrm>
            <a:off x="610362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3" name="Rectangle 9"/>
          <p:cNvSpPr/>
          <p:nvPr/>
        </p:nvSpPr>
        <p:spPr>
          <a:xfrm>
            <a:off x="637794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4" name="Rectangle 9"/>
          <p:cNvSpPr/>
          <p:nvPr/>
        </p:nvSpPr>
        <p:spPr>
          <a:xfrm>
            <a:off x="665226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5" name="Rectangle 9"/>
          <p:cNvSpPr/>
          <p:nvPr/>
        </p:nvSpPr>
        <p:spPr>
          <a:xfrm>
            <a:off x="692658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6" name="Rectangle 9"/>
          <p:cNvSpPr/>
          <p:nvPr/>
        </p:nvSpPr>
        <p:spPr>
          <a:xfrm>
            <a:off x="500634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7" name="Rectangle 9"/>
          <p:cNvSpPr/>
          <p:nvPr/>
        </p:nvSpPr>
        <p:spPr>
          <a:xfrm>
            <a:off x="5280660" y="233172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8" name="Rectangle 9"/>
          <p:cNvSpPr/>
          <p:nvPr/>
        </p:nvSpPr>
        <p:spPr>
          <a:xfrm>
            <a:off x="5554980" y="233172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79" name="Rectangle 9"/>
          <p:cNvSpPr/>
          <p:nvPr/>
        </p:nvSpPr>
        <p:spPr>
          <a:xfrm>
            <a:off x="582930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0" name="Rectangle 9"/>
          <p:cNvSpPr/>
          <p:nvPr/>
        </p:nvSpPr>
        <p:spPr>
          <a:xfrm>
            <a:off x="610362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1" name="Rectangle 9"/>
          <p:cNvSpPr/>
          <p:nvPr/>
        </p:nvSpPr>
        <p:spPr>
          <a:xfrm>
            <a:off x="6377940" y="233172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2" name="Rectangle 9"/>
          <p:cNvSpPr/>
          <p:nvPr/>
        </p:nvSpPr>
        <p:spPr>
          <a:xfrm>
            <a:off x="6652260" y="233172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3" name="Rectangle 9"/>
          <p:cNvSpPr/>
          <p:nvPr/>
        </p:nvSpPr>
        <p:spPr>
          <a:xfrm>
            <a:off x="692658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4" name="Rectangle 9"/>
          <p:cNvSpPr/>
          <p:nvPr/>
        </p:nvSpPr>
        <p:spPr>
          <a:xfrm>
            <a:off x="500634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5" name="Rectangle 9"/>
          <p:cNvSpPr/>
          <p:nvPr/>
        </p:nvSpPr>
        <p:spPr>
          <a:xfrm>
            <a:off x="528066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6" name="Rectangle 9"/>
          <p:cNvSpPr/>
          <p:nvPr/>
        </p:nvSpPr>
        <p:spPr>
          <a:xfrm>
            <a:off x="555498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7" name="Rectangle 9"/>
          <p:cNvSpPr/>
          <p:nvPr/>
        </p:nvSpPr>
        <p:spPr>
          <a:xfrm>
            <a:off x="582930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8" name="Rectangle 9"/>
          <p:cNvSpPr/>
          <p:nvPr/>
        </p:nvSpPr>
        <p:spPr>
          <a:xfrm>
            <a:off x="610362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89" name="Rectangle 9"/>
          <p:cNvSpPr/>
          <p:nvPr/>
        </p:nvSpPr>
        <p:spPr>
          <a:xfrm>
            <a:off x="637794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0" name="Rectangle 9"/>
          <p:cNvSpPr/>
          <p:nvPr/>
        </p:nvSpPr>
        <p:spPr>
          <a:xfrm>
            <a:off x="665226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1" name="Rectangle 9"/>
          <p:cNvSpPr/>
          <p:nvPr/>
        </p:nvSpPr>
        <p:spPr>
          <a:xfrm>
            <a:off x="692658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2" name="Rectangle 9"/>
          <p:cNvSpPr/>
          <p:nvPr/>
        </p:nvSpPr>
        <p:spPr>
          <a:xfrm>
            <a:off x="5006340" y="288036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3" name="Rectangle 9"/>
          <p:cNvSpPr/>
          <p:nvPr/>
        </p:nvSpPr>
        <p:spPr>
          <a:xfrm>
            <a:off x="528066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4" name="Rectangle 9"/>
          <p:cNvSpPr/>
          <p:nvPr/>
        </p:nvSpPr>
        <p:spPr>
          <a:xfrm>
            <a:off x="555498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5" name="Rectangle 9"/>
          <p:cNvSpPr/>
          <p:nvPr/>
        </p:nvSpPr>
        <p:spPr>
          <a:xfrm>
            <a:off x="582930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6" name="Rectangle 9"/>
          <p:cNvSpPr/>
          <p:nvPr/>
        </p:nvSpPr>
        <p:spPr>
          <a:xfrm>
            <a:off x="610362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7" name="Rectangle 9"/>
          <p:cNvSpPr/>
          <p:nvPr/>
        </p:nvSpPr>
        <p:spPr>
          <a:xfrm>
            <a:off x="637794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8" name="Rectangle 9"/>
          <p:cNvSpPr/>
          <p:nvPr/>
        </p:nvSpPr>
        <p:spPr>
          <a:xfrm>
            <a:off x="665226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99" name="Rectangle 9"/>
          <p:cNvSpPr/>
          <p:nvPr/>
        </p:nvSpPr>
        <p:spPr>
          <a:xfrm>
            <a:off x="6926580" y="288036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0" name="Rectangle 9"/>
          <p:cNvSpPr/>
          <p:nvPr/>
        </p:nvSpPr>
        <p:spPr>
          <a:xfrm>
            <a:off x="500634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1" name="Rectangle 9"/>
          <p:cNvSpPr/>
          <p:nvPr/>
        </p:nvSpPr>
        <p:spPr>
          <a:xfrm>
            <a:off x="528066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2" name="Rectangle 9"/>
          <p:cNvSpPr/>
          <p:nvPr/>
        </p:nvSpPr>
        <p:spPr>
          <a:xfrm>
            <a:off x="555498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3" name="Rectangle 9"/>
          <p:cNvSpPr/>
          <p:nvPr/>
        </p:nvSpPr>
        <p:spPr>
          <a:xfrm>
            <a:off x="582930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4" name="Rectangle 9"/>
          <p:cNvSpPr/>
          <p:nvPr/>
        </p:nvSpPr>
        <p:spPr>
          <a:xfrm>
            <a:off x="610362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5" name="Rectangle 9"/>
          <p:cNvSpPr/>
          <p:nvPr/>
        </p:nvSpPr>
        <p:spPr>
          <a:xfrm>
            <a:off x="637794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6" name="Rectangle 9"/>
          <p:cNvSpPr/>
          <p:nvPr/>
        </p:nvSpPr>
        <p:spPr>
          <a:xfrm>
            <a:off x="665226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7" name="Rectangle 9"/>
          <p:cNvSpPr/>
          <p:nvPr/>
        </p:nvSpPr>
        <p:spPr>
          <a:xfrm>
            <a:off x="692658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8" name="Rectangle 9"/>
          <p:cNvSpPr/>
          <p:nvPr/>
        </p:nvSpPr>
        <p:spPr>
          <a:xfrm>
            <a:off x="500634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09" name="Rectangle 9"/>
          <p:cNvSpPr/>
          <p:nvPr/>
        </p:nvSpPr>
        <p:spPr>
          <a:xfrm>
            <a:off x="528066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0" name="Rectangle 9"/>
          <p:cNvSpPr/>
          <p:nvPr/>
        </p:nvSpPr>
        <p:spPr>
          <a:xfrm>
            <a:off x="555498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1" name="Rectangle 9"/>
          <p:cNvSpPr/>
          <p:nvPr/>
        </p:nvSpPr>
        <p:spPr>
          <a:xfrm>
            <a:off x="5829300" y="342900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2" name="Rectangle 9"/>
          <p:cNvSpPr/>
          <p:nvPr/>
        </p:nvSpPr>
        <p:spPr>
          <a:xfrm>
            <a:off x="6103620" y="342900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3" name="Rectangle 9"/>
          <p:cNvSpPr/>
          <p:nvPr/>
        </p:nvSpPr>
        <p:spPr>
          <a:xfrm>
            <a:off x="637794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4" name="Rectangle 9"/>
          <p:cNvSpPr/>
          <p:nvPr/>
        </p:nvSpPr>
        <p:spPr>
          <a:xfrm>
            <a:off x="665226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5" name="Rectangle 9"/>
          <p:cNvSpPr/>
          <p:nvPr/>
        </p:nvSpPr>
        <p:spPr>
          <a:xfrm>
            <a:off x="692658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6" name="TextBox 23"/>
          <p:cNvSpPr txBox="1"/>
          <p:nvPr/>
        </p:nvSpPr>
        <p:spPr>
          <a:xfrm>
            <a:off x="4434840" y="3840480"/>
            <a:ext cx="3337560" cy="41148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ECB 加密后：轮廓仍清晰可见</a:t>
            </a:r>
          </a:p>
        </p:txBody>
      </p:sp>
      <p:sp>
        <p:nvSpPr>
          <p:cNvPr id="117" name="图形_底色"/>
          <p:cNvSpPr/>
          <p:nvPr/>
        </p:nvSpPr>
        <p:spPr>
          <a:xfrm>
            <a:off x="8092440" y="1920240"/>
            <a:ext cx="3520440" cy="251460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18" name="Rectangle 9"/>
          <p:cNvSpPr/>
          <p:nvPr/>
        </p:nvSpPr>
        <p:spPr>
          <a:xfrm>
            <a:off x="8755380" y="2057400"/>
            <a:ext cx="274320" cy="274320"/>
          </a:xfrm>
          <a:prstGeom prst="rect">
            <a:avLst/>
          </a:prstGeom>
          <a:solidFill>
            <a:srgbClr val="F3DFD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9" name="Rectangle 9"/>
          <p:cNvSpPr/>
          <p:nvPr/>
        </p:nvSpPr>
        <p:spPr>
          <a:xfrm>
            <a:off x="9029700" y="205740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0" name="Rectangle 9"/>
          <p:cNvSpPr/>
          <p:nvPr/>
        </p:nvSpPr>
        <p:spPr>
          <a:xfrm>
            <a:off x="9304020" y="205740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1" name="Rectangle 9"/>
          <p:cNvSpPr/>
          <p:nvPr/>
        </p:nvSpPr>
        <p:spPr>
          <a:xfrm>
            <a:off x="957834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2" name="Rectangle 9"/>
          <p:cNvSpPr/>
          <p:nvPr/>
        </p:nvSpPr>
        <p:spPr>
          <a:xfrm>
            <a:off x="985266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3" name="Rectangle 9"/>
          <p:cNvSpPr/>
          <p:nvPr/>
        </p:nvSpPr>
        <p:spPr>
          <a:xfrm>
            <a:off x="10126980" y="20574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4" name="Rectangle 9"/>
          <p:cNvSpPr/>
          <p:nvPr/>
        </p:nvSpPr>
        <p:spPr>
          <a:xfrm>
            <a:off x="10401300" y="20574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5" name="Rectangle 9"/>
          <p:cNvSpPr/>
          <p:nvPr/>
        </p:nvSpPr>
        <p:spPr>
          <a:xfrm>
            <a:off x="10675620" y="2057400"/>
            <a:ext cx="274320" cy="274320"/>
          </a:xfrm>
          <a:prstGeom prst="rect">
            <a:avLst/>
          </a:prstGeom>
          <a:solidFill>
            <a:srgbClr val="F3DFD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6" name="Rectangle 9"/>
          <p:cNvSpPr/>
          <p:nvPr/>
        </p:nvSpPr>
        <p:spPr>
          <a:xfrm>
            <a:off x="875538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7" name="Rectangle 9"/>
          <p:cNvSpPr/>
          <p:nvPr/>
        </p:nvSpPr>
        <p:spPr>
          <a:xfrm>
            <a:off x="902970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8" name="Rectangle 9"/>
          <p:cNvSpPr/>
          <p:nvPr/>
        </p:nvSpPr>
        <p:spPr>
          <a:xfrm>
            <a:off x="9304020" y="233172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29" name="Rectangle 9"/>
          <p:cNvSpPr/>
          <p:nvPr/>
        </p:nvSpPr>
        <p:spPr>
          <a:xfrm>
            <a:off x="9578340" y="233172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0" name="Rectangle 9"/>
          <p:cNvSpPr/>
          <p:nvPr/>
        </p:nvSpPr>
        <p:spPr>
          <a:xfrm>
            <a:off x="985266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1" name="Rectangle 9"/>
          <p:cNvSpPr/>
          <p:nvPr/>
        </p:nvSpPr>
        <p:spPr>
          <a:xfrm>
            <a:off x="10126980" y="233172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2" name="Rectangle 9"/>
          <p:cNvSpPr/>
          <p:nvPr/>
        </p:nvSpPr>
        <p:spPr>
          <a:xfrm>
            <a:off x="1040130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3" name="Rectangle 9"/>
          <p:cNvSpPr/>
          <p:nvPr/>
        </p:nvSpPr>
        <p:spPr>
          <a:xfrm>
            <a:off x="10675620" y="233172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4" name="Rectangle 9"/>
          <p:cNvSpPr/>
          <p:nvPr/>
        </p:nvSpPr>
        <p:spPr>
          <a:xfrm>
            <a:off x="8755380" y="260604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5" name="Rectangle 9"/>
          <p:cNvSpPr/>
          <p:nvPr/>
        </p:nvSpPr>
        <p:spPr>
          <a:xfrm>
            <a:off x="9029700" y="260604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6" name="Rectangle 9"/>
          <p:cNvSpPr/>
          <p:nvPr/>
        </p:nvSpPr>
        <p:spPr>
          <a:xfrm>
            <a:off x="9304020" y="260604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7" name="Rectangle 9"/>
          <p:cNvSpPr/>
          <p:nvPr/>
        </p:nvSpPr>
        <p:spPr>
          <a:xfrm>
            <a:off x="957834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8" name="Rectangle 9"/>
          <p:cNvSpPr/>
          <p:nvPr/>
        </p:nvSpPr>
        <p:spPr>
          <a:xfrm>
            <a:off x="9852660" y="260604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9" name="Rectangle 9"/>
          <p:cNvSpPr/>
          <p:nvPr/>
        </p:nvSpPr>
        <p:spPr>
          <a:xfrm>
            <a:off x="10126980" y="260604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0" name="Rectangle 9"/>
          <p:cNvSpPr/>
          <p:nvPr/>
        </p:nvSpPr>
        <p:spPr>
          <a:xfrm>
            <a:off x="10401300" y="260604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1" name="Rectangle 9"/>
          <p:cNvSpPr/>
          <p:nvPr/>
        </p:nvSpPr>
        <p:spPr>
          <a:xfrm>
            <a:off x="10675620" y="260604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2" name="Rectangle 9"/>
          <p:cNvSpPr/>
          <p:nvPr/>
        </p:nvSpPr>
        <p:spPr>
          <a:xfrm>
            <a:off x="875538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3" name="Rectangle 9"/>
          <p:cNvSpPr/>
          <p:nvPr/>
        </p:nvSpPr>
        <p:spPr>
          <a:xfrm>
            <a:off x="902970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4" name="Rectangle 9"/>
          <p:cNvSpPr/>
          <p:nvPr/>
        </p:nvSpPr>
        <p:spPr>
          <a:xfrm>
            <a:off x="9304020" y="288036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5" name="Rectangle 9"/>
          <p:cNvSpPr/>
          <p:nvPr/>
        </p:nvSpPr>
        <p:spPr>
          <a:xfrm>
            <a:off x="957834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6" name="Rectangle 9"/>
          <p:cNvSpPr/>
          <p:nvPr/>
        </p:nvSpPr>
        <p:spPr>
          <a:xfrm>
            <a:off x="9852660" y="288036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7" name="Rectangle 9"/>
          <p:cNvSpPr/>
          <p:nvPr/>
        </p:nvSpPr>
        <p:spPr>
          <a:xfrm>
            <a:off x="10126980" y="288036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8" name="Rectangle 9"/>
          <p:cNvSpPr/>
          <p:nvPr/>
        </p:nvSpPr>
        <p:spPr>
          <a:xfrm>
            <a:off x="10401300" y="288036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9" name="Rectangle 9"/>
          <p:cNvSpPr/>
          <p:nvPr/>
        </p:nvSpPr>
        <p:spPr>
          <a:xfrm>
            <a:off x="10675620" y="288036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0" name="Rectangle 9"/>
          <p:cNvSpPr/>
          <p:nvPr/>
        </p:nvSpPr>
        <p:spPr>
          <a:xfrm>
            <a:off x="875538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1" name="Rectangle 9"/>
          <p:cNvSpPr/>
          <p:nvPr/>
        </p:nvSpPr>
        <p:spPr>
          <a:xfrm>
            <a:off x="902970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2" name="Rectangle 9"/>
          <p:cNvSpPr/>
          <p:nvPr/>
        </p:nvSpPr>
        <p:spPr>
          <a:xfrm>
            <a:off x="930402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3" name="Rectangle 9"/>
          <p:cNvSpPr/>
          <p:nvPr/>
        </p:nvSpPr>
        <p:spPr>
          <a:xfrm>
            <a:off x="9578340" y="3154680"/>
            <a:ext cx="274320" cy="274320"/>
          </a:xfrm>
          <a:prstGeom prst="rect">
            <a:avLst/>
          </a:prstGeom>
          <a:solidFill>
            <a:srgbClr val="F3DFD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4" name="Rectangle 9"/>
          <p:cNvSpPr/>
          <p:nvPr/>
        </p:nvSpPr>
        <p:spPr>
          <a:xfrm>
            <a:off x="9852660" y="3154680"/>
            <a:ext cx="274320" cy="27432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5" name="Rectangle 9"/>
          <p:cNvSpPr/>
          <p:nvPr/>
        </p:nvSpPr>
        <p:spPr>
          <a:xfrm>
            <a:off x="10126980" y="315468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6" name="Rectangle 9"/>
          <p:cNvSpPr/>
          <p:nvPr/>
        </p:nvSpPr>
        <p:spPr>
          <a:xfrm>
            <a:off x="10401300" y="315468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7" name="Rectangle 9"/>
          <p:cNvSpPr/>
          <p:nvPr/>
        </p:nvSpPr>
        <p:spPr>
          <a:xfrm>
            <a:off x="10675620" y="315468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8" name="Rectangle 9"/>
          <p:cNvSpPr/>
          <p:nvPr/>
        </p:nvSpPr>
        <p:spPr>
          <a:xfrm>
            <a:off x="875538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9" name="Rectangle 9"/>
          <p:cNvSpPr/>
          <p:nvPr/>
        </p:nvSpPr>
        <p:spPr>
          <a:xfrm>
            <a:off x="9029700" y="3429000"/>
            <a:ext cx="274320" cy="274320"/>
          </a:xfrm>
          <a:prstGeom prst="rect">
            <a:avLst/>
          </a:prstGeom>
          <a:solidFill>
            <a:srgbClr val="F3DFDF"/>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0" name="Rectangle 9"/>
          <p:cNvSpPr/>
          <p:nvPr/>
        </p:nvSpPr>
        <p:spPr>
          <a:xfrm>
            <a:off x="930402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1" name="Rectangle 9"/>
          <p:cNvSpPr/>
          <p:nvPr/>
        </p:nvSpPr>
        <p:spPr>
          <a:xfrm>
            <a:off x="9578340" y="342900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2" name="Rectangle 9"/>
          <p:cNvSpPr/>
          <p:nvPr/>
        </p:nvSpPr>
        <p:spPr>
          <a:xfrm>
            <a:off x="9852660" y="3429000"/>
            <a:ext cx="274320" cy="274320"/>
          </a:xfrm>
          <a:prstGeom prst="rect">
            <a:avLst/>
          </a:prstGeom>
          <a:solidFill>
            <a:srgbClr val="EAEAEA"/>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3" name="Rectangle 9"/>
          <p:cNvSpPr/>
          <p:nvPr/>
        </p:nvSpPr>
        <p:spPr>
          <a:xfrm>
            <a:off x="1012698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4" name="Rectangle 9"/>
          <p:cNvSpPr/>
          <p:nvPr/>
        </p:nvSpPr>
        <p:spPr>
          <a:xfrm>
            <a:off x="10401300" y="3429000"/>
            <a:ext cx="274320" cy="274320"/>
          </a:xfrm>
          <a:prstGeom prst="rect">
            <a:avLst/>
          </a:prstGeom>
          <a:solidFill>
            <a:srgbClr val="C00000"/>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5" name="Rectangle 9"/>
          <p:cNvSpPr/>
          <p:nvPr/>
        </p:nvSpPr>
        <p:spPr>
          <a:xfrm>
            <a:off x="10675620" y="3429000"/>
            <a:ext cx="274320" cy="274320"/>
          </a:xfrm>
          <a:prstGeom prst="rect">
            <a:avLst/>
          </a:prstGeom>
          <a:solidFill>
            <a:srgbClr val="B04841"/>
          </a:solidFill>
          <a:ln w="9525">
            <a:solidFill>
              <a:srgbClr val="7F7F7F"/>
            </a:solidFill>
          </a:ln>
        </p:spPr>
        <p:txBody>
          <a:bodyPr wrap="square" lIns="0" tIns="0" rIns="0" bIns="0" rtlCol="0" anchor="ctr">
            <a:noAutofit/>
          </a:bodyPr>
          <a:lstStyle/>
          <a:p>
            <a:pPr marL="0" indent="0" algn="ctr">
              <a:buNone/>
            </a:pPr>
            <a:endPar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6" name="TextBox 23"/>
          <p:cNvSpPr txBox="1"/>
          <p:nvPr/>
        </p:nvSpPr>
        <p:spPr>
          <a:xfrm>
            <a:off x="8183880" y="3840480"/>
            <a:ext cx="3337560" cy="41148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CBC 加密后：呈现随机外观</a:t>
            </a:r>
          </a:p>
        </p:txBody>
      </p:sp>
      <p:sp>
        <p:nvSpPr>
          <p:cNvPr id="167" name="Rectangle 47"/>
          <p:cNvSpPr/>
          <p:nvPr/>
        </p:nvSpPr>
        <p:spPr>
          <a:xfrm>
            <a:off x="594360" y="461772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分组重放与替换：</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 的各分组互不关联，攻击者无须密钥即可删除、复制或交换密文分组，接收方仍能逐组正常解密。</a:t>
            </a:r>
          </a:p>
        </p:txBody>
      </p:sp>
      <p:sp>
        <p:nvSpPr>
          <p:cNvPr id="168"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结论：</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 仅适合加密单个分组的短数据（如另一把随机密钥）；多分组的长消息应采用 CBC、CTR 等模式。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CBC：用前一密文链接当前分组</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5"/>
          <p:cNvSpPr/>
          <p:nvPr/>
        </p:nvSpPr>
        <p:spPr>
          <a:xfrm>
            <a:off x="502920"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6"/>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a:t>
            </a:r>
          </a:p>
        </p:txBody>
      </p:sp>
      <p:sp>
        <p:nvSpPr>
          <p:cNvPr id="9" name="内容底色_11"/>
          <p:cNvSpPr/>
          <p:nvPr/>
        </p:nvSpPr>
        <p:spPr>
          <a:xfrm>
            <a:off x="2770632"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12"/>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p>
        </p:txBody>
      </p:sp>
      <p:sp>
        <p:nvSpPr>
          <p:cNvPr id="11" name="内容底色_5"/>
          <p:cNvSpPr/>
          <p:nvPr/>
        </p:nvSpPr>
        <p:spPr>
          <a:xfrm>
            <a:off x="5038344"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6"/>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a:t>
            </a:r>
          </a:p>
        </p:txBody>
      </p:sp>
      <p:sp>
        <p:nvSpPr>
          <p:cNvPr id="13" name="内容底色_5"/>
          <p:cNvSpPr/>
          <p:nvPr/>
        </p:nvSpPr>
        <p:spPr>
          <a:xfrm>
            <a:off x="7306056"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6"/>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a:t>
            </a:r>
          </a:p>
        </p:txBody>
      </p:sp>
      <p:sp>
        <p:nvSpPr>
          <p:cNvPr id="15" name="内容底色_5"/>
          <p:cNvSpPr/>
          <p:nvPr/>
        </p:nvSpPr>
        <p:spPr>
          <a:xfrm>
            <a:off x="9573768"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6"/>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p>
        </p:txBody>
      </p:sp>
      <p:sp>
        <p:nvSpPr>
          <p:cNvPr id="17" name="TextBox 23"/>
          <p:cNvSpPr txBox="1"/>
          <p:nvPr/>
        </p:nvSpPr>
        <p:spPr>
          <a:xfrm>
            <a:off x="685800" y="1874520"/>
            <a:ext cx="10817352" cy="713232"/>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密文分组链接（Cipher Block Chaining，CBC）模式：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当前明文分组先与前一个密文分组异或，再进行加密。第 1 组以初始化向量 IV 作为前一个密文分组，记为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p>
        </p:txBody>
      </p:sp>
      <p:sp>
        <p:nvSpPr>
          <p:cNvPr id="18" name="图形_底色"/>
          <p:cNvSpPr/>
          <p:nvPr/>
        </p:nvSpPr>
        <p:spPr>
          <a:xfrm>
            <a:off x="594360" y="2651760"/>
            <a:ext cx="11018520" cy="221284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9" name="Rectangle 47"/>
          <p:cNvSpPr/>
          <p:nvPr/>
        </p:nvSpPr>
        <p:spPr>
          <a:xfrm>
            <a:off x="594360" y="4983480"/>
            <a:ext cx="11018520" cy="50292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解密：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0"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特点：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每个明文分组的加密依赖于前一个密文分组，加密须顺序进行；密文已知时各组可并行解密。IV 应随机且不可预测，末组不足时需按约定填充。</a:t>
            </a:r>
          </a:p>
        </p:txBody>
      </p:sp>
      <p:sp>
        <p:nvSpPr>
          <p:cNvPr id="21" name="Rectangle 15"/>
          <p:cNvSpPr/>
          <p:nvPr/>
        </p:nvSpPr>
        <p:spPr>
          <a:xfrm>
            <a:off x="2286000" y="2743200"/>
            <a:ext cx="109728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2" name="Connector 11"/>
          <p:cNvCxnSpPr/>
          <p:nvPr/>
        </p:nvCxnSpPr>
        <p:spPr>
          <a:xfrm>
            <a:off x="2834640" y="3108960"/>
            <a:ext cx="0" cy="146304"/>
          </a:xfrm>
          <a:prstGeom prst="line">
            <a:avLst/>
          </a:prstGeom>
          <a:ln w="15875">
            <a:solidFill>
              <a:srgbClr val="404040"/>
            </a:solidFill>
            <a:tailEnd type="triangle" w="med" len="med"/>
          </a:ln>
        </p:spPr>
      </p:cxnSp>
      <p:sp>
        <p:nvSpPr>
          <p:cNvPr id="23" name="Or 18"/>
          <p:cNvSpPr/>
          <p:nvPr/>
        </p:nvSpPr>
        <p:spPr>
          <a:xfrm>
            <a:off x="2688336" y="3255264"/>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24" name="Connector 11"/>
          <p:cNvCxnSpPr/>
          <p:nvPr/>
        </p:nvCxnSpPr>
        <p:spPr>
          <a:xfrm>
            <a:off x="2834640" y="3547872"/>
            <a:ext cx="0" cy="146304"/>
          </a:xfrm>
          <a:prstGeom prst="line">
            <a:avLst/>
          </a:prstGeom>
          <a:ln w="15875">
            <a:solidFill>
              <a:srgbClr val="404040"/>
            </a:solidFill>
            <a:tailEnd type="triangle" w="med" len="med"/>
          </a:ln>
        </p:spPr>
      </p:cxnSp>
      <p:sp>
        <p:nvSpPr>
          <p:cNvPr id="25" name="Rectangle 16"/>
          <p:cNvSpPr/>
          <p:nvPr/>
        </p:nvSpPr>
        <p:spPr>
          <a:xfrm>
            <a:off x="2286000" y="3694176"/>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6" name="Connector 11"/>
          <p:cNvCxnSpPr/>
          <p:nvPr/>
        </p:nvCxnSpPr>
        <p:spPr>
          <a:xfrm>
            <a:off x="2834640" y="4059936"/>
            <a:ext cx="0" cy="329184"/>
          </a:xfrm>
          <a:prstGeom prst="line">
            <a:avLst/>
          </a:prstGeom>
          <a:ln w="15875">
            <a:solidFill>
              <a:srgbClr val="404040"/>
            </a:solidFill>
            <a:tailEnd type="triangle" w="med" len="med"/>
          </a:ln>
        </p:spPr>
      </p:cxnSp>
      <p:sp>
        <p:nvSpPr>
          <p:cNvPr id="27" name="Rectangle 14"/>
          <p:cNvSpPr/>
          <p:nvPr/>
        </p:nvSpPr>
        <p:spPr>
          <a:xfrm>
            <a:off x="2286000" y="4389120"/>
            <a:ext cx="1097280" cy="36576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8" name="Connector 9"/>
          <p:cNvCxnSpPr/>
          <p:nvPr/>
        </p:nvCxnSpPr>
        <p:spPr>
          <a:xfrm>
            <a:off x="2834640" y="4224528"/>
            <a:ext cx="1737360" cy="0"/>
          </a:xfrm>
          <a:prstGeom prst="line">
            <a:avLst/>
          </a:prstGeom>
          <a:ln w="15875">
            <a:solidFill>
              <a:srgbClr val="404040"/>
            </a:solidFill>
          </a:ln>
        </p:spPr>
      </p:cxnSp>
      <p:cxnSp>
        <p:nvCxnSpPr>
          <p:cNvPr id="29" name="Connector 9"/>
          <p:cNvCxnSpPr/>
          <p:nvPr/>
        </p:nvCxnSpPr>
        <p:spPr>
          <a:xfrm flipV="1">
            <a:off x="4572000" y="3401568"/>
            <a:ext cx="0" cy="822960"/>
          </a:xfrm>
          <a:prstGeom prst="line">
            <a:avLst/>
          </a:prstGeom>
          <a:ln w="15875">
            <a:solidFill>
              <a:srgbClr val="404040"/>
            </a:solidFill>
          </a:ln>
        </p:spPr>
      </p:cxnSp>
      <p:cxnSp>
        <p:nvCxnSpPr>
          <p:cNvPr id="30" name="Connector 11"/>
          <p:cNvCxnSpPr/>
          <p:nvPr/>
        </p:nvCxnSpPr>
        <p:spPr>
          <a:xfrm>
            <a:off x="4572000" y="3401568"/>
            <a:ext cx="1591056" cy="0"/>
          </a:xfrm>
          <a:prstGeom prst="line">
            <a:avLst/>
          </a:prstGeom>
          <a:ln w="15875">
            <a:solidFill>
              <a:srgbClr val="404040"/>
            </a:solidFill>
            <a:tailEnd type="triangle" w="med" len="med"/>
          </a:ln>
        </p:spPr>
      </p:cxnSp>
      <p:sp>
        <p:nvSpPr>
          <p:cNvPr id="31" name="Rectangle 15"/>
          <p:cNvSpPr/>
          <p:nvPr/>
        </p:nvSpPr>
        <p:spPr>
          <a:xfrm>
            <a:off x="5760720" y="2743200"/>
            <a:ext cx="109728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2" name="Connector 11"/>
          <p:cNvCxnSpPr/>
          <p:nvPr/>
        </p:nvCxnSpPr>
        <p:spPr>
          <a:xfrm>
            <a:off x="6309360" y="3108960"/>
            <a:ext cx="0" cy="146304"/>
          </a:xfrm>
          <a:prstGeom prst="line">
            <a:avLst/>
          </a:prstGeom>
          <a:ln w="15875">
            <a:solidFill>
              <a:srgbClr val="404040"/>
            </a:solidFill>
            <a:tailEnd type="triangle" w="med" len="med"/>
          </a:ln>
        </p:spPr>
      </p:cxnSp>
      <p:sp>
        <p:nvSpPr>
          <p:cNvPr id="33" name="Or 18"/>
          <p:cNvSpPr/>
          <p:nvPr/>
        </p:nvSpPr>
        <p:spPr>
          <a:xfrm>
            <a:off x="6163056" y="3255264"/>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34" name="Connector 11"/>
          <p:cNvCxnSpPr/>
          <p:nvPr/>
        </p:nvCxnSpPr>
        <p:spPr>
          <a:xfrm>
            <a:off x="6309360" y="3547872"/>
            <a:ext cx="0" cy="146304"/>
          </a:xfrm>
          <a:prstGeom prst="line">
            <a:avLst/>
          </a:prstGeom>
          <a:ln w="15875">
            <a:solidFill>
              <a:srgbClr val="404040"/>
            </a:solidFill>
            <a:tailEnd type="triangle" w="med" len="med"/>
          </a:ln>
        </p:spPr>
      </p:cxnSp>
      <p:sp>
        <p:nvSpPr>
          <p:cNvPr id="35" name="Rectangle 16"/>
          <p:cNvSpPr/>
          <p:nvPr/>
        </p:nvSpPr>
        <p:spPr>
          <a:xfrm>
            <a:off x="5760720" y="3694176"/>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6" name="Connector 11"/>
          <p:cNvCxnSpPr/>
          <p:nvPr/>
        </p:nvCxnSpPr>
        <p:spPr>
          <a:xfrm>
            <a:off x="6309360" y="4059936"/>
            <a:ext cx="0" cy="329184"/>
          </a:xfrm>
          <a:prstGeom prst="line">
            <a:avLst/>
          </a:prstGeom>
          <a:ln w="15875">
            <a:solidFill>
              <a:srgbClr val="404040"/>
            </a:solidFill>
            <a:tailEnd type="triangle" w="med" len="med"/>
          </a:ln>
        </p:spPr>
      </p:cxnSp>
      <p:sp>
        <p:nvSpPr>
          <p:cNvPr id="37" name="Rectangle 14"/>
          <p:cNvSpPr/>
          <p:nvPr/>
        </p:nvSpPr>
        <p:spPr>
          <a:xfrm>
            <a:off x="5760720" y="4389120"/>
            <a:ext cx="1097280" cy="36576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8" name="Connector 9"/>
          <p:cNvCxnSpPr/>
          <p:nvPr/>
        </p:nvCxnSpPr>
        <p:spPr>
          <a:xfrm>
            <a:off x="6309360" y="4224528"/>
            <a:ext cx="1737360" cy="0"/>
          </a:xfrm>
          <a:prstGeom prst="line">
            <a:avLst/>
          </a:prstGeom>
          <a:ln w="15875">
            <a:solidFill>
              <a:srgbClr val="404040"/>
            </a:solidFill>
          </a:ln>
        </p:spPr>
      </p:cxnSp>
      <p:cxnSp>
        <p:nvCxnSpPr>
          <p:cNvPr id="39" name="Connector 9"/>
          <p:cNvCxnSpPr/>
          <p:nvPr/>
        </p:nvCxnSpPr>
        <p:spPr>
          <a:xfrm flipV="1">
            <a:off x="8046720" y="3401568"/>
            <a:ext cx="0" cy="822960"/>
          </a:xfrm>
          <a:prstGeom prst="line">
            <a:avLst/>
          </a:prstGeom>
          <a:ln w="15875">
            <a:solidFill>
              <a:srgbClr val="404040"/>
            </a:solidFill>
          </a:ln>
        </p:spPr>
      </p:cxnSp>
      <p:cxnSp>
        <p:nvCxnSpPr>
          <p:cNvPr id="40" name="Connector 11"/>
          <p:cNvCxnSpPr/>
          <p:nvPr/>
        </p:nvCxnSpPr>
        <p:spPr>
          <a:xfrm>
            <a:off x="8046720" y="3401568"/>
            <a:ext cx="1591056" cy="0"/>
          </a:xfrm>
          <a:prstGeom prst="line">
            <a:avLst/>
          </a:prstGeom>
          <a:ln w="15875">
            <a:solidFill>
              <a:srgbClr val="404040"/>
            </a:solidFill>
            <a:tailEnd type="triangle" w="med" len="med"/>
          </a:ln>
        </p:spPr>
      </p:cxnSp>
      <p:sp>
        <p:nvSpPr>
          <p:cNvPr id="41" name="Rectangle 15"/>
          <p:cNvSpPr/>
          <p:nvPr/>
        </p:nvSpPr>
        <p:spPr>
          <a:xfrm>
            <a:off x="9235440" y="2743200"/>
            <a:ext cx="109728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42" name="Connector 11"/>
          <p:cNvCxnSpPr/>
          <p:nvPr/>
        </p:nvCxnSpPr>
        <p:spPr>
          <a:xfrm>
            <a:off x="9784080" y="3108960"/>
            <a:ext cx="0" cy="146304"/>
          </a:xfrm>
          <a:prstGeom prst="line">
            <a:avLst/>
          </a:prstGeom>
          <a:ln w="15875">
            <a:solidFill>
              <a:srgbClr val="404040"/>
            </a:solidFill>
            <a:tailEnd type="triangle" w="med" len="med"/>
          </a:ln>
        </p:spPr>
      </p:cxnSp>
      <p:sp>
        <p:nvSpPr>
          <p:cNvPr id="43" name="Or 18"/>
          <p:cNvSpPr/>
          <p:nvPr/>
        </p:nvSpPr>
        <p:spPr>
          <a:xfrm>
            <a:off x="9637776" y="3255264"/>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44" name="Connector 11"/>
          <p:cNvCxnSpPr/>
          <p:nvPr/>
        </p:nvCxnSpPr>
        <p:spPr>
          <a:xfrm>
            <a:off x="9784080" y="3547872"/>
            <a:ext cx="0" cy="146304"/>
          </a:xfrm>
          <a:prstGeom prst="line">
            <a:avLst/>
          </a:prstGeom>
          <a:ln w="15875">
            <a:solidFill>
              <a:srgbClr val="404040"/>
            </a:solidFill>
            <a:tailEnd type="triangle" w="med" len="med"/>
          </a:ln>
        </p:spPr>
      </p:cxnSp>
      <p:sp>
        <p:nvSpPr>
          <p:cNvPr id="45" name="Rectangle 16"/>
          <p:cNvSpPr/>
          <p:nvPr/>
        </p:nvSpPr>
        <p:spPr>
          <a:xfrm>
            <a:off x="9235440" y="3694176"/>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6" name="Connector 11"/>
          <p:cNvCxnSpPr/>
          <p:nvPr/>
        </p:nvCxnSpPr>
        <p:spPr>
          <a:xfrm>
            <a:off x="9784080" y="4059936"/>
            <a:ext cx="0" cy="329184"/>
          </a:xfrm>
          <a:prstGeom prst="line">
            <a:avLst/>
          </a:prstGeom>
          <a:ln w="15875">
            <a:solidFill>
              <a:srgbClr val="404040"/>
            </a:solidFill>
            <a:tailEnd type="triangle" w="med" len="med"/>
          </a:ln>
        </p:spPr>
      </p:cxnSp>
      <p:sp>
        <p:nvSpPr>
          <p:cNvPr id="47" name="Rectangle 14"/>
          <p:cNvSpPr/>
          <p:nvPr/>
        </p:nvSpPr>
        <p:spPr>
          <a:xfrm>
            <a:off x="9235440" y="4389120"/>
            <a:ext cx="1097280" cy="36576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8" name="Rectangle 15"/>
          <p:cNvSpPr/>
          <p:nvPr/>
        </p:nvSpPr>
        <p:spPr>
          <a:xfrm>
            <a:off x="960120" y="3200400"/>
            <a:ext cx="914400"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IV</a:t>
            </a:r>
          </a:p>
        </p:txBody>
      </p:sp>
      <p:cxnSp>
        <p:nvCxnSpPr>
          <p:cNvPr id="49" name="Connector 11"/>
          <p:cNvCxnSpPr/>
          <p:nvPr/>
        </p:nvCxnSpPr>
        <p:spPr>
          <a:xfrm>
            <a:off x="1874520" y="3401568"/>
            <a:ext cx="813816" cy="0"/>
          </a:xfrm>
          <a:prstGeom prst="line">
            <a:avLst/>
          </a:prstGeom>
          <a:ln w="15875">
            <a:solidFill>
              <a:srgbClr val="404040"/>
            </a:solidFill>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CFB：反馈密文分组</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5"/>
          <p:cNvSpPr/>
          <p:nvPr/>
        </p:nvSpPr>
        <p:spPr>
          <a:xfrm>
            <a:off x="502920"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6"/>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a:t>
            </a:r>
          </a:p>
        </p:txBody>
      </p:sp>
      <p:sp>
        <p:nvSpPr>
          <p:cNvPr id="9" name="内容底色_5"/>
          <p:cNvSpPr/>
          <p:nvPr/>
        </p:nvSpPr>
        <p:spPr>
          <a:xfrm>
            <a:off x="2770632"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6"/>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CBC</a:t>
            </a:r>
          </a:p>
        </p:txBody>
      </p:sp>
      <p:sp>
        <p:nvSpPr>
          <p:cNvPr id="11" name="内容底色_11"/>
          <p:cNvSpPr/>
          <p:nvPr/>
        </p:nvSpPr>
        <p:spPr>
          <a:xfrm>
            <a:off x="5038344"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12"/>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CFB</a:t>
            </a:r>
          </a:p>
        </p:txBody>
      </p:sp>
      <p:sp>
        <p:nvSpPr>
          <p:cNvPr id="13" name="内容底色_5"/>
          <p:cNvSpPr/>
          <p:nvPr/>
        </p:nvSpPr>
        <p:spPr>
          <a:xfrm>
            <a:off x="7306056"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6"/>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a:t>
            </a:r>
          </a:p>
        </p:txBody>
      </p:sp>
      <p:sp>
        <p:nvSpPr>
          <p:cNvPr id="15" name="内容底色_5"/>
          <p:cNvSpPr/>
          <p:nvPr/>
        </p:nvSpPr>
        <p:spPr>
          <a:xfrm>
            <a:off x="9573768"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6"/>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p>
        </p:txBody>
      </p:sp>
      <p:sp>
        <p:nvSpPr>
          <p:cNvPr id="17" name="TextBox 23"/>
          <p:cNvSpPr txBox="1"/>
          <p:nvPr/>
        </p:nvSpPr>
        <p:spPr>
          <a:xfrm>
            <a:off x="685800" y="1874520"/>
            <a:ext cx="10817352" cy="713232"/>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密文反馈（Cipher Feedback，CFB）模式：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先用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加密 IV 或前一个密文分组，再将输出与当前明文分组异或得到密文分组；生成的密文又反馈给下一次加密。</a:t>
            </a:r>
          </a:p>
        </p:txBody>
      </p:sp>
      <p:sp>
        <p:nvSpPr>
          <p:cNvPr id="18" name="图形_底色"/>
          <p:cNvSpPr/>
          <p:nvPr/>
        </p:nvSpPr>
        <p:spPr>
          <a:xfrm>
            <a:off x="594360" y="2651760"/>
            <a:ext cx="11018520" cy="221284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9" name="Rectangle 47"/>
          <p:cNvSpPr/>
          <p:nvPr/>
        </p:nvSpPr>
        <p:spPr>
          <a:xfrm>
            <a:off x="594360" y="4983480"/>
            <a:ext cx="11018520" cy="50292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解密：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p>
        </p:txBody>
      </p:sp>
      <p:sp>
        <p:nvSpPr>
          <p:cNvPr id="20"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特点：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加密形成一条反馈链，每个明文分组的加密依赖于前一个密文分组（或 IV）；加密顺序进行，密文已知时可并行解密，解密同样只调用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21" name="Rectangle 15"/>
          <p:cNvSpPr/>
          <p:nvPr/>
        </p:nvSpPr>
        <p:spPr>
          <a:xfrm>
            <a:off x="1920240" y="2724912"/>
            <a:ext cx="109728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IV</a:t>
            </a:r>
          </a:p>
        </p:txBody>
      </p:sp>
      <p:cxnSp>
        <p:nvCxnSpPr>
          <p:cNvPr id="22" name="Connector 11"/>
          <p:cNvCxnSpPr/>
          <p:nvPr/>
        </p:nvCxnSpPr>
        <p:spPr>
          <a:xfrm>
            <a:off x="2468880" y="3090672"/>
            <a:ext cx="0" cy="128016"/>
          </a:xfrm>
          <a:prstGeom prst="line">
            <a:avLst/>
          </a:prstGeom>
          <a:ln w="15875">
            <a:solidFill>
              <a:srgbClr val="404040"/>
            </a:solidFill>
            <a:tailEnd type="triangle" w="med" len="med"/>
          </a:ln>
        </p:spPr>
      </p:cxnSp>
      <p:sp>
        <p:nvSpPr>
          <p:cNvPr id="23" name="Rectangle 16"/>
          <p:cNvSpPr/>
          <p:nvPr/>
        </p:nvSpPr>
        <p:spPr>
          <a:xfrm>
            <a:off x="19202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4" name="Connector 11"/>
          <p:cNvCxnSpPr/>
          <p:nvPr/>
        </p:nvCxnSpPr>
        <p:spPr>
          <a:xfrm>
            <a:off x="2468880" y="3584448"/>
            <a:ext cx="0" cy="201168"/>
          </a:xfrm>
          <a:prstGeom prst="line">
            <a:avLst/>
          </a:prstGeom>
          <a:ln w="15875">
            <a:solidFill>
              <a:srgbClr val="404040"/>
            </a:solidFill>
            <a:tailEnd type="triangle" w="med" len="med"/>
          </a:ln>
        </p:spPr>
      </p:cxnSp>
      <p:sp>
        <p:nvSpPr>
          <p:cNvPr id="25" name="Or 18"/>
          <p:cNvSpPr/>
          <p:nvPr/>
        </p:nvSpPr>
        <p:spPr>
          <a:xfrm>
            <a:off x="23225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26" name="TextBox 23"/>
          <p:cNvSpPr txBox="1"/>
          <p:nvPr/>
        </p:nvSpPr>
        <p:spPr>
          <a:xfrm>
            <a:off x="12801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7" name="Connector 11"/>
          <p:cNvCxnSpPr/>
          <p:nvPr/>
        </p:nvCxnSpPr>
        <p:spPr>
          <a:xfrm>
            <a:off x="1828800" y="3931920"/>
            <a:ext cx="493776" cy="0"/>
          </a:xfrm>
          <a:prstGeom prst="line">
            <a:avLst/>
          </a:prstGeom>
          <a:ln w="15875">
            <a:solidFill>
              <a:srgbClr val="404040"/>
            </a:solidFill>
            <a:tailEnd type="triangle" w="med" len="med"/>
          </a:ln>
        </p:spPr>
      </p:cxnSp>
      <p:cxnSp>
        <p:nvCxnSpPr>
          <p:cNvPr id="28" name="Connector 11"/>
          <p:cNvCxnSpPr/>
          <p:nvPr/>
        </p:nvCxnSpPr>
        <p:spPr>
          <a:xfrm>
            <a:off x="2468880" y="4078224"/>
            <a:ext cx="0" cy="292608"/>
          </a:xfrm>
          <a:prstGeom prst="line">
            <a:avLst/>
          </a:prstGeom>
          <a:ln w="15875">
            <a:solidFill>
              <a:srgbClr val="404040"/>
            </a:solidFill>
            <a:tailEnd type="triangle" w="med" len="med"/>
          </a:ln>
        </p:spPr>
      </p:cxnSp>
      <p:sp>
        <p:nvSpPr>
          <p:cNvPr id="29" name="Rectangle 14"/>
          <p:cNvSpPr/>
          <p:nvPr/>
        </p:nvSpPr>
        <p:spPr>
          <a:xfrm>
            <a:off x="19202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0" name="Connector 9"/>
          <p:cNvCxnSpPr/>
          <p:nvPr/>
        </p:nvCxnSpPr>
        <p:spPr>
          <a:xfrm>
            <a:off x="2468880" y="4224528"/>
            <a:ext cx="1737360" cy="0"/>
          </a:xfrm>
          <a:prstGeom prst="line">
            <a:avLst/>
          </a:prstGeom>
          <a:ln w="15875">
            <a:solidFill>
              <a:srgbClr val="404040"/>
            </a:solidFill>
          </a:ln>
        </p:spPr>
      </p:cxnSp>
      <p:cxnSp>
        <p:nvCxnSpPr>
          <p:cNvPr id="31" name="Connector 9"/>
          <p:cNvCxnSpPr/>
          <p:nvPr/>
        </p:nvCxnSpPr>
        <p:spPr>
          <a:xfrm flipV="1">
            <a:off x="4206240" y="2907792"/>
            <a:ext cx="0" cy="1316736"/>
          </a:xfrm>
          <a:prstGeom prst="line">
            <a:avLst/>
          </a:prstGeom>
          <a:ln w="15875">
            <a:solidFill>
              <a:srgbClr val="404040"/>
            </a:solidFill>
          </a:ln>
        </p:spPr>
      </p:cxnSp>
      <p:cxnSp>
        <p:nvCxnSpPr>
          <p:cNvPr id="32" name="Connector 11"/>
          <p:cNvCxnSpPr/>
          <p:nvPr/>
        </p:nvCxnSpPr>
        <p:spPr>
          <a:xfrm>
            <a:off x="4206240" y="2907792"/>
            <a:ext cx="1371600" cy="0"/>
          </a:xfrm>
          <a:prstGeom prst="line">
            <a:avLst/>
          </a:prstGeom>
          <a:ln w="15875">
            <a:solidFill>
              <a:srgbClr val="404040"/>
            </a:solidFill>
            <a:tailEnd type="triangle" w="med" len="med"/>
          </a:ln>
        </p:spPr>
      </p:cxnSp>
      <p:sp>
        <p:nvSpPr>
          <p:cNvPr id="33" name="Rectangle 14"/>
          <p:cNvSpPr/>
          <p:nvPr/>
        </p:nvSpPr>
        <p:spPr>
          <a:xfrm>
            <a:off x="5577840" y="2724912"/>
            <a:ext cx="1097280" cy="36576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4" name="Connector 11"/>
          <p:cNvCxnSpPr/>
          <p:nvPr/>
        </p:nvCxnSpPr>
        <p:spPr>
          <a:xfrm>
            <a:off x="6126480" y="3090672"/>
            <a:ext cx="0" cy="128016"/>
          </a:xfrm>
          <a:prstGeom prst="line">
            <a:avLst/>
          </a:prstGeom>
          <a:ln w="15875">
            <a:solidFill>
              <a:srgbClr val="404040"/>
            </a:solidFill>
            <a:tailEnd type="triangle" w="med" len="med"/>
          </a:ln>
        </p:spPr>
      </p:cxnSp>
      <p:sp>
        <p:nvSpPr>
          <p:cNvPr id="35" name="Rectangle 16"/>
          <p:cNvSpPr/>
          <p:nvPr/>
        </p:nvSpPr>
        <p:spPr>
          <a:xfrm>
            <a:off x="55778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6" name="Connector 11"/>
          <p:cNvCxnSpPr/>
          <p:nvPr/>
        </p:nvCxnSpPr>
        <p:spPr>
          <a:xfrm>
            <a:off x="6126480" y="3584448"/>
            <a:ext cx="0" cy="201168"/>
          </a:xfrm>
          <a:prstGeom prst="line">
            <a:avLst/>
          </a:prstGeom>
          <a:ln w="15875">
            <a:solidFill>
              <a:srgbClr val="404040"/>
            </a:solidFill>
            <a:tailEnd type="triangle" w="med" len="med"/>
          </a:ln>
        </p:spPr>
      </p:cxnSp>
      <p:sp>
        <p:nvSpPr>
          <p:cNvPr id="37" name="Or 18"/>
          <p:cNvSpPr/>
          <p:nvPr/>
        </p:nvSpPr>
        <p:spPr>
          <a:xfrm>
            <a:off x="59801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38" name="TextBox 23"/>
          <p:cNvSpPr txBox="1"/>
          <p:nvPr/>
        </p:nvSpPr>
        <p:spPr>
          <a:xfrm>
            <a:off x="49377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9" name="Connector 11"/>
          <p:cNvCxnSpPr/>
          <p:nvPr/>
        </p:nvCxnSpPr>
        <p:spPr>
          <a:xfrm>
            <a:off x="5486400" y="3931920"/>
            <a:ext cx="493776" cy="0"/>
          </a:xfrm>
          <a:prstGeom prst="line">
            <a:avLst/>
          </a:prstGeom>
          <a:ln w="15875">
            <a:solidFill>
              <a:srgbClr val="404040"/>
            </a:solidFill>
            <a:tailEnd type="triangle" w="med" len="med"/>
          </a:ln>
        </p:spPr>
      </p:cxnSp>
      <p:cxnSp>
        <p:nvCxnSpPr>
          <p:cNvPr id="40" name="Connector 11"/>
          <p:cNvCxnSpPr/>
          <p:nvPr/>
        </p:nvCxnSpPr>
        <p:spPr>
          <a:xfrm>
            <a:off x="6126480" y="4078224"/>
            <a:ext cx="0" cy="292608"/>
          </a:xfrm>
          <a:prstGeom prst="line">
            <a:avLst/>
          </a:prstGeom>
          <a:ln w="15875">
            <a:solidFill>
              <a:srgbClr val="404040"/>
            </a:solidFill>
            <a:tailEnd type="triangle" w="med" len="med"/>
          </a:ln>
        </p:spPr>
      </p:cxnSp>
      <p:sp>
        <p:nvSpPr>
          <p:cNvPr id="41" name="Rectangle 14"/>
          <p:cNvSpPr/>
          <p:nvPr/>
        </p:nvSpPr>
        <p:spPr>
          <a:xfrm>
            <a:off x="55778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42" name="Connector 9"/>
          <p:cNvCxnSpPr/>
          <p:nvPr/>
        </p:nvCxnSpPr>
        <p:spPr>
          <a:xfrm>
            <a:off x="6126480" y="4224528"/>
            <a:ext cx="1737360" cy="0"/>
          </a:xfrm>
          <a:prstGeom prst="line">
            <a:avLst/>
          </a:prstGeom>
          <a:ln w="15875">
            <a:solidFill>
              <a:srgbClr val="404040"/>
            </a:solidFill>
          </a:ln>
        </p:spPr>
      </p:cxnSp>
      <p:cxnSp>
        <p:nvCxnSpPr>
          <p:cNvPr id="43" name="Connector 9"/>
          <p:cNvCxnSpPr/>
          <p:nvPr/>
        </p:nvCxnSpPr>
        <p:spPr>
          <a:xfrm flipV="1">
            <a:off x="7863840" y="2907792"/>
            <a:ext cx="0" cy="1316736"/>
          </a:xfrm>
          <a:prstGeom prst="line">
            <a:avLst/>
          </a:prstGeom>
          <a:ln w="15875">
            <a:solidFill>
              <a:srgbClr val="404040"/>
            </a:solidFill>
          </a:ln>
        </p:spPr>
      </p:cxnSp>
      <p:cxnSp>
        <p:nvCxnSpPr>
          <p:cNvPr id="44" name="Connector 11"/>
          <p:cNvCxnSpPr/>
          <p:nvPr/>
        </p:nvCxnSpPr>
        <p:spPr>
          <a:xfrm>
            <a:off x="7863840" y="2907792"/>
            <a:ext cx="1371600" cy="0"/>
          </a:xfrm>
          <a:prstGeom prst="line">
            <a:avLst/>
          </a:prstGeom>
          <a:ln w="15875">
            <a:solidFill>
              <a:srgbClr val="404040"/>
            </a:solidFill>
            <a:tailEnd type="triangle" w="med" len="med"/>
          </a:ln>
        </p:spPr>
      </p:cxnSp>
      <p:sp>
        <p:nvSpPr>
          <p:cNvPr id="45" name="Rectangle 14"/>
          <p:cNvSpPr/>
          <p:nvPr/>
        </p:nvSpPr>
        <p:spPr>
          <a:xfrm>
            <a:off x="9235440" y="2724912"/>
            <a:ext cx="1097280" cy="36576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46" name="Connector 11"/>
          <p:cNvCxnSpPr/>
          <p:nvPr/>
        </p:nvCxnSpPr>
        <p:spPr>
          <a:xfrm>
            <a:off x="9784080" y="3090672"/>
            <a:ext cx="0" cy="128016"/>
          </a:xfrm>
          <a:prstGeom prst="line">
            <a:avLst/>
          </a:prstGeom>
          <a:ln w="15875">
            <a:solidFill>
              <a:srgbClr val="404040"/>
            </a:solidFill>
            <a:tailEnd type="triangle" w="med" len="med"/>
          </a:ln>
        </p:spPr>
      </p:cxnSp>
      <p:sp>
        <p:nvSpPr>
          <p:cNvPr id="47" name="Rectangle 16"/>
          <p:cNvSpPr/>
          <p:nvPr/>
        </p:nvSpPr>
        <p:spPr>
          <a:xfrm>
            <a:off x="92354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8" name="Connector 11"/>
          <p:cNvCxnSpPr/>
          <p:nvPr/>
        </p:nvCxnSpPr>
        <p:spPr>
          <a:xfrm>
            <a:off x="9784080" y="3584448"/>
            <a:ext cx="0" cy="201168"/>
          </a:xfrm>
          <a:prstGeom prst="line">
            <a:avLst/>
          </a:prstGeom>
          <a:ln w="15875">
            <a:solidFill>
              <a:srgbClr val="404040"/>
            </a:solidFill>
            <a:tailEnd type="triangle" w="med" len="med"/>
          </a:ln>
        </p:spPr>
      </p:cxnSp>
      <p:sp>
        <p:nvSpPr>
          <p:cNvPr id="49" name="Or 18"/>
          <p:cNvSpPr/>
          <p:nvPr/>
        </p:nvSpPr>
        <p:spPr>
          <a:xfrm>
            <a:off x="96377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50" name="TextBox 23"/>
          <p:cNvSpPr txBox="1"/>
          <p:nvPr/>
        </p:nvSpPr>
        <p:spPr>
          <a:xfrm>
            <a:off x="85953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51" name="Connector 11"/>
          <p:cNvCxnSpPr/>
          <p:nvPr/>
        </p:nvCxnSpPr>
        <p:spPr>
          <a:xfrm>
            <a:off x="9144000" y="3931920"/>
            <a:ext cx="493776" cy="0"/>
          </a:xfrm>
          <a:prstGeom prst="line">
            <a:avLst/>
          </a:prstGeom>
          <a:ln w="15875">
            <a:solidFill>
              <a:srgbClr val="404040"/>
            </a:solidFill>
            <a:tailEnd type="triangle" w="med" len="med"/>
          </a:ln>
        </p:spPr>
      </p:cxnSp>
      <p:cxnSp>
        <p:nvCxnSpPr>
          <p:cNvPr id="52" name="Connector 11"/>
          <p:cNvCxnSpPr/>
          <p:nvPr/>
        </p:nvCxnSpPr>
        <p:spPr>
          <a:xfrm>
            <a:off x="9784080" y="4078224"/>
            <a:ext cx="0" cy="292608"/>
          </a:xfrm>
          <a:prstGeom prst="line">
            <a:avLst/>
          </a:prstGeom>
          <a:ln w="15875">
            <a:solidFill>
              <a:srgbClr val="404040"/>
            </a:solidFill>
            <a:tailEnd type="triangle" w="med" len="med"/>
          </a:ln>
        </p:spPr>
      </p:cxnSp>
      <p:sp>
        <p:nvSpPr>
          <p:cNvPr id="53" name="Rectangle 14"/>
          <p:cNvSpPr/>
          <p:nvPr/>
        </p:nvSpPr>
        <p:spPr>
          <a:xfrm>
            <a:off x="92354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OFB：反馈加密输出</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5"/>
          <p:cNvSpPr/>
          <p:nvPr/>
        </p:nvSpPr>
        <p:spPr>
          <a:xfrm>
            <a:off x="502920"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6"/>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a:t>
            </a:r>
          </a:p>
        </p:txBody>
      </p:sp>
      <p:sp>
        <p:nvSpPr>
          <p:cNvPr id="9" name="内容底色_5"/>
          <p:cNvSpPr/>
          <p:nvPr/>
        </p:nvSpPr>
        <p:spPr>
          <a:xfrm>
            <a:off x="2770632"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6"/>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CBC</a:t>
            </a:r>
          </a:p>
        </p:txBody>
      </p:sp>
      <p:sp>
        <p:nvSpPr>
          <p:cNvPr id="11" name="内容底色_5"/>
          <p:cNvSpPr/>
          <p:nvPr/>
        </p:nvSpPr>
        <p:spPr>
          <a:xfrm>
            <a:off x="5038344"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6"/>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a:t>
            </a:r>
          </a:p>
        </p:txBody>
      </p:sp>
      <p:sp>
        <p:nvSpPr>
          <p:cNvPr id="13" name="内容底色_11"/>
          <p:cNvSpPr/>
          <p:nvPr/>
        </p:nvSpPr>
        <p:spPr>
          <a:xfrm>
            <a:off x="7306056"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12"/>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OFB</a:t>
            </a:r>
          </a:p>
        </p:txBody>
      </p:sp>
      <p:sp>
        <p:nvSpPr>
          <p:cNvPr id="15" name="内容底色_5"/>
          <p:cNvSpPr/>
          <p:nvPr/>
        </p:nvSpPr>
        <p:spPr>
          <a:xfrm>
            <a:off x="9573768"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6"/>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p>
        </p:txBody>
      </p:sp>
      <p:sp>
        <p:nvSpPr>
          <p:cNvPr id="17" name="TextBox 23"/>
          <p:cNvSpPr txBox="1"/>
          <p:nvPr/>
        </p:nvSpPr>
        <p:spPr>
          <a:xfrm>
            <a:off x="685800" y="1874520"/>
            <a:ext cx="10817352" cy="713232"/>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输出反馈（Output Feedback，OFB）模式：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从 IV 开始反复加密上一次的加密输出，生成密钥流。第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次加密输出记为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，与第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个明文分组异或得到对应密文。</a:t>
            </a:r>
          </a:p>
        </p:txBody>
      </p:sp>
      <p:sp>
        <p:nvSpPr>
          <p:cNvPr id="18" name="图形_底色"/>
          <p:cNvSpPr/>
          <p:nvPr/>
        </p:nvSpPr>
        <p:spPr>
          <a:xfrm>
            <a:off x="594360" y="2651760"/>
            <a:ext cx="11018520" cy="221284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9" name="Rectangle 47"/>
          <p:cNvSpPr/>
          <p:nvPr/>
        </p:nvSpPr>
        <p:spPr>
          <a:xfrm>
            <a:off x="594360" y="4983480"/>
            <a:ext cx="11018520" cy="50292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加密：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解密：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0"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特点：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密钥流与明文、密文无关，须顺序生成但可预先计算；同一密钥下 IV 不得重复。末组不足时，截取所需长度的密钥流进行异或即可。</a:t>
            </a:r>
          </a:p>
        </p:txBody>
      </p:sp>
      <p:sp>
        <p:nvSpPr>
          <p:cNvPr id="21" name="Rectangle 15"/>
          <p:cNvSpPr/>
          <p:nvPr/>
        </p:nvSpPr>
        <p:spPr>
          <a:xfrm>
            <a:off x="868680" y="2761488"/>
            <a:ext cx="73152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IV</a:t>
            </a:r>
          </a:p>
        </p:txBody>
      </p:sp>
      <p:cxnSp>
        <p:nvCxnSpPr>
          <p:cNvPr id="22" name="Connector 11"/>
          <p:cNvCxnSpPr/>
          <p:nvPr/>
        </p:nvCxnSpPr>
        <p:spPr>
          <a:xfrm>
            <a:off x="1600200" y="2944368"/>
            <a:ext cx="320040" cy="0"/>
          </a:xfrm>
          <a:prstGeom prst="line">
            <a:avLst/>
          </a:prstGeom>
          <a:ln w="15875">
            <a:solidFill>
              <a:srgbClr val="404040"/>
            </a:solidFill>
            <a:tailEnd type="triangle" w="med" len="med"/>
          </a:ln>
        </p:spPr>
      </p:cxnSp>
      <p:sp>
        <p:nvSpPr>
          <p:cNvPr id="23" name="Rectangle 16"/>
          <p:cNvSpPr/>
          <p:nvPr/>
        </p:nvSpPr>
        <p:spPr>
          <a:xfrm>
            <a:off x="1920240" y="27614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4" name="TextBox 23"/>
          <p:cNvSpPr txBox="1"/>
          <p:nvPr/>
        </p:nvSpPr>
        <p:spPr>
          <a:xfrm>
            <a:off x="2542032" y="3200400"/>
            <a:ext cx="731520" cy="384048"/>
          </a:xfrm>
          <a:prstGeom prst="rect">
            <a:avLst/>
          </a:prstGeom>
          <a:noFill/>
        </p:spPr>
        <p:txBody>
          <a:bodyPr wrap="square" lIns="18288" tIns="18288" rIns="18288" bIns="18288" anchor="t">
            <a:noAutofit/>
          </a:bodyPr>
          <a:lstStyle/>
          <a:p>
            <a:pPr marL="0" indent="0" algn="l">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5" name="Connector 11"/>
          <p:cNvCxnSpPr/>
          <p:nvPr/>
        </p:nvCxnSpPr>
        <p:spPr>
          <a:xfrm>
            <a:off x="2468880" y="3127248"/>
            <a:ext cx="0" cy="658368"/>
          </a:xfrm>
          <a:prstGeom prst="line">
            <a:avLst/>
          </a:prstGeom>
          <a:ln w="15875">
            <a:solidFill>
              <a:srgbClr val="404040"/>
            </a:solidFill>
            <a:tailEnd type="triangle" w="med" len="med"/>
          </a:ln>
        </p:spPr>
      </p:cxnSp>
      <p:sp>
        <p:nvSpPr>
          <p:cNvPr id="26" name="Or 18"/>
          <p:cNvSpPr/>
          <p:nvPr/>
        </p:nvSpPr>
        <p:spPr>
          <a:xfrm>
            <a:off x="23225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27" name="TextBox 23"/>
          <p:cNvSpPr txBox="1"/>
          <p:nvPr/>
        </p:nvSpPr>
        <p:spPr>
          <a:xfrm>
            <a:off x="12801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8" name="Connector 11"/>
          <p:cNvCxnSpPr/>
          <p:nvPr/>
        </p:nvCxnSpPr>
        <p:spPr>
          <a:xfrm>
            <a:off x="1828800" y="3931920"/>
            <a:ext cx="493776" cy="0"/>
          </a:xfrm>
          <a:prstGeom prst="line">
            <a:avLst/>
          </a:prstGeom>
          <a:ln w="15875">
            <a:solidFill>
              <a:srgbClr val="404040"/>
            </a:solidFill>
            <a:tailEnd type="triangle" w="med" len="med"/>
          </a:ln>
        </p:spPr>
      </p:cxnSp>
      <p:cxnSp>
        <p:nvCxnSpPr>
          <p:cNvPr id="29" name="Connector 11"/>
          <p:cNvCxnSpPr/>
          <p:nvPr/>
        </p:nvCxnSpPr>
        <p:spPr>
          <a:xfrm>
            <a:off x="2468880" y="4078224"/>
            <a:ext cx="0" cy="292608"/>
          </a:xfrm>
          <a:prstGeom prst="line">
            <a:avLst/>
          </a:prstGeom>
          <a:ln w="15875">
            <a:solidFill>
              <a:srgbClr val="404040"/>
            </a:solidFill>
            <a:tailEnd type="triangle" w="med" len="med"/>
          </a:ln>
        </p:spPr>
      </p:cxnSp>
      <p:sp>
        <p:nvSpPr>
          <p:cNvPr id="30" name="Rectangle 14"/>
          <p:cNvSpPr/>
          <p:nvPr/>
        </p:nvSpPr>
        <p:spPr>
          <a:xfrm>
            <a:off x="19202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1" name="Connector 11"/>
          <p:cNvCxnSpPr/>
          <p:nvPr/>
        </p:nvCxnSpPr>
        <p:spPr>
          <a:xfrm>
            <a:off x="3017520" y="2944368"/>
            <a:ext cx="2560320" cy="0"/>
          </a:xfrm>
          <a:prstGeom prst="line">
            <a:avLst/>
          </a:prstGeom>
          <a:ln w="15875">
            <a:solidFill>
              <a:srgbClr val="404040"/>
            </a:solidFill>
            <a:tailEnd type="triangle" w="med" len="med"/>
          </a:ln>
        </p:spPr>
      </p:cxnSp>
      <p:sp>
        <p:nvSpPr>
          <p:cNvPr id="32" name="Rectangle 16"/>
          <p:cNvSpPr/>
          <p:nvPr/>
        </p:nvSpPr>
        <p:spPr>
          <a:xfrm>
            <a:off x="5577840" y="27614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3" name="TextBox 23"/>
          <p:cNvSpPr txBox="1"/>
          <p:nvPr/>
        </p:nvSpPr>
        <p:spPr>
          <a:xfrm>
            <a:off x="6199632" y="3200400"/>
            <a:ext cx="731520" cy="384048"/>
          </a:xfrm>
          <a:prstGeom prst="rect">
            <a:avLst/>
          </a:prstGeom>
          <a:noFill/>
        </p:spPr>
        <p:txBody>
          <a:bodyPr wrap="square" lIns="18288" tIns="18288" rIns="18288" bIns="18288" anchor="t">
            <a:noAutofit/>
          </a:bodyPr>
          <a:lstStyle/>
          <a:p>
            <a:pPr marL="0" indent="0" algn="l">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4" name="Connector 11"/>
          <p:cNvCxnSpPr/>
          <p:nvPr/>
        </p:nvCxnSpPr>
        <p:spPr>
          <a:xfrm>
            <a:off x="6126480" y="3127248"/>
            <a:ext cx="0" cy="658368"/>
          </a:xfrm>
          <a:prstGeom prst="line">
            <a:avLst/>
          </a:prstGeom>
          <a:ln w="15875">
            <a:solidFill>
              <a:srgbClr val="404040"/>
            </a:solidFill>
            <a:tailEnd type="triangle" w="med" len="med"/>
          </a:ln>
        </p:spPr>
      </p:cxnSp>
      <p:sp>
        <p:nvSpPr>
          <p:cNvPr id="35" name="Or 18"/>
          <p:cNvSpPr/>
          <p:nvPr/>
        </p:nvSpPr>
        <p:spPr>
          <a:xfrm>
            <a:off x="59801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36" name="TextBox 23"/>
          <p:cNvSpPr txBox="1"/>
          <p:nvPr/>
        </p:nvSpPr>
        <p:spPr>
          <a:xfrm>
            <a:off x="49377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7" name="Connector 11"/>
          <p:cNvCxnSpPr/>
          <p:nvPr/>
        </p:nvCxnSpPr>
        <p:spPr>
          <a:xfrm>
            <a:off x="5486400" y="3931920"/>
            <a:ext cx="493776" cy="0"/>
          </a:xfrm>
          <a:prstGeom prst="line">
            <a:avLst/>
          </a:prstGeom>
          <a:ln w="15875">
            <a:solidFill>
              <a:srgbClr val="404040"/>
            </a:solidFill>
            <a:tailEnd type="triangle" w="med" len="med"/>
          </a:ln>
        </p:spPr>
      </p:cxnSp>
      <p:cxnSp>
        <p:nvCxnSpPr>
          <p:cNvPr id="38" name="Connector 11"/>
          <p:cNvCxnSpPr/>
          <p:nvPr/>
        </p:nvCxnSpPr>
        <p:spPr>
          <a:xfrm>
            <a:off x="6126480" y="4078224"/>
            <a:ext cx="0" cy="292608"/>
          </a:xfrm>
          <a:prstGeom prst="line">
            <a:avLst/>
          </a:prstGeom>
          <a:ln w="15875">
            <a:solidFill>
              <a:srgbClr val="404040"/>
            </a:solidFill>
            <a:tailEnd type="triangle" w="med" len="med"/>
          </a:ln>
        </p:spPr>
      </p:cxnSp>
      <p:sp>
        <p:nvSpPr>
          <p:cNvPr id="39" name="Rectangle 14"/>
          <p:cNvSpPr/>
          <p:nvPr/>
        </p:nvSpPr>
        <p:spPr>
          <a:xfrm>
            <a:off x="55778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40" name="Connector 11"/>
          <p:cNvCxnSpPr/>
          <p:nvPr/>
        </p:nvCxnSpPr>
        <p:spPr>
          <a:xfrm>
            <a:off x="6675120" y="2944368"/>
            <a:ext cx="2560320" cy="0"/>
          </a:xfrm>
          <a:prstGeom prst="line">
            <a:avLst/>
          </a:prstGeom>
          <a:ln w="15875">
            <a:solidFill>
              <a:srgbClr val="404040"/>
            </a:solidFill>
            <a:tailEnd type="triangle" w="med" len="med"/>
          </a:ln>
        </p:spPr>
      </p:cxnSp>
      <p:sp>
        <p:nvSpPr>
          <p:cNvPr id="41" name="Rectangle 16"/>
          <p:cNvSpPr/>
          <p:nvPr/>
        </p:nvSpPr>
        <p:spPr>
          <a:xfrm>
            <a:off x="9235440" y="27614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42" name="TextBox 23"/>
          <p:cNvSpPr txBox="1"/>
          <p:nvPr/>
        </p:nvSpPr>
        <p:spPr>
          <a:xfrm>
            <a:off x="9857232" y="3200400"/>
            <a:ext cx="731520" cy="384048"/>
          </a:xfrm>
          <a:prstGeom prst="rect">
            <a:avLst/>
          </a:prstGeom>
          <a:noFill/>
        </p:spPr>
        <p:txBody>
          <a:bodyPr wrap="square" lIns="18288" tIns="18288" rIns="18288" bIns="18288" anchor="t">
            <a:noAutofit/>
          </a:bodyPr>
          <a:lstStyle/>
          <a:p>
            <a:pPr marL="0" indent="0" algn="l">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O</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3" name="Connector 11"/>
          <p:cNvCxnSpPr/>
          <p:nvPr/>
        </p:nvCxnSpPr>
        <p:spPr>
          <a:xfrm>
            <a:off x="9784080" y="3127248"/>
            <a:ext cx="0" cy="658368"/>
          </a:xfrm>
          <a:prstGeom prst="line">
            <a:avLst/>
          </a:prstGeom>
          <a:ln w="15875">
            <a:solidFill>
              <a:srgbClr val="404040"/>
            </a:solidFill>
            <a:tailEnd type="triangle" w="med" len="med"/>
          </a:ln>
        </p:spPr>
      </p:cxnSp>
      <p:sp>
        <p:nvSpPr>
          <p:cNvPr id="44" name="Or 18"/>
          <p:cNvSpPr/>
          <p:nvPr/>
        </p:nvSpPr>
        <p:spPr>
          <a:xfrm>
            <a:off x="96377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45" name="TextBox 23"/>
          <p:cNvSpPr txBox="1"/>
          <p:nvPr/>
        </p:nvSpPr>
        <p:spPr>
          <a:xfrm>
            <a:off x="85953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6" name="Connector 11"/>
          <p:cNvCxnSpPr/>
          <p:nvPr/>
        </p:nvCxnSpPr>
        <p:spPr>
          <a:xfrm>
            <a:off x="9144000" y="3931920"/>
            <a:ext cx="493776" cy="0"/>
          </a:xfrm>
          <a:prstGeom prst="line">
            <a:avLst/>
          </a:prstGeom>
          <a:ln w="15875">
            <a:solidFill>
              <a:srgbClr val="404040"/>
            </a:solidFill>
            <a:tailEnd type="triangle" w="med" len="med"/>
          </a:ln>
        </p:spPr>
      </p:cxnSp>
      <p:cxnSp>
        <p:nvCxnSpPr>
          <p:cNvPr id="47" name="Connector 11"/>
          <p:cNvCxnSpPr/>
          <p:nvPr/>
        </p:nvCxnSpPr>
        <p:spPr>
          <a:xfrm>
            <a:off x="9784080" y="4078224"/>
            <a:ext cx="0" cy="292608"/>
          </a:xfrm>
          <a:prstGeom prst="line">
            <a:avLst/>
          </a:prstGeom>
          <a:ln w="15875">
            <a:solidFill>
              <a:srgbClr val="404040"/>
            </a:solidFill>
            <a:tailEnd type="triangle" w="med" len="med"/>
          </a:ln>
        </p:spPr>
      </p:cxnSp>
      <p:sp>
        <p:nvSpPr>
          <p:cNvPr id="48" name="Rectangle 14"/>
          <p:cNvSpPr/>
          <p:nvPr/>
        </p:nvSpPr>
        <p:spPr>
          <a:xfrm>
            <a:off x="92354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CTR：加密计数器块</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内容底色_5"/>
          <p:cNvSpPr/>
          <p:nvPr/>
        </p:nvSpPr>
        <p:spPr>
          <a:xfrm>
            <a:off x="502920"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正文_6"/>
          <p:cNvSpPr txBox="1"/>
          <p:nvPr/>
        </p:nvSpPr>
        <p:spPr>
          <a:xfrm>
            <a:off x="502920"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a:t>
            </a:r>
          </a:p>
        </p:txBody>
      </p:sp>
      <p:sp>
        <p:nvSpPr>
          <p:cNvPr id="9" name="内容底色_5"/>
          <p:cNvSpPr/>
          <p:nvPr/>
        </p:nvSpPr>
        <p:spPr>
          <a:xfrm>
            <a:off x="2770632"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正文_6"/>
          <p:cNvSpPr txBox="1"/>
          <p:nvPr/>
        </p:nvSpPr>
        <p:spPr>
          <a:xfrm>
            <a:off x="2770632"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CBC</a:t>
            </a:r>
          </a:p>
        </p:txBody>
      </p:sp>
      <p:sp>
        <p:nvSpPr>
          <p:cNvPr id="11" name="内容底色_5"/>
          <p:cNvSpPr/>
          <p:nvPr/>
        </p:nvSpPr>
        <p:spPr>
          <a:xfrm>
            <a:off x="5038344"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正文_6"/>
          <p:cNvSpPr txBox="1"/>
          <p:nvPr/>
        </p:nvSpPr>
        <p:spPr>
          <a:xfrm>
            <a:off x="5038344"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a:t>
            </a:r>
          </a:p>
        </p:txBody>
      </p:sp>
      <p:sp>
        <p:nvSpPr>
          <p:cNvPr id="13" name="内容底色_5"/>
          <p:cNvSpPr/>
          <p:nvPr/>
        </p:nvSpPr>
        <p:spPr>
          <a:xfrm>
            <a:off x="7306056" y="1353312"/>
            <a:ext cx="2112264" cy="39319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正文_6"/>
          <p:cNvSpPr txBox="1"/>
          <p:nvPr/>
        </p:nvSpPr>
        <p:spPr>
          <a:xfrm>
            <a:off x="7306056"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a:t>
            </a:r>
          </a:p>
        </p:txBody>
      </p:sp>
      <p:sp>
        <p:nvSpPr>
          <p:cNvPr id="15" name="内容底色_11"/>
          <p:cNvSpPr/>
          <p:nvPr/>
        </p:nvSpPr>
        <p:spPr>
          <a:xfrm>
            <a:off x="9573768" y="1353312"/>
            <a:ext cx="2112264" cy="393192"/>
          </a:xfrm>
          <a:prstGeom prst="rect">
            <a:avLst/>
          </a:prstGeom>
          <a:solidFill>
            <a:srgbClr val="F3DF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正文_12"/>
          <p:cNvSpPr txBox="1"/>
          <p:nvPr/>
        </p:nvSpPr>
        <p:spPr>
          <a:xfrm>
            <a:off x="9573768" y="1389888"/>
            <a:ext cx="2112264" cy="310896"/>
          </a:xfrm>
          <a:prstGeom prst="rect">
            <a:avLst/>
          </a:prstGeom>
          <a:noFill/>
        </p:spPr>
        <p:txBody>
          <a:bodyPr wrap="square" lIns="0" tIns="0" rIns="0" bIns="0">
            <a:noAutofit/>
          </a:bodyPr>
          <a:lstStyle/>
          <a:p>
            <a:pPr algn="ctr">
              <a:lnSpc>
                <a:spcPts val="22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CTR</a:t>
            </a:r>
          </a:p>
        </p:txBody>
      </p:sp>
      <p:sp>
        <p:nvSpPr>
          <p:cNvPr id="17" name="TextBox 23"/>
          <p:cNvSpPr txBox="1"/>
          <p:nvPr/>
        </p:nvSpPr>
        <p:spPr>
          <a:xfrm>
            <a:off x="685800" y="1874520"/>
            <a:ext cx="10817352" cy="713232"/>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计数器（Counter，CTR）模式：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以计数器和密钥作为加密算法的输入，再将输出与明文分组异或得到密文分组。计数器块与分组等长，通常逐块递增。</a:t>
            </a:r>
          </a:p>
        </p:txBody>
      </p:sp>
      <p:sp>
        <p:nvSpPr>
          <p:cNvPr id="18" name="图形_底色"/>
          <p:cNvSpPr/>
          <p:nvPr/>
        </p:nvSpPr>
        <p:spPr>
          <a:xfrm>
            <a:off x="594360" y="2651760"/>
            <a:ext cx="11018520" cy="221284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9" name="Rectangle 47"/>
          <p:cNvSpPr/>
          <p:nvPr/>
        </p:nvSpPr>
        <p:spPr>
          <a:xfrm>
            <a:off x="594360" y="4983480"/>
            <a:ext cx="11018520" cy="50292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解密：</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(ctr</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20"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特点：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各组互不依赖，加解密均可并行，也可单独处理某一组；同一密钥下计数器块不得重复（包括不同消息之间）。末组只截取所需长度的密钥流。</a:t>
            </a:r>
          </a:p>
        </p:txBody>
      </p:sp>
      <p:sp>
        <p:nvSpPr>
          <p:cNvPr id="21" name="Rectangle 15"/>
          <p:cNvSpPr/>
          <p:nvPr/>
        </p:nvSpPr>
        <p:spPr>
          <a:xfrm>
            <a:off x="1783080" y="2724912"/>
            <a:ext cx="137160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ctr</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2" name="Connector 11"/>
          <p:cNvCxnSpPr/>
          <p:nvPr/>
        </p:nvCxnSpPr>
        <p:spPr>
          <a:xfrm>
            <a:off x="2468880" y="3090672"/>
            <a:ext cx="0" cy="128016"/>
          </a:xfrm>
          <a:prstGeom prst="line">
            <a:avLst/>
          </a:prstGeom>
          <a:ln w="15875">
            <a:solidFill>
              <a:srgbClr val="404040"/>
            </a:solidFill>
            <a:tailEnd type="triangle" w="med" len="med"/>
          </a:ln>
        </p:spPr>
      </p:cxnSp>
      <p:sp>
        <p:nvSpPr>
          <p:cNvPr id="23" name="Rectangle 16"/>
          <p:cNvSpPr/>
          <p:nvPr/>
        </p:nvSpPr>
        <p:spPr>
          <a:xfrm>
            <a:off x="19202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4" name="Connector 11"/>
          <p:cNvCxnSpPr/>
          <p:nvPr/>
        </p:nvCxnSpPr>
        <p:spPr>
          <a:xfrm>
            <a:off x="2468880" y="3584448"/>
            <a:ext cx="0" cy="201168"/>
          </a:xfrm>
          <a:prstGeom prst="line">
            <a:avLst/>
          </a:prstGeom>
          <a:ln w="15875">
            <a:solidFill>
              <a:srgbClr val="404040"/>
            </a:solidFill>
            <a:tailEnd type="triangle" w="med" len="med"/>
          </a:ln>
        </p:spPr>
      </p:cxnSp>
      <p:sp>
        <p:nvSpPr>
          <p:cNvPr id="25" name="Or 18"/>
          <p:cNvSpPr/>
          <p:nvPr/>
        </p:nvSpPr>
        <p:spPr>
          <a:xfrm>
            <a:off x="23225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26" name="TextBox 23"/>
          <p:cNvSpPr txBox="1"/>
          <p:nvPr/>
        </p:nvSpPr>
        <p:spPr>
          <a:xfrm>
            <a:off x="12801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7" name="Connector 11"/>
          <p:cNvCxnSpPr/>
          <p:nvPr/>
        </p:nvCxnSpPr>
        <p:spPr>
          <a:xfrm>
            <a:off x="1828800" y="3931920"/>
            <a:ext cx="493776" cy="0"/>
          </a:xfrm>
          <a:prstGeom prst="line">
            <a:avLst/>
          </a:prstGeom>
          <a:ln w="15875">
            <a:solidFill>
              <a:srgbClr val="404040"/>
            </a:solidFill>
            <a:tailEnd type="triangle" w="med" len="med"/>
          </a:ln>
        </p:spPr>
      </p:cxnSp>
      <p:cxnSp>
        <p:nvCxnSpPr>
          <p:cNvPr id="28" name="Connector 11"/>
          <p:cNvCxnSpPr/>
          <p:nvPr/>
        </p:nvCxnSpPr>
        <p:spPr>
          <a:xfrm>
            <a:off x="2468880" y="4078224"/>
            <a:ext cx="0" cy="292608"/>
          </a:xfrm>
          <a:prstGeom prst="line">
            <a:avLst/>
          </a:prstGeom>
          <a:ln w="15875">
            <a:solidFill>
              <a:srgbClr val="404040"/>
            </a:solidFill>
            <a:tailEnd type="triangle" w="med" len="med"/>
          </a:ln>
        </p:spPr>
      </p:cxnSp>
      <p:sp>
        <p:nvSpPr>
          <p:cNvPr id="29" name="Rectangle 14"/>
          <p:cNvSpPr/>
          <p:nvPr/>
        </p:nvSpPr>
        <p:spPr>
          <a:xfrm>
            <a:off x="19202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0" name="Rectangle 15"/>
          <p:cNvSpPr/>
          <p:nvPr/>
        </p:nvSpPr>
        <p:spPr>
          <a:xfrm>
            <a:off x="5440680" y="2724912"/>
            <a:ext cx="137160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ctr</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+ 1</a:t>
            </a:r>
          </a:p>
        </p:txBody>
      </p:sp>
      <p:cxnSp>
        <p:nvCxnSpPr>
          <p:cNvPr id="31" name="Connector 11"/>
          <p:cNvCxnSpPr/>
          <p:nvPr/>
        </p:nvCxnSpPr>
        <p:spPr>
          <a:xfrm>
            <a:off x="6126480" y="3090672"/>
            <a:ext cx="0" cy="128016"/>
          </a:xfrm>
          <a:prstGeom prst="line">
            <a:avLst/>
          </a:prstGeom>
          <a:ln w="15875">
            <a:solidFill>
              <a:srgbClr val="404040"/>
            </a:solidFill>
            <a:tailEnd type="triangle" w="med" len="med"/>
          </a:ln>
        </p:spPr>
      </p:cxnSp>
      <p:sp>
        <p:nvSpPr>
          <p:cNvPr id="32" name="Rectangle 16"/>
          <p:cNvSpPr/>
          <p:nvPr/>
        </p:nvSpPr>
        <p:spPr>
          <a:xfrm>
            <a:off x="55778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3" name="Connector 11"/>
          <p:cNvCxnSpPr/>
          <p:nvPr/>
        </p:nvCxnSpPr>
        <p:spPr>
          <a:xfrm>
            <a:off x="6126480" y="3584448"/>
            <a:ext cx="0" cy="201168"/>
          </a:xfrm>
          <a:prstGeom prst="line">
            <a:avLst/>
          </a:prstGeom>
          <a:ln w="15875">
            <a:solidFill>
              <a:srgbClr val="404040"/>
            </a:solidFill>
            <a:tailEnd type="triangle" w="med" len="med"/>
          </a:ln>
        </p:spPr>
      </p:cxnSp>
      <p:sp>
        <p:nvSpPr>
          <p:cNvPr id="34" name="Or 18"/>
          <p:cNvSpPr/>
          <p:nvPr/>
        </p:nvSpPr>
        <p:spPr>
          <a:xfrm>
            <a:off x="59801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35" name="TextBox 23"/>
          <p:cNvSpPr txBox="1"/>
          <p:nvPr/>
        </p:nvSpPr>
        <p:spPr>
          <a:xfrm>
            <a:off x="49377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36" name="Connector 11"/>
          <p:cNvCxnSpPr/>
          <p:nvPr/>
        </p:nvCxnSpPr>
        <p:spPr>
          <a:xfrm>
            <a:off x="5486400" y="3931920"/>
            <a:ext cx="493776" cy="0"/>
          </a:xfrm>
          <a:prstGeom prst="line">
            <a:avLst/>
          </a:prstGeom>
          <a:ln w="15875">
            <a:solidFill>
              <a:srgbClr val="404040"/>
            </a:solidFill>
            <a:tailEnd type="triangle" w="med" len="med"/>
          </a:ln>
        </p:spPr>
      </p:cxnSp>
      <p:cxnSp>
        <p:nvCxnSpPr>
          <p:cNvPr id="37" name="Connector 11"/>
          <p:cNvCxnSpPr/>
          <p:nvPr/>
        </p:nvCxnSpPr>
        <p:spPr>
          <a:xfrm>
            <a:off x="6126480" y="4078224"/>
            <a:ext cx="0" cy="292608"/>
          </a:xfrm>
          <a:prstGeom prst="line">
            <a:avLst/>
          </a:prstGeom>
          <a:ln w="15875">
            <a:solidFill>
              <a:srgbClr val="404040"/>
            </a:solidFill>
            <a:tailEnd type="triangle" w="med" len="med"/>
          </a:ln>
        </p:spPr>
      </p:cxnSp>
      <p:sp>
        <p:nvSpPr>
          <p:cNvPr id="38" name="Rectangle 14"/>
          <p:cNvSpPr/>
          <p:nvPr/>
        </p:nvSpPr>
        <p:spPr>
          <a:xfrm>
            <a:off x="55778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9" name="Rectangle 15"/>
          <p:cNvSpPr/>
          <p:nvPr/>
        </p:nvSpPr>
        <p:spPr>
          <a:xfrm>
            <a:off x="9098280" y="2724912"/>
            <a:ext cx="137160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ctr</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+ 2</a:t>
            </a:r>
          </a:p>
        </p:txBody>
      </p:sp>
      <p:cxnSp>
        <p:nvCxnSpPr>
          <p:cNvPr id="40" name="Connector 11"/>
          <p:cNvCxnSpPr/>
          <p:nvPr/>
        </p:nvCxnSpPr>
        <p:spPr>
          <a:xfrm>
            <a:off x="9784080" y="3090672"/>
            <a:ext cx="0" cy="128016"/>
          </a:xfrm>
          <a:prstGeom prst="line">
            <a:avLst/>
          </a:prstGeom>
          <a:ln w="15875">
            <a:solidFill>
              <a:srgbClr val="404040"/>
            </a:solidFill>
            <a:tailEnd type="triangle" w="med" len="med"/>
          </a:ln>
        </p:spPr>
      </p:cxnSp>
      <p:sp>
        <p:nvSpPr>
          <p:cNvPr id="41" name="Rectangle 16"/>
          <p:cNvSpPr/>
          <p:nvPr/>
        </p:nvSpPr>
        <p:spPr>
          <a:xfrm>
            <a:off x="9235440" y="3218688"/>
            <a:ext cx="1097280" cy="365760"/>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2" name="Connector 11"/>
          <p:cNvCxnSpPr/>
          <p:nvPr/>
        </p:nvCxnSpPr>
        <p:spPr>
          <a:xfrm>
            <a:off x="9784080" y="3584448"/>
            <a:ext cx="0" cy="201168"/>
          </a:xfrm>
          <a:prstGeom prst="line">
            <a:avLst/>
          </a:prstGeom>
          <a:ln w="15875">
            <a:solidFill>
              <a:srgbClr val="404040"/>
            </a:solidFill>
            <a:tailEnd type="triangle" w="med" len="med"/>
          </a:ln>
        </p:spPr>
      </p:cxnSp>
      <p:sp>
        <p:nvSpPr>
          <p:cNvPr id="43" name="Or 18"/>
          <p:cNvSpPr/>
          <p:nvPr/>
        </p:nvSpPr>
        <p:spPr>
          <a:xfrm>
            <a:off x="9637776" y="378561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44" name="TextBox 23"/>
          <p:cNvSpPr txBox="1"/>
          <p:nvPr/>
        </p:nvSpPr>
        <p:spPr>
          <a:xfrm>
            <a:off x="8595360" y="3739896"/>
            <a:ext cx="54864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5" name="Connector 11"/>
          <p:cNvCxnSpPr/>
          <p:nvPr/>
        </p:nvCxnSpPr>
        <p:spPr>
          <a:xfrm>
            <a:off x="9144000" y="3931920"/>
            <a:ext cx="493776" cy="0"/>
          </a:xfrm>
          <a:prstGeom prst="line">
            <a:avLst/>
          </a:prstGeom>
          <a:ln w="15875">
            <a:solidFill>
              <a:srgbClr val="404040"/>
            </a:solidFill>
            <a:tailEnd type="triangle" w="med" len="med"/>
          </a:ln>
        </p:spPr>
      </p:cxnSp>
      <p:cxnSp>
        <p:nvCxnSpPr>
          <p:cNvPr id="46" name="Connector 11"/>
          <p:cNvCxnSpPr/>
          <p:nvPr/>
        </p:nvCxnSpPr>
        <p:spPr>
          <a:xfrm>
            <a:off x="9784080" y="4078224"/>
            <a:ext cx="0" cy="292608"/>
          </a:xfrm>
          <a:prstGeom prst="line">
            <a:avLst/>
          </a:prstGeom>
          <a:ln w="15875">
            <a:solidFill>
              <a:srgbClr val="404040"/>
            </a:solidFill>
            <a:tailEnd type="triangle" w="med" len="med"/>
          </a:ln>
        </p:spPr>
      </p:cxnSp>
      <p:sp>
        <p:nvSpPr>
          <p:cNvPr id="47" name="Rectangle 14"/>
          <p:cNvSpPr/>
          <p:nvPr/>
        </p:nvSpPr>
        <p:spPr>
          <a:xfrm>
            <a:off x="9235440" y="4370832"/>
            <a:ext cx="109728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五种工作模式对照</a:t>
            </a:r>
          </a:p>
        </p:txBody>
      </p:sp>
      <p:sp>
        <p:nvSpPr>
          <p:cNvPr id="7" name="TextBox 23"/>
          <p:cNvSpPr txBox="1"/>
          <p:nvPr/>
        </p:nvSpPr>
        <p:spPr>
          <a:xfrm>
            <a:off x="685800" y="1371600"/>
            <a:ext cx="10817352" cy="384048"/>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各模式的主要区别在于送入分组加密算法的数据，以及分组之间的依赖关系。</a:t>
            </a:r>
          </a:p>
        </p:txBody>
      </p:sp>
      <p:graphicFrame>
        <p:nvGraphicFramePr>
          <p:cNvPr id="8" name="表格"/>
          <p:cNvGraphicFramePr>
            <a:graphicFrameLocks noGrp="1"/>
          </p:cNvGraphicFramePr>
          <p:nvPr/>
        </p:nvGraphicFramePr>
        <p:xfrm>
          <a:off x="594360" y="1874520"/>
          <a:ext cx="11018520" cy="2578608"/>
        </p:xfrm>
        <a:graphic>
          <a:graphicData uri="http://schemas.openxmlformats.org/drawingml/2006/table">
            <a:tbl>
              <a:tblPr>
                <a:tableStyleId>{5940675A-B579-460E-94D1-54222C63F5DA}</a:tableStyleId>
              </a:tblPr>
              <a:tblGrid>
                <a:gridCol w="1234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模式</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送入分组加密算法的数据</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加密</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解密</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初始量要求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ECB</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当前明文分组</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无</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当前明文 ⊕ 前一密文</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串行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IV 应不可预测</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CFB</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前一密文分组</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串行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IV 应不可预测</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OFB</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上一次加密输出</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密钥流串行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密钥流串行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同一密钥下 IV 不重复</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4"/>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CTR</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当前计数器块</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可并行</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同一密钥下计数器块不重复</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bl>
          </a:graphicData>
        </a:graphic>
      </p:graphicFrame>
      <p:sp>
        <p:nvSpPr>
          <p:cNvPr id="9" name="Rectangle 47"/>
          <p:cNvSpPr/>
          <p:nvPr/>
        </p:nvSpPr>
        <p:spPr>
          <a:xfrm>
            <a:off x="594360" y="461772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末组处理：</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ECB、CBC 需要按约定填充；CFB（整块反馈）、OFB、CTR 只取与剩余明文等长的密钥流进行异或。</a:t>
            </a:r>
          </a:p>
        </p:txBody>
      </p:sp>
      <p:sp>
        <p:nvSpPr>
          <p:cNvPr id="10" name="内容底色_6"/>
          <p:cNvSpPr/>
          <p:nvPr/>
        </p:nvSpPr>
        <p:spPr>
          <a:xfrm>
            <a:off x="594360" y="571500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联系：</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CFB、OFB、CTR 将加密输出与明文异或，这与下一节流密码的思路一致。</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课堂小测：比较 ECB 与 CBC</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玩具分组密码（仅用于演示）：分组长度 4 位，</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1，即先与密钥异或，再循环左移 1 位。取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1010，IV = 0110，明文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1001 ‖ 1001 ‖ 0101。</a:t>
            </a:r>
          </a:p>
        </p:txBody>
      </p:sp>
      <p:graphicFrame>
        <p:nvGraphicFramePr>
          <p:cNvPr id="8" name="表格"/>
          <p:cNvGraphicFramePr>
            <a:graphicFrameLocks noGrp="1"/>
          </p:cNvGraphicFramePr>
          <p:nvPr/>
        </p:nvGraphicFramePr>
        <p:xfrm>
          <a:off x="594360" y="2395728"/>
          <a:ext cx="11018520" cy="2194560"/>
        </p:xfrm>
        <a:graphic>
          <a:graphicData uri="http://schemas.openxmlformats.org/drawingml/2006/table">
            <a:tbl>
              <a:tblPr>
                <a:tableStyleId>{5940675A-B579-460E-94D1-54222C63F5DA}</a:tableStyleId>
              </a:tblPr>
              <a:tblGrid>
                <a:gridCol w="1325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明文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ECB：</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3</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sp>
        <p:nvSpPr>
          <p:cNvPr id="9" name="内容底色_6"/>
          <p:cNvSpPr/>
          <p:nvPr/>
        </p:nvSpPr>
        <p:spPr>
          <a:xfrm>
            <a:off x="594360" y="4773168"/>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试一试：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分别用 ECB 和 CBC 模式加密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，填写上表，并比较两种模式下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的关系。</a:t>
            </a:r>
          </a:p>
        </p:txBody>
      </p:sp>
      <p:sp>
        <p:nvSpPr>
          <p:cNvPr id="10" name="Rectangle 47"/>
          <p:cNvSpPr/>
          <p:nvPr/>
        </p:nvSpPr>
        <p:spPr>
          <a:xfrm>
            <a:off x="594360" y="5504688"/>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提示：</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 4 位到 4 位的双射，其解密为“循环右移 1 位，再与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异或”。</a:t>
            </a:r>
          </a:p>
        </p:txBody>
      </p:sp>
      <p:cxnSp>
        <p:nvCxnSpPr>
          <p:cNvPr id="11" name="直接箭头连接符 10"/>
          <p:cNvCxnSpPr/>
          <p:nvPr/>
        </p:nvCxnSpPr>
        <p:spPr>
          <a:xfrm>
            <a:off x="8866598" y="2712378"/>
            <a:ext cx="708917" cy="10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6328881" y="2395728"/>
            <a:ext cx="5283999" cy="2194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课堂小测：比较 ECB 与 CBC（答案）</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玩具分组密码（仅用于演示）：分组长度 4 位，</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1，即先与密钥异或，再循环左移 1 位。取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1010，IV = 0110，明文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1001 ‖ 1001 ‖ 0101。</a:t>
            </a:r>
          </a:p>
        </p:txBody>
      </p:sp>
      <p:graphicFrame>
        <p:nvGraphicFramePr>
          <p:cNvPr id="8" name="表格"/>
          <p:cNvGraphicFramePr>
            <a:graphicFrameLocks noGrp="1"/>
          </p:cNvGraphicFramePr>
          <p:nvPr/>
        </p:nvGraphicFramePr>
        <p:xfrm>
          <a:off x="594360" y="2395728"/>
          <a:ext cx="11018520" cy="2194560"/>
        </p:xfrm>
        <a:graphic>
          <a:graphicData uri="http://schemas.openxmlformats.org/drawingml/2006/table">
            <a:tbl>
              <a:tblPr>
                <a:tableStyleId>{5940675A-B579-460E-94D1-54222C63F5DA}</a:tableStyleId>
              </a:tblPr>
              <a:tblGrid>
                <a:gridCol w="13258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明文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ECB：</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0110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BF1F1"/>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1111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1010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0110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BF1F1"/>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0011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0011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54864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3</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1111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0110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sp>
        <p:nvSpPr>
          <p:cNvPr id="9" name="Rectangle 47"/>
          <p:cNvSpPr/>
          <p:nvPr/>
        </p:nvSpPr>
        <p:spPr>
          <a:xfrm>
            <a:off x="594360" y="4773168"/>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 第 1 组：</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 = 1111，1111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0101，循环左移 1 位得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1010。</a:t>
            </a:r>
          </a:p>
        </p:txBody>
      </p:sp>
      <p:sp>
        <p:nvSpPr>
          <p:cNvPr id="10" name="内容底色_6"/>
          <p:cNvSpPr/>
          <p:nvPr/>
        </p:nvSpPr>
        <p:spPr>
          <a:xfrm>
            <a:off x="594360" y="5504688"/>
            <a:ext cx="11018520" cy="8412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结论：</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ECB 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导致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，暴露了分组重复；CBC 引入前一密文分组后，相同明文分组得到不同密文分组。</a:t>
            </a:r>
          </a:p>
        </p:txBody>
      </p:sp>
      <p:cxnSp>
        <p:nvCxnSpPr>
          <p:cNvPr id="11" name="直接箭头连接符 10"/>
          <p:cNvCxnSpPr/>
          <p:nvPr/>
        </p:nvCxnSpPr>
        <p:spPr>
          <a:xfrm>
            <a:off x="8866598" y="2712378"/>
            <a:ext cx="708917" cy="10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6328881" y="2395728"/>
            <a:ext cx="5283999" cy="2194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
          <p:cNvGrpSpPr/>
          <p:nvPr/>
        </p:nvGrpSpPr>
        <p:grpSpPr>
          <a:xfrm>
            <a:off x="3682235" y="2665199"/>
            <a:ext cx="4826761" cy="764195"/>
            <a:chOff x="3147" y="6401"/>
            <a:chExt cx="6733" cy="1066"/>
          </a:xfrm>
        </p:grpSpPr>
        <p:sp>
          <p:nvSpPr>
            <p:cNvPr id="4" name="文本占位符 5"/>
            <p:cNvSpPr txBox="1"/>
            <p:nvPr/>
          </p:nvSpPr>
          <p:spPr>
            <a:xfrm>
              <a:off x="4979" y="6401"/>
              <a:ext cx="4901" cy="1066"/>
            </a:xfrm>
            <a:prstGeom prst="rect">
              <a:avLst/>
            </a:prstGeom>
          </p:spPr>
          <p:txBody>
            <a:bodyPr vert="horz" wrap="squar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kern="1200" spc="100" baseline="0">
                  <a:solidFill>
                    <a:srgbClr val="404040"/>
                  </a:solidFill>
                  <a:latin typeface="思源黑体 CN Bold" panose="020B0800000000000000" pitchFamily="34" charset="-122"/>
                  <a:ea typeface="思源黑体 CN Bold" panose="020B0800000000000000" pitchFamily="34" charset="-122"/>
                  <a:cs typeface="+mn-cs"/>
                  <a:sym typeface="字魂111号-金榜招牌体" panose="00000500000000000000" pitchFamily="2" charset="-122"/>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spcAft>
                  <a:spcPts val="0"/>
                </a:spcAft>
              </a:pPr>
              <a:r>
                <a:rPr lang="zh-CN" altLang="en-US" sz="4965" b="1" i="0" dirty="0">
                  <a:solidFill>
                    <a:srgbClr val="333333"/>
                  </a:solidFill>
                  <a:latin typeface="Times New Roman" panose="02020603050405020304" charset="0"/>
                  <a:ea typeface="微软雅黑" panose="020B0503020204020204" charset="-122"/>
                  <a:cs typeface="Times New Roman" panose="02020603050405020304" charset="0"/>
                </a:rPr>
                <a:t>流密码</a:t>
              </a:r>
            </a:p>
          </p:txBody>
        </p:sp>
        <p:sp>
          <p:nvSpPr>
            <p:cNvPr id="5" name="椭圆 3"/>
            <p:cNvSpPr/>
            <p:nvPr/>
          </p:nvSpPr>
          <p:spPr>
            <a:xfrm>
              <a:off x="3271" y="6401"/>
              <a:ext cx="1084" cy="1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6" name="矩形 4"/>
            <p:cNvSpPr/>
            <p:nvPr/>
          </p:nvSpPr>
          <p:spPr>
            <a:xfrm>
              <a:off x="3147" y="6523"/>
              <a:ext cx="1331" cy="805"/>
            </a:xfrm>
            <a:prstGeom prst="rect">
              <a:avLst/>
            </a:prstGeom>
          </p:spPr>
          <p:txBody>
            <a:bodyPr wrap="square">
              <a:spAutoFit/>
            </a:bodyPr>
            <a:lstStyle/>
            <a:p>
              <a:pPr lvl="0" algn="ctr">
                <a:buClrTx/>
                <a:buSzTx/>
                <a:buFontTx/>
              </a:pPr>
              <a:r>
                <a:rPr lang="en-US" altLang="zh-CN" sz="3160" b="0" i="0">
                  <a:solidFill>
                    <a:prstClr val="white"/>
                  </a:solidFill>
                  <a:latin typeface="+mj-ea"/>
                  <a:ea typeface="+mj-ea"/>
                </a:rPr>
                <a:t>02</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从一次性密码本到流密码</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目前只有“一次性密码本”是无条件安全的，一次性密码本的思想孕育出了</a:t>
            </a:r>
            <a:r>
              <a:rPr lang="en-US" altLang="zh-CN"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流密码（Stream Cipher）</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8" name="图形_底色"/>
          <p:cNvSpPr/>
          <p:nvPr>
            <p:custDataLst>
              <p:tags r:id="rId1"/>
            </p:custDataLst>
          </p:nvPr>
        </p:nvSpPr>
        <p:spPr>
          <a:xfrm>
            <a:off x="594360" y="2084832"/>
            <a:ext cx="5394960" cy="329184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TextBox 7"/>
          <p:cNvSpPr txBox="1"/>
          <p:nvPr>
            <p:custDataLst>
              <p:tags r:id="rId2"/>
            </p:custDataLst>
          </p:nvPr>
        </p:nvSpPr>
        <p:spPr>
          <a:xfrm>
            <a:off x="777240" y="2223135"/>
            <a:ext cx="5029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一次性密码本（One-Time Pad）</a:t>
            </a:r>
          </a:p>
        </p:txBody>
      </p:sp>
      <p:sp>
        <p:nvSpPr>
          <p:cNvPr id="10" name="TextBox 23"/>
          <p:cNvSpPr txBox="1"/>
          <p:nvPr>
            <p:custDataLst>
              <p:tags r:id="rId3"/>
            </p:custDataLst>
          </p:nvPr>
        </p:nvSpPr>
        <p:spPr>
          <a:xfrm>
            <a:off x="777240" y="2662047"/>
            <a:ext cx="5074920" cy="2697480"/>
          </a:xfrm>
          <a:prstGeom prst="rect">
            <a:avLst/>
          </a:prstGeom>
          <a:noFill/>
        </p:spPr>
        <p:txBody>
          <a:bodyPr wrap="square" lIns="18288" tIns="18288" rIns="18288" bIns="18288" anchor="t">
            <a:noAutofit/>
          </a:bodyPr>
          <a:lstStyle/>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条件：</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密钥流为真随机比特流，长度与明文相同，且只使用一次。</a:t>
            </a:r>
          </a:p>
          <a:p>
            <a:pPr marL="0" indent="0" algn="ctr">
              <a:lnSpc>
                <a:spcPct val="120000"/>
              </a:lnSpc>
              <a:spcBef>
                <a:spcPts val="800"/>
              </a:spcBef>
              <a:buNone/>
            </a:pP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endPar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安全性：</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无条件安全。</a:t>
            </a:r>
          </a:p>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局限：</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密钥与明文等长，分发与保管成本很高，且不能重复使用。</a:t>
            </a:r>
          </a:p>
        </p:txBody>
      </p:sp>
      <p:sp>
        <p:nvSpPr>
          <p:cNvPr id="11" name="图形_底色"/>
          <p:cNvSpPr/>
          <p:nvPr>
            <p:custDataLst>
              <p:tags r:id="rId4"/>
            </p:custDataLst>
          </p:nvPr>
        </p:nvSpPr>
        <p:spPr>
          <a:xfrm>
            <a:off x="6217920" y="2084832"/>
            <a:ext cx="5394960" cy="329184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7"/>
          <p:cNvSpPr txBox="1"/>
          <p:nvPr>
            <p:custDataLst>
              <p:tags r:id="rId5"/>
            </p:custDataLst>
          </p:nvPr>
        </p:nvSpPr>
        <p:spPr>
          <a:xfrm>
            <a:off x="6400800" y="2223135"/>
            <a:ext cx="5029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sp>
        <p:nvSpPr>
          <p:cNvPr id="13" name="TextBox 23"/>
          <p:cNvSpPr txBox="1"/>
          <p:nvPr>
            <p:custDataLst>
              <p:tags r:id="rId6"/>
            </p:custDataLst>
          </p:nvPr>
        </p:nvSpPr>
        <p:spPr>
          <a:xfrm>
            <a:off x="6400800" y="2662047"/>
            <a:ext cx="5074920" cy="2697480"/>
          </a:xfrm>
          <a:prstGeom prst="rect">
            <a:avLst/>
          </a:prstGeom>
          <a:noFill/>
        </p:spPr>
        <p:txBody>
          <a:bodyPr wrap="square" lIns="18288" tIns="18288" rIns="18288" bIns="18288" anchor="t">
            <a:noAutofit/>
          </a:bodyPr>
          <a:lstStyle/>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思路：</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以较短的种子密钥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作为伪随机数生成器的输入，产生很长的伪随机密钥流。</a:t>
            </a:r>
          </a:p>
          <a:p>
            <a:pPr marL="0" indent="0" algn="ctr">
              <a:lnSpc>
                <a:spcPct val="120000"/>
              </a:lnSpc>
              <a:spcBef>
                <a:spcPts val="800"/>
              </a:spcBef>
              <a:buNone/>
            </a:pP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endPar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安全性：</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计算安全，取决于密钥流的质量。</a:t>
            </a:r>
          </a:p>
          <a:p>
            <a:pPr marL="0" indent="0" algn="l">
              <a:lnSpc>
                <a:spcPct val="120000"/>
              </a:lnSpc>
              <a:spcBef>
                <a:spcPts val="8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优点：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收发双方只需共享较短的种子密钥。</a:t>
            </a:r>
          </a:p>
        </p:txBody>
      </p:sp>
      <p:sp>
        <p:nvSpPr>
          <p:cNvPr id="14"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说明：</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真随机比特流的生成效率较低，因此公开的流密码方案多采用以种子密钥为输入的伪随机数生成器生成密钥流。这样</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收发双方只需共享较短的种子密钥，从而提高效率。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二元加法流密码</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流密码通过密钥流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 对明文比特流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 逐比特异或，得到密文比特流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⋯。当密钥流是伪随机比特流时，称为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二元加法流密码</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8" name="Rounded Rectangle 6"/>
          <p:cNvSpPr/>
          <p:nvPr/>
        </p:nvSpPr>
        <p:spPr>
          <a:xfrm>
            <a:off x="731520" y="2514600"/>
            <a:ext cx="2194560" cy="457200"/>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明文比特流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243342"/>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9" name="Or 18"/>
          <p:cNvSpPr/>
          <p:nvPr/>
        </p:nvSpPr>
        <p:spPr>
          <a:xfrm>
            <a:off x="3666744" y="2569464"/>
            <a:ext cx="347472" cy="347472"/>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10" name="Shape 14"/>
          <p:cNvSpPr/>
          <p:nvPr/>
        </p:nvSpPr>
        <p:spPr>
          <a:xfrm>
            <a:off x="2926080" y="2743200"/>
            <a:ext cx="740664" cy="0"/>
          </a:xfrm>
          <a:prstGeom prst="line">
            <a:avLst/>
          </a:prstGeom>
          <a:noFill/>
          <a:ln w="26670">
            <a:solidFill>
              <a:srgbClr val="A8504A"/>
            </a:solidFill>
            <a:prstDash val="solid"/>
            <a:tailEnd type="triangle"/>
          </a:ln>
        </p:spPr>
      </p:sp>
      <p:sp>
        <p:nvSpPr>
          <p:cNvPr id="11" name="Shape 14"/>
          <p:cNvSpPr/>
          <p:nvPr/>
        </p:nvSpPr>
        <p:spPr>
          <a:xfrm>
            <a:off x="4014216" y="2743200"/>
            <a:ext cx="3127248" cy="0"/>
          </a:xfrm>
          <a:prstGeom prst="line">
            <a:avLst/>
          </a:prstGeom>
          <a:noFill/>
          <a:ln w="26670">
            <a:solidFill>
              <a:srgbClr val="A8504A"/>
            </a:solidFill>
            <a:prstDash val="solid"/>
            <a:tailEnd type="triangle"/>
          </a:ln>
        </p:spPr>
      </p:sp>
      <p:sp>
        <p:nvSpPr>
          <p:cNvPr id="12" name="TextBox 23"/>
          <p:cNvSpPr txBox="1"/>
          <p:nvPr/>
        </p:nvSpPr>
        <p:spPr>
          <a:xfrm>
            <a:off x="5074920" y="2310003"/>
            <a:ext cx="1005840" cy="365760"/>
          </a:xfrm>
          <a:prstGeom prst="rect">
            <a:avLst/>
          </a:prstGeom>
          <a:noFill/>
        </p:spPr>
        <p:txBody>
          <a:bodyPr wrap="square" lIns="18288" tIns="18288" rIns="18288" bIns="18288" anchor="t">
            <a:noAutofit/>
          </a:bodyPr>
          <a:lstStyle/>
          <a:p>
            <a:pPr marL="0" indent="0" algn="ctr">
              <a:buNone/>
            </a:pP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endPar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3" name="Or 18"/>
          <p:cNvSpPr/>
          <p:nvPr/>
        </p:nvSpPr>
        <p:spPr>
          <a:xfrm>
            <a:off x="7141464" y="2569464"/>
            <a:ext cx="347472" cy="347472"/>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sp>
        <p:nvSpPr>
          <p:cNvPr id="14" name="Shape 14"/>
          <p:cNvSpPr/>
          <p:nvPr/>
        </p:nvSpPr>
        <p:spPr>
          <a:xfrm>
            <a:off x="7488936" y="2743200"/>
            <a:ext cx="832104" cy="0"/>
          </a:xfrm>
          <a:prstGeom prst="line">
            <a:avLst/>
          </a:prstGeom>
          <a:noFill/>
          <a:ln w="26670">
            <a:solidFill>
              <a:srgbClr val="A8504A"/>
            </a:solidFill>
            <a:prstDash val="solid"/>
            <a:tailEnd type="triangle"/>
          </a:ln>
        </p:spPr>
      </p:sp>
      <p:sp>
        <p:nvSpPr>
          <p:cNvPr id="15" name="Rounded Rectangle 6"/>
          <p:cNvSpPr/>
          <p:nvPr/>
        </p:nvSpPr>
        <p:spPr>
          <a:xfrm>
            <a:off x="8321040" y="2514600"/>
            <a:ext cx="2194560" cy="457200"/>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明文比特流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243342"/>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16" name="Rounded Rectangle 6"/>
          <p:cNvSpPr/>
          <p:nvPr/>
        </p:nvSpPr>
        <p:spPr>
          <a:xfrm>
            <a:off x="3063240" y="3246120"/>
            <a:ext cx="155448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密钥流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k</a:t>
            </a:r>
            <a:r>
              <a:rPr lang="zh-CN" altLang="en-US" sz="1800" b="1" i="1" baseline="-25000" dirty="0">
                <a:solidFill>
                  <a:srgbClr val="243342"/>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17" name="Shape 14"/>
          <p:cNvSpPr/>
          <p:nvPr/>
        </p:nvSpPr>
        <p:spPr>
          <a:xfrm flipV="1">
            <a:off x="3840480" y="2916936"/>
            <a:ext cx="0" cy="329184"/>
          </a:xfrm>
          <a:prstGeom prst="line">
            <a:avLst/>
          </a:prstGeom>
          <a:noFill/>
          <a:ln w="26670">
            <a:solidFill>
              <a:srgbClr val="A8504A"/>
            </a:solidFill>
            <a:prstDash val="solid"/>
            <a:tailEnd type="triangle"/>
          </a:ln>
        </p:spPr>
      </p:sp>
      <p:sp>
        <p:nvSpPr>
          <p:cNvPr id="18" name="Rounded Rectangle 7"/>
          <p:cNvSpPr/>
          <p:nvPr/>
        </p:nvSpPr>
        <p:spPr>
          <a:xfrm>
            <a:off x="2926080" y="3931920"/>
            <a:ext cx="1828800" cy="438912"/>
          </a:xfrm>
          <a:prstGeom prst="roundRect">
            <a:avLst/>
          </a:prstGeom>
          <a:solidFill>
            <a:srgbClr val="B04841"/>
          </a:solidFill>
          <a:ln w="15875">
            <a:solidFill>
              <a:srgbClr val="B04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密钥流生成器</a:t>
            </a:r>
          </a:p>
        </p:txBody>
      </p:sp>
      <p:sp>
        <p:nvSpPr>
          <p:cNvPr id="19" name="Shape 14"/>
          <p:cNvSpPr/>
          <p:nvPr/>
        </p:nvSpPr>
        <p:spPr>
          <a:xfrm flipV="1">
            <a:off x="3840480" y="3685032"/>
            <a:ext cx="0" cy="246888"/>
          </a:xfrm>
          <a:prstGeom prst="line">
            <a:avLst/>
          </a:prstGeom>
          <a:noFill/>
          <a:ln w="26670">
            <a:solidFill>
              <a:srgbClr val="A8504A"/>
            </a:solidFill>
            <a:prstDash val="solid"/>
            <a:tailEnd type="triangle"/>
          </a:ln>
        </p:spPr>
      </p:sp>
      <p:sp>
        <p:nvSpPr>
          <p:cNvPr id="20" name="Rounded Rectangle 6"/>
          <p:cNvSpPr/>
          <p:nvPr/>
        </p:nvSpPr>
        <p:spPr>
          <a:xfrm>
            <a:off x="6537960" y="3246120"/>
            <a:ext cx="155448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密钥流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k</a:t>
            </a:r>
            <a:r>
              <a:rPr lang="zh-CN" altLang="en-US" sz="1800" b="1" i="1" baseline="-25000" dirty="0">
                <a:solidFill>
                  <a:srgbClr val="243342"/>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21" name="Shape 14"/>
          <p:cNvSpPr/>
          <p:nvPr/>
        </p:nvSpPr>
        <p:spPr>
          <a:xfrm flipV="1">
            <a:off x="7315200" y="2916936"/>
            <a:ext cx="0" cy="329184"/>
          </a:xfrm>
          <a:prstGeom prst="line">
            <a:avLst/>
          </a:prstGeom>
          <a:noFill/>
          <a:ln w="26670">
            <a:solidFill>
              <a:srgbClr val="A8504A"/>
            </a:solidFill>
            <a:prstDash val="solid"/>
            <a:tailEnd type="triangle"/>
          </a:ln>
        </p:spPr>
      </p:sp>
      <p:sp>
        <p:nvSpPr>
          <p:cNvPr id="22" name="Rounded Rectangle 7"/>
          <p:cNvSpPr/>
          <p:nvPr/>
        </p:nvSpPr>
        <p:spPr>
          <a:xfrm>
            <a:off x="6400800" y="3931920"/>
            <a:ext cx="1828800" cy="438912"/>
          </a:xfrm>
          <a:prstGeom prst="roundRect">
            <a:avLst/>
          </a:prstGeom>
          <a:solidFill>
            <a:srgbClr val="B04841"/>
          </a:solidFill>
          <a:ln w="15875">
            <a:solidFill>
              <a:srgbClr val="B04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密钥流生成器</a:t>
            </a:r>
          </a:p>
        </p:txBody>
      </p:sp>
      <p:sp>
        <p:nvSpPr>
          <p:cNvPr id="23" name="Shape 14"/>
          <p:cNvSpPr/>
          <p:nvPr/>
        </p:nvSpPr>
        <p:spPr>
          <a:xfrm flipV="1">
            <a:off x="7315200" y="3685032"/>
            <a:ext cx="0" cy="246888"/>
          </a:xfrm>
          <a:prstGeom prst="line">
            <a:avLst/>
          </a:prstGeom>
          <a:noFill/>
          <a:ln w="26670">
            <a:solidFill>
              <a:srgbClr val="A8504A"/>
            </a:solidFill>
            <a:prstDash val="solid"/>
            <a:tailEnd type="triangle"/>
          </a:ln>
        </p:spPr>
      </p:sp>
      <p:sp>
        <p:nvSpPr>
          <p:cNvPr id="24" name="Rounded Rectangle 6"/>
          <p:cNvSpPr/>
          <p:nvPr/>
        </p:nvSpPr>
        <p:spPr>
          <a:xfrm>
            <a:off x="4754880" y="4617720"/>
            <a:ext cx="164592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种子密钥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k</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25" name="Shape 3"/>
          <p:cNvSpPr/>
          <p:nvPr/>
        </p:nvSpPr>
        <p:spPr>
          <a:xfrm flipH="1">
            <a:off x="3840480" y="4837176"/>
            <a:ext cx="914400" cy="0"/>
          </a:xfrm>
          <a:prstGeom prst="line">
            <a:avLst/>
          </a:prstGeom>
          <a:noFill/>
          <a:ln w="15875">
            <a:solidFill>
              <a:srgbClr val="9E3338"/>
            </a:solidFill>
            <a:prstDash val="solid"/>
            <a:headEnd type="none"/>
            <a:tailEnd type="none"/>
          </a:ln>
        </p:spPr>
      </p:sp>
      <p:sp>
        <p:nvSpPr>
          <p:cNvPr id="26" name="Shape 14"/>
          <p:cNvSpPr/>
          <p:nvPr/>
        </p:nvSpPr>
        <p:spPr>
          <a:xfrm flipV="1">
            <a:off x="3840480" y="4370832"/>
            <a:ext cx="0" cy="466344"/>
          </a:xfrm>
          <a:prstGeom prst="line">
            <a:avLst/>
          </a:prstGeom>
          <a:noFill/>
          <a:ln w="26670">
            <a:solidFill>
              <a:srgbClr val="A8504A"/>
            </a:solidFill>
            <a:prstDash val="solid"/>
            <a:tailEnd type="triangle"/>
          </a:ln>
        </p:spPr>
      </p:sp>
      <p:sp>
        <p:nvSpPr>
          <p:cNvPr id="27" name="Shape 3"/>
          <p:cNvSpPr/>
          <p:nvPr/>
        </p:nvSpPr>
        <p:spPr>
          <a:xfrm>
            <a:off x="6400800" y="4837176"/>
            <a:ext cx="914400" cy="0"/>
          </a:xfrm>
          <a:prstGeom prst="line">
            <a:avLst/>
          </a:prstGeom>
          <a:noFill/>
          <a:ln w="15875">
            <a:solidFill>
              <a:srgbClr val="9E3338"/>
            </a:solidFill>
            <a:prstDash val="solid"/>
            <a:headEnd type="none"/>
            <a:tailEnd type="none"/>
          </a:ln>
        </p:spPr>
      </p:sp>
      <p:sp>
        <p:nvSpPr>
          <p:cNvPr id="28" name="Shape 14"/>
          <p:cNvSpPr/>
          <p:nvPr/>
        </p:nvSpPr>
        <p:spPr>
          <a:xfrm flipV="1">
            <a:off x="7315200" y="4370832"/>
            <a:ext cx="0" cy="466344"/>
          </a:xfrm>
          <a:prstGeom prst="line">
            <a:avLst/>
          </a:prstGeom>
          <a:noFill/>
          <a:ln w="26670">
            <a:solidFill>
              <a:srgbClr val="A8504A"/>
            </a:solidFill>
            <a:prstDash val="solid"/>
            <a:tailEnd type="triangle"/>
          </a:ln>
        </p:spPr>
      </p:sp>
      <p:sp>
        <p:nvSpPr>
          <p:cNvPr id="29" name="TextBox 23"/>
          <p:cNvSpPr txBox="1"/>
          <p:nvPr/>
        </p:nvSpPr>
        <p:spPr>
          <a:xfrm>
            <a:off x="914400" y="3246120"/>
            <a:ext cx="2011680" cy="365760"/>
          </a:xfrm>
          <a:prstGeom prst="rect">
            <a:avLst/>
          </a:prstGeom>
          <a:noFill/>
        </p:spPr>
        <p:txBody>
          <a:bodyPr wrap="square" lIns="18288" tIns="18288" rIns="18288" bIns="18288" anchor="t">
            <a:noAutofit/>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加密端</a:t>
            </a:r>
          </a:p>
        </p:txBody>
      </p:sp>
      <p:sp>
        <p:nvSpPr>
          <p:cNvPr id="30" name="TextBox 23"/>
          <p:cNvSpPr txBox="1"/>
          <p:nvPr/>
        </p:nvSpPr>
        <p:spPr>
          <a:xfrm>
            <a:off x="8503920" y="3246120"/>
            <a:ext cx="2011680" cy="365760"/>
          </a:xfrm>
          <a:prstGeom prst="rect">
            <a:avLst/>
          </a:prstGeom>
          <a:noFill/>
        </p:spPr>
        <p:txBody>
          <a:bodyPr wrap="square" lIns="18288" tIns="18288" rIns="18288" bIns="18288" anchor="t">
            <a:noAutofit/>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解密端</a:t>
            </a:r>
          </a:p>
        </p:txBody>
      </p:sp>
      <p:sp>
        <p:nvSpPr>
          <p:cNvPr id="31" name="内容底色_6"/>
          <p:cNvSpPr/>
          <p:nvPr/>
        </p:nvSpPr>
        <p:spPr>
          <a:xfrm>
            <a:off x="594360" y="5303520"/>
            <a:ext cx="11018520" cy="10515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加密：</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解密：</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密钥流生成器即伪随机数生成器：两端输入同一种子密钥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，由其确定性得到相同的密钥流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密钥流的安全要求</a:t>
            </a:r>
          </a:p>
        </p:txBody>
      </p:sp>
      <p:sp>
        <p:nvSpPr>
          <p:cNvPr id="7" name="TextBox 23"/>
          <p:cNvSpPr txBox="1"/>
          <p:nvPr/>
        </p:nvSpPr>
        <p:spPr>
          <a:xfrm>
            <a:off x="685800" y="1353312"/>
            <a:ext cx="10817352" cy="41148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相对于分组密码，二元加法流密码的设计关键在于生成安全的密钥流。</a:t>
            </a:r>
          </a:p>
        </p:txBody>
      </p:sp>
      <p:sp>
        <p:nvSpPr>
          <p:cNvPr id="8" name="图形_背景"/>
          <p:cNvSpPr/>
          <p:nvPr>
            <p:custDataLst>
              <p:tags r:id="rId1"/>
            </p:custDataLst>
          </p:nvPr>
        </p:nvSpPr>
        <p:spPr>
          <a:xfrm>
            <a:off x="685800" y="1847088"/>
            <a:ext cx="3401568" cy="1554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文本_128 bit"/>
          <p:cNvSpPr txBox="1"/>
          <p:nvPr>
            <p:custDataLst>
              <p:tags r:id="rId2"/>
            </p:custDataLst>
          </p:nvPr>
        </p:nvSpPr>
        <p:spPr>
          <a:xfrm>
            <a:off x="795528" y="195681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周期足够长</a:t>
            </a:r>
          </a:p>
        </p:txBody>
      </p:sp>
      <p:sp>
        <p:nvSpPr>
          <p:cNvPr id="10" name="TextBox 23"/>
          <p:cNvSpPr txBox="1"/>
          <p:nvPr>
            <p:custDataLst>
              <p:tags r:id="rId3"/>
            </p:custDataLst>
          </p:nvPr>
        </p:nvSpPr>
        <p:spPr>
          <a:xfrm>
            <a:off x="822960" y="2377440"/>
            <a:ext cx="3127248" cy="95097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伪随机数生成器具有周期性，一般要求周期如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128</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或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256</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1" name="图形_背景"/>
          <p:cNvSpPr/>
          <p:nvPr>
            <p:custDataLst>
              <p:tags r:id="rId4"/>
            </p:custDataLst>
          </p:nvPr>
        </p:nvSpPr>
        <p:spPr>
          <a:xfrm>
            <a:off x="4389120" y="1847088"/>
            <a:ext cx="3401568" cy="1554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文本_128 bit"/>
          <p:cNvSpPr txBox="1"/>
          <p:nvPr>
            <p:custDataLst>
              <p:tags r:id="rId5"/>
            </p:custDataLst>
          </p:nvPr>
        </p:nvSpPr>
        <p:spPr>
          <a:xfrm>
            <a:off x="4498848" y="195681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难以预测</a:t>
            </a:r>
          </a:p>
        </p:txBody>
      </p:sp>
      <p:sp>
        <p:nvSpPr>
          <p:cNvPr id="13" name="TextBox 23"/>
          <p:cNvSpPr txBox="1"/>
          <p:nvPr>
            <p:custDataLst>
              <p:tags r:id="rId6"/>
            </p:custDataLst>
          </p:nvPr>
        </p:nvSpPr>
        <p:spPr>
          <a:xfrm>
            <a:off x="4526280" y="2377440"/>
            <a:ext cx="3127248" cy="95097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不知道种子密钥时，即使得到部分密钥流，也难以推算其余比特</a:t>
            </a:r>
          </a:p>
        </p:txBody>
      </p:sp>
      <p:sp>
        <p:nvSpPr>
          <p:cNvPr id="14" name="图形_背景"/>
          <p:cNvSpPr/>
          <p:nvPr>
            <p:custDataLst>
              <p:tags r:id="rId7"/>
            </p:custDataLst>
          </p:nvPr>
        </p:nvSpPr>
        <p:spPr>
          <a:xfrm>
            <a:off x="8092440" y="1847088"/>
            <a:ext cx="3401568" cy="15544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文本_128 bit"/>
          <p:cNvSpPr txBox="1"/>
          <p:nvPr>
            <p:custDataLst>
              <p:tags r:id="rId8"/>
            </p:custDataLst>
          </p:nvPr>
        </p:nvSpPr>
        <p:spPr>
          <a:xfrm>
            <a:off x="8202168" y="195681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接近随机</a:t>
            </a:r>
          </a:p>
        </p:txBody>
      </p:sp>
      <p:sp>
        <p:nvSpPr>
          <p:cNvPr id="16" name="TextBox 23"/>
          <p:cNvSpPr txBox="1"/>
          <p:nvPr>
            <p:custDataLst>
              <p:tags r:id="rId9"/>
            </p:custDataLst>
          </p:nvPr>
        </p:nvSpPr>
        <p:spPr>
          <a:xfrm>
            <a:off x="8229600" y="2377440"/>
            <a:ext cx="3127248" cy="95097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0、1 分布均衡，无明显相关性，能通过随机性检测</a:t>
            </a:r>
          </a:p>
        </p:txBody>
      </p:sp>
      <p:sp>
        <p:nvSpPr>
          <p:cNvPr id="17" name="Rectangle 47"/>
          <p:cNvSpPr/>
          <p:nvPr/>
        </p:nvSpPr>
        <p:spPr>
          <a:xfrm>
            <a:off x="594360" y="3611880"/>
            <a:ext cx="11018520" cy="141732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spcBef>
                <a:spcPts val="4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密钥流不能重复使用：</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若两条消息使用同一段密钥流，则</a:t>
            </a:r>
          </a:p>
          <a:p>
            <a:pPr marL="0" indent="0" algn="ctr">
              <a:lnSpc>
                <a:spcPct val="110000"/>
              </a:lnSpc>
              <a:spcBef>
                <a:spcPts val="400"/>
              </a:spcBef>
              <a:buNone/>
            </a:pP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lnSpc>
                <a:spcPct val="11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密钥流被消去，两条明文的异或直接泄露；若已知其中一条明文，即可恢复另一条。</a:t>
            </a:r>
          </a:p>
        </p:txBody>
      </p:sp>
      <p:sp>
        <p:nvSpPr>
          <p:cNvPr id="18" name="内容底色_6"/>
          <p:cNvSpPr/>
          <p:nvPr/>
        </p:nvSpPr>
        <p:spPr>
          <a:xfrm>
            <a:off x="594360" y="5230368"/>
            <a:ext cx="11018520" cy="10972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反例：</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线性同余发生器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统计性能良好，但已知 4 个连续输出即可解出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并预测后续序列，不具备前向不可预测性，不能直接用作密钥流生成器。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分组密码与流密码的比较</a:t>
            </a:r>
          </a:p>
        </p:txBody>
      </p:sp>
      <p:graphicFrame>
        <p:nvGraphicFramePr>
          <p:cNvPr id="7" name="表格"/>
          <p:cNvGraphicFramePr>
            <a:graphicFrameLocks noGrp="1"/>
          </p:cNvGraphicFramePr>
          <p:nvPr/>
        </p:nvGraphicFramePr>
        <p:xfrm>
          <a:off x="594360" y="1417320"/>
          <a:ext cx="11018519" cy="3803904"/>
        </p:xfrm>
        <a:graphic>
          <a:graphicData uri="http://schemas.openxmlformats.org/drawingml/2006/table">
            <a:tbl>
              <a:tblPr>
                <a:tableStyleId>{5940675A-B579-460E-94D1-54222C63F5DA}</a:tableStyleId>
              </a:tblPr>
              <a:tblGrid>
                <a:gridCol w="1874519">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比较项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分组密码</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流密码（二元加法）</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处理单位</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固定长度分组（如 128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比特或字（ZUC 每拍 32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核心部件</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多轮迭代的轮函数（S 盒、线性层）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密钥流生成器（LFSR + 非线性函数）</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加密与解密</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一般为互逆的两个变换</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同一个异或运算</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错误传播</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取决于工作模式</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比特错误只影响 1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4"/>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主要风险</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模式误用（如 ECB）</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密钥流重用、比特翻转篡改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实现特点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通用，还可构造 MAC、哈希函数</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硬件简单、速度快、时延低</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6"/>
                  </a:ext>
                </a:extLst>
              </a:tr>
              <a:tr h="47548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典型算法</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DES、AES、SM4</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ZUC（祖冲之算法）</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7"/>
                  </a:ext>
                </a:extLst>
              </a:tr>
            </a:tbl>
          </a:graphicData>
        </a:graphic>
      </p:graphicFrame>
      <p:sp>
        <p:nvSpPr>
          <p:cNvPr id="8" name="内容底色_6"/>
          <p:cNvSpPr/>
          <p:nvPr/>
        </p:nvSpPr>
        <p:spPr>
          <a:xfrm>
            <a:off x="594360" y="557784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联系：</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分组密码在 CFB、OFB、CTR 模式下也可作为密钥流生成器使用，两者的界限并不绝对。</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流密码算法的发展与地位</a:t>
            </a:r>
          </a:p>
        </p:txBody>
      </p:sp>
      <p:sp>
        <p:nvSpPr>
          <p:cNvPr id="7" name="文本_SM4 早期面向无线局域网安全应用，公开时称 SMS4。"/>
          <p:cNvSpPr txBox="1"/>
          <p:nvPr/>
        </p:nvSpPr>
        <p:spPr>
          <a:xfrm>
            <a:off x="685800" y="1422400"/>
            <a:ext cx="10820400" cy="736600"/>
          </a:xfrm>
          <a:prstGeom prst="rect">
            <a:avLst/>
          </a:prstGeom>
          <a:noFill/>
        </p:spPr>
        <p:txBody>
          <a:bodyPr wrap="square" lIns="0" tIns="0" rIns="0" bIns="0" anchor="t">
            <a:noAutofit/>
          </a:bodyPr>
          <a:lstStyle/>
          <a:p>
            <a:pPr algn="l">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ZUC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流密码算法是我国首个被纳入国际密码标准的密码算法，代表着我国在商用密码算法领域的重大突破；得名于我国古代数学家祖冲之名字的拼音（Zu Chongzhi）。</a:t>
            </a:r>
          </a:p>
        </p:txBody>
      </p:sp>
      <p:cxnSp>
        <p:nvCxnSpPr>
          <p:cNvPr id="8" name="Connector 6"/>
          <p:cNvCxnSpPr/>
          <p:nvPr>
            <p:custDataLst>
              <p:tags r:id="rId1"/>
            </p:custDataLst>
          </p:nvPr>
        </p:nvCxnSpPr>
        <p:spPr>
          <a:xfrm>
            <a:off x="1143000" y="2730500"/>
            <a:ext cx="9906000" cy="0"/>
          </a:xfrm>
          <a:prstGeom prst="line">
            <a:avLst/>
          </a:prstGeom>
          <a:ln w="25400">
            <a:solidFill>
              <a:srgbClr val="B8B8B8"/>
            </a:solidFill>
          </a:ln>
        </p:spPr>
        <p:style>
          <a:lnRef idx="2">
            <a:schemeClr val="accent1"/>
          </a:lnRef>
          <a:fillRef idx="0">
            <a:schemeClr val="accent1"/>
          </a:fillRef>
          <a:effectRef idx="1">
            <a:schemeClr val="accent1"/>
          </a:effectRef>
          <a:fontRef idx="minor">
            <a:schemeClr val="tx1"/>
          </a:fontRef>
        </p:style>
      </p:cxnSp>
      <p:sp>
        <p:nvSpPr>
          <p:cNvPr id="9" name="文本_2006"/>
          <p:cNvSpPr txBox="1"/>
          <p:nvPr>
            <p:custDataLst>
              <p:tags r:id="rId2"/>
            </p:custDataLst>
          </p:nvPr>
        </p:nvSpPr>
        <p:spPr>
          <a:xfrm>
            <a:off x="685800" y="2197100"/>
            <a:ext cx="2590800" cy="4572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2900" b="1" i="0" dirty="0">
                <a:solidFill>
                  <a:srgbClr val="C00000"/>
                </a:solidFill>
                <a:latin typeface="Times New Roman" panose="02020603050405020304" charset="0"/>
                <a:ea typeface="微软雅黑" panose="020B0503020204020204" charset="-122"/>
                <a:cs typeface="Times New Roman" panose="02020603050405020304" charset="0"/>
              </a:rPr>
              <a:t>2011</a:t>
            </a:r>
          </a:p>
        </p:txBody>
      </p:sp>
      <p:sp>
        <p:nvSpPr>
          <p:cNvPr id="10" name="Oval 8"/>
          <p:cNvSpPr/>
          <p:nvPr>
            <p:custDataLst>
              <p:tags r:id="rId3"/>
            </p:custDataLst>
          </p:nvPr>
        </p:nvSpPr>
        <p:spPr>
          <a:xfrm>
            <a:off x="1924050" y="2673350"/>
            <a:ext cx="114300" cy="1143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图形_背景"/>
          <p:cNvSpPr/>
          <p:nvPr>
            <p:custDataLst>
              <p:tags r:id="rId4"/>
            </p:custDataLst>
          </p:nvPr>
        </p:nvSpPr>
        <p:spPr>
          <a:xfrm>
            <a:off x="685800" y="3009900"/>
            <a:ext cx="2590800" cy="1701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文本_公开算法文本"/>
          <p:cNvSpPr txBox="1"/>
          <p:nvPr>
            <p:custDataLst>
              <p:tags r:id="rId5"/>
            </p:custDataLst>
          </p:nvPr>
        </p:nvSpPr>
        <p:spPr>
          <a:xfrm>
            <a:off x="787400" y="3187700"/>
            <a:ext cx="2387600" cy="3810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LTE 国际标准</a:t>
            </a:r>
          </a:p>
        </p:txBody>
      </p:sp>
      <p:sp>
        <p:nvSpPr>
          <p:cNvPr id="13" name="文本_公布 SMS4 算法， 便于公开研究和实现。"/>
          <p:cNvSpPr txBox="1"/>
          <p:nvPr>
            <p:custDataLst>
              <p:tags r:id="rId6"/>
            </p:custDataLst>
          </p:nvPr>
        </p:nvSpPr>
        <p:spPr>
          <a:xfrm>
            <a:off x="812800" y="3721100"/>
            <a:ext cx="2336800" cy="8255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被批准为新一代宽带无线移动通信系统（LTE）国际标准</a:t>
            </a:r>
          </a:p>
        </p:txBody>
      </p:sp>
      <p:sp>
        <p:nvSpPr>
          <p:cNvPr id="14" name="文本_2012"/>
          <p:cNvSpPr txBox="1"/>
          <p:nvPr>
            <p:custDataLst>
              <p:tags r:id="rId7"/>
            </p:custDataLst>
          </p:nvPr>
        </p:nvSpPr>
        <p:spPr>
          <a:xfrm>
            <a:off x="3429000" y="2197100"/>
            <a:ext cx="2590800" cy="4572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2900" b="1" i="0" dirty="0">
                <a:solidFill>
                  <a:srgbClr val="C00000"/>
                </a:solidFill>
                <a:latin typeface="Times New Roman" panose="02020603050405020304" charset="0"/>
                <a:ea typeface="微软雅黑" panose="020B0503020204020204" charset="-122"/>
                <a:cs typeface="Times New Roman" panose="02020603050405020304" charset="0"/>
              </a:rPr>
              <a:t>2012</a:t>
            </a:r>
          </a:p>
        </p:txBody>
      </p:sp>
      <p:sp>
        <p:nvSpPr>
          <p:cNvPr id="15" name="Oval 13"/>
          <p:cNvSpPr/>
          <p:nvPr>
            <p:custDataLst>
              <p:tags r:id="rId8"/>
            </p:custDataLst>
          </p:nvPr>
        </p:nvSpPr>
        <p:spPr>
          <a:xfrm>
            <a:off x="4667250" y="2673350"/>
            <a:ext cx="114300" cy="1143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图形_背景"/>
          <p:cNvSpPr/>
          <p:nvPr>
            <p:custDataLst>
              <p:tags r:id="rId9"/>
            </p:custDataLst>
          </p:nvPr>
        </p:nvSpPr>
        <p:spPr>
          <a:xfrm>
            <a:off x="3429000" y="3009900"/>
            <a:ext cx="2590800" cy="1701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文本_形成行业标准"/>
          <p:cNvSpPr txBox="1"/>
          <p:nvPr>
            <p:custDataLst>
              <p:tags r:id="rId10"/>
            </p:custDataLst>
          </p:nvPr>
        </p:nvSpPr>
        <p:spPr>
          <a:xfrm>
            <a:off x="3530600" y="3187700"/>
            <a:ext cx="2387600" cy="3810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行业标准</a:t>
            </a:r>
          </a:p>
        </p:txBody>
      </p:sp>
      <p:sp>
        <p:nvSpPr>
          <p:cNvPr id="18" name="文本_GM/T 0002—2012 《SM4 分组密码算法》"/>
          <p:cNvSpPr txBox="1"/>
          <p:nvPr>
            <p:custDataLst>
              <p:tags r:id="rId11"/>
            </p:custDataLst>
          </p:nvPr>
        </p:nvSpPr>
        <p:spPr>
          <a:xfrm>
            <a:off x="3556000" y="3721100"/>
            <a:ext cx="2336800" cy="8255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成为国家密码行业标准</a:t>
            </a:r>
          </a:p>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GM/T 0001—2012</a:t>
            </a:r>
          </a:p>
        </p:txBody>
      </p:sp>
      <p:sp>
        <p:nvSpPr>
          <p:cNvPr id="19" name="文本_2016"/>
          <p:cNvSpPr txBox="1"/>
          <p:nvPr>
            <p:custDataLst>
              <p:tags r:id="rId12"/>
            </p:custDataLst>
          </p:nvPr>
        </p:nvSpPr>
        <p:spPr>
          <a:xfrm>
            <a:off x="6172200" y="2197100"/>
            <a:ext cx="2590800" cy="4572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2900" b="1" i="0" dirty="0">
                <a:solidFill>
                  <a:srgbClr val="C00000"/>
                </a:solidFill>
                <a:latin typeface="Times New Roman" panose="02020603050405020304" charset="0"/>
                <a:ea typeface="微软雅黑" panose="020B0503020204020204" charset="-122"/>
                <a:cs typeface="Times New Roman" panose="02020603050405020304" charset="0"/>
              </a:rPr>
              <a:t>2016</a:t>
            </a:r>
          </a:p>
        </p:txBody>
      </p:sp>
      <p:sp>
        <p:nvSpPr>
          <p:cNvPr id="20" name="Oval 18"/>
          <p:cNvSpPr/>
          <p:nvPr>
            <p:custDataLst>
              <p:tags r:id="rId13"/>
            </p:custDataLst>
          </p:nvPr>
        </p:nvSpPr>
        <p:spPr>
          <a:xfrm>
            <a:off x="7410450" y="2673350"/>
            <a:ext cx="114300" cy="1143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图形_背景"/>
          <p:cNvSpPr/>
          <p:nvPr>
            <p:custDataLst>
              <p:tags r:id="rId14"/>
            </p:custDataLst>
          </p:nvPr>
        </p:nvSpPr>
        <p:spPr>
          <a:xfrm>
            <a:off x="6172200" y="3009900"/>
            <a:ext cx="2590800" cy="1701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文本_发布国家标准"/>
          <p:cNvSpPr txBox="1"/>
          <p:nvPr>
            <p:custDataLst>
              <p:tags r:id="rId15"/>
            </p:custDataLst>
          </p:nvPr>
        </p:nvSpPr>
        <p:spPr>
          <a:xfrm>
            <a:off x="6273800" y="3187700"/>
            <a:ext cx="2387600" cy="3810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国家标准</a:t>
            </a:r>
          </a:p>
        </p:txBody>
      </p:sp>
      <p:sp>
        <p:nvSpPr>
          <p:cNvPr id="23" name="文本_GB/T 32907—2016 2017 年 3 月实施"/>
          <p:cNvSpPr txBox="1"/>
          <p:nvPr>
            <p:custDataLst>
              <p:tags r:id="rId16"/>
            </p:custDataLst>
          </p:nvPr>
        </p:nvSpPr>
        <p:spPr>
          <a:xfrm>
            <a:off x="6299200" y="3721100"/>
            <a:ext cx="2336800" cy="8255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成为国家标准</a:t>
            </a:r>
          </a:p>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GB/T 33133—2016</a:t>
            </a:r>
          </a:p>
        </p:txBody>
      </p:sp>
      <p:sp>
        <p:nvSpPr>
          <p:cNvPr id="24" name="文本_2021"/>
          <p:cNvSpPr txBox="1"/>
          <p:nvPr>
            <p:custDataLst>
              <p:tags r:id="rId17"/>
            </p:custDataLst>
          </p:nvPr>
        </p:nvSpPr>
        <p:spPr>
          <a:xfrm>
            <a:off x="8915400" y="2197100"/>
            <a:ext cx="2590800" cy="4572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2900" b="1" i="0" dirty="0">
                <a:solidFill>
                  <a:srgbClr val="C00000"/>
                </a:solidFill>
                <a:latin typeface="Times New Roman" panose="02020603050405020304" charset="0"/>
                <a:ea typeface="微软雅黑" panose="020B0503020204020204" charset="-122"/>
                <a:cs typeface="Times New Roman" panose="02020603050405020304" charset="0"/>
              </a:rPr>
              <a:t>2020</a:t>
            </a:r>
          </a:p>
        </p:txBody>
      </p:sp>
      <p:sp>
        <p:nvSpPr>
          <p:cNvPr id="25" name="Oval 23"/>
          <p:cNvSpPr/>
          <p:nvPr>
            <p:custDataLst>
              <p:tags r:id="rId18"/>
            </p:custDataLst>
          </p:nvPr>
        </p:nvSpPr>
        <p:spPr>
          <a:xfrm>
            <a:off x="10153650" y="2673350"/>
            <a:ext cx="114300" cy="1143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图形_背景"/>
          <p:cNvSpPr/>
          <p:nvPr>
            <p:custDataLst>
              <p:tags r:id="rId19"/>
            </p:custDataLst>
          </p:nvPr>
        </p:nvSpPr>
        <p:spPr>
          <a:xfrm>
            <a:off x="8915400" y="3009900"/>
            <a:ext cx="2590800" cy="1701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文本_纳入国际标准"/>
          <p:cNvSpPr txBox="1"/>
          <p:nvPr>
            <p:custDataLst>
              <p:tags r:id="rId20"/>
            </p:custDataLst>
          </p:nvPr>
        </p:nvSpPr>
        <p:spPr>
          <a:xfrm>
            <a:off x="9017000" y="3187700"/>
            <a:ext cx="2387600" cy="3810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ISO/IEC 国际标准</a:t>
            </a:r>
          </a:p>
        </p:txBody>
      </p:sp>
      <p:sp>
        <p:nvSpPr>
          <p:cNvPr id="28" name="文本_作为 SM4 增补件纳入 ISO/IEC 18033-3"/>
          <p:cNvSpPr txBox="1"/>
          <p:nvPr>
            <p:custDataLst>
              <p:tags r:id="rId21"/>
            </p:custDataLst>
          </p:nvPr>
        </p:nvSpPr>
        <p:spPr>
          <a:xfrm>
            <a:off x="9042400" y="3721100"/>
            <a:ext cx="2336800" cy="82550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正式纳入国际标准</a:t>
            </a:r>
          </a:p>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ISO/IEC 18033-4</a:t>
            </a:r>
          </a:p>
        </p:txBody>
      </p:sp>
      <p:sp>
        <p:nvSpPr>
          <p:cNvPr id="29" name="图形_背景"/>
          <p:cNvSpPr/>
          <p:nvPr/>
        </p:nvSpPr>
        <p:spPr>
          <a:xfrm>
            <a:off x="685800" y="5593080"/>
            <a:ext cx="10820400" cy="80010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marL="0" indent="0">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本节只介绍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基于 ZUC 流密码算法的机密性算法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：先讲 ZUC 如何产生 32 比特密钥字，再讲如何用密钥字加密比特流。</a:t>
            </a:r>
          </a:p>
        </p:txBody>
      </p:sp>
      <p:sp>
        <p:nvSpPr>
          <p:cNvPr id="30" name="文本_2006 年指算法公开；国家标准为推荐性标准，具体使用要"/>
          <p:cNvSpPr txBox="1"/>
          <p:nvPr/>
        </p:nvSpPr>
        <p:spPr>
          <a:xfrm>
            <a:off x="685800" y="4853940"/>
            <a:ext cx="10820400" cy="737235"/>
          </a:xfrm>
          <a:prstGeom prst="rect">
            <a:avLst/>
          </a:prstGeom>
          <a:noFill/>
        </p:spPr>
        <p:txBody>
          <a:bodyPr wrap="square" lIns="0" tIns="0" rIns="0" bIns="0" anchor="t">
            <a:noAutofit/>
          </a:bodyPr>
          <a:lstStyle/>
          <a:p>
            <a:pPr algn="l">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用途：</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ZUC 可用于实现机密性算法（128-EEA3）和完整性算法（128-EIA3），保护 4G/5G 移动通信中的用户数据与信令。</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的符号与运算符</a:t>
            </a:r>
          </a:p>
        </p:txBody>
      </p:sp>
      <p:graphicFrame>
        <p:nvGraphicFramePr>
          <p:cNvPr id="7" name="表格"/>
          <p:cNvGraphicFramePr>
            <a:graphicFrameLocks noGrp="1"/>
          </p:cNvGraphicFramePr>
          <p:nvPr/>
        </p:nvGraphicFramePr>
        <p:xfrm>
          <a:off x="594360" y="1417320"/>
          <a:ext cx="11018520" cy="3438144"/>
        </p:xfrm>
        <a:graphic>
          <a:graphicData uri="http://schemas.openxmlformats.org/drawingml/2006/table">
            <a:tbl>
              <a:tblPr>
                <a:tableStyleId>{5940675A-B579-460E-94D1-54222C63F5DA}</a:tableStyleId>
              </a:tblPr>
              <a:tblGrid>
                <a:gridCol w="187452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337560">
                  <a:extLst>
                    <a:ext uri="{9D8B030D-6E8A-4147-A177-3AD203B41FA5}">
                      <a16:colId xmlns:a16="http://schemas.microsoft.com/office/drawing/2014/main" val="20003"/>
                    </a:ext>
                  </a:extLst>
                </a:gridCol>
              </a:tblGrid>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符号</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含义</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运算符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含义</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s</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0</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s</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s</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15</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 的 16 个 31 比特寄存器单元</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算术加</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0</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2</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3</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比特重组输出的 4 个 32 比特字</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逐位异或</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R</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R</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2</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 2 个 32 比特记忆单元</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模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加法</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W</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输出的 32 比特字</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字符串连接</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4"/>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Z</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每拍输出的 32 比特密钥字</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L</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取字的最高 / 最低 16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r h="429768">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KEY / IV</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128 比特初始种子密钥 / 初始向量</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循环左移 / 右移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6"/>
                  </a:ext>
                </a:extLst>
              </a:tr>
              <a:tr h="429768">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D</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用于算法初始化的字符串常量</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不小于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的最小整数</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7"/>
                  </a:ext>
                </a:extLst>
              </a:tr>
            </a:tbl>
          </a:graphicData>
        </a:graphic>
      </p:graphicFrame>
      <p:sp>
        <p:nvSpPr>
          <p:cNvPr id="8" name="内容底色_6"/>
          <p:cNvSpPr/>
          <p:nvPr/>
        </p:nvSpPr>
        <p:spPr>
          <a:xfrm>
            <a:off x="594360" y="4941870"/>
            <a:ext cx="11018520" cy="145893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nSpc>
                <a:spcPts val="2600"/>
              </a:lnSpc>
            </a:pP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位宽：</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LFSR （线性反馈移位寄存器）单元为 31 比特，运算在模 2</a:t>
            </a:r>
            <a:r>
              <a:rPr lang="zh-CN" altLang="en-US" baseline="30000" dirty="0">
                <a:solidFill>
                  <a:srgbClr val="404040"/>
                </a:solidFill>
                <a:latin typeface="Times New Roman" panose="02020603050405020304" charset="0"/>
                <a:ea typeface="微软雅黑" panose="020B0503020204020204" charset="-122"/>
                <a:cs typeface="Times New Roman" panose="02020603050405020304" charset="0"/>
                <a:sym typeface="+mn-ea"/>
              </a:rPr>
              <a:t>31</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− 1 下进行；</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X</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j</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R</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R</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2</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W</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Z</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均为 32 比特字。</a:t>
            </a:r>
            <a:endParaRPr lang="zh-CN" altLang="en-US" b="0" i="0" dirty="0">
              <a:solidFill>
                <a:srgbClr val="404040"/>
              </a:solidFill>
              <a:latin typeface="Times New Roman" panose="02020603050405020304" charset="0"/>
              <a:ea typeface="微软雅黑" panose="020B0503020204020204" charset="-122"/>
              <a:cs typeface="Times New Roman" panose="02020603050405020304" charset="0"/>
            </a:endParaRPr>
          </a:p>
          <a:p>
            <a:pPr algn="l">
              <a:lnSpc>
                <a:spcPts val="2600"/>
              </a:lnSpc>
              <a:spcBef>
                <a:spcPts val="0"/>
              </a:spcBef>
              <a:spcAft>
                <a:spcPts val="0"/>
              </a:spcAft>
            </a:pP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对应关系：</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s</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i</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属于 LFSR 层；</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X</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j</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与 </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a</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H</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a</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L</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用于 BR 层；</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R</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R</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2</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W</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与 </a:t>
            </a:r>
            <a:r>
              <a:rPr lang="zh-CN" altLang="en-US"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用于非线性函数 </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F</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Z</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为最终输出的密钥字。</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流密码算法的总体结构</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图形_底色"/>
          <p:cNvSpPr/>
          <p:nvPr/>
        </p:nvSpPr>
        <p:spPr>
          <a:xfrm>
            <a:off x="594360" y="1353312"/>
            <a:ext cx="6812280" cy="109728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图形_底色"/>
          <p:cNvSpPr/>
          <p:nvPr/>
        </p:nvSpPr>
        <p:spPr>
          <a:xfrm>
            <a:off x="594360" y="2633472"/>
            <a:ext cx="6812280" cy="105156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图形_底色"/>
          <p:cNvSpPr/>
          <p:nvPr/>
        </p:nvSpPr>
        <p:spPr>
          <a:xfrm>
            <a:off x="594360" y="3867912"/>
            <a:ext cx="6812280" cy="1572768"/>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7"/>
          <p:cNvSpPr txBox="1"/>
          <p:nvPr/>
        </p:nvSpPr>
        <p:spPr>
          <a:xfrm>
            <a:off x="685800" y="1481328"/>
            <a:ext cx="1097280" cy="777240"/>
          </a:xfrm>
          <a:prstGeom prst="rect">
            <a:avLst/>
          </a:prstGeom>
          <a:noFill/>
        </p:spPr>
        <p:txBody>
          <a:bodyPr wrap="square" lIns="18288" tIns="18288" rIns="18288" bIns="18288" anchor="t">
            <a:noAutofit/>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上层</a:t>
            </a:r>
          </a:p>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LFSR</a:t>
            </a:r>
          </a:p>
        </p:txBody>
      </p:sp>
      <p:sp>
        <p:nvSpPr>
          <p:cNvPr id="11" name="TextBox 7"/>
          <p:cNvSpPr txBox="1"/>
          <p:nvPr/>
        </p:nvSpPr>
        <p:spPr>
          <a:xfrm>
            <a:off x="685800" y="2743200"/>
            <a:ext cx="1097280" cy="777240"/>
          </a:xfrm>
          <a:prstGeom prst="rect">
            <a:avLst/>
          </a:prstGeom>
          <a:noFill/>
        </p:spPr>
        <p:txBody>
          <a:bodyPr wrap="square" lIns="18288" tIns="18288" rIns="18288" bIns="18288" anchor="t">
            <a:noAutofit/>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中层</a:t>
            </a:r>
          </a:p>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BR</a:t>
            </a:r>
          </a:p>
        </p:txBody>
      </p:sp>
      <p:sp>
        <p:nvSpPr>
          <p:cNvPr id="12" name="TextBox 7"/>
          <p:cNvSpPr txBox="1"/>
          <p:nvPr/>
        </p:nvSpPr>
        <p:spPr>
          <a:xfrm>
            <a:off x="685800" y="4160520"/>
            <a:ext cx="1097280" cy="777240"/>
          </a:xfrm>
          <a:prstGeom prst="rect">
            <a:avLst/>
          </a:prstGeom>
          <a:noFill/>
        </p:spPr>
        <p:txBody>
          <a:bodyPr wrap="square" lIns="18288" tIns="18288" rIns="18288" bIns="18288" anchor="t">
            <a:noAutofit/>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下层</a:t>
            </a:r>
          </a:p>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F</a:t>
            </a:r>
          </a:p>
        </p:txBody>
      </p:sp>
      <p:sp>
        <p:nvSpPr>
          <p:cNvPr id="13" name="Rectangle 15"/>
          <p:cNvSpPr/>
          <p:nvPr/>
        </p:nvSpPr>
        <p:spPr>
          <a:xfrm>
            <a:off x="1920240"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15</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4" name="Rectangle 15"/>
          <p:cNvSpPr/>
          <p:nvPr/>
        </p:nvSpPr>
        <p:spPr>
          <a:xfrm>
            <a:off x="2249424"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14</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 name="Rectangle 15"/>
          <p:cNvSpPr/>
          <p:nvPr/>
        </p:nvSpPr>
        <p:spPr>
          <a:xfrm>
            <a:off x="2578608"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13</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6" name="Rectangle 15"/>
          <p:cNvSpPr/>
          <p:nvPr/>
        </p:nvSpPr>
        <p:spPr>
          <a:xfrm>
            <a:off x="2907792"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12</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7" name="Rectangle 15"/>
          <p:cNvSpPr/>
          <p:nvPr/>
        </p:nvSpPr>
        <p:spPr>
          <a:xfrm>
            <a:off x="3236976"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11</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8" name="Rectangle 15"/>
          <p:cNvSpPr/>
          <p:nvPr/>
        </p:nvSpPr>
        <p:spPr>
          <a:xfrm>
            <a:off x="3566160"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10</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9" name="Rectangle 15"/>
          <p:cNvSpPr/>
          <p:nvPr/>
        </p:nvSpPr>
        <p:spPr>
          <a:xfrm>
            <a:off x="3895344"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9</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0" name="Rectangle 15"/>
          <p:cNvSpPr/>
          <p:nvPr/>
        </p:nvSpPr>
        <p:spPr>
          <a:xfrm>
            <a:off x="4224528"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8</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1" name="Rectangle 15"/>
          <p:cNvSpPr/>
          <p:nvPr/>
        </p:nvSpPr>
        <p:spPr>
          <a:xfrm>
            <a:off x="4553712"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7</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2" name="Rectangle 15"/>
          <p:cNvSpPr/>
          <p:nvPr/>
        </p:nvSpPr>
        <p:spPr>
          <a:xfrm>
            <a:off x="4882896"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6</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3" name="Rectangle 15"/>
          <p:cNvSpPr/>
          <p:nvPr/>
        </p:nvSpPr>
        <p:spPr>
          <a:xfrm>
            <a:off x="5212080"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5</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4" name="Rectangle 15"/>
          <p:cNvSpPr/>
          <p:nvPr/>
        </p:nvSpPr>
        <p:spPr>
          <a:xfrm>
            <a:off x="5541264"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4</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5" name="Rectangle 15"/>
          <p:cNvSpPr/>
          <p:nvPr/>
        </p:nvSpPr>
        <p:spPr>
          <a:xfrm>
            <a:off x="5870448"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6" name="Rectangle 15"/>
          <p:cNvSpPr/>
          <p:nvPr/>
        </p:nvSpPr>
        <p:spPr>
          <a:xfrm>
            <a:off x="6199632"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7" name="Rectangle 15"/>
          <p:cNvSpPr/>
          <p:nvPr/>
        </p:nvSpPr>
        <p:spPr>
          <a:xfrm>
            <a:off x="6528816"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8" name="Rectangle 15"/>
          <p:cNvSpPr/>
          <p:nvPr/>
        </p:nvSpPr>
        <p:spPr>
          <a:xfrm>
            <a:off x="6858000" y="1755648"/>
            <a:ext cx="329184"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2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200" b="0" i="0" baseline="-25000" dirty="0">
                <a:solidFill>
                  <a:srgbClr val="222222"/>
                </a:solidFill>
                <a:latin typeface="Times New Roman" panose="02020603050405020304" charset="0"/>
                <a:ea typeface="微软雅黑" panose="020B0503020204020204" charset="-122"/>
                <a:cs typeface="Times New Roman" panose="02020603050405020304" charset="0"/>
              </a:rPr>
              <a:t>0</a:t>
            </a:r>
            <a:endParaRPr lang="zh-CN" altLang="en-US" sz="12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9" name="Rectangle 14"/>
          <p:cNvSpPr/>
          <p:nvPr/>
        </p:nvSpPr>
        <p:spPr>
          <a:xfrm>
            <a:off x="1920240" y="2971800"/>
            <a:ext cx="118872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0</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0" name="Connector 11"/>
          <p:cNvCxnSpPr/>
          <p:nvPr/>
        </p:nvCxnSpPr>
        <p:spPr>
          <a:xfrm>
            <a:off x="2514600" y="2121408"/>
            <a:ext cx="0" cy="850392"/>
          </a:xfrm>
          <a:prstGeom prst="line">
            <a:avLst/>
          </a:prstGeom>
          <a:ln w="15875">
            <a:solidFill>
              <a:srgbClr val="404040"/>
            </a:solidFill>
            <a:tailEnd type="triangle" w="med" len="med"/>
          </a:ln>
        </p:spPr>
      </p:cxnSp>
      <p:sp>
        <p:nvSpPr>
          <p:cNvPr id="31" name="Rectangle 14"/>
          <p:cNvSpPr/>
          <p:nvPr/>
        </p:nvSpPr>
        <p:spPr>
          <a:xfrm>
            <a:off x="3273552" y="2971800"/>
            <a:ext cx="118872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2" name="Connector 11"/>
          <p:cNvCxnSpPr/>
          <p:nvPr/>
        </p:nvCxnSpPr>
        <p:spPr>
          <a:xfrm>
            <a:off x="3867912" y="2121408"/>
            <a:ext cx="0" cy="850392"/>
          </a:xfrm>
          <a:prstGeom prst="line">
            <a:avLst/>
          </a:prstGeom>
          <a:ln w="15875">
            <a:solidFill>
              <a:srgbClr val="404040"/>
            </a:solidFill>
            <a:tailEnd type="triangle" w="med" len="med"/>
          </a:ln>
        </p:spPr>
      </p:cxnSp>
      <p:sp>
        <p:nvSpPr>
          <p:cNvPr id="33" name="Rectangle 14"/>
          <p:cNvSpPr/>
          <p:nvPr/>
        </p:nvSpPr>
        <p:spPr>
          <a:xfrm>
            <a:off x="4626864" y="2971800"/>
            <a:ext cx="118872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4" name="Connector 11"/>
          <p:cNvCxnSpPr/>
          <p:nvPr/>
        </p:nvCxnSpPr>
        <p:spPr>
          <a:xfrm>
            <a:off x="5221224" y="2121408"/>
            <a:ext cx="0" cy="850392"/>
          </a:xfrm>
          <a:prstGeom prst="line">
            <a:avLst/>
          </a:prstGeom>
          <a:ln w="15875">
            <a:solidFill>
              <a:srgbClr val="404040"/>
            </a:solidFill>
            <a:tailEnd type="triangle" w="med" len="med"/>
          </a:ln>
        </p:spPr>
      </p:cxnSp>
      <p:sp>
        <p:nvSpPr>
          <p:cNvPr id="35" name="Rectangle 14"/>
          <p:cNvSpPr/>
          <p:nvPr/>
        </p:nvSpPr>
        <p:spPr>
          <a:xfrm>
            <a:off x="5980176" y="2971800"/>
            <a:ext cx="118872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36" name="Connector 11"/>
          <p:cNvCxnSpPr/>
          <p:nvPr/>
        </p:nvCxnSpPr>
        <p:spPr>
          <a:xfrm>
            <a:off x="6574536" y="2121408"/>
            <a:ext cx="0" cy="850392"/>
          </a:xfrm>
          <a:prstGeom prst="line">
            <a:avLst/>
          </a:prstGeom>
          <a:ln w="15875">
            <a:solidFill>
              <a:srgbClr val="404040"/>
            </a:solidFill>
            <a:tailEnd type="triangle" w="med" len="med"/>
          </a:ln>
        </p:spPr>
      </p:cxnSp>
      <p:sp>
        <p:nvSpPr>
          <p:cNvPr id="37" name="Rectangle 16"/>
          <p:cNvSpPr/>
          <p:nvPr/>
        </p:nvSpPr>
        <p:spPr>
          <a:xfrm>
            <a:off x="1920240" y="4160520"/>
            <a:ext cx="3931920" cy="438912"/>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非线性函数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（记忆单元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cxnSp>
        <p:nvCxnSpPr>
          <p:cNvPr id="38" name="Connector 11"/>
          <p:cNvCxnSpPr/>
          <p:nvPr/>
        </p:nvCxnSpPr>
        <p:spPr>
          <a:xfrm>
            <a:off x="2514600" y="3355848"/>
            <a:ext cx="0" cy="804672"/>
          </a:xfrm>
          <a:prstGeom prst="line">
            <a:avLst/>
          </a:prstGeom>
          <a:ln w="15875">
            <a:solidFill>
              <a:srgbClr val="404040"/>
            </a:solidFill>
            <a:tailEnd type="triangle" w="med" len="med"/>
          </a:ln>
        </p:spPr>
      </p:cxnSp>
      <p:cxnSp>
        <p:nvCxnSpPr>
          <p:cNvPr id="39" name="Connector 11"/>
          <p:cNvCxnSpPr/>
          <p:nvPr/>
        </p:nvCxnSpPr>
        <p:spPr>
          <a:xfrm>
            <a:off x="3867912" y="3355848"/>
            <a:ext cx="0" cy="804672"/>
          </a:xfrm>
          <a:prstGeom prst="line">
            <a:avLst/>
          </a:prstGeom>
          <a:ln w="15875">
            <a:solidFill>
              <a:srgbClr val="404040"/>
            </a:solidFill>
            <a:tailEnd type="triangle" w="med" len="med"/>
          </a:ln>
        </p:spPr>
      </p:cxnSp>
      <p:cxnSp>
        <p:nvCxnSpPr>
          <p:cNvPr id="40" name="Connector 11"/>
          <p:cNvCxnSpPr/>
          <p:nvPr/>
        </p:nvCxnSpPr>
        <p:spPr>
          <a:xfrm>
            <a:off x="5221224" y="3355848"/>
            <a:ext cx="0" cy="804672"/>
          </a:xfrm>
          <a:prstGeom prst="line">
            <a:avLst/>
          </a:prstGeom>
          <a:ln w="15875">
            <a:solidFill>
              <a:srgbClr val="404040"/>
            </a:solidFill>
            <a:tailEnd type="triangle" w="med" len="med"/>
          </a:ln>
        </p:spPr>
      </p:cxnSp>
      <p:sp>
        <p:nvSpPr>
          <p:cNvPr id="41" name="Or 18"/>
          <p:cNvSpPr/>
          <p:nvPr/>
        </p:nvSpPr>
        <p:spPr>
          <a:xfrm>
            <a:off x="6428232" y="4233672"/>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42" name="Connector 11"/>
          <p:cNvCxnSpPr/>
          <p:nvPr/>
        </p:nvCxnSpPr>
        <p:spPr>
          <a:xfrm>
            <a:off x="6574536" y="3355848"/>
            <a:ext cx="0" cy="877824"/>
          </a:xfrm>
          <a:prstGeom prst="line">
            <a:avLst/>
          </a:prstGeom>
          <a:ln w="15875">
            <a:solidFill>
              <a:srgbClr val="404040"/>
            </a:solidFill>
            <a:tailEnd type="triangle" w="med" len="med"/>
          </a:ln>
        </p:spPr>
      </p:cxnSp>
      <p:cxnSp>
        <p:nvCxnSpPr>
          <p:cNvPr id="43" name="Connector 11"/>
          <p:cNvCxnSpPr/>
          <p:nvPr/>
        </p:nvCxnSpPr>
        <p:spPr>
          <a:xfrm>
            <a:off x="5852160" y="4379976"/>
            <a:ext cx="576072" cy="0"/>
          </a:xfrm>
          <a:prstGeom prst="line">
            <a:avLst/>
          </a:prstGeom>
          <a:ln w="15875">
            <a:solidFill>
              <a:srgbClr val="404040"/>
            </a:solidFill>
            <a:tailEnd type="triangle" w="med" len="med"/>
          </a:ln>
        </p:spPr>
      </p:cxnSp>
      <p:sp>
        <p:nvSpPr>
          <p:cNvPr id="44" name="TextBox 23"/>
          <p:cNvSpPr txBox="1"/>
          <p:nvPr/>
        </p:nvSpPr>
        <p:spPr>
          <a:xfrm>
            <a:off x="5852160" y="4005072"/>
            <a:ext cx="502920" cy="365760"/>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45" name="Connector 11"/>
          <p:cNvCxnSpPr/>
          <p:nvPr/>
        </p:nvCxnSpPr>
        <p:spPr>
          <a:xfrm>
            <a:off x="6574536" y="4526280"/>
            <a:ext cx="0" cy="411480"/>
          </a:xfrm>
          <a:prstGeom prst="line">
            <a:avLst/>
          </a:prstGeom>
          <a:ln w="15875">
            <a:solidFill>
              <a:srgbClr val="404040"/>
            </a:solidFill>
            <a:tailEnd type="triangle" w="med" len="med"/>
          </a:ln>
        </p:spPr>
      </p:cxnSp>
      <p:sp>
        <p:nvSpPr>
          <p:cNvPr id="46" name="Rectangle 14"/>
          <p:cNvSpPr/>
          <p:nvPr/>
        </p:nvSpPr>
        <p:spPr>
          <a:xfrm>
            <a:off x="6117336" y="4937760"/>
            <a:ext cx="91440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Z</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7" name="图形_底色"/>
          <p:cNvSpPr/>
          <p:nvPr/>
        </p:nvSpPr>
        <p:spPr>
          <a:xfrm>
            <a:off x="7589520" y="1353312"/>
            <a:ext cx="4023360" cy="408736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48" name="TextBox 7"/>
          <p:cNvSpPr txBox="1"/>
          <p:nvPr/>
        </p:nvSpPr>
        <p:spPr>
          <a:xfrm>
            <a:off x="7772400" y="1444752"/>
            <a:ext cx="36576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三层分工</a:t>
            </a:r>
          </a:p>
        </p:txBody>
      </p:sp>
      <p:sp>
        <p:nvSpPr>
          <p:cNvPr id="49" name="TextBox 23"/>
          <p:cNvSpPr txBox="1"/>
          <p:nvPr/>
        </p:nvSpPr>
        <p:spPr>
          <a:xfrm>
            <a:off x="7772400" y="1874520"/>
            <a:ext cx="3703320" cy="3520440"/>
          </a:xfrm>
          <a:prstGeom prst="rect">
            <a:avLst/>
          </a:prstGeom>
          <a:noFill/>
        </p:spPr>
        <p:txBody>
          <a:bodyPr wrap="square" lIns="18288" tIns="18288" rIns="18288" bIns="18288" anchor="t">
            <a:noAutofit/>
          </a:bodyPr>
          <a:lstStyle/>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LFSR（线性反馈移位寄存器）：</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个 31 比特单元，在模 2</a:t>
            </a:r>
            <a:r>
              <a:rPr lang="zh-CN" altLang="en-US" sz="1800" b="0" i="0" baseline="30000" dirty="0">
                <a:solidFill>
                  <a:srgbClr val="222222"/>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− 1 下按反馈关系移位更新，提供长周期。</a:t>
            </a:r>
          </a:p>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BR（比特重组）：</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从 LFSR 中抽取 128 比特，拼成 4 个 32 比特字；</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送入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参与最后的异或。</a:t>
            </a:r>
          </a:p>
          <a:p>
            <a:pPr marL="0" indent="0" algn="l">
              <a:lnSpc>
                <a:spcPct val="110000"/>
              </a:lnSpc>
              <a:spcBef>
                <a:spcPts val="600"/>
              </a:spcBef>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F</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（非线性函数）：</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含 S 盒与记忆单元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，提供非线性，每拍输出一个 32 比特字 </a:t>
            </a: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a:t>
            </a:r>
          </a:p>
          <a:p>
            <a:pPr marL="0" indent="0" algn="l">
              <a:lnSpc>
                <a:spcPct val="110000"/>
              </a:lnSpc>
              <a:spcBef>
                <a:spcPts val="600"/>
              </a:spcBef>
              <a:buNone/>
            </a:pPr>
            <a:r>
              <a:rPr lang="en-US" altLang="zh-CN" b="1" i="1" dirty="0">
                <a:solidFill>
                  <a:srgbClr val="C00000"/>
                </a:solidFill>
                <a:latin typeface="Times New Roman" panose="02020603050405020304" charset="0"/>
                <a:ea typeface="微软雅黑" panose="020B0503020204020204" charset="-122"/>
                <a:cs typeface="Times New Roman" panose="02020603050405020304" charset="0"/>
                <a:sym typeface="+mn-ea"/>
              </a:rPr>
              <a:t>Z</a:t>
            </a:r>
            <a:r>
              <a:rPr lang="en-US" altLang="zh-CN" b="1" dirty="0">
                <a:solidFill>
                  <a:srgbClr val="C00000"/>
                </a:solidFill>
                <a:latin typeface="Times New Roman" panose="02020603050405020304" charset="0"/>
                <a:ea typeface="微软雅黑" panose="020B0503020204020204" charset="-122"/>
                <a:cs typeface="Times New Roman" panose="02020603050405020304" charset="0"/>
                <a:sym typeface="+mn-ea"/>
              </a:rPr>
              <a:t> </a:t>
            </a: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 </a:t>
            </a:r>
            <a:r>
              <a:rPr lang="zh-CN" altLang="en-US" b="1" i="1" dirty="0">
                <a:solidFill>
                  <a:srgbClr val="C00000"/>
                </a:solidFill>
                <a:latin typeface="Times New Roman" panose="02020603050405020304" charset="0"/>
                <a:ea typeface="微软雅黑" panose="020B0503020204020204" charset="-122"/>
                <a:cs typeface="Times New Roman" panose="02020603050405020304" charset="0"/>
                <a:sym typeface="+mn-ea"/>
              </a:rPr>
              <a:t>W</a:t>
            </a: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 ⊕ </a:t>
            </a:r>
            <a:r>
              <a:rPr lang="zh-CN" altLang="en-US" b="1" i="1" dirty="0">
                <a:solidFill>
                  <a:srgbClr val="C00000"/>
                </a:solidFill>
                <a:latin typeface="Times New Roman" panose="02020603050405020304" charset="0"/>
                <a:ea typeface="微软雅黑" panose="020B0503020204020204" charset="-122"/>
                <a:cs typeface="Times New Roman" panose="02020603050405020304" charset="0"/>
                <a:sym typeface="+mn-ea"/>
              </a:rPr>
              <a:t>X</a:t>
            </a:r>
            <a:r>
              <a:rPr lang="zh-CN" altLang="en-US" b="1" baseline="-25000" dirty="0">
                <a:solidFill>
                  <a:srgbClr val="C00000"/>
                </a:solidFill>
                <a:latin typeface="Times New Roman" panose="02020603050405020304" charset="0"/>
                <a:ea typeface="微软雅黑" panose="020B0503020204020204" charset="-122"/>
                <a:cs typeface="Times New Roman" panose="02020603050405020304" charset="0"/>
                <a:sym typeface="+mn-ea"/>
              </a:rPr>
              <a:t>3</a:t>
            </a:r>
            <a:endPar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sym typeface="+mn-ea"/>
            </a:endParaRPr>
          </a:p>
        </p:txBody>
      </p:sp>
      <p:sp>
        <p:nvSpPr>
          <p:cNvPr id="50" name="Rectangle 47"/>
          <p:cNvSpPr/>
          <p:nvPr/>
        </p:nvSpPr>
        <p:spPr>
          <a:xfrm>
            <a:off x="594360" y="5596128"/>
            <a:ext cx="11018520" cy="77724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输入：</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128 比特初始种子密钥 KEY 和 128 比特初始向量 IV；</a:t>
            </a:r>
          </a:p>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输出：</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每拍一个 32 比特密钥字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算法（1/4）—— LFSR 层：密钥装入</a:t>
            </a:r>
          </a:p>
        </p:txBody>
      </p:sp>
      <p:sp>
        <p:nvSpPr>
          <p:cNvPr id="7" name="流程导航_2"/>
          <p:cNvSpPr/>
          <p:nvPr/>
        </p:nvSpPr>
        <p:spPr>
          <a:xfrm>
            <a:off x="731520"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1"/>
          <p:cNvSpPr/>
          <p:nvPr/>
        </p:nvSpPr>
        <p:spPr>
          <a:xfrm>
            <a:off x="3438144"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1"/>
          <p:cNvSpPr/>
          <p:nvPr/>
        </p:nvSpPr>
        <p:spPr>
          <a:xfrm>
            <a:off x="6153912"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1"/>
          <p:cNvSpPr/>
          <p:nvPr/>
        </p:nvSpPr>
        <p:spPr>
          <a:xfrm>
            <a:off x="886968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运行流程</a:t>
            </a:r>
          </a:p>
        </p:txBody>
      </p:sp>
      <p:sp>
        <p:nvSpPr>
          <p:cNvPr id="11" name="Rectangle 47"/>
          <p:cNvSpPr/>
          <p:nvPr/>
        </p:nvSpPr>
        <p:spPr>
          <a:xfrm>
            <a:off x="594360" y="192024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b="1" dirty="0">
                <a:solidFill>
                  <a:srgbClr val="C00000"/>
                </a:solidFill>
                <a:latin typeface="Times New Roman" panose="02020603050405020304" charset="0"/>
                <a:ea typeface="微软雅黑" panose="020B0503020204020204" charset="-122"/>
                <a:cs typeface="Times New Roman" panose="02020603050405020304" charset="0"/>
                <a:sym typeface="+mn-ea"/>
              </a:rPr>
              <a:t>第一步：密钥装入。</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设 KEY = key</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0</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key</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 ‖ key</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15</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，IV = iv</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0</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iv</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 ‖ iv</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15</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，其中 key</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i</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、iv</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i</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均为 8 比特。对于 0 ≤ </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i</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 15，寄存器单元 </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s</a:t>
            </a:r>
            <a:r>
              <a:rPr lang="zh-CN" altLang="en-US" i="1"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i</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 的值为：</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2" name="TextBox 23"/>
          <p:cNvSpPr txBox="1"/>
          <p:nvPr/>
        </p:nvSpPr>
        <p:spPr>
          <a:xfrm>
            <a:off x="594360" y="2907792"/>
            <a:ext cx="11018520" cy="411480"/>
          </a:xfrm>
          <a:prstGeom prst="rect">
            <a:avLst/>
          </a:prstGeom>
          <a:noFill/>
        </p:spPr>
        <p:txBody>
          <a:bodyPr wrap="square" lIns="18288" tIns="18288" rIns="18288" bIns="18288" anchor="t">
            <a:noAutofit/>
          </a:bodyPr>
          <a:lstStyle/>
          <a:p>
            <a:pPr marL="0" indent="0" algn="ctr">
              <a:buNone/>
            </a:pPr>
            <a:r>
              <a:rPr lang="zh-CN" altLang="en-US" sz="2000" b="1"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2000" b="1"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1" i="0" dirty="0">
                <a:solidFill>
                  <a:srgbClr val="404040"/>
                </a:solidFill>
                <a:latin typeface="Times New Roman" panose="02020603050405020304" charset="0"/>
                <a:ea typeface="微软雅黑" panose="020B0503020204020204" charset="-122"/>
                <a:cs typeface="Times New Roman" panose="02020603050405020304" charset="0"/>
              </a:rPr>
              <a:t> = key</a:t>
            </a:r>
            <a:r>
              <a:rPr lang="zh-CN" altLang="en-US" sz="2000" b="1"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1"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1"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2000" b="1"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1"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1" i="1" baseline="-25000" dirty="0">
                <a:solidFill>
                  <a:srgbClr val="404040"/>
                </a:solidFill>
                <a:latin typeface="Times New Roman" panose="02020603050405020304" charset="0"/>
                <a:ea typeface="微软雅黑" panose="020B0503020204020204" charset="-122"/>
                <a:cs typeface="Times New Roman" panose="02020603050405020304" charset="0"/>
              </a:rPr>
              <a:t>i</a:t>
            </a:r>
            <a:endParaRPr lang="zh-CN" altLang="en-US" sz="2000" b="1"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3" name="Rectangle 14"/>
          <p:cNvSpPr/>
          <p:nvPr/>
        </p:nvSpPr>
        <p:spPr>
          <a:xfrm>
            <a:off x="1417320" y="3429000"/>
            <a:ext cx="2194560" cy="47548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key</a:t>
            </a:r>
            <a:r>
              <a:rPr lang="zh-CN" altLang="en-US" sz="1800" b="0" i="1" baseline="-25000" dirty="0">
                <a:solidFill>
                  <a:srgbClr val="222222"/>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（8 比特）</a:t>
            </a:r>
          </a:p>
        </p:txBody>
      </p:sp>
      <p:sp>
        <p:nvSpPr>
          <p:cNvPr id="14" name="Rectangle 15"/>
          <p:cNvSpPr/>
          <p:nvPr/>
        </p:nvSpPr>
        <p:spPr>
          <a:xfrm>
            <a:off x="3611880" y="3429000"/>
            <a:ext cx="4114800" cy="475488"/>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d</a:t>
            </a:r>
            <a:r>
              <a:rPr lang="zh-CN" altLang="en-US" sz="1800" b="0" i="1" baseline="-25000" dirty="0">
                <a:solidFill>
                  <a:srgbClr val="222222"/>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（15 比特常量）</a:t>
            </a:r>
          </a:p>
        </p:txBody>
      </p:sp>
      <p:sp>
        <p:nvSpPr>
          <p:cNvPr id="15" name="Rectangle 14"/>
          <p:cNvSpPr/>
          <p:nvPr/>
        </p:nvSpPr>
        <p:spPr>
          <a:xfrm>
            <a:off x="7726680" y="3429000"/>
            <a:ext cx="2194560" cy="47548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iv</a:t>
            </a:r>
            <a:r>
              <a:rPr lang="zh-CN" altLang="en-US" sz="1800" b="0" i="1" baseline="-25000" dirty="0">
                <a:solidFill>
                  <a:srgbClr val="222222"/>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（8 比特）</a:t>
            </a:r>
          </a:p>
        </p:txBody>
      </p:sp>
      <p:sp>
        <p:nvSpPr>
          <p:cNvPr id="16" name="TextBox 23"/>
          <p:cNvSpPr txBox="1"/>
          <p:nvPr/>
        </p:nvSpPr>
        <p:spPr>
          <a:xfrm>
            <a:off x="594360" y="3982212"/>
            <a:ext cx="11018520" cy="384048"/>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共 8 + 15 + 8 = 31 比特，正好填满一个 LFSR 单元；16 个单元依次装入后，构成 LFSR 的初始状态。</a:t>
            </a:r>
          </a:p>
        </p:txBody>
      </p:sp>
      <p:sp>
        <p:nvSpPr>
          <p:cNvPr id="17" name="内容底色_6"/>
          <p:cNvSpPr/>
          <p:nvPr/>
        </p:nvSpPr>
        <p:spPr>
          <a:xfrm>
            <a:off x="594360" y="4434840"/>
            <a:ext cx="1101852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d</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为 16 个互不相同的 15 比特公开常量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，即使 KEY、IV 全为 0，各寄存器单元的初值也互不相同且不为 0。其中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100010011010111</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010011010111100</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d</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100011110101100</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8" name="Rectangle 47"/>
          <p:cNvSpPr/>
          <p:nvPr/>
        </p:nvSpPr>
        <p:spPr>
          <a:xfrm>
            <a:off x="594360" y="5446395"/>
            <a:ext cx="11018520" cy="91440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b="1" i="0" dirty="0">
                <a:solidFill>
                  <a:srgbClr val="C00000"/>
                </a:solidFill>
                <a:latin typeface="Times New Roman" panose="02020603050405020304" charset="0"/>
                <a:ea typeface="微软雅黑" panose="020B0503020204020204" charset="-122"/>
                <a:cs typeface="Times New Roman" panose="02020603050405020304" charset="0"/>
              </a:rPr>
              <a:t>例：</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若 key</a:t>
            </a:r>
            <a:r>
              <a:rPr lang="zh-CN" altLang="en-US"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0x01，iv</a:t>
            </a:r>
            <a:r>
              <a:rPr lang="zh-CN" altLang="en-US"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0x02</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a:t>
            </a:r>
            <a:r>
              <a:rPr lang="zh-CN" altLang="en-US" i="1" dirty="0">
                <a:solidFill>
                  <a:srgbClr val="404040"/>
                </a:solidFill>
                <a:latin typeface="Times New Roman" panose="02020603050405020304" charset="0"/>
                <a:ea typeface="微软雅黑" panose="020B0503020204020204" charset="-122"/>
                <a:cs typeface="Times New Roman" panose="02020603050405020304" charset="0"/>
                <a:sym typeface="+mn-ea"/>
              </a:rPr>
              <a:t>d</a:t>
            </a:r>
            <a:r>
              <a:rPr lang="zh-CN" altLang="en-US"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0</a:t>
            </a:r>
            <a:r>
              <a:rPr lang="en-US" altLang="zh-CN" baseline="-25000" dirty="0">
                <a:solidFill>
                  <a:srgbClr val="404040"/>
                </a:solidFill>
                <a:latin typeface="Times New Roman" panose="02020603050405020304" charset="0"/>
                <a:ea typeface="微软雅黑" panose="020B0503020204020204" charset="-122"/>
                <a:cs typeface="Times New Roman" panose="02020603050405020304" charset="0"/>
                <a:sym typeface="+mn-ea"/>
              </a:rPr>
              <a:t> </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已知，共</a:t>
            </a:r>
            <a:r>
              <a:rPr lang="en-US" altLang="zh-CN" dirty="0">
                <a:solidFill>
                  <a:srgbClr val="404040"/>
                </a:solidFill>
                <a:latin typeface="Times New Roman" panose="02020603050405020304" charset="0"/>
                <a:ea typeface="微软雅黑" panose="020B0503020204020204" charset="-122"/>
                <a:cs typeface="Times New Roman" panose="02020603050405020304" charset="0"/>
                <a:sym typeface="+mn-ea"/>
              </a:rPr>
              <a:t> 31 </a:t>
            </a: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比特</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，需展开为二进制再拼接：</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(00000001 ‖ 100010011010111 ‖ 00000010)</a:t>
            </a:r>
            <a:r>
              <a:rPr lang="zh-CN" altLang="en-US"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0x00C4D702（31 比特按 32 比特字存放，最高位为 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算法（1/4）—— LFSR 层：最终赋值</a:t>
            </a:r>
          </a:p>
        </p:txBody>
      </p:sp>
      <p:sp>
        <p:nvSpPr>
          <p:cNvPr id="7" name="流程导航_2"/>
          <p:cNvSpPr/>
          <p:nvPr/>
        </p:nvSpPr>
        <p:spPr>
          <a:xfrm>
            <a:off x="731520"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1"/>
          <p:cNvSpPr/>
          <p:nvPr/>
        </p:nvSpPr>
        <p:spPr>
          <a:xfrm>
            <a:off x="3438144"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1"/>
          <p:cNvSpPr/>
          <p:nvPr/>
        </p:nvSpPr>
        <p:spPr>
          <a:xfrm>
            <a:off x="6153912"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1"/>
          <p:cNvSpPr/>
          <p:nvPr/>
        </p:nvSpPr>
        <p:spPr>
          <a:xfrm>
            <a:off x="886968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运行流程</a:t>
            </a:r>
          </a:p>
        </p:txBody>
      </p:sp>
      <p:sp>
        <p:nvSpPr>
          <p:cNvPr id="11" name="Rectangle 47"/>
          <p:cNvSpPr/>
          <p:nvPr/>
        </p:nvSpPr>
        <p:spPr>
          <a:xfrm>
            <a:off x="594360" y="187452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第二步：最终赋值。</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密钥装入只给出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的初值。此后 LFSR 每运行一次，先由反馈关系计算新单元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，再将寄存器整体前移一位。该过程分为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初始化模式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和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工作模式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两种。</a:t>
            </a:r>
          </a:p>
        </p:txBody>
      </p:sp>
      <p:sp>
        <p:nvSpPr>
          <p:cNvPr id="12" name="TextBox 23"/>
          <p:cNvSpPr txBox="1"/>
          <p:nvPr/>
        </p:nvSpPr>
        <p:spPr>
          <a:xfrm>
            <a:off x="594360" y="2834640"/>
            <a:ext cx="11018520" cy="41148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反馈值：</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17</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21</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20</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8</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a:t>
            </a:r>
          </a:p>
        </p:txBody>
      </p:sp>
      <p:sp>
        <p:nvSpPr>
          <p:cNvPr id="13" name="图形_底色"/>
          <p:cNvSpPr/>
          <p:nvPr/>
        </p:nvSpPr>
        <p:spPr>
          <a:xfrm>
            <a:off x="594360" y="3337560"/>
            <a:ext cx="5394960" cy="128016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4" name="TextBox 7"/>
          <p:cNvSpPr txBox="1"/>
          <p:nvPr/>
        </p:nvSpPr>
        <p:spPr>
          <a:xfrm>
            <a:off x="777240" y="3410712"/>
            <a:ext cx="512064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① 初始化模式（用于初始化阶段）</a:t>
            </a:r>
          </a:p>
        </p:txBody>
      </p:sp>
      <p:sp>
        <p:nvSpPr>
          <p:cNvPr id="15" name="TextBox 23"/>
          <p:cNvSpPr txBox="1"/>
          <p:nvPr/>
        </p:nvSpPr>
        <p:spPr>
          <a:xfrm>
            <a:off x="777240" y="3822192"/>
            <a:ext cx="5074920" cy="749808"/>
          </a:xfrm>
          <a:prstGeom prst="rect">
            <a:avLst/>
          </a:prstGeom>
          <a:noFill/>
        </p:spPr>
        <p:txBody>
          <a:bodyPr wrap="square" lIns="18288" tIns="18288" rIns="18288" bIns="18288" anchor="t">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输入 31 比特字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u</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舍弃最低位）</a:t>
            </a:r>
          </a:p>
          <a:p>
            <a:pPr marL="0" indent="0" algn="l">
              <a:lnSpc>
                <a:spcPct val="11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u</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a:t>
            </a:r>
          </a:p>
        </p:txBody>
      </p:sp>
      <p:sp>
        <p:nvSpPr>
          <p:cNvPr id="16" name="图形_底色"/>
          <p:cNvSpPr/>
          <p:nvPr/>
        </p:nvSpPr>
        <p:spPr>
          <a:xfrm>
            <a:off x="6217920" y="3337560"/>
            <a:ext cx="5394960" cy="128016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7"/>
          <p:cNvSpPr txBox="1"/>
          <p:nvPr/>
        </p:nvSpPr>
        <p:spPr>
          <a:xfrm>
            <a:off x="6400800" y="3410712"/>
            <a:ext cx="512064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工作模式（用于工作阶段）</a:t>
            </a:r>
          </a:p>
        </p:txBody>
      </p:sp>
      <p:sp>
        <p:nvSpPr>
          <p:cNvPr id="18" name="TextBox 23"/>
          <p:cNvSpPr txBox="1"/>
          <p:nvPr/>
        </p:nvSpPr>
        <p:spPr>
          <a:xfrm>
            <a:off x="6400800" y="3822192"/>
            <a:ext cx="5074920" cy="749808"/>
          </a:xfrm>
          <a:prstGeom prst="rect">
            <a:avLst/>
          </a:prstGeom>
          <a:noFill/>
        </p:spPr>
        <p:txBody>
          <a:bodyPr wrap="square" lIns="18288" tIns="18288" rIns="18288" bIns="18288" anchor="t">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不接收外部输入，LFSR 独立运行</a:t>
            </a:r>
          </a:p>
          <a:p>
            <a:pPr marL="0" indent="0" algn="l">
              <a:lnSpc>
                <a:spcPct val="11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9" name="内容底色_6"/>
          <p:cNvSpPr/>
          <p:nvPr/>
        </p:nvSpPr>
        <p:spPr>
          <a:xfrm>
            <a:off x="594360" y="4754880"/>
            <a:ext cx="1101852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共同步骤：</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0，则置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− 1；随后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16</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)，即旧单元依次前移，新值放到末端。</a:t>
            </a:r>
          </a:p>
        </p:txBody>
      </p:sp>
      <p:sp>
        <p:nvSpPr>
          <p:cNvPr id="20" name="Rectangle 47"/>
          <p:cNvSpPr/>
          <p:nvPr/>
        </p:nvSpPr>
        <p:spPr>
          <a:xfrm>
            <a:off x="594360" y="5733288"/>
            <a:ext cx="11018520" cy="6400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作用：</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初始化模式把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的输出反馈进 LFSR，使 KEY 与 IV 充分扩散到全部状态中。</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算法（1/4）—— LFSR 层：模 2</a:t>
            </a:r>
            <a:r>
              <a:rPr lang="zh-CN" altLang="en-US" sz="2200" b="1" i="0" baseline="30000" dirty="0">
                <a:solidFill>
                  <a:srgbClr val="333333"/>
                </a:solidFill>
                <a:latin typeface="Times New Roman" panose="02020603050405020304" charset="0"/>
                <a:ea typeface="微软雅黑" panose="020B0503020204020204" charset="-122"/>
                <a:cs typeface="Times New Roman" panose="02020603050405020304" charset="0"/>
              </a:rPr>
              <a:t>31</a:t>
            </a: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 − 1 运算的快速实现</a:t>
            </a:r>
          </a:p>
        </p:txBody>
      </p:sp>
      <p:sp>
        <p:nvSpPr>
          <p:cNvPr id="7" name="流程导航_2"/>
          <p:cNvSpPr/>
          <p:nvPr/>
        </p:nvSpPr>
        <p:spPr>
          <a:xfrm>
            <a:off x="731520"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1"/>
          <p:cNvSpPr/>
          <p:nvPr/>
        </p:nvSpPr>
        <p:spPr>
          <a:xfrm>
            <a:off x="3438144"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1"/>
          <p:cNvSpPr/>
          <p:nvPr/>
        </p:nvSpPr>
        <p:spPr>
          <a:xfrm>
            <a:off x="6153912"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1"/>
          <p:cNvSpPr/>
          <p:nvPr/>
        </p:nvSpPr>
        <p:spPr>
          <a:xfrm>
            <a:off x="886968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运行流程</a:t>
            </a:r>
          </a:p>
        </p:txBody>
      </p:sp>
      <p:sp>
        <p:nvSpPr>
          <p:cNvPr id="11" name="Rectangle 47"/>
          <p:cNvSpPr/>
          <p:nvPr/>
        </p:nvSpPr>
        <p:spPr>
          <a:xfrm>
            <a:off x="594360" y="187452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为什么需要快速实现：</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初始化模式和工作模式在计算反馈值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时，都要用到模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 乘法和模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 加法。下面给出两种运算在 32 位平台上的快速实现，依据是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a:t>
            </a:r>
            <a:r>
              <a:rPr lang="zh-CN" altLang="en-US" sz="1800" b="1" i="0" baseline="30000" dirty="0">
                <a:solidFill>
                  <a:srgbClr val="C00000"/>
                </a:solidFill>
                <a:latin typeface="Times New Roman" panose="02020603050405020304" charset="0"/>
                <a:ea typeface="微软雅黑" panose="020B0503020204020204" charset="-122"/>
                <a:cs typeface="Times New Roman" panose="02020603050405020304" charset="0"/>
              </a:rPr>
              <a:t>31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1 (mod 2</a:t>
            </a:r>
            <a:r>
              <a:rPr lang="zh-CN" altLang="en-US" sz="1800" b="1" i="0" baseline="30000" dirty="0">
                <a:solidFill>
                  <a:srgbClr val="C00000"/>
                </a:solidFill>
                <a:latin typeface="Times New Roman" panose="02020603050405020304" charset="0"/>
                <a:ea typeface="微软雅黑" panose="020B0503020204020204" charset="-122"/>
                <a:cs typeface="Times New Roman" panose="02020603050405020304" charset="0"/>
              </a:rPr>
              <a:t>31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2" name="图形_底色"/>
          <p:cNvSpPr/>
          <p:nvPr/>
        </p:nvSpPr>
        <p:spPr>
          <a:xfrm>
            <a:off x="594360" y="2834640"/>
            <a:ext cx="5394960" cy="269748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7"/>
          <p:cNvSpPr txBox="1"/>
          <p:nvPr/>
        </p:nvSpPr>
        <p:spPr>
          <a:xfrm>
            <a:off x="777240" y="2889504"/>
            <a:ext cx="512064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① 模 2</a:t>
            </a:r>
            <a:r>
              <a:rPr lang="zh-CN" altLang="en-US" sz="1800" b="1" i="0" baseline="30000" dirty="0">
                <a:solidFill>
                  <a:srgbClr val="C00000"/>
                </a:solidFill>
                <a:latin typeface="Times New Roman" panose="02020603050405020304" charset="0"/>
                <a:ea typeface="微软雅黑" panose="020B0503020204020204" charset="-122"/>
                <a:cs typeface="Times New Roman" panose="02020603050405020304" charset="0"/>
              </a:rPr>
              <a:t>31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− 1 乘法</a:t>
            </a:r>
          </a:p>
        </p:txBody>
      </p:sp>
      <p:sp>
        <p:nvSpPr>
          <p:cNvPr id="14" name="TextBox 23"/>
          <p:cNvSpPr txBox="1"/>
          <p:nvPr/>
        </p:nvSpPr>
        <p:spPr>
          <a:xfrm>
            <a:off x="777240" y="3377565"/>
            <a:ext cx="5074920" cy="2212848"/>
          </a:xfrm>
          <a:prstGeom prst="rect">
            <a:avLst/>
          </a:prstGeom>
          <a:noFill/>
        </p:spPr>
        <p:txBody>
          <a:bodyPr wrap="square" lIns="18288" tIns="18288" rIns="18288" bIns="18288" anchor="t">
            <a:noAutofit/>
          </a:bodyPr>
          <a:lstStyle/>
          <a:p>
            <a:pPr marL="0" indent="0" algn="l">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乘以 2</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等价于 31 比特循环左移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位：</a:t>
            </a:r>
          </a:p>
          <a:p>
            <a:pPr marL="0" indent="0" algn="ctr">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汉明重量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（二进制表示中 1 的个数）为 3，即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j</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，则</a:t>
            </a:r>
          </a:p>
          <a:p>
            <a:pPr marL="0" indent="0" algn="ctr">
              <a:lnSpc>
                <a:spcPct val="100000"/>
              </a:lnSpc>
              <a:spcBef>
                <a:spcPts val="400"/>
              </a:spcBef>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a:t>
            </a:r>
          </a:p>
          <a:p>
            <a:pPr marL="0" indent="0" algn="ctr">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j</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mod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a:t>
            </a:r>
          </a:p>
        </p:txBody>
      </p:sp>
      <p:sp>
        <p:nvSpPr>
          <p:cNvPr id="15" name="图形_底色"/>
          <p:cNvSpPr/>
          <p:nvPr/>
        </p:nvSpPr>
        <p:spPr>
          <a:xfrm>
            <a:off x="6217920" y="2834640"/>
            <a:ext cx="5394960" cy="269748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6" name="TextBox 7"/>
          <p:cNvSpPr txBox="1"/>
          <p:nvPr/>
        </p:nvSpPr>
        <p:spPr>
          <a:xfrm>
            <a:off x="6400800" y="2889504"/>
            <a:ext cx="512064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模 2</a:t>
            </a:r>
            <a:r>
              <a:rPr lang="zh-CN" altLang="en-US" sz="1800" b="1" i="0" baseline="30000" dirty="0">
                <a:solidFill>
                  <a:srgbClr val="C00000"/>
                </a:solidFill>
                <a:latin typeface="Times New Roman" panose="02020603050405020304" charset="0"/>
                <a:ea typeface="微软雅黑" panose="020B0503020204020204" charset="-122"/>
                <a:cs typeface="Times New Roman" panose="02020603050405020304" charset="0"/>
              </a:rPr>
              <a:t>31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− 1 加法</a:t>
            </a:r>
          </a:p>
        </p:txBody>
      </p:sp>
      <p:sp>
        <p:nvSpPr>
          <p:cNvPr id="17" name="TextBox 23"/>
          <p:cNvSpPr txBox="1"/>
          <p:nvPr/>
        </p:nvSpPr>
        <p:spPr>
          <a:xfrm>
            <a:off x="6400800" y="3371850"/>
            <a:ext cx="5074920" cy="2212848"/>
          </a:xfrm>
          <a:prstGeom prst="rect">
            <a:avLst/>
          </a:prstGeom>
          <a:noFill/>
        </p:spPr>
        <p:txBody>
          <a:bodyPr wrap="square" lIns="18288" tIns="18288" rIns="18288" bIns="18288" anchor="t">
            <a:noAutofit/>
          </a:bodyPr>
          <a:lstStyle/>
          <a:p>
            <a:pPr marL="0" indent="0" algn="l">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两个 31 比特字相加，分两步完成：</a:t>
            </a:r>
          </a:p>
          <a:p>
            <a:pPr marL="0" indent="0" algn="ctr">
              <a:lnSpc>
                <a:spcPct val="100000"/>
              </a:lnSpc>
              <a:spcBef>
                <a:spcPts val="400"/>
              </a:spcBef>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a</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ctr">
              <a:lnSpc>
                <a:spcPct val="100000"/>
              </a:lnSpc>
              <a:spcBef>
                <a:spcPts val="400"/>
              </a:spcBef>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&amp; 0x7FFFFFFF)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31)</a:t>
            </a:r>
          </a:p>
          <a:p>
            <a:pPr marL="0" indent="0" algn="l">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第二步将溢出的进位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作为 1 加回最低位。</a:t>
            </a:r>
          </a:p>
          <a:p>
            <a:pPr marL="0" indent="0" algn="l">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例：0x7FFFFFF0 + 0x20 = 0x80000010，</a:t>
            </a:r>
          </a:p>
          <a:p>
            <a:pPr marL="0" indent="0" algn="ctr">
              <a:lnSpc>
                <a:spcPct val="100000"/>
              </a:lnSpc>
              <a:spcBef>
                <a:spcPts val="4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(0x80000010 &amp; 0x7FFFFFFF) + 1 = 0x11</a:t>
            </a:r>
          </a:p>
        </p:txBody>
      </p:sp>
      <p:sp>
        <p:nvSpPr>
          <p:cNvPr id="18" name="内容底色_6"/>
          <p:cNvSpPr/>
          <p:nvPr/>
        </p:nvSpPr>
        <p:spPr>
          <a:xfrm>
            <a:off x="594360" y="5623560"/>
            <a:ext cx="11018520" cy="7498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应用于反馈式：</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的系数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17</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21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20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的汉明重量都是 1，各对应一次循环移位；</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8</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8)。因此计算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v</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只需移位和模加，无须乘法和除法。</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算法（2/4）—— BR 层：比特重组</a:t>
            </a:r>
          </a:p>
        </p:txBody>
      </p:sp>
      <p:sp>
        <p:nvSpPr>
          <p:cNvPr id="7" name="流程导航_1"/>
          <p:cNvSpPr/>
          <p:nvPr/>
        </p:nvSpPr>
        <p:spPr>
          <a:xfrm>
            <a:off x="73152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2"/>
          <p:cNvSpPr/>
          <p:nvPr/>
        </p:nvSpPr>
        <p:spPr>
          <a:xfrm>
            <a:off x="3438144"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1"/>
          <p:cNvSpPr/>
          <p:nvPr/>
        </p:nvSpPr>
        <p:spPr>
          <a:xfrm>
            <a:off x="6153912"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1"/>
          <p:cNvSpPr/>
          <p:nvPr/>
        </p:nvSpPr>
        <p:spPr>
          <a:xfrm>
            <a:off x="886968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运行流程</a:t>
            </a:r>
          </a:p>
        </p:txBody>
      </p:sp>
      <p:sp>
        <p:nvSpPr>
          <p:cNvPr id="11" name="Rectangle 47"/>
          <p:cNvSpPr/>
          <p:nvPr/>
        </p:nvSpPr>
        <p:spPr>
          <a:xfrm>
            <a:off x="594360" y="192024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操作从 LFSR 的寄存器单元中抽取 128 比特，组成 4 个 32 比特字。记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分别为 31 比特单元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的高 16 比特（第 30～15 位）和低 16 比特（第 15～0 位）。</a:t>
            </a:r>
          </a:p>
        </p:txBody>
      </p:sp>
      <p:sp>
        <p:nvSpPr>
          <p:cNvPr id="12" name="TextBox 23"/>
          <p:cNvSpPr txBox="1"/>
          <p:nvPr/>
        </p:nvSpPr>
        <p:spPr>
          <a:xfrm>
            <a:off x="685800" y="3026664"/>
            <a:ext cx="1051560" cy="384048"/>
          </a:xfrm>
          <a:prstGeom prst="rect">
            <a:avLst/>
          </a:prstGeom>
          <a:noFill/>
        </p:spPr>
        <p:txBody>
          <a:bodyPr wrap="square" lIns="18288" tIns="18288" rIns="18288" bIns="18288" anchor="t">
            <a:noAutofit/>
          </a:bodyPr>
          <a:lstStyle/>
          <a:p>
            <a:pPr marL="0" indent="0" algn="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p>
        </p:txBody>
      </p:sp>
      <p:sp>
        <p:nvSpPr>
          <p:cNvPr id="13" name="Rectangle 14"/>
          <p:cNvSpPr/>
          <p:nvPr/>
        </p:nvSpPr>
        <p:spPr>
          <a:xfrm>
            <a:off x="1828800" y="2999232"/>
            <a:ext cx="224028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15H</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14" name="Rectangle 15"/>
          <p:cNvSpPr/>
          <p:nvPr/>
        </p:nvSpPr>
        <p:spPr>
          <a:xfrm>
            <a:off x="4069080" y="2999232"/>
            <a:ext cx="224028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14L</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15" name="TextBox 23"/>
          <p:cNvSpPr txBox="1"/>
          <p:nvPr/>
        </p:nvSpPr>
        <p:spPr>
          <a:xfrm>
            <a:off x="685800" y="3557016"/>
            <a:ext cx="1051560" cy="384048"/>
          </a:xfrm>
          <a:prstGeom prst="rect">
            <a:avLst/>
          </a:prstGeom>
          <a:noFill/>
        </p:spPr>
        <p:txBody>
          <a:bodyPr wrap="square" lIns="18288" tIns="18288" rIns="18288" bIns="18288" anchor="t">
            <a:noAutofit/>
          </a:bodyPr>
          <a:lstStyle/>
          <a:p>
            <a:pPr marL="0" indent="0" algn="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p>
        </p:txBody>
      </p:sp>
      <p:sp>
        <p:nvSpPr>
          <p:cNvPr id="16" name="Rectangle 14"/>
          <p:cNvSpPr/>
          <p:nvPr/>
        </p:nvSpPr>
        <p:spPr>
          <a:xfrm>
            <a:off x="1828800" y="3529584"/>
            <a:ext cx="224028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11L</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17" name="Rectangle 15"/>
          <p:cNvSpPr/>
          <p:nvPr/>
        </p:nvSpPr>
        <p:spPr>
          <a:xfrm>
            <a:off x="4069080" y="3529584"/>
            <a:ext cx="224028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9H</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18" name="TextBox 23"/>
          <p:cNvSpPr txBox="1"/>
          <p:nvPr/>
        </p:nvSpPr>
        <p:spPr>
          <a:xfrm>
            <a:off x="685800" y="4087368"/>
            <a:ext cx="1051560" cy="384048"/>
          </a:xfrm>
          <a:prstGeom prst="rect">
            <a:avLst/>
          </a:prstGeom>
          <a:noFill/>
        </p:spPr>
        <p:txBody>
          <a:bodyPr wrap="square" lIns="18288" tIns="18288" rIns="18288" bIns="18288" anchor="t">
            <a:noAutofit/>
          </a:bodyPr>
          <a:lstStyle/>
          <a:p>
            <a:pPr marL="0" indent="0" algn="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p>
        </p:txBody>
      </p:sp>
      <p:sp>
        <p:nvSpPr>
          <p:cNvPr id="19" name="Rectangle 14"/>
          <p:cNvSpPr/>
          <p:nvPr/>
        </p:nvSpPr>
        <p:spPr>
          <a:xfrm>
            <a:off x="1828800" y="4059936"/>
            <a:ext cx="224028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7L</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20" name="Rectangle 15"/>
          <p:cNvSpPr/>
          <p:nvPr/>
        </p:nvSpPr>
        <p:spPr>
          <a:xfrm>
            <a:off x="4069080" y="4059936"/>
            <a:ext cx="224028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5H</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21" name="TextBox 23"/>
          <p:cNvSpPr txBox="1"/>
          <p:nvPr/>
        </p:nvSpPr>
        <p:spPr>
          <a:xfrm>
            <a:off x="685800" y="4617720"/>
            <a:ext cx="1051560" cy="384048"/>
          </a:xfrm>
          <a:prstGeom prst="rect">
            <a:avLst/>
          </a:prstGeom>
          <a:noFill/>
        </p:spPr>
        <p:txBody>
          <a:bodyPr wrap="square" lIns="18288" tIns="18288" rIns="18288" bIns="18288" anchor="t">
            <a:noAutofit/>
          </a:bodyPr>
          <a:lstStyle/>
          <a:p>
            <a:pPr marL="0" indent="0" algn="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p>
        </p:txBody>
      </p:sp>
      <p:sp>
        <p:nvSpPr>
          <p:cNvPr id="22" name="Rectangle 14"/>
          <p:cNvSpPr/>
          <p:nvPr/>
        </p:nvSpPr>
        <p:spPr>
          <a:xfrm>
            <a:off x="1828800" y="4590288"/>
            <a:ext cx="224028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2L</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23" name="Rectangle 15"/>
          <p:cNvSpPr/>
          <p:nvPr/>
        </p:nvSpPr>
        <p:spPr>
          <a:xfrm>
            <a:off x="4069080" y="4590288"/>
            <a:ext cx="224028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0H</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（16 比特）</a:t>
            </a:r>
          </a:p>
        </p:txBody>
      </p:sp>
      <p:sp>
        <p:nvSpPr>
          <p:cNvPr id="24" name="图形_底色"/>
          <p:cNvSpPr/>
          <p:nvPr/>
        </p:nvSpPr>
        <p:spPr>
          <a:xfrm>
            <a:off x="6675120" y="2926080"/>
            <a:ext cx="4937760" cy="214884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3"/>
          <p:cNvSpPr txBox="1"/>
          <p:nvPr/>
        </p:nvSpPr>
        <p:spPr>
          <a:xfrm>
            <a:off x="6858000" y="3035808"/>
            <a:ext cx="4617720" cy="1965960"/>
          </a:xfrm>
          <a:prstGeom prst="rect">
            <a:avLst/>
          </a:prstGeom>
          <a:noFill/>
        </p:spPr>
        <p:txBody>
          <a:bodyPr wrap="square" lIns="18288" tIns="18288" rIns="18288" bIns="18288" anchor="t">
            <a:noAutofit/>
          </a:bodyPr>
          <a:lstStyle/>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拼接：</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每个字的高、低 16 比特来自两个不同单元</a:t>
            </a:r>
          </a:p>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去向：</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送入非线性函数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的输出异或得到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分散取位：</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15/14、11/9、7/5、2/0 遍布整个 LFSR</a:t>
            </a:r>
          </a:p>
        </p:txBody>
      </p:sp>
      <p:sp>
        <p:nvSpPr>
          <p:cNvPr id="26" name="内容底色_6"/>
          <p:cNvSpPr/>
          <p:nvPr/>
        </p:nvSpPr>
        <p:spPr>
          <a:xfrm>
            <a:off x="594360" y="5303520"/>
            <a:ext cx="110185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作用：</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31 比特单元无法直接作为 32 比特字使用，取 16 + 16 比特正好凑成一个字，把模 2</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31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 上的 LFSR 与 32 比特字运算的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衔接起来。</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算法（3/4）—— 非线性函数 F</a:t>
            </a:r>
          </a:p>
        </p:txBody>
      </p:sp>
      <p:sp>
        <p:nvSpPr>
          <p:cNvPr id="7" name="流程导航_1"/>
          <p:cNvSpPr/>
          <p:nvPr/>
        </p:nvSpPr>
        <p:spPr>
          <a:xfrm>
            <a:off x="73152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1"/>
          <p:cNvSpPr/>
          <p:nvPr/>
        </p:nvSpPr>
        <p:spPr>
          <a:xfrm>
            <a:off x="3438144"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2"/>
          <p:cNvSpPr/>
          <p:nvPr/>
        </p:nvSpPr>
        <p:spPr>
          <a:xfrm>
            <a:off x="6153912"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1"/>
          <p:cNvSpPr/>
          <p:nvPr/>
        </p:nvSpPr>
        <p:spPr>
          <a:xfrm>
            <a:off x="886968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运行流程</a:t>
            </a:r>
          </a:p>
        </p:txBody>
      </p:sp>
      <p:sp>
        <p:nvSpPr>
          <p:cNvPr id="11" name="图形_底色"/>
          <p:cNvSpPr/>
          <p:nvPr/>
        </p:nvSpPr>
        <p:spPr>
          <a:xfrm>
            <a:off x="594360" y="1920240"/>
            <a:ext cx="4343400" cy="2614295"/>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2" name="TextBox 7"/>
          <p:cNvSpPr txBox="1"/>
          <p:nvPr/>
        </p:nvSpPr>
        <p:spPr>
          <a:xfrm>
            <a:off x="777240" y="2011680"/>
            <a:ext cx="4069080" cy="365760"/>
          </a:xfrm>
          <a:prstGeom prst="rect">
            <a:avLst/>
          </a:prstGeom>
          <a:noFill/>
        </p:spPr>
        <p:txBody>
          <a:bodyPr wrap="square" lIns="18288" tIns="18288" rIns="18288" bIns="18288" anchor="t">
            <a:noAutofit/>
          </a:bodyPr>
          <a:lstStyle/>
          <a:p>
            <a:pPr marL="0" indent="0" algn="l">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F</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0</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X</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2</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)：输入 3 个字，输出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W</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3" name="TextBox 23"/>
          <p:cNvSpPr txBox="1"/>
          <p:nvPr/>
        </p:nvSpPr>
        <p:spPr>
          <a:xfrm>
            <a:off x="960120" y="2491740"/>
            <a:ext cx="3886200" cy="1913890"/>
          </a:xfrm>
          <a:prstGeom prst="rect">
            <a:avLst/>
          </a:prstGeom>
          <a:noFill/>
        </p:spPr>
        <p:txBody>
          <a:bodyPr wrap="square" lIns="18288" tIns="18288" rIns="18288" bIns="18288" anchor="t">
            <a:noAutofit/>
          </a:bodyPr>
          <a:lstStyle/>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4" name="图形_底色"/>
          <p:cNvSpPr/>
          <p:nvPr/>
        </p:nvSpPr>
        <p:spPr>
          <a:xfrm>
            <a:off x="5120640" y="1920240"/>
            <a:ext cx="6492240" cy="261493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7"/>
          <p:cNvSpPr txBox="1"/>
          <p:nvPr/>
        </p:nvSpPr>
        <p:spPr>
          <a:xfrm>
            <a:off x="5303520" y="2011680"/>
            <a:ext cx="6172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部件说明</a:t>
            </a:r>
          </a:p>
        </p:txBody>
      </p:sp>
      <p:sp>
        <p:nvSpPr>
          <p:cNvPr id="16" name="TextBox 23"/>
          <p:cNvSpPr txBox="1"/>
          <p:nvPr/>
        </p:nvSpPr>
        <p:spPr>
          <a:xfrm>
            <a:off x="5303520" y="2491740"/>
            <a:ext cx="6217920" cy="2011680"/>
          </a:xfrm>
          <a:prstGeom prst="rect">
            <a:avLst/>
          </a:prstGeom>
          <a:noFill/>
        </p:spPr>
        <p:txBody>
          <a:bodyPr wrap="square" lIns="18288" tIns="18288" rIns="18288" bIns="18288" anchor="t">
            <a:noAutofit/>
          </a:bodyPr>
          <a:lstStyle/>
          <a:p>
            <a:pPr marL="0" indent="0" algn="l">
              <a:lnSpc>
                <a:spcPct val="115000"/>
              </a:lnSpc>
              <a:spcBef>
                <a:spcPts val="4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S 盒：</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由 4 个 8 比特 S 盒并置，</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5000"/>
              </a:lnSpc>
              <a:spcBef>
                <a:spcPts val="4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线性变换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L</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L</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2</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5000"/>
              </a:lnSpc>
              <a:spcBef>
                <a:spcPts val="400"/>
              </a:spcBef>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2)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10)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18)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24)</a:t>
            </a:r>
          </a:p>
          <a:p>
            <a:pPr marL="0" indent="0" algn="l">
              <a:lnSpc>
                <a:spcPct val="115000"/>
              </a:lnSpc>
              <a:spcBef>
                <a:spcPts val="400"/>
              </a:spcBef>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8)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14)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22)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30)</a:t>
            </a:r>
          </a:p>
        </p:txBody>
      </p:sp>
      <p:sp>
        <p:nvSpPr>
          <p:cNvPr id="17" name="内容底色_6"/>
          <p:cNvSpPr/>
          <p:nvPr/>
        </p:nvSpPr>
        <p:spPr>
          <a:xfrm>
            <a:off x="594360" y="5591810"/>
            <a:ext cx="11018520" cy="78295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设计思想：</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与 ⊕ 交替使用、S 盒代换，再加上记忆单元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在各拍之间传递状态，使输出与 LFSR 状态呈高度非线性关系。</a:t>
            </a:r>
          </a:p>
        </p:txBody>
      </p:sp>
      <p:sp>
        <p:nvSpPr>
          <p:cNvPr id="18" name="Rectangle 47"/>
          <p:cNvSpPr/>
          <p:nvPr/>
        </p:nvSpPr>
        <p:spPr>
          <a:xfrm>
            <a:off x="594360" y="4659630"/>
            <a:ext cx="11018520" cy="832485"/>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运算流程：</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为本拍输出，工作阶段与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异或得到密钥字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的高、低 16 比特交叉拼接，经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与 S 盒得到新的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（初值为全 0），供下一拍使用。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13716" tIns="0" rIns="13716" bIns="0">
            <a:noAutofit/>
          </a:bodyPr>
          <a:lstStyle/>
          <a:p>
            <a:pPr algn="l">
              <a:lnSpc>
                <a:spcPts val="2650"/>
              </a:lnSpc>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ZUC 算法（4/4）—— 初始化阶段与工作阶段</a:t>
            </a:r>
          </a:p>
        </p:txBody>
      </p:sp>
      <p:sp>
        <p:nvSpPr>
          <p:cNvPr id="7" name="流程导航_1"/>
          <p:cNvSpPr/>
          <p:nvPr/>
        </p:nvSpPr>
        <p:spPr>
          <a:xfrm>
            <a:off x="731520"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 层</a:t>
            </a:r>
          </a:p>
        </p:txBody>
      </p:sp>
      <p:sp>
        <p:nvSpPr>
          <p:cNvPr id="8" name="流程导航_1"/>
          <p:cNvSpPr/>
          <p:nvPr/>
        </p:nvSpPr>
        <p:spPr>
          <a:xfrm>
            <a:off x="3438144"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BR 层</a:t>
            </a:r>
          </a:p>
        </p:txBody>
      </p:sp>
      <p:sp>
        <p:nvSpPr>
          <p:cNvPr id="9" name="流程导航_1"/>
          <p:cNvSpPr/>
          <p:nvPr/>
        </p:nvSpPr>
        <p:spPr>
          <a:xfrm>
            <a:off x="6153912" y="1344168"/>
            <a:ext cx="2660904" cy="374904"/>
          </a:xfrm>
          <a:prstGeom prst="chevron">
            <a:avLst>
              <a:gd name="adj" fmla="val 14000"/>
            </a:avLst>
          </a:prstGeom>
          <a:solidFill>
            <a:srgbClr val="EAEAEA"/>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非线性函数 F</a:t>
            </a:r>
          </a:p>
        </p:txBody>
      </p:sp>
      <p:sp>
        <p:nvSpPr>
          <p:cNvPr id="10" name="流程导航_2"/>
          <p:cNvSpPr/>
          <p:nvPr/>
        </p:nvSpPr>
        <p:spPr>
          <a:xfrm>
            <a:off x="8869680" y="1344168"/>
            <a:ext cx="2660904" cy="374904"/>
          </a:xfrm>
          <a:prstGeom prst="chevron">
            <a:avLst>
              <a:gd name="adj" fmla="val 14000"/>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none" lIns="109728" tIns="0" rIns="146304" bIns="0" rtlCol="0" anchor="ctr">
            <a:noAutofit/>
          </a:bodyP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运行流程</a:t>
            </a:r>
          </a:p>
        </p:txBody>
      </p:sp>
      <p:sp>
        <p:nvSpPr>
          <p:cNvPr id="11" name="图形_初始置换 IP"/>
          <p:cNvSpPr/>
          <p:nvPr/>
        </p:nvSpPr>
        <p:spPr>
          <a:xfrm>
            <a:off x="685800" y="1920240"/>
            <a:ext cx="3017520" cy="457200"/>
          </a:xfrm>
          <a:prstGeom prst="rect">
            <a:avLst/>
          </a:prstGeom>
          <a:solidFill>
            <a:srgbClr val="F5F5F5"/>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wrap="square" lIns="38100" tIns="0" rIns="38100" bIns="0" rtlCol="0" anchor="ctr">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密钥装入：KEY、IV →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s</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endPar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2" name="图形_初始置换 IP"/>
          <p:cNvSpPr/>
          <p:nvPr/>
        </p:nvSpPr>
        <p:spPr>
          <a:xfrm>
            <a:off x="685800" y="2578608"/>
            <a:ext cx="3017520" cy="457200"/>
          </a:xfrm>
          <a:prstGeom prst="rect">
            <a:avLst/>
          </a:prstGeom>
          <a:solidFill>
            <a:srgbClr val="F5F5F5"/>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wrap="square" lIns="38100" tIns="0" rIns="38100" bIns="0" rtlCol="0" anchor="ctr">
            <a:noAutofit/>
          </a:bodyPr>
          <a:lstStyle/>
          <a:p>
            <a:pPr algn="ctr">
              <a:lnSpc>
                <a:spcPct val="110000"/>
              </a:lnSpc>
              <a:spcBef>
                <a:spcPts val="0"/>
              </a:spcBef>
              <a:spcAft>
                <a:spcPts val="0"/>
              </a:spcAft>
            </a:pP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6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 = 0</a:t>
            </a:r>
          </a:p>
        </p:txBody>
      </p:sp>
      <p:sp>
        <p:nvSpPr>
          <p:cNvPr id="13" name="图形_16 轮迭代&#10;K{16} → ··· →"/>
          <p:cNvSpPr/>
          <p:nvPr/>
        </p:nvSpPr>
        <p:spPr>
          <a:xfrm>
            <a:off x="685800" y="3236976"/>
            <a:ext cx="3017520" cy="566928"/>
          </a:xfrm>
          <a:prstGeom prst="rect">
            <a:avLst/>
          </a:prstGeom>
          <a:solidFill>
            <a:srgbClr val="FAF1F1"/>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wrap="square" lIns="38100" tIns="0" rIns="38100" bIns="0" rtlCol="0" anchor="ctr">
            <a:noAutofit/>
          </a:bodyPr>
          <a:lstStyle/>
          <a:p>
            <a:pPr algn="ctr">
              <a:lnSpc>
                <a:spcPct val="110000"/>
              </a:lnSpc>
              <a:spcBef>
                <a:spcPts val="0"/>
              </a:spcBef>
              <a:spcAft>
                <a:spcPts val="0"/>
              </a:spcAft>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初始化阶段：重复 32 次</a:t>
            </a:r>
          </a:p>
        </p:txBody>
      </p:sp>
      <p:sp>
        <p:nvSpPr>
          <p:cNvPr id="14" name="图形_初始置换 IP"/>
          <p:cNvSpPr/>
          <p:nvPr/>
        </p:nvSpPr>
        <p:spPr>
          <a:xfrm>
            <a:off x="685800" y="3986784"/>
            <a:ext cx="3017520" cy="457200"/>
          </a:xfrm>
          <a:prstGeom prst="rect">
            <a:avLst/>
          </a:prstGeom>
          <a:solidFill>
            <a:srgbClr val="F5F5F5"/>
          </a:solidFill>
          <a:ln w="10160">
            <a:solidFill>
              <a:srgbClr val="B8B8B8"/>
            </a:solidFill>
          </a:ln>
        </p:spPr>
        <p:style>
          <a:lnRef idx="1">
            <a:schemeClr val="accent1"/>
          </a:lnRef>
          <a:fillRef idx="3">
            <a:schemeClr val="accent1"/>
          </a:fillRef>
          <a:effectRef idx="2">
            <a:schemeClr val="accent1"/>
          </a:effectRef>
          <a:fontRef idx="minor">
            <a:schemeClr val="lt1"/>
          </a:fontRef>
        </p:style>
        <p:txBody>
          <a:bodyPr wrap="square" lIns="38100" tIns="0" rIns="38100" bIns="0" rtlCol="0" anchor="ctr">
            <a:noAutofit/>
          </a:bodyPr>
          <a:lstStyle/>
          <a:p>
            <a:pPr algn="ctr">
              <a:lnSpc>
                <a:spcPct val="110000"/>
              </a:lnSpc>
              <a:spcBef>
                <a:spcPts val="0"/>
              </a:spcBef>
              <a:spcAft>
                <a:spcPts val="0"/>
              </a:spcAft>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工作阶段第 1 拍：舍弃 </a:t>
            </a:r>
            <a:r>
              <a:rPr lang="zh-CN" altLang="en-US" sz="1600" b="0" i="1" dirty="0">
                <a:solidFill>
                  <a:srgbClr val="404040"/>
                </a:solidFill>
                <a:latin typeface="Times New Roman" panose="02020603050405020304" charset="0"/>
                <a:ea typeface="微软雅黑" panose="020B0503020204020204" charset="-122"/>
                <a:cs typeface="Times New Roman" panose="02020603050405020304" charset="0"/>
              </a:rPr>
              <a:t>W</a:t>
            </a:r>
            <a:endPar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5" name="图形_16 轮迭代&#10;K{16} → ··· →"/>
          <p:cNvSpPr/>
          <p:nvPr/>
        </p:nvSpPr>
        <p:spPr>
          <a:xfrm>
            <a:off x="685800" y="4645152"/>
            <a:ext cx="3017520" cy="566928"/>
          </a:xfrm>
          <a:prstGeom prst="rect">
            <a:avLst/>
          </a:prstGeom>
          <a:solidFill>
            <a:srgbClr val="FAF1F1"/>
          </a:solidFill>
          <a:ln w="10160">
            <a:solidFill>
              <a:srgbClr val="C00000"/>
            </a:solidFill>
          </a:ln>
        </p:spPr>
        <p:style>
          <a:lnRef idx="1">
            <a:schemeClr val="accent1"/>
          </a:lnRef>
          <a:fillRef idx="3">
            <a:schemeClr val="accent1"/>
          </a:fillRef>
          <a:effectRef idx="2">
            <a:schemeClr val="accent1"/>
          </a:effectRef>
          <a:fontRef idx="minor">
            <a:schemeClr val="lt1"/>
          </a:fontRef>
        </p:style>
        <p:txBody>
          <a:bodyPr wrap="square" lIns="38100" tIns="0" rIns="38100" bIns="0" rtlCol="0" anchor="ctr">
            <a:noAutofit/>
          </a:bodyPr>
          <a:lstStyle/>
          <a:p>
            <a:pPr algn="ctr">
              <a:lnSpc>
                <a:spcPct val="110000"/>
              </a:lnSpc>
              <a:spcBef>
                <a:spcPts val="0"/>
              </a:spcBef>
              <a:spcAft>
                <a:spcPts val="0"/>
              </a:spcAft>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此后每拍输出一个 </a:t>
            </a:r>
            <a:r>
              <a:rPr lang="zh-CN" altLang="en-US" sz="1600" b="0" i="1" dirty="0">
                <a:solidFill>
                  <a:srgbClr val="222222"/>
                </a:solidFill>
                <a:latin typeface="Times New Roman" panose="02020603050405020304" charset="0"/>
                <a:ea typeface="微软雅黑" panose="020B0503020204020204" charset="-122"/>
                <a:cs typeface="Times New Roman" panose="02020603050405020304" charset="0"/>
              </a:rPr>
              <a:t>Z</a:t>
            </a: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16" name="Connector 11"/>
          <p:cNvCxnSpPr/>
          <p:nvPr/>
        </p:nvCxnSpPr>
        <p:spPr>
          <a:xfrm>
            <a:off x="2194560" y="2377440"/>
            <a:ext cx="0" cy="201168"/>
          </a:xfrm>
          <a:prstGeom prst="line">
            <a:avLst/>
          </a:prstGeom>
          <a:ln w="15875">
            <a:solidFill>
              <a:srgbClr val="404040"/>
            </a:solidFill>
            <a:tailEnd type="triangle" w="med" len="med"/>
          </a:ln>
        </p:spPr>
      </p:cxnSp>
      <p:cxnSp>
        <p:nvCxnSpPr>
          <p:cNvPr id="17" name="Connector 11"/>
          <p:cNvCxnSpPr/>
          <p:nvPr/>
        </p:nvCxnSpPr>
        <p:spPr>
          <a:xfrm>
            <a:off x="2194560" y="3035808"/>
            <a:ext cx="0" cy="201168"/>
          </a:xfrm>
          <a:prstGeom prst="line">
            <a:avLst/>
          </a:prstGeom>
          <a:ln w="15875">
            <a:solidFill>
              <a:srgbClr val="404040"/>
            </a:solidFill>
            <a:tailEnd type="triangle" w="med" len="med"/>
          </a:ln>
        </p:spPr>
      </p:cxnSp>
      <p:cxnSp>
        <p:nvCxnSpPr>
          <p:cNvPr id="18" name="Connector 11"/>
          <p:cNvCxnSpPr/>
          <p:nvPr/>
        </p:nvCxnSpPr>
        <p:spPr>
          <a:xfrm>
            <a:off x="2194560" y="3803904"/>
            <a:ext cx="0" cy="182880"/>
          </a:xfrm>
          <a:prstGeom prst="line">
            <a:avLst/>
          </a:prstGeom>
          <a:ln w="15875">
            <a:solidFill>
              <a:srgbClr val="404040"/>
            </a:solidFill>
            <a:tailEnd type="triangle" w="med" len="med"/>
          </a:ln>
        </p:spPr>
      </p:cxnSp>
      <p:cxnSp>
        <p:nvCxnSpPr>
          <p:cNvPr id="19" name="Connector 11"/>
          <p:cNvCxnSpPr/>
          <p:nvPr/>
        </p:nvCxnSpPr>
        <p:spPr>
          <a:xfrm>
            <a:off x="2194560" y="4443984"/>
            <a:ext cx="0" cy="201168"/>
          </a:xfrm>
          <a:prstGeom prst="line">
            <a:avLst/>
          </a:prstGeom>
          <a:ln w="15875">
            <a:solidFill>
              <a:srgbClr val="404040"/>
            </a:solidFill>
            <a:tailEnd type="triangle" w="med" len="med"/>
          </a:ln>
        </p:spPr>
      </p:cxnSp>
      <p:sp>
        <p:nvSpPr>
          <p:cNvPr id="20" name="TextBox 7"/>
          <p:cNvSpPr txBox="1"/>
          <p:nvPr/>
        </p:nvSpPr>
        <p:spPr>
          <a:xfrm>
            <a:off x="4023360" y="1874520"/>
            <a:ext cx="749808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① 初始化阶段（重复 32 次）</a:t>
            </a:r>
          </a:p>
        </p:txBody>
      </p:sp>
      <p:sp>
        <p:nvSpPr>
          <p:cNvPr id="21" name="内容底色_6"/>
          <p:cNvSpPr/>
          <p:nvPr/>
        </p:nvSpPr>
        <p:spPr>
          <a:xfrm>
            <a:off x="4023360" y="2240280"/>
            <a:ext cx="7662672"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BitReconstruction()；</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LFSRWithInitialisationMode(</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a:t>
            </a:r>
          </a:p>
        </p:txBody>
      </p:sp>
      <p:sp>
        <p:nvSpPr>
          <p:cNvPr id="22" name="TextBox 7"/>
          <p:cNvSpPr txBox="1"/>
          <p:nvPr/>
        </p:nvSpPr>
        <p:spPr>
          <a:xfrm>
            <a:off x="4023360" y="3090672"/>
            <a:ext cx="749808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工作阶段第 1 拍</a:t>
            </a:r>
          </a:p>
        </p:txBody>
      </p:sp>
      <p:sp>
        <p:nvSpPr>
          <p:cNvPr id="23" name="内容底色_6"/>
          <p:cNvSpPr/>
          <p:nvPr/>
        </p:nvSpPr>
        <p:spPr>
          <a:xfrm>
            <a:off x="4023360" y="3456432"/>
            <a:ext cx="7662672"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BitReconstruction()；</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)；LFSRWithWorkMode()；</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舍弃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的输出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4" name="TextBox 7"/>
          <p:cNvSpPr txBox="1"/>
          <p:nvPr/>
        </p:nvSpPr>
        <p:spPr>
          <a:xfrm>
            <a:off x="4023360" y="4306824"/>
            <a:ext cx="749808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③ 之后每拍</a:t>
            </a:r>
          </a:p>
        </p:txBody>
      </p:sp>
      <p:sp>
        <p:nvSpPr>
          <p:cNvPr id="25" name="内容底色_6"/>
          <p:cNvSpPr/>
          <p:nvPr/>
        </p:nvSpPr>
        <p:spPr>
          <a:xfrm>
            <a:off x="4023360" y="4672584"/>
            <a:ext cx="7662672"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BitReconstruction()；</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LFSRWithWorkMode()</a:t>
            </a:r>
          </a:p>
        </p:txBody>
      </p:sp>
      <p:sp>
        <p:nvSpPr>
          <p:cNvPr id="26" name="Rectangle 47"/>
          <p:cNvSpPr/>
          <p:nvPr/>
        </p:nvSpPr>
        <p:spPr>
          <a:xfrm>
            <a:off x="594360" y="5596128"/>
            <a:ext cx="11018520" cy="77724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注意：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初始化阶段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的输出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W</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右移 1 位后反馈进 LFSR，不作为密钥字输出；工作阶段第 1 拍的输出也被舍弃，此后每拍才输出密钥字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基于 ZUC 的机密性算法（1/2）—— 输入与初始化</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基于 ZUC 流密码算法的机密性算法包括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初始化、密钥流生成、加密、解密</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4 个阶段：前两个阶段构成对称加密方案的密钥生成算法，后两个阶段分别是加密算法和解密算法。</a:t>
            </a:r>
          </a:p>
        </p:txBody>
      </p:sp>
      <p:graphicFrame>
        <p:nvGraphicFramePr>
          <p:cNvPr id="8" name="表格"/>
          <p:cNvGraphicFramePr>
            <a:graphicFrameLocks noGrp="1"/>
          </p:cNvGraphicFramePr>
          <p:nvPr/>
        </p:nvGraphicFramePr>
        <p:xfrm>
          <a:off x="594360" y="2395728"/>
          <a:ext cx="5349240" cy="2816352"/>
        </p:xfrm>
        <a:graphic>
          <a:graphicData uri="http://schemas.openxmlformats.org/drawingml/2006/table">
            <a:tbl>
              <a:tblPr>
                <a:tableStyleId>{5940675A-B579-460E-94D1-54222C63F5DA}</a:tableStyleId>
              </a:tblPr>
              <a:tblGrid>
                <a:gridCol w="17830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输入</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长度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含义</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COUNT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32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计数器</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BEARER</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5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承载层标识</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DIRECTION</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传输方向</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CK</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128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机密性密钥</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LENGTH</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输入比特流长度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LENGTH 比特</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明文 / 密文比特流</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6"/>
                  </a:ext>
                </a:extLst>
              </a:tr>
            </a:tbl>
          </a:graphicData>
        </a:graphic>
      </p:graphicFrame>
      <p:sp>
        <p:nvSpPr>
          <p:cNvPr id="9" name="图形_底色"/>
          <p:cNvSpPr/>
          <p:nvPr/>
        </p:nvSpPr>
        <p:spPr>
          <a:xfrm>
            <a:off x="6126480" y="2395728"/>
            <a:ext cx="5486400" cy="2816352"/>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7"/>
          <p:cNvSpPr txBox="1"/>
          <p:nvPr/>
        </p:nvSpPr>
        <p:spPr>
          <a:xfrm>
            <a:off x="6309360" y="2487168"/>
            <a:ext cx="512064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初始化：构造 KEY 与 IV（每段 8 比特）</a:t>
            </a:r>
          </a:p>
        </p:txBody>
      </p:sp>
      <p:sp>
        <p:nvSpPr>
          <p:cNvPr id="11" name="TextBox 23"/>
          <p:cNvSpPr txBox="1"/>
          <p:nvPr/>
        </p:nvSpPr>
        <p:spPr>
          <a:xfrm>
            <a:off x="6309360" y="2926080"/>
            <a:ext cx="5212080" cy="2240280"/>
          </a:xfrm>
          <a:prstGeom prst="rect">
            <a:avLst/>
          </a:prstGeom>
          <a:noFill/>
        </p:spPr>
        <p:txBody>
          <a:bodyPr wrap="square" lIns="18288" tIns="18288" rIns="18288" bIns="18288" anchor="t">
            <a:noAutofit/>
          </a:bodyPr>
          <a:lstStyle/>
          <a:p>
            <a:pPr marL="0" indent="0" algn="l">
              <a:lnSpc>
                <a:spcPct val="115000"/>
              </a:lnSpc>
              <a:buNone/>
            </a:pP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key</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ck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，0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15，即 KEY = CK</a:t>
            </a:r>
          </a:p>
          <a:p>
            <a:pPr marL="0" indent="0" algn="l">
              <a:lnSpc>
                <a:spcPct val="115000"/>
              </a:lnSpc>
              <a:buNone/>
            </a:pP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COUNT</a:t>
            </a:r>
          </a:p>
          <a:p>
            <a:pPr marL="0" indent="0" algn="l">
              <a:lnSpc>
                <a:spcPct val="115000"/>
              </a:lnSpc>
              <a:buNone/>
            </a:pP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BEARER ‖ DIRECTION ‖ 00</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5000"/>
              </a:lnSpc>
              <a:buNone/>
            </a:pP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5</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6</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7</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00000000</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5000"/>
              </a:lnSpc>
              <a:buNone/>
            </a:pP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2000" b="0" i="0" baseline="-25000" dirty="0">
                <a:solidFill>
                  <a:srgbClr val="404040"/>
                </a:solidFill>
                <a:latin typeface="Times New Roman" panose="02020603050405020304" charset="0"/>
                <a:ea typeface="微软雅黑" panose="020B0503020204020204" charset="-122"/>
                <a:cs typeface="Times New Roman" panose="02020603050405020304" charset="0"/>
              </a:rPr>
              <a:t>8+</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j</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j</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，0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j</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7</a:t>
            </a:r>
          </a:p>
          <a:p>
            <a:pPr marL="0" indent="0" algn="l">
              <a:lnSpc>
                <a:spcPct val="115000"/>
              </a:lnSpc>
              <a:buNone/>
            </a:pPr>
            <a:r>
              <a:rPr lang="zh-CN" altLang="en-US" dirty="0">
                <a:solidFill>
                  <a:srgbClr val="404040"/>
                </a:solidFill>
                <a:latin typeface="Times New Roman" panose="02020603050405020304" charset="0"/>
                <a:ea typeface="微软雅黑" panose="020B0503020204020204" charset="-122"/>
                <a:cs typeface="Times New Roman" panose="02020603050405020304" charset="0"/>
                <a:sym typeface="+mn-ea"/>
              </a:rPr>
              <a:t>IV 共 16 字节，前 8 字节与后 8 字节相同</a:t>
            </a:r>
            <a:endParaRPr lang="zh-CN" altLang="en-US"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15000"/>
              </a:lnSpc>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2" name="内容底色_6"/>
          <p:cNvSpPr/>
          <p:nvPr/>
        </p:nvSpPr>
        <p:spPr>
          <a:xfrm>
            <a:off x="594360" y="5440680"/>
            <a:ext cx="1101852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设计意图：</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IV 由计数器、承载和方向拼成，保证同一 CK 下每个数据包、每个传输方向都使用不同的 IV，从而得到不同的密钥流。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基于 ZUC 的机密性算法（2/2）—— 密钥流生成与加解密</a:t>
            </a:r>
          </a:p>
        </p:txBody>
      </p:sp>
      <p:sp>
        <p:nvSpPr>
          <p:cNvPr id="7" name="TextBox 7"/>
          <p:cNvSpPr txBox="1"/>
          <p:nvPr/>
        </p:nvSpPr>
        <p:spPr>
          <a:xfrm>
            <a:off x="594360" y="1371600"/>
            <a:ext cx="7315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密钥流生成</a:t>
            </a:r>
          </a:p>
        </p:txBody>
      </p:sp>
      <p:sp>
        <p:nvSpPr>
          <p:cNvPr id="8" name="TextBox 23"/>
          <p:cNvSpPr txBox="1"/>
          <p:nvPr/>
        </p:nvSpPr>
        <p:spPr>
          <a:xfrm>
            <a:off x="594360" y="1755648"/>
            <a:ext cx="11018520" cy="73152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运行 ZUC 产生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LENGTH / 32</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个 32 比特密钥字，按比特排成密钥流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32</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，其中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为第一个密钥字的最高位。</a:t>
            </a:r>
          </a:p>
        </p:txBody>
      </p:sp>
      <p:sp>
        <p:nvSpPr>
          <p:cNvPr id="9" name="Rectangle 47"/>
          <p:cNvSpPr/>
          <p:nvPr/>
        </p:nvSpPr>
        <p:spPr>
          <a:xfrm>
            <a:off x="594360" y="2578608"/>
            <a:ext cx="11018520" cy="548640"/>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③ 加密：</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④ 解密：</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20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20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20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LENGTH − 1）</a:t>
            </a:r>
          </a:p>
        </p:txBody>
      </p:sp>
      <p:sp>
        <p:nvSpPr>
          <p:cNvPr id="10" name="TextBox 7"/>
          <p:cNvSpPr txBox="1"/>
          <p:nvPr/>
        </p:nvSpPr>
        <p:spPr>
          <a:xfrm>
            <a:off x="594360" y="3310128"/>
            <a:ext cx="82296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例：LENGTH = 100 比特</a:t>
            </a:r>
          </a:p>
        </p:txBody>
      </p:sp>
      <p:sp>
        <p:nvSpPr>
          <p:cNvPr id="11" name="Rectangle 14"/>
          <p:cNvSpPr/>
          <p:nvPr/>
        </p:nvSpPr>
        <p:spPr>
          <a:xfrm>
            <a:off x="914400" y="3749040"/>
            <a:ext cx="2423160" cy="45720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（32 比特）</a:t>
            </a:r>
          </a:p>
        </p:txBody>
      </p:sp>
      <p:sp>
        <p:nvSpPr>
          <p:cNvPr id="12" name="Rectangle 14"/>
          <p:cNvSpPr/>
          <p:nvPr/>
        </p:nvSpPr>
        <p:spPr>
          <a:xfrm>
            <a:off x="3337560" y="3749040"/>
            <a:ext cx="2423160" cy="45720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（32 比特）</a:t>
            </a:r>
          </a:p>
        </p:txBody>
      </p:sp>
      <p:sp>
        <p:nvSpPr>
          <p:cNvPr id="13" name="Rectangle 14"/>
          <p:cNvSpPr/>
          <p:nvPr/>
        </p:nvSpPr>
        <p:spPr>
          <a:xfrm>
            <a:off x="5760720" y="3749040"/>
            <a:ext cx="2423160" cy="45720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（32 比特）</a:t>
            </a:r>
          </a:p>
        </p:txBody>
      </p:sp>
      <p:sp>
        <p:nvSpPr>
          <p:cNvPr id="14" name="Rectangle 14"/>
          <p:cNvSpPr/>
          <p:nvPr/>
        </p:nvSpPr>
        <p:spPr>
          <a:xfrm>
            <a:off x="8183880" y="3749040"/>
            <a:ext cx="960120" cy="457200"/>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4 比特</a:t>
            </a:r>
          </a:p>
        </p:txBody>
      </p:sp>
      <p:sp>
        <p:nvSpPr>
          <p:cNvPr id="15" name="Rectangle 15"/>
          <p:cNvSpPr/>
          <p:nvPr/>
        </p:nvSpPr>
        <p:spPr>
          <a:xfrm>
            <a:off x="9144000" y="3749040"/>
            <a:ext cx="1874520" cy="45720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丢弃 28 比特</a:t>
            </a:r>
          </a:p>
        </p:txBody>
      </p:sp>
      <p:sp>
        <p:nvSpPr>
          <p:cNvPr id="16" name="TextBox 23"/>
          <p:cNvSpPr txBox="1"/>
          <p:nvPr/>
        </p:nvSpPr>
        <p:spPr>
          <a:xfrm>
            <a:off x="8183880" y="3346704"/>
            <a:ext cx="2834640" cy="365760"/>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Z</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（32 比特）</a:t>
            </a:r>
          </a:p>
        </p:txBody>
      </p:sp>
      <p:sp>
        <p:nvSpPr>
          <p:cNvPr id="17" name="TextBox 23"/>
          <p:cNvSpPr txBox="1"/>
          <p:nvPr/>
        </p:nvSpPr>
        <p:spPr>
          <a:xfrm>
            <a:off x="594360" y="4577080"/>
            <a:ext cx="11018520" cy="384048"/>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 / 32</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4：共生成 128 比特，只取前 100 比特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99</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与明文异或</a:t>
            </a:r>
          </a:p>
        </p:txBody>
      </p:sp>
      <p:sp>
        <p:nvSpPr>
          <p:cNvPr id="18" name="内容底色_6"/>
          <p:cNvSpPr/>
          <p:nvPr/>
        </p:nvSpPr>
        <p:spPr>
          <a:xfrm>
            <a:off x="594360" y="5320030"/>
            <a:ext cx="11018520" cy="98933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与算法定义的联系：</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初始化 + 密钥流生成 ⇔ Gen；加密阶段 ⇔ Enc；解密阶段 ⇔ Dec。</a:t>
            </a:r>
          </a:p>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加密与解密是同一个异或运算，满足正确性 Dec(Enc(</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课堂小测：机密性算法的参数计算</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基于 ZUC 的机密性算法中，设 COUNT = 0x66035492，BEARER = 01111</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，DIRECTION = 0，待加密消息长度 LENGTH = 1000 比特。</a:t>
            </a:r>
          </a:p>
        </p:txBody>
      </p:sp>
      <p:sp>
        <p:nvSpPr>
          <p:cNvPr id="8" name="TextBox 7"/>
          <p:cNvSpPr txBox="1"/>
          <p:nvPr/>
        </p:nvSpPr>
        <p:spPr>
          <a:xfrm>
            <a:off x="594360" y="237744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 写出初始向量 iv</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0</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iv</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15</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（十六进制）</a:t>
            </a:r>
          </a:p>
        </p:txBody>
      </p:sp>
      <p:sp>
        <p:nvSpPr>
          <p:cNvPr id="9" name="TextBox 23"/>
          <p:cNvSpPr txBox="1"/>
          <p:nvPr/>
        </p:nvSpPr>
        <p:spPr>
          <a:xfrm>
            <a:off x="82296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0" name="Rectangle 15"/>
          <p:cNvSpPr/>
          <p:nvPr/>
        </p:nvSpPr>
        <p:spPr>
          <a:xfrm>
            <a:off x="82296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1" name="TextBox 23"/>
          <p:cNvSpPr txBox="1"/>
          <p:nvPr/>
        </p:nvSpPr>
        <p:spPr>
          <a:xfrm>
            <a:off x="149047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2" name="Rectangle 15"/>
          <p:cNvSpPr/>
          <p:nvPr/>
        </p:nvSpPr>
        <p:spPr>
          <a:xfrm>
            <a:off x="149047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3" name="TextBox 23"/>
          <p:cNvSpPr txBox="1"/>
          <p:nvPr/>
        </p:nvSpPr>
        <p:spPr>
          <a:xfrm>
            <a:off x="215798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4" name="Rectangle 15"/>
          <p:cNvSpPr/>
          <p:nvPr/>
        </p:nvSpPr>
        <p:spPr>
          <a:xfrm>
            <a:off x="215798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5" name="TextBox 23"/>
          <p:cNvSpPr txBox="1"/>
          <p:nvPr/>
        </p:nvSpPr>
        <p:spPr>
          <a:xfrm>
            <a:off x="282549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6" name="Rectangle 15"/>
          <p:cNvSpPr/>
          <p:nvPr/>
        </p:nvSpPr>
        <p:spPr>
          <a:xfrm>
            <a:off x="282549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7" name="TextBox 23"/>
          <p:cNvSpPr txBox="1"/>
          <p:nvPr/>
        </p:nvSpPr>
        <p:spPr>
          <a:xfrm>
            <a:off x="349300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8" name="Rectangle 15"/>
          <p:cNvSpPr/>
          <p:nvPr/>
        </p:nvSpPr>
        <p:spPr>
          <a:xfrm>
            <a:off x="3493008"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19" name="TextBox 23"/>
          <p:cNvSpPr txBox="1"/>
          <p:nvPr/>
        </p:nvSpPr>
        <p:spPr>
          <a:xfrm>
            <a:off x="416052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5</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0" name="Rectangle 15"/>
          <p:cNvSpPr/>
          <p:nvPr/>
        </p:nvSpPr>
        <p:spPr>
          <a:xfrm>
            <a:off x="416052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1" name="TextBox 23"/>
          <p:cNvSpPr txBox="1"/>
          <p:nvPr/>
        </p:nvSpPr>
        <p:spPr>
          <a:xfrm>
            <a:off x="482803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6</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2" name="Rectangle 15"/>
          <p:cNvSpPr/>
          <p:nvPr/>
        </p:nvSpPr>
        <p:spPr>
          <a:xfrm>
            <a:off x="482803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3" name="TextBox 23"/>
          <p:cNvSpPr txBox="1"/>
          <p:nvPr/>
        </p:nvSpPr>
        <p:spPr>
          <a:xfrm>
            <a:off x="549554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7</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4" name="Rectangle 15"/>
          <p:cNvSpPr/>
          <p:nvPr/>
        </p:nvSpPr>
        <p:spPr>
          <a:xfrm>
            <a:off x="549554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5" name="TextBox 23"/>
          <p:cNvSpPr txBox="1"/>
          <p:nvPr/>
        </p:nvSpPr>
        <p:spPr>
          <a:xfrm>
            <a:off x="616305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8</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6" name="Rectangle 15"/>
          <p:cNvSpPr/>
          <p:nvPr/>
        </p:nvSpPr>
        <p:spPr>
          <a:xfrm>
            <a:off x="616305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7" name="TextBox 23"/>
          <p:cNvSpPr txBox="1"/>
          <p:nvPr/>
        </p:nvSpPr>
        <p:spPr>
          <a:xfrm>
            <a:off x="683056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9</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8" name="Rectangle 15"/>
          <p:cNvSpPr/>
          <p:nvPr/>
        </p:nvSpPr>
        <p:spPr>
          <a:xfrm>
            <a:off x="6830568"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29" name="TextBox 23"/>
          <p:cNvSpPr txBox="1"/>
          <p:nvPr/>
        </p:nvSpPr>
        <p:spPr>
          <a:xfrm>
            <a:off x="749808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10</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0" name="Rectangle 15"/>
          <p:cNvSpPr/>
          <p:nvPr/>
        </p:nvSpPr>
        <p:spPr>
          <a:xfrm>
            <a:off x="749808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1" name="TextBox 23"/>
          <p:cNvSpPr txBox="1"/>
          <p:nvPr/>
        </p:nvSpPr>
        <p:spPr>
          <a:xfrm>
            <a:off x="816559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11</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2" name="Rectangle 15"/>
          <p:cNvSpPr/>
          <p:nvPr/>
        </p:nvSpPr>
        <p:spPr>
          <a:xfrm>
            <a:off x="816559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3" name="TextBox 23"/>
          <p:cNvSpPr txBox="1"/>
          <p:nvPr/>
        </p:nvSpPr>
        <p:spPr>
          <a:xfrm>
            <a:off x="883310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12</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4" name="Rectangle 15"/>
          <p:cNvSpPr/>
          <p:nvPr/>
        </p:nvSpPr>
        <p:spPr>
          <a:xfrm>
            <a:off x="883310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5" name="TextBox 23"/>
          <p:cNvSpPr txBox="1"/>
          <p:nvPr/>
        </p:nvSpPr>
        <p:spPr>
          <a:xfrm>
            <a:off x="950061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13</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6" name="Rectangle 15"/>
          <p:cNvSpPr/>
          <p:nvPr/>
        </p:nvSpPr>
        <p:spPr>
          <a:xfrm>
            <a:off x="950061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7" name="TextBox 23"/>
          <p:cNvSpPr txBox="1"/>
          <p:nvPr/>
        </p:nvSpPr>
        <p:spPr>
          <a:xfrm>
            <a:off x="1016812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14</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8" name="Rectangle 15"/>
          <p:cNvSpPr/>
          <p:nvPr/>
        </p:nvSpPr>
        <p:spPr>
          <a:xfrm>
            <a:off x="10168128"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9" name="TextBox 23"/>
          <p:cNvSpPr txBox="1"/>
          <p:nvPr/>
        </p:nvSpPr>
        <p:spPr>
          <a:xfrm>
            <a:off x="1083564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40" name="Rectangle 15"/>
          <p:cNvSpPr/>
          <p:nvPr/>
        </p:nvSpPr>
        <p:spPr>
          <a:xfrm>
            <a:off x="1083564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endPar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41" name="TextBox 7"/>
          <p:cNvSpPr txBox="1"/>
          <p:nvPr/>
        </p:nvSpPr>
        <p:spPr>
          <a:xfrm>
            <a:off x="594360" y="379476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 ZUC 需要输出多少个密钥字？最后一个密钥字取用多少比特？</a:t>
            </a:r>
          </a:p>
        </p:txBody>
      </p:sp>
      <p:sp>
        <p:nvSpPr>
          <p:cNvPr id="42" name="内容底色_6"/>
          <p:cNvSpPr/>
          <p:nvPr/>
        </p:nvSpPr>
        <p:spPr>
          <a:xfrm>
            <a:off x="594360" y="444881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试一试：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按初始化规则构造 IV，并根据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LENGTH / 32</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计算所需密钥字的个数。</a:t>
            </a:r>
          </a:p>
        </p:txBody>
      </p:sp>
      <p:sp>
        <p:nvSpPr>
          <p:cNvPr id="43" name="Rectangle 47"/>
          <p:cNvSpPr/>
          <p:nvPr/>
        </p:nvSpPr>
        <p:spPr>
          <a:xfrm>
            <a:off x="594360" y="5312918"/>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提示：</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COUNT 按字节拆分为 count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count</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由 5 比特 BEARER、1 比特 DIRECTION 和 2 比特 0 拼成。</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课堂小测：机密性算法的参数计算（答案）</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基于 ZUC 的机密性算法中，设 COUNT = 0x66035492，BEARER = 01111</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，DIRECTION = 0，待加密消息长度 LENGTH = 1000 比特。</a:t>
            </a:r>
          </a:p>
        </p:txBody>
      </p:sp>
      <p:sp>
        <p:nvSpPr>
          <p:cNvPr id="8" name="TextBox 7"/>
          <p:cNvSpPr txBox="1"/>
          <p:nvPr/>
        </p:nvSpPr>
        <p:spPr>
          <a:xfrm>
            <a:off x="594360" y="237744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 写出初始向量 iv</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0</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iv</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15</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（十六进制）</a:t>
            </a:r>
          </a:p>
        </p:txBody>
      </p:sp>
      <p:sp>
        <p:nvSpPr>
          <p:cNvPr id="9" name="TextBox 23"/>
          <p:cNvSpPr txBox="1"/>
          <p:nvPr/>
        </p:nvSpPr>
        <p:spPr>
          <a:xfrm>
            <a:off x="82296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0" name="Rectangle 15"/>
          <p:cNvSpPr/>
          <p:nvPr/>
        </p:nvSpPr>
        <p:spPr>
          <a:xfrm>
            <a:off x="82296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66</a:t>
            </a:r>
          </a:p>
        </p:txBody>
      </p:sp>
      <p:sp>
        <p:nvSpPr>
          <p:cNvPr id="11" name="TextBox 23"/>
          <p:cNvSpPr txBox="1"/>
          <p:nvPr/>
        </p:nvSpPr>
        <p:spPr>
          <a:xfrm>
            <a:off x="149047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2" name="Rectangle 15"/>
          <p:cNvSpPr/>
          <p:nvPr/>
        </p:nvSpPr>
        <p:spPr>
          <a:xfrm>
            <a:off x="149047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03</a:t>
            </a:r>
          </a:p>
        </p:txBody>
      </p:sp>
      <p:sp>
        <p:nvSpPr>
          <p:cNvPr id="13" name="TextBox 23"/>
          <p:cNvSpPr txBox="1"/>
          <p:nvPr/>
        </p:nvSpPr>
        <p:spPr>
          <a:xfrm>
            <a:off x="215798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4" name="Rectangle 15"/>
          <p:cNvSpPr/>
          <p:nvPr/>
        </p:nvSpPr>
        <p:spPr>
          <a:xfrm>
            <a:off x="215798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54</a:t>
            </a:r>
          </a:p>
        </p:txBody>
      </p:sp>
      <p:sp>
        <p:nvSpPr>
          <p:cNvPr id="15" name="TextBox 23"/>
          <p:cNvSpPr txBox="1"/>
          <p:nvPr/>
        </p:nvSpPr>
        <p:spPr>
          <a:xfrm>
            <a:off x="282549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6" name="Rectangle 15"/>
          <p:cNvSpPr/>
          <p:nvPr/>
        </p:nvSpPr>
        <p:spPr>
          <a:xfrm>
            <a:off x="282549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92</a:t>
            </a:r>
          </a:p>
        </p:txBody>
      </p:sp>
      <p:sp>
        <p:nvSpPr>
          <p:cNvPr id="17" name="TextBox 23"/>
          <p:cNvSpPr txBox="1"/>
          <p:nvPr/>
        </p:nvSpPr>
        <p:spPr>
          <a:xfrm>
            <a:off x="349300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8" name="Rectangle 14"/>
          <p:cNvSpPr/>
          <p:nvPr/>
        </p:nvSpPr>
        <p:spPr>
          <a:xfrm>
            <a:off x="3493008" y="3182112"/>
            <a:ext cx="667512"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78</a:t>
            </a:r>
          </a:p>
        </p:txBody>
      </p:sp>
      <p:sp>
        <p:nvSpPr>
          <p:cNvPr id="19" name="TextBox 23"/>
          <p:cNvSpPr txBox="1"/>
          <p:nvPr/>
        </p:nvSpPr>
        <p:spPr>
          <a:xfrm>
            <a:off x="416052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5</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0" name="Rectangle 15"/>
          <p:cNvSpPr/>
          <p:nvPr/>
        </p:nvSpPr>
        <p:spPr>
          <a:xfrm>
            <a:off x="416052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21" name="TextBox 23"/>
          <p:cNvSpPr txBox="1"/>
          <p:nvPr/>
        </p:nvSpPr>
        <p:spPr>
          <a:xfrm>
            <a:off x="482803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6</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2" name="Rectangle 15"/>
          <p:cNvSpPr/>
          <p:nvPr/>
        </p:nvSpPr>
        <p:spPr>
          <a:xfrm>
            <a:off x="482803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23" name="TextBox 23"/>
          <p:cNvSpPr txBox="1"/>
          <p:nvPr/>
        </p:nvSpPr>
        <p:spPr>
          <a:xfrm>
            <a:off x="549554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7</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4" name="Rectangle 15"/>
          <p:cNvSpPr/>
          <p:nvPr/>
        </p:nvSpPr>
        <p:spPr>
          <a:xfrm>
            <a:off x="549554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25" name="TextBox 23"/>
          <p:cNvSpPr txBox="1"/>
          <p:nvPr/>
        </p:nvSpPr>
        <p:spPr>
          <a:xfrm>
            <a:off x="616305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8</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6" name="Rectangle 15"/>
          <p:cNvSpPr/>
          <p:nvPr/>
        </p:nvSpPr>
        <p:spPr>
          <a:xfrm>
            <a:off x="616305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66</a:t>
            </a:r>
          </a:p>
        </p:txBody>
      </p:sp>
      <p:sp>
        <p:nvSpPr>
          <p:cNvPr id="27" name="TextBox 23"/>
          <p:cNvSpPr txBox="1"/>
          <p:nvPr/>
        </p:nvSpPr>
        <p:spPr>
          <a:xfrm>
            <a:off x="683056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9</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8" name="Rectangle 15"/>
          <p:cNvSpPr/>
          <p:nvPr/>
        </p:nvSpPr>
        <p:spPr>
          <a:xfrm>
            <a:off x="6830568"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03</a:t>
            </a:r>
          </a:p>
        </p:txBody>
      </p:sp>
      <p:sp>
        <p:nvSpPr>
          <p:cNvPr id="29" name="TextBox 23"/>
          <p:cNvSpPr txBox="1"/>
          <p:nvPr/>
        </p:nvSpPr>
        <p:spPr>
          <a:xfrm>
            <a:off x="749808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10</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0" name="Rectangle 15"/>
          <p:cNvSpPr/>
          <p:nvPr/>
        </p:nvSpPr>
        <p:spPr>
          <a:xfrm>
            <a:off x="749808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54</a:t>
            </a:r>
          </a:p>
        </p:txBody>
      </p:sp>
      <p:sp>
        <p:nvSpPr>
          <p:cNvPr id="31" name="TextBox 23"/>
          <p:cNvSpPr txBox="1"/>
          <p:nvPr/>
        </p:nvSpPr>
        <p:spPr>
          <a:xfrm>
            <a:off x="8165592"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11</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2" name="Rectangle 15"/>
          <p:cNvSpPr/>
          <p:nvPr/>
        </p:nvSpPr>
        <p:spPr>
          <a:xfrm>
            <a:off x="8165592"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92</a:t>
            </a:r>
          </a:p>
        </p:txBody>
      </p:sp>
      <p:sp>
        <p:nvSpPr>
          <p:cNvPr id="33" name="TextBox 23"/>
          <p:cNvSpPr txBox="1"/>
          <p:nvPr/>
        </p:nvSpPr>
        <p:spPr>
          <a:xfrm>
            <a:off x="8833104"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12</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4" name="Rectangle 15"/>
          <p:cNvSpPr/>
          <p:nvPr/>
        </p:nvSpPr>
        <p:spPr>
          <a:xfrm>
            <a:off x="8833104"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78</a:t>
            </a:r>
          </a:p>
        </p:txBody>
      </p:sp>
      <p:sp>
        <p:nvSpPr>
          <p:cNvPr id="35" name="TextBox 23"/>
          <p:cNvSpPr txBox="1"/>
          <p:nvPr/>
        </p:nvSpPr>
        <p:spPr>
          <a:xfrm>
            <a:off x="9500616"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13</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6" name="Rectangle 15"/>
          <p:cNvSpPr/>
          <p:nvPr/>
        </p:nvSpPr>
        <p:spPr>
          <a:xfrm>
            <a:off x="9500616"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37" name="TextBox 23"/>
          <p:cNvSpPr txBox="1"/>
          <p:nvPr/>
        </p:nvSpPr>
        <p:spPr>
          <a:xfrm>
            <a:off x="10168128"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14</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38" name="Rectangle 15"/>
          <p:cNvSpPr/>
          <p:nvPr/>
        </p:nvSpPr>
        <p:spPr>
          <a:xfrm>
            <a:off x="10168128"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39" name="TextBox 23"/>
          <p:cNvSpPr txBox="1"/>
          <p:nvPr/>
        </p:nvSpPr>
        <p:spPr>
          <a:xfrm>
            <a:off x="10835640" y="2816352"/>
            <a:ext cx="667512" cy="347472"/>
          </a:xfrm>
          <a:prstGeom prst="rect">
            <a:avLst/>
          </a:prstGeom>
          <a:noFill/>
        </p:spPr>
        <p:txBody>
          <a:bodyPr wrap="square" lIns="18288" tIns="18288" rIns="18288" bIns="18288" anchor="t">
            <a:noAutofit/>
          </a:bodyPr>
          <a:lstStyle/>
          <a:p>
            <a:pPr marL="0" indent="0" algn="ctr">
              <a:buNone/>
            </a:pPr>
            <a:r>
              <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rPr>
              <a:t>iv</a:t>
            </a:r>
            <a:r>
              <a:rPr lang="zh-CN" altLang="en-US" sz="14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endParaRPr lang="zh-CN" altLang="en-US" sz="14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40" name="Rectangle 15"/>
          <p:cNvSpPr/>
          <p:nvPr/>
        </p:nvSpPr>
        <p:spPr>
          <a:xfrm>
            <a:off x="10835640" y="3182112"/>
            <a:ext cx="667512" cy="402336"/>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600" b="0" i="0" dirty="0">
                <a:solidFill>
                  <a:srgbClr val="222222"/>
                </a:solidFill>
                <a:latin typeface="Times New Roman" panose="02020603050405020304" charset="0"/>
                <a:ea typeface="微软雅黑" panose="020B0503020204020204" charset="-122"/>
                <a:cs typeface="Times New Roman" panose="02020603050405020304" charset="0"/>
              </a:rPr>
              <a:t>00</a:t>
            </a:r>
          </a:p>
        </p:txBody>
      </p:sp>
      <p:sp>
        <p:nvSpPr>
          <p:cNvPr id="41" name="TextBox 7"/>
          <p:cNvSpPr txBox="1"/>
          <p:nvPr/>
        </p:nvSpPr>
        <p:spPr>
          <a:xfrm>
            <a:off x="594360" y="379476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 ZUC 需要输出多少个密钥字？最后一个密钥字取用多少比特？</a:t>
            </a:r>
          </a:p>
        </p:txBody>
      </p:sp>
      <p:sp>
        <p:nvSpPr>
          <p:cNvPr id="42" name="Rectangle 47"/>
          <p:cNvSpPr/>
          <p:nvPr/>
        </p:nvSpPr>
        <p:spPr>
          <a:xfrm>
            <a:off x="594360" y="4251960"/>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 COUNT 的 4 个字节；iv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01111 ‖ 0 ‖ 00</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0x78；iv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7</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00；iv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8</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重复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iv</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7</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43" name="内容底色_6"/>
          <p:cNvSpPr/>
          <p:nvPr/>
        </p:nvSpPr>
        <p:spPr>
          <a:xfrm>
            <a:off x="594360" y="5303520"/>
            <a:ext cx="11018520"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1000 / 32</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32 个密钥字；前 31 个字共 992 比特，最后一个字只取最高的 8 比特。</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二元加法流密码的完整性问题</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二元加法流密码中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。攻击者不知道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，但将密文改为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Δ</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后，接收方解密得到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Δ</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，明文的对应比特被定向翻转。</a:t>
            </a:r>
          </a:p>
        </p:txBody>
      </p:sp>
      <p:sp>
        <p:nvSpPr>
          <p:cNvPr id="8" name="图形_底色"/>
          <p:cNvSpPr/>
          <p:nvPr/>
        </p:nvSpPr>
        <p:spPr>
          <a:xfrm>
            <a:off x="594360" y="2395728"/>
            <a:ext cx="5577840" cy="301752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7"/>
          <p:cNvSpPr txBox="1"/>
          <p:nvPr/>
        </p:nvSpPr>
        <p:spPr>
          <a:xfrm>
            <a:off x="777240" y="2487168"/>
            <a:ext cx="530352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示例：金额 100 篡改为 900</a:t>
            </a:r>
          </a:p>
        </p:txBody>
      </p:sp>
      <p:sp>
        <p:nvSpPr>
          <p:cNvPr id="10" name="TextBox 23"/>
          <p:cNvSpPr txBox="1"/>
          <p:nvPr/>
        </p:nvSpPr>
        <p:spPr>
          <a:xfrm>
            <a:off x="685800" y="2990088"/>
            <a:ext cx="1737360" cy="365760"/>
          </a:xfrm>
          <a:prstGeom prst="rect">
            <a:avLst/>
          </a:prstGeom>
          <a:noFill/>
        </p:spPr>
        <p:txBody>
          <a:bodyPr wrap="square" lIns="18288" tIns="18288" rIns="18288" bIns="18288" anchor="t">
            <a:noAutofit/>
          </a:bodyPr>
          <a:lstStyle/>
          <a:p>
            <a:pPr marL="0" indent="0" algn="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 0x31</a:t>
            </a:r>
          </a:p>
        </p:txBody>
      </p:sp>
      <p:sp>
        <p:nvSpPr>
          <p:cNvPr id="11" name="Rectangle 9"/>
          <p:cNvSpPr/>
          <p:nvPr/>
        </p:nvSpPr>
        <p:spPr>
          <a:xfrm>
            <a:off x="2560320"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12" name="Rectangle 9"/>
          <p:cNvSpPr/>
          <p:nvPr/>
        </p:nvSpPr>
        <p:spPr>
          <a:xfrm>
            <a:off x="2944368"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13" name="Rectangle 9"/>
          <p:cNvSpPr/>
          <p:nvPr/>
        </p:nvSpPr>
        <p:spPr>
          <a:xfrm>
            <a:off x="3328416"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14" name="Rectangle 9"/>
          <p:cNvSpPr/>
          <p:nvPr/>
        </p:nvSpPr>
        <p:spPr>
          <a:xfrm>
            <a:off x="3712464"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15" name="Rectangle 9"/>
          <p:cNvSpPr/>
          <p:nvPr/>
        </p:nvSpPr>
        <p:spPr>
          <a:xfrm>
            <a:off x="4187952"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16" name="Rectangle 9"/>
          <p:cNvSpPr/>
          <p:nvPr/>
        </p:nvSpPr>
        <p:spPr>
          <a:xfrm>
            <a:off x="4572000"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17" name="Rectangle 9"/>
          <p:cNvSpPr/>
          <p:nvPr/>
        </p:nvSpPr>
        <p:spPr>
          <a:xfrm>
            <a:off x="4956048"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18" name="Rectangle 9"/>
          <p:cNvSpPr/>
          <p:nvPr/>
        </p:nvSpPr>
        <p:spPr>
          <a:xfrm>
            <a:off x="5340096" y="297180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19" name="TextBox 23"/>
          <p:cNvSpPr txBox="1"/>
          <p:nvPr/>
        </p:nvSpPr>
        <p:spPr>
          <a:xfrm>
            <a:off x="685800" y="3493008"/>
            <a:ext cx="1737360" cy="365760"/>
          </a:xfrm>
          <a:prstGeom prst="rect">
            <a:avLst/>
          </a:prstGeom>
          <a:noFill/>
        </p:spPr>
        <p:txBody>
          <a:bodyPr wrap="square" lIns="18288" tIns="18288" rIns="18288" bIns="18288" anchor="t">
            <a:noAutofit/>
          </a:bodyPr>
          <a:lstStyle/>
          <a:p>
            <a:pPr marL="0" indent="0" algn="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Δ = 0x08</a:t>
            </a:r>
          </a:p>
        </p:txBody>
      </p:sp>
      <p:sp>
        <p:nvSpPr>
          <p:cNvPr id="20" name="Rectangle 9"/>
          <p:cNvSpPr/>
          <p:nvPr/>
        </p:nvSpPr>
        <p:spPr>
          <a:xfrm>
            <a:off x="2560320"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1" name="Rectangle 9"/>
          <p:cNvSpPr/>
          <p:nvPr/>
        </p:nvSpPr>
        <p:spPr>
          <a:xfrm>
            <a:off x="2944368"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2" name="Rectangle 9"/>
          <p:cNvSpPr/>
          <p:nvPr/>
        </p:nvSpPr>
        <p:spPr>
          <a:xfrm>
            <a:off x="3328416"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3" name="Rectangle 9"/>
          <p:cNvSpPr/>
          <p:nvPr/>
        </p:nvSpPr>
        <p:spPr>
          <a:xfrm>
            <a:off x="3712464"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4" name="Rectangle 9"/>
          <p:cNvSpPr/>
          <p:nvPr/>
        </p:nvSpPr>
        <p:spPr>
          <a:xfrm>
            <a:off x="4187952"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25" name="Rectangle 9"/>
          <p:cNvSpPr/>
          <p:nvPr/>
        </p:nvSpPr>
        <p:spPr>
          <a:xfrm>
            <a:off x="4572000"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6" name="Rectangle 9"/>
          <p:cNvSpPr/>
          <p:nvPr/>
        </p:nvSpPr>
        <p:spPr>
          <a:xfrm>
            <a:off x="4956048"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7" name="Rectangle 9"/>
          <p:cNvSpPr/>
          <p:nvPr/>
        </p:nvSpPr>
        <p:spPr>
          <a:xfrm>
            <a:off x="5340096" y="347472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28" name="TextBox 23"/>
          <p:cNvSpPr txBox="1"/>
          <p:nvPr/>
        </p:nvSpPr>
        <p:spPr>
          <a:xfrm>
            <a:off x="685800" y="4087368"/>
            <a:ext cx="1737360" cy="365760"/>
          </a:xfrm>
          <a:prstGeom prst="rect">
            <a:avLst/>
          </a:prstGeom>
          <a:noFill/>
        </p:spPr>
        <p:txBody>
          <a:bodyPr wrap="square" lIns="18288" tIns="18288" rIns="18288" bIns="18288" anchor="t">
            <a:noAutofit/>
          </a:bodyPr>
          <a:lstStyle/>
          <a:p>
            <a:pPr marL="0" indent="0" algn="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“9” = 0x39</a:t>
            </a:r>
          </a:p>
        </p:txBody>
      </p:sp>
      <p:sp>
        <p:nvSpPr>
          <p:cNvPr id="29" name="Rectangle 9"/>
          <p:cNvSpPr/>
          <p:nvPr/>
        </p:nvSpPr>
        <p:spPr>
          <a:xfrm>
            <a:off x="2560320"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30" name="Rectangle 9"/>
          <p:cNvSpPr/>
          <p:nvPr/>
        </p:nvSpPr>
        <p:spPr>
          <a:xfrm>
            <a:off x="2944368"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31" name="Rectangle 9"/>
          <p:cNvSpPr/>
          <p:nvPr/>
        </p:nvSpPr>
        <p:spPr>
          <a:xfrm>
            <a:off x="3328416"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32" name="Rectangle 9"/>
          <p:cNvSpPr/>
          <p:nvPr/>
        </p:nvSpPr>
        <p:spPr>
          <a:xfrm>
            <a:off x="3712464"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33" name="Rectangle 28"/>
          <p:cNvSpPr/>
          <p:nvPr/>
        </p:nvSpPr>
        <p:spPr>
          <a:xfrm>
            <a:off x="4187952" y="4069080"/>
            <a:ext cx="365760" cy="365760"/>
          </a:xfrm>
          <a:prstGeom prst="rect">
            <a:avLst/>
          </a:prstGeom>
          <a:solidFill>
            <a:srgbClr val="F3DFD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sp>
        <p:nvSpPr>
          <p:cNvPr id="34" name="Rectangle 9"/>
          <p:cNvSpPr/>
          <p:nvPr/>
        </p:nvSpPr>
        <p:spPr>
          <a:xfrm>
            <a:off x="4572000"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35" name="Rectangle 9"/>
          <p:cNvSpPr/>
          <p:nvPr/>
        </p:nvSpPr>
        <p:spPr>
          <a:xfrm>
            <a:off x="4956048"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0</a:t>
            </a:r>
          </a:p>
        </p:txBody>
      </p:sp>
      <p:sp>
        <p:nvSpPr>
          <p:cNvPr id="36" name="Rectangle 9"/>
          <p:cNvSpPr/>
          <p:nvPr/>
        </p:nvSpPr>
        <p:spPr>
          <a:xfrm>
            <a:off x="5340096" y="4069080"/>
            <a:ext cx="365760" cy="365760"/>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1" i="0" dirty="0">
                <a:solidFill>
                  <a:srgbClr val="222222"/>
                </a:solidFill>
                <a:latin typeface="Times New Roman" panose="02020603050405020304" charset="0"/>
                <a:ea typeface="微软雅黑" panose="020B0503020204020204" charset="-122"/>
                <a:cs typeface="Times New Roman" panose="02020603050405020304" charset="0"/>
              </a:rPr>
              <a:t>1</a:t>
            </a:r>
          </a:p>
        </p:txBody>
      </p:sp>
      <p:cxnSp>
        <p:nvCxnSpPr>
          <p:cNvPr id="37" name="Connector 9"/>
          <p:cNvCxnSpPr/>
          <p:nvPr/>
        </p:nvCxnSpPr>
        <p:spPr>
          <a:xfrm>
            <a:off x="2514600" y="4023360"/>
            <a:ext cx="3200400" cy="0"/>
          </a:xfrm>
          <a:prstGeom prst="line">
            <a:avLst/>
          </a:prstGeom>
          <a:ln w="15875">
            <a:solidFill>
              <a:srgbClr val="404040"/>
            </a:solidFill>
          </a:ln>
        </p:spPr>
      </p:cxnSp>
      <p:sp>
        <p:nvSpPr>
          <p:cNvPr id="38" name="TextBox 23"/>
          <p:cNvSpPr txBox="1"/>
          <p:nvPr/>
        </p:nvSpPr>
        <p:spPr>
          <a:xfrm>
            <a:off x="777240" y="4617720"/>
            <a:ext cx="5257800" cy="68580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将对应密文字节异或 0x08，解密结果即由字符 1 变为字符 9。</a:t>
            </a:r>
          </a:p>
        </p:txBody>
      </p:sp>
      <p:sp>
        <p:nvSpPr>
          <p:cNvPr id="39" name="图形_底色"/>
          <p:cNvSpPr/>
          <p:nvPr/>
        </p:nvSpPr>
        <p:spPr>
          <a:xfrm>
            <a:off x="6355080" y="2395728"/>
            <a:ext cx="5257800" cy="301752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40" name="TextBox 7"/>
          <p:cNvSpPr txBox="1"/>
          <p:nvPr/>
        </p:nvSpPr>
        <p:spPr>
          <a:xfrm>
            <a:off x="6537960" y="2487168"/>
            <a:ext cx="493776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结论</a:t>
            </a:r>
          </a:p>
        </p:txBody>
      </p:sp>
      <p:sp>
        <p:nvSpPr>
          <p:cNvPr id="41" name="TextBox 23"/>
          <p:cNvSpPr txBox="1"/>
          <p:nvPr/>
        </p:nvSpPr>
        <p:spPr>
          <a:xfrm>
            <a:off x="6537960" y="2926080"/>
            <a:ext cx="4937760" cy="2423160"/>
          </a:xfrm>
          <a:prstGeom prst="rect">
            <a:avLst/>
          </a:prstGeom>
          <a:noFill/>
        </p:spPr>
        <p:txBody>
          <a:bodyPr wrap="square" lIns="18288" tIns="18288" rIns="18288" bIns="18288" anchor="t">
            <a:noAutofit/>
          </a:bodyPr>
          <a:lstStyle/>
          <a:p>
            <a:pPr marL="0" indent="0" algn="l">
              <a:lnSpc>
                <a:spcPct val="120000"/>
              </a:lnSpc>
              <a:spcBef>
                <a:spcPts val="8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加密只保证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机密性</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，不能发现篡改。</a:t>
            </a:r>
          </a:p>
          <a:p>
            <a:pPr marL="0" indent="0" algn="l">
              <a:lnSpc>
                <a:spcPct val="120000"/>
              </a:lnSpc>
              <a:spcBef>
                <a:spcPts val="8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OFB、CTR 等以异或方式工作的模式存在同样的问题。</a:t>
            </a:r>
          </a:p>
          <a:p>
            <a:pPr marL="0" indent="0" algn="l">
              <a:lnSpc>
                <a:spcPct val="120000"/>
              </a:lnSpc>
              <a:spcBef>
                <a:spcPts val="8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接收方需要验证消息是否被改动、是否来自合法发送方，这一需求由消息认证码满足。</a:t>
            </a:r>
          </a:p>
        </p:txBody>
      </p:sp>
      <p:sp>
        <p:nvSpPr>
          <p:cNvPr id="42" name="内容底色_6"/>
          <p:cNvSpPr/>
          <p:nvPr/>
        </p:nvSpPr>
        <p:spPr>
          <a:xfrm>
            <a:off x="594360" y="5596128"/>
            <a:ext cx="11018520" cy="7772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下一部分：</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消息认证码——在共享密钥控制下为消息生成认证标签，用于验证消息完整性和来源。</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8"/>
          <p:cNvGrpSpPr/>
          <p:nvPr/>
        </p:nvGrpSpPr>
        <p:grpSpPr>
          <a:xfrm>
            <a:off x="2649235" y="2665199"/>
            <a:ext cx="6893529" cy="764195"/>
            <a:chOff x="3147" y="6401"/>
            <a:chExt cx="9616" cy="1066"/>
          </a:xfrm>
        </p:grpSpPr>
        <p:sp>
          <p:nvSpPr>
            <p:cNvPr id="4" name="文本占位符 5"/>
            <p:cNvSpPr txBox="1"/>
            <p:nvPr/>
          </p:nvSpPr>
          <p:spPr>
            <a:xfrm>
              <a:off x="4979" y="6401"/>
              <a:ext cx="7784" cy="1066"/>
            </a:xfrm>
            <a:prstGeom prst="rect">
              <a:avLst/>
            </a:prstGeom>
          </p:spPr>
          <p:txBody>
            <a:bodyPr vert="horz" wrap="square" lIns="0" tIns="0" rIns="0" bIns="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kern="1200" spc="100" baseline="0">
                  <a:solidFill>
                    <a:srgbClr val="404040"/>
                  </a:solidFill>
                  <a:latin typeface="思源黑体 CN Bold" panose="020B0800000000000000" pitchFamily="34" charset="-122"/>
                  <a:ea typeface="思源黑体 CN Bold" panose="020B0800000000000000" pitchFamily="34" charset="-122"/>
                  <a:cs typeface="+mn-cs"/>
                  <a:sym typeface="字魂111号-金榜招牌体" panose="00000500000000000000" pitchFamily="2" charset="-122"/>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0"/>
                </a:spcBef>
                <a:spcAft>
                  <a:spcPts val="0"/>
                </a:spcAft>
              </a:pPr>
              <a:r>
                <a:rPr lang="zh-CN" altLang="en-US" sz="4965" b="1" i="0" dirty="0">
                  <a:solidFill>
                    <a:srgbClr val="333333"/>
                  </a:solidFill>
                  <a:latin typeface="Times New Roman" panose="02020603050405020304" charset="0"/>
                  <a:ea typeface="微软雅黑" panose="020B0503020204020204" charset="-122"/>
                  <a:cs typeface="Times New Roman" panose="02020603050405020304" charset="0"/>
                </a:rPr>
                <a:t>消息认证码</a:t>
              </a:r>
            </a:p>
          </p:txBody>
        </p:sp>
        <p:sp>
          <p:nvSpPr>
            <p:cNvPr id="5" name="椭圆 6"/>
            <p:cNvSpPr/>
            <p:nvPr/>
          </p:nvSpPr>
          <p:spPr>
            <a:xfrm>
              <a:off x="3271" y="6401"/>
              <a:ext cx="1084" cy="10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sp>
          <p:nvSpPr>
            <p:cNvPr id="6" name="矩形 7"/>
            <p:cNvSpPr/>
            <p:nvPr/>
          </p:nvSpPr>
          <p:spPr>
            <a:xfrm>
              <a:off x="3147" y="6523"/>
              <a:ext cx="1331" cy="805"/>
            </a:xfrm>
            <a:prstGeom prst="rect">
              <a:avLst/>
            </a:prstGeom>
          </p:spPr>
          <p:txBody>
            <a:bodyPr wrap="square">
              <a:spAutoFit/>
            </a:bodyPr>
            <a:lstStyle/>
            <a:p>
              <a:pPr lvl="0" algn="ctr">
                <a:buClrTx/>
                <a:buSzTx/>
                <a:buFontTx/>
              </a:pPr>
              <a:r>
                <a:rPr lang="en-US" altLang="zh-CN" sz="3160" b="0" i="0">
                  <a:solidFill>
                    <a:prstClr val="white"/>
                  </a:solidFill>
                  <a:latin typeface="+mj-ea"/>
                  <a:ea typeface="+mj-ea"/>
                </a:rPr>
                <a:t>03</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消息认证码概述</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（Message Authentication Code，MAC），又称消息鉴别码、文件消息认证码或信息认证码，是一种用于验证消息完整性和认证用户身份的密码学技术。它可以防止消息被篡改、插入、删除等。</a:t>
            </a:r>
          </a:p>
        </p:txBody>
      </p:sp>
      <p:sp>
        <p:nvSpPr>
          <p:cNvPr id="8" name="图形_背景"/>
          <p:cNvSpPr/>
          <p:nvPr>
            <p:custDataLst>
              <p:tags r:id="rId1"/>
            </p:custDataLst>
          </p:nvPr>
        </p:nvSpPr>
        <p:spPr>
          <a:xfrm>
            <a:off x="685800" y="2395728"/>
            <a:ext cx="256032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文本_128 bit"/>
          <p:cNvSpPr txBox="1"/>
          <p:nvPr>
            <p:custDataLst>
              <p:tags r:id="rId2"/>
            </p:custDataLst>
          </p:nvPr>
        </p:nvSpPr>
        <p:spPr>
          <a:xfrm>
            <a:off x="795528" y="2534031"/>
            <a:ext cx="2340864"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篡改</a:t>
            </a:r>
          </a:p>
        </p:txBody>
      </p:sp>
      <p:sp>
        <p:nvSpPr>
          <p:cNvPr id="10" name="TextBox 23"/>
          <p:cNvSpPr txBox="1"/>
          <p:nvPr>
            <p:custDataLst>
              <p:tags r:id="rId3"/>
            </p:custDataLst>
          </p:nvPr>
        </p:nvSpPr>
        <p:spPr>
          <a:xfrm>
            <a:off x="822960" y="2954655"/>
            <a:ext cx="2286000" cy="63093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修改消息内容</a:t>
            </a:r>
          </a:p>
        </p:txBody>
      </p:sp>
      <p:sp>
        <p:nvSpPr>
          <p:cNvPr id="11" name="图形_背景"/>
          <p:cNvSpPr/>
          <p:nvPr>
            <p:custDataLst>
              <p:tags r:id="rId4"/>
            </p:custDataLst>
          </p:nvPr>
        </p:nvSpPr>
        <p:spPr>
          <a:xfrm>
            <a:off x="3456432" y="2395728"/>
            <a:ext cx="256032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文本_128 bit"/>
          <p:cNvSpPr txBox="1"/>
          <p:nvPr>
            <p:custDataLst>
              <p:tags r:id="rId5"/>
            </p:custDataLst>
          </p:nvPr>
        </p:nvSpPr>
        <p:spPr>
          <a:xfrm>
            <a:off x="3566160" y="2534031"/>
            <a:ext cx="2340864"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插入</a:t>
            </a:r>
          </a:p>
        </p:txBody>
      </p:sp>
      <p:sp>
        <p:nvSpPr>
          <p:cNvPr id="13" name="TextBox 23"/>
          <p:cNvSpPr txBox="1"/>
          <p:nvPr>
            <p:custDataLst>
              <p:tags r:id="rId6"/>
            </p:custDataLst>
          </p:nvPr>
        </p:nvSpPr>
        <p:spPr>
          <a:xfrm>
            <a:off x="3593592" y="2954655"/>
            <a:ext cx="2286000" cy="63093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加入伪造的消息</a:t>
            </a:r>
          </a:p>
        </p:txBody>
      </p:sp>
      <p:sp>
        <p:nvSpPr>
          <p:cNvPr id="14" name="图形_背景"/>
          <p:cNvSpPr/>
          <p:nvPr>
            <p:custDataLst>
              <p:tags r:id="rId7"/>
            </p:custDataLst>
          </p:nvPr>
        </p:nvSpPr>
        <p:spPr>
          <a:xfrm>
            <a:off x="6227064" y="2395728"/>
            <a:ext cx="256032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文本_128 bit"/>
          <p:cNvSpPr txBox="1"/>
          <p:nvPr>
            <p:custDataLst>
              <p:tags r:id="rId8"/>
            </p:custDataLst>
          </p:nvPr>
        </p:nvSpPr>
        <p:spPr>
          <a:xfrm>
            <a:off x="6336792" y="2534031"/>
            <a:ext cx="2340864"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删除</a:t>
            </a:r>
          </a:p>
        </p:txBody>
      </p:sp>
      <p:sp>
        <p:nvSpPr>
          <p:cNvPr id="16" name="TextBox 23"/>
          <p:cNvSpPr txBox="1"/>
          <p:nvPr>
            <p:custDataLst>
              <p:tags r:id="rId9"/>
            </p:custDataLst>
          </p:nvPr>
        </p:nvSpPr>
        <p:spPr>
          <a:xfrm>
            <a:off x="6364224" y="2954655"/>
            <a:ext cx="2286000" cy="63093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去掉部分消息内容</a:t>
            </a:r>
          </a:p>
        </p:txBody>
      </p:sp>
      <p:sp>
        <p:nvSpPr>
          <p:cNvPr id="17" name="图形_背景"/>
          <p:cNvSpPr/>
          <p:nvPr>
            <p:custDataLst>
              <p:tags r:id="rId10"/>
            </p:custDataLst>
          </p:nvPr>
        </p:nvSpPr>
        <p:spPr>
          <a:xfrm>
            <a:off x="8997696" y="2395728"/>
            <a:ext cx="2560320" cy="12344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文本_128 bit"/>
          <p:cNvSpPr txBox="1"/>
          <p:nvPr>
            <p:custDataLst>
              <p:tags r:id="rId11"/>
            </p:custDataLst>
          </p:nvPr>
        </p:nvSpPr>
        <p:spPr>
          <a:xfrm>
            <a:off x="9107424" y="2534031"/>
            <a:ext cx="2340864"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伪造来源</a:t>
            </a:r>
          </a:p>
        </p:txBody>
      </p:sp>
      <p:sp>
        <p:nvSpPr>
          <p:cNvPr id="19" name="TextBox 23"/>
          <p:cNvSpPr txBox="1"/>
          <p:nvPr>
            <p:custDataLst>
              <p:tags r:id="rId12"/>
            </p:custDataLst>
          </p:nvPr>
        </p:nvSpPr>
        <p:spPr>
          <a:xfrm>
            <a:off x="9134856" y="2954655"/>
            <a:ext cx="2286000" cy="630936"/>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冒充合法发送方</a:t>
            </a:r>
          </a:p>
        </p:txBody>
      </p:sp>
      <p:sp>
        <p:nvSpPr>
          <p:cNvPr id="20" name="图形_底色"/>
          <p:cNvSpPr/>
          <p:nvPr/>
        </p:nvSpPr>
        <p:spPr>
          <a:xfrm>
            <a:off x="594360" y="3840480"/>
            <a:ext cx="5394960" cy="141732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21" name="TextBox 7"/>
          <p:cNvSpPr txBox="1"/>
          <p:nvPr/>
        </p:nvSpPr>
        <p:spPr>
          <a:xfrm>
            <a:off x="777240" y="3931920"/>
            <a:ext cx="5029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对称加密：保护机密性</a:t>
            </a:r>
          </a:p>
        </p:txBody>
      </p:sp>
      <p:sp>
        <p:nvSpPr>
          <p:cNvPr id="22" name="TextBox 23"/>
          <p:cNvSpPr txBox="1"/>
          <p:nvPr/>
        </p:nvSpPr>
        <p:spPr>
          <a:xfrm>
            <a:off x="777240" y="4370832"/>
            <a:ext cx="5074920" cy="82296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防止未授权者获知消息内容，但不能发现消息被改动。</a:t>
            </a:r>
          </a:p>
        </p:txBody>
      </p:sp>
      <p:sp>
        <p:nvSpPr>
          <p:cNvPr id="23" name="图形_底色"/>
          <p:cNvSpPr/>
          <p:nvPr/>
        </p:nvSpPr>
        <p:spPr>
          <a:xfrm>
            <a:off x="6217920" y="3840480"/>
            <a:ext cx="5394960" cy="141732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7"/>
          <p:cNvSpPr txBox="1"/>
          <p:nvPr/>
        </p:nvSpPr>
        <p:spPr>
          <a:xfrm>
            <a:off x="6400800" y="3931920"/>
            <a:ext cx="5029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消息认证码：保护完整性与来源</a:t>
            </a:r>
          </a:p>
        </p:txBody>
      </p:sp>
      <p:sp>
        <p:nvSpPr>
          <p:cNvPr id="25" name="TextBox 23"/>
          <p:cNvSpPr txBox="1"/>
          <p:nvPr/>
        </p:nvSpPr>
        <p:spPr>
          <a:xfrm>
            <a:off x="6400800" y="4370832"/>
            <a:ext cx="5074920" cy="822960"/>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验证消息是否被篡改、是否来自持有共享密钥的一方；本身不提供机密性。</a:t>
            </a:r>
          </a:p>
        </p:txBody>
      </p:sp>
      <p:sp>
        <p:nvSpPr>
          <p:cNvPr id="26" name="内容底色_6"/>
          <p:cNvSpPr/>
          <p:nvPr/>
        </p:nvSpPr>
        <p:spPr>
          <a:xfrm>
            <a:off x="594360" y="553212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本节内容：</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消息认证码的工作原理与定义，HMAC 与 CBC-MAC 两种构造，以及密钥派生函数。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消息认证码的工作原理</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685800" y="1371600"/>
            <a:ext cx="2743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发送方</a:t>
            </a:r>
          </a:p>
        </p:txBody>
      </p:sp>
      <p:sp>
        <p:nvSpPr>
          <p:cNvPr id="8" name="Rounded Rectangle 6"/>
          <p:cNvSpPr/>
          <p:nvPr/>
        </p:nvSpPr>
        <p:spPr>
          <a:xfrm>
            <a:off x="777240" y="1783080"/>
            <a:ext cx="155448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消息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M</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9" name="Rounded Rectangle 6"/>
          <p:cNvSpPr/>
          <p:nvPr/>
        </p:nvSpPr>
        <p:spPr>
          <a:xfrm>
            <a:off x="777240" y="2496312"/>
            <a:ext cx="155448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密钥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K</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10" name="Rounded Rectangle 7"/>
          <p:cNvSpPr/>
          <p:nvPr/>
        </p:nvSpPr>
        <p:spPr>
          <a:xfrm>
            <a:off x="2880360" y="2139696"/>
            <a:ext cx="1737360" cy="438912"/>
          </a:xfrm>
          <a:prstGeom prst="roundRect">
            <a:avLst/>
          </a:prstGeom>
          <a:solidFill>
            <a:srgbClr val="B04841"/>
          </a:solidFill>
          <a:ln w="15875">
            <a:solidFill>
              <a:srgbClr val="B04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生成算法 Co</a:t>
            </a:r>
          </a:p>
        </p:txBody>
      </p:sp>
      <p:sp>
        <p:nvSpPr>
          <p:cNvPr id="11" name="Shape 14"/>
          <p:cNvSpPr/>
          <p:nvPr/>
        </p:nvSpPr>
        <p:spPr>
          <a:xfrm>
            <a:off x="2331720" y="2002536"/>
            <a:ext cx="548640" cy="283464"/>
          </a:xfrm>
          <a:prstGeom prst="line">
            <a:avLst/>
          </a:prstGeom>
          <a:noFill/>
          <a:ln w="26670">
            <a:solidFill>
              <a:srgbClr val="A8504A"/>
            </a:solidFill>
            <a:prstDash val="solid"/>
            <a:tailEnd type="triangle"/>
          </a:ln>
        </p:spPr>
      </p:sp>
      <p:sp>
        <p:nvSpPr>
          <p:cNvPr id="12" name="Shape 14"/>
          <p:cNvSpPr/>
          <p:nvPr/>
        </p:nvSpPr>
        <p:spPr>
          <a:xfrm flipV="1">
            <a:off x="2331720" y="2432304"/>
            <a:ext cx="548640" cy="283464"/>
          </a:xfrm>
          <a:prstGeom prst="line">
            <a:avLst/>
          </a:prstGeom>
          <a:noFill/>
          <a:ln w="26670">
            <a:solidFill>
              <a:srgbClr val="A8504A"/>
            </a:solidFill>
            <a:prstDash val="solid"/>
            <a:tailEnd type="triangle"/>
          </a:ln>
        </p:spPr>
      </p:sp>
      <p:sp>
        <p:nvSpPr>
          <p:cNvPr id="13" name="Shape 14"/>
          <p:cNvSpPr/>
          <p:nvPr/>
        </p:nvSpPr>
        <p:spPr>
          <a:xfrm>
            <a:off x="4617720" y="2359152"/>
            <a:ext cx="548640" cy="0"/>
          </a:xfrm>
          <a:prstGeom prst="line">
            <a:avLst/>
          </a:prstGeom>
          <a:noFill/>
          <a:ln w="26670">
            <a:solidFill>
              <a:srgbClr val="A8504A"/>
            </a:solidFill>
            <a:prstDash val="solid"/>
            <a:tailEnd type="triangle"/>
          </a:ln>
        </p:spPr>
      </p:sp>
      <p:sp>
        <p:nvSpPr>
          <p:cNvPr id="14" name="Rounded Rectangle 6"/>
          <p:cNvSpPr/>
          <p:nvPr/>
        </p:nvSpPr>
        <p:spPr>
          <a:xfrm>
            <a:off x="5166360" y="2139696"/>
            <a:ext cx="182880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认证标签 mac</a:t>
            </a:r>
          </a:p>
        </p:txBody>
      </p:sp>
      <p:sp>
        <p:nvSpPr>
          <p:cNvPr id="15" name="Shape 14"/>
          <p:cNvSpPr/>
          <p:nvPr/>
        </p:nvSpPr>
        <p:spPr>
          <a:xfrm>
            <a:off x="6995160" y="2359152"/>
            <a:ext cx="640080" cy="0"/>
          </a:xfrm>
          <a:prstGeom prst="line">
            <a:avLst/>
          </a:prstGeom>
          <a:noFill/>
          <a:ln w="26670">
            <a:solidFill>
              <a:srgbClr val="A8504A"/>
            </a:solidFill>
            <a:prstDash val="solid"/>
            <a:tailEnd type="triangle"/>
          </a:ln>
        </p:spPr>
      </p:sp>
      <p:sp>
        <p:nvSpPr>
          <p:cNvPr id="16" name="Rounded Rectangle 6"/>
          <p:cNvSpPr/>
          <p:nvPr/>
        </p:nvSpPr>
        <p:spPr>
          <a:xfrm>
            <a:off x="7635240" y="2139696"/>
            <a:ext cx="192024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 ‖ mac</a:t>
            </a:r>
          </a:p>
        </p:txBody>
      </p:sp>
      <p:sp>
        <p:nvSpPr>
          <p:cNvPr id="17" name="Shape 14"/>
          <p:cNvSpPr/>
          <p:nvPr/>
        </p:nvSpPr>
        <p:spPr>
          <a:xfrm>
            <a:off x="8595360" y="2578608"/>
            <a:ext cx="0" cy="941832"/>
          </a:xfrm>
          <a:prstGeom prst="line">
            <a:avLst/>
          </a:prstGeom>
          <a:noFill/>
          <a:ln w="26670">
            <a:solidFill>
              <a:srgbClr val="A8504A"/>
            </a:solidFill>
            <a:prstDash val="solid"/>
            <a:tailEnd type="triangle"/>
          </a:ln>
        </p:spPr>
      </p:sp>
      <p:sp>
        <p:nvSpPr>
          <p:cNvPr id="18" name="TextBox 23"/>
          <p:cNvSpPr txBox="1"/>
          <p:nvPr/>
        </p:nvSpPr>
        <p:spPr>
          <a:xfrm>
            <a:off x="8732520" y="2834640"/>
            <a:ext cx="2560320" cy="384048"/>
          </a:xfrm>
          <a:prstGeom prst="rect">
            <a:avLst/>
          </a:prstGeom>
          <a:noFill/>
        </p:spPr>
        <p:txBody>
          <a:bodyPr wrap="square" lIns="18288" tIns="18288" rIns="18288" bIns="18288" anchor="t">
            <a:noAutofit/>
          </a:bodyPr>
          <a:lstStyle/>
          <a:p>
            <a:pPr marL="0" indent="0" algn="l">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发送给接收方</a:t>
            </a:r>
          </a:p>
        </p:txBody>
      </p:sp>
      <p:sp>
        <p:nvSpPr>
          <p:cNvPr id="19" name="TextBox 7"/>
          <p:cNvSpPr txBox="1"/>
          <p:nvPr/>
        </p:nvSpPr>
        <p:spPr>
          <a:xfrm>
            <a:off x="685800" y="3154680"/>
            <a:ext cx="2743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接收方</a:t>
            </a:r>
          </a:p>
        </p:txBody>
      </p:sp>
      <p:sp>
        <p:nvSpPr>
          <p:cNvPr id="20" name="Rounded Rectangle 6"/>
          <p:cNvSpPr/>
          <p:nvPr/>
        </p:nvSpPr>
        <p:spPr>
          <a:xfrm>
            <a:off x="7635240" y="3520440"/>
            <a:ext cx="192024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 ‖ mac</a:t>
            </a:r>
          </a:p>
        </p:txBody>
      </p:sp>
      <p:sp>
        <p:nvSpPr>
          <p:cNvPr id="21" name="Shape 14"/>
          <p:cNvSpPr/>
          <p:nvPr/>
        </p:nvSpPr>
        <p:spPr>
          <a:xfrm flipH="1">
            <a:off x="6995160" y="3739896"/>
            <a:ext cx="640080" cy="0"/>
          </a:xfrm>
          <a:prstGeom prst="line">
            <a:avLst/>
          </a:prstGeom>
          <a:noFill/>
          <a:ln w="26670">
            <a:solidFill>
              <a:srgbClr val="A8504A"/>
            </a:solidFill>
            <a:prstDash val="solid"/>
            <a:tailEnd type="triangle"/>
          </a:ln>
        </p:spPr>
      </p:sp>
      <p:sp>
        <p:nvSpPr>
          <p:cNvPr id="22" name="TextBox 23"/>
          <p:cNvSpPr txBox="1"/>
          <p:nvPr/>
        </p:nvSpPr>
        <p:spPr>
          <a:xfrm>
            <a:off x="7040880" y="3346704"/>
            <a:ext cx="548640" cy="365760"/>
          </a:xfrm>
          <a:prstGeom prst="rect">
            <a:avLst/>
          </a:prstGeom>
          <a:noFill/>
        </p:spPr>
        <p:txBody>
          <a:bodyPr wrap="square" lIns="18288" tIns="18288" rIns="18288" bIns="18288" anchor="t">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3" name="Rounded Rectangle 7"/>
          <p:cNvSpPr/>
          <p:nvPr/>
        </p:nvSpPr>
        <p:spPr>
          <a:xfrm>
            <a:off x="5166360" y="3520440"/>
            <a:ext cx="1828800" cy="438912"/>
          </a:xfrm>
          <a:prstGeom prst="roundRect">
            <a:avLst/>
          </a:prstGeom>
          <a:solidFill>
            <a:srgbClr val="B04841"/>
          </a:solidFill>
          <a:ln w="15875">
            <a:solidFill>
              <a:srgbClr val="B04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生成算法 Co</a:t>
            </a:r>
          </a:p>
        </p:txBody>
      </p:sp>
      <p:sp>
        <p:nvSpPr>
          <p:cNvPr id="24" name="Rounded Rectangle 6"/>
          <p:cNvSpPr/>
          <p:nvPr/>
        </p:nvSpPr>
        <p:spPr>
          <a:xfrm>
            <a:off x="5212080" y="4297680"/>
            <a:ext cx="173736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密钥 </a:t>
            </a:r>
            <a:r>
              <a:rPr lang="zh-CN" altLang="en-US" sz="1800" b="1" i="1" dirty="0">
                <a:solidFill>
                  <a:srgbClr val="243342"/>
                </a:solidFill>
                <a:latin typeface="Times New Roman" panose="02020603050405020304" charset="0"/>
                <a:ea typeface="微软雅黑" panose="020B0503020204020204" charset="-122"/>
                <a:cs typeface="Times New Roman" panose="02020603050405020304" charset="0"/>
              </a:rPr>
              <a:t>K</a:t>
            </a:r>
            <a:endPar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endParaRPr>
          </a:p>
        </p:txBody>
      </p:sp>
      <p:sp>
        <p:nvSpPr>
          <p:cNvPr id="25" name="Shape 14"/>
          <p:cNvSpPr/>
          <p:nvPr/>
        </p:nvSpPr>
        <p:spPr>
          <a:xfrm flipV="1">
            <a:off x="6080760" y="3959352"/>
            <a:ext cx="0" cy="338328"/>
          </a:xfrm>
          <a:prstGeom prst="line">
            <a:avLst/>
          </a:prstGeom>
          <a:noFill/>
          <a:ln w="26670">
            <a:solidFill>
              <a:srgbClr val="A8504A"/>
            </a:solidFill>
            <a:prstDash val="solid"/>
            <a:tailEnd type="triangle"/>
          </a:ln>
        </p:spPr>
      </p:sp>
      <p:sp>
        <p:nvSpPr>
          <p:cNvPr id="26" name="Shape 14"/>
          <p:cNvSpPr/>
          <p:nvPr/>
        </p:nvSpPr>
        <p:spPr>
          <a:xfrm flipH="1">
            <a:off x="4617720" y="3739896"/>
            <a:ext cx="548640" cy="0"/>
          </a:xfrm>
          <a:prstGeom prst="line">
            <a:avLst/>
          </a:prstGeom>
          <a:noFill/>
          <a:ln w="26670">
            <a:solidFill>
              <a:srgbClr val="A8504A"/>
            </a:solidFill>
            <a:prstDash val="solid"/>
            <a:tailEnd type="triangle"/>
          </a:ln>
        </p:spPr>
      </p:sp>
      <p:sp>
        <p:nvSpPr>
          <p:cNvPr id="27" name="Rounded Rectangle 6"/>
          <p:cNvSpPr/>
          <p:nvPr/>
        </p:nvSpPr>
        <p:spPr>
          <a:xfrm>
            <a:off x="2880360" y="3520440"/>
            <a:ext cx="1737360" cy="438912"/>
          </a:xfrm>
          <a:prstGeom prst="roundRect">
            <a:avLst/>
          </a:prstGeom>
          <a:solidFill>
            <a:srgbClr val="FFF7F7"/>
          </a:solidFill>
          <a:ln w="15875">
            <a:solidFill>
              <a:srgbClr val="C41F1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243342"/>
                </a:solidFill>
                <a:latin typeface="Times New Roman" panose="02020603050405020304" charset="0"/>
                <a:ea typeface="微软雅黑" panose="020B0503020204020204" charset="-122"/>
                <a:cs typeface="Times New Roman" panose="02020603050405020304" charset="0"/>
              </a:rPr>
              <a:t>mac*</a:t>
            </a:r>
          </a:p>
        </p:txBody>
      </p:sp>
      <p:sp>
        <p:nvSpPr>
          <p:cNvPr id="28" name="Shape 14"/>
          <p:cNvSpPr/>
          <p:nvPr/>
        </p:nvSpPr>
        <p:spPr>
          <a:xfrm flipH="1">
            <a:off x="2423160" y="3739896"/>
            <a:ext cx="457200" cy="0"/>
          </a:xfrm>
          <a:prstGeom prst="line">
            <a:avLst/>
          </a:prstGeom>
          <a:noFill/>
          <a:ln w="26670">
            <a:solidFill>
              <a:srgbClr val="A8504A"/>
            </a:solidFill>
            <a:prstDash val="solid"/>
            <a:tailEnd type="triangle"/>
          </a:ln>
        </p:spPr>
      </p:sp>
      <p:sp>
        <p:nvSpPr>
          <p:cNvPr id="29" name="Rounded Rectangle 7"/>
          <p:cNvSpPr/>
          <p:nvPr/>
        </p:nvSpPr>
        <p:spPr>
          <a:xfrm>
            <a:off x="685800" y="3520440"/>
            <a:ext cx="1737360" cy="438912"/>
          </a:xfrm>
          <a:prstGeom prst="roundRect">
            <a:avLst/>
          </a:prstGeom>
          <a:solidFill>
            <a:srgbClr val="B04841"/>
          </a:solidFill>
          <a:ln w="15875">
            <a:solidFill>
              <a:srgbClr val="B048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800" b="1" i="0" dirty="0">
                <a:solidFill>
                  <a:srgbClr val="FFFFFF"/>
                </a:solidFill>
                <a:latin typeface="Times New Roman" panose="02020603050405020304" charset="0"/>
                <a:ea typeface="微软雅黑" panose="020B0503020204020204" charset="-122"/>
                <a:cs typeface="Times New Roman" panose="02020603050405020304" charset="0"/>
              </a:rPr>
              <a:t>比较</a:t>
            </a:r>
          </a:p>
        </p:txBody>
      </p:sp>
      <p:sp>
        <p:nvSpPr>
          <p:cNvPr id="30" name="Shape 3"/>
          <p:cNvSpPr/>
          <p:nvPr/>
        </p:nvSpPr>
        <p:spPr>
          <a:xfrm>
            <a:off x="9235440" y="3959352"/>
            <a:ext cx="0" cy="1115568"/>
          </a:xfrm>
          <a:prstGeom prst="line">
            <a:avLst/>
          </a:prstGeom>
          <a:noFill/>
          <a:ln w="15875">
            <a:solidFill>
              <a:srgbClr val="9E3338"/>
            </a:solidFill>
            <a:prstDash val="solid"/>
            <a:headEnd type="none"/>
            <a:tailEnd type="none"/>
          </a:ln>
        </p:spPr>
      </p:sp>
      <p:sp>
        <p:nvSpPr>
          <p:cNvPr id="31" name="Shape 3"/>
          <p:cNvSpPr/>
          <p:nvPr/>
        </p:nvSpPr>
        <p:spPr>
          <a:xfrm flipH="1">
            <a:off x="1005840" y="5074920"/>
            <a:ext cx="8229600" cy="0"/>
          </a:xfrm>
          <a:prstGeom prst="line">
            <a:avLst/>
          </a:prstGeom>
          <a:noFill/>
          <a:ln w="15875">
            <a:solidFill>
              <a:srgbClr val="9E3338"/>
            </a:solidFill>
            <a:prstDash val="solid"/>
            <a:headEnd type="none"/>
            <a:tailEnd type="none"/>
          </a:ln>
        </p:spPr>
      </p:sp>
      <p:sp>
        <p:nvSpPr>
          <p:cNvPr id="32" name="Shape 14"/>
          <p:cNvSpPr/>
          <p:nvPr/>
        </p:nvSpPr>
        <p:spPr>
          <a:xfrm flipV="1">
            <a:off x="1005840" y="3959352"/>
            <a:ext cx="0" cy="1115568"/>
          </a:xfrm>
          <a:prstGeom prst="line">
            <a:avLst/>
          </a:prstGeom>
          <a:noFill/>
          <a:ln w="26670">
            <a:solidFill>
              <a:srgbClr val="A8504A"/>
            </a:solidFill>
            <a:prstDash val="solid"/>
            <a:tailEnd type="triangle"/>
          </a:ln>
        </p:spPr>
      </p:sp>
      <p:sp>
        <p:nvSpPr>
          <p:cNvPr id="33" name="TextBox 23"/>
          <p:cNvSpPr txBox="1"/>
          <p:nvPr/>
        </p:nvSpPr>
        <p:spPr>
          <a:xfrm>
            <a:off x="1920240" y="4681728"/>
            <a:ext cx="2377440" cy="36576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收到的 mac</a:t>
            </a:r>
          </a:p>
        </p:txBody>
      </p:sp>
      <p:sp>
        <p:nvSpPr>
          <p:cNvPr id="34" name="TextBox 23"/>
          <p:cNvSpPr txBox="1"/>
          <p:nvPr/>
        </p:nvSpPr>
        <p:spPr>
          <a:xfrm>
            <a:off x="1143000" y="4041648"/>
            <a:ext cx="1371600" cy="411480"/>
          </a:xfrm>
          <a:prstGeom prst="rect">
            <a:avLst/>
          </a:prstGeom>
          <a:noFill/>
        </p:spPr>
        <p:txBody>
          <a:bodyPr wrap="square" lIns="18288" tIns="18288" rIns="18288" bIns="18288" anchor="t">
            <a:noAutofit/>
          </a:bodyPr>
          <a:lstStyle/>
          <a:p>
            <a:pPr marL="0" indent="0" algn="l">
              <a:buNone/>
            </a:pPr>
            <a:r>
              <a:rPr lang="zh-CN" altLang="en-US" sz="1600" b="1" i="0" dirty="0">
                <a:solidFill>
                  <a:srgbClr val="C00000"/>
                </a:solidFill>
                <a:latin typeface="Times New Roman" panose="02020603050405020304" charset="0"/>
                <a:ea typeface="微软雅黑" panose="020B0503020204020204" charset="-122"/>
                <a:cs typeface="Times New Roman" panose="02020603050405020304" charset="0"/>
              </a:rPr>
              <a:t>相同则接受</a:t>
            </a:r>
          </a:p>
        </p:txBody>
      </p:sp>
      <p:sp>
        <p:nvSpPr>
          <p:cNvPr id="35" name="内容底色_6"/>
          <p:cNvSpPr/>
          <p:nvPr/>
        </p:nvSpPr>
        <p:spPr>
          <a:xfrm>
            <a:off x="594360" y="5440680"/>
            <a:ext cx="11018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原理：</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发送方用密钥和消息生成认证标签并附在消息后；接收方用相同的密钥和算法重新计算认证标签，与收到的标签比较，相同则确认消息完整、来源可靠。</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消息认证码的定义</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731520" y="1280160"/>
            <a:ext cx="107899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定义 2.4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设密钥空间为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，消息空间为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ℳ</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，认证标签空间为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ℳ</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′。消息认证码记作 MAC = (Co, Ver)，要求验证方与生成方事先共享一个密钥，包含如下两个算法。</a:t>
            </a:r>
          </a:p>
        </p:txBody>
      </p:sp>
      <p:sp>
        <p:nvSpPr>
          <p:cNvPr id="8" name="Rectangle 5"/>
          <p:cNvSpPr/>
          <p:nvPr/>
        </p:nvSpPr>
        <p:spPr>
          <a:xfrm>
            <a:off x="731520" y="2331720"/>
            <a:ext cx="10789920" cy="685800"/>
          </a:xfrm>
          <a:prstGeom prst="rect">
            <a:avLst/>
          </a:prstGeom>
          <a:solidFill>
            <a:srgbClr val="FBF1F1"/>
          </a:solidFill>
          <a:ln>
            <a:noFill/>
          </a:ln>
          <a:effectLst/>
        </p:spPr>
        <p:txBody>
          <a:bodyPr wrap="square" lIns="182880" rIns="137160" rtlCol="0" anchor="ctr"/>
          <a:lstStyle/>
          <a:p>
            <a:pPr marL="0" algn="l">
              <a:spcBef>
                <a:spcPts val="0"/>
              </a:spcBef>
              <a:spcAft>
                <a:spcPts val="0"/>
              </a:spcAft>
              <a:buClrTx/>
              <a:buSzTx/>
              <a:buNone/>
            </a:pPr>
            <a:endParaRPr lang="zh-CN" altLang="en-US" sz="1600" b="0" i="0" dirty="0">
              <a:solidFill>
                <a:srgbClr val="404040"/>
              </a:solidFill>
              <a:latin typeface="微软雅黑" panose="020B0503020204020204" charset="-122"/>
              <a:ea typeface="微软雅黑" panose="020B0503020204020204" charset="-122"/>
            </a:endParaRPr>
          </a:p>
        </p:txBody>
      </p:sp>
      <p:sp>
        <p:nvSpPr>
          <p:cNvPr id="9" name="文本框 16"/>
          <p:cNvSpPr txBox="1"/>
          <p:nvPr/>
        </p:nvSpPr>
        <p:spPr>
          <a:xfrm>
            <a:off x="740664" y="2371725"/>
            <a:ext cx="10698480" cy="685800"/>
          </a:xfrm>
          <a:prstGeom prst="rect">
            <a:avLst/>
          </a:prstGeom>
          <a:noFill/>
        </p:spPr>
        <p:txBody>
          <a:bodyPr wrap="square" rtlCol="0" anchor="ctr">
            <a:noAutofit/>
          </a:bodyPr>
          <a:lstStyle/>
          <a:p>
            <a:pPr marL="285750" indent="-285750" algn="l">
              <a:lnSpc>
                <a:spcPct val="100000"/>
              </a:lnSpc>
              <a:spcBef>
                <a:spcPts val="0"/>
              </a:spcBef>
              <a:spcAft>
                <a:spcPts val="600"/>
              </a:spcAft>
              <a:buClr>
                <a:srgbClr val="C00000"/>
              </a:buClr>
              <a:buFont typeface="Wingdings" panose="05000000000000000000" charset="0"/>
              <a:buChar char=""/>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消息认证码生成算法 Co(</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输入密钥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和消息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ℳ</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，输出一个认证标签 mac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ℳ</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0" name="Rectangle 5"/>
          <p:cNvSpPr/>
          <p:nvPr/>
        </p:nvSpPr>
        <p:spPr>
          <a:xfrm>
            <a:off x="731520" y="3200400"/>
            <a:ext cx="10789920" cy="1188720"/>
          </a:xfrm>
          <a:prstGeom prst="rect">
            <a:avLst/>
          </a:prstGeom>
          <a:solidFill>
            <a:srgbClr val="FBF1F1"/>
          </a:solidFill>
          <a:ln>
            <a:noFill/>
          </a:ln>
          <a:effectLst/>
        </p:spPr>
        <p:txBody>
          <a:bodyPr wrap="square" lIns="182880" rIns="137160" rtlCol="0" anchor="ctr"/>
          <a:lstStyle/>
          <a:p>
            <a:pPr marL="0" algn="l">
              <a:spcBef>
                <a:spcPts val="0"/>
              </a:spcBef>
              <a:spcAft>
                <a:spcPts val="0"/>
              </a:spcAft>
              <a:buClrTx/>
              <a:buSzTx/>
              <a:buNone/>
            </a:pPr>
            <a:endParaRPr lang="zh-CN" altLang="en-US" sz="1600" b="0" i="0" dirty="0">
              <a:solidFill>
                <a:srgbClr val="404040"/>
              </a:solidFill>
              <a:latin typeface="微软雅黑" panose="020B0503020204020204" charset="-122"/>
              <a:ea typeface="微软雅黑" panose="020B0503020204020204" charset="-122"/>
            </a:endParaRPr>
          </a:p>
        </p:txBody>
      </p:sp>
      <p:sp>
        <p:nvSpPr>
          <p:cNvPr id="11" name="文本框 16"/>
          <p:cNvSpPr txBox="1"/>
          <p:nvPr/>
        </p:nvSpPr>
        <p:spPr>
          <a:xfrm>
            <a:off x="740664" y="3246120"/>
            <a:ext cx="10698480" cy="1188720"/>
          </a:xfrm>
          <a:prstGeom prst="rect">
            <a:avLst/>
          </a:prstGeom>
          <a:noFill/>
        </p:spPr>
        <p:txBody>
          <a:bodyPr wrap="square" rtlCol="0" anchor="ctr">
            <a:noAutofit/>
          </a:bodyPr>
          <a:lstStyle/>
          <a:p>
            <a:pPr marL="285750" indent="-285750" algn="l">
              <a:lnSpc>
                <a:spcPct val="100000"/>
              </a:lnSpc>
              <a:spcBef>
                <a:spcPts val="0"/>
              </a:spcBef>
              <a:spcAft>
                <a:spcPts val="600"/>
              </a:spcAft>
              <a:buClr>
                <a:srgbClr val="C00000"/>
              </a:buClr>
              <a:buFont typeface="Wingdings" panose="05000000000000000000" charset="0"/>
              <a:buChar char=""/>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消息认证码验证算法 Ver(</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mac)：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输入密钥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、消息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和认证标签 mac，若 mac</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mac 则输出 1（表示消息认证码验证成功），否则输出 0（表示消息认证码验证失败），其中 mac</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是利用 Co(</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计算出来的认证标签。</a:t>
            </a:r>
          </a:p>
        </p:txBody>
      </p:sp>
      <p:sp>
        <p:nvSpPr>
          <p:cNvPr id="12" name="Rectangle 47"/>
          <p:cNvSpPr/>
          <p:nvPr/>
        </p:nvSpPr>
        <p:spPr>
          <a:xfrm>
            <a:off x="731520" y="4617720"/>
            <a:ext cx="10789920" cy="141732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正确性：</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Ver(</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Co(</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1，即用同一密钥生成的认证标签一定能通过验证。</a:t>
            </a:r>
          </a:p>
          <a:p>
            <a:pPr marL="0" indent="0" algn="l">
              <a:lnSpc>
                <a:spcPct val="110000"/>
              </a:lnSpc>
              <a:spcBef>
                <a:spcPts val="600"/>
              </a:spcBef>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安全要求：</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不掌握密钥的攻击者，即使获得大量消息及其认证标签，也难以为新的消息生成能通过验证的认证标签。</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HMAC 的计算流程</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1996 年，贝拉雷（Bellare）、卡内蒂（Canetti）和克拉夫奇克（Krawczyk）提出 HMAC，记作 hmac = Co(</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)。它用哈希函数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构造消息认证码。</a:t>
            </a:r>
          </a:p>
        </p:txBody>
      </p:sp>
      <p:sp>
        <p:nvSpPr>
          <p:cNvPr id="8" name="图形_底色"/>
          <p:cNvSpPr/>
          <p:nvPr/>
        </p:nvSpPr>
        <p:spPr>
          <a:xfrm>
            <a:off x="594360" y="2395728"/>
            <a:ext cx="6812280" cy="310896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TextBox 23"/>
          <p:cNvSpPr txBox="1"/>
          <p:nvPr/>
        </p:nvSpPr>
        <p:spPr>
          <a:xfrm>
            <a:off x="731520" y="2404872"/>
            <a:ext cx="2743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内层</a:t>
            </a:r>
          </a:p>
        </p:txBody>
      </p:sp>
      <p:sp>
        <p:nvSpPr>
          <p:cNvPr id="10" name="Rectangle 14"/>
          <p:cNvSpPr/>
          <p:nvPr/>
        </p:nvSpPr>
        <p:spPr>
          <a:xfrm>
            <a:off x="822960" y="2788920"/>
            <a:ext cx="182880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ipad</a:t>
            </a:r>
          </a:p>
        </p:txBody>
      </p:sp>
      <p:sp>
        <p:nvSpPr>
          <p:cNvPr id="11" name="Rectangle 15"/>
          <p:cNvSpPr/>
          <p:nvPr/>
        </p:nvSpPr>
        <p:spPr>
          <a:xfrm>
            <a:off x="2651760" y="2788920"/>
            <a:ext cx="146304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12" name="Connector 11"/>
          <p:cNvCxnSpPr/>
          <p:nvPr/>
        </p:nvCxnSpPr>
        <p:spPr>
          <a:xfrm>
            <a:off x="4114800" y="2999232"/>
            <a:ext cx="457200" cy="0"/>
          </a:xfrm>
          <a:prstGeom prst="line">
            <a:avLst/>
          </a:prstGeom>
          <a:ln w="15875">
            <a:solidFill>
              <a:srgbClr val="404040"/>
            </a:solidFill>
            <a:tailEnd type="triangle" w="med" len="med"/>
          </a:ln>
        </p:spPr>
      </p:cxnSp>
      <p:sp>
        <p:nvSpPr>
          <p:cNvPr id="13" name="Rectangle 16"/>
          <p:cNvSpPr/>
          <p:nvPr/>
        </p:nvSpPr>
        <p:spPr>
          <a:xfrm>
            <a:off x="4572000" y="2788920"/>
            <a:ext cx="731520" cy="420624"/>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14" name="Connector 11"/>
          <p:cNvCxnSpPr/>
          <p:nvPr/>
        </p:nvCxnSpPr>
        <p:spPr>
          <a:xfrm>
            <a:off x="5303520" y="2999232"/>
            <a:ext cx="457200" cy="0"/>
          </a:xfrm>
          <a:prstGeom prst="line">
            <a:avLst/>
          </a:prstGeom>
          <a:ln w="15875">
            <a:solidFill>
              <a:srgbClr val="404040"/>
            </a:solidFill>
            <a:tailEnd type="triangle" w="med" len="med"/>
          </a:ln>
        </p:spPr>
      </p:cxnSp>
      <p:sp>
        <p:nvSpPr>
          <p:cNvPr id="15" name="Rectangle 15"/>
          <p:cNvSpPr/>
          <p:nvPr/>
        </p:nvSpPr>
        <p:spPr>
          <a:xfrm>
            <a:off x="5760720" y="2788920"/>
            <a:ext cx="146304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内层哈希值</a:t>
            </a:r>
          </a:p>
        </p:txBody>
      </p:sp>
      <p:sp>
        <p:nvSpPr>
          <p:cNvPr id="16" name="TextBox 23"/>
          <p:cNvSpPr txBox="1"/>
          <p:nvPr/>
        </p:nvSpPr>
        <p:spPr>
          <a:xfrm>
            <a:off x="731520" y="3685032"/>
            <a:ext cx="27432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外层</a:t>
            </a:r>
          </a:p>
        </p:txBody>
      </p:sp>
      <p:sp>
        <p:nvSpPr>
          <p:cNvPr id="17" name="Rectangle 14"/>
          <p:cNvSpPr/>
          <p:nvPr/>
        </p:nvSpPr>
        <p:spPr>
          <a:xfrm>
            <a:off x="822960" y="4069080"/>
            <a:ext cx="182880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 ⊕ opad</a:t>
            </a:r>
          </a:p>
        </p:txBody>
      </p:sp>
      <p:sp>
        <p:nvSpPr>
          <p:cNvPr id="18" name="Rectangle 15"/>
          <p:cNvSpPr/>
          <p:nvPr/>
        </p:nvSpPr>
        <p:spPr>
          <a:xfrm>
            <a:off x="2651760" y="4069080"/>
            <a:ext cx="1463040" cy="420624"/>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内层哈希值</a:t>
            </a:r>
          </a:p>
        </p:txBody>
      </p:sp>
      <p:cxnSp>
        <p:nvCxnSpPr>
          <p:cNvPr id="19" name="Connector 11"/>
          <p:cNvCxnSpPr/>
          <p:nvPr/>
        </p:nvCxnSpPr>
        <p:spPr>
          <a:xfrm>
            <a:off x="4114800" y="4279392"/>
            <a:ext cx="457200" cy="0"/>
          </a:xfrm>
          <a:prstGeom prst="line">
            <a:avLst/>
          </a:prstGeom>
          <a:ln w="15875">
            <a:solidFill>
              <a:srgbClr val="404040"/>
            </a:solidFill>
            <a:tailEnd type="triangle" w="med" len="med"/>
          </a:ln>
        </p:spPr>
      </p:cxnSp>
      <p:sp>
        <p:nvSpPr>
          <p:cNvPr id="20" name="Rectangle 16"/>
          <p:cNvSpPr/>
          <p:nvPr/>
        </p:nvSpPr>
        <p:spPr>
          <a:xfrm>
            <a:off x="4572000" y="4069080"/>
            <a:ext cx="731520" cy="420624"/>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1" name="Connector 11"/>
          <p:cNvCxnSpPr/>
          <p:nvPr/>
        </p:nvCxnSpPr>
        <p:spPr>
          <a:xfrm>
            <a:off x="5303520" y="4279392"/>
            <a:ext cx="457200" cy="0"/>
          </a:xfrm>
          <a:prstGeom prst="line">
            <a:avLst/>
          </a:prstGeom>
          <a:ln w="15875">
            <a:solidFill>
              <a:srgbClr val="404040"/>
            </a:solidFill>
            <a:tailEnd type="triangle" w="med" len="med"/>
          </a:ln>
        </p:spPr>
      </p:cxnSp>
      <p:sp>
        <p:nvSpPr>
          <p:cNvPr id="22" name="Rectangle 14"/>
          <p:cNvSpPr/>
          <p:nvPr/>
        </p:nvSpPr>
        <p:spPr>
          <a:xfrm>
            <a:off x="5760720" y="4069080"/>
            <a:ext cx="1463040" cy="420624"/>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hmac</a:t>
            </a:r>
          </a:p>
        </p:txBody>
      </p:sp>
      <p:cxnSp>
        <p:nvCxnSpPr>
          <p:cNvPr id="23" name="Connector 9"/>
          <p:cNvCxnSpPr/>
          <p:nvPr/>
        </p:nvCxnSpPr>
        <p:spPr>
          <a:xfrm>
            <a:off x="6492240" y="3209544"/>
            <a:ext cx="0" cy="420624"/>
          </a:xfrm>
          <a:prstGeom prst="line">
            <a:avLst/>
          </a:prstGeom>
          <a:ln w="15875">
            <a:solidFill>
              <a:srgbClr val="404040"/>
            </a:solidFill>
          </a:ln>
        </p:spPr>
      </p:cxnSp>
      <p:cxnSp>
        <p:nvCxnSpPr>
          <p:cNvPr id="24" name="Connector 9"/>
          <p:cNvCxnSpPr/>
          <p:nvPr/>
        </p:nvCxnSpPr>
        <p:spPr>
          <a:xfrm flipH="1">
            <a:off x="3383280" y="3630168"/>
            <a:ext cx="3108960" cy="0"/>
          </a:xfrm>
          <a:prstGeom prst="line">
            <a:avLst/>
          </a:prstGeom>
          <a:ln w="15875">
            <a:solidFill>
              <a:srgbClr val="404040"/>
            </a:solidFill>
          </a:ln>
        </p:spPr>
      </p:cxnSp>
      <p:cxnSp>
        <p:nvCxnSpPr>
          <p:cNvPr id="25" name="Connector 11"/>
          <p:cNvCxnSpPr/>
          <p:nvPr/>
        </p:nvCxnSpPr>
        <p:spPr>
          <a:xfrm>
            <a:off x="3383280" y="3630168"/>
            <a:ext cx="0" cy="438912"/>
          </a:xfrm>
          <a:prstGeom prst="line">
            <a:avLst/>
          </a:prstGeom>
          <a:ln w="15875">
            <a:solidFill>
              <a:srgbClr val="404040"/>
            </a:solidFill>
            <a:tailEnd type="triangle" w="med" len="med"/>
          </a:ln>
        </p:spPr>
      </p:cxnSp>
      <p:sp>
        <p:nvSpPr>
          <p:cNvPr id="26" name="TextBox 23"/>
          <p:cNvSpPr txBox="1"/>
          <p:nvPr/>
        </p:nvSpPr>
        <p:spPr>
          <a:xfrm>
            <a:off x="777240" y="4754880"/>
            <a:ext cx="6492240" cy="640080"/>
          </a:xfrm>
          <a:prstGeom prst="rect">
            <a:avLst/>
          </a:prstGeom>
          <a:noFill/>
        </p:spPr>
        <p:txBody>
          <a:bodyPr wrap="square" lIns="18288" tIns="18288" rIns="18288" bIns="18288" anchor="t">
            <a:noAutofit/>
          </a:bodyPr>
          <a:lstStyle/>
          <a:p>
            <a:pPr marL="0" indent="0" algn="ctr">
              <a:buNone/>
            </a:pP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′、ipad、opad 的长度均为哈希函数的分组长度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B</a:t>
            </a:r>
            <a:endParaRPr lang="zh-CN" altLang="en-US"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7" name="图形_底色"/>
          <p:cNvSpPr/>
          <p:nvPr/>
        </p:nvSpPr>
        <p:spPr>
          <a:xfrm>
            <a:off x="7589520" y="2395728"/>
            <a:ext cx="4023360" cy="310896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7"/>
          <p:cNvSpPr txBox="1"/>
          <p:nvPr/>
        </p:nvSpPr>
        <p:spPr>
          <a:xfrm>
            <a:off x="7772400" y="2487168"/>
            <a:ext cx="36576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计算公式</a:t>
            </a:r>
          </a:p>
        </p:txBody>
      </p:sp>
      <p:sp>
        <p:nvSpPr>
          <p:cNvPr id="29" name="TextBox 23"/>
          <p:cNvSpPr txBox="1"/>
          <p:nvPr/>
        </p:nvSpPr>
        <p:spPr>
          <a:xfrm>
            <a:off x="7772400" y="2962112"/>
            <a:ext cx="3703320" cy="2514600"/>
          </a:xfrm>
          <a:prstGeom prst="rect">
            <a:avLst/>
          </a:prstGeom>
          <a:noFill/>
        </p:spPr>
        <p:txBody>
          <a:bodyPr wrap="square" lIns="18288" tIns="18288" rIns="18288" bIns="18288" anchor="t">
            <a:noAutofit/>
          </a:bodyPr>
          <a:lstStyle/>
          <a:p>
            <a:pPr marL="0" indent="0" algn="l">
              <a:lnSpc>
                <a:spcPct val="120000"/>
              </a:lnSpc>
              <a:spcBef>
                <a:spcPts val="600"/>
              </a:spcBef>
              <a:buNone/>
            </a:pP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hmac = </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 ⊕ opad) ‖</a:t>
            </a:r>
          </a:p>
          <a:p>
            <a:pPr marL="713105" indent="0" algn="l">
              <a:lnSpc>
                <a:spcPct val="120000"/>
              </a:lnSpc>
              <a:spcBef>
                <a:spcPts val="0"/>
              </a:spcBef>
              <a:buNone/>
            </a:pP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 ⊕ ipad) ‖ </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a:t>
            </a:r>
          </a:p>
          <a:p>
            <a:pPr>
              <a:lnSpc>
                <a:spcPct val="120000"/>
              </a:lnSpc>
              <a:spcBef>
                <a:spcPts val="600"/>
              </a:spcBef>
            </a:pP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ipad = 0x36 重复 </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700" b="0" i="0" dirty="0" smtClean="0">
                <a:solidFill>
                  <a:srgbClr val="404040"/>
                </a:solidFill>
                <a:latin typeface="Times New Roman" panose="02020603050405020304" charset="0"/>
                <a:ea typeface="微软雅黑" panose="020B0503020204020204" charset="-122"/>
                <a:cs typeface="Times New Roman" panose="02020603050405020304" charset="0"/>
              </a:rPr>
              <a:t>次 （</a:t>
            </a:r>
            <a:r>
              <a:rPr lang="en-US" altLang="zh-CN" sz="1700" i="1" dirty="0">
                <a:solidFill>
                  <a:srgbClr val="404040"/>
                </a:solidFill>
                <a:latin typeface="Times New Roman" panose="02020603050405020304" charset="0"/>
                <a:ea typeface="微软雅黑" panose="020B0503020204020204" charset="-122"/>
                <a:cs typeface="Times New Roman" panose="02020603050405020304" charset="0"/>
              </a:rPr>
              <a:t>B</a:t>
            </a:r>
            <a:r>
              <a:rPr lang="en-US" altLang="zh-CN" sz="170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700" dirty="0">
                <a:solidFill>
                  <a:srgbClr val="404040"/>
                </a:solidFill>
                <a:latin typeface="Times New Roman" panose="02020603050405020304" charset="0"/>
                <a:ea typeface="微软雅黑" panose="020B0503020204020204" charset="-122"/>
                <a:cs typeface="Times New Roman" panose="02020603050405020304" charset="0"/>
              </a:rPr>
              <a:t>是以字节计的分组长度）</a:t>
            </a:r>
            <a:endPar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0000"/>
              </a:lnSpc>
              <a:spcBef>
                <a:spcPts val="600"/>
              </a:spcBef>
              <a:buNone/>
            </a:pP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opad = 0x5C 重复 </a:t>
            </a:r>
            <a:r>
              <a:rPr lang="zh-CN" altLang="en-US" sz="17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700" b="0" i="0" dirty="0">
                <a:solidFill>
                  <a:srgbClr val="404040"/>
                </a:solidFill>
                <a:latin typeface="Times New Roman" panose="02020603050405020304" charset="0"/>
                <a:ea typeface="微软雅黑" panose="020B0503020204020204" charset="-122"/>
                <a:cs typeface="Times New Roman" panose="02020603050405020304" charset="0"/>
              </a:rPr>
              <a:t> 次</a:t>
            </a:r>
          </a:p>
          <a:p>
            <a:pPr marL="0" indent="0" algn="l">
              <a:lnSpc>
                <a:spcPct val="120000"/>
              </a:lnSpc>
              <a:spcBef>
                <a:spcPts val="600"/>
              </a:spcBef>
              <a:buNone/>
            </a:pP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两次调用哈希：内层压缩消息，外层再用密钥封装</a:t>
            </a:r>
          </a:p>
        </p:txBody>
      </p:sp>
      <p:sp>
        <p:nvSpPr>
          <p:cNvPr id="30" name="内容底色_6"/>
          <p:cNvSpPr/>
          <p:nvPr/>
        </p:nvSpPr>
        <p:spPr>
          <a:xfrm>
            <a:off x="594360" y="5669280"/>
            <a:ext cx="1101852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Ver(</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hmac)：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重新计算 hmac</a:t>
            </a:r>
            <a:r>
              <a:rPr lang="zh-CN" altLang="en-US" sz="1800" b="0" i="0" baseline="3000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Co(</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)，相等则输出 1，否则输出 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HMAC 的密钥处理</a:t>
            </a:r>
          </a:p>
        </p:txBody>
      </p:sp>
      <p:sp>
        <p:nvSpPr>
          <p:cNvPr id="7" name="Rectangle 47"/>
          <p:cNvSpPr/>
          <p:nvPr/>
        </p:nvSpPr>
        <p:spPr>
          <a:xfrm>
            <a:off x="594360" y="1353312"/>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是从密钥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派生出的、长度等于哈希函数</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分组长度的</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密钥（假设哈希输出长度不超过分组长度）。</a:t>
            </a:r>
          </a:p>
        </p:txBody>
      </p:sp>
      <p:sp>
        <p:nvSpPr>
          <p:cNvPr id="8" name="图形_底色"/>
          <p:cNvSpPr/>
          <p:nvPr/>
        </p:nvSpPr>
        <p:spPr>
          <a:xfrm>
            <a:off x="594360" y="2103120"/>
            <a:ext cx="5394960" cy="146304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TextBox 7"/>
          <p:cNvSpPr txBox="1"/>
          <p:nvPr/>
        </p:nvSpPr>
        <p:spPr>
          <a:xfrm>
            <a:off x="777240" y="2194560"/>
            <a:ext cx="5029200" cy="365760"/>
          </a:xfrm>
          <a:prstGeom prst="rect">
            <a:avLst/>
          </a:prstGeom>
          <a:noFill/>
        </p:spPr>
        <p:txBody>
          <a:bodyPr wrap="square" lIns="18288" tIns="18288" rIns="18288" bIns="18288" anchor="t">
            <a:noAutofit/>
          </a:bodyPr>
          <a:lstStyle/>
          <a:p>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①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的长度</a:t>
            </a:r>
            <a:r>
              <a:rPr lang="zh-CN" altLang="en-US" sz="1800" b="1" i="0" dirty="0" smtClean="0">
                <a:solidFill>
                  <a:srgbClr val="C00000"/>
                </a:solidFill>
                <a:latin typeface="Times New Roman" panose="02020603050405020304" charset="0"/>
                <a:ea typeface="微软雅黑" panose="020B0503020204020204" charset="-122"/>
                <a:cs typeface="Times New Roman" panose="02020603050405020304" charset="0"/>
              </a:rPr>
              <a:t>大于 </a:t>
            </a:r>
            <a:r>
              <a:rPr lang="en-US" altLang="zh-CN" b="1" i="1" dirty="0" smtClean="0">
                <a:solidFill>
                  <a:srgbClr val="C00000"/>
                </a:solidFill>
                <a:latin typeface="Times New Roman" panose="02020603050405020304" charset="0"/>
                <a:ea typeface="微软雅黑" panose="020B0503020204020204" charset="-122"/>
                <a:cs typeface="Times New Roman" panose="02020603050405020304" charset="0"/>
              </a:rPr>
              <a:t>B</a:t>
            </a:r>
            <a:r>
              <a:rPr lang="en-US" altLang="zh-CN" b="1" dirty="0" smtClean="0">
                <a:solidFill>
                  <a:srgbClr val="C00000"/>
                </a:solidFill>
                <a:latin typeface="Times New Roman" panose="02020603050405020304" charset="0"/>
                <a:ea typeface="微软雅黑" panose="020B0503020204020204" charset="-122"/>
                <a:cs typeface="Times New Roman" panose="02020603050405020304" charset="0"/>
              </a:rPr>
              <a:t> </a:t>
            </a:r>
            <a:r>
              <a:rPr lang="zh-CN" altLang="en-US" b="1" dirty="0" smtClean="0">
                <a:solidFill>
                  <a:srgbClr val="C00000"/>
                </a:solidFill>
                <a:latin typeface="Times New Roman" panose="02020603050405020304" charset="0"/>
                <a:ea typeface="微软雅黑" panose="020B0503020204020204" charset="-122"/>
                <a:cs typeface="Times New Roman" panose="02020603050405020304" charset="0"/>
              </a:rPr>
              <a:t>字节</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0" name="TextBox 23"/>
          <p:cNvSpPr txBox="1"/>
          <p:nvPr/>
        </p:nvSpPr>
        <p:spPr>
          <a:xfrm>
            <a:off x="777240" y="2633472"/>
            <a:ext cx="5074920" cy="1143000"/>
          </a:xfrm>
          <a:prstGeom prst="rect">
            <a:avLst/>
          </a:prstGeom>
          <a:noFill/>
        </p:spPr>
        <p:txBody>
          <a:bodyPr wrap="square" lIns="18288" tIns="18288" rIns="18288" bIns="18288" anchor="t">
            <a:noAutofit/>
          </a:bodyPr>
          <a:lstStyle/>
          <a:p>
            <a:pPr marL="0" indent="0" algn="l">
              <a:lnSpc>
                <a:spcPct val="12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先计算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)，再在右边填充 0 至 </a:t>
            </a:r>
            <a:r>
              <a:rPr lang="zh-CN" altLang="en-US" sz="1800" b="0" i="1" dirty="0" smtClean="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字节：</a:t>
            </a:r>
          </a:p>
          <a:p>
            <a:pPr marL="0" indent="0" algn="ctr">
              <a:lnSpc>
                <a:spcPct val="12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00⋯0</a:t>
            </a:r>
          </a:p>
        </p:txBody>
      </p:sp>
      <p:sp>
        <p:nvSpPr>
          <p:cNvPr id="11" name="图形_底色"/>
          <p:cNvSpPr/>
          <p:nvPr/>
        </p:nvSpPr>
        <p:spPr>
          <a:xfrm>
            <a:off x="6217920" y="2103120"/>
            <a:ext cx="5394960" cy="146304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7"/>
          <p:cNvSpPr txBox="1"/>
          <p:nvPr/>
        </p:nvSpPr>
        <p:spPr>
          <a:xfrm>
            <a:off x="6400800" y="2194560"/>
            <a:ext cx="5029200" cy="365760"/>
          </a:xfrm>
          <a:prstGeom prst="rect">
            <a:avLst/>
          </a:prstGeom>
          <a:noFill/>
        </p:spPr>
        <p:txBody>
          <a:bodyPr wrap="square" lIns="18288" tIns="18288" rIns="18288" bIns="18288" anchor="t">
            <a:noAutofit/>
          </a:bodyPr>
          <a:lstStyle/>
          <a:p>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的长度不</a:t>
            </a:r>
            <a:r>
              <a:rPr lang="zh-CN" altLang="en-US" sz="1800" b="1" i="0" dirty="0" smtClean="0">
                <a:solidFill>
                  <a:srgbClr val="C00000"/>
                </a:solidFill>
                <a:latin typeface="Times New Roman" panose="02020603050405020304" charset="0"/>
                <a:ea typeface="微软雅黑" panose="020B0503020204020204" charset="-122"/>
                <a:cs typeface="Times New Roman" panose="02020603050405020304" charset="0"/>
              </a:rPr>
              <a:t>超过 </a:t>
            </a:r>
            <a:r>
              <a:rPr lang="en-US" altLang="zh-CN" b="1" i="1" dirty="0" smtClean="0">
                <a:solidFill>
                  <a:srgbClr val="C00000"/>
                </a:solidFill>
                <a:latin typeface="Times New Roman" panose="02020603050405020304" charset="0"/>
                <a:ea typeface="微软雅黑" panose="020B0503020204020204" charset="-122"/>
                <a:cs typeface="Times New Roman" panose="02020603050405020304" charset="0"/>
              </a:rPr>
              <a:t>B </a:t>
            </a:r>
            <a:r>
              <a:rPr lang="zh-CN" altLang="en-US" b="1" dirty="0" smtClean="0">
                <a:solidFill>
                  <a:srgbClr val="C00000"/>
                </a:solidFill>
                <a:latin typeface="Times New Roman" panose="02020603050405020304" charset="0"/>
                <a:ea typeface="微软雅黑" panose="020B0503020204020204" charset="-122"/>
                <a:cs typeface="Times New Roman" panose="02020603050405020304" charset="0"/>
              </a:rPr>
              <a:t>字节</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3" name="TextBox 23"/>
          <p:cNvSpPr txBox="1"/>
          <p:nvPr/>
        </p:nvSpPr>
        <p:spPr>
          <a:xfrm>
            <a:off x="6400800" y="2633472"/>
            <a:ext cx="5074920" cy="1143000"/>
          </a:xfrm>
          <a:prstGeom prst="rect">
            <a:avLst/>
          </a:prstGeom>
          <a:noFill/>
        </p:spPr>
        <p:txBody>
          <a:bodyPr wrap="square" lIns="18288" tIns="18288" rIns="18288" bIns="18288" anchor="t">
            <a:noAutofit/>
          </a:bodyPr>
          <a:lstStyle/>
          <a:p>
            <a:pPr marL="0" indent="0" algn="l">
              <a:lnSpc>
                <a:spcPct val="12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直接在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的右边填充 0 至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字节：</a:t>
            </a:r>
          </a:p>
          <a:p>
            <a:pPr marL="0" indent="0" algn="ctr">
              <a:lnSpc>
                <a:spcPct val="120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00⋯0</a:t>
            </a:r>
          </a:p>
        </p:txBody>
      </p:sp>
      <p:sp>
        <p:nvSpPr>
          <p:cNvPr id="14" name="TextBox 7"/>
          <p:cNvSpPr txBox="1"/>
          <p:nvPr/>
        </p:nvSpPr>
        <p:spPr>
          <a:xfrm>
            <a:off x="594360" y="397764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示例：HMAC-SM3 中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B</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0" dirty="0" smtClean="0">
                <a:solidFill>
                  <a:srgbClr val="C00000"/>
                </a:solidFill>
                <a:latin typeface="Times New Roman" panose="02020603050405020304" charset="0"/>
                <a:ea typeface="微软雅黑" panose="020B0503020204020204" charset="-122"/>
                <a:cs typeface="Times New Roman" panose="02020603050405020304" charset="0"/>
              </a:rPr>
              <a:t>64</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5" name="Rectangle 14"/>
          <p:cNvSpPr/>
          <p:nvPr/>
        </p:nvSpPr>
        <p:spPr>
          <a:xfrm>
            <a:off x="914400" y="4434840"/>
            <a:ext cx="5074920" cy="438912"/>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（32 字节）</a:t>
            </a:r>
          </a:p>
        </p:txBody>
      </p:sp>
      <p:sp>
        <p:nvSpPr>
          <p:cNvPr id="16" name="Rectangle 15"/>
          <p:cNvSpPr/>
          <p:nvPr/>
        </p:nvSpPr>
        <p:spPr>
          <a:xfrm>
            <a:off x="5989320" y="4434840"/>
            <a:ext cx="5074920" cy="438912"/>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填充 32 个 0x00</a:t>
            </a:r>
          </a:p>
        </p:txBody>
      </p:sp>
      <p:sp>
        <p:nvSpPr>
          <p:cNvPr id="17" name="内容底色_6"/>
          <p:cNvSpPr/>
          <p:nvPr/>
        </p:nvSpPr>
        <p:spPr>
          <a:xfrm>
            <a:off x="594360" y="5303520"/>
            <a:ext cx="11018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ipad 与 opad：</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ipad = 0x36 重复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次，opad = 0x5C 重复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次；</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分别与二者逐字节异或，得到内层和外层使用的密钥。</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课堂小测：HMAC 的密钥处理</a:t>
            </a:r>
          </a:p>
        </p:txBody>
      </p:sp>
      <p:sp>
        <p:nvSpPr>
          <p:cNvPr id="7" name="Rectangle 47"/>
          <p:cNvSpPr/>
          <p:nvPr/>
        </p:nvSpPr>
        <p:spPr>
          <a:xfrm>
            <a:off x="594360" y="1353312"/>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使用 HMAC-SM3：SM3 的分组长度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64，</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输出长度为 32 字节。</a:t>
            </a:r>
          </a:p>
        </p:txBody>
      </p:sp>
      <p:sp>
        <p:nvSpPr>
          <p:cNvPr id="8" name="TextBox 7"/>
          <p:cNvSpPr txBox="1"/>
          <p:nvPr/>
        </p:nvSpPr>
        <p:spPr>
          <a:xfrm>
            <a:off x="594360" y="205740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 密钥长度分别如下时，写出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的构造</a:t>
            </a:r>
          </a:p>
        </p:txBody>
      </p:sp>
      <p:graphicFrame>
        <p:nvGraphicFramePr>
          <p:cNvPr id="9" name="表格"/>
          <p:cNvGraphicFramePr>
            <a:graphicFrameLocks noGrp="1"/>
          </p:cNvGraphicFramePr>
          <p:nvPr/>
        </p:nvGraphicFramePr>
        <p:xfrm>
          <a:off x="594360" y="2487168"/>
          <a:ext cx="11018519" cy="1609344"/>
        </p:xfrm>
        <a:graphic>
          <a:graphicData uri="http://schemas.openxmlformats.org/drawingml/2006/table">
            <a:tbl>
              <a:tblPr>
                <a:tableStyleId>{5940675A-B579-460E-94D1-54222C63F5DA}</a:tableStyleId>
              </a:tblPr>
              <a:tblGrid>
                <a:gridCol w="3291840">
                  <a:extLst>
                    <a:ext uri="{9D8B030D-6E8A-4147-A177-3AD203B41FA5}">
                      <a16:colId xmlns:a16="http://schemas.microsoft.com/office/drawing/2014/main" val="20000"/>
                    </a:ext>
                  </a:extLst>
                </a:gridCol>
                <a:gridCol w="7726679">
                  <a:extLst>
                    <a:ext uri="{9D8B030D-6E8A-4147-A177-3AD203B41FA5}">
                      <a16:colId xmlns:a16="http://schemas.microsoft.com/office/drawing/2014/main" val="20001"/>
                    </a:ext>
                  </a:extLst>
                </a:gridCol>
              </a:tblGrid>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密钥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的长度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的构造（共 64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20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64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100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sp>
        <p:nvSpPr>
          <p:cNvPr id="10" name="TextBox 7"/>
          <p:cNvSpPr txBox="1"/>
          <p:nvPr/>
        </p:nvSpPr>
        <p:spPr>
          <a:xfrm>
            <a:off x="594360" y="4224528"/>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 若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的第一个字节为 0x4B，求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ipad 与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opad 的第一个字节</a:t>
            </a:r>
          </a:p>
        </p:txBody>
      </p:sp>
      <p:sp>
        <p:nvSpPr>
          <p:cNvPr id="11" name="内容底色_6"/>
          <p:cNvSpPr/>
          <p:nvPr/>
        </p:nvSpPr>
        <p:spPr>
          <a:xfrm>
            <a:off x="594360" y="4681728"/>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试一试：</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按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的派生规则填写上表，并完成 (2) 中的异或运算。</a:t>
            </a:r>
          </a:p>
        </p:txBody>
      </p:sp>
      <p:sp>
        <p:nvSpPr>
          <p:cNvPr id="12" name="Rectangle 47"/>
          <p:cNvSpPr/>
          <p:nvPr/>
        </p:nvSpPr>
        <p:spPr>
          <a:xfrm>
            <a:off x="594360" y="5440680"/>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提示：</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比较密钥长度与分组长度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；异或运算可先把十六进制数写成二进制。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84048"/>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课堂小测：HMAC 的密钥处理（答案）</a:t>
            </a:r>
          </a:p>
        </p:txBody>
      </p:sp>
      <p:sp>
        <p:nvSpPr>
          <p:cNvPr id="7" name="Rectangle 47"/>
          <p:cNvSpPr/>
          <p:nvPr/>
        </p:nvSpPr>
        <p:spPr>
          <a:xfrm>
            <a:off x="594360" y="1353312"/>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使用 HMAC-SM3：SM3 的分组长度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64 字节，输出长度为 32 字节。</a:t>
            </a:r>
          </a:p>
        </p:txBody>
      </p:sp>
      <p:sp>
        <p:nvSpPr>
          <p:cNvPr id="8" name="TextBox 7"/>
          <p:cNvSpPr txBox="1"/>
          <p:nvPr/>
        </p:nvSpPr>
        <p:spPr>
          <a:xfrm>
            <a:off x="594360" y="2057400"/>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 密钥长度分别如下时，写出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的构造</a:t>
            </a:r>
          </a:p>
        </p:txBody>
      </p:sp>
      <p:graphicFrame>
        <p:nvGraphicFramePr>
          <p:cNvPr id="9" name="表格"/>
          <p:cNvGraphicFramePr>
            <a:graphicFrameLocks noGrp="1"/>
          </p:cNvGraphicFramePr>
          <p:nvPr/>
        </p:nvGraphicFramePr>
        <p:xfrm>
          <a:off x="594360" y="2487168"/>
          <a:ext cx="11018519" cy="1609344"/>
        </p:xfrm>
        <a:graphic>
          <a:graphicData uri="http://schemas.openxmlformats.org/drawingml/2006/table">
            <a:tbl>
              <a:tblPr>
                <a:tableStyleId>{5940675A-B579-460E-94D1-54222C63F5DA}</a:tableStyleId>
              </a:tblPr>
              <a:tblGrid>
                <a:gridCol w="3291840">
                  <a:extLst>
                    <a:ext uri="{9D8B030D-6E8A-4147-A177-3AD203B41FA5}">
                      <a16:colId xmlns:a16="http://schemas.microsoft.com/office/drawing/2014/main" val="20000"/>
                    </a:ext>
                  </a:extLst>
                </a:gridCol>
                <a:gridCol w="7726679">
                  <a:extLst>
                    <a:ext uri="{9D8B030D-6E8A-4147-A177-3AD203B41FA5}">
                      <a16:colId xmlns:a16="http://schemas.microsoft.com/office/drawing/2014/main" val="20001"/>
                    </a:ext>
                  </a:extLst>
                </a:gridCol>
              </a:tblGrid>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密钥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的长度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的构造（共 64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20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44 个 0x00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64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，无须填充</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100 字节</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)（32 字节）‖ 32 个 0x00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BF1F1"/>
                    </a:solidFill>
                  </a:tcPr>
                </a:tc>
                <a:extLst>
                  <a:ext uri="{0D108BD9-81ED-4DB2-BD59-A6C34878D82A}">
                    <a16:rowId xmlns:a16="http://schemas.microsoft.com/office/drawing/2014/main" val="10003"/>
                  </a:ext>
                </a:extLst>
              </a:tr>
            </a:tbl>
          </a:graphicData>
        </a:graphic>
      </p:graphicFrame>
      <p:sp>
        <p:nvSpPr>
          <p:cNvPr id="10" name="TextBox 7"/>
          <p:cNvSpPr txBox="1"/>
          <p:nvPr/>
        </p:nvSpPr>
        <p:spPr>
          <a:xfrm>
            <a:off x="594360" y="4224528"/>
            <a:ext cx="100584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 若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的第一个字节为 0x4B，求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ipad 与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opad 的第一个字节</a:t>
            </a:r>
          </a:p>
        </p:txBody>
      </p:sp>
      <p:sp>
        <p:nvSpPr>
          <p:cNvPr id="11" name="Rectangle 47"/>
          <p:cNvSpPr/>
          <p:nvPr/>
        </p:nvSpPr>
        <p:spPr>
          <a:xfrm>
            <a:off x="594360" y="4681728"/>
            <a:ext cx="11018520" cy="566928"/>
          </a:xfrm>
          <a:prstGeom prst="rect">
            <a:avLst/>
          </a:prstGeom>
          <a:solidFill>
            <a:srgbClr val="FBF1F1"/>
          </a:solidFill>
          <a:ln>
            <a:noFill/>
          </a:ln>
        </p:spPr>
        <p:txBody>
          <a:bodyPr wrap="square" lIns="182880" tIns="36576" rIns="182880" bIns="36576" rtlCol="0" anchor="ctr">
            <a:noAutofit/>
          </a:bodyPr>
          <a:lstStyle/>
          <a:p>
            <a:pPr marL="0" indent="0" algn="ctr">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0x4B ⊕ 0x36 = 0x7D        0x4B ⊕ 0x5C = 0x17</a:t>
            </a:r>
          </a:p>
        </p:txBody>
      </p:sp>
      <p:sp>
        <p:nvSpPr>
          <p:cNvPr id="12" name="内容底色_6"/>
          <p:cNvSpPr/>
          <p:nvPr/>
        </p:nvSpPr>
        <p:spPr>
          <a:xfrm>
            <a:off x="594360" y="5440680"/>
            <a:ext cx="11018520" cy="914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说明：</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&gt;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B</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时先用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H</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压缩为 32 字节再填充；按二进制计算，0x4B = 01001011，0x36 = 00110110，0x5C = 01011100。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CBC-MAC：基于分组密码的消息认证码</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CBC-MAC</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（Cipher Block Chaining Message Authentication Code）用分组密码在 CBC 模式下加密消息（初始值取全 0），把最后一个明文块对应的密文块作为认证标签。</a:t>
            </a:r>
          </a:p>
        </p:txBody>
      </p:sp>
      <p:sp>
        <p:nvSpPr>
          <p:cNvPr id="8" name="图形_底色"/>
          <p:cNvSpPr/>
          <p:nvPr/>
        </p:nvSpPr>
        <p:spPr>
          <a:xfrm>
            <a:off x="594360" y="2395728"/>
            <a:ext cx="6812280" cy="2395728"/>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Rectangle 15"/>
          <p:cNvSpPr/>
          <p:nvPr/>
        </p:nvSpPr>
        <p:spPr>
          <a:xfrm>
            <a:off x="1234440" y="2514600"/>
            <a:ext cx="1005840" cy="384048"/>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1</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10" name="Connector 11"/>
          <p:cNvCxnSpPr/>
          <p:nvPr/>
        </p:nvCxnSpPr>
        <p:spPr>
          <a:xfrm>
            <a:off x="1737360" y="2898648"/>
            <a:ext cx="0" cy="411480"/>
          </a:xfrm>
          <a:prstGeom prst="line">
            <a:avLst/>
          </a:prstGeom>
          <a:ln w="15875">
            <a:solidFill>
              <a:srgbClr val="404040"/>
            </a:solidFill>
            <a:tailEnd type="triangle" w="med" len="med"/>
          </a:ln>
        </p:spPr>
      </p:cxnSp>
      <p:sp>
        <p:nvSpPr>
          <p:cNvPr id="11" name="Rectangle 16"/>
          <p:cNvSpPr/>
          <p:nvPr/>
        </p:nvSpPr>
        <p:spPr>
          <a:xfrm>
            <a:off x="1234440" y="3310128"/>
            <a:ext cx="1005840" cy="384048"/>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12" name="Connector 9"/>
          <p:cNvCxnSpPr/>
          <p:nvPr/>
        </p:nvCxnSpPr>
        <p:spPr>
          <a:xfrm>
            <a:off x="2240280" y="3502152"/>
            <a:ext cx="548640" cy="0"/>
          </a:xfrm>
          <a:prstGeom prst="line">
            <a:avLst/>
          </a:prstGeom>
          <a:ln w="15875">
            <a:solidFill>
              <a:srgbClr val="404040"/>
            </a:solidFill>
          </a:ln>
        </p:spPr>
      </p:cxnSp>
      <p:cxnSp>
        <p:nvCxnSpPr>
          <p:cNvPr id="13" name="Connector 9"/>
          <p:cNvCxnSpPr/>
          <p:nvPr/>
        </p:nvCxnSpPr>
        <p:spPr>
          <a:xfrm flipV="1">
            <a:off x="2788920" y="3108960"/>
            <a:ext cx="0" cy="393192"/>
          </a:xfrm>
          <a:prstGeom prst="line">
            <a:avLst/>
          </a:prstGeom>
          <a:ln w="15875">
            <a:solidFill>
              <a:srgbClr val="404040"/>
            </a:solidFill>
          </a:ln>
        </p:spPr>
      </p:cxnSp>
      <p:cxnSp>
        <p:nvCxnSpPr>
          <p:cNvPr id="14" name="Connector 11"/>
          <p:cNvCxnSpPr/>
          <p:nvPr/>
        </p:nvCxnSpPr>
        <p:spPr>
          <a:xfrm>
            <a:off x="2788920" y="3108960"/>
            <a:ext cx="905256" cy="0"/>
          </a:xfrm>
          <a:prstGeom prst="line">
            <a:avLst/>
          </a:prstGeom>
          <a:ln w="15875">
            <a:solidFill>
              <a:srgbClr val="404040"/>
            </a:solidFill>
            <a:tailEnd type="triangle" w="med" len="med"/>
          </a:ln>
        </p:spPr>
      </p:cxnSp>
      <p:sp>
        <p:nvSpPr>
          <p:cNvPr id="15" name="Rectangle 15"/>
          <p:cNvSpPr/>
          <p:nvPr/>
        </p:nvSpPr>
        <p:spPr>
          <a:xfrm>
            <a:off x="3337560" y="2514600"/>
            <a:ext cx="1005840" cy="384048"/>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0" baseline="-25000" dirty="0">
                <a:solidFill>
                  <a:srgbClr val="222222"/>
                </a:solidFill>
                <a:latin typeface="Times New Roman" panose="02020603050405020304" charset="0"/>
                <a:ea typeface="微软雅黑" panose="020B0503020204020204" charset="-122"/>
                <a:cs typeface="Times New Roman" panose="02020603050405020304" charset="0"/>
              </a:rPr>
              <a:t>2</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16" name="Connector 11"/>
          <p:cNvCxnSpPr/>
          <p:nvPr/>
        </p:nvCxnSpPr>
        <p:spPr>
          <a:xfrm>
            <a:off x="3840480" y="2898648"/>
            <a:ext cx="0" cy="64008"/>
          </a:xfrm>
          <a:prstGeom prst="line">
            <a:avLst/>
          </a:prstGeom>
          <a:ln w="15875">
            <a:solidFill>
              <a:srgbClr val="404040"/>
            </a:solidFill>
            <a:tailEnd type="triangle" w="med" len="med"/>
          </a:ln>
        </p:spPr>
      </p:cxnSp>
      <p:sp>
        <p:nvSpPr>
          <p:cNvPr id="17" name="Or 18"/>
          <p:cNvSpPr/>
          <p:nvPr/>
        </p:nvSpPr>
        <p:spPr>
          <a:xfrm>
            <a:off x="3694176" y="296265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18" name="Connector 11"/>
          <p:cNvCxnSpPr/>
          <p:nvPr/>
        </p:nvCxnSpPr>
        <p:spPr>
          <a:xfrm>
            <a:off x="3840480" y="3255264"/>
            <a:ext cx="0" cy="54864"/>
          </a:xfrm>
          <a:prstGeom prst="line">
            <a:avLst/>
          </a:prstGeom>
          <a:ln w="15875">
            <a:solidFill>
              <a:srgbClr val="404040"/>
            </a:solidFill>
            <a:tailEnd type="triangle" w="med" len="med"/>
          </a:ln>
        </p:spPr>
      </p:cxnSp>
      <p:sp>
        <p:nvSpPr>
          <p:cNvPr id="19" name="Rectangle 16"/>
          <p:cNvSpPr/>
          <p:nvPr/>
        </p:nvSpPr>
        <p:spPr>
          <a:xfrm>
            <a:off x="3337560" y="3310128"/>
            <a:ext cx="1005840" cy="384048"/>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cxnSp>
        <p:nvCxnSpPr>
          <p:cNvPr id="20" name="Connector 9"/>
          <p:cNvCxnSpPr/>
          <p:nvPr/>
        </p:nvCxnSpPr>
        <p:spPr>
          <a:xfrm>
            <a:off x="4343400" y="3502152"/>
            <a:ext cx="548640" cy="0"/>
          </a:xfrm>
          <a:prstGeom prst="line">
            <a:avLst/>
          </a:prstGeom>
          <a:ln w="15875">
            <a:solidFill>
              <a:srgbClr val="404040"/>
            </a:solidFill>
          </a:ln>
        </p:spPr>
      </p:cxnSp>
      <p:cxnSp>
        <p:nvCxnSpPr>
          <p:cNvPr id="21" name="Connector 9"/>
          <p:cNvCxnSpPr/>
          <p:nvPr/>
        </p:nvCxnSpPr>
        <p:spPr>
          <a:xfrm flipV="1">
            <a:off x="4892040" y="3108960"/>
            <a:ext cx="0" cy="393192"/>
          </a:xfrm>
          <a:prstGeom prst="line">
            <a:avLst/>
          </a:prstGeom>
          <a:ln w="15875">
            <a:solidFill>
              <a:srgbClr val="404040"/>
            </a:solidFill>
          </a:ln>
        </p:spPr>
      </p:cxnSp>
      <p:cxnSp>
        <p:nvCxnSpPr>
          <p:cNvPr id="22" name="Connector 11"/>
          <p:cNvCxnSpPr/>
          <p:nvPr/>
        </p:nvCxnSpPr>
        <p:spPr>
          <a:xfrm>
            <a:off x="4892040" y="3108960"/>
            <a:ext cx="905256" cy="0"/>
          </a:xfrm>
          <a:prstGeom prst="line">
            <a:avLst/>
          </a:prstGeom>
          <a:ln w="15875">
            <a:solidFill>
              <a:srgbClr val="404040"/>
            </a:solidFill>
            <a:tailEnd type="triangle" w="med" len="med"/>
          </a:ln>
        </p:spPr>
      </p:cxnSp>
      <p:sp>
        <p:nvSpPr>
          <p:cNvPr id="23" name="Rectangle 15"/>
          <p:cNvSpPr/>
          <p:nvPr/>
        </p:nvSpPr>
        <p:spPr>
          <a:xfrm>
            <a:off x="5440680" y="2514600"/>
            <a:ext cx="1005840" cy="384048"/>
          </a:xfrm>
          <a:prstGeom prst="rect">
            <a:avLst/>
          </a:prstGeom>
          <a:solidFill>
            <a:srgbClr val="FFFFFF"/>
          </a:solidFill>
          <a:ln w="9525">
            <a:solidFill>
              <a:srgbClr val="7F7F7F"/>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222222"/>
                </a:solidFill>
                <a:latin typeface="Times New Roman" panose="02020603050405020304" charset="0"/>
                <a:ea typeface="微软雅黑" panose="020B0503020204020204" charset="-122"/>
                <a:cs typeface="Times New Roman" panose="02020603050405020304" charset="0"/>
              </a:rPr>
              <a:t>t</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cxnSp>
        <p:nvCxnSpPr>
          <p:cNvPr id="24" name="Connector 11"/>
          <p:cNvCxnSpPr/>
          <p:nvPr/>
        </p:nvCxnSpPr>
        <p:spPr>
          <a:xfrm>
            <a:off x="5943600" y="2898648"/>
            <a:ext cx="0" cy="64008"/>
          </a:xfrm>
          <a:prstGeom prst="line">
            <a:avLst/>
          </a:prstGeom>
          <a:ln w="15875">
            <a:solidFill>
              <a:srgbClr val="404040"/>
            </a:solidFill>
            <a:tailEnd type="triangle" w="med" len="med"/>
          </a:ln>
        </p:spPr>
      </p:cxnSp>
      <p:sp>
        <p:nvSpPr>
          <p:cNvPr id="25" name="Or 18"/>
          <p:cNvSpPr/>
          <p:nvPr/>
        </p:nvSpPr>
        <p:spPr>
          <a:xfrm>
            <a:off x="5797296" y="2962656"/>
            <a:ext cx="292608" cy="292608"/>
          </a:xfrm>
          <a:prstGeom prst="flowChartOr">
            <a:avLst/>
          </a:prstGeom>
          <a:solidFill>
            <a:srgbClr val="FFFFFF"/>
          </a:solidFill>
          <a:ln w="15875">
            <a:solidFill>
              <a:srgbClr val="404040"/>
            </a:solidFill>
          </a:ln>
        </p:spPr>
        <p:txBody>
          <a:bodyPr wrap="square" rtlCol="0" anchor="ctr">
            <a:noAutofit/>
          </a:bodyPr>
          <a:lstStyle/>
          <a:p>
            <a:pPr marL="0" indent="0">
              <a:buNone/>
            </a:pPr>
            <a:endParaRPr lang="zh-CN" altLang="en-US" sz="1000">
              <a:latin typeface="Times New Roman" panose="02020603050405020304"/>
              <a:ea typeface="微软雅黑" panose="020B0503020204020204" charset="-122"/>
            </a:endParaRPr>
          </a:p>
        </p:txBody>
      </p:sp>
      <p:cxnSp>
        <p:nvCxnSpPr>
          <p:cNvPr id="26" name="Connector 11"/>
          <p:cNvCxnSpPr/>
          <p:nvPr/>
        </p:nvCxnSpPr>
        <p:spPr>
          <a:xfrm>
            <a:off x="5943600" y="3255264"/>
            <a:ext cx="0" cy="54864"/>
          </a:xfrm>
          <a:prstGeom prst="line">
            <a:avLst/>
          </a:prstGeom>
          <a:ln w="15875">
            <a:solidFill>
              <a:srgbClr val="404040"/>
            </a:solidFill>
            <a:tailEnd type="triangle" w="med" len="med"/>
          </a:ln>
        </p:spPr>
      </p:cxnSp>
      <p:sp>
        <p:nvSpPr>
          <p:cNvPr id="27" name="Rectangle 16"/>
          <p:cNvSpPr/>
          <p:nvPr/>
        </p:nvSpPr>
        <p:spPr>
          <a:xfrm>
            <a:off x="5440680" y="3310128"/>
            <a:ext cx="1005840" cy="384048"/>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28" name="TextBox 23"/>
          <p:cNvSpPr txBox="1"/>
          <p:nvPr/>
        </p:nvSpPr>
        <p:spPr>
          <a:xfrm>
            <a:off x="4617720" y="2560320"/>
            <a:ext cx="457200" cy="36576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cxnSp>
        <p:nvCxnSpPr>
          <p:cNvPr id="29" name="Connector 11"/>
          <p:cNvCxnSpPr/>
          <p:nvPr/>
        </p:nvCxnSpPr>
        <p:spPr>
          <a:xfrm>
            <a:off x="5943600" y="3694176"/>
            <a:ext cx="0" cy="420624"/>
          </a:xfrm>
          <a:prstGeom prst="line">
            <a:avLst/>
          </a:prstGeom>
          <a:ln w="15875">
            <a:solidFill>
              <a:srgbClr val="404040"/>
            </a:solidFill>
            <a:tailEnd type="triangle" w="med" len="med"/>
          </a:ln>
        </p:spPr>
      </p:cxnSp>
      <p:sp>
        <p:nvSpPr>
          <p:cNvPr id="30" name="Rectangle 14"/>
          <p:cNvSpPr/>
          <p:nvPr/>
        </p:nvSpPr>
        <p:spPr>
          <a:xfrm>
            <a:off x="5440680" y="4114800"/>
            <a:ext cx="1005840" cy="384048"/>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T</a:t>
            </a:r>
            <a:endPar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endParaRPr>
          </a:p>
        </p:txBody>
      </p:sp>
      <p:sp>
        <p:nvSpPr>
          <p:cNvPr id="31" name="图形_底色"/>
          <p:cNvSpPr/>
          <p:nvPr/>
        </p:nvSpPr>
        <p:spPr>
          <a:xfrm>
            <a:off x="7589520" y="2395728"/>
            <a:ext cx="4023360" cy="2395728"/>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7"/>
          <p:cNvSpPr txBox="1"/>
          <p:nvPr/>
        </p:nvSpPr>
        <p:spPr>
          <a:xfrm>
            <a:off x="7772400" y="2487168"/>
            <a:ext cx="365760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公式</a:t>
            </a:r>
          </a:p>
        </p:txBody>
      </p:sp>
      <p:sp>
        <p:nvSpPr>
          <p:cNvPr id="33" name="TextBox 23"/>
          <p:cNvSpPr txBox="1"/>
          <p:nvPr/>
        </p:nvSpPr>
        <p:spPr>
          <a:xfrm>
            <a:off x="7772400" y="2907792"/>
            <a:ext cx="3703320" cy="1691640"/>
          </a:xfrm>
          <a:prstGeom prst="rect">
            <a:avLst/>
          </a:prstGeom>
          <a:noFill/>
        </p:spPr>
        <p:txBody>
          <a:bodyPr wrap="square" lIns="18288" tIns="18288" rIns="18288" bIns="18288" anchor="t">
            <a:noAutofit/>
          </a:bodyPr>
          <a:lstStyle/>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0</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a:t>
            </a:r>
            <a:r>
              <a:rPr lang="zh-CN" altLang="en-US" sz="1800" b="0" i="1" baseline="30000" dirty="0">
                <a:solidFill>
                  <a:srgbClr val="404040"/>
                </a:solidFill>
                <a:latin typeface="Times New Roman" panose="02020603050405020304" charset="0"/>
                <a:ea typeface="微软雅黑" panose="020B0503020204020204" charset="-122"/>
                <a:cs typeface="Times New Roman" panose="02020603050405020304" charset="0"/>
              </a:rPr>
              <a:t>n</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lnSpc>
                <a:spcPct val="125000"/>
              </a:lnSpc>
              <a:buNone/>
            </a:pP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（只输出最后一块）</a:t>
            </a:r>
          </a:p>
        </p:txBody>
      </p:sp>
      <p:sp>
        <p:nvSpPr>
          <p:cNvPr id="34" name="Rectangle 47"/>
          <p:cNvSpPr/>
          <p:nvPr/>
        </p:nvSpPr>
        <p:spPr>
          <a:xfrm>
            <a:off x="594360" y="4983480"/>
            <a:ext cx="11018520" cy="566928"/>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注意：</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基本 CBC-MAC 仅适用于定长消息；变长消息需采用其改进形式（如 CMAC）。</a:t>
            </a:r>
          </a:p>
        </p:txBody>
      </p:sp>
      <p:sp>
        <p:nvSpPr>
          <p:cNvPr id="35" name="内容底色_6"/>
          <p:cNvSpPr/>
          <p:nvPr/>
        </p:nvSpPr>
        <p:spPr>
          <a:xfrm>
            <a:off x="594360" y="571500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其他构造：</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除 HMAC 与 CBC-MAC 外，也可以基于流密码和公钥密码构造消息认证码。</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4"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5"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6" name="页标题"/>
          <p:cNvSpPr txBox="1"/>
          <p:nvPr/>
        </p:nvSpPr>
        <p:spPr>
          <a:xfrm>
            <a:off x="502920" y="827532"/>
            <a:ext cx="11155680" cy="393192"/>
          </a:xfrm>
          <a:prstGeom prst="rect">
            <a:avLst/>
          </a:prstGeom>
          <a:noFill/>
        </p:spPr>
        <p:txBody>
          <a:bodyPr wrap="square" lIns="0" tIns="0" rIns="0" bIns="0" anchor="t">
            <a:noAutofit/>
          </a:bodyPr>
          <a:lstStyle/>
          <a:p>
            <a:pPr marL="0" indent="0">
              <a:buNone/>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密钥派生函数（KDF）</a:t>
            </a:r>
          </a:p>
        </p:txBody>
      </p: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密码学中的密钥本质上是随机数，但真随机数的生成效率较低。除了用伪随机数生成器生成密钥，也可以通过 </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密钥派生函数</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（Key Derivation Function，KDF）获取密钥：由低熵输入生成高熵输出。</a:t>
            </a:r>
          </a:p>
        </p:txBody>
      </p:sp>
      <p:sp>
        <p:nvSpPr>
          <p:cNvPr id="8" name="图形_背景"/>
          <p:cNvSpPr/>
          <p:nvPr/>
        </p:nvSpPr>
        <p:spPr>
          <a:xfrm>
            <a:off x="685800" y="2395728"/>
            <a:ext cx="3401568" cy="12801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文本_128 bit"/>
          <p:cNvSpPr txBox="1"/>
          <p:nvPr/>
        </p:nvSpPr>
        <p:spPr>
          <a:xfrm>
            <a:off x="795528" y="258800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密钥派生材料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σ</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0" name="TextBox 23"/>
          <p:cNvSpPr txBox="1"/>
          <p:nvPr/>
        </p:nvSpPr>
        <p:spPr>
          <a:xfrm>
            <a:off x="822960" y="3008630"/>
            <a:ext cx="3127375" cy="475615"/>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口令或已有密钥</a:t>
            </a:r>
          </a:p>
        </p:txBody>
      </p:sp>
      <p:sp>
        <p:nvSpPr>
          <p:cNvPr id="11" name="图形_背景"/>
          <p:cNvSpPr/>
          <p:nvPr/>
        </p:nvSpPr>
        <p:spPr>
          <a:xfrm>
            <a:off x="4389120" y="2395728"/>
            <a:ext cx="3401568" cy="12801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文本_128 bit"/>
          <p:cNvSpPr txBox="1"/>
          <p:nvPr/>
        </p:nvSpPr>
        <p:spPr>
          <a:xfrm>
            <a:off x="4498848" y="258800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盐值 salt</a:t>
            </a:r>
          </a:p>
        </p:txBody>
      </p:sp>
      <p:sp>
        <p:nvSpPr>
          <p:cNvPr id="13" name="TextBox 23"/>
          <p:cNvSpPr txBox="1"/>
          <p:nvPr/>
        </p:nvSpPr>
        <p:spPr>
          <a:xfrm>
            <a:off x="4526280" y="3008630"/>
            <a:ext cx="3127375" cy="371475"/>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增强输入的多样性</a:t>
            </a:r>
          </a:p>
        </p:txBody>
      </p:sp>
      <p:sp>
        <p:nvSpPr>
          <p:cNvPr id="14" name="图形_背景"/>
          <p:cNvSpPr/>
          <p:nvPr/>
        </p:nvSpPr>
        <p:spPr>
          <a:xfrm>
            <a:off x="8092440" y="2395728"/>
            <a:ext cx="3401568" cy="12801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文本_128 bit"/>
          <p:cNvSpPr txBox="1"/>
          <p:nvPr/>
        </p:nvSpPr>
        <p:spPr>
          <a:xfrm>
            <a:off x="8202168" y="2588006"/>
            <a:ext cx="3182112" cy="365760"/>
          </a:xfrm>
          <a:prstGeom prst="rect">
            <a:avLst/>
          </a:prstGeom>
          <a:noFill/>
        </p:spPr>
        <p:txBody>
          <a:bodyPr wrap="square" lIns="0" tIns="0" rIns="0" bIns="0" anchor="t">
            <a:noAutofit/>
          </a:bodyPr>
          <a:lstStyle/>
          <a:p>
            <a:pPr algn="ctr">
              <a:lnSpc>
                <a:spcPct val="1100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迭代次数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r</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p:txBody>
      </p:sp>
      <p:sp>
        <p:nvSpPr>
          <p:cNvPr id="16" name="TextBox 23"/>
          <p:cNvSpPr txBox="1"/>
          <p:nvPr/>
        </p:nvSpPr>
        <p:spPr>
          <a:xfrm>
            <a:off x="8229600" y="3008630"/>
            <a:ext cx="3127375" cy="41402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增加攻击者穷举的难度</a:t>
            </a:r>
          </a:p>
        </p:txBody>
      </p:sp>
      <p:sp>
        <p:nvSpPr>
          <p:cNvPr id="17" name="Rectangle 47"/>
          <p:cNvSpPr/>
          <p:nvPr/>
        </p:nvSpPr>
        <p:spPr>
          <a:xfrm>
            <a:off x="594360" y="3886200"/>
            <a:ext cx="11018520" cy="13258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定义 2.5</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设密钥派生材料空间为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、盐值空间为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𝒮</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、迭代次数空间为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，密钥空间为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𝒯</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。密钥派生函数记作 KDF: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𝒮</a:t>
            </a:r>
            <a:r>
              <a:rPr lang="zh-CN" altLang="en-US" sz="1800" b="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𝒯</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；密钥派生算法 KDF(</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σ</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salt,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输入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σ</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、salt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𝒮</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和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ℕ</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，输出密钥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𝒯</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8" name="内容底色_6"/>
          <p:cNvSpPr/>
          <p:nvPr/>
        </p:nvSpPr>
        <p:spPr>
          <a:xfrm>
            <a:off x="594360" y="5440680"/>
            <a:ext cx="11018520" cy="5669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可选参数：</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salt 和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r</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可以省略，此时记作 KDF: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𝒦</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𝒯</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，密钥派生算法简化为 KDF(</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σ</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02920" y="828446"/>
            <a:ext cx="11155680" cy="338455"/>
          </a:xfrm>
          <a:prstGeom prst="rect">
            <a:avLst/>
          </a:prstGeom>
          <a:noFill/>
        </p:spPr>
        <p:txBody>
          <a:bodyPr wrap="square" lIns="0" tIns="0" rIns="0" bIns="0" rtlCol="0" anchor="t">
            <a:spAutoFit/>
          </a:bodyPr>
          <a:lstStyle/>
          <a:p>
            <a:pPr algn="l">
              <a:spcBef>
                <a:spcPts val="0"/>
              </a:spcBef>
              <a:spcAft>
                <a:spcPts val="0"/>
              </a:spcAft>
            </a:pP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基于 HMAC 的密钥派生函数：HKDF</a:t>
            </a:r>
          </a:p>
        </p:txBody>
      </p:sp>
      <p:sp>
        <p:nvSpPr>
          <p:cNvPr id="4"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sp>
        <p:nvSpPr>
          <p:cNvPr id="5"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cxnSp>
        <p:nvCxnSpPr>
          <p:cNvPr id="6"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Rectangle 47"/>
          <p:cNvSpPr/>
          <p:nvPr/>
        </p:nvSpPr>
        <p:spPr>
          <a:xfrm>
            <a:off x="594360" y="1353312"/>
            <a:ext cx="11018520" cy="868680"/>
          </a:xfrm>
          <a:prstGeom prst="rect">
            <a:avLst/>
          </a:prstGeom>
          <a:solidFill>
            <a:srgbClr val="FBF1F1"/>
          </a:solidFill>
          <a:ln>
            <a:noFill/>
          </a:ln>
        </p:spPr>
        <p:txBody>
          <a:bodyPr wrap="square" lIns="182880" tIns="36576" rIns="182880" bIns="36576" rtlCol="0" anchor="ctr">
            <a:noAutofit/>
          </a:bodyPr>
          <a:lstStyle/>
          <a:p>
            <a:pPr marL="0" indent="0" algn="l">
              <a:lnSpc>
                <a:spcPct val="110000"/>
              </a:lnSpc>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HKDF</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（HMAC-based Extract-and-Expand Key Derivation Function）输入密钥派生材料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σ</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和盐值 salt，输出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比特密钥，分“提取—扩展”两步完成。</a:t>
            </a:r>
          </a:p>
        </p:txBody>
      </p:sp>
      <p:sp>
        <p:nvSpPr>
          <p:cNvPr id="8" name="图形_底色"/>
          <p:cNvSpPr/>
          <p:nvPr/>
        </p:nvSpPr>
        <p:spPr>
          <a:xfrm>
            <a:off x="594360" y="2395728"/>
            <a:ext cx="4206240" cy="132588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9" name="TextBox 7"/>
          <p:cNvSpPr txBox="1"/>
          <p:nvPr/>
        </p:nvSpPr>
        <p:spPr>
          <a:xfrm>
            <a:off x="777240" y="2468880"/>
            <a:ext cx="384048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① 提取（Extract）</a:t>
            </a:r>
          </a:p>
        </p:txBody>
      </p:sp>
      <p:sp>
        <p:nvSpPr>
          <p:cNvPr id="10" name="TextBox 23"/>
          <p:cNvSpPr txBox="1"/>
          <p:nvPr/>
        </p:nvSpPr>
        <p:spPr>
          <a:xfrm>
            <a:off x="777240" y="2880360"/>
            <a:ext cx="3886200" cy="777240"/>
          </a:xfrm>
          <a:prstGeom prst="rect">
            <a:avLst/>
          </a:prstGeom>
          <a:noFill/>
        </p:spPr>
        <p:txBody>
          <a:bodyPr wrap="square" lIns="18288" tIns="18288" rIns="18288" bIns="18288" anchor="t">
            <a:noAutofit/>
          </a:bodyPr>
          <a:lstStyle/>
          <a:p>
            <a:pPr marL="0" indent="0" algn="l">
              <a:buNone/>
            </a:pP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prk = Co(salt,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σ</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buNone/>
            </a:pP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prk 长度为哈希输出长度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l</a:t>
            </a:r>
            <a:endParaRPr lang="zh-CN" altLang="en-US" b="0" i="0" dirty="0">
              <a:solidFill>
                <a:srgbClr val="404040"/>
              </a:solidFill>
              <a:latin typeface="Times New Roman" panose="02020603050405020304" charset="0"/>
              <a:ea typeface="微软雅黑" panose="020B0503020204020204" charset="-122"/>
              <a:cs typeface="Times New Roman" panose="02020603050405020304" charset="0"/>
            </a:endParaRPr>
          </a:p>
        </p:txBody>
      </p:sp>
      <p:sp>
        <p:nvSpPr>
          <p:cNvPr id="11" name="图形_底色"/>
          <p:cNvSpPr/>
          <p:nvPr/>
        </p:nvSpPr>
        <p:spPr>
          <a:xfrm>
            <a:off x="594360" y="3858768"/>
            <a:ext cx="4206240" cy="1645920"/>
          </a:xfrm>
          <a:prstGeom prst="rect">
            <a:avLst/>
          </a:prstGeom>
          <a:solidFill>
            <a:srgbClr val="FAF1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7"/>
          <p:cNvSpPr txBox="1"/>
          <p:nvPr/>
        </p:nvSpPr>
        <p:spPr>
          <a:xfrm>
            <a:off x="777240" y="3931920"/>
            <a:ext cx="3840480" cy="365760"/>
          </a:xfrm>
          <a:prstGeom prst="rect">
            <a:avLst/>
          </a:prstGeom>
          <a:noFill/>
        </p:spPr>
        <p:txBody>
          <a:bodyPr wrap="square" lIns="18288" tIns="18288" rIns="18288" bIns="18288" anchor="t">
            <a:noAutofit/>
          </a:bodyPr>
          <a:lstStyle/>
          <a:p>
            <a:pPr marL="0" indent="0" algn="l">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② 扩展（Expand）</a:t>
            </a:r>
          </a:p>
        </p:txBody>
      </p:sp>
      <p:sp>
        <p:nvSpPr>
          <p:cNvPr id="13" name="TextBox 23"/>
          <p:cNvSpPr txBox="1"/>
          <p:nvPr/>
        </p:nvSpPr>
        <p:spPr>
          <a:xfrm>
            <a:off x="777240" y="4343400"/>
            <a:ext cx="3886200" cy="1097280"/>
          </a:xfrm>
          <a:prstGeom prst="rect">
            <a:avLst/>
          </a:prstGeom>
          <a:noFill/>
        </p:spPr>
        <p:txBody>
          <a:bodyPr wrap="square" lIns="18288" tIns="18288" rIns="18288" bIns="18288" anchor="t">
            <a:noAutofit/>
          </a:bodyPr>
          <a:lstStyle/>
          <a:p>
            <a:pPr marL="0" indent="0" algn="l">
              <a:buNone/>
            </a:pP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(0) 为空串</a:t>
            </a:r>
          </a:p>
          <a:p>
            <a:pPr marL="0" indent="0" algn="l">
              <a:buNone/>
            </a:pP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Co(prk,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 − 1) ‖ info ‖ </a:t>
            </a:r>
            <a:r>
              <a:rPr lang="zh-CN" altLang="en-US" b="0" i="1" dirty="0">
                <a:solidFill>
                  <a:srgbClr val="404040"/>
                </a:solidFill>
                <a:latin typeface="Times New Roman" panose="02020603050405020304" charset="0"/>
                <a:ea typeface="微软雅黑" panose="020B0503020204020204" charset="-122"/>
                <a:cs typeface="Times New Roman" panose="02020603050405020304" charset="0"/>
              </a:rPr>
              <a:t>i</a:t>
            </a:r>
            <a:r>
              <a:rPr lang="zh-CN" altLang="en-US" b="0" i="0" dirty="0">
                <a:solidFill>
                  <a:srgbClr val="404040"/>
                </a:solidFill>
                <a:latin typeface="Times New Roman" panose="02020603050405020304" charset="0"/>
                <a:ea typeface="微软雅黑" panose="020B0503020204020204" charset="-122"/>
                <a:cs typeface="Times New Roman" panose="02020603050405020304" charset="0"/>
              </a:rPr>
              <a:t>)</a:t>
            </a:r>
          </a:p>
        </p:txBody>
      </p:sp>
      <p:sp>
        <p:nvSpPr>
          <p:cNvPr id="14" name="图形_底色"/>
          <p:cNvSpPr/>
          <p:nvPr/>
        </p:nvSpPr>
        <p:spPr>
          <a:xfrm>
            <a:off x="4983480" y="2395728"/>
            <a:ext cx="6629400" cy="3108960"/>
          </a:xfrm>
          <a:prstGeom prst="rect">
            <a:avLst/>
          </a:prstGeom>
          <a:solidFill>
            <a:srgbClr val="F5F5F5"/>
          </a:solidFill>
          <a:ln>
            <a:noFill/>
          </a:ln>
        </p:spPr>
        <p:txBody>
          <a:bodyPr wrap="square" lIns="73152" tIns="27432" rIns="73152" bIns="27432" rtlCol="0" anchor="ctr">
            <a:noAutofit/>
          </a:bodyPr>
          <a:lstStyle/>
          <a:p>
            <a:pPr marL="0" indent="0" algn="ctr">
              <a:buNone/>
            </a:pPr>
            <a:endParaRPr lang="zh-CN" altLang="en-US" sz="1800">
              <a:latin typeface="Times New Roman" panose="02020603050405020304"/>
              <a:ea typeface="微软雅黑" panose="020B0503020204020204" charset="-122"/>
            </a:endParaRPr>
          </a:p>
        </p:txBody>
      </p:sp>
      <p:sp>
        <p:nvSpPr>
          <p:cNvPr id="15" name="TextBox 23"/>
          <p:cNvSpPr txBox="1"/>
          <p:nvPr/>
        </p:nvSpPr>
        <p:spPr>
          <a:xfrm>
            <a:off x="5029200" y="2487168"/>
            <a:ext cx="1737360" cy="36576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info ‖ 0x01</a:t>
            </a:r>
          </a:p>
        </p:txBody>
      </p:sp>
      <p:cxnSp>
        <p:nvCxnSpPr>
          <p:cNvPr id="16" name="Connector 11"/>
          <p:cNvCxnSpPr/>
          <p:nvPr/>
        </p:nvCxnSpPr>
        <p:spPr>
          <a:xfrm>
            <a:off x="5897880" y="2852928"/>
            <a:ext cx="0" cy="347472"/>
          </a:xfrm>
          <a:prstGeom prst="line">
            <a:avLst/>
          </a:prstGeom>
          <a:ln w="15875">
            <a:solidFill>
              <a:srgbClr val="404040"/>
            </a:solidFill>
            <a:tailEnd type="triangle" w="med" len="med"/>
          </a:ln>
        </p:spPr>
      </p:cxnSp>
      <p:sp>
        <p:nvSpPr>
          <p:cNvPr id="17" name="Rectangle 16"/>
          <p:cNvSpPr/>
          <p:nvPr/>
        </p:nvSpPr>
        <p:spPr>
          <a:xfrm>
            <a:off x="5212080" y="3200400"/>
            <a:ext cx="1371600" cy="420624"/>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Co(prk, ·)</a:t>
            </a:r>
          </a:p>
        </p:txBody>
      </p:sp>
      <p:cxnSp>
        <p:nvCxnSpPr>
          <p:cNvPr id="18" name="Connector 11"/>
          <p:cNvCxnSpPr/>
          <p:nvPr/>
        </p:nvCxnSpPr>
        <p:spPr>
          <a:xfrm>
            <a:off x="5897880" y="3621024"/>
            <a:ext cx="0" cy="402336"/>
          </a:xfrm>
          <a:prstGeom prst="line">
            <a:avLst/>
          </a:prstGeom>
          <a:ln w="15875">
            <a:solidFill>
              <a:srgbClr val="404040"/>
            </a:solidFill>
            <a:tailEnd type="triangle" w="med" len="med"/>
          </a:ln>
        </p:spPr>
      </p:cxnSp>
      <p:sp>
        <p:nvSpPr>
          <p:cNvPr id="19" name="Rectangle 14"/>
          <p:cNvSpPr/>
          <p:nvPr/>
        </p:nvSpPr>
        <p:spPr>
          <a:xfrm>
            <a:off x="5394960" y="4023360"/>
            <a:ext cx="10058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(1)</a:t>
            </a:r>
          </a:p>
        </p:txBody>
      </p:sp>
      <p:cxnSp>
        <p:nvCxnSpPr>
          <p:cNvPr id="20" name="Connector 9"/>
          <p:cNvCxnSpPr/>
          <p:nvPr/>
        </p:nvCxnSpPr>
        <p:spPr>
          <a:xfrm>
            <a:off x="6400800" y="4224528"/>
            <a:ext cx="548640" cy="0"/>
          </a:xfrm>
          <a:prstGeom prst="line">
            <a:avLst/>
          </a:prstGeom>
          <a:ln w="15875">
            <a:solidFill>
              <a:srgbClr val="404040"/>
            </a:solidFill>
          </a:ln>
        </p:spPr>
      </p:cxnSp>
      <p:cxnSp>
        <p:nvCxnSpPr>
          <p:cNvPr id="21" name="Connector 9"/>
          <p:cNvCxnSpPr/>
          <p:nvPr/>
        </p:nvCxnSpPr>
        <p:spPr>
          <a:xfrm flipV="1">
            <a:off x="6949440" y="3017520"/>
            <a:ext cx="0" cy="1207008"/>
          </a:xfrm>
          <a:prstGeom prst="line">
            <a:avLst/>
          </a:prstGeom>
          <a:ln w="15875">
            <a:solidFill>
              <a:srgbClr val="404040"/>
            </a:solidFill>
          </a:ln>
        </p:spPr>
      </p:cxnSp>
      <p:cxnSp>
        <p:nvCxnSpPr>
          <p:cNvPr id="22" name="Connector 11"/>
          <p:cNvCxnSpPr/>
          <p:nvPr/>
        </p:nvCxnSpPr>
        <p:spPr>
          <a:xfrm>
            <a:off x="6949440" y="3017520"/>
            <a:ext cx="960120" cy="0"/>
          </a:xfrm>
          <a:prstGeom prst="line">
            <a:avLst/>
          </a:prstGeom>
          <a:ln w="15875">
            <a:solidFill>
              <a:srgbClr val="404040"/>
            </a:solidFill>
            <a:tailEnd type="triangle" w="med" len="med"/>
          </a:ln>
        </p:spPr>
      </p:cxnSp>
      <p:sp>
        <p:nvSpPr>
          <p:cNvPr id="23" name="TextBox 23"/>
          <p:cNvSpPr txBox="1"/>
          <p:nvPr/>
        </p:nvSpPr>
        <p:spPr>
          <a:xfrm>
            <a:off x="7132320" y="2487168"/>
            <a:ext cx="1737360" cy="36576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info ‖ 0x02</a:t>
            </a:r>
          </a:p>
        </p:txBody>
      </p:sp>
      <p:cxnSp>
        <p:nvCxnSpPr>
          <p:cNvPr id="24" name="Connector 11"/>
          <p:cNvCxnSpPr/>
          <p:nvPr/>
        </p:nvCxnSpPr>
        <p:spPr>
          <a:xfrm>
            <a:off x="8001000" y="2852928"/>
            <a:ext cx="0" cy="347472"/>
          </a:xfrm>
          <a:prstGeom prst="line">
            <a:avLst/>
          </a:prstGeom>
          <a:ln w="15875">
            <a:solidFill>
              <a:srgbClr val="404040"/>
            </a:solidFill>
            <a:tailEnd type="triangle" w="med" len="med"/>
          </a:ln>
        </p:spPr>
      </p:cxnSp>
      <p:sp>
        <p:nvSpPr>
          <p:cNvPr id="25" name="Rectangle 16"/>
          <p:cNvSpPr/>
          <p:nvPr/>
        </p:nvSpPr>
        <p:spPr>
          <a:xfrm>
            <a:off x="7315200" y="3200400"/>
            <a:ext cx="1371600" cy="420624"/>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Co(prk, ·)</a:t>
            </a:r>
          </a:p>
        </p:txBody>
      </p:sp>
      <p:cxnSp>
        <p:nvCxnSpPr>
          <p:cNvPr id="26" name="Connector 11"/>
          <p:cNvCxnSpPr/>
          <p:nvPr/>
        </p:nvCxnSpPr>
        <p:spPr>
          <a:xfrm>
            <a:off x="8001000" y="3621024"/>
            <a:ext cx="0" cy="402336"/>
          </a:xfrm>
          <a:prstGeom prst="line">
            <a:avLst/>
          </a:prstGeom>
          <a:ln w="15875">
            <a:solidFill>
              <a:srgbClr val="404040"/>
            </a:solidFill>
            <a:tailEnd type="triangle" w="med" len="med"/>
          </a:ln>
        </p:spPr>
      </p:cxnSp>
      <p:sp>
        <p:nvSpPr>
          <p:cNvPr id="27" name="Rectangle 14"/>
          <p:cNvSpPr/>
          <p:nvPr/>
        </p:nvSpPr>
        <p:spPr>
          <a:xfrm>
            <a:off x="7498080" y="4023360"/>
            <a:ext cx="10058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(2)</a:t>
            </a:r>
          </a:p>
        </p:txBody>
      </p:sp>
      <p:cxnSp>
        <p:nvCxnSpPr>
          <p:cNvPr id="28" name="Connector 9"/>
          <p:cNvCxnSpPr/>
          <p:nvPr/>
        </p:nvCxnSpPr>
        <p:spPr>
          <a:xfrm>
            <a:off x="8503920" y="4224528"/>
            <a:ext cx="548640" cy="0"/>
          </a:xfrm>
          <a:prstGeom prst="line">
            <a:avLst/>
          </a:prstGeom>
          <a:ln w="15875">
            <a:solidFill>
              <a:srgbClr val="404040"/>
            </a:solidFill>
          </a:ln>
        </p:spPr>
      </p:cxnSp>
      <p:cxnSp>
        <p:nvCxnSpPr>
          <p:cNvPr id="29" name="Connector 9"/>
          <p:cNvCxnSpPr/>
          <p:nvPr/>
        </p:nvCxnSpPr>
        <p:spPr>
          <a:xfrm flipV="1">
            <a:off x="9052560" y="3017520"/>
            <a:ext cx="0" cy="1207008"/>
          </a:xfrm>
          <a:prstGeom prst="line">
            <a:avLst/>
          </a:prstGeom>
          <a:ln w="15875">
            <a:solidFill>
              <a:srgbClr val="404040"/>
            </a:solidFill>
          </a:ln>
        </p:spPr>
      </p:cxnSp>
      <p:cxnSp>
        <p:nvCxnSpPr>
          <p:cNvPr id="30" name="Connector 11"/>
          <p:cNvCxnSpPr/>
          <p:nvPr/>
        </p:nvCxnSpPr>
        <p:spPr>
          <a:xfrm>
            <a:off x="9052560" y="3017520"/>
            <a:ext cx="960120" cy="0"/>
          </a:xfrm>
          <a:prstGeom prst="line">
            <a:avLst/>
          </a:prstGeom>
          <a:ln w="15875">
            <a:solidFill>
              <a:srgbClr val="404040"/>
            </a:solidFill>
            <a:tailEnd type="triangle" w="med" len="med"/>
          </a:ln>
        </p:spPr>
      </p:cxnSp>
      <p:sp>
        <p:nvSpPr>
          <p:cNvPr id="31" name="TextBox 23"/>
          <p:cNvSpPr txBox="1"/>
          <p:nvPr/>
        </p:nvSpPr>
        <p:spPr>
          <a:xfrm>
            <a:off x="9235440" y="2487168"/>
            <a:ext cx="1737360" cy="365760"/>
          </a:xfrm>
          <a:prstGeom prst="rect">
            <a:avLst/>
          </a:prstGeom>
          <a:noFill/>
        </p:spPr>
        <p:txBody>
          <a:bodyPr wrap="square" lIns="18288" tIns="18288" rIns="18288" bIns="18288" anchor="t">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info ‖ 0x03</a:t>
            </a:r>
          </a:p>
        </p:txBody>
      </p:sp>
      <p:cxnSp>
        <p:nvCxnSpPr>
          <p:cNvPr id="32" name="Connector 11"/>
          <p:cNvCxnSpPr/>
          <p:nvPr/>
        </p:nvCxnSpPr>
        <p:spPr>
          <a:xfrm>
            <a:off x="10104120" y="2852928"/>
            <a:ext cx="0" cy="347472"/>
          </a:xfrm>
          <a:prstGeom prst="line">
            <a:avLst/>
          </a:prstGeom>
          <a:ln w="15875">
            <a:solidFill>
              <a:srgbClr val="404040"/>
            </a:solidFill>
            <a:tailEnd type="triangle" w="med" len="med"/>
          </a:ln>
        </p:spPr>
      </p:cxnSp>
      <p:sp>
        <p:nvSpPr>
          <p:cNvPr id="33" name="Rectangle 16"/>
          <p:cNvSpPr/>
          <p:nvPr/>
        </p:nvSpPr>
        <p:spPr>
          <a:xfrm>
            <a:off x="9418320" y="3200400"/>
            <a:ext cx="1371600" cy="420624"/>
          </a:xfrm>
          <a:prstGeom prst="rect">
            <a:avLst/>
          </a:prstGeom>
          <a:solidFill>
            <a:srgbClr val="FBF1F1"/>
          </a:solidFill>
          <a:ln w="15875">
            <a:solidFill>
              <a:srgbClr val="C00000"/>
            </a:solidFill>
          </a:ln>
        </p:spPr>
        <p:txBody>
          <a:bodyPr wrap="square" lIns="73152" tIns="27432" rIns="73152" bIns="27432" rtlCol="0" anchor="ctr">
            <a:noAutofit/>
          </a:bodyPr>
          <a:lstStyle/>
          <a:p>
            <a:pPr marL="0" indent="0" algn="ctr">
              <a:buNone/>
            </a:pPr>
            <a:r>
              <a:rPr lang="zh-CN" altLang="en-US" sz="1600" b="0" i="0" dirty="0">
                <a:solidFill>
                  <a:srgbClr val="404040"/>
                </a:solidFill>
                <a:latin typeface="Times New Roman" panose="02020603050405020304" charset="0"/>
                <a:ea typeface="微软雅黑" panose="020B0503020204020204" charset="-122"/>
                <a:cs typeface="Times New Roman" panose="02020603050405020304" charset="0"/>
              </a:rPr>
              <a:t>Co(prk, ·)</a:t>
            </a:r>
          </a:p>
        </p:txBody>
      </p:sp>
      <p:cxnSp>
        <p:nvCxnSpPr>
          <p:cNvPr id="34" name="Connector 11"/>
          <p:cNvCxnSpPr/>
          <p:nvPr/>
        </p:nvCxnSpPr>
        <p:spPr>
          <a:xfrm>
            <a:off x="10104120" y="3621024"/>
            <a:ext cx="0" cy="402336"/>
          </a:xfrm>
          <a:prstGeom prst="line">
            <a:avLst/>
          </a:prstGeom>
          <a:ln w="15875">
            <a:solidFill>
              <a:srgbClr val="404040"/>
            </a:solidFill>
            <a:tailEnd type="triangle" w="med" len="med"/>
          </a:ln>
        </p:spPr>
      </p:cxnSp>
      <p:sp>
        <p:nvSpPr>
          <p:cNvPr id="35" name="Rectangle 14"/>
          <p:cNvSpPr/>
          <p:nvPr/>
        </p:nvSpPr>
        <p:spPr>
          <a:xfrm>
            <a:off x="9601200" y="4023360"/>
            <a:ext cx="1005840" cy="402336"/>
          </a:xfrm>
          <a:prstGeom prst="rect">
            <a:avLst/>
          </a:prstGeom>
          <a:solidFill>
            <a:srgbClr val="F3DFDF"/>
          </a:solidFill>
          <a:ln w="15875">
            <a:solidFill>
              <a:srgbClr val="C00000"/>
            </a:solidFill>
          </a:ln>
        </p:spPr>
        <p:txBody>
          <a:bodyPr wrap="square" lIns="0" tIns="0" rIns="0" bIns="0" rtlCol="0" anchor="ctr">
            <a:noAutofit/>
          </a:bodyPr>
          <a:lstStyle/>
          <a:p>
            <a:pPr marL="0" indent="0" algn="ctr">
              <a:buNone/>
            </a:pPr>
            <a:r>
              <a:rPr lang="zh-CN" altLang="en-US" sz="1800" b="0" i="1" dirty="0">
                <a:solidFill>
                  <a:srgbClr val="222222"/>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222222"/>
                </a:solidFill>
                <a:latin typeface="Times New Roman" panose="02020603050405020304" charset="0"/>
                <a:ea typeface="微软雅黑" panose="020B0503020204020204" charset="-122"/>
                <a:cs typeface="Times New Roman" panose="02020603050405020304" charset="0"/>
              </a:rPr>
              <a:t>(3)</a:t>
            </a:r>
          </a:p>
        </p:txBody>
      </p:sp>
      <p:sp>
        <p:nvSpPr>
          <p:cNvPr id="36" name="TextBox 23"/>
          <p:cNvSpPr txBox="1"/>
          <p:nvPr/>
        </p:nvSpPr>
        <p:spPr>
          <a:xfrm>
            <a:off x="5120640" y="4617720"/>
            <a:ext cx="6400800" cy="777240"/>
          </a:xfrm>
          <a:prstGeom prst="rect">
            <a:avLst/>
          </a:prstGeom>
          <a:noFill/>
        </p:spPr>
        <p:txBody>
          <a:bodyPr wrap="square" lIns="18288" tIns="18288" rIns="18288" bIns="18288" anchor="t">
            <a:noAutofit/>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输出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 ‖ ⋯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的前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比特</a:t>
            </a:r>
          </a:p>
        </p:txBody>
      </p:sp>
      <p:sp>
        <p:nvSpPr>
          <p:cNvPr id="37" name="内容底色_6"/>
          <p:cNvSpPr/>
          <p:nvPr/>
        </p:nvSpPr>
        <p:spPr>
          <a:xfrm>
            <a:off x="594360" y="5669280"/>
            <a:ext cx="11018520" cy="685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ts val="2600"/>
              </a:lnSpc>
              <a:spcBef>
                <a:spcPts val="0"/>
              </a:spcBef>
              <a:spcAft>
                <a:spcPts val="0"/>
              </a:spcAft>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例：</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HMAC-SM3 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256；派生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512 比特密钥时，</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01</a:t>
            </a:r>
            <a:endParaRPr lang="en-US" altLang="zh-CN" b="1" i="0" dirty="0">
              <a:solidFill>
                <a:srgbClr val="FFFFFF"/>
              </a:solidFill>
              <a:latin typeface="微软雅黑" panose="020B0503020204020204" charset="-122"/>
              <a:ea typeface="微软雅黑" panose="020B0503020204020204" charset="-122"/>
            </a:endParaRPr>
          </a:p>
        </p:txBody>
      </p:sp>
      <p:cxnSp>
        <p:nvCxnSpPr>
          <p:cNvPr id="4"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页标题"/>
          <p:cNvSpPr txBox="1"/>
          <p:nvPr/>
        </p:nvSpPr>
        <p:spPr>
          <a:xfrm>
            <a:off x="502920" y="827532"/>
            <a:ext cx="11155680" cy="393192"/>
          </a:xfrm>
          <a:prstGeom prst="rect">
            <a:avLst/>
          </a:prstGeom>
          <a:noFill/>
        </p:spPr>
        <p:txBody>
          <a:bodyPr wrap="square" lIns="0" tIns="0" rIns="0" bIns="0" anchor="t">
            <a:noAutofit/>
          </a:bodyPr>
          <a:lstStyle/>
          <a:p>
            <a:r>
              <a:rPr lang="zh-CN" altLang="en-US" sz="2200" b="1" dirty="0">
                <a:solidFill>
                  <a:srgbClr val="333333"/>
                </a:solidFill>
                <a:latin typeface="Times New Roman" panose="02020603050405020304" charset="0"/>
                <a:ea typeface="微软雅黑" panose="020B0503020204020204" charset="-122"/>
                <a:cs typeface="Times New Roman" panose="02020603050405020304" charset="0"/>
              </a:rPr>
              <a:t>课程作业1</a:t>
            </a: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：分组密码工作模式</a:t>
            </a:r>
          </a:p>
        </p:txBody>
      </p:sp>
      <p:sp>
        <p:nvSpPr>
          <p:cNvPr id="6"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分组密码工作模式</a:t>
            </a:r>
          </a:p>
        </p:txBody>
      </p:sp>
      <p:sp>
        <p:nvSpPr>
          <p:cNvPr id="7" name="图形_背景"/>
          <p:cNvSpPr/>
          <p:nvPr/>
        </p:nvSpPr>
        <p:spPr>
          <a:xfrm>
            <a:off x="502920" y="1408176"/>
            <a:ext cx="11210544"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noAutofit/>
          </a:bodyPr>
          <a:lstStyle/>
          <a:p>
            <a:pPr marL="0" indent="0">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沿用课堂小测中的玩具分组密码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E</a:t>
            </a:r>
            <a:r>
              <a:rPr lang="zh-CN" altLang="en-US" sz="1800" b="0" i="1" baseline="-25000"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X</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DejaVu Math TeX Gyre" panose="02000503000000000000" charset="0"/>
                <a:ea typeface="DejaVu Math TeX Gyre" panose="02000503000000000000" charset="0"/>
                <a:cs typeface="DejaVu Math TeX Gyre" panose="02000503000000000000" charset="0"/>
                <a:sym typeface="DejaVu Math TeX Gyre" panose="02000503000000000000" charset="0"/>
              </a:rPr>
              <a: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1，</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1010，明文为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0011 ‖ 0011 ‖ 1100。</a:t>
            </a:r>
          </a:p>
        </p:txBody>
      </p:sp>
      <p:sp>
        <p:nvSpPr>
          <p:cNvPr id="8" name="TextBox 23"/>
          <p:cNvSpPr txBox="1"/>
          <p:nvPr/>
        </p:nvSpPr>
        <p:spPr>
          <a:xfrm>
            <a:off x="640080" y="2459736"/>
            <a:ext cx="10927080" cy="3291840"/>
          </a:xfrm>
          <a:prstGeom prst="rect">
            <a:avLst/>
          </a:prstGeom>
          <a:noFill/>
        </p:spPr>
        <p:txBody>
          <a:bodyPr wrap="square" lIns="18288" tIns="18288" rIns="18288" bIns="18288" anchor="t">
            <a:noAutofit/>
          </a:bodyPr>
          <a:lstStyle/>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取 IV = 0101，用 CBC 模式加密，写出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 取 ctr</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0001，用 CTR 模式加密，写出各组密钥流和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3</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a:t>
            </a:r>
          </a:p>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 若传输中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C</a:t>
            </a:r>
            <a:r>
              <a:rPr lang="zh-CN" altLang="en-US" sz="1800" b="0" i="0" baseline="-2500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的最高位发生翻转，分别指出两种模式下解密后哪些明文比特出错；若换成 AES 等实际分组密码，结果有何不同？</a:t>
            </a:r>
          </a:p>
        </p:txBody>
      </p:sp>
      <p:graphicFrame>
        <p:nvGraphicFramePr>
          <p:cNvPr id="9" name="表格"/>
          <p:cNvGraphicFramePr>
            <a:graphicFrameLocks noGrp="1"/>
          </p:cNvGraphicFramePr>
          <p:nvPr/>
        </p:nvGraphicFramePr>
        <p:xfrm>
          <a:off x="594360" y="4315968"/>
          <a:ext cx="11018520" cy="2011680"/>
        </p:xfrm>
        <a:graphic>
          <a:graphicData uri="http://schemas.openxmlformats.org/drawingml/2006/table">
            <a:tbl>
              <a:tblPr>
                <a:tableStyleId>{5940675A-B579-460E-94D1-54222C63F5DA}</a:tableStyleId>
              </a:tblPr>
              <a:tblGrid>
                <a:gridCol w="1234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50292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分组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M</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 ⊕ </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baseline="-25000" dirty="0">
                          <a:solidFill>
                            <a:srgbClr val="C00000"/>
                          </a:solidFill>
                          <a:latin typeface="Times New Roman" panose="02020603050405020304" charset="0"/>
                          <a:ea typeface="微软雅黑" panose="020B0503020204020204" charset="-122"/>
                          <a:cs typeface="Times New Roman" panose="02020603050405020304" charset="0"/>
                        </a:rPr>
                        <a:t>−1</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CBC：</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CTR：</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E</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K</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(ctr</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CTR：</a:t>
                      </a:r>
                      <a:r>
                        <a:rPr lang="zh-CN" altLang="en-US" sz="1800" b="1" i="1" dirty="0">
                          <a:solidFill>
                            <a:srgbClr val="C00000"/>
                          </a:solidFill>
                          <a:latin typeface="Times New Roman" panose="02020603050405020304" charset="0"/>
                          <a:ea typeface="微软雅黑" panose="020B0503020204020204" charset="-122"/>
                          <a:cs typeface="Times New Roman" panose="02020603050405020304" charset="0"/>
                        </a:rPr>
                        <a:t>C</a:t>
                      </a:r>
                      <a:r>
                        <a:rPr lang="zh-CN" altLang="en-US" sz="1800" b="1" i="1" baseline="-25000" dirty="0">
                          <a:solidFill>
                            <a:srgbClr val="C00000"/>
                          </a:solidFill>
                          <a:latin typeface="Times New Roman" panose="02020603050405020304" charset="0"/>
                          <a:ea typeface="微软雅黑" panose="020B0503020204020204" charset="-122"/>
                          <a:cs typeface="Times New Roman" panose="02020603050405020304" charset="0"/>
                        </a:rPr>
                        <a:t>i</a:t>
                      </a:r>
                      <a:endPar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50292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0011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2</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0011</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3</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1100</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3"/>
                  </a:ext>
                </a:extLst>
              </a:tr>
            </a:tbl>
          </a:graphicData>
        </a:graphic>
      </p:graphicFrame>
      <p:cxnSp>
        <p:nvCxnSpPr>
          <p:cNvPr id="10" name="直接箭头连接符 9"/>
          <p:cNvCxnSpPr/>
          <p:nvPr/>
        </p:nvCxnSpPr>
        <p:spPr>
          <a:xfrm>
            <a:off x="5199827" y="4571999"/>
            <a:ext cx="461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9492723" y="4570289"/>
            <a:ext cx="4612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02</a:t>
            </a:r>
            <a:endParaRPr lang="en-US" altLang="zh-CN" b="1" i="0" dirty="0">
              <a:solidFill>
                <a:srgbClr val="FFFFFF"/>
              </a:solidFill>
              <a:latin typeface="微软雅黑" panose="020B0503020204020204" charset="-122"/>
              <a:ea typeface="微软雅黑" panose="020B0503020204020204" charset="-122"/>
            </a:endParaRPr>
          </a:p>
        </p:txBody>
      </p:sp>
      <p:cxnSp>
        <p:nvCxnSpPr>
          <p:cNvPr id="4"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页标题"/>
          <p:cNvSpPr txBox="1"/>
          <p:nvPr/>
        </p:nvSpPr>
        <p:spPr>
          <a:xfrm>
            <a:off x="502920" y="827532"/>
            <a:ext cx="11155680" cy="393192"/>
          </a:xfrm>
          <a:prstGeom prst="rect">
            <a:avLst/>
          </a:prstGeom>
          <a:noFill/>
        </p:spPr>
        <p:txBody>
          <a:bodyPr wrap="square" lIns="0" tIns="0" rIns="0" bIns="0" anchor="t">
            <a:noAutofit/>
          </a:bodyPr>
          <a:lstStyle/>
          <a:p>
            <a:r>
              <a:rPr lang="zh-CN" altLang="en-US" sz="2200" b="1" dirty="0">
                <a:solidFill>
                  <a:srgbClr val="333333"/>
                </a:solidFill>
                <a:latin typeface="Times New Roman" panose="02020603050405020304" charset="0"/>
                <a:ea typeface="微软雅黑" panose="020B0503020204020204" charset="-122"/>
                <a:cs typeface="Times New Roman" panose="02020603050405020304" charset="0"/>
              </a:rPr>
              <a:t>课程作业2</a:t>
            </a: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：二元加法流密码</a:t>
            </a:r>
          </a:p>
        </p:txBody>
      </p:sp>
      <p:sp>
        <p:nvSpPr>
          <p:cNvPr id="6"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流密码</a:t>
            </a:r>
          </a:p>
        </p:txBody>
      </p:sp>
      <p:sp>
        <p:nvSpPr>
          <p:cNvPr id="7" name="图形_背景"/>
          <p:cNvSpPr/>
          <p:nvPr/>
        </p:nvSpPr>
        <p:spPr>
          <a:xfrm>
            <a:off x="502920" y="1408176"/>
            <a:ext cx="11210544" cy="8686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noAutofit/>
          </a:bodyPr>
          <a:lstStyle/>
          <a:p>
            <a:pPr marL="0" indent="0">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当明文消息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M</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 hello（按 ASCII 编码），密钥流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k</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为 10011001 10011001 ⋯ 时，执行二元加法流密码的加密操作。</a:t>
            </a:r>
          </a:p>
        </p:txBody>
      </p:sp>
      <p:sp>
        <p:nvSpPr>
          <p:cNvPr id="8" name="TextBox 23"/>
          <p:cNvSpPr txBox="1"/>
          <p:nvPr/>
        </p:nvSpPr>
        <p:spPr>
          <a:xfrm>
            <a:off x="640080" y="2459736"/>
            <a:ext cx="10927080" cy="3291840"/>
          </a:xfrm>
          <a:prstGeom prst="rect">
            <a:avLst/>
          </a:prstGeom>
          <a:noFill/>
        </p:spPr>
        <p:txBody>
          <a:bodyPr wrap="square" lIns="18288" tIns="18288" rIns="18288" bIns="18288" anchor="t">
            <a:noAutofit/>
          </a:bodyPr>
          <a:lstStyle/>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 得到的密文是什么？（填写下表）</a:t>
            </a:r>
          </a:p>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 该密文存在什么问题？</a:t>
            </a:r>
          </a:p>
          <a:p>
            <a:pPr marL="0" indent="0" algn="l">
              <a:lnSpc>
                <a:spcPct val="125000"/>
              </a:lnSpc>
              <a:spcBef>
                <a:spcPts val="600"/>
              </a:spcBef>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 攻击者具有什么攻击优势？</a:t>
            </a:r>
          </a:p>
        </p:txBody>
      </p:sp>
      <p:graphicFrame>
        <p:nvGraphicFramePr>
          <p:cNvPr id="9" name="表格"/>
          <p:cNvGraphicFramePr>
            <a:graphicFrameLocks noGrp="1"/>
          </p:cNvGraphicFramePr>
          <p:nvPr/>
        </p:nvGraphicFramePr>
        <p:xfrm>
          <a:off x="594360" y="4069080"/>
          <a:ext cx="10972800" cy="1920240"/>
        </p:xfrm>
        <a:graphic>
          <a:graphicData uri="http://schemas.openxmlformats.org/drawingml/2006/table">
            <a:tbl>
              <a:tblPr>
                <a:tableStyleId>{5940675A-B579-460E-94D1-54222C63F5DA}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64008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字符</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h</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e</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l</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l</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o</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extLst>
                  <a:ext uri="{0D108BD9-81ED-4DB2-BD59-A6C34878D82A}">
                    <a16:rowId xmlns:a16="http://schemas.microsoft.com/office/drawing/2014/main" val="10000"/>
                  </a:ext>
                </a:extLst>
              </a:tr>
              <a:tr h="64008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ASCII（十六进制）</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68</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65</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6C</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6C</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6F</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1"/>
                  </a:ext>
                </a:extLst>
              </a:tr>
              <a:tr h="640080">
                <a:tc>
                  <a:txBody>
                    <a:bodyPr/>
                    <a:lstStyle/>
                    <a:p>
                      <a:pPr marL="0" indent="0" algn="ctr">
                        <a:buNone/>
                      </a:pPr>
                      <a:r>
                        <a:rPr lang="zh-CN" altLang="en-US" sz="1800" b="1" i="0" dirty="0">
                          <a:solidFill>
                            <a:srgbClr val="C00000"/>
                          </a:solidFill>
                          <a:latin typeface="Times New Roman" panose="02020603050405020304" charset="0"/>
                          <a:ea typeface="微软雅黑" panose="020B0503020204020204" charset="-122"/>
                          <a:cs typeface="Times New Roman" panose="02020603050405020304" charset="0"/>
                        </a:rPr>
                        <a:t>密文（十六进制）</a:t>
                      </a: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a:lstStyle/>
                    <a:p>
                      <a:pPr marL="0" indent="0" algn="ctr">
                        <a:buNone/>
                      </a:pP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a:txBody>
                  <a:tcPr marL="18288" marR="18288" marT="0" marB="0"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1"/>
          <p:cNvSpPr/>
          <p:nvPr/>
        </p:nvSpPr>
        <p:spPr>
          <a:xfrm>
            <a:off x="502920" y="230505"/>
            <a:ext cx="429895"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Bef>
                <a:spcPts val="0"/>
              </a:spcBef>
              <a:spcAft>
                <a:spcPts val="0"/>
              </a:spcAft>
            </a:pPr>
            <a:r>
              <a:rPr lang="zh-CN" altLang="en-US" b="1" i="0" dirty="0">
                <a:solidFill>
                  <a:srgbClr val="FFFFFF"/>
                </a:solidFill>
                <a:latin typeface="微软雅黑" panose="020B0503020204020204" charset="-122"/>
                <a:ea typeface="微软雅黑" panose="020B0503020204020204" charset="-122"/>
              </a:rPr>
              <a:t>03</a:t>
            </a:r>
            <a:endParaRPr lang="en-US" altLang="zh-CN" b="1" i="0" dirty="0">
              <a:solidFill>
                <a:srgbClr val="FFFFFF"/>
              </a:solidFill>
              <a:latin typeface="微软雅黑" panose="020B0503020204020204" charset="-122"/>
              <a:ea typeface="微软雅黑" panose="020B0503020204020204" charset="-122"/>
            </a:endParaRPr>
          </a:p>
        </p:txBody>
      </p:sp>
      <p:cxnSp>
        <p:nvCxnSpPr>
          <p:cNvPr id="4" name="Connector 4"/>
          <p:cNvCxnSpPr/>
          <p:nvPr/>
        </p:nvCxnSpPr>
        <p:spPr>
          <a:xfrm>
            <a:off x="502920" y="726694"/>
            <a:ext cx="11183112" cy="0"/>
          </a:xfrm>
          <a:prstGeom prst="line">
            <a:avLst/>
          </a:prstGeom>
          <a:ln w="15240">
            <a:solidFill>
              <a:srgbClr val="C00000"/>
            </a:solidFill>
          </a:ln>
        </p:spPr>
        <p:style>
          <a:lnRef idx="2">
            <a:schemeClr val="accent1"/>
          </a:lnRef>
          <a:fillRef idx="0">
            <a:schemeClr val="accent1"/>
          </a:fillRef>
          <a:effectRef idx="1">
            <a:schemeClr val="accent1"/>
          </a:effectRef>
          <a:fontRef idx="minor">
            <a:schemeClr val="tx1"/>
          </a:fontRef>
        </p:style>
      </p:cxnSp>
      <p:sp>
        <p:nvSpPr>
          <p:cNvPr id="5" name="页标题"/>
          <p:cNvSpPr txBox="1"/>
          <p:nvPr/>
        </p:nvSpPr>
        <p:spPr>
          <a:xfrm>
            <a:off x="502920" y="827532"/>
            <a:ext cx="11155680" cy="393192"/>
          </a:xfrm>
          <a:prstGeom prst="rect">
            <a:avLst/>
          </a:prstGeom>
          <a:noFill/>
        </p:spPr>
        <p:txBody>
          <a:bodyPr wrap="square" lIns="0" tIns="0" rIns="0" bIns="0" anchor="t">
            <a:noAutofit/>
          </a:bodyPr>
          <a:lstStyle/>
          <a:p>
            <a:r>
              <a:rPr lang="zh-CN" altLang="en-US" sz="2200" b="1" dirty="0">
                <a:solidFill>
                  <a:srgbClr val="333333"/>
                </a:solidFill>
                <a:latin typeface="Times New Roman" panose="02020603050405020304" charset="0"/>
                <a:ea typeface="微软雅黑" panose="020B0503020204020204" charset="-122"/>
                <a:cs typeface="Times New Roman" panose="02020603050405020304" charset="0"/>
              </a:rPr>
              <a:t>课程作业3</a:t>
            </a:r>
            <a:r>
              <a:rPr lang="zh-CN" altLang="en-US" sz="2200" b="1" i="0" dirty="0">
                <a:solidFill>
                  <a:srgbClr val="333333"/>
                </a:solidFill>
                <a:latin typeface="Times New Roman" panose="02020603050405020304" charset="0"/>
                <a:ea typeface="微软雅黑" panose="020B0503020204020204" charset="-122"/>
                <a:cs typeface="Times New Roman" panose="02020603050405020304" charset="0"/>
              </a:rPr>
              <a:t>：消息认证码与密钥派生</a:t>
            </a:r>
          </a:p>
        </p:txBody>
      </p:sp>
      <p:sp>
        <p:nvSpPr>
          <p:cNvPr id="6" name="TextBox 2"/>
          <p:cNvSpPr txBox="1"/>
          <p:nvPr/>
        </p:nvSpPr>
        <p:spPr>
          <a:xfrm>
            <a:off x="1066739" y="219050"/>
            <a:ext cx="4133088" cy="492125"/>
          </a:xfrm>
          <a:prstGeom prst="rect">
            <a:avLst/>
          </a:prstGeom>
          <a:noFill/>
        </p:spPr>
        <p:txBody>
          <a:bodyPr wrap="square" lIns="0" tIns="0" rIns="0" bIns="0" rtlCol="0" anchor="t">
            <a:spAutoFit/>
          </a:bodyPr>
          <a:lstStyle/>
          <a:p>
            <a:pPr algn="l">
              <a:spcBef>
                <a:spcPts val="0"/>
              </a:spcBef>
              <a:spcAft>
                <a:spcPts val="0"/>
              </a:spcAft>
            </a:pPr>
            <a:r>
              <a:rPr lang="zh-CN" altLang="en-US" sz="3200" b="1" i="0" dirty="0">
                <a:solidFill>
                  <a:srgbClr val="C00000"/>
                </a:solidFill>
                <a:latin typeface="Times New Roman" panose="02020603050405020304" charset="0"/>
                <a:ea typeface="微软雅黑" panose="020B0503020204020204" charset="-122"/>
                <a:cs typeface="Times New Roman" panose="02020603050405020304" charset="0"/>
              </a:rPr>
              <a:t>消息认证码</a:t>
            </a:r>
          </a:p>
        </p:txBody>
      </p:sp>
      <p:sp>
        <p:nvSpPr>
          <p:cNvPr id="8" name="TextBox 23"/>
          <p:cNvSpPr txBox="1"/>
          <p:nvPr/>
        </p:nvSpPr>
        <p:spPr>
          <a:xfrm>
            <a:off x="640080" y="2157984"/>
            <a:ext cx="10927080" cy="3291840"/>
          </a:xfrm>
          <a:prstGeom prst="rect">
            <a:avLst/>
          </a:prstGeom>
          <a:noFill/>
        </p:spPr>
        <p:txBody>
          <a:bodyPr wrap="square" lIns="18288" tIns="18288" rIns="18288" bIns="18288" anchor="t">
            <a:noAutofit/>
          </a:bodyPr>
          <a:lstStyle/>
          <a:p>
            <a:pPr marL="0" indent="0" algn="l">
              <a:lnSpc>
                <a:spcPct val="140000"/>
              </a:lnSpc>
              <a:spcBef>
                <a:spcPts val="1200"/>
              </a:spcBef>
              <a:buNone/>
            </a:pP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a:t>
            </a:r>
            <a:r>
              <a:rPr lang="en-US" altLang="zh-CN"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 </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使用基于 HMAC-SM3 的 HKDF（输出长度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256 比特）派生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L</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 = 600 比特的密钥，求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N</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，并写出 </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(1)、</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(2)、</a:t>
            </a:r>
            <a:r>
              <a:rPr lang="zh-CN" altLang="en-US" sz="1800" b="0" i="1" dirty="0">
                <a:solidFill>
                  <a:srgbClr val="404040"/>
                </a:solidFill>
                <a:latin typeface="Times New Roman" panose="02020603050405020304" charset="0"/>
                <a:ea typeface="微软雅黑" panose="020B0503020204020204" charset="-122"/>
                <a:cs typeface="Times New Roman" panose="02020603050405020304" charset="0"/>
              </a:rPr>
              <a:t>T</a:t>
            </a:r>
            <a:r>
              <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rPr>
              <a:t>(3) 的计算式</a:t>
            </a:r>
            <a:r>
              <a:rPr lang="zh-CN" altLang="en-US" sz="1800" b="0" i="0" dirty="0" smtClean="0">
                <a:solidFill>
                  <a:srgbClr val="404040"/>
                </a:solidFill>
                <a:latin typeface="Times New Roman" panose="02020603050405020304" charset="0"/>
                <a:ea typeface="微软雅黑" panose="020B0503020204020204" charset="-122"/>
                <a:cs typeface="Times New Roman" panose="02020603050405020304" charset="0"/>
              </a:rPr>
              <a:t>；</a:t>
            </a:r>
            <a:endParaRPr lang="zh-CN" altLang="en-US" sz="1800" b="0" i="0" dirty="0">
              <a:solidFill>
                <a:srgbClr val="404040"/>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1371600" y="2710180"/>
            <a:ext cx="9445752" cy="914400"/>
          </a:xfrm>
          <a:prstGeom prst="rect">
            <a:avLst/>
          </a:prstGeom>
          <a:noFill/>
        </p:spPr>
        <p:txBody>
          <a:bodyPr wrap="square" lIns="0" tIns="0" rIns="0" bIns="0" anchor="t">
            <a:spAutoFit/>
          </a:bodyPr>
          <a:lstStyle/>
          <a:p>
            <a:pPr algn="ctr">
              <a:spcBef>
                <a:spcPts val="0"/>
              </a:spcBef>
              <a:spcAft>
                <a:spcPts val="0"/>
              </a:spcAft>
            </a:pPr>
            <a:r>
              <a:rPr sz="4000" b="1" i="0">
                <a:solidFill>
                  <a:srgbClr val="333333"/>
                </a:solidFill>
                <a:latin typeface="微软雅黑" panose="020B0503020204020204" charset="-122"/>
                <a:ea typeface="微软雅黑" panose="020B0503020204020204" charset="-122"/>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5cdf94d-2bb2-4b04-838a-86a44d3bd643"/>
  <p:tag name="COMMONDATA" val="eyJoZGlkIjoiN2NjMGRiN2MwMWUxOGQyNjI2NjFhOWNlNjA1ZDYyOTUifQ=="/>
</p:tagLst>
</file>

<file path=ppt/tags/tag2.xml><?xml version="1.0" encoding="utf-8"?>
<p:tagLst xmlns:a="http://schemas.openxmlformats.org/drawingml/2006/main" xmlns:r="http://schemas.openxmlformats.org/officeDocument/2006/relationships" xmlns:p="http://schemas.openxmlformats.org/presentationml/2006/main">
  <p:tag name="FIXEDSHAPES" val="true"/>
</p:tagLst>
</file>

<file path=ppt/tags/tag3.xml><?xml version="1.0" encoding="utf-8"?>
<p:tagLst xmlns:a="http://schemas.openxmlformats.org/drawingml/2006/main" xmlns:r="http://schemas.openxmlformats.org/officeDocument/2006/relationships" xmlns:p="http://schemas.openxmlformats.org/presentationml/2006/main">
  <p:tag name="FIXEDSHAPES" val="true"/>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0.10999999999996,&quot;left&quot;:84.98503937007874,&quot;top&quot;:194.35,&quot;width&quot;:702.72}"/>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9.20000000000005,&quot;left&quot;:46.8,&quot;top&quot;:164.16,&quot;width&quot;:867.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122.4,&quot;left&quot;:50.6,&quot;top&quot;:145.44,&quot;width&quot;:854.4399999999999}"/>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198,&quot;left&quot;:54,&quot;top&quot;:179,&quot;width&quot;:852}"/>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97.19999999999997,&quot;left&quot;:54,&quot;top&quot;:188.64,&quot;width&quot;:856.0799999999999}"/>
</p:tagLst>
</file>

<file path=ppt/theme/theme1.xml><?xml version="1.0" encoding="utf-8"?>
<a:theme xmlns:a="http://schemas.openxmlformats.org/drawingml/2006/main" name="主题1">
  <a:themeElements>
    <a:clrScheme name="Calligraphy">
      <a:dk1>
        <a:sysClr val="windowText" lastClr="000000"/>
      </a:dk1>
      <a:lt1>
        <a:sysClr val="window" lastClr="FFFFFF"/>
      </a:lt1>
      <a:dk2>
        <a:srgbClr val="411401"/>
      </a:dk2>
      <a:lt2>
        <a:srgbClr val="FFE6E6"/>
      </a:lt2>
      <a:accent1>
        <a:srgbClr val="A24A48"/>
      </a:accent1>
      <a:accent2>
        <a:srgbClr val="B2935C"/>
      </a:accent2>
      <a:accent3>
        <a:srgbClr val="6A9A9A"/>
      </a:accent3>
      <a:accent4>
        <a:srgbClr val="B2B787"/>
      </a:accent4>
      <a:accent5>
        <a:srgbClr val="91644B"/>
      </a:accent5>
      <a:accent6>
        <a:srgbClr val="654A76"/>
      </a:accent6>
      <a:hlink>
        <a:srgbClr val="00A800"/>
      </a:hlink>
      <a:folHlink>
        <a:srgbClr val="FF00FF"/>
      </a:folHlink>
    </a:clrScheme>
    <a:fontScheme name="自定义 1">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420</TotalTime>
  <Words>9666</Words>
  <Application>Microsoft Office PowerPoint</Application>
  <PresentationFormat>宽屏</PresentationFormat>
  <Paragraphs>943</Paragraphs>
  <Slides>48</Slides>
  <Notes>48</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48</vt:i4>
      </vt:variant>
    </vt:vector>
  </HeadingPairs>
  <TitlesOfParts>
    <vt:vector size="59" baseType="lpstr">
      <vt:lpstr>DejaVu Math TeX Gyre</vt:lpstr>
      <vt:lpstr>等线</vt:lpstr>
      <vt:lpstr>宋体</vt:lpstr>
      <vt:lpstr>微软雅黑</vt:lpstr>
      <vt:lpstr>字魂111号-金榜招牌体</vt:lpstr>
      <vt:lpstr>Arial</vt:lpstr>
      <vt:lpstr>Arial Black</vt:lpstr>
      <vt:lpstr>Calibri</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吴鸿轩</dc:creator>
  <cp:lastModifiedBy>Windows 用户</cp:lastModifiedBy>
  <cp:revision>1033</cp:revision>
  <dcterms:created xsi:type="dcterms:W3CDTF">2026-09-15T01:57:00Z</dcterms:created>
  <dcterms:modified xsi:type="dcterms:W3CDTF">2026-10-11T13:58:54Z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4F11BC49CB5D4AEC82BC6FFBF8C06EBF_13</vt:lpwstr>
  </property>
  <property fmtid="{D5CDD505-2E9C-101B-9397-08002B2CF9AE}" pid="3" name="KSOProductBuildVer">
    <vt:lpwstr>2052-12.1.0.28505</vt:lpwstr>
  </property>
</Properties>
</file>